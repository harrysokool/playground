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2011680" cy="121920"/>
          </a:xfrm>
          <a:prstGeom prst="rect">
            <a:avLst/>
          </a:prstGeom>
        </p:spPr>
        <p:txBody>
          <a:bodyPr horzOverflow="overflow" lIns="0" tIns="0" rIns="0" bIns="0" wrap="none">
            <a:spAutoFit/>
          </a:bodyPr>
          <a:lstStyle/>
          <a:p>
            <a:pPr algn="l"/>
            <a:r>
              <a:rPr lang="en-GB" sz="800">
                <a:solidFill>
                  <a:srgbClr val="317100">
                    <a:alpha val="50000"/>
                  </a:srgbClr>
                </a:solidFill>
                <a:latin typeface="Arial" panose="020B0004020202020204" pitchFamily="34" charset="0"/>
              </a:rPr>
              <a:t>[AIA – CONFIDENTIAL – Any User]</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114800"/>
            <a:ext cx="5760720" cy="822960"/>
          </a:xfrm>
        </p:spPr>
        <p:txBody>
          <a:bodyPr/>
          <a:lstStyle/>
          <a:p>
            <a:r>
              <a:rPr>
                <a:latin typeface="Arial"/>
              </a:rPr>
              <a:t>GIA HK Data Analytics</a:t>
            </a:r>
          </a:p>
          <a:p>
            <a:r>
              <a:rPr>
                <a:latin typeface="Arial"/>
              </a:rPr>
              <a:t>Request for 1,400 hours of technical support in 2027</a:t>
            </a:r>
          </a:p>
        </p:txBody>
      </p:sp>
      <p:sp>
        <p:nvSpPr>
          <p:cNvPr id="3" name="Text Placeholder 2"/>
          <p:cNvSpPr>
            <a:spLocks noGrp="1"/>
          </p:cNvSpPr>
          <p:nvPr>
            <p:ph type="body" idx="10" sz="quarter"/>
          </p:nvPr>
        </p:nvSpPr>
        <p:spPr/>
        <p:txBody>
          <a:bodyPr/>
          <a:lstStyle/>
          <a:p>
            <a:r>
              <a:rPr>
                <a:latin typeface="Arial"/>
              </a:rPr>
              <a:t>Business Case for 2027 Contingent Worker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rPr>
              <a:t>Executive Summary and Approval Request</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lnSpc>
                <a:spcPct val="100000"/>
              </a:lnSpc>
              <a:spcBef>
                <a:spcPts val="0"/>
              </a:spcBef>
              <a:spcAft>
                <a:spcPts val="0"/>
              </a:spcAft>
              <a:buNone/>
            </a:pPr>
            <a:r>
              <a:rPr sz="1600" b="0" i="0">
                <a:solidFill>
                  <a:srgbClr val="D31145"/>
                </a:solidFill>
                <a:latin typeface="Arial"/>
              </a:rPr>
              <a:t>Dedicated technical capacity is needed in 2027 to support planned audit work alongside a fully occupied team.</a:t>
            </a:r>
          </a:p>
        </p:txBody>
      </p:sp>
      <p:sp>
        <p:nvSpPr>
          <p:cNvPr id="12" name="Rectangle 11"/>
          <p:cNvSpPr/>
          <p:nvPr/>
        </p:nvSpPr>
        <p:spPr>
          <a:xfrm>
            <a:off x="356616" y="1828800"/>
            <a:ext cx="3154680" cy="3154680"/>
          </a:xfrm>
          <a:prstGeom prst="rect">
            <a:avLst/>
          </a:prstGeom>
          <a:solidFill>
            <a:srgbClr val="F2F2F2"/>
          </a:solidFill>
          <a:ln>
            <a:noFill/>
          </a:ln>
          <a:effectLst/>
        </p:spPr>
        <p:txBody>
          <a:bodyPr rtlCol="0" anchor="t" wrap="square" lIns="228600" rIns="228600" tIns="109728" bIns="109728"/>
          <a:lstStyle/>
          <a:p>
            <a:pPr algn="l" marL="0" indent="0">
              <a:lnSpc>
                <a:spcPct val="100000"/>
              </a:lnSpc>
              <a:spcBef>
                <a:spcPts val="0"/>
              </a:spcBef>
              <a:spcAft>
                <a:spcPts val="600"/>
              </a:spcAft>
              <a:buNone/>
            </a:pPr>
            <a:r>
              <a:rPr sz="1100" b="1" i="0">
                <a:solidFill>
                  <a:srgbClr val="5F6770"/>
                </a:solidFill>
                <a:latin typeface="Arial"/>
              </a:rPr>
              <a:t>REQUEST</a:t>
            </a:r>
          </a:p>
          <a:p>
            <a:pPr marL="0" indent="0" algn="l">
              <a:lnSpc>
                <a:spcPct val="100000"/>
              </a:lnSpc>
              <a:spcBef>
                <a:spcPts val="0"/>
              </a:spcBef>
              <a:spcAft>
                <a:spcPts val="400"/>
              </a:spcAft>
              <a:buNone/>
            </a:pPr>
            <a:r>
              <a:rPr sz="4000" b="1" i="0">
                <a:solidFill>
                  <a:srgbClr val="D31145"/>
                </a:solidFill>
                <a:latin typeface="Arial"/>
              </a:rPr>
              <a:t>1,400 hours</a:t>
            </a:r>
          </a:p>
          <a:p>
            <a:pPr marL="0" indent="0" algn="l">
              <a:lnSpc>
                <a:spcPct val="100000"/>
              </a:lnSpc>
              <a:spcBef>
                <a:spcPts val="0"/>
              </a:spcBef>
              <a:spcAft>
                <a:spcPts val="1600"/>
              </a:spcAft>
              <a:buNone/>
            </a:pPr>
            <a:r>
              <a:rPr sz="1400" b="0" i="0">
                <a:solidFill>
                  <a:srgbClr val="333D47"/>
                </a:solidFill>
                <a:latin typeface="Arial"/>
              </a:rPr>
              <a:t>of technical support in 2027</a:t>
            </a:r>
          </a:p>
          <a:p>
            <a:pPr marL="0" indent="0" algn="l">
              <a:lnSpc>
                <a:spcPct val="100000"/>
              </a:lnSpc>
              <a:spcBef>
                <a:spcPts val="0"/>
              </a:spcBef>
              <a:spcAft>
                <a:spcPts val="400"/>
              </a:spcAft>
              <a:buNone/>
            </a:pPr>
            <a:r>
              <a:rPr sz="1400" b="1" i="0">
                <a:solidFill>
                  <a:srgbClr val="333D47"/>
                </a:solidFill>
                <a:latin typeface="Arial"/>
              </a:rPr>
              <a:t>One contingent worker</a:t>
            </a:r>
          </a:p>
          <a:p>
            <a:pPr marL="0" indent="0" algn="l">
              <a:lnSpc>
                <a:spcPct val="100000"/>
              </a:lnSpc>
              <a:spcBef>
                <a:spcPts val="0"/>
              </a:spcBef>
              <a:spcAft>
                <a:spcPts val="0"/>
              </a:spcAft>
              <a:buNone/>
            </a:pPr>
            <a:r>
              <a:rPr sz="1400" b="0" i="0">
                <a:solidFill>
                  <a:srgbClr val="333D47"/>
                </a:solidFill>
                <a:latin typeface="Arial"/>
              </a:rPr>
              <a:t>GIA HK Data Analytics</a:t>
            </a:r>
          </a:p>
        </p:txBody>
      </p:sp>
      <p:graphicFrame>
        <p:nvGraphicFramePr>
          <p:cNvPr id="13" name="Table 12"/>
          <p:cNvGraphicFramePr>
            <a:graphicFrameLocks noGrp="1"/>
          </p:cNvGraphicFramePr>
          <p:nvPr/>
        </p:nvGraphicFramePr>
        <p:xfrm>
          <a:off x="3785615" y="1828800"/>
          <a:ext cx="8046720" cy="3145536"/>
        </p:xfrm>
        <a:graphic>
          <a:graphicData uri="http://schemas.openxmlformats.org/drawingml/2006/table">
            <a:tbl>
              <a:tblPr firstRow="0" bandRow="0">
                <a:tableStyleId>{2D5ABB26-0587-4C30-8999-92F81FD0307C}</a:tableStyleId>
              </a:tblPr>
              <a:tblGrid>
                <a:gridCol w="2057400"/>
                <a:gridCol w="5989320"/>
              </a:tblGrid>
              <a:tr h="786384">
                <a:tc>
                  <a:txBody>
                    <a:bodyPr wrap="square"/>
                    <a:lstStyle/>
                    <a:p>
                      <a:pPr>
                        <a:spcAft>
                          <a:spcPts val="0"/>
                        </a:spcAft>
                      </a:pPr>
                      <a:r>
                        <a:rPr sz="1300" b="1">
                          <a:solidFill>
                            <a:srgbClr val="333D47"/>
                          </a:solidFill>
                          <a:latin typeface="Arial"/>
                        </a:rPr>
                        <a:t>Current capacity</a:t>
                      </a:r>
                    </a:p>
                  </a:txBody>
                  <a:tcPr marL="91440" marR="91440" marT="64008" marB="64008" anchor="t">
                    <a:lnL w="0">
                      <a:noFill/>
                    </a:lnL>
                    <a:lnR w="0">
                      <a:noFill/>
                    </a:lnR>
                    <a:lnT w="9525" cmpd="sng">
                      <a:solidFill>
                        <a:srgbClr val="BFBFBF"/>
                      </a:solidFill>
                    </a:lnT>
                    <a:lnB w="9525" cmpd="sng">
                      <a:solidFill>
                        <a:srgbClr val="BFBFBF"/>
                      </a:solidFill>
                    </a:lnB>
                    <a:noFill/>
                  </a:tcPr>
                </a:tc>
                <a:tc>
                  <a:txBody>
                    <a:bodyPr wrap="square"/>
                    <a:lstStyle/>
                    <a:p>
                      <a:pPr>
                        <a:spcAft>
                          <a:spcPts val="0"/>
                        </a:spcAft>
                      </a:pPr>
                      <a:r>
                        <a:rPr sz="1300" b="0">
                          <a:solidFill>
                            <a:srgbClr val="333D47"/>
                          </a:solidFill>
                          <a:latin typeface="Arial"/>
                        </a:rPr>
                        <a:t>The Data Analytics team has three employees, fully occupied with ongoing audit and analytics work. Capacity to develop new AI and automation solutions is limited.</a:t>
                      </a:r>
                    </a:p>
                  </a:txBody>
                  <a:tcPr marL="91440" marR="91440" marT="64008" marB="64008" anchor="t">
                    <a:lnL w="0">
                      <a:noFill/>
                    </a:lnL>
                    <a:lnR w="0">
                      <a:noFill/>
                    </a:lnR>
                    <a:lnT w="9525" cmpd="sng">
                      <a:solidFill>
                        <a:srgbClr val="BFBFBF"/>
                      </a:solidFill>
                    </a:lnT>
                    <a:lnB w="9525" cmpd="sng">
                      <a:solidFill>
                        <a:srgbClr val="BFBFBF"/>
                      </a:solidFill>
                    </a:lnB>
                    <a:noFill/>
                  </a:tcPr>
                </a:tc>
              </a:tr>
              <a:tr h="786384">
                <a:tc>
                  <a:txBody>
                    <a:bodyPr wrap="square"/>
                    <a:lstStyle/>
                    <a:p>
                      <a:pPr>
                        <a:spcAft>
                          <a:spcPts val="0"/>
                        </a:spcAft>
                      </a:pPr>
                      <a:r>
                        <a:rPr sz="1300" b="1">
                          <a:solidFill>
                            <a:srgbClr val="333D47"/>
                          </a:solidFill>
                          <a:latin typeface="Arial"/>
                        </a:rPr>
                        <a:t>2027 requirements</a:t>
                      </a:r>
                    </a:p>
                  </a:txBody>
                  <a:tcPr marL="91440" marR="91440" marT="64008" marB="64008" anchor="t">
                    <a:lnL w="0">
                      <a:noFill/>
                    </a:lnL>
                    <a:lnR w="0">
                      <a:noFill/>
                    </a:lnR>
                    <a:lnT w="0">
                      <a:noFill/>
                    </a:lnT>
                    <a:lnB w="9525" cmpd="sng">
                      <a:solidFill>
                        <a:srgbClr val="BFBFBF"/>
                      </a:solidFill>
                    </a:lnB>
                    <a:noFill/>
                  </a:tcPr>
                </a:tc>
                <a:tc>
                  <a:txBody>
                    <a:bodyPr wrap="square"/>
                    <a:lstStyle/>
                    <a:p>
                      <a:pPr>
                        <a:spcAft>
                          <a:spcPts val="0"/>
                        </a:spcAft>
                      </a:pPr>
                      <a:r>
                        <a:rPr sz="1300" b="0">
                          <a:solidFill>
                            <a:srgbClr val="333D47"/>
                          </a:solidFill>
                          <a:latin typeface="Arial"/>
                        </a:rPr>
                        <a:t>Planned audit and monitoring engagements, audit automation, Group initiatives (AotF, Databricks Genie Space pilot) and existing tools all require technical support.</a:t>
                      </a:r>
                    </a:p>
                  </a:txBody>
                  <a:tcPr marL="91440" marR="91440" marT="64008" marB="64008" anchor="t">
                    <a:lnL w="0">
                      <a:noFill/>
                    </a:lnL>
                    <a:lnR w="0">
                      <a:noFill/>
                    </a:lnR>
                    <a:lnT w="0">
                      <a:noFill/>
                    </a:lnT>
                    <a:lnB w="9525" cmpd="sng">
                      <a:solidFill>
                        <a:srgbClr val="BFBFBF"/>
                      </a:solidFill>
                    </a:lnB>
                    <a:noFill/>
                  </a:tcPr>
                </a:tc>
              </a:tr>
              <a:tr h="786384">
                <a:tc>
                  <a:txBody>
                    <a:bodyPr wrap="square"/>
                    <a:lstStyle/>
                    <a:p>
                      <a:pPr>
                        <a:spcAft>
                          <a:spcPts val="0"/>
                        </a:spcAft>
                      </a:pPr>
                      <a:r>
                        <a:rPr sz="1300" b="1">
                          <a:solidFill>
                            <a:srgbClr val="333D47"/>
                          </a:solidFill>
                          <a:latin typeface="Arial"/>
                        </a:rPr>
                        <a:t>Proposed resource</a:t>
                      </a:r>
                    </a:p>
                  </a:txBody>
                  <a:tcPr marL="91440" marR="91440" marT="64008" marB="64008" anchor="t">
                    <a:lnL w="0">
                      <a:noFill/>
                    </a:lnL>
                    <a:lnR w="0">
                      <a:noFill/>
                    </a:lnR>
                    <a:lnT w="0">
                      <a:noFill/>
                    </a:lnT>
                    <a:lnB w="9525" cmpd="sng">
                      <a:solidFill>
                        <a:srgbClr val="BFBFBF"/>
                      </a:solidFill>
                    </a:lnB>
                    <a:noFill/>
                  </a:tcPr>
                </a:tc>
                <a:tc>
                  <a:txBody>
                    <a:bodyPr wrap="square"/>
                    <a:lstStyle/>
                    <a:p>
                      <a:pPr>
                        <a:spcAft>
                          <a:spcPts val="0"/>
                        </a:spcAft>
                      </a:pPr>
                      <a:r>
                        <a:rPr sz="1300" b="0">
                          <a:solidFill>
                            <a:srgbClr val="333D47"/>
                          </a:solidFill>
                          <a:latin typeface="Arial"/>
                        </a:rPr>
                        <a:t>Technical expertise based within GIA HK, working directly with business auditors. Complements the continued support of TSS and DNA.</a:t>
                      </a:r>
                    </a:p>
                  </a:txBody>
                  <a:tcPr marL="91440" marR="91440" marT="64008" marB="64008" anchor="t">
                    <a:lnL w="0">
                      <a:noFill/>
                    </a:lnL>
                    <a:lnR w="0">
                      <a:noFill/>
                    </a:lnR>
                    <a:lnT w="0">
                      <a:noFill/>
                    </a:lnT>
                    <a:lnB w="9525" cmpd="sng">
                      <a:solidFill>
                        <a:srgbClr val="BFBFBF"/>
                      </a:solidFill>
                    </a:lnB>
                    <a:noFill/>
                  </a:tcPr>
                </a:tc>
              </a:tr>
              <a:tr h="786384">
                <a:tc>
                  <a:txBody>
                    <a:bodyPr wrap="square"/>
                    <a:lstStyle/>
                    <a:p>
                      <a:pPr>
                        <a:spcAft>
                          <a:spcPts val="0"/>
                        </a:spcAft>
                      </a:pPr>
                      <a:r>
                        <a:rPr sz="1300" b="1">
                          <a:solidFill>
                            <a:srgbClr val="333D47"/>
                          </a:solidFill>
                          <a:latin typeface="Arial"/>
                        </a:rPr>
                        <a:t>Expected improvements</a:t>
                      </a:r>
                    </a:p>
                  </a:txBody>
                  <a:tcPr marL="91440" marR="91440" marT="64008" marB="64008" anchor="t">
                    <a:lnL w="0">
                      <a:noFill/>
                    </a:lnL>
                    <a:lnR w="0">
                      <a:noFill/>
                    </a:lnR>
                    <a:lnT w="0">
                      <a:noFill/>
                    </a:lnT>
                    <a:lnB w="9525" cmpd="sng">
                      <a:solidFill>
                        <a:srgbClr val="BFBFBF"/>
                      </a:solidFill>
                    </a:lnB>
                    <a:noFill/>
                  </a:tcPr>
                </a:tc>
                <a:tc>
                  <a:txBody>
                    <a:bodyPr wrap="square"/>
                    <a:lstStyle/>
                    <a:p>
                      <a:pPr>
                        <a:spcAft>
                          <a:spcPts val="0"/>
                        </a:spcAft>
                      </a:pPr>
                      <a:r>
                        <a:rPr sz="1300" b="0">
                          <a:solidFill>
                            <a:srgbClr val="333D47"/>
                          </a:solidFill>
                          <a:latin typeface="Arial"/>
                        </a:rPr>
                        <a:t>Stronger technical support for audit engagements, practical automation of manual audit steps, and more responsive technical delivery. To be measured during 2027.</a:t>
                      </a:r>
                    </a:p>
                  </a:txBody>
                  <a:tcPr marL="91440" marR="91440" marT="64008" marB="64008" anchor="t">
                    <a:lnL w="0">
                      <a:noFill/>
                    </a:lnL>
                    <a:lnR w="0">
                      <a:noFill/>
                    </a:lnR>
                    <a:lnT w="0">
                      <a:noFill/>
                    </a:lnT>
                    <a:lnB w="9525" cmpd="sng">
                      <a:solidFill>
                        <a:srgbClr val="BFBFBF"/>
                      </a:solidFill>
                    </a:lnB>
                    <a:noFill/>
                  </a:tcPr>
                </a:tc>
              </a:tr>
            </a:tbl>
          </a:graphicData>
        </a:graphic>
      </p:graphicFrame>
      <p:sp>
        <p:nvSpPr>
          <p:cNvPr id="14" name="Rectangle 13"/>
          <p:cNvSpPr/>
          <p:nvPr/>
        </p:nvSpPr>
        <p:spPr>
          <a:xfrm>
            <a:off x="356616" y="5138928"/>
            <a:ext cx="11475720" cy="457200"/>
          </a:xfrm>
          <a:prstGeom prst="rect">
            <a:avLst/>
          </a:prstGeom>
          <a:solidFill>
            <a:srgbClr val="333D47"/>
          </a:solidFill>
          <a:ln>
            <a:noFill/>
          </a:ln>
          <a:effectLst/>
        </p:spPr>
        <p:txBody>
          <a:bodyPr rtlCol="0" anchor="ctr" wrap="square" lIns="182880" rIns="182880" tIns="109728" bIns="109728"/>
          <a:lstStyle/>
          <a:p>
            <a:pPr algn="l" marL="0" indent="0">
              <a:lnSpc>
                <a:spcPct val="100000"/>
              </a:lnSpc>
              <a:spcBef>
                <a:spcPts val="0"/>
              </a:spcBef>
              <a:spcAft>
                <a:spcPts val="0"/>
              </a:spcAft>
              <a:buNone/>
            </a:pPr>
            <a:r>
              <a:rPr sz="1400" b="1" i="0">
                <a:solidFill>
                  <a:srgbClr val="FFFFFF"/>
                </a:solidFill>
                <a:latin typeface="Arial"/>
              </a:rPr>
              <a:t>Decision requested:  </a:t>
            </a:r>
            <a:r>
              <a:rPr sz="1400" b="0" i="0">
                <a:solidFill>
                  <a:srgbClr val="FFFFFF"/>
                </a:solidFill>
                <a:latin typeface="Arial"/>
              </a:rPr>
              <a:t>Approval of one contingent worker for GIA HK Data Analytics in 2027, covering up to 1,400 hours.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rPr>
              <a:t>2027 Audit Workload and Existing Capacity</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lnSpc>
                <a:spcPct val="100000"/>
              </a:lnSpc>
              <a:spcBef>
                <a:spcPts val="0"/>
              </a:spcBef>
              <a:spcAft>
                <a:spcPts val="0"/>
              </a:spcAft>
              <a:buNone/>
            </a:pPr>
            <a:r>
              <a:rPr sz="1600" b="0" i="0">
                <a:solidFill>
                  <a:srgbClr val="D31145"/>
                </a:solidFill>
                <a:latin typeface="Arial"/>
              </a:rPr>
              <a:t>2027 brings technical needs across engagements, automation, Group initiatives and platforms.</a:t>
            </a:r>
          </a:p>
        </p:txBody>
      </p:sp>
      <p:graphicFrame>
        <p:nvGraphicFramePr>
          <p:cNvPr id="12" name="Table 11"/>
          <p:cNvGraphicFramePr>
            <a:graphicFrameLocks noGrp="1"/>
          </p:cNvGraphicFramePr>
          <p:nvPr/>
        </p:nvGraphicFramePr>
        <p:xfrm>
          <a:off x="356616" y="1828800"/>
          <a:ext cx="8001000" cy="3474720"/>
        </p:xfrm>
        <a:graphic>
          <a:graphicData uri="http://schemas.openxmlformats.org/drawingml/2006/table">
            <a:tbl>
              <a:tblPr firstRow="0" bandRow="0">
                <a:tableStyleId>{2D5ABB26-0587-4C30-8999-92F81FD0307C}</a:tableStyleId>
              </a:tblPr>
              <a:tblGrid>
                <a:gridCol w="1600200"/>
                <a:gridCol w="2743200"/>
                <a:gridCol w="3657600"/>
              </a:tblGrid>
              <a:tr h="384048">
                <a:tc>
                  <a:txBody>
                    <a:bodyPr wrap="square"/>
                    <a:lstStyle/>
                    <a:p>
                      <a:pPr>
                        <a:spcAft>
                          <a:spcPts val="0"/>
                        </a:spcAft>
                      </a:pPr>
                      <a:r>
                        <a:rPr sz="1200" b="1">
                          <a:solidFill>
                            <a:srgbClr val="FFFFFF"/>
                          </a:solidFill>
                          <a:latin typeface="Arial"/>
                        </a:rPr>
                        <a:t>Area</a:t>
                      </a:r>
                    </a:p>
                  </a:txBody>
                  <a:tcPr marL="91440" marR="91440" marT="64008" marB="64008" anchor="ctr">
                    <a:lnL w="0">
                      <a:noFill/>
                    </a:lnL>
                    <a:lnR w="0">
                      <a:noFill/>
                    </a:lnR>
                    <a:lnT w="0">
                      <a:noFill/>
                    </a:lnT>
                    <a:lnB w="0">
                      <a:noFill/>
                    </a:lnB>
                    <a:solidFill>
                      <a:srgbClr val="333D47"/>
                    </a:solidFill>
                  </a:tcPr>
                </a:tc>
                <a:tc>
                  <a:txBody>
                    <a:bodyPr wrap="square"/>
                    <a:lstStyle/>
                    <a:p>
                      <a:pPr>
                        <a:spcAft>
                          <a:spcPts val="0"/>
                        </a:spcAft>
                      </a:pPr>
                      <a:r>
                        <a:rPr sz="1200" b="1">
                          <a:solidFill>
                            <a:srgbClr val="FFFFFF"/>
                          </a:solidFill>
                          <a:latin typeface="Arial"/>
                        </a:rPr>
                        <a:t>Planned 2027 activity</a:t>
                      </a:r>
                    </a:p>
                  </a:txBody>
                  <a:tcPr marL="91440" marR="91440" marT="64008" marB="64008" anchor="ctr">
                    <a:lnL w="0">
                      <a:noFill/>
                    </a:lnL>
                    <a:lnR w="0">
                      <a:noFill/>
                    </a:lnR>
                    <a:lnT w="0">
                      <a:noFill/>
                    </a:lnT>
                    <a:lnB w="0">
                      <a:noFill/>
                    </a:lnB>
                    <a:solidFill>
                      <a:srgbClr val="333D47"/>
                    </a:solidFill>
                  </a:tcPr>
                </a:tc>
                <a:tc>
                  <a:txBody>
                    <a:bodyPr wrap="square"/>
                    <a:lstStyle/>
                    <a:p>
                      <a:pPr>
                        <a:spcAft>
                          <a:spcPts val="0"/>
                        </a:spcAft>
                      </a:pPr>
                      <a:r>
                        <a:rPr sz="1200" b="1">
                          <a:solidFill>
                            <a:srgbClr val="FFFFFF"/>
                          </a:solidFill>
                          <a:latin typeface="Arial"/>
                        </a:rPr>
                        <a:t>Technical support required</a:t>
                      </a:r>
                    </a:p>
                  </a:txBody>
                  <a:tcPr marL="91440" marR="91440" marT="64008" marB="64008" anchor="ctr">
                    <a:lnL w="0">
                      <a:noFill/>
                    </a:lnL>
                    <a:lnR w="0">
                      <a:noFill/>
                    </a:lnR>
                    <a:lnT w="0">
                      <a:noFill/>
                    </a:lnT>
                    <a:lnB w="0">
                      <a:noFill/>
                    </a:lnB>
                    <a:solidFill>
                      <a:srgbClr val="333D47"/>
                    </a:solidFill>
                  </a:tcPr>
                </a:tc>
              </a:tr>
              <a:tr h="347472">
                <a:tc rowSpan="4">
                  <a:txBody>
                    <a:bodyPr wrap="square"/>
                    <a:lstStyle/>
                    <a:p>
                      <a:pPr>
                        <a:spcAft>
                          <a:spcPts val="0"/>
                        </a:spcAft>
                      </a:pPr>
                      <a:r>
                        <a:rPr sz="1200" b="1">
                          <a:solidFill>
                            <a:srgbClr val="333D47"/>
                          </a:solidFill>
                          <a:latin typeface="Arial"/>
                        </a:rPr>
                        <a:t>Engagements</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200" b="0">
                          <a:solidFill>
                            <a:srgbClr val="333D47"/>
                          </a:solidFill>
                          <a:latin typeface="Arial"/>
                        </a:rPr>
                        <a:t>Individual Life Claims Audit</a:t>
                      </a:r>
                    </a:p>
                  </a:txBody>
                  <a:tcPr marL="91440" marR="91440" marT="64008" marB="64008" anchor="ctr">
                    <a:lnL w="0">
                      <a:noFill/>
                    </a:lnL>
                    <a:lnR w="0">
                      <a:noFill/>
                    </a:lnR>
                    <a:lnT w="0">
                      <a:noFill/>
                    </a:lnT>
                    <a:lnB w="9525" cmpd="sng">
                      <a:solidFill>
                        <a:srgbClr val="BFBFBF"/>
                      </a:solidFill>
                    </a:lnB>
                    <a:noFill/>
                  </a:tcPr>
                </a:tc>
                <a:tc rowSpan="4">
                  <a:txBody>
                    <a:bodyPr wrap="square"/>
                    <a:lstStyle/>
                    <a:p>
                      <a:pPr>
                        <a:spcAft>
                          <a:spcPts val="0"/>
                        </a:spcAft>
                      </a:pPr>
                      <a:r>
                        <a:rPr sz="1100" b="0">
                          <a:solidFill>
                            <a:srgbClr val="333D47"/>
                          </a:solidFill>
                          <a:latin typeface="Arial"/>
                        </a:rPr>
                        <a:t>Technical and analytics support to the engagement teams</a:t>
                      </a:r>
                    </a:p>
                  </a:txBody>
                  <a:tcPr marL="91440" marR="91440" marT="64008" marB="64008" anchor="ctr">
                    <a:lnL w="0">
                      <a:noFill/>
                    </a:lnL>
                    <a:lnR w="0">
                      <a:noFill/>
                    </a:lnR>
                    <a:lnT w="0">
                      <a:noFill/>
                    </a:lnT>
                    <a:lnB w="9525" cmpd="sng">
                      <a:solidFill>
                        <a:srgbClr val="BFBFBF"/>
                      </a:solidFill>
                    </a:lnB>
                    <a:noFill/>
                  </a:tcPr>
                </a:tc>
              </a:tr>
              <a:tr h="347472">
                <a:tc vMerge="1">
                  <a:txBody>
                    <a:bodyPr wrap="square"/>
                    <a:lstStyle/>
                    <a:p>
                      <a:pPr>
                        <a:spcAft>
                          <a:spcPts val="0"/>
                        </a:spcAft>
                      </a:pPr>
                      <a:r>
                        <a:rPr sz="1200" b="1">
                          <a:solidFill>
                            <a:srgbClr val="333D47"/>
                          </a:solidFill>
                          <a:latin typeface="Arial"/>
                        </a:rPr>
                        <a:t/>
                      </a:r>
                    </a:p>
                  </a:txBody>
                  <a:tcPr marL="91440" marR="91440" marT="64008" marB="64008" anchor="ctr">
                    <a:lnL w="0">
                      <a:noFill/>
                    </a:lnL>
                    <a:lnR w="0">
                      <a:noFill/>
                    </a:lnR>
                    <a:lnT w="0">
                      <a:noFill/>
                    </a:lnT>
                    <a:lnB w="0">
                      <a:noFill/>
                    </a:lnB>
                    <a:noFill/>
                  </a:tcPr>
                </a:tc>
                <a:tc>
                  <a:txBody>
                    <a:bodyPr wrap="square"/>
                    <a:lstStyle/>
                    <a:p>
                      <a:pPr>
                        <a:spcAft>
                          <a:spcPts val="0"/>
                        </a:spcAft>
                      </a:pPr>
                      <a:r>
                        <a:rPr sz="1200" b="0">
                          <a:solidFill>
                            <a:srgbClr val="333D47"/>
                          </a:solidFill>
                          <a:latin typeface="Arial"/>
                        </a:rPr>
                        <a:t>Premium Collection Audit</a:t>
                      </a:r>
                    </a:p>
                  </a:txBody>
                  <a:tcPr marL="91440" marR="91440" marT="64008" marB="64008" anchor="ctr">
                    <a:lnL w="0">
                      <a:noFill/>
                    </a:lnL>
                    <a:lnR w="0">
                      <a:noFill/>
                    </a:lnR>
                    <a:lnT w="0">
                      <a:noFill/>
                    </a:lnT>
                    <a:lnB w="9525" cmpd="sng">
                      <a:solidFill>
                        <a:srgbClr val="BFBFBF"/>
                      </a:solidFill>
                    </a:lnB>
                    <a:noFill/>
                  </a:tcPr>
                </a:tc>
                <a:tc vMerge="1">
                  <a:txBody>
                    <a:bodyPr/>
                    <a:lstStyle/>
                    <a:p/>
                  </a:txBody>
                  <a:tcPr>
                    <a:lnL w="0">
                      <a:noFill/>
                    </a:lnL>
                    <a:lnR w="0">
                      <a:noFill/>
                    </a:lnR>
                    <a:lnT w="0">
                      <a:noFill/>
                    </a:lnT>
                    <a:lnB w="0">
                      <a:noFill/>
                    </a:lnB>
                  </a:tcPr>
                </a:tc>
              </a:tr>
              <a:tr h="347472">
                <a:tc vMerge="1">
                  <a:txBody>
                    <a:bodyPr wrap="square"/>
                    <a:lstStyle/>
                    <a:p>
                      <a:pPr>
                        <a:spcAft>
                          <a:spcPts val="0"/>
                        </a:spcAft>
                      </a:pPr>
                      <a:r>
                        <a:rPr sz="1200" b="1">
                          <a:solidFill>
                            <a:srgbClr val="333D47"/>
                          </a:solidFill>
                          <a:latin typeface="Arial"/>
                        </a:rPr>
                        <a:t/>
                      </a:r>
                    </a:p>
                  </a:txBody>
                  <a:tcPr marL="91440" marR="91440" marT="64008" marB="64008" anchor="ctr">
                    <a:lnL w="0">
                      <a:noFill/>
                    </a:lnL>
                    <a:lnR w="0">
                      <a:noFill/>
                    </a:lnR>
                    <a:lnT w="0">
                      <a:noFill/>
                    </a:lnT>
                    <a:lnB w="0">
                      <a:noFill/>
                    </a:lnB>
                    <a:noFill/>
                  </a:tcPr>
                </a:tc>
                <a:tc>
                  <a:txBody>
                    <a:bodyPr wrap="square"/>
                    <a:lstStyle/>
                    <a:p>
                      <a:pPr>
                        <a:spcAft>
                          <a:spcPts val="0"/>
                        </a:spcAft>
                      </a:pPr>
                      <a:r>
                        <a:rPr sz="1200" b="0">
                          <a:solidFill>
                            <a:srgbClr val="333D47"/>
                          </a:solidFill>
                          <a:latin typeface="Arial"/>
                        </a:rPr>
                        <a:t>Post-Sales Call Analytics</a:t>
                      </a:r>
                    </a:p>
                  </a:txBody>
                  <a:tcPr marL="91440" marR="91440" marT="64008" marB="64008" anchor="ctr">
                    <a:lnL w="0">
                      <a:noFill/>
                    </a:lnL>
                    <a:lnR w="0">
                      <a:noFill/>
                    </a:lnR>
                    <a:lnT w="0">
                      <a:noFill/>
                    </a:lnT>
                    <a:lnB w="9525" cmpd="sng">
                      <a:solidFill>
                        <a:srgbClr val="BFBFBF"/>
                      </a:solidFill>
                    </a:lnB>
                    <a:noFill/>
                  </a:tcPr>
                </a:tc>
                <a:tc vMerge="1">
                  <a:txBody>
                    <a:bodyPr/>
                    <a:lstStyle/>
                    <a:p/>
                  </a:txBody>
                  <a:tcPr>
                    <a:lnL w="0">
                      <a:noFill/>
                    </a:lnL>
                    <a:lnR w="0">
                      <a:noFill/>
                    </a:lnR>
                    <a:lnT w="0">
                      <a:noFill/>
                    </a:lnT>
                    <a:lnB w="0">
                      <a:noFill/>
                    </a:lnB>
                  </a:tcPr>
                </a:tc>
              </a:tr>
              <a:tr h="347472">
                <a:tc vMerge="1">
                  <a:txBody>
                    <a:bodyPr wrap="square"/>
                    <a:lstStyle/>
                    <a:p>
                      <a:pPr>
                        <a:spcAft>
                          <a:spcPts val="0"/>
                        </a:spcAft>
                      </a:pPr>
                      <a:r>
                        <a:rPr sz="1200" b="1">
                          <a:solidFill>
                            <a:srgbClr val="333D47"/>
                          </a:solidFill>
                          <a:latin typeface="Arial"/>
                        </a:rPr>
                        <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200" b="0">
                          <a:solidFill>
                            <a:srgbClr val="333D47"/>
                          </a:solidFill>
                          <a:latin typeface="Arial"/>
                        </a:rPr>
                        <a:t>Complaint Handling</a:t>
                      </a:r>
                    </a:p>
                  </a:txBody>
                  <a:tcPr marL="91440" marR="91440" marT="64008" marB="64008" anchor="ctr">
                    <a:lnL w="0">
                      <a:noFill/>
                    </a:lnL>
                    <a:lnR w="0">
                      <a:noFill/>
                    </a:lnR>
                    <a:lnT w="0">
                      <a:noFill/>
                    </a:lnT>
                    <a:lnB w="9525" cmpd="sng">
                      <a:solidFill>
                        <a:srgbClr val="BFBFBF"/>
                      </a:solidFill>
                    </a:lnB>
                    <a:noFill/>
                  </a:tcPr>
                </a:tc>
                <a:tc vMerge="1">
                  <a:txBody>
                    <a:bodyPr/>
                    <a:lstStyle/>
                    <a:p/>
                  </a:txBody>
                  <a:tcPr>
                    <a:lnL w="0">
                      <a:noFill/>
                    </a:lnL>
                    <a:lnR w="0">
                      <a:noFill/>
                    </a:lnR>
                    <a:lnT w="0">
                      <a:noFill/>
                    </a:lnT>
                    <a:lnB w="9525" cmpd="sng">
                      <a:solidFill>
                        <a:srgbClr val="BFBFBF"/>
                      </a:solidFill>
                    </a:lnB>
                  </a:tcPr>
                </a:tc>
              </a:tr>
              <a:tr h="566928">
                <a:tc>
                  <a:txBody>
                    <a:bodyPr wrap="square"/>
                    <a:lstStyle/>
                    <a:p>
                      <a:pPr>
                        <a:spcAft>
                          <a:spcPts val="0"/>
                        </a:spcAft>
                      </a:pPr>
                      <a:r>
                        <a:rPr sz="1200" b="1">
                          <a:solidFill>
                            <a:srgbClr val="333D47"/>
                          </a:solidFill>
                          <a:latin typeface="Arial"/>
                        </a:rPr>
                        <a:t>Automation</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200" b="0">
                          <a:solidFill>
                            <a:srgbClr val="333D47"/>
                          </a:solidFill>
                          <a:latin typeface="Arial"/>
                        </a:rPr>
                        <a:t>Audit automation and data pipelines</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Automate data extraction from internal and external sources; build data pipelines as a foundation for continuous auditing</a:t>
                      </a:r>
                    </a:p>
                  </a:txBody>
                  <a:tcPr marL="91440" marR="91440" marT="64008" marB="64008" anchor="ctr">
                    <a:lnL w="0">
                      <a:noFill/>
                    </a:lnL>
                    <a:lnR w="0">
                      <a:noFill/>
                    </a:lnR>
                    <a:lnT w="0">
                      <a:noFill/>
                    </a:lnT>
                    <a:lnB w="9525" cmpd="sng">
                      <a:solidFill>
                        <a:srgbClr val="BFBFBF"/>
                      </a:solidFill>
                    </a:lnB>
                    <a:noFill/>
                  </a:tcPr>
                </a:tc>
              </a:tr>
              <a:tr h="566928">
                <a:tc>
                  <a:txBody>
                    <a:bodyPr wrap="square"/>
                    <a:lstStyle/>
                    <a:p>
                      <a:pPr>
                        <a:spcAft>
                          <a:spcPts val="0"/>
                        </a:spcAft>
                      </a:pPr>
                      <a:r>
                        <a:rPr sz="1200" b="1">
                          <a:solidFill>
                            <a:srgbClr val="333D47"/>
                          </a:solidFill>
                          <a:latin typeface="Arial"/>
                        </a:rPr>
                        <a:t>Group initiatives</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200" b="0">
                          <a:solidFill>
                            <a:srgbClr val="333D47"/>
                          </a:solidFill>
                          <a:latin typeface="Arial"/>
                        </a:rPr>
                        <a:t>Group AotF and Databricks Genie Space</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Support the HK DA team on the Group AotF workstream; Genie Space pilot with Group AAT and Singapore DA teams</a:t>
                      </a:r>
                    </a:p>
                  </a:txBody>
                  <a:tcPr marL="91440" marR="91440" marT="64008" marB="64008" anchor="ctr">
                    <a:lnL w="0">
                      <a:noFill/>
                    </a:lnL>
                    <a:lnR w="0">
                      <a:noFill/>
                    </a:lnR>
                    <a:lnT w="0">
                      <a:noFill/>
                    </a:lnT>
                    <a:lnB w="9525" cmpd="sng">
                      <a:solidFill>
                        <a:srgbClr val="BFBFBF"/>
                      </a:solidFill>
                    </a:lnB>
                    <a:noFill/>
                  </a:tcPr>
                </a:tc>
              </a:tr>
              <a:tr h="566928">
                <a:tc>
                  <a:txBody>
                    <a:bodyPr wrap="square"/>
                    <a:lstStyle/>
                    <a:p>
                      <a:pPr>
                        <a:spcAft>
                          <a:spcPts val="0"/>
                        </a:spcAft>
                      </a:pPr>
                      <a:r>
                        <a:rPr sz="1200" b="1">
                          <a:solidFill>
                            <a:srgbClr val="333D47"/>
                          </a:solidFill>
                          <a:latin typeface="Arial"/>
                        </a:rPr>
                        <a:t>Platforms</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200" b="0">
                          <a:solidFill>
                            <a:srgbClr val="333D47"/>
                          </a:solidFill>
                          <a:latin typeface="Arial"/>
                        </a:rPr>
                        <a:t>Maintenance of existing analytics platforms</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Maintain and enhance Databricks, SandBox and the tools developed in 2026</a:t>
                      </a:r>
                    </a:p>
                  </a:txBody>
                  <a:tcPr marL="91440" marR="91440" marT="64008" marB="64008" anchor="ctr">
                    <a:lnL w="0">
                      <a:noFill/>
                    </a:lnL>
                    <a:lnR w="0">
                      <a:noFill/>
                    </a:lnR>
                    <a:lnT w="0">
                      <a:noFill/>
                    </a:lnT>
                    <a:lnB w="9525" cmpd="sng">
                      <a:solidFill>
                        <a:srgbClr val="BFBFBF"/>
                      </a:solidFill>
                    </a:lnB>
                    <a:noFill/>
                  </a:tcPr>
                </a:tc>
              </a:tr>
            </a:tbl>
          </a:graphicData>
        </a:graphic>
      </p:graphicFrame>
      <p:sp>
        <p:nvSpPr>
          <p:cNvPr id="13" name="Rectangle 12"/>
          <p:cNvSpPr/>
          <p:nvPr/>
        </p:nvSpPr>
        <p:spPr>
          <a:xfrm>
            <a:off x="8631936" y="1828800"/>
            <a:ext cx="3200400" cy="3611880"/>
          </a:xfrm>
          <a:prstGeom prst="rect">
            <a:avLst/>
          </a:prstGeom>
          <a:solidFill>
            <a:srgbClr val="F2F2F2"/>
          </a:solidFill>
          <a:ln>
            <a:noFill/>
          </a:ln>
          <a:effectLst/>
        </p:spPr>
        <p:txBody>
          <a:bodyPr rtlCol="0" anchor="t" wrap="square" lIns="228600" rIns="228600" tIns="109728" bIns="109728"/>
          <a:lstStyle/>
          <a:p>
            <a:pPr algn="l" marL="0" indent="0">
              <a:lnSpc>
                <a:spcPct val="100000"/>
              </a:lnSpc>
              <a:spcBef>
                <a:spcPts val="0"/>
              </a:spcBef>
              <a:spcAft>
                <a:spcPts val="600"/>
              </a:spcAft>
              <a:buNone/>
            </a:pPr>
            <a:r>
              <a:rPr sz="1100" b="1" i="0">
                <a:solidFill>
                  <a:srgbClr val="5F6770"/>
                </a:solidFill>
                <a:latin typeface="Arial"/>
              </a:rPr>
              <a:t>EXISTING CAPACITY</a:t>
            </a:r>
          </a:p>
          <a:p>
            <a:pPr marL="0" indent="0" algn="l">
              <a:lnSpc>
                <a:spcPct val="100000"/>
              </a:lnSpc>
              <a:spcBef>
                <a:spcPts val="0"/>
              </a:spcBef>
              <a:spcAft>
                <a:spcPts val="400"/>
              </a:spcAft>
              <a:buNone/>
            </a:pPr>
            <a:r>
              <a:rPr sz="3200" b="1" i="0">
                <a:solidFill>
                  <a:srgbClr val="D31145"/>
                </a:solidFill>
                <a:latin typeface="Arial"/>
              </a:rPr>
              <a:t>3 employees</a:t>
            </a:r>
          </a:p>
          <a:p>
            <a:pPr marL="0" indent="0" algn="l">
              <a:lnSpc>
                <a:spcPct val="100000"/>
              </a:lnSpc>
              <a:spcBef>
                <a:spcPts val="0"/>
              </a:spcBef>
              <a:spcAft>
                <a:spcPts val="1400"/>
              </a:spcAft>
              <a:buNone/>
            </a:pPr>
            <a:r>
              <a:rPr sz="1300" b="0" i="0">
                <a:solidFill>
                  <a:srgbClr val="333D47"/>
                </a:solidFill>
                <a:latin typeface="Arial"/>
              </a:rPr>
              <a:t>in GIA HK Data Analytics</a:t>
            </a:r>
          </a:p>
          <a:p>
            <a:pPr marL="164592" indent="-164592" algn="l">
              <a:lnSpc>
                <a:spcPct val="100000"/>
              </a:lnSpc>
              <a:spcBef>
                <a:spcPts val="0"/>
              </a:spcBef>
              <a:spcAft>
                <a:spcPts val="800"/>
              </a:spcAft>
              <a:buFont typeface="Arial"/>
              <a:buChar char="•"/>
            </a:pPr>
            <a:r>
              <a:rPr sz="1300" b="0" i="0">
                <a:solidFill>
                  <a:srgbClr val="333D47"/>
                </a:solidFill>
                <a:latin typeface="Arial"/>
              </a:rPr>
              <a:t>Fully occupied with ongoing audit and analytics responsibilities</a:t>
            </a:r>
          </a:p>
          <a:p>
            <a:pPr marL="164592" indent="-164592" algn="l">
              <a:lnSpc>
                <a:spcPct val="100000"/>
              </a:lnSpc>
              <a:spcBef>
                <a:spcPts val="0"/>
              </a:spcBef>
              <a:spcAft>
                <a:spcPts val="800"/>
              </a:spcAft>
              <a:buFont typeface="Arial"/>
              <a:buChar char="•"/>
            </a:pPr>
            <a:r>
              <a:rPr sz="1300" b="0" i="0">
                <a:solidFill>
                  <a:srgbClr val="333D47"/>
                </a:solidFill>
                <a:latin typeface="Arial"/>
              </a:rPr>
              <a:t>Limited capacity to explore and implement new AI and automation solutions alongside the existing workload</a:t>
            </a:r>
          </a:p>
          <a:p>
            <a:pPr marL="164592" indent="-164592" algn="l">
              <a:lnSpc>
                <a:spcPct val="100000"/>
              </a:lnSpc>
              <a:spcBef>
                <a:spcPts val="0"/>
              </a:spcBef>
              <a:spcAft>
                <a:spcPts val="0"/>
              </a:spcAft>
              <a:buFont typeface="Arial"/>
              <a:buChar char="•"/>
            </a:pPr>
            <a:r>
              <a:rPr sz="1300" b="0" i="0">
                <a:solidFill>
                  <a:srgbClr val="333D47"/>
                </a:solidFill>
                <a:latin typeface="Arial"/>
              </a:rPr>
              <a:t>Allocation of the 1,400 hours is not fixed and will follow audit priorities</a:t>
            </a:r>
          </a:p>
        </p:txBody>
      </p:sp>
      <p:sp>
        <p:nvSpPr>
          <p:cNvPr id="14" name="TextBox 13"/>
          <p:cNvSpPr txBox="1"/>
          <p:nvPr/>
        </p:nvSpPr>
        <p:spPr>
          <a:xfrm>
            <a:off x="356616" y="5687568"/>
            <a:ext cx="10515600" cy="274320"/>
          </a:xfrm>
          <a:prstGeom prst="rect">
            <a:avLst/>
          </a:prstGeom>
          <a:noFill/>
        </p:spPr>
        <p:txBody>
          <a:bodyPr wrap="square" lIns="0" rIns="0" tIns="0" bIns="0" anchor="t"/>
          <a:lstStyle/>
          <a:p>
            <a:pPr marL="0" indent="0" algn="l">
              <a:lnSpc>
                <a:spcPct val="100000"/>
              </a:lnSpc>
              <a:spcBef>
                <a:spcPts val="0"/>
              </a:spcBef>
              <a:spcAft>
                <a:spcPts val="0"/>
              </a:spcAft>
              <a:buNone/>
            </a:pPr>
            <a:r>
              <a:rPr sz="1000" b="0" i="1">
                <a:solidFill>
                  <a:srgbClr val="5F6770"/>
                </a:solidFill>
                <a:latin typeface="Arial"/>
              </a:rPr>
              <a:t>Engagements are planned for 2027 and remain subject to the final audit plan.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rPr>
              <a:t>Technical Capability Demonstrated in 2026</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lnSpc>
                <a:spcPct val="100000"/>
              </a:lnSpc>
              <a:spcBef>
                <a:spcPts val="0"/>
              </a:spcBef>
              <a:spcAft>
                <a:spcPts val="0"/>
              </a:spcAft>
              <a:buNone/>
            </a:pPr>
            <a:r>
              <a:rPr sz="1600" b="0" i="0">
                <a:solidFill>
                  <a:srgbClr val="D31145"/>
                </a:solidFill>
                <a:latin typeface="Arial"/>
              </a:rPr>
              <a:t>Tools developed within GIA HK in 2026 show what embedded technical support can deliver.</a:t>
            </a:r>
          </a:p>
        </p:txBody>
      </p:sp>
      <p:sp>
        <p:nvSpPr>
          <p:cNvPr id="12" name="Rectangle 11"/>
          <p:cNvSpPr/>
          <p:nvPr/>
        </p:nvSpPr>
        <p:spPr>
          <a:xfrm>
            <a:off x="356616" y="1828800"/>
            <a:ext cx="3639312" cy="2468880"/>
          </a:xfrm>
          <a:prstGeom prst="rect">
            <a:avLst/>
          </a:prstGeom>
          <a:solidFill>
            <a:srgbClr val="F2F2F2"/>
          </a:solidFill>
          <a:ln>
            <a:noFill/>
          </a:ln>
          <a:effectLst/>
        </p:spPr>
        <p:txBody>
          <a:bodyPr rtlCol="0" anchor="t" wrap="square" lIns="182880" rIns="182880" tIns="109728" bIns="109728"/>
          <a:lstStyle/>
          <a:p>
            <a:pPr algn="l" marL="0" indent="0">
              <a:lnSpc>
                <a:spcPct val="100000"/>
              </a:lnSpc>
              <a:spcBef>
                <a:spcPts val="0"/>
              </a:spcBef>
              <a:spcAft>
                <a:spcPts val="800"/>
              </a:spcAft>
              <a:buNone/>
            </a:pPr>
            <a:r>
              <a:rPr sz="1500" b="1" i="0">
                <a:solidFill>
                  <a:srgbClr val="333D47"/>
                </a:solidFill>
                <a:latin typeface="Arial"/>
              </a:rPr>
              <a:t>Regulatory Automation</a:t>
            </a:r>
          </a:p>
          <a:p>
            <a:pPr marL="0" indent="0" algn="l">
              <a:lnSpc>
                <a:spcPct val="105000"/>
              </a:lnSpc>
              <a:spcBef>
                <a:spcPts val="0"/>
              </a:spcBef>
              <a:spcAft>
                <a:spcPts val="0"/>
              </a:spcAft>
              <a:buNone/>
            </a:pPr>
            <a:r>
              <a:rPr sz="1200" b="0" i="0">
                <a:solidFill>
                  <a:srgbClr val="333D47"/>
                </a:solidFill>
                <a:latin typeface="Arial"/>
              </a:rPr>
              <a:t>Retrieves regulatory documents and uses AI to identify potentially relevant internal audit requirements for auditor review. Replaces manual website searches, relevance checks and recording of results. Covers approx. 259 documents (IA, BMA, AMCM).*</a:t>
            </a:r>
          </a:p>
        </p:txBody>
      </p:sp>
      <p:sp>
        <p:nvSpPr>
          <p:cNvPr id="13" name="TextBox 12"/>
          <p:cNvSpPr txBox="1"/>
          <p:nvPr/>
        </p:nvSpPr>
        <p:spPr>
          <a:xfrm>
            <a:off x="539496" y="3639312"/>
            <a:ext cx="3273552" cy="548640"/>
          </a:xfrm>
          <a:prstGeom prst="rect">
            <a:avLst/>
          </a:prstGeom>
          <a:noFill/>
        </p:spPr>
        <p:txBody>
          <a:bodyPr wrap="square" lIns="0" rIns="0" tIns="0" bIns="0" anchor="t"/>
          <a:lstStyle/>
          <a:p>
            <a:pPr marL="0" indent="0" algn="l">
              <a:lnSpc>
                <a:spcPct val="100000"/>
              </a:lnSpc>
              <a:spcBef>
                <a:spcPts val="0"/>
              </a:spcBef>
              <a:spcAft>
                <a:spcPts val="200"/>
              </a:spcAft>
              <a:buNone/>
            </a:pPr>
            <a:r>
              <a:rPr sz="1000" b="1" i="0">
                <a:solidFill>
                  <a:srgbClr val="5F6770"/>
                </a:solidFill>
                <a:latin typeface="Arial"/>
              </a:rPr>
              <a:t>STATUS</a:t>
            </a:r>
          </a:p>
          <a:p>
            <a:pPr marL="0" indent="0" algn="l">
              <a:lnSpc>
                <a:spcPct val="100000"/>
              </a:lnSpc>
              <a:spcBef>
                <a:spcPts val="0"/>
              </a:spcBef>
              <a:spcAft>
                <a:spcPts val="0"/>
              </a:spcAft>
              <a:buNone/>
            </a:pPr>
            <a:r>
              <a:rPr sz="1200" b="1" i="0">
                <a:solidFill>
                  <a:srgbClr val="D31145"/>
                </a:solidFill>
                <a:latin typeface="Arial"/>
              </a:rPr>
              <a:t>Essentially usable</a:t>
            </a:r>
          </a:p>
        </p:txBody>
      </p:sp>
      <p:sp>
        <p:nvSpPr>
          <p:cNvPr id="14" name="Rectangle 13"/>
          <p:cNvSpPr/>
          <p:nvPr/>
        </p:nvSpPr>
        <p:spPr>
          <a:xfrm>
            <a:off x="4274820" y="1828800"/>
            <a:ext cx="3639312" cy="2468880"/>
          </a:xfrm>
          <a:prstGeom prst="rect">
            <a:avLst/>
          </a:prstGeom>
          <a:solidFill>
            <a:srgbClr val="F2F2F2"/>
          </a:solidFill>
          <a:ln>
            <a:noFill/>
          </a:ln>
          <a:effectLst/>
        </p:spPr>
        <p:txBody>
          <a:bodyPr rtlCol="0" anchor="t" wrap="square" lIns="182880" rIns="182880" tIns="109728" bIns="109728"/>
          <a:lstStyle/>
          <a:p>
            <a:pPr algn="l" marL="0" indent="0">
              <a:lnSpc>
                <a:spcPct val="100000"/>
              </a:lnSpc>
              <a:spcBef>
                <a:spcPts val="0"/>
              </a:spcBef>
              <a:spcAft>
                <a:spcPts val="800"/>
              </a:spcAft>
              <a:buNone/>
            </a:pPr>
            <a:r>
              <a:rPr sz="1500" b="1" i="0">
                <a:solidFill>
                  <a:srgbClr val="333D47"/>
                </a:solidFill>
                <a:latin typeface="Arial"/>
              </a:rPr>
              <a:t>MedVerify</a:t>
            </a:r>
          </a:p>
          <a:p>
            <a:pPr marL="0" indent="0" algn="l">
              <a:lnSpc>
                <a:spcPct val="105000"/>
              </a:lnSpc>
              <a:spcBef>
                <a:spcPts val="0"/>
              </a:spcBef>
              <a:spcAft>
                <a:spcPts val="0"/>
              </a:spcAft>
              <a:buNone/>
            </a:pPr>
            <a:r>
              <a:rPr sz="1200" b="0" i="0">
                <a:solidFill>
                  <a:srgbClr val="333D47"/>
                </a:solidFill>
                <a:latin typeface="Arial"/>
              </a:rPr>
              <a:t>Checks medical service providers on claims receipts against official regulator listings, to flag potentially suspicious cases for audit follow-up.</a:t>
            </a:r>
          </a:p>
        </p:txBody>
      </p:sp>
      <p:sp>
        <p:nvSpPr>
          <p:cNvPr id="15" name="TextBox 14"/>
          <p:cNvSpPr txBox="1"/>
          <p:nvPr/>
        </p:nvSpPr>
        <p:spPr>
          <a:xfrm>
            <a:off x="4457700" y="3639312"/>
            <a:ext cx="3273552" cy="548640"/>
          </a:xfrm>
          <a:prstGeom prst="rect">
            <a:avLst/>
          </a:prstGeom>
          <a:noFill/>
        </p:spPr>
        <p:txBody>
          <a:bodyPr wrap="square" lIns="0" rIns="0" tIns="0" bIns="0" anchor="t"/>
          <a:lstStyle/>
          <a:p>
            <a:pPr marL="0" indent="0" algn="l">
              <a:lnSpc>
                <a:spcPct val="100000"/>
              </a:lnSpc>
              <a:spcBef>
                <a:spcPts val="0"/>
              </a:spcBef>
              <a:spcAft>
                <a:spcPts val="200"/>
              </a:spcAft>
              <a:buNone/>
            </a:pPr>
            <a:r>
              <a:rPr sz="1000" b="1" i="0">
                <a:solidFill>
                  <a:srgbClr val="5F6770"/>
                </a:solidFill>
                <a:latin typeface="Arial"/>
              </a:rPr>
              <a:t>STATUS</a:t>
            </a:r>
          </a:p>
          <a:p>
            <a:pPr marL="0" indent="0" algn="l">
              <a:lnSpc>
                <a:spcPct val="100000"/>
              </a:lnSpc>
              <a:spcBef>
                <a:spcPts val="0"/>
              </a:spcBef>
              <a:spcAft>
                <a:spcPts val="0"/>
              </a:spcAft>
              <a:buNone/>
            </a:pPr>
            <a:r>
              <a:rPr sz="1200" b="1" i="0">
                <a:solidFill>
                  <a:srgbClr val="D31145"/>
                </a:solidFill>
                <a:latin typeface="Arial"/>
              </a:rPr>
              <a:t>Developed; awaiting approval for operational use</a:t>
            </a:r>
          </a:p>
        </p:txBody>
      </p:sp>
      <p:sp>
        <p:nvSpPr>
          <p:cNvPr id="16" name="Rectangle 15"/>
          <p:cNvSpPr/>
          <p:nvPr/>
        </p:nvSpPr>
        <p:spPr>
          <a:xfrm>
            <a:off x="8193024" y="1828800"/>
            <a:ext cx="3639312" cy="2468880"/>
          </a:xfrm>
          <a:prstGeom prst="rect">
            <a:avLst/>
          </a:prstGeom>
          <a:solidFill>
            <a:srgbClr val="F2F2F2"/>
          </a:solidFill>
          <a:ln>
            <a:noFill/>
          </a:ln>
          <a:effectLst/>
        </p:spPr>
        <p:txBody>
          <a:bodyPr rtlCol="0" anchor="t" wrap="square" lIns="182880" rIns="182880" tIns="109728" bIns="109728"/>
          <a:lstStyle/>
          <a:p>
            <a:pPr algn="l" marL="0" indent="0">
              <a:lnSpc>
                <a:spcPct val="100000"/>
              </a:lnSpc>
              <a:spcBef>
                <a:spcPts val="0"/>
              </a:spcBef>
              <a:spcAft>
                <a:spcPts val="800"/>
              </a:spcAft>
              <a:buNone/>
            </a:pPr>
            <a:r>
              <a:rPr sz="1500" b="1" i="0">
                <a:solidFill>
                  <a:srgbClr val="333D47"/>
                </a:solidFill>
                <a:latin typeface="Arial"/>
              </a:rPr>
              <a:t>Welcome Call UI</a:t>
            </a:r>
          </a:p>
          <a:p>
            <a:pPr marL="0" indent="0" algn="l">
              <a:lnSpc>
                <a:spcPct val="105000"/>
              </a:lnSpc>
              <a:spcBef>
                <a:spcPts val="0"/>
              </a:spcBef>
              <a:spcAft>
                <a:spcPts val="0"/>
              </a:spcAft>
              <a:buNone/>
            </a:pPr>
            <a:r>
              <a:rPr sz="1200" b="0" i="0">
                <a:solidFill>
                  <a:srgbClr val="333D47"/>
                </a:solidFill>
                <a:latin typeface="Arial"/>
              </a:rPr>
              <a:t>Interface for the Post-Sales Call Analytics AI solution, so that non-technical auditors can run analyses and access results directly.</a:t>
            </a:r>
          </a:p>
        </p:txBody>
      </p:sp>
      <p:sp>
        <p:nvSpPr>
          <p:cNvPr id="17" name="TextBox 16"/>
          <p:cNvSpPr txBox="1"/>
          <p:nvPr/>
        </p:nvSpPr>
        <p:spPr>
          <a:xfrm>
            <a:off x="8375904" y="3639312"/>
            <a:ext cx="3273552" cy="548640"/>
          </a:xfrm>
          <a:prstGeom prst="rect">
            <a:avLst/>
          </a:prstGeom>
          <a:noFill/>
        </p:spPr>
        <p:txBody>
          <a:bodyPr wrap="square" lIns="0" rIns="0" tIns="0" bIns="0" anchor="t"/>
          <a:lstStyle/>
          <a:p>
            <a:pPr marL="0" indent="0" algn="l">
              <a:lnSpc>
                <a:spcPct val="100000"/>
              </a:lnSpc>
              <a:spcBef>
                <a:spcPts val="0"/>
              </a:spcBef>
              <a:spcAft>
                <a:spcPts val="200"/>
              </a:spcAft>
              <a:buNone/>
            </a:pPr>
            <a:r>
              <a:rPr sz="1000" b="1" i="0">
                <a:solidFill>
                  <a:srgbClr val="5F6770"/>
                </a:solidFill>
                <a:latin typeface="Arial"/>
              </a:rPr>
              <a:t>STATUS</a:t>
            </a:r>
          </a:p>
          <a:p>
            <a:pPr marL="0" indent="0" algn="l">
              <a:lnSpc>
                <a:spcPct val="100000"/>
              </a:lnSpc>
              <a:spcBef>
                <a:spcPts val="0"/>
              </a:spcBef>
              <a:spcAft>
                <a:spcPts val="0"/>
              </a:spcAft>
              <a:buNone/>
            </a:pPr>
            <a:r>
              <a:rPr sz="1200" b="1" i="0">
                <a:solidFill>
                  <a:srgbClr val="D31145"/>
                </a:solidFill>
                <a:latin typeface="Arial"/>
              </a:rPr>
              <a:t>Front end essentially complete; backend integration outstanding</a:t>
            </a:r>
          </a:p>
        </p:txBody>
      </p:sp>
      <p:graphicFrame>
        <p:nvGraphicFramePr>
          <p:cNvPr id="18" name="Table 17"/>
          <p:cNvGraphicFramePr>
            <a:graphicFrameLocks noGrp="1"/>
          </p:cNvGraphicFramePr>
          <p:nvPr/>
        </p:nvGraphicFramePr>
        <p:xfrm>
          <a:off x="356616" y="4498848"/>
          <a:ext cx="11475720" cy="786384"/>
        </p:xfrm>
        <a:graphic>
          <a:graphicData uri="http://schemas.openxmlformats.org/drawingml/2006/table">
            <a:tbl>
              <a:tblPr firstRow="0" bandRow="0">
                <a:tableStyleId>{2D5ABB26-0587-4C30-8999-92F81FD0307C}</a:tableStyleId>
              </a:tblPr>
              <a:tblGrid>
                <a:gridCol w="2377440"/>
                <a:gridCol w="3035808"/>
                <a:gridCol w="3035808"/>
                <a:gridCol w="3026664"/>
              </a:tblGrid>
              <a:tr h="329184">
                <a:tc>
                  <a:txBody>
                    <a:bodyPr wrap="square"/>
                    <a:lstStyle/>
                    <a:p>
                      <a:pPr>
                        <a:spcAft>
                          <a:spcPts val="0"/>
                        </a:spcAft>
                      </a:pPr>
                      <a:r>
                        <a:rPr sz="1200" b="1">
                          <a:solidFill>
                            <a:srgbClr val="333D47"/>
                          </a:solidFill>
                          <a:latin typeface="Arial"/>
                        </a:rPr>
                        <a:t>Supporting data and desktop tools</a:t>
                      </a:r>
                    </a:p>
                  </a:txBody>
                  <a:tcPr marL="91440" marR="91440" marT="64008" marB="64008" anchor="ctr">
                    <a:lnL w="0">
                      <a:noFill/>
                    </a:lnL>
                    <a:lnR w="0">
                      <a:noFill/>
                    </a:lnR>
                    <a:lnT w="9525" cmpd="sng">
                      <a:solidFill>
                        <a:srgbClr val="BFBFBF"/>
                      </a:solidFill>
                    </a:lnT>
                    <a:lnB w="0">
                      <a:noFill/>
                    </a:lnB>
                    <a:noFill/>
                  </a:tcPr>
                </a:tc>
                <a:tc>
                  <a:txBody>
                    <a:bodyPr wrap="square"/>
                    <a:lstStyle/>
                    <a:p>
                      <a:pPr>
                        <a:spcAft>
                          <a:spcPts val="0"/>
                        </a:spcAft>
                      </a:pPr>
                      <a:r>
                        <a:rPr sz="1200" b="1">
                          <a:solidFill>
                            <a:srgbClr val="333D47"/>
                          </a:solidFill>
                          <a:latin typeface="Arial"/>
                        </a:rPr>
                        <a:t>SecureSheet</a:t>
                      </a:r>
                    </a:p>
                  </a:txBody>
                  <a:tcPr marL="91440" marR="91440" marT="64008" marB="64008" anchor="ctr">
                    <a:lnL w="0">
                      <a:noFill/>
                    </a:lnL>
                    <a:lnR w="0">
                      <a:noFill/>
                    </a:lnR>
                    <a:lnT w="9525" cmpd="sng">
                      <a:solidFill>
                        <a:srgbClr val="BFBFBF"/>
                      </a:solidFill>
                    </a:lnT>
                    <a:lnB w="0">
                      <a:noFill/>
                    </a:lnB>
                    <a:noFill/>
                  </a:tcPr>
                </a:tc>
                <a:tc>
                  <a:txBody>
                    <a:bodyPr wrap="square"/>
                    <a:lstStyle/>
                    <a:p>
                      <a:pPr>
                        <a:spcAft>
                          <a:spcPts val="0"/>
                        </a:spcAft>
                      </a:pPr>
                      <a:r>
                        <a:rPr sz="1200" b="1">
                          <a:solidFill>
                            <a:srgbClr val="333D47"/>
                          </a:solidFill>
                          <a:latin typeface="Arial"/>
                        </a:rPr>
                        <a:t>DataCheck</a:t>
                      </a:r>
                    </a:p>
                  </a:txBody>
                  <a:tcPr marL="91440" marR="91440" marT="64008" marB="64008" anchor="ctr">
                    <a:lnL w="0">
                      <a:noFill/>
                    </a:lnL>
                    <a:lnR w="0">
                      <a:noFill/>
                    </a:lnR>
                    <a:lnT w="9525" cmpd="sng">
                      <a:solidFill>
                        <a:srgbClr val="BFBFBF"/>
                      </a:solidFill>
                    </a:lnT>
                    <a:lnB w="0">
                      <a:noFill/>
                    </a:lnB>
                    <a:noFill/>
                  </a:tcPr>
                </a:tc>
                <a:tc>
                  <a:txBody>
                    <a:bodyPr wrap="square"/>
                    <a:lstStyle/>
                    <a:p>
                      <a:pPr>
                        <a:spcAft>
                          <a:spcPts val="0"/>
                        </a:spcAft>
                      </a:pPr>
                      <a:r>
                        <a:rPr sz="1200" b="1">
                          <a:solidFill>
                            <a:srgbClr val="333D47"/>
                          </a:solidFill>
                          <a:latin typeface="Arial"/>
                        </a:rPr>
                        <a:t>Relationship Mapper</a:t>
                      </a:r>
                    </a:p>
                  </a:txBody>
                  <a:tcPr marL="91440" marR="91440" marT="64008" marB="64008" anchor="ctr">
                    <a:lnL w="0">
                      <a:noFill/>
                    </a:lnL>
                    <a:lnR w="0">
                      <a:noFill/>
                    </a:lnR>
                    <a:lnT w="9525" cmpd="sng">
                      <a:solidFill>
                        <a:srgbClr val="BFBFBF"/>
                      </a:solidFill>
                    </a:lnT>
                    <a:lnB w="0">
                      <a:noFill/>
                    </a:lnB>
                    <a:noFill/>
                  </a:tcPr>
                </a:tc>
              </a:tr>
              <a:tr h="457200">
                <a:tc>
                  <a:txBody>
                    <a:bodyPr wrap="square"/>
                    <a:lstStyle/>
                    <a:p>
                      <a:pPr>
                        <a:spcAft>
                          <a:spcPts val="0"/>
                        </a:spcAft>
                      </a:pPr>
                      <a:r>
                        <a:rPr sz="1000" b="1">
                          <a:solidFill>
                            <a:srgbClr val="D31145"/>
                          </a:solidFill>
                          <a:latin typeface="Arial"/>
                        </a:rPr>
                        <a:t>Expected to be usable; adoption and business validation not yet confirmed</a:t>
                      </a:r>
                    </a:p>
                  </a:txBody>
                  <a:tcPr marL="91440" marR="91440" marT="64008" marB="64008" anchor="t">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Masks and encrypts sensitive spreadsheet data for secure handling during audits</a:t>
                      </a:r>
                    </a:p>
                  </a:txBody>
                  <a:tcPr marL="91440" marR="91440" marT="64008" marB="64008" anchor="t">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Checks audit datasets for missing values, duplicates, invalid formats and out-of-range data</a:t>
                      </a:r>
                    </a:p>
                  </a:txBody>
                  <a:tcPr marL="91440" marR="91440" marT="64008" marB="64008" anchor="t">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Maps links between datasets to help identify anomalies and coverage gaps</a:t>
                      </a:r>
                    </a:p>
                  </a:txBody>
                  <a:tcPr marL="91440" marR="91440" marT="64008" marB="64008" anchor="t">
                    <a:lnL w="0">
                      <a:noFill/>
                    </a:lnL>
                    <a:lnR w="0">
                      <a:noFill/>
                    </a:lnR>
                    <a:lnT w="0">
                      <a:noFill/>
                    </a:lnT>
                    <a:lnB w="9525" cmpd="sng">
                      <a:solidFill>
                        <a:srgbClr val="BFBFBF"/>
                      </a:solidFill>
                    </a:lnB>
                    <a:noFill/>
                  </a:tcPr>
                </a:tc>
              </a:tr>
            </a:tbl>
          </a:graphicData>
        </a:graphic>
      </p:graphicFrame>
      <p:sp>
        <p:nvSpPr>
          <p:cNvPr id="19" name="TextBox 18"/>
          <p:cNvSpPr txBox="1"/>
          <p:nvPr/>
        </p:nvSpPr>
        <p:spPr>
          <a:xfrm>
            <a:off x="356616" y="5687568"/>
            <a:ext cx="10515600" cy="274320"/>
          </a:xfrm>
          <a:prstGeom prst="rect">
            <a:avLst/>
          </a:prstGeom>
          <a:noFill/>
        </p:spPr>
        <p:txBody>
          <a:bodyPr wrap="square" lIns="0" rIns="0" tIns="0" bIns="0" anchor="t"/>
          <a:lstStyle/>
          <a:p>
            <a:pPr marL="0" indent="0" algn="l">
              <a:lnSpc>
                <a:spcPct val="100000"/>
              </a:lnSpc>
              <a:spcBef>
                <a:spcPts val="0"/>
              </a:spcBef>
              <a:spcAft>
                <a:spcPts val="0"/>
              </a:spcAft>
              <a:buNone/>
            </a:pPr>
            <a:r>
              <a:rPr sz="1000" b="0" i="1">
                <a:solidFill>
                  <a:srgbClr val="5F6770"/>
                </a:solidFill>
                <a:latin typeface="Arial"/>
              </a:rPr>
              <a:t>Status reflects development progress; usage and time savings have not yet been measured.  * Document count subject to verification.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rPr>
              <a:t>Expected Business Value in 2027</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lnSpc>
                <a:spcPct val="100000"/>
              </a:lnSpc>
              <a:spcBef>
                <a:spcPts val="0"/>
              </a:spcBef>
              <a:spcAft>
                <a:spcPts val="0"/>
              </a:spcAft>
              <a:buNone/>
            </a:pPr>
            <a:r>
              <a:rPr sz="1600" b="0" i="0">
                <a:solidFill>
                  <a:srgbClr val="D31145"/>
                </a:solidFill>
                <a:latin typeface="Arial"/>
              </a:rPr>
              <a:t>The main value is practical AI and automation capability within GIA HK, alongside engagement support.</a:t>
            </a:r>
          </a:p>
        </p:txBody>
      </p:sp>
      <p:sp>
        <p:nvSpPr>
          <p:cNvPr id="12" name="Rectangle 11"/>
          <p:cNvSpPr/>
          <p:nvPr/>
        </p:nvSpPr>
        <p:spPr>
          <a:xfrm>
            <a:off x="356616" y="1828800"/>
            <a:ext cx="3639312" cy="2788920"/>
          </a:xfrm>
          <a:prstGeom prst="rect">
            <a:avLst/>
          </a:prstGeom>
          <a:solidFill>
            <a:srgbClr val="F2F2F2"/>
          </a:solidFill>
          <a:ln>
            <a:noFill/>
          </a:ln>
          <a:effectLst/>
        </p:spPr>
        <p:txBody>
          <a:bodyPr rtlCol="0" anchor="t" wrap="square" lIns="201168" rIns="201168" tIns="109728" bIns="109728"/>
          <a:lstStyle/>
          <a:p>
            <a:pPr algn="l" marL="0" indent="0">
              <a:lnSpc>
                <a:spcPct val="100000"/>
              </a:lnSpc>
              <a:spcBef>
                <a:spcPts val="0"/>
              </a:spcBef>
              <a:spcAft>
                <a:spcPts val="200"/>
              </a:spcAft>
              <a:buNone/>
            </a:pPr>
            <a:r>
              <a:rPr sz="2200" b="1" i="0">
                <a:solidFill>
                  <a:srgbClr val="D31145"/>
                </a:solidFill>
                <a:latin typeface="Arial"/>
              </a:rPr>
              <a:t>1</a:t>
            </a:r>
          </a:p>
          <a:p>
            <a:pPr marL="0" indent="0" algn="l">
              <a:lnSpc>
                <a:spcPct val="100000"/>
              </a:lnSpc>
              <a:spcBef>
                <a:spcPts val="0"/>
              </a:spcBef>
              <a:spcAft>
                <a:spcPts val="0"/>
              </a:spcAft>
              <a:buNone/>
            </a:pPr>
            <a:r>
              <a:rPr sz="1500" b="1" i="0">
                <a:solidFill>
                  <a:srgbClr val="333D47"/>
                </a:solidFill>
                <a:latin typeface="Arial"/>
              </a:rPr>
              <a:t>Audit delivery</a:t>
            </a:r>
          </a:p>
        </p:txBody>
      </p:sp>
      <p:sp>
        <p:nvSpPr>
          <p:cNvPr id="13" name="TextBox 12"/>
          <p:cNvSpPr txBox="1"/>
          <p:nvPr/>
        </p:nvSpPr>
        <p:spPr>
          <a:xfrm>
            <a:off x="557784" y="2852928"/>
            <a:ext cx="3236976" cy="1691640"/>
          </a:xfrm>
          <a:prstGeom prst="rect">
            <a:avLst/>
          </a:prstGeom>
          <a:noFill/>
        </p:spPr>
        <p:txBody>
          <a:bodyPr wrap="square" lIns="0" rIns="0" tIns="0" bIns="0" anchor="t"/>
          <a:lstStyle/>
          <a:p>
            <a:pPr marL="164592" indent="-164592" algn="l">
              <a:lnSpc>
                <a:spcPct val="100000"/>
              </a:lnSpc>
              <a:spcBef>
                <a:spcPts val="0"/>
              </a:spcBef>
              <a:spcAft>
                <a:spcPts val="700"/>
              </a:spcAft>
              <a:buFont typeface="Arial"/>
              <a:buChar char="•"/>
            </a:pPr>
            <a:r>
              <a:rPr sz="1200" b="0" i="0">
                <a:solidFill>
                  <a:srgbClr val="333D47"/>
                </a:solidFill>
                <a:latin typeface="Arial"/>
              </a:rPr>
              <a:t>Technical and analytics support for planned 2027 audit and monitoring engagements</a:t>
            </a:r>
          </a:p>
          <a:p>
            <a:pPr marL="164592" indent="-164592" algn="l">
              <a:lnSpc>
                <a:spcPct val="100000"/>
              </a:lnSpc>
              <a:spcBef>
                <a:spcPts val="0"/>
              </a:spcBef>
              <a:spcAft>
                <a:spcPts val="700"/>
              </a:spcAft>
              <a:buFont typeface="Arial"/>
              <a:buChar char="•"/>
            </a:pPr>
            <a:r>
              <a:rPr sz="1200" b="0" i="0">
                <a:solidFill>
                  <a:srgbClr val="333D47"/>
                </a:solidFill>
                <a:latin typeface="Arial"/>
              </a:rPr>
              <a:t>Automated data extraction to support audit testing</a:t>
            </a:r>
          </a:p>
          <a:p>
            <a:pPr marL="164592" indent="-164592" algn="l">
              <a:lnSpc>
                <a:spcPct val="100000"/>
              </a:lnSpc>
              <a:spcBef>
                <a:spcPts val="0"/>
              </a:spcBef>
              <a:spcAft>
                <a:spcPts val="700"/>
              </a:spcAft>
              <a:buFont typeface="Arial"/>
              <a:buChar char="•"/>
            </a:pPr>
            <a:r>
              <a:rPr sz="1200" b="0" i="0">
                <a:solidFill>
                  <a:srgbClr val="333D47"/>
                </a:solidFill>
                <a:latin typeface="Arial"/>
              </a:rPr>
              <a:t>Existing team members stay focused on their ongoing audit responsibilities</a:t>
            </a:r>
          </a:p>
        </p:txBody>
      </p:sp>
      <p:sp>
        <p:nvSpPr>
          <p:cNvPr id="14" name="Rectangle 13"/>
          <p:cNvSpPr/>
          <p:nvPr/>
        </p:nvSpPr>
        <p:spPr>
          <a:xfrm>
            <a:off x="4274820" y="1828800"/>
            <a:ext cx="3639312" cy="2788920"/>
          </a:xfrm>
          <a:prstGeom prst="rect">
            <a:avLst/>
          </a:prstGeom>
          <a:solidFill>
            <a:srgbClr val="F2F2F2"/>
          </a:solidFill>
          <a:ln>
            <a:noFill/>
          </a:ln>
          <a:effectLst/>
        </p:spPr>
        <p:txBody>
          <a:bodyPr rtlCol="0" anchor="t" wrap="square" lIns="201168" rIns="201168" tIns="109728" bIns="109728"/>
          <a:lstStyle/>
          <a:p>
            <a:pPr algn="l" marL="0" indent="0">
              <a:lnSpc>
                <a:spcPct val="100000"/>
              </a:lnSpc>
              <a:spcBef>
                <a:spcPts val="0"/>
              </a:spcBef>
              <a:spcAft>
                <a:spcPts val="200"/>
              </a:spcAft>
              <a:buNone/>
            </a:pPr>
            <a:r>
              <a:rPr sz="2200" b="1" i="0">
                <a:solidFill>
                  <a:srgbClr val="D31145"/>
                </a:solidFill>
                <a:latin typeface="Arial"/>
              </a:rPr>
              <a:t>2</a:t>
            </a:r>
          </a:p>
          <a:p>
            <a:pPr marL="0" indent="0" algn="l">
              <a:lnSpc>
                <a:spcPct val="100000"/>
              </a:lnSpc>
              <a:spcBef>
                <a:spcPts val="0"/>
              </a:spcBef>
              <a:spcAft>
                <a:spcPts val="0"/>
              </a:spcAft>
              <a:buNone/>
            </a:pPr>
            <a:r>
              <a:rPr sz="1500" b="1" i="0">
                <a:solidFill>
                  <a:srgbClr val="333D47"/>
                </a:solidFill>
                <a:latin typeface="Arial"/>
              </a:rPr>
              <a:t>Practical AI and automation development</a:t>
            </a:r>
          </a:p>
        </p:txBody>
      </p:sp>
      <p:sp>
        <p:nvSpPr>
          <p:cNvPr id="15" name="TextBox 14"/>
          <p:cNvSpPr txBox="1"/>
          <p:nvPr/>
        </p:nvSpPr>
        <p:spPr>
          <a:xfrm>
            <a:off x="4475988" y="2852928"/>
            <a:ext cx="3236976" cy="1691640"/>
          </a:xfrm>
          <a:prstGeom prst="rect">
            <a:avLst/>
          </a:prstGeom>
          <a:noFill/>
        </p:spPr>
        <p:txBody>
          <a:bodyPr wrap="square" lIns="0" rIns="0" tIns="0" bIns="0" anchor="t"/>
          <a:lstStyle/>
          <a:p>
            <a:pPr marL="164592" indent="-164592" algn="l">
              <a:lnSpc>
                <a:spcPct val="100000"/>
              </a:lnSpc>
              <a:spcBef>
                <a:spcPts val="0"/>
              </a:spcBef>
              <a:spcAft>
                <a:spcPts val="700"/>
              </a:spcAft>
              <a:buFont typeface="Arial"/>
              <a:buChar char="•"/>
            </a:pPr>
            <a:r>
              <a:rPr sz="1200" b="0" i="0">
                <a:solidFill>
                  <a:srgbClr val="333D47"/>
                </a:solidFill>
                <a:latin typeface="Arial"/>
              </a:rPr>
              <a:t>Works directly with auditors to understand workflows and identify repetitive manual activities</a:t>
            </a:r>
          </a:p>
          <a:p>
            <a:pPr marL="164592" indent="-164592" algn="l">
              <a:lnSpc>
                <a:spcPct val="100000"/>
              </a:lnSpc>
              <a:spcBef>
                <a:spcPts val="0"/>
              </a:spcBef>
              <a:spcAft>
                <a:spcPts val="700"/>
              </a:spcAft>
              <a:buFont typeface="Arial"/>
              <a:buChar char="•"/>
            </a:pPr>
            <a:r>
              <a:rPr sz="1200" b="0" i="0">
                <a:solidFill>
                  <a:srgbClr val="333D47"/>
                </a:solidFill>
                <a:latin typeface="Arial"/>
              </a:rPr>
              <a:t>Develops, tests and improves solutions based on auditor feedback</a:t>
            </a:r>
          </a:p>
          <a:p>
            <a:pPr marL="164592" indent="-164592" algn="l">
              <a:lnSpc>
                <a:spcPct val="100000"/>
              </a:lnSpc>
              <a:spcBef>
                <a:spcPts val="0"/>
              </a:spcBef>
              <a:spcAft>
                <a:spcPts val="700"/>
              </a:spcAft>
              <a:buFont typeface="Arial"/>
              <a:buChar char="•"/>
            </a:pPr>
            <a:r>
              <a:rPr sz="1200" b="0" i="0">
                <a:solidFill>
                  <a:srgbClr val="333D47"/>
                </a:solidFill>
                <a:latin typeface="Arial"/>
              </a:rPr>
              <a:t>Progresses 2026 tools towards operational use, subject to approval</a:t>
            </a:r>
          </a:p>
        </p:txBody>
      </p:sp>
      <p:sp>
        <p:nvSpPr>
          <p:cNvPr id="16" name="Rectangle 15"/>
          <p:cNvSpPr/>
          <p:nvPr/>
        </p:nvSpPr>
        <p:spPr>
          <a:xfrm>
            <a:off x="8193024" y="1828800"/>
            <a:ext cx="3639312" cy="2788920"/>
          </a:xfrm>
          <a:prstGeom prst="rect">
            <a:avLst/>
          </a:prstGeom>
          <a:solidFill>
            <a:srgbClr val="F2F2F2"/>
          </a:solidFill>
          <a:ln>
            <a:noFill/>
          </a:ln>
          <a:effectLst/>
        </p:spPr>
        <p:txBody>
          <a:bodyPr rtlCol="0" anchor="t" wrap="square" lIns="201168" rIns="201168" tIns="109728" bIns="109728"/>
          <a:lstStyle/>
          <a:p>
            <a:pPr algn="l" marL="0" indent="0">
              <a:lnSpc>
                <a:spcPct val="100000"/>
              </a:lnSpc>
              <a:spcBef>
                <a:spcPts val="0"/>
              </a:spcBef>
              <a:spcAft>
                <a:spcPts val="200"/>
              </a:spcAft>
              <a:buNone/>
            </a:pPr>
            <a:r>
              <a:rPr sz="2200" b="1" i="0">
                <a:solidFill>
                  <a:srgbClr val="D31145"/>
                </a:solidFill>
                <a:latin typeface="Arial"/>
              </a:rPr>
              <a:t>3</a:t>
            </a:r>
          </a:p>
          <a:p>
            <a:pPr marL="0" indent="0" algn="l">
              <a:lnSpc>
                <a:spcPct val="100000"/>
              </a:lnSpc>
              <a:spcBef>
                <a:spcPts val="0"/>
              </a:spcBef>
              <a:spcAft>
                <a:spcPts val="0"/>
              </a:spcAft>
              <a:buNone/>
            </a:pPr>
            <a:r>
              <a:rPr sz="1500" b="1" i="0">
                <a:solidFill>
                  <a:srgbClr val="333D47"/>
                </a:solidFill>
                <a:latin typeface="Arial"/>
              </a:rPr>
              <a:t>Greater technical flexibility</a:t>
            </a:r>
          </a:p>
        </p:txBody>
      </p:sp>
      <p:sp>
        <p:nvSpPr>
          <p:cNvPr id="17" name="TextBox 16"/>
          <p:cNvSpPr txBox="1"/>
          <p:nvPr/>
        </p:nvSpPr>
        <p:spPr>
          <a:xfrm>
            <a:off x="8394192" y="2852928"/>
            <a:ext cx="3236976" cy="1691640"/>
          </a:xfrm>
          <a:prstGeom prst="rect">
            <a:avLst/>
          </a:prstGeom>
          <a:noFill/>
        </p:spPr>
        <p:txBody>
          <a:bodyPr wrap="square" lIns="0" rIns="0" tIns="0" bIns="0" anchor="t"/>
          <a:lstStyle/>
          <a:p>
            <a:pPr marL="164592" indent="-164592" algn="l">
              <a:lnSpc>
                <a:spcPct val="100000"/>
              </a:lnSpc>
              <a:spcBef>
                <a:spcPts val="0"/>
              </a:spcBef>
              <a:spcAft>
                <a:spcPts val="700"/>
              </a:spcAft>
              <a:buFont typeface="Arial"/>
              <a:buChar char="•"/>
            </a:pPr>
            <a:r>
              <a:rPr sz="1200" b="0" i="0">
                <a:solidFill>
                  <a:srgbClr val="333D47"/>
                </a:solidFill>
                <a:latin typeface="Arial"/>
              </a:rPr>
              <a:t>Responds directly to development needs as audit priorities change</a:t>
            </a:r>
          </a:p>
          <a:p>
            <a:pPr marL="164592" indent="-164592" algn="l">
              <a:lnSpc>
                <a:spcPct val="100000"/>
              </a:lnSpc>
              <a:spcBef>
                <a:spcPts val="0"/>
              </a:spcBef>
              <a:spcAft>
                <a:spcPts val="700"/>
              </a:spcAft>
              <a:buFont typeface="Arial"/>
              <a:buChar char="•"/>
            </a:pPr>
            <a:r>
              <a:rPr sz="1200" b="0" i="0">
                <a:solidFill>
                  <a:srgbClr val="333D47"/>
                </a:solidFill>
                <a:latin typeface="Arial"/>
              </a:rPr>
              <a:t>Maintains and improves existing tools and platforms</a:t>
            </a:r>
          </a:p>
          <a:p>
            <a:pPr marL="164592" indent="-164592" algn="l">
              <a:lnSpc>
                <a:spcPct val="100000"/>
              </a:lnSpc>
              <a:spcBef>
                <a:spcPts val="0"/>
              </a:spcBef>
              <a:spcAft>
                <a:spcPts val="700"/>
              </a:spcAft>
              <a:buFont typeface="Arial"/>
              <a:buChar char="•"/>
            </a:pPr>
            <a:r>
              <a:rPr sz="1200" b="0" i="0">
                <a:solidFill>
                  <a:srgbClr val="333D47"/>
                </a:solidFill>
                <a:latin typeface="Arial"/>
              </a:rPr>
              <a:t>Handles smaller development tasks, alongside continued TSS and DNA support</a:t>
            </a:r>
          </a:p>
        </p:txBody>
      </p:sp>
      <p:sp>
        <p:nvSpPr>
          <p:cNvPr id="18" name="Rectangle 17"/>
          <p:cNvSpPr/>
          <p:nvPr/>
        </p:nvSpPr>
        <p:spPr>
          <a:xfrm>
            <a:off x="356616" y="4800600"/>
            <a:ext cx="11475720" cy="749808"/>
          </a:xfrm>
          <a:prstGeom prst="rect">
            <a:avLst/>
          </a:prstGeom>
          <a:solidFill>
            <a:srgbClr val="FBE7EC"/>
          </a:solidFill>
          <a:ln>
            <a:noFill/>
          </a:ln>
          <a:effectLst/>
        </p:spPr>
        <p:txBody>
          <a:bodyPr rtlCol="0" anchor="ctr" wrap="square" lIns="201168" rIns="201168" tIns="109728" bIns="109728"/>
          <a:lstStyle/>
          <a:p>
            <a:pPr algn="l" marL="0" indent="0">
              <a:lnSpc>
                <a:spcPct val="100000"/>
              </a:lnSpc>
              <a:spcBef>
                <a:spcPts val="0"/>
              </a:spcBef>
              <a:spcAft>
                <a:spcPts val="0"/>
              </a:spcAft>
              <a:buNone/>
            </a:pPr>
            <a:r>
              <a:rPr sz="1300" b="1" i="0">
                <a:solidFill>
                  <a:srgbClr val="333D47"/>
                </a:solidFill>
                <a:latin typeface="Arial"/>
              </a:rPr>
              <a:t>Longer-term capability:  </a:t>
            </a:r>
            <a:r>
              <a:rPr sz="1300" b="0" i="0">
                <a:solidFill>
                  <a:srgbClr val="333D47"/>
                </a:solidFill>
                <a:latin typeface="Arial"/>
              </a:rPr>
              <a:t>Data pipelines and reusable tools developed in 2027 are expected to provide a foundation for continuous auditing and strengthen GIA HK's own analytics capability beyond individual engagements.</a:t>
            </a:r>
          </a:p>
        </p:txBody>
      </p:sp>
      <p:sp>
        <p:nvSpPr>
          <p:cNvPr id="19" name="TextBox 18"/>
          <p:cNvSpPr txBox="1"/>
          <p:nvPr/>
        </p:nvSpPr>
        <p:spPr>
          <a:xfrm>
            <a:off x="356616" y="5687568"/>
            <a:ext cx="10515600" cy="274320"/>
          </a:xfrm>
          <a:prstGeom prst="rect">
            <a:avLst/>
          </a:prstGeom>
          <a:noFill/>
        </p:spPr>
        <p:txBody>
          <a:bodyPr wrap="square" lIns="0" rIns="0" tIns="0" bIns="0" anchor="t"/>
          <a:lstStyle/>
          <a:p>
            <a:pPr marL="0" indent="0" algn="l">
              <a:lnSpc>
                <a:spcPct val="100000"/>
              </a:lnSpc>
              <a:spcBef>
                <a:spcPts val="0"/>
              </a:spcBef>
              <a:spcAft>
                <a:spcPts val="0"/>
              </a:spcAft>
              <a:buNone/>
            </a:pPr>
            <a:r>
              <a:rPr sz="1000" b="0" i="1">
                <a:solidFill>
                  <a:srgbClr val="5F6770"/>
                </a:solidFill>
                <a:latin typeface="Arial"/>
              </a:rPr>
              <a:t>These are expected benefits, not measured results. Proposed measures are set out on slide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rPr>
              <a:t>Why Dedicated Technical Capacity Within GIA HK?</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lnSpc>
                <a:spcPct val="100000"/>
              </a:lnSpc>
              <a:spcBef>
                <a:spcPts val="0"/>
              </a:spcBef>
              <a:spcAft>
                <a:spcPts val="0"/>
              </a:spcAft>
              <a:buNone/>
            </a:pPr>
            <a:r>
              <a:rPr sz="1600" b="0" i="0">
                <a:solidFill>
                  <a:srgbClr val="D31145"/>
                </a:solidFill>
                <a:latin typeface="Arial"/>
              </a:rPr>
              <a:t>The resource strengthens internal technical capability and complements continued TSS and DNA support.</a:t>
            </a:r>
          </a:p>
        </p:txBody>
      </p:sp>
      <p:graphicFrame>
        <p:nvGraphicFramePr>
          <p:cNvPr id="12" name="Table 11"/>
          <p:cNvGraphicFramePr>
            <a:graphicFrameLocks noGrp="1"/>
          </p:cNvGraphicFramePr>
          <p:nvPr/>
        </p:nvGraphicFramePr>
        <p:xfrm>
          <a:off x="356616" y="1828800"/>
          <a:ext cx="7726680" cy="3410712"/>
        </p:xfrm>
        <a:graphic>
          <a:graphicData uri="http://schemas.openxmlformats.org/drawingml/2006/table">
            <a:tbl>
              <a:tblPr firstRow="0" bandRow="0">
                <a:tableStyleId>{2D5ABB26-0587-4C30-8999-92F81FD0307C}</a:tableStyleId>
              </a:tblPr>
              <a:tblGrid>
                <a:gridCol w="1691640"/>
                <a:gridCol w="1965960"/>
                <a:gridCol w="2011680"/>
                <a:gridCol w="2057400"/>
              </a:tblGrid>
              <a:tr h="411480">
                <a:tc>
                  <a:txBody>
                    <a:bodyPr wrap="square"/>
                    <a:lstStyle/>
                    <a:p>
                      <a:pPr>
                        <a:spcAft>
                          <a:spcPts val="0"/>
                        </a:spcAft>
                      </a:pPr>
                      <a:r>
                        <a:rPr sz="1200" b="1">
                          <a:solidFill>
                            <a:srgbClr val="FFFFFF"/>
                          </a:solidFill>
                          <a:latin typeface="Arial"/>
                        </a:rPr>
                        <a:t/>
                      </a:r>
                    </a:p>
                  </a:txBody>
                  <a:tcPr marL="91440" marR="91440" marT="64008" marB="64008" anchor="ctr">
                    <a:lnL w="0">
                      <a:noFill/>
                    </a:lnL>
                    <a:lnR w="0">
                      <a:noFill/>
                    </a:lnR>
                    <a:lnT w="0">
                      <a:noFill/>
                    </a:lnT>
                    <a:lnB w="0">
                      <a:noFill/>
                    </a:lnB>
                    <a:solidFill>
                      <a:srgbClr val="333D47"/>
                    </a:solidFill>
                  </a:tcPr>
                </a:tc>
                <a:tc>
                  <a:txBody>
                    <a:bodyPr wrap="square"/>
                    <a:lstStyle/>
                    <a:p>
                      <a:pPr>
                        <a:spcAft>
                          <a:spcPts val="0"/>
                        </a:spcAft>
                      </a:pPr>
                      <a:r>
                        <a:rPr sz="1200" b="1">
                          <a:solidFill>
                            <a:srgbClr val="FFFFFF"/>
                          </a:solidFill>
                          <a:latin typeface="Arial"/>
                        </a:rPr>
                        <a:t>Existing DA team</a:t>
                      </a:r>
                    </a:p>
                  </a:txBody>
                  <a:tcPr marL="91440" marR="91440" marT="64008" marB="64008" anchor="ctr">
                    <a:lnL w="0">
                      <a:noFill/>
                    </a:lnL>
                    <a:lnR w="0">
                      <a:noFill/>
                    </a:lnR>
                    <a:lnT w="0">
                      <a:noFill/>
                    </a:lnT>
                    <a:lnB w="0">
                      <a:noFill/>
                    </a:lnB>
                    <a:solidFill>
                      <a:srgbClr val="333D47"/>
                    </a:solidFill>
                  </a:tcPr>
                </a:tc>
                <a:tc>
                  <a:txBody>
                    <a:bodyPr wrap="square"/>
                    <a:lstStyle/>
                    <a:p>
                      <a:pPr>
                        <a:spcAft>
                          <a:spcPts val="0"/>
                        </a:spcAft>
                      </a:pPr>
                      <a:r>
                        <a:rPr sz="1200" b="1">
                          <a:solidFill>
                            <a:srgbClr val="FFFFFF"/>
                          </a:solidFill>
                          <a:latin typeface="Arial"/>
                        </a:rPr>
                        <a:t>TSS and DNA</a:t>
                      </a:r>
                    </a:p>
                  </a:txBody>
                  <a:tcPr marL="91440" marR="91440" marT="64008" marB="64008" anchor="ctr">
                    <a:lnL w="0">
                      <a:noFill/>
                    </a:lnL>
                    <a:lnR w="0">
                      <a:noFill/>
                    </a:lnR>
                    <a:lnT w="0">
                      <a:noFill/>
                    </a:lnT>
                    <a:lnB w="0">
                      <a:noFill/>
                    </a:lnB>
                    <a:solidFill>
                      <a:srgbClr val="333D47"/>
                    </a:solidFill>
                  </a:tcPr>
                </a:tc>
                <a:tc>
                  <a:txBody>
                    <a:bodyPr wrap="square"/>
                    <a:lstStyle/>
                    <a:p>
                      <a:pPr>
                        <a:spcAft>
                          <a:spcPts val="0"/>
                        </a:spcAft>
                      </a:pPr>
                      <a:r>
                        <a:rPr sz="1200" b="1">
                          <a:solidFill>
                            <a:srgbClr val="FFFFFF"/>
                          </a:solidFill>
                          <a:latin typeface="Arial"/>
                        </a:rPr>
                        <a:t>Contingent worker (proposed)</a:t>
                      </a:r>
                    </a:p>
                  </a:txBody>
                  <a:tcPr marL="91440" marR="91440" marT="64008" marB="64008" anchor="ctr">
                    <a:lnL w="0">
                      <a:noFill/>
                    </a:lnL>
                    <a:lnR w="0">
                      <a:noFill/>
                    </a:lnR>
                    <a:lnT w="0">
                      <a:noFill/>
                    </a:lnT>
                    <a:lnB w="0">
                      <a:noFill/>
                    </a:lnB>
                    <a:solidFill>
                      <a:srgbClr val="D31145"/>
                    </a:solidFill>
                  </a:tcPr>
                </a:tc>
              </a:tr>
              <a:tr h="749808">
                <a:tc>
                  <a:txBody>
                    <a:bodyPr wrap="square"/>
                    <a:lstStyle/>
                    <a:p>
                      <a:pPr>
                        <a:spcAft>
                          <a:spcPts val="0"/>
                        </a:spcAft>
                      </a:pPr>
                      <a:r>
                        <a:rPr sz="1200" b="1">
                          <a:solidFill>
                            <a:srgbClr val="333D47"/>
                          </a:solidFill>
                          <a:latin typeface="Arial"/>
                        </a:rPr>
                        <a:t>Current focus</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Ongoing audit and analytics responsibilities</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Technical development support for GIA HK and other activities</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Technical support based within GIA HK</a:t>
                      </a:r>
                    </a:p>
                  </a:txBody>
                  <a:tcPr marL="91440" marR="91440" marT="64008" marB="64008" anchor="ctr">
                    <a:lnL w="0">
                      <a:noFill/>
                    </a:lnL>
                    <a:lnR w="0">
                      <a:noFill/>
                    </a:lnR>
                    <a:lnT w="0">
                      <a:noFill/>
                    </a:lnT>
                    <a:lnB w="9525" cmpd="sng">
                      <a:solidFill>
                        <a:srgbClr val="BFBFBF"/>
                      </a:solidFill>
                    </a:lnB>
                    <a:solidFill>
                      <a:srgbClr val="FBE7EC"/>
                    </a:solidFill>
                  </a:tcPr>
                </a:tc>
              </a:tr>
              <a:tr h="749808">
                <a:tc>
                  <a:txBody>
                    <a:bodyPr wrap="square"/>
                    <a:lstStyle/>
                    <a:p>
                      <a:pPr>
                        <a:spcAft>
                          <a:spcPts val="0"/>
                        </a:spcAft>
                      </a:pPr>
                      <a:r>
                        <a:rPr sz="1200" b="1">
                          <a:solidFill>
                            <a:srgbClr val="333D47"/>
                          </a:solidFill>
                          <a:latin typeface="Arial"/>
                        </a:rPr>
                        <a:t>Capacity for new development</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Limited; team fully occupied</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Available according to their own schedules and priorities</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Allocated according to GIA HK audit priorities</a:t>
                      </a:r>
                    </a:p>
                  </a:txBody>
                  <a:tcPr marL="91440" marR="91440" marT="64008" marB="64008" anchor="ctr">
                    <a:lnL w="0">
                      <a:noFill/>
                    </a:lnL>
                    <a:lnR w="0">
                      <a:noFill/>
                    </a:lnR>
                    <a:lnT w="0">
                      <a:noFill/>
                    </a:lnT>
                    <a:lnB w="9525" cmpd="sng">
                      <a:solidFill>
                        <a:srgbClr val="BFBFBF"/>
                      </a:solidFill>
                    </a:lnB>
                    <a:solidFill>
                      <a:srgbClr val="FBE7EC"/>
                    </a:solidFill>
                  </a:tcPr>
                </a:tc>
              </a:tr>
              <a:tr h="749808">
                <a:tc>
                  <a:txBody>
                    <a:bodyPr wrap="square"/>
                    <a:lstStyle/>
                    <a:p>
                      <a:pPr>
                        <a:spcAft>
                          <a:spcPts val="0"/>
                        </a:spcAft>
                      </a:pPr>
                      <a:r>
                        <a:rPr sz="1200" b="1">
                          <a:solidFill>
                            <a:srgbClr val="333D47"/>
                          </a:solidFill>
                          <a:latin typeface="Arial"/>
                        </a:rPr>
                        <a:t>Working with business auditors</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Direct, within existing workload</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Through cross-team coordination and planning</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Direct, day-to-day</a:t>
                      </a:r>
                    </a:p>
                  </a:txBody>
                  <a:tcPr marL="91440" marR="91440" marT="64008" marB="64008" anchor="ctr">
                    <a:lnL w="0">
                      <a:noFill/>
                    </a:lnL>
                    <a:lnR w="0">
                      <a:noFill/>
                    </a:lnR>
                    <a:lnT w="0">
                      <a:noFill/>
                    </a:lnT>
                    <a:lnB w="9525" cmpd="sng">
                      <a:solidFill>
                        <a:srgbClr val="BFBFBF"/>
                      </a:solidFill>
                    </a:lnB>
                    <a:solidFill>
                      <a:srgbClr val="FBE7EC"/>
                    </a:solidFill>
                  </a:tcPr>
                </a:tc>
              </a:tr>
              <a:tr h="749808">
                <a:tc>
                  <a:txBody>
                    <a:bodyPr wrap="square"/>
                    <a:lstStyle/>
                    <a:p>
                      <a:pPr>
                        <a:spcAft>
                          <a:spcPts val="0"/>
                        </a:spcAft>
                      </a:pPr>
                      <a:r>
                        <a:rPr sz="1200" b="1">
                          <a:solidFill>
                            <a:srgbClr val="333D47"/>
                          </a:solidFill>
                          <a:latin typeface="Arial"/>
                        </a:rPr>
                        <a:t>Role in 2027</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Continue core audit and analytics work</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Continue to support GIA HK where appropriate</a:t>
                      </a:r>
                    </a:p>
                  </a:txBody>
                  <a:tcPr marL="91440" marR="91440" marT="64008" marB="64008" anchor="ctr">
                    <a:lnL w="0">
                      <a:noFill/>
                    </a:lnL>
                    <a:lnR w="0">
                      <a:noFill/>
                    </a:lnR>
                    <a:lnT w="0">
                      <a:noFill/>
                    </a:lnT>
                    <a:lnB w="9525" cmpd="sng">
                      <a:solidFill>
                        <a:srgbClr val="BFBFBF"/>
                      </a:solidFill>
                    </a:lnB>
                    <a:noFill/>
                  </a:tcPr>
                </a:tc>
                <a:tc>
                  <a:txBody>
                    <a:bodyPr wrap="square"/>
                    <a:lstStyle/>
                    <a:p>
                      <a:pPr>
                        <a:spcAft>
                          <a:spcPts val="0"/>
                        </a:spcAft>
                      </a:pPr>
                      <a:r>
                        <a:rPr sz="1100" b="0">
                          <a:solidFill>
                            <a:srgbClr val="333D47"/>
                          </a:solidFill>
                          <a:latin typeface="Arial"/>
                        </a:rPr>
                        <a:t>Engagement support and smaller development activities</a:t>
                      </a:r>
                    </a:p>
                  </a:txBody>
                  <a:tcPr marL="91440" marR="91440" marT="64008" marB="64008" anchor="ctr">
                    <a:lnL w="0">
                      <a:noFill/>
                    </a:lnL>
                    <a:lnR w="0">
                      <a:noFill/>
                    </a:lnR>
                    <a:lnT w="0">
                      <a:noFill/>
                    </a:lnT>
                    <a:lnB w="9525" cmpd="sng">
                      <a:solidFill>
                        <a:srgbClr val="BFBFBF"/>
                      </a:solidFill>
                    </a:lnB>
                    <a:solidFill>
                      <a:srgbClr val="FBE7EC"/>
                    </a:solidFill>
                  </a:tcPr>
                </a:tc>
              </a:tr>
            </a:tbl>
          </a:graphicData>
        </a:graphic>
      </p:graphicFrame>
      <p:sp>
        <p:nvSpPr>
          <p:cNvPr id="13" name="Rectangle 12"/>
          <p:cNvSpPr/>
          <p:nvPr/>
        </p:nvSpPr>
        <p:spPr>
          <a:xfrm>
            <a:off x="8357616" y="1828800"/>
            <a:ext cx="3474720" cy="3493008"/>
          </a:xfrm>
          <a:prstGeom prst="rect">
            <a:avLst/>
          </a:prstGeom>
          <a:solidFill>
            <a:srgbClr val="F2F2F2"/>
          </a:solidFill>
          <a:ln>
            <a:noFill/>
          </a:ln>
          <a:effectLst/>
        </p:spPr>
        <p:txBody>
          <a:bodyPr rtlCol="0" anchor="t" wrap="square" lIns="201168" rIns="201168" tIns="109728" bIns="109728"/>
          <a:lstStyle/>
          <a:p>
            <a:pPr algn="l" marL="0" indent="0">
              <a:lnSpc>
                <a:spcPct val="100000"/>
              </a:lnSpc>
              <a:spcBef>
                <a:spcPts val="0"/>
              </a:spcBef>
              <a:spcAft>
                <a:spcPts val="1000"/>
              </a:spcAft>
              <a:buNone/>
            </a:pPr>
            <a:r>
              <a:rPr sz="1500" b="1" i="0">
                <a:solidFill>
                  <a:srgbClr val="333D47"/>
                </a:solidFill>
                <a:latin typeface="Arial"/>
              </a:rPr>
              <a:t>Why a contingent worker</a:t>
            </a:r>
          </a:p>
          <a:p>
            <a:pPr marL="164592" indent="-164592" algn="l">
              <a:lnSpc>
                <a:spcPct val="100000"/>
              </a:lnSpc>
              <a:spcBef>
                <a:spcPts val="0"/>
              </a:spcBef>
              <a:spcAft>
                <a:spcPts val="700"/>
              </a:spcAft>
              <a:buFont typeface="Arial"/>
              <a:buChar char="•"/>
            </a:pPr>
            <a:r>
              <a:rPr sz="1200" b="0" i="0">
                <a:solidFill>
                  <a:srgbClr val="333D47"/>
                </a:solidFill>
                <a:latin typeface="Arial"/>
              </a:rPr>
              <a:t>Works directly with business auditors on day-to-day needs</a:t>
            </a:r>
          </a:p>
          <a:p>
            <a:pPr marL="164592" indent="-164592" algn="l">
              <a:lnSpc>
                <a:spcPct val="100000"/>
              </a:lnSpc>
              <a:spcBef>
                <a:spcPts val="0"/>
              </a:spcBef>
              <a:spcAft>
                <a:spcPts val="700"/>
              </a:spcAft>
              <a:buFont typeface="Arial"/>
              <a:buChar char="•"/>
            </a:pPr>
            <a:r>
              <a:rPr sz="1200" b="0" i="0">
                <a:solidFill>
                  <a:srgbClr val="333D47"/>
                </a:solidFill>
                <a:latin typeface="Arial"/>
              </a:rPr>
              <a:t>Supports both regular audit engagements and practical development work</a:t>
            </a:r>
          </a:p>
          <a:p>
            <a:pPr marL="164592" indent="-164592" algn="l">
              <a:lnSpc>
                <a:spcPct val="100000"/>
              </a:lnSpc>
              <a:spcBef>
                <a:spcPts val="0"/>
              </a:spcBef>
              <a:spcAft>
                <a:spcPts val="700"/>
              </a:spcAft>
              <a:buFont typeface="Arial"/>
              <a:buChar char="•"/>
            </a:pPr>
            <a:r>
              <a:rPr sz="1200" b="0" i="0">
                <a:solidFill>
                  <a:srgbClr val="333D47"/>
                </a:solidFill>
                <a:latin typeface="Arial"/>
              </a:rPr>
              <a:t>Existing familiarity with GIA processes and technology can reduce onboarding needs</a:t>
            </a:r>
          </a:p>
          <a:p>
            <a:pPr marL="164592" indent="-164592" algn="l">
              <a:lnSpc>
                <a:spcPct val="100000"/>
              </a:lnSpc>
              <a:spcBef>
                <a:spcPts val="0"/>
              </a:spcBef>
              <a:spcAft>
                <a:spcPts val="700"/>
              </a:spcAft>
              <a:buFont typeface="Arial"/>
              <a:buChar char="•"/>
            </a:pPr>
            <a:r>
              <a:rPr sz="1200" b="0" i="0">
                <a:solidFill>
                  <a:srgbClr val="333D47"/>
                </a:solidFill>
                <a:latin typeface="Arial"/>
              </a:rPr>
              <a:t>Defined scope: one year, up to 1,400 hours</a:t>
            </a:r>
          </a:p>
          <a:p>
            <a:pPr marL="164592" indent="-164592" algn="l">
              <a:lnSpc>
                <a:spcPct val="100000"/>
              </a:lnSpc>
              <a:spcBef>
                <a:spcPts val="0"/>
              </a:spcBef>
              <a:spcAft>
                <a:spcPts val="0"/>
              </a:spcAft>
              <a:buFont typeface="Arial"/>
              <a:buChar char="•"/>
            </a:pPr>
            <a:r>
              <a:rPr sz="1200" b="0" i="0">
                <a:solidFill>
                  <a:srgbClr val="333D47"/>
                </a:solidFill>
                <a:latin typeface="Arial"/>
              </a:rPr>
              <a:t>TSS and DNA continue to provide support where appropriate</a:t>
            </a:r>
          </a:p>
        </p:txBody>
      </p:sp>
      <p:sp>
        <p:nvSpPr>
          <p:cNvPr id="14" name="TextBox 13"/>
          <p:cNvSpPr txBox="1"/>
          <p:nvPr/>
        </p:nvSpPr>
        <p:spPr>
          <a:xfrm>
            <a:off x="356616" y="5440680"/>
            <a:ext cx="10515600" cy="274320"/>
          </a:xfrm>
          <a:prstGeom prst="rect">
            <a:avLst/>
          </a:prstGeom>
          <a:noFill/>
        </p:spPr>
        <p:txBody>
          <a:bodyPr wrap="square" lIns="0" rIns="0" tIns="0" bIns="0" anchor="t"/>
          <a:lstStyle/>
          <a:p>
            <a:pPr marL="0" indent="0" algn="l">
              <a:lnSpc>
                <a:spcPct val="100000"/>
              </a:lnSpc>
              <a:spcBef>
                <a:spcPts val="0"/>
              </a:spcBef>
              <a:spcAft>
                <a:spcPts val="0"/>
              </a:spcAft>
              <a:buNone/>
            </a:pPr>
            <a:r>
              <a:rPr sz="1000" b="0" i="1">
                <a:solidFill>
                  <a:srgbClr val="5F6770"/>
                </a:solidFill>
                <a:latin typeface="Arial"/>
              </a:rPr>
              <a:t>This comparison describes working models only. Cost is not assessed here and will be reviewed separately by HR and Finance.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rPr>
              <a:t>Recommendation, Governance and Approval Request</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lnSpc>
                <a:spcPct val="100000"/>
              </a:lnSpc>
              <a:spcBef>
                <a:spcPts val="0"/>
              </a:spcBef>
              <a:spcAft>
                <a:spcPts val="0"/>
              </a:spcAft>
              <a:buNone/>
            </a:pPr>
            <a:r>
              <a:rPr sz="1600" b="0" i="0">
                <a:solidFill>
                  <a:srgbClr val="D31145"/>
                </a:solidFill>
                <a:latin typeface="Arial"/>
              </a:rPr>
              <a:t>A defined one-year resource, allocated by audit priority and reviewed against clear measures.</a:t>
            </a:r>
          </a:p>
        </p:txBody>
      </p:sp>
      <p:sp>
        <p:nvSpPr>
          <p:cNvPr id="12" name="Rectangle 11"/>
          <p:cNvSpPr/>
          <p:nvPr/>
        </p:nvSpPr>
        <p:spPr>
          <a:xfrm>
            <a:off x="356616" y="1828800"/>
            <a:ext cx="11475720" cy="640080"/>
          </a:xfrm>
          <a:prstGeom prst="rect">
            <a:avLst/>
          </a:prstGeom>
          <a:solidFill>
            <a:srgbClr val="FBE7EC"/>
          </a:solidFill>
          <a:ln>
            <a:noFill/>
          </a:ln>
          <a:effectLst/>
        </p:spPr>
        <p:txBody>
          <a:bodyPr rtlCol="0" anchor="ctr" wrap="square" lIns="201168" rIns="201168" tIns="109728" bIns="109728"/>
          <a:lstStyle/>
          <a:p>
            <a:pPr algn="l" marL="0" indent="0">
              <a:lnSpc>
                <a:spcPct val="100000"/>
              </a:lnSpc>
              <a:spcBef>
                <a:spcPts val="0"/>
              </a:spcBef>
              <a:spcAft>
                <a:spcPts val="0"/>
              </a:spcAft>
              <a:buNone/>
            </a:pPr>
            <a:r>
              <a:rPr sz="1500" b="1" i="0">
                <a:solidFill>
                  <a:srgbClr val="333D47"/>
                </a:solidFill>
                <a:latin typeface="Arial"/>
              </a:rPr>
              <a:t>Recommendation:  </a:t>
            </a:r>
            <a:r>
              <a:rPr sz="1500" b="0" i="0">
                <a:solidFill>
                  <a:srgbClr val="333D47"/>
                </a:solidFill>
                <a:latin typeface="Arial"/>
              </a:rPr>
              <a:t>Approve one contingent worker for GIA HK Data Analytics for 2027, covering up to 1,400 hours.</a:t>
            </a:r>
          </a:p>
        </p:txBody>
      </p:sp>
      <p:sp>
        <p:nvSpPr>
          <p:cNvPr id="13" name="Rectangle 12"/>
          <p:cNvSpPr/>
          <p:nvPr/>
        </p:nvSpPr>
        <p:spPr>
          <a:xfrm>
            <a:off x="356616" y="2697480"/>
            <a:ext cx="5598414" cy="2240280"/>
          </a:xfrm>
          <a:prstGeom prst="rect">
            <a:avLst/>
          </a:prstGeom>
          <a:solidFill>
            <a:srgbClr val="F2F2F2"/>
          </a:solidFill>
          <a:ln>
            <a:noFill/>
          </a:ln>
          <a:effectLst/>
        </p:spPr>
        <p:txBody>
          <a:bodyPr rtlCol="0" anchor="t" wrap="square" lIns="201168" rIns="201168" tIns="109728" bIns="109728"/>
          <a:lstStyle/>
          <a:p>
            <a:pPr algn="l" marL="0" indent="0">
              <a:lnSpc>
                <a:spcPct val="100000"/>
              </a:lnSpc>
              <a:spcBef>
                <a:spcPts val="0"/>
              </a:spcBef>
              <a:spcAft>
                <a:spcPts val="1000"/>
              </a:spcAft>
              <a:buNone/>
            </a:pPr>
            <a:r>
              <a:rPr sz="1500" b="1" i="0">
                <a:solidFill>
                  <a:srgbClr val="333D47"/>
                </a:solidFill>
                <a:latin typeface="Arial"/>
              </a:rPr>
              <a:t>Resource management</a:t>
            </a:r>
          </a:p>
          <a:p>
            <a:pPr marL="164592" indent="-164592" algn="l">
              <a:lnSpc>
                <a:spcPct val="100000"/>
              </a:lnSpc>
              <a:spcBef>
                <a:spcPts val="0"/>
              </a:spcBef>
              <a:spcAft>
                <a:spcPts val="700"/>
              </a:spcAft>
              <a:buFont typeface="Arial"/>
              <a:buChar char="•"/>
            </a:pPr>
            <a:r>
              <a:rPr sz="1200" b="0" i="0">
                <a:solidFill>
                  <a:srgbClr val="333D47"/>
                </a:solidFill>
                <a:latin typeface="Arial"/>
              </a:rPr>
              <a:t>Allocated according to audit priorities, under the direction of the Data Analytics lead</a:t>
            </a:r>
          </a:p>
          <a:p>
            <a:pPr marL="164592" indent="-164592" algn="l">
              <a:lnSpc>
                <a:spcPct val="100000"/>
              </a:lnSpc>
              <a:spcBef>
                <a:spcPts val="0"/>
              </a:spcBef>
              <a:spcAft>
                <a:spcPts val="700"/>
              </a:spcAft>
              <a:buFont typeface="Arial"/>
              <a:buChar char="•"/>
            </a:pPr>
            <a:r>
              <a:rPr sz="1200" b="0" i="0">
                <a:solidFill>
                  <a:srgbClr val="333D47"/>
                </a:solidFill>
                <a:latin typeface="Arial"/>
              </a:rPr>
              <a:t>Supports both audit engagements and technical development; engagement support remains a core responsibility</a:t>
            </a:r>
          </a:p>
          <a:p>
            <a:pPr marL="164592" indent="-164592" algn="l">
              <a:lnSpc>
                <a:spcPct val="100000"/>
              </a:lnSpc>
              <a:spcBef>
                <a:spcPts val="0"/>
              </a:spcBef>
              <a:spcAft>
                <a:spcPts val="0"/>
              </a:spcAft>
              <a:buFont typeface="Arial"/>
              <a:buChar char="•"/>
            </a:pPr>
            <a:r>
              <a:rPr sz="1200" b="0" i="0">
                <a:solidFill>
                  <a:srgbClr val="333D47"/>
                </a:solidFill>
                <a:latin typeface="Arial"/>
              </a:rPr>
              <a:t>Development work coordinated with TSS and DNA where relevant</a:t>
            </a:r>
          </a:p>
        </p:txBody>
      </p:sp>
      <p:sp>
        <p:nvSpPr>
          <p:cNvPr id="14" name="Rectangle 13"/>
          <p:cNvSpPr/>
          <p:nvPr/>
        </p:nvSpPr>
        <p:spPr>
          <a:xfrm>
            <a:off x="6233922" y="2697480"/>
            <a:ext cx="5598414" cy="2240280"/>
          </a:xfrm>
          <a:prstGeom prst="rect">
            <a:avLst/>
          </a:prstGeom>
          <a:solidFill>
            <a:srgbClr val="F2F2F2"/>
          </a:solidFill>
          <a:ln>
            <a:noFill/>
          </a:ln>
          <a:effectLst/>
        </p:spPr>
        <p:txBody>
          <a:bodyPr rtlCol="0" anchor="t" wrap="square" lIns="201168" rIns="201168" tIns="109728" bIns="109728"/>
          <a:lstStyle/>
          <a:p>
            <a:pPr algn="l" marL="0" indent="0">
              <a:lnSpc>
                <a:spcPct val="100000"/>
              </a:lnSpc>
              <a:spcBef>
                <a:spcPts val="0"/>
              </a:spcBef>
              <a:spcAft>
                <a:spcPts val="1000"/>
              </a:spcAft>
              <a:buNone/>
            </a:pPr>
            <a:r>
              <a:rPr sz="1500" b="1" i="0">
                <a:solidFill>
                  <a:srgbClr val="333D47"/>
                </a:solidFill>
                <a:latin typeface="Arial"/>
              </a:rPr>
              <a:t>Proposed accountability measures</a:t>
            </a:r>
          </a:p>
          <a:p>
            <a:pPr marL="164592" indent="-164592" algn="l">
              <a:lnSpc>
                <a:spcPct val="100000"/>
              </a:lnSpc>
              <a:spcBef>
                <a:spcPts val="0"/>
              </a:spcBef>
              <a:spcAft>
                <a:spcPts val="500"/>
              </a:spcAft>
              <a:buFont typeface="Arial"/>
              <a:buChar char="•"/>
            </a:pPr>
            <a:r>
              <a:rPr sz="1200" b="0" i="0">
                <a:solidFill>
                  <a:srgbClr val="333D47"/>
                </a:solidFill>
                <a:latin typeface="Arial"/>
              </a:rPr>
              <a:t>Audit engagements supported</a:t>
            </a:r>
          </a:p>
          <a:p>
            <a:pPr marL="164592" indent="-164592" algn="l">
              <a:lnSpc>
                <a:spcPct val="100000"/>
              </a:lnSpc>
              <a:spcBef>
                <a:spcPts val="0"/>
              </a:spcBef>
              <a:spcAft>
                <a:spcPts val="500"/>
              </a:spcAft>
              <a:buFont typeface="Arial"/>
              <a:buChar char="•"/>
            </a:pPr>
            <a:r>
              <a:rPr sz="1200" b="0" i="0">
                <a:solidFill>
                  <a:srgbClr val="333D47"/>
                </a:solidFill>
                <a:latin typeface="Arial"/>
              </a:rPr>
              <a:t>Automation solutions developed or improved</a:t>
            </a:r>
          </a:p>
          <a:p>
            <a:pPr marL="164592" indent="-164592" algn="l">
              <a:lnSpc>
                <a:spcPct val="100000"/>
              </a:lnSpc>
              <a:spcBef>
                <a:spcPts val="0"/>
              </a:spcBef>
              <a:spcAft>
                <a:spcPts val="500"/>
              </a:spcAft>
              <a:buFont typeface="Arial"/>
              <a:buChar char="•"/>
            </a:pPr>
            <a:r>
              <a:rPr sz="1200" b="0" i="0">
                <a:solidFill>
                  <a:srgbClr val="333D47"/>
                </a:solidFill>
                <a:latin typeface="Arial"/>
              </a:rPr>
              <a:t>Solutions adopted by auditors</a:t>
            </a:r>
          </a:p>
          <a:p>
            <a:pPr marL="164592" indent="-164592" algn="l">
              <a:lnSpc>
                <a:spcPct val="100000"/>
              </a:lnSpc>
              <a:spcBef>
                <a:spcPts val="0"/>
              </a:spcBef>
              <a:spcAft>
                <a:spcPts val="1000"/>
              </a:spcAft>
              <a:buFont typeface="Arial"/>
              <a:buChar char="•"/>
            </a:pPr>
            <a:r>
              <a:rPr sz="1200" b="0" i="0">
                <a:solidFill>
                  <a:srgbClr val="333D47"/>
                </a:solidFill>
                <a:latin typeface="Arial"/>
              </a:rPr>
              <a:t>Reduction in manual effort, where measurable</a:t>
            </a:r>
          </a:p>
          <a:p>
            <a:pPr marL="0" indent="0" algn="l">
              <a:lnSpc>
                <a:spcPct val="100000"/>
              </a:lnSpc>
              <a:spcBef>
                <a:spcPts val="0"/>
              </a:spcBef>
              <a:spcAft>
                <a:spcPts val="0"/>
              </a:spcAft>
              <a:buNone/>
            </a:pPr>
            <a:r>
              <a:rPr sz="1200" b="0" i="1">
                <a:solidFill>
                  <a:srgbClr val="333D47"/>
                </a:solidFill>
                <a:latin typeface="Arial"/>
              </a:rPr>
              <a:t>A management progress review during 2027 is proposed.</a:t>
            </a:r>
          </a:p>
        </p:txBody>
      </p:sp>
      <p:sp>
        <p:nvSpPr>
          <p:cNvPr id="15" name="Rectangle 14"/>
          <p:cNvSpPr/>
          <p:nvPr/>
        </p:nvSpPr>
        <p:spPr>
          <a:xfrm>
            <a:off x="356616" y="5138928"/>
            <a:ext cx="11475720" cy="457200"/>
          </a:xfrm>
          <a:prstGeom prst="rect">
            <a:avLst/>
          </a:prstGeom>
          <a:solidFill>
            <a:srgbClr val="333D47"/>
          </a:solidFill>
          <a:ln>
            <a:noFill/>
          </a:ln>
          <a:effectLst/>
        </p:spPr>
        <p:txBody>
          <a:bodyPr rtlCol="0" anchor="ctr" wrap="square" lIns="182880" rIns="182880" tIns="109728" bIns="109728"/>
          <a:lstStyle/>
          <a:p>
            <a:pPr algn="l" marL="0" indent="0">
              <a:lnSpc>
                <a:spcPct val="100000"/>
              </a:lnSpc>
              <a:spcBef>
                <a:spcPts val="0"/>
              </a:spcBef>
              <a:spcAft>
                <a:spcPts val="0"/>
              </a:spcAft>
              <a:buNone/>
            </a:pPr>
            <a:r>
              <a:rPr sz="1400" b="1" i="0">
                <a:solidFill>
                  <a:srgbClr val="FFFFFF"/>
                </a:solidFill>
                <a:latin typeface="Arial"/>
              </a:rPr>
              <a:t>Decision requested:  </a:t>
            </a:r>
            <a:r>
              <a:rPr sz="1400" b="0" i="0">
                <a:solidFill>
                  <a:srgbClr val="FFFFFF"/>
                </a:solidFill>
                <a:latin typeface="Arial"/>
              </a:rPr>
              <a:t>Approval of the 2027 contingent worker resource requirement (up to 1,400 hours).</a:t>
            </a:r>
          </a:p>
        </p:txBody>
      </p:sp>
      <p:sp>
        <p:nvSpPr>
          <p:cNvPr id="16" name="TextBox 15"/>
          <p:cNvSpPr txBox="1"/>
          <p:nvPr/>
        </p:nvSpPr>
        <p:spPr>
          <a:xfrm>
            <a:off x="356616" y="5687568"/>
            <a:ext cx="10515600" cy="274320"/>
          </a:xfrm>
          <a:prstGeom prst="rect">
            <a:avLst/>
          </a:prstGeom>
          <a:noFill/>
        </p:spPr>
        <p:txBody>
          <a:bodyPr wrap="square" lIns="0" rIns="0" tIns="0" bIns="0" anchor="t"/>
          <a:lstStyle/>
          <a:p>
            <a:pPr marL="0" indent="0" algn="l">
              <a:lnSpc>
                <a:spcPct val="100000"/>
              </a:lnSpc>
              <a:spcBef>
                <a:spcPts val="0"/>
              </a:spcBef>
              <a:spcAft>
                <a:spcPts val="0"/>
              </a:spcAft>
              <a:buNone/>
            </a:pPr>
            <a:r>
              <a:rPr sz="1000" b="0" i="1">
                <a:solidFill>
                  <a:srgbClr val="5F6770"/>
                </a:solidFill>
                <a:latin typeface="Arial"/>
              </a:rPr>
              <a:t>Cost and contract terms will be assessed separately by HR and Finance.</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