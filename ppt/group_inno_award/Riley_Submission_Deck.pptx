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1488" y="960120"/>
            <a:ext cx="1188720" cy="1188720"/>
          </a:xfrm>
          <a:prstGeom prst="ellipse">
            <a:avLst/>
          </a:prstGeom>
          <a:solidFill>
            <a:srgbClr val="E873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8668" y="1257300"/>
            <a:ext cx="594360" cy="594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2331720"/>
            <a:ext cx="121916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Riley</a:t>
            </a:r>
            <a:endParaRPr lang="en-US" sz="8000" dirty="0"/>
          </a:p>
        </p:txBody>
      </p:sp>
      <p:sp>
        <p:nvSpPr>
          <p:cNvPr id="5" name="Text 2"/>
          <p:cNvSpPr txBox="1"/>
          <p:nvPr/>
        </p:nvSpPr>
        <p:spPr>
          <a:xfrm>
            <a:off x="0" y="3611880"/>
            <a:ext cx="121916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AIA's Virtual Coworker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4343400"/>
            <a:ext cx="92628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coworker in Microsoft Teams, connected to AIA's data, systems, internal AI capabilities, and approved external information.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Idea Awards 2026  ·  Hong Kong  ·  [Your Name]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024"/>
              </a:lnSpc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AIA is building AI everywhere.</a:t>
            </a:r>
            <a:endParaRPr lang="en-US" sz="2800" dirty="0"/>
          </a:p>
          <a:p>
            <a:pPr algn="l" indent="0" marL="0">
              <a:lnSpc>
                <a:spcPts val="3024"/>
              </a:lnSpc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Employees are left to connect it themselves.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2269541"/>
            <a:ext cx="261518" cy="26151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2103120"/>
            <a:ext cx="5257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AIA teams are independently building their own AI tools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3138221"/>
            <a:ext cx="261518" cy="2615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2971800"/>
            <a:ext cx="5257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must discover, learn, and manually combine them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4006901"/>
            <a:ext cx="261518" cy="26151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3840480"/>
            <a:ext cx="5257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gets worse, not better, as AIA invests in more AI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48640" y="4754880"/>
            <a:ext cx="502920" cy="502920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4875581"/>
            <a:ext cx="261518" cy="26151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34440" y="4709160"/>
            <a:ext cx="5257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 a large back-office population across many functions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548640" y="5623560"/>
            <a:ext cx="5577840" cy="777240"/>
          </a:xfrm>
          <a:prstGeom prst="roundRect">
            <a:avLst>
              <a:gd name="adj" fmla="val 14118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6" name="Text 10"/>
          <p:cNvSpPr txBox="1"/>
          <p:nvPr/>
        </p:nvSpPr>
        <p:spPr>
          <a:xfrm>
            <a:off x="777240" y="56235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of the workweek is spent searching for information and coordinating across systems — McKinsey Global Institute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685800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SOME OF WHAT'S OUT THERE TODAY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7040880" y="2468880"/>
            <a:ext cx="731520" cy="731520"/>
          </a:xfrm>
          <a:prstGeom prst="ellipse">
            <a:avLst/>
          </a:prstGeom>
          <a:solidFill>
            <a:srgbClr val="AEB9D6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2651760"/>
            <a:ext cx="365760" cy="36576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9692640" y="2331720"/>
            <a:ext cx="731520" cy="731520"/>
          </a:xfrm>
          <a:prstGeom prst="ellipse">
            <a:avLst/>
          </a:prstGeom>
          <a:solidFill>
            <a:srgbClr val="AEB9D6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0" y="2514600"/>
            <a:ext cx="365760" cy="36576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10881360" y="3657600"/>
            <a:ext cx="731520" cy="731520"/>
          </a:xfrm>
          <a:prstGeom prst="ellipse">
            <a:avLst/>
          </a:prstGeom>
          <a:solidFill>
            <a:srgbClr val="AEB9D6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4240" y="3840480"/>
            <a:ext cx="365760" cy="36576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9966960" y="5029200"/>
            <a:ext cx="731520" cy="731520"/>
          </a:xfrm>
          <a:prstGeom prst="ellipse">
            <a:avLst/>
          </a:prstGeom>
          <a:solidFill>
            <a:srgbClr val="AEB9D6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9840" y="5212080"/>
            <a:ext cx="365760" cy="36576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7406640" y="5212080"/>
            <a:ext cx="731520" cy="731520"/>
          </a:xfrm>
          <a:prstGeom prst="ellipse">
            <a:avLst/>
          </a:prstGeom>
          <a:solidFill>
            <a:srgbClr val="AEB9D6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9520" y="5394960"/>
            <a:ext cx="365760" cy="365760"/>
          </a:xfrm>
          <a:prstGeom prst="rect">
            <a:avLst/>
          </a:prstGeom>
        </p:spPr>
      </p:pic>
      <p:sp>
        <p:nvSpPr>
          <p:cNvPr id="28" name="Shape 17"/>
          <p:cNvSpPr/>
          <p:nvPr/>
        </p:nvSpPr>
        <p:spPr>
          <a:xfrm>
            <a:off x="8503920" y="3977640"/>
            <a:ext cx="731520" cy="731520"/>
          </a:xfrm>
          <a:prstGeom prst="ellipse">
            <a:avLst/>
          </a:prstGeom>
          <a:solidFill>
            <a:srgbClr val="AEB9D6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6800" y="416052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8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Riley for an outcome. Riley coordinates everything underneath.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 flipV="1">
            <a:off x="1440180" y="2194560"/>
            <a:ext cx="2628900" cy="1623060"/>
          </a:xfrm>
          <a:prstGeom prst="line">
            <a:avLst/>
          </a:prstGeom>
          <a:noFill/>
          <a:ln w="12700">
            <a:solidFill>
              <a:srgbClr val="B7C0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440180" y="2926080"/>
            <a:ext cx="3954780" cy="891540"/>
          </a:xfrm>
          <a:prstGeom prst="line">
            <a:avLst/>
          </a:prstGeom>
          <a:noFill/>
          <a:ln w="12700">
            <a:solidFill>
              <a:srgbClr val="B7C0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40180" y="3817620"/>
            <a:ext cx="4091940" cy="662940"/>
          </a:xfrm>
          <a:prstGeom prst="line">
            <a:avLst/>
          </a:prstGeom>
          <a:noFill/>
          <a:ln w="12700">
            <a:solidFill>
              <a:srgbClr val="B7C0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40180" y="3817620"/>
            <a:ext cx="3040380" cy="1943100"/>
          </a:xfrm>
          <a:prstGeom prst="line">
            <a:avLst/>
          </a:prstGeom>
          <a:noFill/>
          <a:ln w="12700">
            <a:solidFill>
              <a:srgbClr val="B7C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440180" y="2651760"/>
            <a:ext cx="1577340" cy="1165860"/>
          </a:xfrm>
          <a:prstGeom prst="line">
            <a:avLst/>
          </a:prstGeom>
          <a:noFill/>
          <a:ln w="12700">
            <a:solidFill>
              <a:srgbClr val="B7C0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3429000"/>
            <a:ext cx="777240" cy="777240"/>
          </a:xfrm>
          <a:prstGeom prst="ellipse">
            <a:avLst/>
          </a:prstGeom>
          <a:solidFill>
            <a:srgbClr val="5B6B8C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5870" y="3623310"/>
            <a:ext cx="388620" cy="3886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749040" y="1874520"/>
            <a:ext cx="640080" cy="640080"/>
          </a:xfrm>
          <a:prstGeom prst="ellipse">
            <a:avLst/>
          </a:prstGeom>
          <a:solidFill>
            <a:srgbClr val="AEB9D6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060" y="2034540"/>
            <a:ext cx="320040" cy="320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074920" y="2606040"/>
            <a:ext cx="640080" cy="640080"/>
          </a:xfrm>
          <a:prstGeom prst="ellipse">
            <a:avLst/>
          </a:prstGeom>
          <a:solidFill>
            <a:srgbClr val="AEB9D6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940" y="2766060"/>
            <a:ext cx="320040" cy="32004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212080" y="4160520"/>
            <a:ext cx="640080" cy="640080"/>
          </a:xfrm>
          <a:prstGeom prst="ellipse">
            <a:avLst/>
          </a:prstGeom>
          <a:solidFill>
            <a:srgbClr val="AEB9D6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100" y="4320540"/>
            <a:ext cx="320040" cy="32004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160520" y="5440680"/>
            <a:ext cx="640080" cy="640080"/>
          </a:xfrm>
          <a:prstGeom prst="ellipse">
            <a:avLst/>
          </a:prstGeom>
          <a:solidFill>
            <a:srgbClr val="AEB9D6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540" y="5600700"/>
            <a:ext cx="320040" cy="32004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2697480" y="2331720"/>
            <a:ext cx="640080" cy="640080"/>
          </a:xfrm>
          <a:prstGeom prst="ellipse">
            <a:avLst/>
          </a:prstGeom>
          <a:solidFill>
            <a:srgbClr val="AEB9D6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0" y="2491740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548640" y="60807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is the connector</a:t>
            </a:r>
            <a:endParaRPr lang="en-US" sz="1200" dirty="0"/>
          </a:p>
        </p:txBody>
      </p:sp>
      <p:sp>
        <p:nvSpPr>
          <p:cNvPr id="22" name="Text 14"/>
          <p:cNvSpPr txBox="1"/>
          <p:nvPr/>
        </p:nvSpPr>
        <p:spPr>
          <a:xfrm>
            <a:off x="6400800" y="1417320"/>
            <a:ext cx="5239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RILEY</a:t>
            </a:r>
            <a:endParaRPr lang="en-US" sz="1500" dirty="0"/>
          </a:p>
        </p:txBody>
      </p:sp>
      <p:sp>
        <p:nvSpPr>
          <p:cNvPr id="23" name="Shape 15"/>
          <p:cNvSpPr/>
          <p:nvPr/>
        </p:nvSpPr>
        <p:spPr>
          <a:xfrm flipV="1">
            <a:off x="7109460" y="3794760"/>
            <a:ext cx="1760220" cy="2286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 flipV="1">
            <a:off x="8869680" y="2148840"/>
            <a:ext cx="1965960" cy="164592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 flipV="1">
            <a:off x="8869680" y="3154680"/>
            <a:ext cx="2286000" cy="6400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8869680" y="3794760"/>
            <a:ext cx="2286000" cy="27432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8869680" y="3794760"/>
            <a:ext cx="1965960" cy="118872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8869680" y="3794760"/>
            <a:ext cx="1325880" cy="192024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720840" y="3429000"/>
            <a:ext cx="777240" cy="777240"/>
          </a:xfrm>
          <a:prstGeom prst="ellipse">
            <a:avLst/>
          </a:prstGeom>
          <a:solidFill>
            <a:srgbClr val="5B6B8C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5150" y="3623310"/>
            <a:ext cx="388620" cy="388620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8366760" y="3291840"/>
            <a:ext cx="1005840" cy="1005840"/>
          </a:xfrm>
          <a:prstGeom prst="ellipse">
            <a:avLst/>
          </a:prstGeom>
          <a:solidFill>
            <a:srgbClr val="E8734A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8220" y="3543300"/>
            <a:ext cx="502920" cy="502920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1056132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98480" y="2011680"/>
            <a:ext cx="274320" cy="274320"/>
          </a:xfrm>
          <a:prstGeom prst="rect">
            <a:avLst/>
          </a:prstGeom>
        </p:spPr>
      </p:pic>
      <p:sp>
        <p:nvSpPr>
          <p:cNvPr id="35" name="Shape 24"/>
          <p:cNvSpPr/>
          <p:nvPr/>
        </p:nvSpPr>
        <p:spPr>
          <a:xfrm>
            <a:off x="10881360" y="288036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18520" y="3017520"/>
            <a:ext cx="274320" cy="274320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10881360" y="379476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18520" y="3931920"/>
            <a:ext cx="274320" cy="274320"/>
          </a:xfrm>
          <a:prstGeom prst="rect">
            <a:avLst/>
          </a:prstGeom>
        </p:spPr>
      </p:pic>
      <p:sp>
        <p:nvSpPr>
          <p:cNvPr id="39" name="Shape 26"/>
          <p:cNvSpPr/>
          <p:nvPr/>
        </p:nvSpPr>
        <p:spPr>
          <a:xfrm>
            <a:off x="10561320" y="470916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98480" y="4846320"/>
            <a:ext cx="274320" cy="274320"/>
          </a:xfrm>
          <a:prstGeom prst="rect">
            <a:avLst/>
          </a:prstGeom>
        </p:spPr>
      </p:pic>
      <p:sp>
        <p:nvSpPr>
          <p:cNvPr id="41" name="Shape 27"/>
          <p:cNvSpPr/>
          <p:nvPr/>
        </p:nvSpPr>
        <p:spPr>
          <a:xfrm>
            <a:off x="9921240" y="544068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58400" y="5577840"/>
            <a:ext cx="274320" cy="274320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6400800" y="6080760"/>
            <a:ext cx="5239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 is the connector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example — not the whole product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1554480"/>
          </a:xfrm>
          <a:prstGeom prst="roundRect">
            <a:avLst>
              <a:gd name="adj" fmla="val 7059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1713357"/>
            <a:ext cx="276606" cy="2766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7276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asks Riley, in Microsoft Teams: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874520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“Review the latest customer complaints, identify the most common issues, compare them with the previous quarter, research any relevant external information, prepare a management summary, and draft a presentation.”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429000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417320" y="37033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8862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85800" y="4572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49377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describes the outcome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044952" y="4572000"/>
            <a:ext cx="265176" cy="18288"/>
          </a:xfrm>
          <a:prstGeom prst="line">
            <a:avLst/>
          </a:prstGeom>
          <a:noFill/>
          <a:ln w="25400">
            <a:solidFill>
              <a:srgbClr val="E8734A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337560" y="3429000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06240" y="37033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8862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474720" y="4572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3520440" y="49377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 figures out what's needed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833872" y="4572000"/>
            <a:ext cx="265176" cy="18288"/>
          </a:xfrm>
          <a:prstGeom prst="line">
            <a:avLst/>
          </a:prstGeom>
          <a:noFill/>
          <a:ln w="25400">
            <a:solidFill>
              <a:srgbClr val="E8734A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6126480" y="3429000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95160" y="37033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38862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263640" y="4572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309360" y="49377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Gathers, analyzes, drafts across sources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8622792" y="4572000"/>
            <a:ext cx="265176" cy="18288"/>
          </a:xfrm>
          <a:prstGeom prst="line">
            <a:avLst/>
          </a:prstGeom>
          <a:noFill/>
          <a:ln w="25400">
            <a:solidFill>
              <a:srgbClr val="E8734A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8915400" y="3429000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784080" y="3703320"/>
            <a:ext cx="731520" cy="731520"/>
          </a:xfrm>
          <a:prstGeom prst="ellipse">
            <a:avLst/>
          </a:prstGeom>
          <a:solidFill>
            <a:srgbClr val="E8734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0" y="388620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052560" y="4572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Approve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9098280" y="49377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checks, corrects, approves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 — a candidate first pilot, not a complaints-handling product.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024"/>
              </a:lnSpc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smarter chatbot. AIA's own layer over its own AI.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49240" cy="3749040"/>
          </a:xfrm>
          <a:prstGeom prst="roundRect">
            <a:avLst>
              <a:gd name="adj" fmla="val 2927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201168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290" y="222885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10896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coworker, not five tools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3886200"/>
            <a:ext cx="4526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talk to Riley instead of discovering and learning every team's individual AI tool.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3640" y="1600200"/>
            <a:ext cx="5349240" cy="3749040"/>
          </a:xfrm>
          <a:prstGeom prst="roundRect">
            <a:avLst>
              <a:gd name="adj" fmla="val 2927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75120" y="201168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290" y="2228850"/>
            <a:ext cx="434340" cy="4343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675120" y="310896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multiplier on AIA's AI investment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6675120" y="3886200"/>
            <a:ext cx="4526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AI capability any team connects to Riley makes Riley more capable for every employee — value compounds instead of competing.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technology is evolving quickly, industry-wide. Riley's edge isn't the underlying tech — it's this AIA-specific layer, and the feedback loop on the next slide.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correction makes Riley better at AIA.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48" y="1920240"/>
            <a:ext cx="1965960" cy="1965960"/>
          </a:xfrm>
          <a:prstGeom prst="line">
            <a:avLst/>
          </a:prstGeom>
          <a:noFill/>
          <a:ln w="31750">
            <a:solidFill>
              <a:srgbClr val="E8734A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 flipV="1">
            <a:off x="6095848" y="3886200"/>
            <a:ext cx="1965960" cy="1965960"/>
          </a:xfrm>
          <a:prstGeom prst="line">
            <a:avLst/>
          </a:prstGeom>
          <a:noFill/>
          <a:ln w="31750">
            <a:solidFill>
              <a:srgbClr val="E8734A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129888" y="3886200"/>
            <a:ext cx="1965960" cy="1965960"/>
          </a:xfrm>
          <a:prstGeom prst="line">
            <a:avLst/>
          </a:prstGeom>
          <a:noFill/>
          <a:ln w="31750">
            <a:solidFill>
              <a:srgbClr val="E8734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V="1">
            <a:off x="4129888" y="1920240"/>
            <a:ext cx="1965960" cy="1965960"/>
          </a:xfrm>
          <a:prstGeom prst="line">
            <a:avLst/>
          </a:prstGeom>
          <a:noFill/>
          <a:ln w="31750">
            <a:solidFill>
              <a:srgbClr val="E8734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387188" y="1211580"/>
            <a:ext cx="1417320" cy="14173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6951" y="1601343"/>
            <a:ext cx="637794" cy="63779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884268" y="2702052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53148" y="3177540"/>
            <a:ext cx="1417320" cy="14173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2911" y="3567303"/>
            <a:ext cx="637794" cy="63779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861908" y="356616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 Delivers Work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387188" y="5143500"/>
            <a:ext cx="1417320" cy="14173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951" y="5533263"/>
            <a:ext cx="637794" cy="63779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884268" y="6633972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Reviews &amp; Corrects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421228" y="3177540"/>
            <a:ext cx="1417320" cy="14173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991" y="3567303"/>
            <a:ext cx="637794" cy="63779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72388" y="356616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 Learns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5272888" y="34290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Gets better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time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1097280" y="617220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stays responsible for every result — and every correction becomes a lesson.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won't guess the impact. We'll measure it.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~20%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325880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workweek lost to searching for information and coordinating across systems — McKinsey Global Institute. A large back-office population across many functions faces this today.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3538728" cy="1417320"/>
          </a:xfrm>
          <a:prstGeom prst="roundRect">
            <a:avLst>
              <a:gd name="adj" fmla="val 7742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880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0175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2834640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Effort per Task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3200400"/>
            <a:ext cx="24414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employees actually spend, before vs. after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25112" y="2651760"/>
            <a:ext cx="3538728" cy="1417320"/>
          </a:xfrm>
          <a:prstGeom prst="roundRect">
            <a:avLst>
              <a:gd name="adj" fmla="val 7742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53712" y="2880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30175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39512" y="2834640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Time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239512" y="3200400"/>
            <a:ext cx="24414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Elapsed time to a finished, approved output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01584" y="2651760"/>
            <a:ext cx="3538728" cy="1417320"/>
          </a:xfrm>
          <a:prstGeom prst="roundRect">
            <a:avLst>
              <a:gd name="adj" fmla="val 7742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30184" y="2880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30175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15984" y="2834640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Steps Eliminated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9015984" y="3200400"/>
            <a:ext cx="24414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previously touched by hand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4251960"/>
            <a:ext cx="3538728" cy="1417320"/>
          </a:xfrm>
          <a:prstGeom prst="roundRect">
            <a:avLst>
              <a:gd name="adj" fmla="val 7742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7240" y="4480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61772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63040" y="4434840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Rate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1463040" y="4800600"/>
            <a:ext cx="24414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outputs needing real correction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325112" y="4251960"/>
            <a:ext cx="3538728" cy="1417320"/>
          </a:xfrm>
          <a:prstGeom prst="roundRect">
            <a:avLst>
              <a:gd name="adj" fmla="val 7742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53712" y="4480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461772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239512" y="4434840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5239512" y="4800600"/>
            <a:ext cx="24414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 human-only baseline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8101584" y="4251960"/>
            <a:ext cx="3538728" cy="1417320"/>
          </a:xfrm>
          <a:prstGeom prst="roundRect">
            <a:avLst>
              <a:gd name="adj" fmla="val 7742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30184" y="4480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4617720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015984" y="4434840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9015984" y="4800600"/>
            <a:ext cx="24414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actively choosing to use Riley</a:t>
            </a:r>
            <a:endParaRPr lang="en-US" sz="1050" dirty="0"/>
          </a:p>
        </p:txBody>
      </p:sp>
      <p:sp>
        <p:nvSpPr>
          <p:cNvPr id="36" name="Text 28"/>
          <p:cNvSpPr txBox="1"/>
          <p:nvPr/>
        </p:nvSpPr>
        <p:spPr>
          <a:xfrm>
            <a:off x="548640" y="63093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real pilot team selected in Phase 0 — not assumed in advance.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916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deliberately narrow start, built to prove the bigger vision.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22402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85900" y="25146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2697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3383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· Weeks 1–2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6576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&amp; Baseline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11480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real pilot team; baseline effort, time, and manual steps.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72968" y="4023360"/>
            <a:ext cx="192024" cy="18288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383280" y="22402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20540" y="25146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26974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20440" y="3383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Months 1–3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36576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Pilot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611880" y="411480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workflow, human-approval-gated. Measure against baseline.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07608" y="4023360"/>
            <a:ext cx="192024" cy="18288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6217920" y="2011680"/>
            <a:ext cx="2606040" cy="37947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6217920" y="21214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THE MULTIPLIER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7155180" y="2468880"/>
            <a:ext cx="731520" cy="731520"/>
          </a:xfrm>
          <a:prstGeom prst="ellipse">
            <a:avLst/>
          </a:prstGeom>
          <a:solidFill>
            <a:srgbClr val="E8734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0" y="265176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355080" y="33375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Months 4–6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6355080" y="36118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the Multiplier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6446520" y="406908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another AIA team's AI tool into Riley + a second workflow.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842248" y="4023360"/>
            <a:ext cx="192024" cy="18288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9052560" y="22402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989820" y="25146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0" y="269748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189720" y="3383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Months 7–12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9189720" y="36576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9281160" y="411480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across the back office and more connected AI tools.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approved, not just admired.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373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190881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78308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37744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Microsoft Teams — reduces friction because employees already use it. Every output is reviewed and approved by the employee before action.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99632" y="14173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19672" y="17373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122" y="190881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88352" y="178308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519672" y="237744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at every step, with permissioned access and an approval trail throughout.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9319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4251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42341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37360" y="429768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68680" y="489204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Riley experience and orchestration model are reusable across markets — each market adds its own system integrations, data controls, and governance.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99632" y="39319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19672" y="4251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1122" y="442341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88352" y="429768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519672" y="489204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sponsor, a small build pod, Group Innovation Office support, and access to system owners — not a request to build an AI engine from scratch.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80160" y="1554480"/>
            <a:ext cx="962863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AIA employee could eventually have access to a virtual coworker in Microsoft Teams that can use AIA data, systems, internal AI capabilities, and approved external information to complete work on their behalf — while the employee remains responsible for review and final decisions.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184648" y="3977640"/>
            <a:ext cx="1828800" cy="9144"/>
          </a:xfrm>
          <a:prstGeom prst="line">
            <a:avLst/>
          </a:prstGeom>
          <a:noFill/>
          <a:ln w="25400">
            <a:solidFill>
              <a:srgbClr val="E873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42519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ask: one pilot team to prove Phase 1 and Phase 2.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 — AIA's Virtual Coworker  ·  Innovation Idea Awards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2026-09-21T07:40:11Z</dcterms:created>
  <dcterms:modified xsi:type="dcterms:W3CDTF">2026-09-21T07:40:11Z</dcterms:modified>
</cp:coreProperties>
</file>