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 proposed AI coworker for AIA employees, delivered in Microsoft Teams. An employee asks for the outcome they need; Riley works out which approved AIA data, systems and AI tools the task needs, does the intermediate work, and the employee reviews and approves before anything is finalized, sent or entered into a system. The whole idea in one line: today the employee is the connector; Riley becomes the connector. Categories: Employee Value (primary) and Operations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today each AI tool can be valuable on its own, but the employee has to find it, learn it, switch between it and other systems, and combine the outputs by hand. Right: the employee asks once and Riley does the connecting, using only what that employee is authorized to use; the employee approves the result. This is an observation from inside AIA, not a measured finding. No tool names or counts are claimed. Phase 0 of the pilot baselines the manual steps, systems and effort in the chosen workflow, so the problem is measured before any scaling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conversation in Microsoft Teams. The employee describes the outcome rather than the steps. Riley decides which approved AIA data, systems and AI capabilities the task needs, using only what this employee is authorized to access, and performs the intermediate work. The employee reviews, corrects and approves. Nothing is finalized, sent to anyone, or entered into a business system until the employee approves; the employee remains accountable. The complaints request is an illustration, not the committed first pilot. Phase 0 selects the first workflow on business value, implementation readiness, data sensitivity and governance complexity, and a lower-sensitivity internal workflow may be chosen if it proves the concept faster and more safely. The same pattern applies to research, analysis, reporting, coordination and drafting across back-office functions.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forecast and not a measured result. If Riley eventually served 1,000 employees and saved each an average of 1 hour per week, it would release approximately 1,000 hours of employee capacity every week, or around 50,000 hours a year assuming 50 working weeks. 1,000 is a scenario size: it is not a planned pilot population and not an AIA employee count. Why one hour is modest: it is 2.5% of a 40-hour week, and about one-eighth of the nearly 20% of the workweek (about 8 hours) that McKinsey Global Institute (The social economy, 2012) estimated high-skill knowledge workers spend looking for internal information or tracking down colleagues who can help. That study predates today's AI tools and is used only as a reasonableness check. The pilot measures whether one hour is achievable; Phase 3 replaces this scenario with a projection built from measured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reduces manual research, information gathering, coordination, system switching and repetitive execution; that capacity moves to customer relationships, judgment, problem-solving and innovation. This is Double Employee Value in practice. Operations Value is the secondary category: faster, better-supported back-office work plausibly supports operational efficiency, service quality and speed. That, and any indirect link to VONB/ANP, is a hypothesis to be validated with AIA's TDA methodology. No financial figure is claimed at this stage.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original idea. AIA will keep building and adopting AI. Without a common employee experience, each new AI solution can become another separate tool, with its own discovery, training and adoption effort, and employees combine the outputs by hand. With Riley, a new capability is connected once and becomes available, through the same conversation, to every employee authorized to use it; Riley can combine it with what is already connected. More AI investment then means a more capable coworker rather than more tools to learn. What this does not claim: connections are not free or automatic. Each needs technical integration and governance review, and it only adds value if the capability can be connected and is useful to Riley's users. Phase 2 is the core test: connect at least one AI tool built by a different AIA team, with no new tool for employees. Upside, as a hypothesis: savings per employee could grow as more capabilities are connected.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does not compete with Copilot or any enterprise agent platform. Copilot Studio, another enterprise platform or future technology can be the engine: the models, the agent runtime, the orchestration infrastructure and the Teams integration. That choice is a build decision, not the innovation, and Riley does not need its own AI model. What the engine does not provide is the AIA-specific layer: which AIA data, systems and internal AI capabilities are connected; how employee permissions and AIA workflows apply; how actions are approved and recorded; and how feedback and learning are governed. Even if platforms later offer stronger native agent routing, AIA still has to define that layer. That layer is Riley, so a more capable platform makes Riley more capable, not irrelevant.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run in sequence and each proceeds only if the previous one shows results. Phase 0 (Month 1): select the first pilot team and workflow on business value, implementation readiness, data sensitivity and governance complexity; baseline current effort, completion time and manual steps; confirm data access, security, privacy, record-keeping and governance requirements with IT, risk and compliance; nominate an independent quality reviewer. Phase 1 (Months 2-4): one team, one workflow, employee approval before any final action. Gate: proceed only if employee effort is reduced, quality is maintained or improved, and usage is sustained. Phase 2 (Months 5-7), the core test: connect at least one AI tool built by a different AIA team and extend to a second workflow or team. Gate: the new capability is usable through Riley without a new tool for employees, with effort, quality and usage holding up across both workflows. Phase 3 (Months 8-12): extend to more back-office teams and connected capabilities, and replace the illustrative scenario with a projection built from measured data. Quality is rated by the requesting employee and confirmed by periodic independent sample reviews.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scales in three directions: more employees, more workflows and more connected capabilities. A large back-office population across many functions is in scope before any cross-market expansion; the long-term vision is every AIA employee. Each capability connected to Riley becomes available to every employee authorized to use it, without rebuilding Riley, and Phase 2 tests exactly this. Across markets, the core Riley experience can be reused while each market adds its own system integrations, data controls, governance and process configuration; this is not near-free replication. Enduring value: Riley's usefulness can grow as more capabilities, workflows and employee feedback are added, rather than being a one-time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which employees already use, though trust still has to be earned through reliable results. Built on an enterprise AI/agent platform AIA already has, is evaluating, or chooses to adopt, not a new engine built from scratch. Starts narrow, one team and one workflow, with each phase gated on measured results. Governance is designed in: Riley acts only with the access the requesting employee already has; sensitive and customer data stay under AIA's existing data, privacy and security controls, with external information only from approved sources; the employee approves before anything is finalized, sent to anyone or entered into a business system; Riley keeps an appropriate record of the request, the systems or capabilities used, the output, the approval and the final action, with retention and access following AIA policy; what feedback is captured and how improvements are reviewed is agreed with risk and IT in Phase 0; periodic independent sample reviews check quality. No specific logging, memory or training architecture is committed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seed funding for Phase 1, one team and one workflow over about three months. The US$20,000-60,000 range is a preliminary planning estimate, not AIA-costed or benchmarked; it assumes an enterprise agent platform AIA already has or adopts, excludes existing staff time, and will be replaced with a scoped figure from IT and Finance in Phase 0. The main cost driver is connecting the first workflow's systems plus security, privacy and compliance review. Phases 2-3 costs scale with each capability, workflow and team connected and will be scoped from Phase 1 results. What AIA gets: by Month 4, measured evidence on effort, quality and adoption for a real workflow, with a go/no-go gate; by Month 7, a tested answer on whether another team's AI tool can be used through Riley with no new tool for employees. Close on the idea: today the employee is the connector; Riley becomes the connector.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89204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sp>
        <p:nvSpPr>
          <p:cNvPr id="4" name="TextBox 3"/>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600" b="0" i="0">
                <a:solidFill>
                  <a:srgbClr val="FFFFFF"/>
                </a:solidFill>
                <a:latin typeface="Arial"/>
              </a:rPr>
              <a:t>AIA’s AI coworker in Microsoft Teams</a:t>
            </a:r>
          </a:p>
        </p:txBody>
      </p:sp>
      <p:sp>
        <p:nvSpPr>
          <p:cNvPr id="5" name="TextBox 4"/>
          <p:cNvSpPr txBox="1"/>
          <p:nvPr/>
        </p:nvSpPr>
        <p:spPr>
          <a:xfrm>
            <a:off x="356616" y="3611880"/>
            <a:ext cx="5760720" cy="822960"/>
          </a:xfrm>
          <a:prstGeom prst="rect">
            <a:avLst/>
          </a:prstGeom>
          <a:noFill/>
        </p:spPr>
        <p:txBody>
          <a:bodyPr wrap="square" lIns="0" tIns="0" rIns="0" bIns="0" anchor="t">
            <a:noAutofit/>
          </a:bodyPr>
          <a:lstStyle/>
          <a:p>
            <a:pPr algn="l">
              <a:spcAft>
                <a:spcPts val="400"/>
              </a:spcAft>
            </a:pPr>
            <a:r>
              <a:rPr sz="2200" b="1" i="0">
                <a:solidFill>
                  <a:srgbClr val="FFFFFF"/>
                </a:solidFill>
                <a:latin typeface="Arial"/>
              </a:rPr>
              <a:t>Today, the employee is the connector.</a:t>
            </a:r>
          </a:p>
          <a:p>
            <a:pPr algn="l">
              <a:spcAft>
                <a:spcPts val="400"/>
              </a:spcAft>
            </a:pPr>
            <a:r>
              <a:rPr sz="2200" b="1" i="0">
                <a:solidFill>
                  <a:srgbClr val="FFFFFF"/>
                </a:solidFill>
                <a:latin typeface="Arial"/>
              </a:rPr>
              <a:t>Riley becomes the connector.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Who connects AIA’s AI?</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  ·  THE IDEA</a:t>
            </a:r>
          </a:p>
        </p:txBody>
      </p:sp>
      <p:sp>
        <p:nvSpPr>
          <p:cNvPr id="6" name="TextBox 5"/>
          <p:cNvSpPr txBox="1"/>
          <p:nvPr/>
        </p:nvSpPr>
        <p:spPr>
          <a:xfrm>
            <a:off x="356616" y="1042416"/>
            <a:ext cx="1051560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As AIA builds and adopts more AI, someone has to connect it to the work.</a:t>
            </a:r>
          </a:p>
        </p:txBody>
      </p:sp>
      <p:sp>
        <p:nvSpPr>
          <p:cNvPr id="7" name="Rounded Rectangle 6"/>
          <p:cNvSpPr/>
          <p:nvPr/>
        </p:nvSpPr>
        <p:spPr>
          <a:xfrm>
            <a:off x="356616" y="1627632"/>
            <a:ext cx="5577840" cy="3611880"/>
          </a:xfrm>
          <a:prstGeom prst="roundRect">
            <a:avLst>
              <a:gd name="adj" fmla="val 2531"/>
            </a:avLst>
          </a:prstGeom>
          <a:solidFill>
            <a:srgbClr val="F4F1EF"/>
          </a:solidFill>
          <a:ln>
            <a:noFill/>
          </a:ln>
        </p:spPr>
        <p:txBody>
          <a:bodyPr rtlCol="0" anchor="ctr"/>
          <a:lstStyle/>
          <a:p>
            <a:pPr algn="ctr"/>
          </a:p>
        </p:txBody>
      </p:sp>
      <p:sp>
        <p:nvSpPr>
          <p:cNvPr id="8" name="TextBox 7"/>
          <p:cNvSpPr txBox="1"/>
          <p:nvPr/>
        </p:nvSpPr>
        <p:spPr>
          <a:xfrm>
            <a:off x="630936" y="1810512"/>
            <a:ext cx="5029200"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Today, the employee is the connector</a:t>
            </a:r>
          </a:p>
        </p:txBody>
      </p:sp>
      <p:cxnSp>
        <p:nvCxnSpPr>
          <p:cNvPr id="9" name="Connector 8"/>
          <p:cNvCxnSpPr/>
          <p:nvPr/>
        </p:nvCxnSpPr>
        <p:spPr>
          <a:xfrm flipH="1">
            <a:off x="905256" y="2862072"/>
            <a:ext cx="2240280" cy="978408"/>
          </a:xfrm>
          <a:prstGeom prst="line">
            <a:avLst/>
          </a:prstGeom>
          <a:ln w="15875">
            <a:solidFill>
              <a:srgbClr val="9B928B"/>
            </a:solidFill>
          </a:ln>
        </p:spPr>
      </p:cxnSp>
      <p:cxnSp>
        <p:nvCxnSpPr>
          <p:cNvPr id="10" name="Connector 9"/>
          <p:cNvCxnSpPr/>
          <p:nvPr/>
        </p:nvCxnSpPr>
        <p:spPr>
          <a:xfrm flipH="1">
            <a:off x="1801368" y="2862072"/>
            <a:ext cx="1344168" cy="978408"/>
          </a:xfrm>
          <a:prstGeom prst="line">
            <a:avLst/>
          </a:prstGeom>
          <a:ln w="15875">
            <a:solidFill>
              <a:srgbClr val="9B928B"/>
            </a:solidFill>
          </a:ln>
        </p:spPr>
      </p:cxnSp>
      <p:cxnSp>
        <p:nvCxnSpPr>
          <p:cNvPr id="11" name="Connector 10"/>
          <p:cNvCxnSpPr/>
          <p:nvPr/>
        </p:nvCxnSpPr>
        <p:spPr>
          <a:xfrm flipH="1">
            <a:off x="2697480" y="2862072"/>
            <a:ext cx="448056" cy="978408"/>
          </a:xfrm>
          <a:prstGeom prst="line">
            <a:avLst/>
          </a:prstGeom>
          <a:ln w="15875">
            <a:solidFill>
              <a:srgbClr val="9B928B"/>
            </a:solidFill>
          </a:ln>
        </p:spPr>
      </p:cxnSp>
      <p:cxnSp>
        <p:nvCxnSpPr>
          <p:cNvPr id="12" name="Connector 11"/>
          <p:cNvCxnSpPr/>
          <p:nvPr/>
        </p:nvCxnSpPr>
        <p:spPr>
          <a:xfrm>
            <a:off x="3145536" y="2862072"/>
            <a:ext cx="448056" cy="978408"/>
          </a:xfrm>
          <a:prstGeom prst="line">
            <a:avLst/>
          </a:prstGeom>
          <a:ln w="15875">
            <a:solidFill>
              <a:srgbClr val="9B928B"/>
            </a:solidFill>
          </a:ln>
        </p:spPr>
      </p:cxnSp>
      <p:cxnSp>
        <p:nvCxnSpPr>
          <p:cNvPr id="13" name="Connector 12"/>
          <p:cNvCxnSpPr/>
          <p:nvPr/>
        </p:nvCxnSpPr>
        <p:spPr>
          <a:xfrm>
            <a:off x="3145536" y="2862072"/>
            <a:ext cx="1344168" cy="978408"/>
          </a:xfrm>
          <a:prstGeom prst="line">
            <a:avLst/>
          </a:prstGeom>
          <a:ln w="15875">
            <a:solidFill>
              <a:srgbClr val="9B928B"/>
            </a:solidFill>
          </a:ln>
        </p:spPr>
      </p:cxnSp>
      <p:cxnSp>
        <p:nvCxnSpPr>
          <p:cNvPr id="14" name="Connector 13"/>
          <p:cNvCxnSpPr/>
          <p:nvPr/>
        </p:nvCxnSpPr>
        <p:spPr>
          <a:xfrm>
            <a:off x="3145536" y="2862072"/>
            <a:ext cx="2240280" cy="978408"/>
          </a:xfrm>
          <a:prstGeom prst="line">
            <a:avLst/>
          </a:prstGeom>
          <a:ln w="15875">
            <a:solidFill>
              <a:srgbClr val="9B928B"/>
            </a:solidFill>
          </a:ln>
        </p:spPr>
      </p:cxnSp>
      <p:sp>
        <p:nvSpPr>
          <p:cNvPr id="15" name="TextBox 14"/>
          <p:cNvSpPr txBox="1"/>
          <p:nvPr/>
        </p:nvSpPr>
        <p:spPr>
          <a:xfrm>
            <a:off x="3557016" y="2450592"/>
            <a:ext cx="2194560" cy="274320"/>
          </a:xfrm>
          <a:prstGeom prst="rect">
            <a:avLst/>
          </a:prstGeom>
          <a:noFill/>
        </p:spPr>
        <p:txBody>
          <a:bodyPr wrap="square" lIns="0" tIns="0" rIns="0" bIns="0" anchor="t">
            <a:noAutofit/>
          </a:bodyPr>
          <a:lstStyle/>
          <a:p>
            <a:pPr algn="l">
              <a:spcAft>
                <a:spcPts val="0"/>
              </a:spcAft>
            </a:pPr>
            <a:r>
              <a:rPr sz="1250" b="0" i="1">
                <a:solidFill>
                  <a:srgbClr val="D31145"/>
                </a:solidFill>
                <a:latin typeface="Arial"/>
              </a:rPr>
              <a:t>find · learn · switch · combine</a:t>
            </a:r>
          </a:p>
        </p:txBody>
      </p:sp>
      <p:sp>
        <p:nvSpPr>
          <p:cNvPr id="16" name="Oval 15"/>
          <p:cNvSpPr/>
          <p:nvPr/>
        </p:nvSpPr>
        <p:spPr>
          <a:xfrm>
            <a:off x="2871216" y="2313432"/>
            <a:ext cx="548640" cy="548640"/>
          </a:xfrm>
          <a:prstGeom prst="ellipse">
            <a:avLst/>
          </a:prstGeom>
          <a:solidFill>
            <a:srgbClr val="333D47"/>
          </a:solidFill>
          <a:ln>
            <a:noFill/>
          </a:ln>
        </p:spPr>
        <p:txBody>
          <a:bodyPr rtlCol="0" anchor="ctr"/>
          <a:lstStyle/>
          <a:p>
            <a:pPr algn="ctr"/>
          </a:p>
        </p:txBody>
      </p:sp>
      <p:pic>
        <p:nvPicPr>
          <p:cNvPr id="17" name="Picture 16" descr="LuUser_w.png"/>
          <p:cNvPicPr>
            <a:picLocks noChangeAspect="1"/>
          </p:cNvPicPr>
          <p:nvPr/>
        </p:nvPicPr>
        <p:blipFill>
          <a:blip r:embed="rId3"/>
          <a:stretch>
            <a:fillRect/>
          </a:stretch>
        </p:blipFill>
        <p:spPr>
          <a:xfrm>
            <a:off x="2997403" y="2439619"/>
            <a:ext cx="296266" cy="296266"/>
          </a:xfrm>
          <a:prstGeom prst="rect">
            <a:avLst/>
          </a:prstGeom>
        </p:spPr>
      </p:pic>
      <p:sp>
        <p:nvSpPr>
          <p:cNvPr id="18" name="Rounded Rectangle 17"/>
          <p:cNvSpPr/>
          <p:nvPr/>
        </p:nvSpPr>
        <p:spPr>
          <a:xfrm>
            <a:off x="493776"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19" name="Picture 18" descr="LuBrainCircuit_c.png"/>
          <p:cNvPicPr>
            <a:picLocks noChangeAspect="1"/>
          </p:cNvPicPr>
          <p:nvPr/>
        </p:nvPicPr>
        <p:blipFill>
          <a:blip r:embed="rId4"/>
          <a:stretch>
            <a:fillRect/>
          </a:stretch>
        </p:blipFill>
        <p:spPr>
          <a:xfrm>
            <a:off x="758952" y="3931920"/>
            <a:ext cx="292608" cy="292608"/>
          </a:xfrm>
          <a:prstGeom prst="rect">
            <a:avLst/>
          </a:prstGeom>
        </p:spPr>
      </p:pic>
      <p:sp>
        <p:nvSpPr>
          <p:cNvPr id="20" name="TextBox 19"/>
          <p:cNvSpPr txBox="1"/>
          <p:nvPr/>
        </p:nvSpPr>
        <p:spPr>
          <a:xfrm>
            <a:off x="49377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A</a:t>
            </a:r>
          </a:p>
        </p:txBody>
      </p:sp>
      <p:sp>
        <p:nvSpPr>
          <p:cNvPr id="21" name="Rounded Rectangle 20"/>
          <p:cNvSpPr/>
          <p:nvPr/>
        </p:nvSpPr>
        <p:spPr>
          <a:xfrm>
            <a:off x="1389888"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2" name="Picture 21" descr="LuBrainCircuit_c.png"/>
          <p:cNvPicPr>
            <a:picLocks noChangeAspect="1"/>
          </p:cNvPicPr>
          <p:nvPr/>
        </p:nvPicPr>
        <p:blipFill>
          <a:blip r:embed="rId4"/>
          <a:stretch>
            <a:fillRect/>
          </a:stretch>
        </p:blipFill>
        <p:spPr>
          <a:xfrm>
            <a:off x="1655064" y="3931920"/>
            <a:ext cx="292608" cy="292608"/>
          </a:xfrm>
          <a:prstGeom prst="rect">
            <a:avLst/>
          </a:prstGeom>
        </p:spPr>
      </p:pic>
      <p:sp>
        <p:nvSpPr>
          <p:cNvPr id="23" name="TextBox 22"/>
          <p:cNvSpPr txBox="1"/>
          <p:nvPr/>
        </p:nvSpPr>
        <p:spPr>
          <a:xfrm>
            <a:off x="1389888"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B</a:t>
            </a:r>
          </a:p>
        </p:txBody>
      </p:sp>
      <p:sp>
        <p:nvSpPr>
          <p:cNvPr id="24" name="Rounded Rectangle 23"/>
          <p:cNvSpPr/>
          <p:nvPr/>
        </p:nvSpPr>
        <p:spPr>
          <a:xfrm>
            <a:off x="2286000"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5" name="Picture 24" descr="LuBrainCircuit_c.png"/>
          <p:cNvPicPr>
            <a:picLocks noChangeAspect="1"/>
          </p:cNvPicPr>
          <p:nvPr/>
        </p:nvPicPr>
        <p:blipFill>
          <a:blip r:embed="rId4"/>
          <a:stretch>
            <a:fillRect/>
          </a:stretch>
        </p:blipFill>
        <p:spPr>
          <a:xfrm>
            <a:off x="2551176" y="3931920"/>
            <a:ext cx="292608" cy="292608"/>
          </a:xfrm>
          <a:prstGeom prst="rect">
            <a:avLst/>
          </a:prstGeom>
        </p:spPr>
      </p:pic>
      <p:sp>
        <p:nvSpPr>
          <p:cNvPr id="26" name="TextBox 25"/>
          <p:cNvSpPr txBox="1"/>
          <p:nvPr/>
        </p:nvSpPr>
        <p:spPr>
          <a:xfrm>
            <a:off x="2286000"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C</a:t>
            </a:r>
          </a:p>
        </p:txBody>
      </p:sp>
      <p:sp>
        <p:nvSpPr>
          <p:cNvPr id="27" name="Rounded Rectangle 26"/>
          <p:cNvSpPr/>
          <p:nvPr/>
        </p:nvSpPr>
        <p:spPr>
          <a:xfrm>
            <a:off x="3182112"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8" name="Picture 27" descr="LuServer_c.png"/>
          <p:cNvPicPr>
            <a:picLocks noChangeAspect="1"/>
          </p:cNvPicPr>
          <p:nvPr/>
        </p:nvPicPr>
        <p:blipFill>
          <a:blip r:embed="rId5"/>
          <a:stretch>
            <a:fillRect/>
          </a:stretch>
        </p:blipFill>
        <p:spPr>
          <a:xfrm>
            <a:off x="3447288" y="3931920"/>
            <a:ext cx="292608" cy="292608"/>
          </a:xfrm>
          <a:prstGeom prst="rect">
            <a:avLst/>
          </a:prstGeom>
        </p:spPr>
      </p:pic>
      <p:sp>
        <p:nvSpPr>
          <p:cNvPr id="29" name="TextBox 28"/>
          <p:cNvSpPr txBox="1"/>
          <p:nvPr/>
        </p:nvSpPr>
        <p:spPr>
          <a:xfrm>
            <a:off x="3182112"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Core</a:t>
            </a:r>
          </a:p>
          <a:p>
            <a:pPr algn="ctr">
              <a:lnSpc>
                <a:spcPct val="90000"/>
              </a:lnSpc>
              <a:spcAft>
                <a:spcPts val="0"/>
              </a:spcAft>
            </a:pPr>
            <a:r>
              <a:rPr sz="1100" b="0" i="0">
                <a:solidFill>
                  <a:srgbClr val="333D47"/>
                </a:solidFill>
                <a:latin typeface="Arial"/>
              </a:rPr>
              <a:t>systems</a:t>
            </a:r>
          </a:p>
        </p:txBody>
      </p:sp>
      <p:sp>
        <p:nvSpPr>
          <p:cNvPr id="30" name="Rounded Rectangle 29"/>
          <p:cNvSpPr/>
          <p:nvPr/>
        </p:nvSpPr>
        <p:spPr>
          <a:xfrm>
            <a:off x="4078224"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1" name="Picture 30" descr="LuFileText_c.png"/>
          <p:cNvPicPr>
            <a:picLocks noChangeAspect="1"/>
          </p:cNvPicPr>
          <p:nvPr/>
        </p:nvPicPr>
        <p:blipFill>
          <a:blip r:embed="rId6"/>
          <a:stretch>
            <a:fillRect/>
          </a:stretch>
        </p:blipFill>
        <p:spPr>
          <a:xfrm>
            <a:off x="4343400" y="3931920"/>
            <a:ext cx="292608" cy="292608"/>
          </a:xfrm>
          <a:prstGeom prst="rect">
            <a:avLst/>
          </a:prstGeom>
        </p:spPr>
      </p:pic>
      <p:sp>
        <p:nvSpPr>
          <p:cNvPr id="32" name="TextBox 31"/>
          <p:cNvSpPr txBox="1"/>
          <p:nvPr/>
        </p:nvSpPr>
        <p:spPr>
          <a:xfrm>
            <a:off x="4078224"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Data &amp;</a:t>
            </a:r>
          </a:p>
          <a:p>
            <a:pPr algn="ctr">
              <a:lnSpc>
                <a:spcPct val="90000"/>
              </a:lnSpc>
              <a:spcAft>
                <a:spcPts val="0"/>
              </a:spcAft>
            </a:pPr>
            <a:r>
              <a:rPr sz="1100" b="0" i="0">
                <a:solidFill>
                  <a:srgbClr val="333D47"/>
                </a:solidFill>
                <a:latin typeface="Arial"/>
              </a:rPr>
              <a:t>documents</a:t>
            </a:r>
          </a:p>
        </p:txBody>
      </p:sp>
      <p:sp>
        <p:nvSpPr>
          <p:cNvPr id="33" name="Rounded Rectangle 32"/>
          <p:cNvSpPr/>
          <p:nvPr/>
        </p:nvSpPr>
        <p:spPr>
          <a:xfrm>
            <a:off x="4974336"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4" name="Picture 33" descr="LuUsers_c.png"/>
          <p:cNvPicPr>
            <a:picLocks noChangeAspect="1"/>
          </p:cNvPicPr>
          <p:nvPr/>
        </p:nvPicPr>
        <p:blipFill>
          <a:blip r:embed="rId7"/>
          <a:stretch>
            <a:fillRect/>
          </a:stretch>
        </p:blipFill>
        <p:spPr>
          <a:xfrm>
            <a:off x="5239512" y="3931920"/>
            <a:ext cx="292608" cy="292608"/>
          </a:xfrm>
          <a:prstGeom prst="rect">
            <a:avLst/>
          </a:prstGeom>
        </p:spPr>
      </p:pic>
      <p:sp>
        <p:nvSpPr>
          <p:cNvPr id="35" name="TextBox 34"/>
          <p:cNvSpPr txBox="1"/>
          <p:nvPr/>
        </p:nvSpPr>
        <p:spPr>
          <a:xfrm>
            <a:off x="497433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Colleagues</a:t>
            </a:r>
          </a:p>
        </p:txBody>
      </p:sp>
      <p:sp>
        <p:nvSpPr>
          <p:cNvPr id="36" name="TextBox 35"/>
          <p:cNvSpPr txBox="1"/>
          <p:nvPr/>
        </p:nvSpPr>
        <p:spPr>
          <a:xfrm>
            <a:off x="630936" y="4764024"/>
            <a:ext cx="5029200" cy="32004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Every new tool is one more to find, learn and fit into the work.</a:t>
            </a:r>
          </a:p>
        </p:txBody>
      </p:sp>
      <p:sp>
        <p:nvSpPr>
          <p:cNvPr id="37" name="Rounded Rectangle 36"/>
          <p:cNvSpPr/>
          <p:nvPr/>
        </p:nvSpPr>
        <p:spPr>
          <a:xfrm>
            <a:off x="6254496" y="1627632"/>
            <a:ext cx="5577840" cy="3611880"/>
          </a:xfrm>
          <a:prstGeom prst="roundRect">
            <a:avLst>
              <a:gd name="adj" fmla="val 2531"/>
            </a:avLst>
          </a:prstGeom>
          <a:solidFill>
            <a:srgbClr val="FBE8ED"/>
          </a:solidFill>
          <a:ln>
            <a:noFill/>
          </a:ln>
        </p:spPr>
        <p:txBody>
          <a:bodyPr rtlCol="0" anchor="ctr"/>
          <a:lstStyle/>
          <a:p>
            <a:pPr algn="ctr"/>
          </a:p>
        </p:txBody>
      </p:sp>
      <p:sp>
        <p:nvSpPr>
          <p:cNvPr id="38" name="TextBox 37"/>
          <p:cNvSpPr txBox="1"/>
          <p:nvPr/>
        </p:nvSpPr>
        <p:spPr>
          <a:xfrm>
            <a:off x="6528816" y="1810512"/>
            <a:ext cx="5029200" cy="365760"/>
          </a:xfrm>
          <a:prstGeom prst="rect">
            <a:avLst/>
          </a:prstGeom>
          <a:noFill/>
        </p:spPr>
        <p:txBody>
          <a:bodyPr wrap="square" lIns="0" tIns="0" rIns="0" bIns="0" anchor="t">
            <a:noAutofit/>
          </a:bodyPr>
          <a:lstStyle/>
          <a:p>
            <a:pPr algn="l">
              <a:spcAft>
                <a:spcPts val="0"/>
              </a:spcAft>
            </a:pPr>
            <a:r>
              <a:rPr sz="1900" b="1" i="0">
                <a:solidFill>
                  <a:srgbClr val="D31145"/>
                </a:solidFill>
                <a:latin typeface="Arial"/>
              </a:rPr>
              <a:t>Riley becomes the connector</a:t>
            </a:r>
          </a:p>
        </p:txBody>
      </p:sp>
      <p:cxnSp>
        <p:nvCxnSpPr>
          <p:cNvPr id="39" name="Connector 38"/>
          <p:cNvCxnSpPr/>
          <p:nvPr/>
        </p:nvCxnSpPr>
        <p:spPr>
          <a:xfrm>
            <a:off x="9043416" y="2862072"/>
            <a:ext cx="0" cy="338328"/>
          </a:xfrm>
          <a:prstGeom prst="line">
            <a:avLst/>
          </a:prstGeom>
          <a:ln w="28575">
            <a:solidFill>
              <a:srgbClr val="D31145"/>
            </a:solidFill>
          </a:ln>
        </p:spPr>
      </p:cxnSp>
      <p:sp>
        <p:nvSpPr>
          <p:cNvPr id="40" name="TextBox 39"/>
          <p:cNvSpPr txBox="1"/>
          <p:nvPr/>
        </p:nvSpPr>
        <p:spPr>
          <a:xfrm>
            <a:off x="9180576" y="2916936"/>
            <a:ext cx="2194560" cy="274320"/>
          </a:xfrm>
          <a:prstGeom prst="rect">
            <a:avLst/>
          </a:prstGeom>
          <a:noFill/>
        </p:spPr>
        <p:txBody>
          <a:bodyPr wrap="square" lIns="0" tIns="0" rIns="0" bIns="0" anchor="t">
            <a:noAutofit/>
          </a:bodyPr>
          <a:lstStyle/>
          <a:p>
            <a:pPr algn="l">
              <a:spcAft>
                <a:spcPts val="0"/>
              </a:spcAft>
            </a:pPr>
            <a:r>
              <a:rPr sz="1250" b="0" i="1">
                <a:solidFill>
                  <a:srgbClr val="D31145"/>
                </a:solidFill>
                <a:latin typeface="Arial"/>
              </a:rPr>
              <a:t>one conversation</a:t>
            </a:r>
          </a:p>
        </p:txBody>
      </p:sp>
      <p:cxnSp>
        <p:nvCxnSpPr>
          <p:cNvPr id="41" name="Connector 40"/>
          <p:cNvCxnSpPr/>
          <p:nvPr/>
        </p:nvCxnSpPr>
        <p:spPr>
          <a:xfrm>
            <a:off x="6803136" y="3602736"/>
            <a:ext cx="0" cy="237744"/>
          </a:xfrm>
          <a:prstGeom prst="line">
            <a:avLst/>
          </a:prstGeom>
          <a:ln w="15875">
            <a:solidFill>
              <a:srgbClr val="D31145"/>
            </a:solidFill>
          </a:ln>
        </p:spPr>
      </p:cxnSp>
      <p:cxnSp>
        <p:nvCxnSpPr>
          <p:cNvPr id="42" name="Connector 41"/>
          <p:cNvCxnSpPr/>
          <p:nvPr/>
        </p:nvCxnSpPr>
        <p:spPr>
          <a:xfrm>
            <a:off x="7699248" y="3602736"/>
            <a:ext cx="0" cy="237744"/>
          </a:xfrm>
          <a:prstGeom prst="line">
            <a:avLst/>
          </a:prstGeom>
          <a:ln w="15875">
            <a:solidFill>
              <a:srgbClr val="D31145"/>
            </a:solidFill>
          </a:ln>
        </p:spPr>
      </p:cxnSp>
      <p:cxnSp>
        <p:nvCxnSpPr>
          <p:cNvPr id="43" name="Connector 42"/>
          <p:cNvCxnSpPr/>
          <p:nvPr/>
        </p:nvCxnSpPr>
        <p:spPr>
          <a:xfrm>
            <a:off x="8595360" y="3602736"/>
            <a:ext cx="0" cy="237744"/>
          </a:xfrm>
          <a:prstGeom prst="line">
            <a:avLst/>
          </a:prstGeom>
          <a:ln w="15875">
            <a:solidFill>
              <a:srgbClr val="D31145"/>
            </a:solidFill>
          </a:ln>
        </p:spPr>
      </p:cxnSp>
      <p:cxnSp>
        <p:nvCxnSpPr>
          <p:cNvPr id="44" name="Connector 43"/>
          <p:cNvCxnSpPr/>
          <p:nvPr/>
        </p:nvCxnSpPr>
        <p:spPr>
          <a:xfrm>
            <a:off x="9491472" y="3602736"/>
            <a:ext cx="0" cy="237744"/>
          </a:xfrm>
          <a:prstGeom prst="line">
            <a:avLst/>
          </a:prstGeom>
          <a:ln w="15875">
            <a:solidFill>
              <a:srgbClr val="D31145"/>
            </a:solidFill>
          </a:ln>
        </p:spPr>
      </p:cxnSp>
      <p:cxnSp>
        <p:nvCxnSpPr>
          <p:cNvPr id="45" name="Connector 44"/>
          <p:cNvCxnSpPr/>
          <p:nvPr/>
        </p:nvCxnSpPr>
        <p:spPr>
          <a:xfrm>
            <a:off x="10387584" y="3602736"/>
            <a:ext cx="0" cy="237744"/>
          </a:xfrm>
          <a:prstGeom prst="line">
            <a:avLst/>
          </a:prstGeom>
          <a:ln w="15875">
            <a:solidFill>
              <a:srgbClr val="D31145"/>
            </a:solidFill>
          </a:ln>
        </p:spPr>
      </p:cxnSp>
      <p:cxnSp>
        <p:nvCxnSpPr>
          <p:cNvPr id="46" name="Connector 45"/>
          <p:cNvCxnSpPr/>
          <p:nvPr/>
        </p:nvCxnSpPr>
        <p:spPr>
          <a:xfrm>
            <a:off x="11283696" y="3602736"/>
            <a:ext cx="0" cy="237744"/>
          </a:xfrm>
          <a:prstGeom prst="line">
            <a:avLst/>
          </a:prstGeom>
          <a:ln w="15875">
            <a:solidFill>
              <a:srgbClr val="D31145"/>
            </a:solidFill>
          </a:ln>
        </p:spPr>
      </p:cxnSp>
      <p:sp>
        <p:nvSpPr>
          <p:cNvPr id="47" name="Rounded Rectangle 46"/>
          <p:cNvSpPr/>
          <p:nvPr/>
        </p:nvSpPr>
        <p:spPr>
          <a:xfrm>
            <a:off x="6391656" y="3200400"/>
            <a:ext cx="5303520" cy="402336"/>
          </a:xfrm>
          <a:prstGeom prst="roundRect">
            <a:avLst>
              <a:gd name="adj" fmla="val 18181"/>
            </a:avLst>
          </a:prstGeom>
          <a:solidFill>
            <a:srgbClr val="D31145"/>
          </a:solidFill>
          <a:ln>
            <a:noFill/>
          </a:ln>
        </p:spPr>
        <p:txBody>
          <a:bodyPr rtlCol="0" anchor="ctr" wrap="square" lIns="54864" tIns="54864" rIns="54864" bIns="54864">
            <a:noAutofit/>
          </a:bodyPr>
          <a:lstStyle/>
          <a:p>
            <a:pPr algn="ctr">
              <a:spcAft>
                <a:spcPts val="0"/>
              </a:spcAft>
            </a:pPr>
            <a:r>
              <a:rPr sz="1600" b="1" i="0">
                <a:solidFill>
                  <a:srgbClr val="FFFFFF"/>
                </a:solidFill>
                <a:latin typeface="Arial"/>
              </a:rPr>
              <a:t>Riley</a:t>
            </a:r>
          </a:p>
        </p:txBody>
      </p:sp>
      <p:sp>
        <p:nvSpPr>
          <p:cNvPr id="48" name="Oval 47"/>
          <p:cNvSpPr/>
          <p:nvPr/>
        </p:nvSpPr>
        <p:spPr>
          <a:xfrm>
            <a:off x="8769096" y="2313432"/>
            <a:ext cx="548640" cy="548640"/>
          </a:xfrm>
          <a:prstGeom prst="ellipse">
            <a:avLst/>
          </a:prstGeom>
          <a:solidFill>
            <a:srgbClr val="D31145"/>
          </a:solidFill>
          <a:ln>
            <a:noFill/>
          </a:ln>
        </p:spPr>
        <p:txBody>
          <a:bodyPr rtlCol="0" anchor="ctr"/>
          <a:lstStyle/>
          <a:p>
            <a:pPr algn="ctr"/>
          </a:p>
        </p:txBody>
      </p:sp>
      <p:pic>
        <p:nvPicPr>
          <p:cNvPr id="49" name="Picture 48" descr="LuUser_w.png"/>
          <p:cNvPicPr>
            <a:picLocks noChangeAspect="1"/>
          </p:cNvPicPr>
          <p:nvPr/>
        </p:nvPicPr>
        <p:blipFill>
          <a:blip r:embed="rId3"/>
          <a:stretch>
            <a:fillRect/>
          </a:stretch>
        </p:blipFill>
        <p:spPr>
          <a:xfrm>
            <a:off x="8895283" y="2439619"/>
            <a:ext cx="296266" cy="296266"/>
          </a:xfrm>
          <a:prstGeom prst="rect">
            <a:avLst/>
          </a:prstGeom>
        </p:spPr>
      </p:pic>
      <p:sp>
        <p:nvSpPr>
          <p:cNvPr id="50" name="Rounded Rectangle 49"/>
          <p:cNvSpPr/>
          <p:nvPr/>
        </p:nvSpPr>
        <p:spPr>
          <a:xfrm>
            <a:off x="6391656"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1" name="Picture 50" descr="LuBrainCircuit_r.png"/>
          <p:cNvPicPr>
            <a:picLocks noChangeAspect="1"/>
          </p:cNvPicPr>
          <p:nvPr/>
        </p:nvPicPr>
        <p:blipFill>
          <a:blip r:embed="rId8"/>
          <a:stretch>
            <a:fillRect/>
          </a:stretch>
        </p:blipFill>
        <p:spPr>
          <a:xfrm>
            <a:off x="6656832" y="3931920"/>
            <a:ext cx="292608" cy="292608"/>
          </a:xfrm>
          <a:prstGeom prst="rect">
            <a:avLst/>
          </a:prstGeom>
        </p:spPr>
      </p:pic>
      <p:sp>
        <p:nvSpPr>
          <p:cNvPr id="52" name="TextBox 51"/>
          <p:cNvSpPr txBox="1"/>
          <p:nvPr/>
        </p:nvSpPr>
        <p:spPr>
          <a:xfrm>
            <a:off x="639165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A</a:t>
            </a:r>
          </a:p>
        </p:txBody>
      </p:sp>
      <p:sp>
        <p:nvSpPr>
          <p:cNvPr id="53" name="Rounded Rectangle 52"/>
          <p:cNvSpPr/>
          <p:nvPr/>
        </p:nvSpPr>
        <p:spPr>
          <a:xfrm>
            <a:off x="7287768"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4" name="Picture 53" descr="LuBrainCircuit_r.png"/>
          <p:cNvPicPr>
            <a:picLocks noChangeAspect="1"/>
          </p:cNvPicPr>
          <p:nvPr/>
        </p:nvPicPr>
        <p:blipFill>
          <a:blip r:embed="rId8"/>
          <a:stretch>
            <a:fillRect/>
          </a:stretch>
        </p:blipFill>
        <p:spPr>
          <a:xfrm>
            <a:off x="7552944" y="3931920"/>
            <a:ext cx="292608" cy="292608"/>
          </a:xfrm>
          <a:prstGeom prst="rect">
            <a:avLst/>
          </a:prstGeom>
        </p:spPr>
      </p:pic>
      <p:sp>
        <p:nvSpPr>
          <p:cNvPr id="55" name="TextBox 54"/>
          <p:cNvSpPr txBox="1"/>
          <p:nvPr/>
        </p:nvSpPr>
        <p:spPr>
          <a:xfrm>
            <a:off x="7287768"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B</a:t>
            </a:r>
          </a:p>
        </p:txBody>
      </p:sp>
      <p:sp>
        <p:nvSpPr>
          <p:cNvPr id="56" name="Rounded Rectangle 55"/>
          <p:cNvSpPr/>
          <p:nvPr/>
        </p:nvSpPr>
        <p:spPr>
          <a:xfrm>
            <a:off x="8183880"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7" name="Picture 56" descr="LuBrainCircuit_r.png"/>
          <p:cNvPicPr>
            <a:picLocks noChangeAspect="1"/>
          </p:cNvPicPr>
          <p:nvPr/>
        </p:nvPicPr>
        <p:blipFill>
          <a:blip r:embed="rId8"/>
          <a:stretch>
            <a:fillRect/>
          </a:stretch>
        </p:blipFill>
        <p:spPr>
          <a:xfrm>
            <a:off x="8449056" y="3931920"/>
            <a:ext cx="292608" cy="292608"/>
          </a:xfrm>
          <a:prstGeom prst="rect">
            <a:avLst/>
          </a:prstGeom>
        </p:spPr>
      </p:pic>
      <p:sp>
        <p:nvSpPr>
          <p:cNvPr id="58" name="TextBox 57"/>
          <p:cNvSpPr txBox="1"/>
          <p:nvPr/>
        </p:nvSpPr>
        <p:spPr>
          <a:xfrm>
            <a:off x="8183880"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C</a:t>
            </a:r>
          </a:p>
        </p:txBody>
      </p:sp>
      <p:sp>
        <p:nvSpPr>
          <p:cNvPr id="59" name="Rounded Rectangle 58"/>
          <p:cNvSpPr/>
          <p:nvPr/>
        </p:nvSpPr>
        <p:spPr>
          <a:xfrm>
            <a:off x="9079992"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0" name="Picture 59" descr="LuServer_r.png"/>
          <p:cNvPicPr>
            <a:picLocks noChangeAspect="1"/>
          </p:cNvPicPr>
          <p:nvPr/>
        </p:nvPicPr>
        <p:blipFill>
          <a:blip r:embed="rId9"/>
          <a:stretch>
            <a:fillRect/>
          </a:stretch>
        </p:blipFill>
        <p:spPr>
          <a:xfrm>
            <a:off x="9345168" y="3931920"/>
            <a:ext cx="292608" cy="292608"/>
          </a:xfrm>
          <a:prstGeom prst="rect">
            <a:avLst/>
          </a:prstGeom>
        </p:spPr>
      </p:pic>
      <p:sp>
        <p:nvSpPr>
          <p:cNvPr id="61" name="TextBox 60"/>
          <p:cNvSpPr txBox="1"/>
          <p:nvPr/>
        </p:nvSpPr>
        <p:spPr>
          <a:xfrm>
            <a:off x="9079992"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Core</a:t>
            </a:r>
          </a:p>
          <a:p>
            <a:pPr algn="ctr">
              <a:lnSpc>
                <a:spcPct val="90000"/>
              </a:lnSpc>
              <a:spcAft>
                <a:spcPts val="0"/>
              </a:spcAft>
            </a:pPr>
            <a:r>
              <a:rPr sz="1100" b="0" i="0">
                <a:solidFill>
                  <a:srgbClr val="333D47"/>
                </a:solidFill>
                <a:latin typeface="Arial"/>
              </a:rPr>
              <a:t>systems</a:t>
            </a:r>
          </a:p>
        </p:txBody>
      </p:sp>
      <p:sp>
        <p:nvSpPr>
          <p:cNvPr id="62" name="Rounded Rectangle 61"/>
          <p:cNvSpPr/>
          <p:nvPr/>
        </p:nvSpPr>
        <p:spPr>
          <a:xfrm>
            <a:off x="9976104"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3" name="Picture 62" descr="LuFileText_r.png"/>
          <p:cNvPicPr>
            <a:picLocks noChangeAspect="1"/>
          </p:cNvPicPr>
          <p:nvPr/>
        </p:nvPicPr>
        <p:blipFill>
          <a:blip r:embed="rId10"/>
          <a:stretch>
            <a:fillRect/>
          </a:stretch>
        </p:blipFill>
        <p:spPr>
          <a:xfrm>
            <a:off x="10241280" y="3931920"/>
            <a:ext cx="292608" cy="292608"/>
          </a:xfrm>
          <a:prstGeom prst="rect">
            <a:avLst/>
          </a:prstGeom>
        </p:spPr>
      </p:pic>
      <p:sp>
        <p:nvSpPr>
          <p:cNvPr id="64" name="TextBox 63"/>
          <p:cNvSpPr txBox="1"/>
          <p:nvPr/>
        </p:nvSpPr>
        <p:spPr>
          <a:xfrm>
            <a:off x="9976104"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Data &amp;</a:t>
            </a:r>
          </a:p>
          <a:p>
            <a:pPr algn="ctr">
              <a:lnSpc>
                <a:spcPct val="90000"/>
              </a:lnSpc>
              <a:spcAft>
                <a:spcPts val="0"/>
              </a:spcAft>
            </a:pPr>
            <a:r>
              <a:rPr sz="1100" b="0" i="0">
                <a:solidFill>
                  <a:srgbClr val="333D47"/>
                </a:solidFill>
                <a:latin typeface="Arial"/>
              </a:rPr>
              <a:t>documents</a:t>
            </a:r>
          </a:p>
        </p:txBody>
      </p:sp>
      <p:sp>
        <p:nvSpPr>
          <p:cNvPr id="65" name="Rounded Rectangle 64"/>
          <p:cNvSpPr/>
          <p:nvPr/>
        </p:nvSpPr>
        <p:spPr>
          <a:xfrm>
            <a:off x="10872216"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6" name="Picture 65" descr="LuUsers_r.png"/>
          <p:cNvPicPr>
            <a:picLocks noChangeAspect="1"/>
          </p:cNvPicPr>
          <p:nvPr/>
        </p:nvPicPr>
        <p:blipFill>
          <a:blip r:embed="rId11"/>
          <a:stretch>
            <a:fillRect/>
          </a:stretch>
        </p:blipFill>
        <p:spPr>
          <a:xfrm>
            <a:off x="11137392" y="3931920"/>
            <a:ext cx="292608" cy="292608"/>
          </a:xfrm>
          <a:prstGeom prst="rect">
            <a:avLst/>
          </a:prstGeom>
        </p:spPr>
      </p:pic>
      <p:sp>
        <p:nvSpPr>
          <p:cNvPr id="67" name="TextBox 66"/>
          <p:cNvSpPr txBox="1"/>
          <p:nvPr/>
        </p:nvSpPr>
        <p:spPr>
          <a:xfrm>
            <a:off x="1087221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Colleagues</a:t>
            </a:r>
          </a:p>
        </p:txBody>
      </p:sp>
      <p:sp>
        <p:nvSpPr>
          <p:cNvPr id="68" name="TextBox 67"/>
          <p:cNvSpPr txBox="1"/>
          <p:nvPr/>
        </p:nvSpPr>
        <p:spPr>
          <a:xfrm>
            <a:off x="6528816" y="4764024"/>
            <a:ext cx="5029200" cy="320040"/>
          </a:xfrm>
          <a:prstGeom prst="rect">
            <a:avLst/>
          </a:prstGeom>
          <a:noFill/>
        </p:spPr>
        <p:txBody>
          <a:bodyPr wrap="square" lIns="0" tIns="0" rIns="0" bIns="0" anchor="t">
            <a:noAutofit/>
          </a:bodyPr>
          <a:lstStyle/>
          <a:p>
            <a:pPr algn="l">
              <a:spcAft>
                <a:spcPts val="0"/>
              </a:spcAft>
            </a:pPr>
            <a:r>
              <a:rPr sz="1350" b="1" i="0">
                <a:solidFill>
                  <a:srgbClr val="333D47"/>
                </a:solidFill>
                <a:latin typeface="Arial"/>
              </a:rPr>
              <a:t>Ask once. Riley connects. The employee approves.</a:t>
            </a:r>
          </a:p>
        </p:txBody>
      </p:sp>
      <p:sp>
        <p:nvSpPr>
          <p:cNvPr id="69" name="Rounded Rectangle 68"/>
          <p:cNvSpPr/>
          <p:nvPr/>
        </p:nvSpPr>
        <p:spPr>
          <a:xfrm>
            <a:off x="356616" y="5440680"/>
            <a:ext cx="13258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OBSERVATION</a:t>
            </a:r>
          </a:p>
        </p:txBody>
      </p:sp>
      <p:sp>
        <p:nvSpPr>
          <p:cNvPr id="70" name="TextBox 69"/>
          <p:cNvSpPr txBox="1"/>
          <p:nvPr/>
        </p:nvSpPr>
        <p:spPr>
          <a:xfrm>
            <a:off x="1810512" y="5422392"/>
            <a:ext cx="9144000" cy="329184"/>
          </a:xfrm>
          <a:prstGeom prst="rect">
            <a:avLst/>
          </a:prstGeom>
          <a:noFill/>
        </p:spPr>
        <p:txBody>
          <a:bodyPr wrap="square" lIns="0" tIns="0" rIns="0" bIns="0" anchor="ctr">
            <a:noAutofit/>
          </a:bodyPr>
          <a:lstStyle/>
          <a:p>
            <a:pPr algn="l">
              <a:spcAft>
                <a:spcPts val="0"/>
              </a:spcAft>
            </a:pPr>
            <a:r>
              <a:rPr sz="1250" b="0" i="0">
                <a:solidFill>
                  <a:srgbClr val="5F6770"/>
                </a:solidFill>
                <a:latin typeface="Arial"/>
              </a:rPr>
              <a:t>From what I observe, AIA teams are building valuable AI tools separately. Not yet measured: Phase 0 baselines it.</a:t>
            </a:r>
          </a:p>
        </p:txBody>
      </p:sp>
      <p:sp>
        <p:nvSpPr>
          <p:cNvPr id="71" name="Slide Number Placeholder"/>
          <p:cNvSpPr>
            <a:spLocks noGrp="1"/>
          </p:cNvSpPr>
          <p:nvPr>
            <p:ph type="sldNum" sz="quarter" idx="4"/>
          </p:nvPr>
        </p:nvSpPr>
        <p:spPr/>
        <p:txBody>
          <a:bodyPr/>
          <a:lstStyle/>
          <a:p>
            <a:fld id="{18A41853-EF22-D446-BDBC-A7CF3FE93503}" type="slidenum">
              <a:rPr lang="en-US"/>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Ask for the outcome. Riley does the steps. You approve.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HOW RILEY WORKS</a:t>
            </a:r>
          </a:p>
        </p:txBody>
      </p:sp>
      <p:sp>
        <p:nvSpPr>
          <p:cNvPr id="6" name="Rounded Rectangle 5"/>
          <p:cNvSpPr/>
          <p:nvPr/>
        </p:nvSpPr>
        <p:spPr>
          <a:xfrm>
            <a:off x="356616" y="1371600"/>
            <a:ext cx="6400800" cy="4023360"/>
          </a:xfrm>
          <a:prstGeom prst="roundRect">
            <a:avLst>
              <a:gd name="adj" fmla="val 2272"/>
            </a:avLst>
          </a:prstGeom>
          <a:solidFill>
            <a:srgbClr val="FFFFFF"/>
          </a:solidFill>
          <a:ln w="12700">
            <a:solidFill>
              <a:srgbClr val="DDD6D0"/>
            </a:solidFill>
          </a:ln>
        </p:spPr>
        <p:txBody>
          <a:bodyPr rtlCol="0" anchor="ctr"/>
          <a:lstStyle/>
          <a:p>
            <a:pPr algn="ctr"/>
          </a:p>
        </p:txBody>
      </p:sp>
      <p:sp>
        <p:nvSpPr>
          <p:cNvPr id="7" name="Oval 6"/>
          <p:cNvSpPr/>
          <p:nvPr/>
        </p:nvSpPr>
        <p:spPr>
          <a:xfrm>
            <a:off x="539496" y="1481328"/>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8" name="TextBox 7"/>
          <p:cNvSpPr txBox="1"/>
          <p:nvPr/>
        </p:nvSpPr>
        <p:spPr>
          <a:xfrm>
            <a:off x="950976" y="1481328"/>
            <a:ext cx="3200400" cy="310896"/>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Riley</a:t>
            </a:r>
            <a:r>
              <a:rPr sz="1100" b="0" i="0">
                <a:solidFill>
                  <a:srgbClr val="5F6770"/>
                </a:solidFill>
                <a:latin typeface="Arial"/>
              </a:rPr>
              <a:t>   AIA virtual coworker  ·  Microsoft Teams</a:t>
            </a:r>
          </a:p>
        </p:txBody>
      </p:sp>
      <p:sp>
        <p:nvSpPr>
          <p:cNvPr id="9" name="Rounded Rectangle 8"/>
          <p:cNvSpPr/>
          <p:nvPr/>
        </p:nvSpPr>
        <p:spPr>
          <a:xfrm>
            <a:off x="4517136" y="1499616"/>
            <a:ext cx="2057400" cy="274320"/>
          </a:xfrm>
          <a:prstGeom prst="roundRect">
            <a:avLst>
              <a:gd name="adj" fmla="val 50000"/>
            </a:avLst>
          </a:prstGeom>
          <a:solidFill>
            <a:srgbClr val="FBE8ED"/>
          </a:solidFill>
          <a:ln w="12700">
            <a:solidFill>
              <a:srgbClr val="FBE8ED"/>
            </a:solidFill>
          </a:ln>
        </p:spPr>
        <p:txBody>
          <a:bodyPr rtlCol="0" anchor="ctr" wrap="square" lIns="36576" tIns="36576" rIns="36576" bIns="36576">
            <a:noAutofit/>
          </a:bodyPr>
          <a:lstStyle/>
          <a:p>
            <a:pPr algn="ctr">
              <a:spcAft>
                <a:spcPts val="0"/>
              </a:spcAft>
            </a:pPr>
            <a:r>
              <a:rPr sz="950" b="1" i="0" spc="50">
                <a:solidFill>
                  <a:srgbClr val="D31145"/>
                </a:solidFill>
                <a:latin typeface="Arial"/>
              </a:rPr>
              <a:t>ILLUSTRATIVE EXAMPLE</a:t>
            </a:r>
          </a:p>
        </p:txBody>
      </p:sp>
      <p:cxnSp>
        <p:nvCxnSpPr>
          <p:cNvPr id="10" name="Connector 9"/>
          <p:cNvCxnSpPr/>
          <p:nvPr/>
        </p:nvCxnSpPr>
        <p:spPr>
          <a:xfrm>
            <a:off x="356616" y="1901952"/>
            <a:ext cx="6400800" cy="0"/>
          </a:xfrm>
          <a:prstGeom prst="line">
            <a:avLst/>
          </a:prstGeom>
          <a:ln w="9525">
            <a:solidFill>
              <a:srgbClr val="DDD6D0"/>
            </a:solidFill>
          </a:ln>
        </p:spPr>
      </p:cxnSp>
      <p:sp>
        <p:nvSpPr>
          <p:cNvPr id="11" name="Oval 10"/>
          <p:cNvSpPr/>
          <p:nvPr/>
        </p:nvSpPr>
        <p:spPr>
          <a:xfrm>
            <a:off x="512064" y="2084832"/>
            <a:ext cx="274320" cy="274320"/>
          </a:xfrm>
          <a:prstGeom prst="ellipse">
            <a:avLst/>
          </a:prstGeom>
          <a:solidFill>
            <a:srgbClr val="333D47"/>
          </a:solidFill>
          <a:ln>
            <a:noFill/>
          </a:ln>
        </p:spPr>
        <p:txBody>
          <a:bodyPr rtlCol="0" anchor="ctr" wrap="square" lIns="0" tIns="0" rIns="0" bIns="0">
            <a:noAutofit/>
          </a:bodyPr>
          <a:lstStyle/>
          <a:p>
            <a:pPr algn="ctr">
              <a:spcAft>
                <a:spcPts val="0"/>
              </a:spcAft>
            </a:pPr>
            <a:r>
              <a:rPr sz="1100" b="1" i="0">
                <a:solidFill>
                  <a:srgbClr val="FFFFFF"/>
                </a:solidFill>
                <a:latin typeface="Arial"/>
              </a:rPr>
              <a:t>1</a:t>
            </a:r>
          </a:p>
        </p:txBody>
      </p:sp>
      <p:sp>
        <p:nvSpPr>
          <p:cNvPr id="12" name="Rounded Rectangle 11"/>
          <p:cNvSpPr/>
          <p:nvPr/>
        </p:nvSpPr>
        <p:spPr>
          <a:xfrm>
            <a:off x="1225296" y="2029968"/>
            <a:ext cx="5349240" cy="932688"/>
          </a:xfrm>
          <a:prstGeom prst="roundRect">
            <a:avLst>
              <a:gd name="adj" fmla="val 9803"/>
            </a:avLst>
          </a:prstGeom>
          <a:solidFill>
            <a:srgbClr val="F4F1EF"/>
          </a:solidFill>
          <a:ln>
            <a:noFill/>
          </a:ln>
        </p:spPr>
        <p:txBody>
          <a:bodyPr rtlCol="0" anchor="ctr" wrap="square" lIns="137160" tIns="54864" rIns="137160" bIns="54864">
            <a:noAutofit/>
          </a:bodyPr>
          <a:lstStyle/>
          <a:p>
            <a:pPr algn="l">
              <a:spcAft>
                <a:spcPts val="0"/>
              </a:spcAft>
            </a:pPr>
            <a:r>
              <a:rPr sz="1250" b="0" i="1">
                <a:solidFill>
                  <a:srgbClr val="333D47"/>
                </a:solidFill>
                <a:latin typeface="Arial"/>
              </a:rPr>
              <a:t>“Review the latest customer complaints, identify the most common issues, compare them with the previous quarter, research relevant external information, prepare a management summary and draft a presentation.”</a:t>
            </a:r>
          </a:p>
        </p:txBody>
      </p:sp>
      <p:sp>
        <p:nvSpPr>
          <p:cNvPr id="13" name="Oval 12"/>
          <p:cNvSpPr/>
          <p:nvPr/>
        </p:nvSpPr>
        <p:spPr>
          <a:xfrm>
            <a:off x="512064" y="3182112"/>
            <a:ext cx="274320" cy="274320"/>
          </a:xfrm>
          <a:prstGeom prst="ellipse">
            <a:avLst/>
          </a:prstGeom>
          <a:solidFill>
            <a:srgbClr val="D31145"/>
          </a:solidFill>
          <a:ln>
            <a:noFill/>
          </a:ln>
        </p:spPr>
        <p:txBody>
          <a:bodyPr rtlCol="0" anchor="ctr" wrap="square" lIns="0" tIns="0" rIns="0" bIns="0">
            <a:noAutofit/>
          </a:bodyPr>
          <a:lstStyle/>
          <a:p>
            <a:pPr algn="ctr">
              <a:spcAft>
                <a:spcPts val="0"/>
              </a:spcAft>
            </a:pPr>
            <a:r>
              <a:rPr sz="1100" b="1" i="0">
                <a:solidFill>
                  <a:srgbClr val="FFFFFF"/>
                </a:solidFill>
                <a:latin typeface="Arial"/>
              </a:rPr>
              <a:t>2</a:t>
            </a:r>
          </a:p>
        </p:txBody>
      </p:sp>
      <p:sp>
        <p:nvSpPr>
          <p:cNvPr id="14" name="Rounded Rectangle 13"/>
          <p:cNvSpPr/>
          <p:nvPr/>
        </p:nvSpPr>
        <p:spPr>
          <a:xfrm>
            <a:off x="905256" y="3127248"/>
            <a:ext cx="5669280" cy="1627632"/>
          </a:xfrm>
          <a:prstGeom prst="roundRect">
            <a:avLst>
              <a:gd name="adj" fmla="val 5617"/>
            </a:avLst>
          </a:prstGeom>
          <a:solidFill>
            <a:srgbClr val="FBE8ED"/>
          </a:solidFill>
          <a:ln>
            <a:noFill/>
          </a:ln>
        </p:spPr>
        <p:txBody>
          <a:bodyPr rtlCol="0" anchor="ctr"/>
          <a:lstStyle/>
          <a:p>
            <a:pPr algn="ctr"/>
          </a:p>
        </p:txBody>
      </p:sp>
      <p:sp>
        <p:nvSpPr>
          <p:cNvPr id="15" name="TextBox 14"/>
          <p:cNvSpPr txBox="1"/>
          <p:nvPr/>
        </p:nvSpPr>
        <p:spPr>
          <a:xfrm>
            <a:off x="1088136" y="3218688"/>
            <a:ext cx="5303520" cy="292608"/>
          </a:xfrm>
          <a:prstGeom prst="rect">
            <a:avLst/>
          </a:prstGeom>
          <a:noFill/>
        </p:spPr>
        <p:txBody>
          <a:bodyPr wrap="square" lIns="0" tIns="0" rIns="0" bIns="0" anchor="t">
            <a:noAutofit/>
          </a:bodyPr>
          <a:lstStyle/>
          <a:p>
            <a:pPr algn="l">
              <a:spcAft>
                <a:spcPts val="0"/>
              </a:spcAft>
            </a:pPr>
            <a:r>
              <a:rPr sz="1250" b="1" i="0">
                <a:solidFill>
                  <a:srgbClr val="333D47"/>
                </a:solidFill>
                <a:latin typeface="Arial"/>
              </a:rPr>
              <a:t>Here’s my plan, using only what you’re authorized to access:</a:t>
            </a:r>
          </a:p>
        </p:txBody>
      </p:sp>
      <p:pic>
        <p:nvPicPr>
          <p:cNvPr id="16" name="Picture 15" descr="LuCircleCheck_r.png"/>
          <p:cNvPicPr>
            <a:picLocks noChangeAspect="1"/>
          </p:cNvPicPr>
          <p:nvPr/>
        </p:nvPicPr>
        <p:blipFill>
          <a:blip r:embed="rId3"/>
          <a:stretch>
            <a:fillRect/>
          </a:stretch>
        </p:blipFill>
        <p:spPr>
          <a:xfrm>
            <a:off x="1106424" y="3621024"/>
            <a:ext cx="182880" cy="182880"/>
          </a:xfrm>
          <a:prstGeom prst="rect">
            <a:avLst/>
          </a:prstGeom>
        </p:spPr>
      </p:pic>
      <p:sp>
        <p:nvSpPr>
          <p:cNvPr id="17" name="TextBox 16"/>
          <p:cNvSpPr txBox="1"/>
          <p:nvPr/>
        </p:nvSpPr>
        <p:spPr>
          <a:xfrm>
            <a:off x="1380744" y="3584448"/>
            <a:ext cx="3154680" cy="256032"/>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Complaint records, this quarter and last</a:t>
            </a:r>
          </a:p>
        </p:txBody>
      </p:sp>
      <p:sp>
        <p:nvSpPr>
          <p:cNvPr id="18" name="TextBox 17"/>
          <p:cNvSpPr txBox="1"/>
          <p:nvPr/>
        </p:nvSpPr>
        <p:spPr>
          <a:xfrm>
            <a:off x="4471416" y="3584448"/>
            <a:ext cx="2011680" cy="256032"/>
          </a:xfrm>
          <a:prstGeom prst="rect">
            <a:avLst/>
          </a:prstGeom>
          <a:noFill/>
        </p:spPr>
        <p:txBody>
          <a:bodyPr wrap="square" lIns="0" tIns="0" rIns="0" bIns="0" anchor="ctr">
            <a:noAutofit/>
          </a:bodyPr>
          <a:lstStyle/>
          <a:p>
            <a:pPr algn="r">
              <a:spcAft>
                <a:spcPts val="0"/>
              </a:spcAft>
            </a:pPr>
            <a:r>
              <a:rPr sz="1100" b="1" i="0">
                <a:solidFill>
                  <a:srgbClr val="D31145"/>
                </a:solidFill>
                <a:latin typeface="Arial"/>
              </a:rPr>
              <a:t>AIA data</a:t>
            </a:r>
          </a:p>
        </p:txBody>
      </p:sp>
      <p:pic>
        <p:nvPicPr>
          <p:cNvPr id="19" name="Picture 18" descr="LuCircleCheck_r.png"/>
          <p:cNvPicPr>
            <a:picLocks noChangeAspect="1"/>
          </p:cNvPicPr>
          <p:nvPr/>
        </p:nvPicPr>
        <p:blipFill>
          <a:blip r:embed="rId3"/>
          <a:stretch>
            <a:fillRect/>
          </a:stretch>
        </p:blipFill>
        <p:spPr>
          <a:xfrm>
            <a:off x="1106424" y="3895344"/>
            <a:ext cx="182880" cy="182880"/>
          </a:xfrm>
          <a:prstGeom prst="rect">
            <a:avLst/>
          </a:prstGeom>
        </p:spPr>
      </p:pic>
      <p:sp>
        <p:nvSpPr>
          <p:cNvPr id="20" name="TextBox 19"/>
          <p:cNvSpPr txBox="1"/>
          <p:nvPr/>
        </p:nvSpPr>
        <p:spPr>
          <a:xfrm>
            <a:off x="1380744" y="3858768"/>
            <a:ext cx="3154680" cy="256032"/>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Group and compare issues by theme</a:t>
            </a:r>
          </a:p>
        </p:txBody>
      </p:sp>
      <p:sp>
        <p:nvSpPr>
          <p:cNvPr id="21" name="TextBox 20"/>
          <p:cNvSpPr txBox="1"/>
          <p:nvPr/>
        </p:nvSpPr>
        <p:spPr>
          <a:xfrm>
            <a:off x="4471416" y="3858768"/>
            <a:ext cx="2011680" cy="256032"/>
          </a:xfrm>
          <a:prstGeom prst="rect">
            <a:avLst/>
          </a:prstGeom>
          <a:noFill/>
        </p:spPr>
        <p:txBody>
          <a:bodyPr wrap="square" lIns="0" tIns="0" rIns="0" bIns="0" anchor="ctr">
            <a:noAutofit/>
          </a:bodyPr>
          <a:lstStyle/>
          <a:p>
            <a:pPr algn="r">
              <a:spcAft>
                <a:spcPts val="0"/>
              </a:spcAft>
            </a:pPr>
            <a:r>
              <a:rPr sz="1100" b="1" i="0">
                <a:solidFill>
                  <a:srgbClr val="D31145"/>
                </a:solidFill>
                <a:latin typeface="Arial"/>
              </a:rPr>
              <a:t>Another AIA team’s AI tool</a:t>
            </a:r>
          </a:p>
        </p:txBody>
      </p:sp>
      <p:pic>
        <p:nvPicPr>
          <p:cNvPr id="22" name="Picture 21" descr="LuCircleCheck_r.png"/>
          <p:cNvPicPr>
            <a:picLocks noChangeAspect="1"/>
          </p:cNvPicPr>
          <p:nvPr/>
        </p:nvPicPr>
        <p:blipFill>
          <a:blip r:embed="rId3"/>
          <a:stretch>
            <a:fillRect/>
          </a:stretch>
        </p:blipFill>
        <p:spPr>
          <a:xfrm>
            <a:off x="1106424" y="4169664"/>
            <a:ext cx="182880" cy="182880"/>
          </a:xfrm>
          <a:prstGeom prst="rect">
            <a:avLst/>
          </a:prstGeom>
        </p:spPr>
      </p:pic>
      <p:sp>
        <p:nvSpPr>
          <p:cNvPr id="23" name="TextBox 22"/>
          <p:cNvSpPr txBox="1"/>
          <p:nvPr/>
        </p:nvSpPr>
        <p:spPr>
          <a:xfrm>
            <a:off x="1380744" y="4133088"/>
            <a:ext cx="3154680" cy="256032"/>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Relevant external information</a:t>
            </a:r>
          </a:p>
        </p:txBody>
      </p:sp>
      <p:sp>
        <p:nvSpPr>
          <p:cNvPr id="24" name="TextBox 23"/>
          <p:cNvSpPr txBox="1"/>
          <p:nvPr/>
        </p:nvSpPr>
        <p:spPr>
          <a:xfrm>
            <a:off x="4471416" y="4133088"/>
            <a:ext cx="2011680" cy="256032"/>
          </a:xfrm>
          <a:prstGeom prst="rect">
            <a:avLst/>
          </a:prstGeom>
          <a:noFill/>
        </p:spPr>
        <p:txBody>
          <a:bodyPr wrap="square" lIns="0" tIns="0" rIns="0" bIns="0" anchor="ctr">
            <a:noAutofit/>
          </a:bodyPr>
          <a:lstStyle/>
          <a:p>
            <a:pPr algn="r">
              <a:spcAft>
                <a:spcPts val="0"/>
              </a:spcAft>
            </a:pPr>
            <a:r>
              <a:rPr sz="1100" b="1" i="0">
                <a:solidFill>
                  <a:srgbClr val="D31145"/>
                </a:solidFill>
                <a:latin typeface="Arial"/>
              </a:rPr>
              <a:t>Approved sources</a:t>
            </a:r>
          </a:p>
        </p:txBody>
      </p:sp>
      <p:pic>
        <p:nvPicPr>
          <p:cNvPr id="25" name="Picture 24" descr="LuCircleCheck_r.png"/>
          <p:cNvPicPr>
            <a:picLocks noChangeAspect="1"/>
          </p:cNvPicPr>
          <p:nvPr/>
        </p:nvPicPr>
        <p:blipFill>
          <a:blip r:embed="rId3"/>
          <a:stretch>
            <a:fillRect/>
          </a:stretch>
        </p:blipFill>
        <p:spPr>
          <a:xfrm>
            <a:off x="1106424" y="4443984"/>
            <a:ext cx="182880" cy="182880"/>
          </a:xfrm>
          <a:prstGeom prst="rect">
            <a:avLst/>
          </a:prstGeom>
        </p:spPr>
      </p:pic>
      <p:sp>
        <p:nvSpPr>
          <p:cNvPr id="26" name="TextBox 25"/>
          <p:cNvSpPr txBox="1"/>
          <p:nvPr/>
        </p:nvSpPr>
        <p:spPr>
          <a:xfrm>
            <a:off x="1380744" y="4407408"/>
            <a:ext cx="3154680" cy="256032"/>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Management summary and draft presentation</a:t>
            </a:r>
          </a:p>
        </p:txBody>
      </p:sp>
      <p:sp>
        <p:nvSpPr>
          <p:cNvPr id="27" name="TextBox 26"/>
          <p:cNvSpPr txBox="1"/>
          <p:nvPr/>
        </p:nvSpPr>
        <p:spPr>
          <a:xfrm>
            <a:off x="4471416" y="4407408"/>
            <a:ext cx="2011680" cy="256032"/>
          </a:xfrm>
          <a:prstGeom prst="rect">
            <a:avLst/>
          </a:prstGeom>
          <a:noFill/>
        </p:spPr>
        <p:txBody>
          <a:bodyPr wrap="square" lIns="0" tIns="0" rIns="0" bIns="0" anchor="ctr">
            <a:noAutofit/>
          </a:bodyPr>
          <a:lstStyle/>
          <a:p>
            <a:pPr algn="r">
              <a:spcAft>
                <a:spcPts val="0"/>
              </a:spcAft>
            </a:pPr>
            <a:r>
              <a:rPr sz="1100" b="1" i="0">
                <a:solidFill>
                  <a:srgbClr val="D31145"/>
                </a:solidFill>
                <a:latin typeface="Arial"/>
              </a:rPr>
              <a:t>Ready for your review</a:t>
            </a:r>
          </a:p>
        </p:txBody>
      </p:sp>
      <p:sp>
        <p:nvSpPr>
          <p:cNvPr id="28" name="Oval 27"/>
          <p:cNvSpPr/>
          <p:nvPr/>
        </p:nvSpPr>
        <p:spPr>
          <a:xfrm>
            <a:off x="512064" y="4937760"/>
            <a:ext cx="274320" cy="274320"/>
          </a:xfrm>
          <a:prstGeom prst="ellipse">
            <a:avLst/>
          </a:prstGeom>
          <a:solidFill>
            <a:srgbClr val="333D47"/>
          </a:solidFill>
          <a:ln>
            <a:noFill/>
          </a:ln>
        </p:spPr>
        <p:txBody>
          <a:bodyPr rtlCol="0" anchor="ctr" wrap="square" lIns="0" tIns="0" rIns="0" bIns="0">
            <a:noAutofit/>
          </a:bodyPr>
          <a:lstStyle/>
          <a:p>
            <a:pPr algn="ctr">
              <a:spcAft>
                <a:spcPts val="0"/>
              </a:spcAft>
            </a:pPr>
            <a:r>
              <a:rPr sz="1100" b="1" i="0">
                <a:solidFill>
                  <a:srgbClr val="FFFFFF"/>
                </a:solidFill>
                <a:latin typeface="Arial"/>
              </a:rPr>
              <a:t>3</a:t>
            </a:r>
          </a:p>
        </p:txBody>
      </p:sp>
      <p:sp>
        <p:nvSpPr>
          <p:cNvPr id="29" name="Rounded Rectangle 28"/>
          <p:cNvSpPr/>
          <p:nvPr/>
        </p:nvSpPr>
        <p:spPr>
          <a:xfrm>
            <a:off x="905256" y="4910328"/>
            <a:ext cx="1600200" cy="329184"/>
          </a:xfrm>
          <a:prstGeom prst="roundRect">
            <a:avLst>
              <a:gd name="adj" fmla="val 22222"/>
            </a:avLst>
          </a:prstGeom>
          <a:solidFill>
            <a:srgbClr val="FFFFFF"/>
          </a:solidFill>
          <a:ln w="9525">
            <a:solidFill>
              <a:srgbClr val="DDD6D0"/>
            </a:solidFill>
          </a:ln>
        </p:spPr>
        <p:txBody>
          <a:bodyPr rtlCol="0" anchor="ctr"/>
          <a:lstStyle/>
          <a:p>
            <a:pPr algn="ctr"/>
          </a:p>
        </p:txBody>
      </p:sp>
      <p:pic>
        <p:nvPicPr>
          <p:cNvPr id="30" name="Picture 29" descr="LuPaperclip_g.png"/>
          <p:cNvPicPr>
            <a:picLocks noChangeAspect="1"/>
          </p:cNvPicPr>
          <p:nvPr/>
        </p:nvPicPr>
        <p:blipFill>
          <a:blip r:embed="rId4"/>
          <a:stretch>
            <a:fillRect/>
          </a:stretch>
        </p:blipFill>
        <p:spPr>
          <a:xfrm>
            <a:off x="996696" y="4992624"/>
            <a:ext cx="164592" cy="164592"/>
          </a:xfrm>
          <a:prstGeom prst="rect">
            <a:avLst/>
          </a:prstGeom>
        </p:spPr>
      </p:pic>
      <p:sp>
        <p:nvSpPr>
          <p:cNvPr id="31" name="TextBox 30"/>
          <p:cNvSpPr txBox="1"/>
          <p:nvPr/>
        </p:nvSpPr>
        <p:spPr>
          <a:xfrm>
            <a:off x="1197864" y="4910328"/>
            <a:ext cx="1371600" cy="329184"/>
          </a:xfrm>
          <a:prstGeom prst="rect">
            <a:avLst/>
          </a:prstGeom>
          <a:noFill/>
        </p:spPr>
        <p:txBody>
          <a:bodyPr wrap="square" lIns="0" tIns="0" rIns="0" bIns="0" anchor="ctr">
            <a:noAutofit/>
          </a:bodyPr>
          <a:lstStyle/>
          <a:p>
            <a:pPr algn="l">
              <a:spcAft>
                <a:spcPts val="0"/>
              </a:spcAft>
            </a:pPr>
            <a:r>
              <a:rPr sz="1050" b="0" i="0">
                <a:solidFill>
                  <a:srgbClr val="333D47"/>
                </a:solidFill>
                <a:latin typeface="Arial"/>
              </a:rPr>
              <a:t>Management summary</a:t>
            </a:r>
          </a:p>
        </p:txBody>
      </p:sp>
      <p:sp>
        <p:nvSpPr>
          <p:cNvPr id="32" name="Rounded Rectangle 31"/>
          <p:cNvSpPr/>
          <p:nvPr/>
        </p:nvSpPr>
        <p:spPr>
          <a:xfrm>
            <a:off x="2578608" y="4910328"/>
            <a:ext cx="1600200" cy="329184"/>
          </a:xfrm>
          <a:prstGeom prst="roundRect">
            <a:avLst>
              <a:gd name="adj" fmla="val 22222"/>
            </a:avLst>
          </a:prstGeom>
          <a:solidFill>
            <a:srgbClr val="FFFFFF"/>
          </a:solidFill>
          <a:ln w="9525">
            <a:solidFill>
              <a:srgbClr val="DDD6D0"/>
            </a:solidFill>
          </a:ln>
        </p:spPr>
        <p:txBody>
          <a:bodyPr rtlCol="0" anchor="ctr"/>
          <a:lstStyle/>
          <a:p>
            <a:pPr algn="ctr"/>
          </a:p>
        </p:txBody>
      </p:sp>
      <p:pic>
        <p:nvPicPr>
          <p:cNvPr id="33" name="Picture 32" descr="LuPaperclip_g.png"/>
          <p:cNvPicPr>
            <a:picLocks noChangeAspect="1"/>
          </p:cNvPicPr>
          <p:nvPr/>
        </p:nvPicPr>
        <p:blipFill>
          <a:blip r:embed="rId4"/>
          <a:stretch>
            <a:fillRect/>
          </a:stretch>
        </p:blipFill>
        <p:spPr>
          <a:xfrm>
            <a:off x="2670048" y="4992624"/>
            <a:ext cx="164592" cy="164592"/>
          </a:xfrm>
          <a:prstGeom prst="rect">
            <a:avLst/>
          </a:prstGeom>
        </p:spPr>
      </p:pic>
      <p:sp>
        <p:nvSpPr>
          <p:cNvPr id="34" name="TextBox 33"/>
          <p:cNvSpPr txBox="1"/>
          <p:nvPr/>
        </p:nvSpPr>
        <p:spPr>
          <a:xfrm>
            <a:off x="2871216" y="4910328"/>
            <a:ext cx="1371600" cy="329184"/>
          </a:xfrm>
          <a:prstGeom prst="rect">
            <a:avLst/>
          </a:prstGeom>
          <a:noFill/>
        </p:spPr>
        <p:txBody>
          <a:bodyPr wrap="square" lIns="0" tIns="0" rIns="0" bIns="0" anchor="ctr">
            <a:noAutofit/>
          </a:bodyPr>
          <a:lstStyle/>
          <a:p>
            <a:pPr algn="l">
              <a:spcAft>
                <a:spcPts val="0"/>
              </a:spcAft>
            </a:pPr>
            <a:r>
              <a:rPr sz="1050" b="0" i="0">
                <a:solidFill>
                  <a:srgbClr val="333D47"/>
                </a:solidFill>
                <a:latin typeface="Arial"/>
              </a:rPr>
              <a:t>Draft presentation</a:t>
            </a:r>
          </a:p>
        </p:txBody>
      </p:sp>
      <p:sp>
        <p:nvSpPr>
          <p:cNvPr id="35" name="Rounded Rectangle 34"/>
          <p:cNvSpPr/>
          <p:nvPr/>
        </p:nvSpPr>
        <p:spPr>
          <a:xfrm>
            <a:off x="4288536" y="4910328"/>
            <a:ext cx="1298448" cy="329184"/>
          </a:xfrm>
          <a:prstGeom prst="roundRect">
            <a:avLst>
              <a:gd name="adj" fmla="val 50000"/>
            </a:avLst>
          </a:prstGeom>
          <a:solidFill>
            <a:srgbClr val="FFFFFF"/>
          </a:solidFill>
          <a:ln w="9525">
            <a:solidFill>
              <a:srgbClr val="333D47"/>
            </a:solidFill>
          </a:ln>
        </p:spPr>
        <p:txBody>
          <a:bodyPr rtlCol="0" anchor="ctr" wrap="square" lIns="18288" tIns="18288" rIns="18288" bIns="18288">
            <a:noAutofit/>
          </a:bodyPr>
          <a:lstStyle/>
          <a:p>
            <a:pPr algn="ctr">
              <a:spcAft>
                <a:spcPts val="0"/>
              </a:spcAft>
            </a:pPr>
            <a:r>
              <a:rPr sz="1050" b="0" i="0">
                <a:solidFill>
                  <a:srgbClr val="333D47"/>
                </a:solidFill>
                <a:latin typeface="Arial"/>
              </a:rPr>
              <a:t>Request changes</a:t>
            </a:r>
          </a:p>
        </p:txBody>
      </p:sp>
      <p:sp>
        <p:nvSpPr>
          <p:cNvPr id="36" name="Rounded Rectangle 35"/>
          <p:cNvSpPr/>
          <p:nvPr/>
        </p:nvSpPr>
        <p:spPr>
          <a:xfrm>
            <a:off x="5678424" y="4910328"/>
            <a:ext cx="896112" cy="329184"/>
          </a:xfrm>
          <a:prstGeom prst="roundRect">
            <a:avLst>
              <a:gd name="adj" fmla="val 50000"/>
            </a:avLst>
          </a:prstGeom>
          <a:solidFill>
            <a:srgbClr val="D31145"/>
          </a:solidFill>
          <a:ln>
            <a:noFill/>
          </a:ln>
        </p:spPr>
        <p:txBody>
          <a:bodyPr rtlCol="0" anchor="ctr" wrap="square" lIns="18288" tIns="18288" rIns="18288" bIns="18288">
            <a:noAutofit/>
          </a:bodyPr>
          <a:lstStyle/>
          <a:p>
            <a:pPr algn="ctr">
              <a:spcAft>
                <a:spcPts val="0"/>
              </a:spcAft>
            </a:pPr>
            <a:r>
              <a:rPr sz="1050" b="1" i="0">
                <a:solidFill>
                  <a:srgbClr val="FFFFFF"/>
                </a:solidFill>
                <a:latin typeface="Arial"/>
              </a:rPr>
              <a:t>Approve</a:t>
            </a:r>
          </a:p>
        </p:txBody>
      </p:sp>
      <p:sp>
        <p:nvSpPr>
          <p:cNvPr id="37" name="TextBox 36"/>
          <p:cNvSpPr txBox="1"/>
          <p:nvPr/>
        </p:nvSpPr>
        <p:spPr>
          <a:xfrm>
            <a:off x="356616" y="5486400"/>
            <a:ext cx="6400800" cy="411480"/>
          </a:xfrm>
          <a:prstGeom prst="rect">
            <a:avLst/>
          </a:prstGeom>
          <a:noFill/>
        </p:spPr>
        <p:txBody>
          <a:bodyPr wrap="square" lIns="0" tIns="0" rIns="0" bIns="0" anchor="t">
            <a:noAutofit/>
          </a:bodyPr>
          <a:lstStyle/>
          <a:p>
            <a:pPr algn="l">
              <a:spcAft>
                <a:spcPts val="0"/>
              </a:spcAft>
            </a:pPr>
            <a:r>
              <a:rPr sz="1100" b="0" i="1">
                <a:solidFill>
                  <a:srgbClr val="5F6770"/>
                </a:solidFill>
                <a:latin typeface="Arial"/>
              </a:rPr>
              <a:t>Illustrative example, not the committed pilot. The first workflow is chosen in Phase 0, and a lower-sensitivity internal workflow may go first.</a:t>
            </a:r>
          </a:p>
        </p:txBody>
      </p:sp>
      <p:sp>
        <p:nvSpPr>
          <p:cNvPr id="38" name="Rounded Rectangle 37"/>
          <p:cNvSpPr/>
          <p:nvPr/>
        </p:nvSpPr>
        <p:spPr>
          <a:xfrm>
            <a:off x="7086600" y="1371600"/>
            <a:ext cx="4745736" cy="1280160"/>
          </a:xfrm>
          <a:prstGeom prst="roundRect">
            <a:avLst>
              <a:gd name="adj" fmla="val 7142"/>
            </a:avLst>
          </a:prstGeom>
          <a:solidFill>
            <a:srgbClr val="F4F1EF"/>
          </a:solidFill>
          <a:ln>
            <a:noFill/>
          </a:ln>
        </p:spPr>
        <p:txBody>
          <a:bodyPr rtlCol="0" anchor="ctr"/>
          <a:lstStyle/>
          <a:p>
            <a:pPr algn="ctr"/>
          </a:p>
        </p:txBody>
      </p:sp>
      <p:sp>
        <p:nvSpPr>
          <p:cNvPr id="39" name="Oval 38"/>
          <p:cNvSpPr/>
          <p:nvPr/>
        </p:nvSpPr>
        <p:spPr>
          <a:xfrm>
            <a:off x="7287768" y="1572768"/>
            <a:ext cx="402336" cy="402336"/>
          </a:xfrm>
          <a:prstGeom prst="ellipse">
            <a:avLst/>
          </a:prstGeom>
          <a:solidFill>
            <a:srgbClr val="333D47"/>
          </a:solidFill>
          <a:ln>
            <a:noFill/>
          </a:ln>
        </p:spPr>
        <p:txBody>
          <a:bodyPr rtlCol="0" anchor="ctr" wrap="square" lIns="0" tIns="0" rIns="0" bIns="0">
            <a:noAutofit/>
          </a:bodyPr>
          <a:lstStyle/>
          <a:p>
            <a:pPr algn="ctr">
              <a:spcAft>
                <a:spcPts val="0"/>
              </a:spcAft>
            </a:pPr>
            <a:r>
              <a:rPr sz="1500" b="1" i="0">
                <a:solidFill>
                  <a:srgbClr val="FFFFFF"/>
                </a:solidFill>
                <a:latin typeface="Arial"/>
              </a:rPr>
              <a:t>1</a:t>
            </a:r>
          </a:p>
        </p:txBody>
      </p:sp>
      <p:sp>
        <p:nvSpPr>
          <p:cNvPr id="40" name="TextBox 39"/>
          <p:cNvSpPr txBox="1"/>
          <p:nvPr/>
        </p:nvSpPr>
        <p:spPr>
          <a:xfrm>
            <a:off x="7863840" y="1517904"/>
            <a:ext cx="2743200" cy="219456"/>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YOU</a:t>
            </a:r>
          </a:p>
        </p:txBody>
      </p:sp>
      <p:sp>
        <p:nvSpPr>
          <p:cNvPr id="41" name="TextBox 40"/>
          <p:cNvSpPr txBox="1"/>
          <p:nvPr/>
        </p:nvSpPr>
        <p:spPr>
          <a:xfrm>
            <a:off x="7863840" y="1719072"/>
            <a:ext cx="3785616" cy="329184"/>
          </a:xfrm>
          <a:prstGeom prst="rect">
            <a:avLst/>
          </a:prstGeom>
          <a:noFill/>
        </p:spPr>
        <p:txBody>
          <a:bodyPr wrap="square" lIns="0" tIns="0" rIns="0" bIns="0" anchor="t">
            <a:noAutofit/>
          </a:bodyPr>
          <a:lstStyle/>
          <a:p>
            <a:pPr algn="l">
              <a:spcAft>
                <a:spcPts val="0"/>
              </a:spcAft>
            </a:pPr>
            <a:r>
              <a:rPr sz="1700" b="1" i="0">
                <a:solidFill>
                  <a:srgbClr val="333D47"/>
                </a:solidFill>
                <a:latin typeface="Arial"/>
              </a:rPr>
              <a:t>Ask for the outcome</a:t>
            </a:r>
          </a:p>
        </p:txBody>
      </p:sp>
      <p:sp>
        <p:nvSpPr>
          <p:cNvPr id="42" name="TextBox 41"/>
          <p:cNvSpPr txBox="1"/>
          <p:nvPr/>
        </p:nvSpPr>
        <p:spPr>
          <a:xfrm>
            <a:off x="7863840" y="2066544"/>
            <a:ext cx="3785616" cy="548640"/>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Describe what you need in Teams, as you would to a colleague. No need to know which tool does what.</a:t>
            </a:r>
          </a:p>
        </p:txBody>
      </p:sp>
      <p:sp>
        <p:nvSpPr>
          <p:cNvPr id="43" name="Rounded Rectangle 42"/>
          <p:cNvSpPr/>
          <p:nvPr/>
        </p:nvSpPr>
        <p:spPr>
          <a:xfrm>
            <a:off x="7086600" y="2743200"/>
            <a:ext cx="4745736" cy="1280160"/>
          </a:xfrm>
          <a:prstGeom prst="roundRect">
            <a:avLst>
              <a:gd name="adj" fmla="val 7142"/>
            </a:avLst>
          </a:prstGeom>
          <a:solidFill>
            <a:srgbClr val="FBE8ED"/>
          </a:solidFill>
          <a:ln>
            <a:noFill/>
          </a:ln>
        </p:spPr>
        <p:txBody>
          <a:bodyPr rtlCol="0" anchor="ctr"/>
          <a:lstStyle/>
          <a:p>
            <a:pPr algn="ctr"/>
          </a:p>
        </p:txBody>
      </p:sp>
      <p:sp>
        <p:nvSpPr>
          <p:cNvPr id="44" name="Oval 43"/>
          <p:cNvSpPr/>
          <p:nvPr/>
        </p:nvSpPr>
        <p:spPr>
          <a:xfrm>
            <a:off x="7287768" y="2944368"/>
            <a:ext cx="402336" cy="402336"/>
          </a:xfrm>
          <a:prstGeom prst="ellipse">
            <a:avLst/>
          </a:prstGeom>
          <a:solidFill>
            <a:srgbClr val="D31145"/>
          </a:solidFill>
          <a:ln>
            <a:noFill/>
          </a:ln>
        </p:spPr>
        <p:txBody>
          <a:bodyPr rtlCol="0" anchor="ctr" wrap="square" lIns="0" tIns="0" rIns="0" bIns="0">
            <a:noAutofit/>
          </a:bodyPr>
          <a:lstStyle/>
          <a:p>
            <a:pPr algn="ctr">
              <a:spcAft>
                <a:spcPts val="0"/>
              </a:spcAft>
            </a:pPr>
            <a:r>
              <a:rPr sz="1500" b="1" i="0">
                <a:solidFill>
                  <a:srgbClr val="FFFFFF"/>
                </a:solidFill>
                <a:latin typeface="Arial"/>
              </a:rPr>
              <a:t>2</a:t>
            </a:r>
          </a:p>
        </p:txBody>
      </p:sp>
      <p:sp>
        <p:nvSpPr>
          <p:cNvPr id="45" name="TextBox 44"/>
          <p:cNvSpPr txBox="1"/>
          <p:nvPr/>
        </p:nvSpPr>
        <p:spPr>
          <a:xfrm>
            <a:off x="7863840" y="2889504"/>
            <a:ext cx="2743200" cy="219456"/>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RILEY</a:t>
            </a:r>
          </a:p>
        </p:txBody>
      </p:sp>
      <p:sp>
        <p:nvSpPr>
          <p:cNvPr id="46" name="TextBox 45"/>
          <p:cNvSpPr txBox="1"/>
          <p:nvPr/>
        </p:nvSpPr>
        <p:spPr>
          <a:xfrm>
            <a:off x="7863840" y="3090672"/>
            <a:ext cx="3785616" cy="329184"/>
          </a:xfrm>
          <a:prstGeom prst="rect">
            <a:avLst/>
          </a:prstGeom>
          <a:noFill/>
        </p:spPr>
        <p:txBody>
          <a:bodyPr wrap="square" lIns="0" tIns="0" rIns="0" bIns="0" anchor="t">
            <a:noAutofit/>
          </a:bodyPr>
          <a:lstStyle/>
          <a:p>
            <a:pPr algn="l">
              <a:spcAft>
                <a:spcPts val="0"/>
              </a:spcAft>
            </a:pPr>
            <a:r>
              <a:rPr sz="1700" b="1" i="0">
                <a:solidFill>
                  <a:srgbClr val="D31145"/>
                </a:solidFill>
                <a:latin typeface="Arial"/>
              </a:rPr>
              <a:t>Riley does the steps in between</a:t>
            </a:r>
          </a:p>
        </p:txBody>
      </p:sp>
      <p:sp>
        <p:nvSpPr>
          <p:cNvPr id="47" name="TextBox 46"/>
          <p:cNvSpPr txBox="1"/>
          <p:nvPr/>
        </p:nvSpPr>
        <p:spPr>
          <a:xfrm>
            <a:off x="7863840" y="3438144"/>
            <a:ext cx="3785616" cy="548640"/>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Picks the approved data, systems and AI tools needed, then researches, analyses and drafts.</a:t>
            </a:r>
          </a:p>
        </p:txBody>
      </p:sp>
      <p:sp>
        <p:nvSpPr>
          <p:cNvPr id="48" name="Rounded Rectangle 47"/>
          <p:cNvSpPr/>
          <p:nvPr/>
        </p:nvSpPr>
        <p:spPr>
          <a:xfrm>
            <a:off x="7086600" y="4114800"/>
            <a:ext cx="4745736" cy="1280160"/>
          </a:xfrm>
          <a:prstGeom prst="roundRect">
            <a:avLst>
              <a:gd name="adj" fmla="val 7142"/>
            </a:avLst>
          </a:prstGeom>
          <a:solidFill>
            <a:srgbClr val="F4F1EF"/>
          </a:solidFill>
          <a:ln>
            <a:noFill/>
          </a:ln>
        </p:spPr>
        <p:txBody>
          <a:bodyPr rtlCol="0" anchor="ctr"/>
          <a:lstStyle/>
          <a:p>
            <a:pPr algn="ctr"/>
          </a:p>
        </p:txBody>
      </p:sp>
      <p:sp>
        <p:nvSpPr>
          <p:cNvPr id="49" name="Oval 48"/>
          <p:cNvSpPr/>
          <p:nvPr/>
        </p:nvSpPr>
        <p:spPr>
          <a:xfrm>
            <a:off x="7287768" y="4315968"/>
            <a:ext cx="402336" cy="402336"/>
          </a:xfrm>
          <a:prstGeom prst="ellipse">
            <a:avLst/>
          </a:prstGeom>
          <a:solidFill>
            <a:srgbClr val="333D47"/>
          </a:solidFill>
          <a:ln>
            <a:noFill/>
          </a:ln>
        </p:spPr>
        <p:txBody>
          <a:bodyPr rtlCol="0" anchor="ctr" wrap="square" lIns="0" tIns="0" rIns="0" bIns="0">
            <a:noAutofit/>
          </a:bodyPr>
          <a:lstStyle/>
          <a:p>
            <a:pPr algn="ctr">
              <a:spcAft>
                <a:spcPts val="0"/>
              </a:spcAft>
            </a:pPr>
            <a:r>
              <a:rPr sz="1500" b="1" i="0">
                <a:solidFill>
                  <a:srgbClr val="FFFFFF"/>
                </a:solidFill>
                <a:latin typeface="Arial"/>
              </a:rPr>
              <a:t>3</a:t>
            </a:r>
          </a:p>
        </p:txBody>
      </p:sp>
      <p:sp>
        <p:nvSpPr>
          <p:cNvPr id="50" name="TextBox 49"/>
          <p:cNvSpPr txBox="1"/>
          <p:nvPr/>
        </p:nvSpPr>
        <p:spPr>
          <a:xfrm>
            <a:off x="7863840" y="4261104"/>
            <a:ext cx="2743200" cy="219456"/>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YOU</a:t>
            </a:r>
          </a:p>
        </p:txBody>
      </p:sp>
      <p:sp>
        <p:nvSpPr>
          <p:cNvPr id="51" name="TextBox 50"/>
          <p:cNvSpPr txBox="1"/>
          <p:nvPr/>
        </p:nvSpPr>
        <p:spPr>
          <a:xfrm>
            <a:off x="7863840" y="4462272"/>
            <a:ext cx="3785616" cy="329184"/>
          </a:xfrm>
          <a:prstGeom prst="rect">
            <a:avLst/>
          </a:prstGeom>
          <a:noFill/>
        </p:spPr>
        <p:txBody>
          <a:bodyPr wrap="square" lIns="0" tIns="0" rIns="0" bIns="0" anchor="t">
            <a:noAutofit/>
          </a:bodyPr>
          <a:lstStyle/>
          <a:p>
            <a:pPr algn="l">
              <a:spcAft>
                <a:spcPts val="0"/>
              </a:spcAft>
            </a:pPr>
            <a:r>
              <a:rPr sz="1700" b="1" i="0">
                <a:solidFill>
                  <a:srgbClr val="333D47"/>
                </a:solidFill>
                <a:latin typeface="Arial"/>
              </a:rPr>
              <a:t>Review and approve</a:t>
            </a:r>
          </a:p>
        </p:txBody>
      </p:sp>
      <p:sp>
        <p:nvSpPr>
          <p:cNvPr id="52" name="TextBox 51"/>
          <p:cNvSpPr txBox="1"/>
          <p:nvPr/>
        </p:nvSpPr>
        <p:spPr>
          <a:xfrm>
            <a:off x="7863840" y="4809744"/>
            <a:ext cx="3785616" cy="548640"/>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Nothing is finalized, sent to anyone or entered into a business system until you approve.</a:t>
            </a:r>
          </a:p>
        </p:txBody>
      </p:sp>
      <p:sp>
        <p:nvSpPr>
          <p:cNvPr id="53" name="Slide Number Placeholder"/>
          <p:cNvSpPr>
            <a:spLocks noGrp="1"/>
          </p:cNvSpPr>
          <p:nvPr>
            <p:ph type="sldNum" sz="quarter" idx="4"/>
          </p:nvPr>
        </p:nvSpPr>
        <p:spPr/>
        <p:txBody>
          <a:bodyPr/>
          <a:lstStyle/>
          <a:p>
            <a:fld id="{18A41853-EF22-D446-BDBC-A7CF3FE93503}" type="slidenum">
              <a:rPr lang="en-US"/>
              <a:t>3</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Small per person. Significant at scale.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ILLUSTRATIVE SCENARIO</a:t>
            </a:r>
          </a:p>
        </p:txBody>
      </p:sp>
      <p:sp>
        <p:nvSpPr>
          <p:cNvPr id="6" name="Rounded Rectangle 5"/>
          <p:cNvSpPr/>
          <p:nvPr/>
        </p:nvSpPr>
        <p:spPr>
          <a:xfrm>
            <a:off x="356616" y="1371600"/>
            <a:ext cx="3657600"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50" b="1" i="0" spc="50">
                <a:solidFill>
                  <a:srgbClr val="D31145"/>
                </a:solidFill>
                <a:latin typeface="Arial"/>
              </a:rPr>
              <a:t>ILLUSTRATIVE SCENARIO  ·  NOT A FORECAST</a:t>
            </a:r>
          </a:p>
        </p:txBody>
      </p:sp>
      <p:sp>
        <p:nvSpPr>
          <p:cNvPr id="7" name="TextBox 6"/>
          <p:cNvSpPr txBox="1"/>
          <p:nvPr/>
        </p:nvSpPr>
        <p:spPr>
          <a:xfrm>
            <a:off x="356616" y="1847088"/>
            <a:ext cx="6675120" cy="640080"/>
          </a:xfrm>
          <a:prstGeom prst="rect">
            <a:avLst/>
          </a:prstGeom>
          <a:noFill/>
        </p:spPr>
        <p:txBody>
          <a:bodyPr wrap="square" lIns="0" tIns="0" rIns="0" bIns="0" anchor="t">
            <a:noAutofit/>
          </a:bodyPr>
          <a:lstStyle/>
          <a:p>
            <a:pPr algn="l">
              <a:lnSpc>
                <a:spcPct val="105000"/>
              </a:lnSpc>
              <a:spcAft>
                <a:spcPts val="0"/>
              </a:spcAft>
            </a:pPr>
            <a:r>
              <a:rPr sz="1700" b="0" i="0">
                <a:solidFill>
                  <a:srgbClr val="333D47"/>
                </a:solidFill>
                <a:latin typeface="Arial"/>
              </a:rPr>
              <a:t>If Riley eventually served </a:t>
            </a:r>
            <a:r>
              <a:rPr sz="1700" b="1" i="0">
                <a:solidFill>
                  <a:srgbClr val="333D47"/>
                </a:solidFill>
                <a:latin typeface="Arial"/>
              </a:rPr>
              <a:t>1,000 employees</a:t>
            </a:r>
            <a:r>
              <a:rPr sz="1700" b="0" i="0">
                <a:solidFill>
                  <a:srgbClr val="333D47"/>
                </a:solidFill>
                <a:latin typeface="Arial"/>
              </a:rPr>
              <a:t> and saved each an average of </a:t>
            </a:r>
            <a:r>
              <a:rPr sz="1700" b="1" i="0">
                <a:solidFill>
                  <a:srgbClr val="333D47"/>
                </a:solidFill>
                <a:latin typeface="Arial"/>
              </a:rPr>
              <a:t>1 hour a week</a:t>
            </a:r>
            <a:r>
              <a:rPr sz="1700" b="0" i="0">
                <a:solidFill>
                  <a:srgbClr val="333D47"/>
                </a:solidFill>
                <a:latin typeface="Arial"/>
              </a:rPr>
              <a:t>, it would release about</a:t>
            </a:r>
          </a:p>
        </p:txBody>
      </p:sp>
      <p:sp>
        <p:nvSpPr>
          <p:cNvPr id="8" name="TextBox 7"/>
          <p:cNvSpPr txBox="1"/>
          <p:nvPr/>
        </p:nvSpPr>
        <p:spPr>
          <a:xfrm>
            <a:off x="356616" y="2487168"/>
            <a:ext cx="6766560" cy="1143000"/>
          </a:xfrm>
          <a:prstGeom prst="rect">
            <a:avLst/>
          </a:prstGeom>
          <a:noFill/>
        </p:spPr>
        <p:txBody>
          <a:bodyPr wrap="square" lIns="0" tIns="0" rIns="0" bIns="0" anchor="ctr">
            <a:noAutofit/>
          </a:bodyPr>
          <a:lstStyle/>
          <a:p>
            <a:pPr algn="l">
              <a:spcAft>
                <a:spcPts val="0"/>
              </a:spcAft>
            </a:pPr>
            <a:r>
              <a:rPr sz="8400" b="1" i="0">
                <a:solidFill>
                  <a:srgbClr val="D31145"/>
                </a:solidFill>
                <a:latin typeface="Arial"/>
              </a:rPr>
              <a:t>1,000 hours</a:t>
            </a:r>
          </a:p>
        </p:txBody>
      </p:sp>
      <p:sp>
        <p:nvSpPr>
          <p:cNvPr id="9" name="TextBox 8"/>
          <p:cNvSpPr txBox="1"/>
          <p:nvPr/>
        </p:nvSpPr>
        <p:spPr>
          <a:xfrm>
            <a:off x="356616" y="3639312"/>
            <a:ext cx="6675120" cy="411480"/>
          </a:xfrm>
          <a:prstGeom prst="rect">
            <a:avLst/>
          </a:prstGeom>
          <a:noFill/>
        </p:spPr>
        <p:txBody>
          <a:bodyPr wrap="square" lIns="0" tIns="0" rIns="0" bIns="0" anchor="t">
            <a:noAutofit/>
          </a:bodyPr>
          <a:lstStyle/>
          <a:p>
            <a:pPr algn="l">
              <a:spcAft>
                <a:spcPts val="0"/>
              </a:spcAft>
            </a:pPr>
            <a:r>
              <a:rPr sz="2200" b="0" i="0">
                <a:solidFill>
                  <a:srgbClr val="333D47"/>
                </a:solidFill>
                <a:latin typeface="Arial"/>
              </a:rPr>
              <a:t>of employee capacity, every week</a:t>
            </a:r>
          </a:p>
        </p:txBody>
      </p:sp>
      <p:sp>
        <p:nvSpPr>
          <p:cNvPr id="10" name="TextBox 9"/>
          <p:cNvSpPr txBox="1"/>
          <p:nvPr/>
        </p:nvSpPr>
        <p:spPr>
          <a:xfrm>
            <a:off x="356616" y="4224528"/>
            <a:ext cx="6675120" cy="502920"/>
          </a:xfrm>
          <a:prstGeom prst="rect">
            <a:avLst/>
          </a:prstGeom>
          <a:noFill/>
        </p:spPr>
        <p:txBody>
          <a:bodyPr wrap="square" lIns="0" tIns="0" rIns="0" bIns="0" anchor="ctr">
            <a:noAutofit/>
          </a:bodyPr>
          <a:lstStyle/>
          <a:p>
            <a:pPr algn="l">
              <a:spcAft>
                <a:spcPts val="0"/>
              </a:spcAft>
            </a:pPr>
            <a:r>
              <a:rPr sz="2800" b="1" i="0">
                <a:solidFill>
                  <a:srgbClr val="333D47"/>
                </a:solidFill>
                <a:latin typeface="Arial"/>
              </a:rPr>
              <a:t>≈ 50,000 hours a year</a:t>
            </a:r>
            <a:r>
              <a:rPr sz="1300" b="0" i="0">
                <a:solidFill>
                  <a:srgbClr val="5F6770"/>
                </a:solidFill>
                <a:latin typeface="Arial"/>
              </a:rPr>
              <a:t>   assuming 50 working weeks</a:t>
            </a:r>
          </a:p>
        </p:txBody>
      </p:sp>
      <p:sp>
        <p:nvSpPr>
          <p:cNvPr id="11" name="TextBox 10"/>
          <p:cNvSpPr txBox="1"/>
          <p:nvPr/>
        </p:nvSpPr>
        <p:spPr>
          <a:xfrm>
            <a:off x="356616" y="5120640"/>
            <a:ext cx="6492240" cy="457200"/>
          </a:xfrm>
          <a:prstGeom prst="rect">
            <a:avLst/>
          </a:prstGeom>
          <a:noFill/>
        </p:spPr>
        <p:txBody>
          <a:bodyPr wrap="square" lIns="0" tIns="0" rIns="0" bIns="0" anchor="t">
            <a:noAutofit/>
          </a:bodyPr>
          <a:lstStyle/>
          <a:p>
            <a:pPr algn="l">
              <a:spcAft>
                <a:spcPts val="0"/>
              </a:spcAft>
            </a:pPr>
            <a:r>
              <a:rPr sz="1100" b="0" i="1">
                <a:solidFill>
                  <a:srgbClr val="5F6770"/>
                </a:solidFill>
                <a:latin typeface="Arial"/>
              </a:rPr>
              <a:t>1,000 is a scenario size, not a planned pilot population or an AIA employee count. The pilot measures whether one hour a week is achievable.</a:t>
            </a:r>
          </a:p>
        </p:txBody>
      </p:sp>
      <p:sp>
        <p:nvSpPr>
          <p:cNvPr id="12" name="Rounded Rectangle 11"/>
          <p:cNvSpPr/>
          <p:nvPr/>
        </p:nvSpPr>
        <p:spPr>
          <a:xfrm>
            <a:off x="7406640" y="1371600"/>
            <a:ext cx="4425696" cy="4224528"/>
          </a:xfrm>
          <a:prstGeom prst="roundRect">
            <a:avLst>
              <a:gd name="adj" fmla="val 2164"/>
            </a:avLst>
          </a:prstGeom>
          <a:solidFill>
            <a:srgbClr val="F4F1EF"/>
          </a:solidFill>
          <a:ln>
            <a:noFill/>
          </a:ln>
        </p:spPr>
        <p:txBody>
          <a:bodyPr rtlCol="0" anchor="ctr"/>
          <a:lstStyle/>
          <a:p>
            <a:pPr algn="ctr"/>
          </a:p>
        </p:txBody>
      </p:sp>
      <p:sp>
        <p:nvSpPr>
          <p:cNvPr id="13" name="TextBox 12"/>
          <p:cNvSpPr txBox="1"/>
          <p:nvPr/>
        </p:nvSpPr>
        <p:spPr>
          <a:xfrm>
            <a:off x="7680960" y="1600200"/>
            <a:ext cx="3877056" cy="320040"/>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Why one hour is a modest assumption</a:t>
            </a:r>
          </a:p>
        </p:txBody>
      </p:sp>
      <p:sp>
        <p:nvSpPr>
          <p:cNvPr id="14" name="TextBox 13"/>
          <p:cNvSpPr txBox="1"/>
          <p:nvPr/>
        </p:nvSpPr>
        <p:spPr>
          <a:xfrm>
            <a:off x="7680960" y="2103120"/>
            <a:ext cx="3877056" cy="292608"/>
          </a:xfrm>
          <a:prstGeom prst="rect">
            <a:avLst/>
          </a:prstGeom>
          <a:noFill/>
        </p:spPr>
        <p:txBody>
          <a:bodyPr wrap="square" lIns="0" tIns="0" rIns="0" bIns="0" anchor="t">
            <a:noAutofit/>
          </a:bodyPr>
          <a:lstStyle/>
          <a:p>
            <a:pPr algn="l">
              <a:lnSpc>
                <a:spcPct val="95000"/>
              </a:lnSpc>
              <a:spcAft>
                <a:spcPts val="0"/>
              </a:spcAft>
            </a:pPr>
            <a:r>
              <a:rPr sz="1700" b="1" i="0">
                <a:solidFill>
                  <a:srgbClr val="333D47"/>
                </a:solidFill>
                <a:latin typeface="Arial"/>
              </a:rPr>
              <a:t>40 hours</a:t>
            </a:r>
            <a:r>
              <a:rPr sz="1250" b="0" i="0">
                <a:solidFill>
                  <a:srgbClr val="5F6770"/>
                </a:solidFill>
                <a:latin typeface="Arial"/>
              </a:rPr>
              <a:t>   a working week</a:t>
            </a:r>
          </a:p>
        </p:txBody>
      </p:sp>
      <p:sp>
        <p:nvSpPr>
          <p:cNvPr id="15" name="Rectangle 14"/>
          <p:cNvSpPr/>
          <p:nvPr/>
        </p:nvSpPr>
        <p:spPr>
          <a:xfrm>
            <a:off x="7680960" y="2432304"/>
            <a:ext cx="3877056" cy="237744"/>
          </a:xfrm>
          <a:prstGeom prst="rect">
            <a:avLst/>
          </a:prstGeom>
          <a:solidFill>
            <a:srgbClr val="D3CAC3"/>
          </a:solidFill>
          <a:ln>
            <a:noFill/>
          </a:ln>
        </p:spPr>
        <p:txBody>
          <a:bodyPr rtlCol="0" anchor="ctr"/>
          <a:lstStyle/>
          <a:p>
            <a:pPr algn="ctr"/>
          </a:p>
        </p:txBody>
      </p:sp>
      <p:sp>
        <p:nvSpPr>
          <p:cNvPr id="16" name="TextBox 15"/>
          <p:cNvSpPr txBox="1"/>
          <p:nvPr/>
        </p:nvSpPr>
        <p:spPr>
          <a:xfrm>
            <a:off x="7680960" y="2816352"/>
            <a:ext cx="3877056" cy="548640"/>
          </a:xfrm>
          <a:prstGeom prst="rect">
            <a:avLst/>
          </a:prstGeom>
          <a:noFill/>
        </p:spPr>
        <p:txBody>
          <a:bodyPr wrap="square" lIns="0" tIns="0" rIns="0" bIns="0" anchor="t">
            <a:noAutofit/>
          </a:bodyPr>
          <a:lstStyle/>
          <a:p>
            <a:pPr algn="l">
              <a:lnSpc>
                <a:spcPct val="95000"/>
              </a:lnSpc>
              <a:spcAft>
                <a:spcPts val="0"/>
              </a:spcAft>
            </a:pPr>
            <a:r>
              <a:rPr sz="1700" b="1" i="0">
                <a:solidFill>
                  <a:srgbClr val="333D47"/>
                </a:solidFill>
                <a:latin typeface="Arial"/>
              </a:rPr>
              <a:t>~8 hours</a:t>
            </a:r>
            <a:r>
              <a:rPr sz="1250" b="0" i="0">
                <a:solidFill>
                  <a:srgbClr val="5F6770"/>
                </a:solidFill>
                <a:latin typeface="Arial"/>
              </a:rPr>
              <a:t>   looking for internal information or tracking down colleagues¹</a:t>
            </a:r>
          </a:p>
        </p:txBody>
      </p:sp>
      <p:sp>
        <p:nvSpPr>
          <p:cNvPr id="17" name="Rectangle 16"/>
          <p:cNvSpPr/>
          <p:nvPr/>
        </p:nvSpPr>
        <p:spPr>
          <a:xfrm>
            <a:off x="7680960" y="3364992"/>
            <a:ext cx="775411" cy="237744"/>
          </a:xfrm>
          <a:prstGeom prst="rect">
            <a:avLst/>
          </a:prstGeom>
          <a:solidFill>
            <a:srgbClr val="9B928B"/>
          </a:solidFill>
          <a:ln>
            <a:noFill/>
          </a:ln>
        </p:spPr>
        <p:txBody>
          <a:bodyPr rtlCol="0" anchor="ctr"/>
          <a:lstStyle/>
          <a:p>
            <a:pPr algn="ctr"/>
          </a:p>
        </p:txBody>
      </p:sp>
      <p:sp>
        <p:nvSpPr>
          <p:cNvPr id="18" name="TextBox 17"/>
          <p:cNvSpPr txBox="1"/>
          <p:nvPr/>
        </p:nvSpPr>
        <p:spPr>
          <a:xfrm>
            <a:off x="7680960" y="3749040"/>
            <a:ext cx="3877056" cy="292608"/>
          </a:xfrm>
          <a:prstGeom prst="rect">
            <a:avLst/>
          </a:prstGeom>
          <a:noFill/>
        </p:spPr>
        <p:txBody>
          <a:bodyPr wrap="square" lIns="0" tIns="0" rIns="0" bIns="0" anchor="t">
            <a:noAutofit/>
          </a:bodyPr>
          <a:lstStyle/>
          <a:p>
            <a:pPr algn="l">
              <a:lnSpc>
                <a:spcPct val="95000"/>
              </a:lnSpc>
              <a:spcAft>
                <a:spcPts val="0"/>
              </a:spcAft>
            </a:pPr>
            <a:r>
              <a:rPr sz="1700" b="1" i="0">
                <a:solidFill>
                  <a:srgbClr val="D31145"/>
                </a:solidFill>
                <a:latin typeface="Arial"/>
              </a:rPr>
              <a:t>1 hour</a:t>
            </a:r>
            <a:r>
              <a:rPr sz="1250" b="0" i="0">
                <a:solidFill>
                  <a:srgbClr val="5F6770"/>
                </a:solidFill>
                <a:latin typeface="Arial"/>
              </a:rPr>
              <a:t>   this scenario: 2.5% of the week</a:t>
            </a:r>
          </a:p>
        </p:txBody>
      </p:sp>
      <p:sp>
        <p:nvSpPr>
          <p:cNvPr id="19" name="Rectangle 18"/>
          <p:cNvSpPr/>
          <p:nvPr/>
        </p:nvSpPr>
        <p:spPr>
          <a:xfrm>
            <a:off x="7680960" y="4078224"/>
            <a:ext cx="96926" cy="237744"/>
          </a:xfrm>
          <a:prstGeom prst="rect">
            <a:avLst/>
          </a:prstGeom>
          <a:solidFill>
            <a:srgbClr val="D31145"/>
          </a:solidFill>
          <a:ln>
            <a:noFill/>
          </a:ln>
        </p:spPr>
        <p:txBody>
          <a:bodyPr rtlCol="0" anchor="ctr"/>
          <a:lstStyle/>
          <a:p>
            <a:pPr algn="ctr"/>
          </a:p>
        </p:txBody>
      </p:sp>
      <p:sp>
        <p:nvSpPr>
          <p:cNvPr id="20" name="TextBox 19"/>
          <p:cNvSpPr txBox="1"/>
          <p:nvPr/>
        </p:nvSpPr>
        <p:spPr>
          <a:xfrm>
            <a:off x="7680960" y="4462272"/>
            <a:ext cx="3877056" cy="292608"/>
          </a:xfrm>
          <a:prstGeom prst="rect">
            <a:avLst/>
          </a:prstGeom>
          <a:noFill/>
        </p:spPr>
        <p:txBody>
          <a:bodyPr wrap="square" lIns="0" tIns="0" rIns="0" bIns="0" anchor="t">
            <a:noAutofit/>
          </a:bodyPr>
          <a:lstStyle/>
          <a:p>
            <a:pPr algn="l">
              <a:spcAft>
                <a:spcPts val="0"/>
              </a:spcAft>
            </a:pPr>
            <a:r>
              <a:rPr sz="1300" b="1" i="0">
                <a:solidFill>
                  <a:srgbClr val="D31145"/>
                </a:solidFill>
                <a:latin typeface="Arial"/>
              </a:rPr>
              <a:t>One hour is about one-eighth of that ~8 hours.</a:t>
            </a:r>
          </a:p>
        </p:txBody>
      </p:sp>
      <p:sp>
        <p:nvSpPr>
          <p:cNvPr id="21" name="TextBox 20"/>
          <p:cNvSpPr txBox="1"/>
          <p:nvPr/>
        </p:nvSpPr>
        <p:spPr>
          <a:xfrm>
            <a:off x="7680960" y="5065776"/>
            <a:ext cx="3877056" cy="438912"/>
          </a:xfrm>
          <a:prstGeom prst="rect">
            <a:avLst/>
          </a:prstGeom>
          <a:noFill/>
        </p:spPr>
        <p:txBody>
          <a:bodyPr wrap="square" lIns="0" tIns="0" rIns="0" bIns="0" anchor="t">
            <a:noAutofit/>
          </a:bodyPr>
          <a:lstStyle/>
          <a:p>
            <a:pPr algn="l">
              <a:spcAft>
                <a:spcPts val="0"/>
              </a:spcAft>
            </a:pPr>
            <a:r>
              <a:rPr sz="950" b="0" i="0">
                <a:solidFill>
                  <a:srgbClr val="5F6770"/>
                </a:solidFill>
                <a:latin typeface="Arial"/>
              </a:rPr>
              <a:t>¹ Nearly 20% of the workweek for high-skill knowledge workers. McKinsey Global Institute, The social economy (2012).</a:t>
            </a:r>
          </a:p>
        </p:txBody>
      </p:sp>
      <p:sp>
        <p:nvSpPr>
          <p:cNvPr id="22" name="Slide Number Placeholder"/>
          <p:cNvSpPr>
            <a:spLocks noGrp="1"/>
          </p:cNvSpPr>
          <p:nvPr>
            <p:ph type="sldNum" sz="quarter" idx="4"/>
          </p:nvPr>
        </p:nvSpPr>
        <p:spPr/>
        <p:txBody>
          <a:bodyPr/>
          <a:lstStyle/>
          <a:p>
            <a:fld id="{18A41853-EF22-D446-BDBC-A7CF3FE93503}" type="slidenum">
              <a:rPr lang="en-US"/>
              <a:t>4</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Released time moves to judgment, customers and ideas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WHAT THE CAPACITY IS FOR</a:t>
            </a:r>
          </a:p>
        </p:txBody>
      </p:sp>
      <p:sp>
        <p:nvSpPr>
          <p:cNvPr id="6" name="Rounded Rectangle 5"/>
          <p:cNvSpPr/>
          <p:nvPr/>
        </p:nvSpPr>
        <p:spPr>
          <a:xfrm>
            <a:off x="356616" y="1371600"/>
            <a:ext cx="4343400" cy="2423160"/>
          </a:xfrm>
          <a:prstGeom prst="roundRect">
            <a:avLst>
              <a:gd name="adj" fmla="val 3773"/>
            </a:avLst>
          </a:prstGeom>
          <a:solidFill>
            <a:srgbClr val="F4F1EF"/>
          </a:solidFill>
          <a:ln>
            <a:noFill/>
          </a:ln>
        </p:spPr>
        <p:txBody>
          <a:bodyPr rtlCol="0" anchor="ctr"/>
          <a:lstStyle/>
          <a:p>
            <a:pPr algn="ctr"/>
          </a:p>
        </p:txBody>
      </p:sp>
      <p:sp>
        <p:nvSpPr>
          <p:cNvPr id="7" name="TextBox 6"/>
          <p:cNvSpPr txBox="1"/>
          <p:nvPr/>
        </p:nvSpPr>
        <p:spPr>
          <a:xfrm>
            <a:off x="630936" y="1572768"/>
            <a:ext cx="3657600" cy="256032"/>
          </a:xfrm>
          <a:prstGeom prst="rect">
            <a:avLst/>
          </a:prstGeom>
          <a:noFill/>
        </p:spPr>
        <p:txBody>
          <a:bodyPr wrap="square" lIns="0" tIns="0" rIns="0" bIns="0" anchor="t">
            <a:noAutofit/>
          </a:bodyPr>
          <a:lstStyle/>
          <a:p>
            <a:pPr algn="l">
              <a:spcAft>
                <a:spcPts val="0"/>
              </a:spcAft>
            </a:pPr>
            <a:r>
              <a:rPr sz="1200" b="1" i="0" spc="100">
                <a:solidFill>
                  <a:srgbClr val="5F6770"/>
                </a:solidFill>
                <a:latin typeface="Arial"/>
              </a:rPr>
              <a:t>LESS TIME ON</a:t>
            </a:r>
          </a:p>
        </p:txBody>
      </p:sp>
      <p:pic>
        <p:nvPicPr>
          <p:cNvPr id="8" name="Picture 7" descr="LuSearch_g.png"/>
          <p:cNvPicPr>
            <a:picLocks noChangeAspect="1"/>
          </p:cNvPicPr>
          <p:nvPr/>
        </p:nvPicPr>
        <p:blipFill>
          <a:blip r:embed="rId3"/>
          <a:stretch>
            <a:fillRect/>
          </a:stretch>
        </p:blipFill>
        <p:spPr>
          <a:xfrm>
            <a:off x="649224" y="2011680"/>
            <a:ext cx="292608" cy="292608"/>
          </a:xfrm>
          <a:prstGeom prst="rect">
            <a:avLst/>
          </a:prstGeom>
        </p:spPr>
      </p:pic>
      <p:sp>
        <p:nvSpPr>
          <p:cNvPr id="9" name="TextBox 8"/>
          <p:cNvSpPr txBox="1"/>
          <p:nvPr/>
        </p:nvSpPr>
        <p:spPr>
          <a:xfrm>
            <a:off x="1133856" y="1993392"/>
            <a:ext cx="3474720" cy="329184"/>
          </a:xfrm>
          <a:prstGeom prst="rect">
            <a:avLst/>
          </a:prstGeom>
          <a:noFill/>
        </p:spPr>
        <p:txBody>
          <a:bodyPr wrap="square" lIns="0" tIns="0" rIns="0" bIns="0" anchor="ctr">
            <a:noAutofit/>
          </a:bodyPr>
          <a:lstStyle/>
          <a:p>
            <a:pPr algn="l">
              <a:spcAft>
                <a:spcPts val="0"/>
              </a:spcAft>
            </a:pPr>
            <a:r>
              <a:rPr sz="1600" b="0" i="0">
                <a:solidFill>
                  <a:srgbClr val="333D47"/>
                </a:solidFill>
                <a:latin typeface="Arial"/>
              </a:rPr>
              <a:t>Searching for information</a:t>
            </a:r>
          </a:p>
        </p:txBody>
      </p:sp>
      <p:pic>
        <p:nvPicPr>
          <p:cNvPr id="10" name="Picture 9" descr="LuShuffle_g.png"/>
          <p:cNvPicPr>
            <a:picLocks noChangeAspect="1"/>
          </p:cNvPicPr>
          <p:nvPr/>
        </p:nvPicPr>
        <p:blipFill>
          <a:blip r:embed="rId4"/>
          <a:stretch>
            <a:fillRect/>
          </a:stretch>
        </p:blipFill>
        <p:spPr>
          <a:xfrm>
            <a:off x="649224" y="2441448"/>
            <a:ext cx="292608" cy="292608"/>
          </a:xfrm>
          <a:prstGeom prst="rect">
            <a:avLst/>
          </a:prstGeom>
        </p:spPr>
      </p:pic>
      <p:sp>
        <p:nvSpPr>
          <p:cNvPr id="11" name="TextBox 10"/>
          <p:cNvSpPr txBox="1"/>
          <p:nvPr/>
        </p:nvSpPr>
        <p:spPr>
          <a:xfrm>
            <a:off x="1133856" y="2423160"/>
            <a:ext cx="3474720" cy="329184"/>
          </a:xfrm>
          <a:prstGeom prst="rect">
            <a:avLst/>
          </a:prstGeom>
          <a:noFill/>
        </p:spPr>
        <p:txBody>
          <a:bodyPr wrap="square" lIns="0" tIns="0" rIns="0" bIns="0" anchor="ctr">
            <a:noAutofit/>
          </a:bodyPr>
          <a:lstStyle/>
          <a:p>
            <a:pPr algn="l">
              <a:spcAft>
                <a:spcPts val="0"/>
              </a:spcAft>
            </a:pPr>
            <a:r>
              <a:rPr sz="1600" b="0" i="0">
                <a:solidFill>
                  <a:srgbClr val="333D47"/>
                </a:solidFill>
                <a:latin typeface="Arial"/>
              </a:rPr>
              <a:t>Switching between systems</a:t>
            </a:r>
          </a:p>
        </p:txBody>
      </p:sp>
      <p:pic>
        <p:nvPicPr>
          <p:cNvPr id="12" name="Picture 11" descr="LuCopy_g.png"/>
          <p:cNvPicPr>
            <a:picLocks noChangeAspect="1"/>
          </p:cNvPicPr>
          <p:nvPr/>
        </p:nvPicPr>
        <p:blipFill>
          <a:blip r:embed="rId5"/>
          <a:stretch>
            <a:fillRect/>
          </a:stretch>
        </p:blipFill>
        <p:spPr>
          <a:xfrm>
            <a:off x="649224" y="2871216"/>
            <a:ext cx="292608" cy="292608"/>
          </a:xfrm>
          <a:prstGeom prst="rect">
            <a:avLst/>
          </a:prstGeom>
        </p:spPr>
      </p:pic>
      <p:sp>
        <p:nvSpPr>
          <p:cNvPr id="13" name="TextBox 12"/>
          <p:cNvSpPr txBox="1"/>
          <p:nvPr/>
        </p:nvSpPr>
        <p:spPr>
          <a:xfrm>
            <a:off x="1133856" y="2852928"/>
            <a:ext cx="3474720" cy="329184"/>
          </a:xfrm>
          <a:prstGeom prst="rect">
            <a:avLst/>
          </a:prstGeom>
          <a:noFill/>
        </p:spPr>
        <p:txBody>
          <a:bodyPr wrap="square" lIns="0" tIns="0" rIns="0" bIns="0" anchor="ctr">
            <a:noAutofit/>
          </a:bodyPr>
          <a:lstStyle/>
          <a:p>
            <a:pPr algn="l">
              <a:spcAft>
                <a:spcPts val="0"/>
              </a:spcAft>
            </a:pPr>
            <a:r>
              <a:rPr sz="1600" b="0" i="0">
                <a:solidFill>
                  <a:srgbClr val="333D47"/>
                </a:solidFill>
                <a:latin typeface="Arial"/>
              </a:rPr>
              <a:t>Combining outputs by hand</a:t>
            </a:r>
          </a:p>
        </p:txBody>
      </p:sp>
      <p:pic>
        <p:nvPicPr>
          <p:cNvPr id="14" name="Picture 13" descr="LuFilePen_g.png"/>
          <p:cNvPicPr>
            <a:picLocks noChangeAspect="1"/>
          </p:cNvPicPr>
          <p:nvPr/>
        </p:nvPicPr>
        <p:blipFill>
          <a:blip r:embed="rId6"/>
          <a:stretch>
            <a:fillRect/>
          </a:stretch>
        </p:blipFill>
        <p:spPr>
          <a:xfrm>
            <a:off x="649224" y="3300984"/>
            <a:ext cx="292608" cy="292608"/>
          </a:xfrm>
          <a:prstGeom prst="rect">
            <a:avLst/>
          </a:prstGeom>
        </p:spPr>
      </p:pic>
      <p:sp>
        <p:nvSpPr>
          <p:cNvPr id="15" name="TextBox 14"/>
          <p:cNvSpPr txBox="1"/>
          <p:nvPr/>
        </p:nvSpPr>
        <p:spPr>
          <a:xfrm>
            <a:off x="1133856" y="3282696"/>
            <a:ext cx="3474720" cy="329184"/>
          </a:xfrm>
          <a:prstGeom prst="rect">
            <a:avLst/>
          </a:prstGeom>
          <a:noFill/>
        </p:spPr>
        <p:txBody>
          <a:bodyPr wrap="square" lIns="0" tIns="0" rIns="0" bIns="0" anchor="ctr">
            <a:noAutofit/>
          </a:bodyPr>
          <a:lstStyle/>
          <a:p>
            <a:pPr algn="l">
              <a:spcAft>
                <a:spcPts val="0"/>
              </a:spcAft>
            </a:pPr>
            <a:r>
              <a:rPr sz="1600" b="0" i="0">
                <a:solidFill>
                  <a:srgbClr val="333D47"/>
                </a:solidFill>
                <a:latin typeface="Arial"/>
              </a:rPr>
              <a:t>Repetitive drafting and reporting</a:t>
            </a:r>
          </a:p>
        </p:txBody>
      </p:sp>
      <p:sp>
        <p:nvSpPr>
          <p:cNvPr id="16" name="Rounded Rectangle 15"/>
          <p:cNvSpPr/>
          <p:nvPr/>
        </p:nvSpPr>
        <p:spPr>
          <a:xfrm>
            <a:off x="7488936" y="1371600"/>
            <a:ext cx="4343400" cy="2423160"/>
          </a:xfrm>
          <a:prstGeom prst="roundRect">
            <a:avLst>
              <a:gd name="adj" fmla="val 3773"/>
            </a:avLst>
          </a:prstGeom>
          <a:solidFill>
            <a:srgbClr val="FBE8ED"/>
          </a:solidFill>
          <a:ln>
            <a:noFill/>
          </a:ln>
        </p:spPr>
        <p:txBody>
          <a:bodyPr rtlCol="0" anchor="ctr"/>
          <a:lstStyle/>
          <a:p>
            <a:pPr algn="ctr"/>
          </a:p>
        </p:txBody>
      </p:sp>
      <p:sp>
        <p:nvSpPr>
          <p:cNvPr id="17" name="TextBox 16"/>
          <p:cNvSpPr txBox="1"/>
          <p:nvPr/>
        </p:nvSpPr>
        <p:spPr>
          <a:xfrm>
            <a:off x="7763256" y="1572768"/>
            <a:ext cx="3657600" cy="256032"/>
          </a:xfrm>
          <a:prstGeom prst="rect">
            <a:avLst/>
          </a:prstGeom>
          <a:noFill/>
        </p:spPr>
        <p:txBody>
          <a:bodyPr wrap="square" lIns="0" tIns="0" rIns="0" bIns="0" anchor="t">
            <a:noAutofit/>
          </a:bodyPr>
          <a:lstStyle/>
          <a:p>
            <a:pPr algn="l">
              <a:spcAft>
                <a:spcPts val="0"/>
              </a:spcAft>
            </a:pPr>
            <a:r>
              <a:rPr sz="1200" b="1" i="0" spc="100">
                <a:solidFill>
                  <a:srgbClr val="D31145"/>
                </a:solidFill>
                <a:latin typeface="Arial"/>
              </a:rPr>
              <a:t>MORE TIME FOR</a:t>
            </a:r>
          </a:p>
        </p:txBody>
      </p:sp>
      <p:pic>
        <p:nvPicPr>
          <p:cNvPr id="18" name="Picture 17" descr="LuHeartHandshake_r.png"/>
          <p:cNvPicPr>
            <a:picLocks noChangeAspect="1"/>
          </p:cNvPicPr>
          <p:nvPr/>
        </p:nvPicPr>
        <p:blipFill>
          <a:blip r:embed="rId7"/>
          <a:stretch>
            <a:fillRect/>
          </a:stretch>
        </p:blipFill>
        <p:spPr>
          <a:xfrm>
            <a:off x="7781544" y="2011680"/>
            <a:ext cx="292608" cy="292608"/>
          </a:xfrm>
          <a:prstGeom prst="rect">
            <a:avLst/>
          </a:prstGeom>
        </p:spPr>
      </p:pic>
      <p:sp>
        <p:nvSpPr>
          <p:cNvPr id="19" name="TextBox 18"/>
          <p:cNvSpPr txBox="1"/>
          <p:nvPr/>
        </p:nvSpPr>
        <p:spPr>
          <a:xfrm>
            <a:off x="8266176" y="1993392"/>
            <a:ext cx="3474720" cy="329184"/>
          </a:xfrm>
          <a:prstGeom prst="rect">
            <a:avLst/>
          </a:prstGeom>
          <a:noFill/>
        </p:spPr>
        <p:txBody>
          <a:bodyPr wrap="square" lIns="0" tIns="0" rIns="0" bIns="0" anchor="ctr">
            <a:noAutofit/>
          </a:bodyPr>
          <a:lstStyle/>
          <a:p>
            <a:pPr algn="l">
              <a:spcAft>
                <a:spcPts val="0"/>
              </a:spcAft>
            </a:pPr>
            <a:r>
              <a:rPr sz="1600" b="1" i="0">
                <a:solidFill>
                  <a:srgbClr val="333D47"/>
                </a:solidFill>
                <a:latin typeface="Arial"/>
              </a:rPr>
              <a:t>Customer relationships</a:t>
            </a:r>
          </a:p>
        </p:txBody>
      </p:sp>
      <p:pic>
        <p:nvPicPr>
          <p:cNvPr id="20" name="Picture 19" descr="LuScale_r.png"/>
          <p:cNvPicPr>
            <a:picLocks noChangeAspect="1"/>
          </p:cNvPicPr>
          <p:nvPr/>
        </p:nvPicPr>
        <p:blipFill>
          <a:blip r:embed="rId8"/>
          <a:stretch>
            <a:fillRect/>
          </a:stretch>
        </p:blipFill>
        <p:spPr>
          <a:xfrm>
            <a:off x="7781544" y="2441448"/>
            <a:ext cx="292608" cy="292608"/>
          </a:xfrm>
          <a:prstGeom prst="rect">
            <a:avLst/>
          </a:prstGeom>
        </p:spPr>
      </p:pic>
      <p:sp>
        <p:nvSpPr>
          <p:cNvPr id="21" name="TextBox 20"/>
          <p:cNvSpPr txBox="1"/>
          <p:nvPr/>
        </p:nvSpPr>
        <p:spPr>
          <a:xfrm>
            <a:off x="8266176" y="2423160"/>
            <a:ext cx="3474720" cy="329184"/>
          </a:xfrm>
          <a:prstGeom prst="rect">
            <a:avLst/>
          </a:prstGeom>
          <a:noFill/>
        </p:spPr>
        <p:txBody>
          <a:bodyPr wrap="square" lIns="0" tIns="0" rIns="0" bIns="0" anchor="ctr">
            <a:noAutofit/>
          </a:bodyPr>
          <a:lstStyle/>
          <a:p>
            <a:pPr algn="l">
              <a:spcAft>
                <a:spcPts val="0"/>
              </a:spcAft>
            </a:pPr>
            <a:r>
              <a:rPr sz="1600" b="1" i="0">
                <a:solidFill>
                  <a:srgbClr val="333D47"/>
                </a:solidFill>
                <a:latin typeface="Arial"/>
              </a:rPr>
              <a:t>Judgment and decisions</a:t>
            </a:r>
          </a:p>
        </p:txBody>
      </p:sp>
      <p:pic>
        <p:nvPicPr>
          <p:cNvPr id="22" name="Picture 21" descr="LuPuzzle_r.png"/>
          <p:cNvPicPr>
            <a:picLocks noChangeAspect="1"/>
          </p:cNvPicPr>
          <p:nvPr/>
        </p:nvPicPr>
        <p:blipFill>
          <a:blip r:embed="rId9"/>
          <a:stretch>
            <a:fillRect/>
          </a:stretch>
        </p:blipFill>
        <p:spPr>
          <a:xfrm>
            <a:off x="7781544" y="2871216"/>
            <a:ext cx="292608" cy="292608"/>
          </a:xfrm>
          <a:prstGeom prst="rect">
            <a:avLst/>
          </a:prstGeom>
        </p:spPr>
      </p:pic>
      <p:sp>
        <p:nvSpPr>
          <p:cNvPr id="23" name="TextBox 22"/>
          <p:cNvSpPr txBox="1"/>
          <p:nvPr/>
        </p:nvSpPr>
        <p:spPr>
          <a:xfrm>
            <a:off x="8266176" y="2852928"/>
            <a:ext cx="3474720" cy="329184"/>
          </a:xfrm>
          <a:prstGeom prst="rect">
            <a:avLst/>
          </a:prstGeom>
          <a:noFill/>
        </p:spPr>
        <p:txBody>
          <a:bodyPr wrap="square" lIns="0" tIns="0" rIns="0" bIns="0" anchor="ctr">
            <a:noAutofit/>
          </a:bodyPr>
          <a:lstStyle/>
          <a:p>
            <a:pPr algn="l">
              <a:spcAft>
                <a:spcPts val="0"/>
              </a:spcAft>
            </a:pPr>
            <a:r>
              <a:rPr sz="1600" b="1" i="0">
                <a:solidFill>
                  <a:srgbClr val="333D47"/>
                </a:solidFill>
                <a:latin typeface="Arial"/>
              </a:rPr>
              <a:t>Problem-solving</a:t>
            </a:r>
          </a:p>
        </p:txBody>
      </p:sp>
      <p:pic>
        <p:nvPicPr>
          <p:cNvPr id="24" name="Picture 23" descr="LuLightbulb_r.png"/>
          <p:cNvPicPr>
            <a:picLocks noChangeAspect="1"/>
          </p:cNvPicPr>
          <p:nvPr/>
        </p:nvPicPr>
        <p:blipFill>
          <a:blip r:embed="rId10"/>
          <a:stretch>
            <a:fillRect/>
          </a:stretch>
        </p:blipFill>
        <p:spPr>
          <a:xfrm>
            <a:off x="7781544" y="3300984"/>
            <a:ext cx="292608" cy="292608"/>
          </a:xfrm>
          <a:prstGeom prst="rect">
            <a:avLst/>
          </a:prstGeom>
        </p:spPr>
      </p:pic>
      <p:sp>
        <p:nvSpPr>
          <p:cNvPr id="25" name="TextBox 24"/>
          <p:cNvSpPr txBox="1"/>
          <p:nvPr/>
        </p:nvSpPr>
        <p:spPr>
          <a:xfrm>
            <a:off x="8266176" y="3282696"/>
            <a:ext cx="3474720" cy="329184"/>
          </a:xfrm>
          <a:prstGeom prst="rect">
            <a:avLst/>
          </a:prstGeom>
          <a:noFill/>
        </p:spPr>
        <p:txBody>
          <a:bodyPr wrap="square" lIns="0" tIns="0" rIns="0" bIns="0" anchor="ctr">
            <a:noAutofit/>
          </a:bodyPr>
          <a:lstStyle/>
          <a:p>
            <a:pPr algn="l">
              <a:spcAft>
                <a:spcPts val="0"/>
              </a:spcAft>
            </a:pPr>
            <a:r>
              <a:rPr sz="1600" b="1" i="0">
                <a:solidFill>
                  <a:srgbClr val="333D47"/>
                </a:solidFill>
                <a:latin typeface="Arial"/>
              </a:rPr>
              <a:t>Innovation</a:t>
            </a:r>
          </a:p>
        </p:txBody>
      </p:sp>
      <p:cxnSp>
        <p:nvCxnSpPr>
          <p:cNvPr id="26" name="Connector 25"/>
          <p:cNvCxnSpPr/>
          <p:nvPr/>
        </p:nvCxnSpPr>
        <p:spPr>
          <a:xfrm>
            <a:off x="4791456" y="2583180"/>
            <a:ext cx="777240" cy="0"/>
          </a:xfrm>
          <a:prstGeom prst="line">
            <a:avLst/>
          </a:prstGeom>
          <a:ln w="22225">
            <a:solidFill>
              <a:srgbClr val="9B928B"/>
            </a:solidFill>
            <a:tailEnd type="triangle" w="med" len="med"/>
          </a:ln>
        </p:spPr>
      </p:cxnSp>
      <p:cxnSp>
        <p:nvCxnSpPr>
          <p:cNvPr id="27" name="Connector 26"/>
          <p:cNvCxnSpPr/>
          <p:nvPr/>
        </p:nvCxnSpPr>
        <p:spPr>
          <a:xfrm>
            <a:off x="6620256" y="2583180"/>
            <a:ext cx="777240" cy="0"/>
          </a:xfrm>
          <a:prstGeom prst="line">
            <a:avLst/>
          </a:prstGeom>
          <a:ln w="22225">
            <a:solidFill>
              <a:srgbClr val="D31145"/>
            </a:solidFill>
            <a:tailEnd type="triangle" w="med" len="med"/>
          </a:ln>
        </p:spPr>
      </p:cxnSp>
      <p:sp>
        <p:nvSpPr>
          <p:cNvPr id="28" name="Oval 27"/>
          <p:cNvSpPr/>
          <p:nvPr/>
        </p:nvSpPr>
        <p:spPr>
          <a:xfrm>
            <a:off x="5660136" y="2148840"/>
            <a:ext cx="868680" cy="868680"/>
          </a:xfrm>
          <a:prstGeom prst="ellipse">
            <a:avLst/>
          </a:prstGeom>
          <a:solidFill>
            <a:srgbClr val="D31145"/>
          </a:solidFill>
          <a:ln>
            <a:noFill/>
          </a:ln>
        </p:spPr>
        <p:txBody>
          <a:bodyPr rtlCol="0" anchor="ctr" wrap="square" lIns="0" tIns="0" rIns="0" bIns="0">
            <a:noAutofit/>
          </a:bodyPr>
          <a:lstStyle/>
          <a:p>
            <a:pPr algn="ctr">
              <a:spcAft>
                <a:spcPts val="0"/>
              </a:spcAft>
            </a:pPr>
            <a:r>
              <a:rPr sz="2800" b="1" i="0">
                <a:solidFill>
                  <a:srgbClr val="FFFFFF"/>
                </a:solidFill>
                <a:latin typeface="Arial"/>
              </a:rPr>
              <a:t>R</a:t>
            </a:r>
          </a:p>
        </p:txBody>
      </p:sp>
      <p:sp>
        <p:nvSpPr>
          <p:cNvPr id="29" name="TextBox 28"/>
          <p:cNvSpPr txBox="1"/>
          <p:nvPr/>
        </p:nvSpPr>
        <p:spPr>
          <a:xfrm>
            <a:off x="4791456" y="3131820"/>
            <a:ext cx="2606040" cy="548640"/>
          </a:xfrm>
          <a:prstGeom prst="rect">
            <a:avLst/>
          </a:prstGeom>
          <a:noFill/>
        </p:spPr>
        <p:txBody>
          <a:bodyPr wrap="square" lIns="0" tIns="0" rIns="0" bIns="0" anchor="t">
            <a:noAutofit/>
          </a:bodyPr>
          <a:lstStyle/>
          <a:p>
            <a:pPr algn="ctr">
              <a:spcAft>
                <a:spcPts val="0"/>
              </a:spcAft>
            </a:pPr>
            <a:r>
              <a:rPr sz="1250" b="0" i="0">
                <a:solidFill>
                  <a:srgbClr val="5F6770"/>
                </a:solidFill>
                <a:latin typeface="Arial"/>
              </a:rPr>
              <a:t>Riley takes on the intermediate work</a:t>
            </a:r>
          </a:p>
        </p:txBody>
      </p:sp>
      <p:sp>
        <p:nvSpPr>
          <p:cNvPr id="30" name="Rounded Rectangle 29"/>
          <p:cNvSpPr/>
          <p:nvPr/>
        </p:nvSpPr>
        <p:spPr>
          <a:xfrm>
            <a:off x="356616" y="4069080"/>
            <a:ext cx="3639312" cy="1691640"/>
          </a:xfrm>
          <a:prstGeom prst="roundRect">
            <a:avLst>
              <a:gd name="adj" fmla="val 5405"/>
            </a:avLst>
          </a:prstGeom>
          <a:solidFill>
            <a:srgbClr val="FFFFFF"/>
          </a:solidFill>
          <a:ln w="19050">
            <a:solidFill>
              <a:srgbClr val="D31145"/>
            </a:solidFill>
          </a:ln>
        </p:spPr>
        <p:txBody>
          <a:bodyPr rtlCol="0" anchor="ctr"/>
          <a:lstStyle/>
          <a:p>
            <a:pPr algn="ctr"/>
          </a:p>
        </p:txBody>
      </p:sp>
      <p:sp>
        <p:nvSpPr>
          <p:cNvPr id="31" name="TextBox 30"/>
          <p:cNvSpPr txBox="1"/>
          <p:nvPr/>
        </p:nvSpPr>
        <p:spPr>
          <a:xfrm>
            <a:off x="585216" y="4251960"/>
            <a:ext cx="3182112" cy="228600"/>
          </a:xfrm>
          <a:prstGeom prst="rect">
            <a:avLst/>
          </a:prstGeom>
          <a:noFill/>
        </p:spPr>
        <p:txBody>
          <a:bodyPr wrap="square" lIns="0" tIns="0" rIns="0" bIns="0" anchor="t">
            <a:noAutofit/>
          </a:bodyPr>
          <a:lstStyle/>
          <a:p>
            <a:pPr algn="l">
              <a:spcAft>
                <a:spcPts val="0"/>
              </a:spcAft>
            </a:pPr>
            <a:r>
              <a:rPr sz="1050" b="1" i="0" spc="80">
                <a:solidFill>
                  <a:srgbClr val="D31145"/>
                </a:solidFill>
                <a:latin typeface="Arial"/>
              </a:rPr>
              <a:t>DOUBLE EMPLOYEE VALUE</a:t>
            </a:r>
          </a:p>
        </p:txBody>
      </p:sp>
      <p:sp>
        <p:nvSpPr>
          <p:cNvPr id="32" name="TextBox 31"/>
          <p:cNvSpPr txBox="1"/>
          <p:nvPr/>
        </p:nvSpPr>
        <p:spPr>
          <a:xfrm>
            <a:off x="585216" y="4526280"/>
            <a:ext cx="3182112" cy="566928"/>
          </a:xfrm>
          <a:prstGeom prst="rect">
            <a:avLst/>
          </a:prstGeom>
          <a:noFill/>
        </p:spPr>
        <p:txBody>
          <a:bodyPr wrap="square" lIns="0" tIns="0" rIns="0" bIns="0" anchor="t">
            <a:noAutofit/>
          </a:bodyPr>
          <a:lstStyle/>
          <a:p>
            <a:pPr algn="l">
              <a:lnSpc>
                <a:spcPct val="95000"/>
              </a:lnSpc>
              <a:spcAft>
                <a:spcPts val="0"/>
              </a:spcAft>
            </a:pPr>
            <a:r>
              <a:rPr sz="1650" b="1" i="0">
                <a:solidFill>
                  <a:srgbClr val="333D47"/>
                </a:solidFill>
                <a:latin typeface="Arial"/>
              </a:rPr>
              <a:t>Capacity for higher-value work</a:t>
            </a:r>
          </a:p>
        </p:txBody>
      </p:sp>
      <p:sp>
        <p:nvSpPr>
          <p:cNvPr id="33" name="TextBox 32"/>
          <p:cNvSpPr txBox="1"/>
          <p:nvPr/>
        </p:nvSpPr>
        <p:spPr>
          <a:xfrm>
            <a:off x="585216" y="5120640"/>
            <a:ext cx="3182112" cy="54864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More of each week for work that needs human judgment.</a:t>
            </a:r>
          </a:p>
        </p:txBody>
      </p:sp>
      <p:sp>
        <p:nvSpPr>
          <p:cNvPr id="34" name="Rounded Rectangle 33"/>
          <p:cNvSpPr/>
          <p:nvPr/>
        </p:nvSpPr>
        <p:spPr>
          <a:xfrm>
            <a:off x="4274820" y="4069080"/>
            <a:ext cx="3639312" cy="1691640"/>
          </a:xfrm>
          <a:prstGeom prst="roundRect">
            <a:avLst>
              <a:gd name="adj" fmla="val 5405"/>
            </a:avLst>
          </a:prstGeom>
          <a:solidFill>
            <a:srgbClr val="FFFFFF"/>
          </a:solidFill>
          <a:ln w="12700">
            <a:solidFill>
              <a:srgbClr val="DDD6D0"/>
            </a:solidFill>
          </a:ln>
        </p:spPr>
        <p:txBody>
          <a:bodyPr rtlCol="0" anchor="ctr"/>
          <a:lstStyle/>
          <a:p>
            <a:pPr algn="ctr"/>
          </a:p>
        </p:txBody>
      </p:sp>
      <p:sp>
        <p:nvSpPr>
          <p:cNvPr id="35" name="TextBox 34"/>
          <p:cNvSpPr txBox="1"/>
          <p:nvPr/>
        </p:nvSpPr>
        <p:spPr>
          <a:xfrm>
            <a:off x="4503420" y="4251960"/>
            <a:ext cx="3182112" cy="228600"/>
          </a:xfrm>
          <a:prstGeom prst="rect">
            <a:avLst/>
          </a:prstGeom>
          <a:noFill/>
        </p:spPr>
        <p:txBody>
          <a:bodyPr wrap="square" lIns="0" tIns="0" rIns="0" bIns="0" anchor="t">
            <a:noAutofit/>
          </a:bodyPr>
          <a:lstStyle/>
          <a:p>
            <a:pPr algn="l">
              <a:spcAft>
                <a:spcPts val="0"/>
              </a:spcAft>
            </a:pPr>
            <a:r>
              <a:rPr sz="1050" b="1" i="0" spc="80">
                <a:solidFill>
                  <a:srgbClr val="5F6770"/>
                </a:solidFill>
                <a:latin typeface="Arial"/>
              </a:rPr>
              <a:t>OPERATIONS VALUE  ·  HYPOTHESIS</a:t>
            </a:r>
          </a:p>
        </p:txBody>
      </p:sp>
      <p:sp>
        <p:nvSpPr>
          <p:cNvPr id="36" name="TextBox 35"/>
          <p:cNvSpPr txBox="1"/>
          <p:nvPr/>
        </p:nvSpPr>
        <p:spPr>
          <a:xfrm>
            <a:off x="4503420" y="4526280"/>
            <a:ext cx="3182112" cy="566928"/>
          </a:xfrm>
          <a:prstGeom prst="rect">
            <a:avLst/>
          </a:prstGeom>
          <a:noFill/>
        </p:spPr>
        <p:txBody>
          <a:bodyPr wrap="square" lIns="0" tIns="0" rIns="0" bIns="0" anchor="t">
            <a:noAutofit/>
          </a:bodyPr>
          <a:lstStyle/>
          <a:p>
            <a:pPr algn="l">
              <a:lnSpc>
                <a:spcPct val="95000"/>
              </a:lnSpc>
              <a:spcAft>
                <a:spcPts val="0"/>
              </a:spcAft>
            </a:pPr>
            <a:r>
              <a:rPr sz="1650" b="1" i="0">
                <a:solidFill>
                  <a:srgbClr val="333D47"/>
                </a:solidFill>
                <a:latin typeface="Arial"/>
              </a:rPr>
              <a:t>Faster, better-supported back-office work</a:t>
            </a:r>
          </a:p>
        </p:txBody>
      </p:sp>
      <p:sp>
        <p:nvSpPr>
          <p:cNvPr id="37" name="TextBox 36"/>
          <p:cNvSpPr txBox="1"/>
          <p:nvPr/>
        </p:nvSpPr>
        <p:spPr>
          <a:xfrm>
            <a:off x="4503420" y="5120640"/>
            <a:ext cx="3182112" cy="54864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Could support operational efficiency, service quality and speed.</a:t>
            </a:r>
          </a:p>
        </p:txBody>
      </p:sp>
      <p:sp>
        <p:nvSpPr>
          <p:cNvPr id="38" name="Rounded Rectangle 37"/>
          <p:cNvSpPr/>
          <p:nvPr/>
        </p:nvSpPr>
        <p:spPr>
          <a:xfrm>
            <a:off x="8193024" y="4069080"/>
            <a:ext cx="3639312" cy="1691640"/>
          </a:xfrm>
          <a:prstGeom prst="roundRect">
            <a:avLst>
              <a:gd name="adj" fmla="val 5405"/>
            </a:avLst>
          </a:prstGeom>
          <a:solidFill>
            <a:srgbClr val="FFFFFF"/>
          </a:solidFill>
          <a:ln w="12700">
            <a:solidFill>
              <a:srgbClr val="DDD6D0"/>
            </a:solidFill>
          </a:ln>
        </p:spPr>
        <p:txBody>
          <a:bodyPr rtlCol="0" anchor="ctr"/>
          <a:lstStyle/>
          <a:p>
            <a:pPr algn="ctr"/>
          </a:p>
        </p:txBody>
      </p:sp>
      <p:sp>
        <p:nvSpPr>
          <p:cNvPr id="39" name="TextBox 38"/>
          <p:cNvSpPr txBox="1"/>
          <p:nvPr/>
        </p:nvSpPr>
        <p:spPr>
          <a:xfrm>
            <a:off x="8421624" y="4251960"/>
            <a:ext cx="3182112" cy="228600"/>
          </a:xfrm>
          <a:prstGeom prst="rect">
            <a:avLst/>
          </a:prstGeom>
          <a:noFill/>
        </p:spPr>
        <p:txBody>
          <a:bodyPr wrap="square" lIns="0" tIns="0" rIns="0" bIns="0" anchor="t">
            <a:noAutofit/>
          </a:bodyPr>
          <a:lstStyle/>
          <a:p>
            <a:pPr algn="l">
              <a:spcAft>
                <a:spcPts val="0"/>
              </a:spcAft>
            </a:pPr>
            <a:r>
              <a:rPr sz="1050" b="1" i="0" spc="80">
                <a:solidFill>
                  <a:srgbClr val="5F6770"/>
                </a:solidFill>
                <a:latin typeface="Arial"/>
              </a:rPr>
              <a:t>FINANCIAL LINK  ·  HYPOTHESIS</a:t>
            </a:r>
          </a:p>
        </p:txBody>
      </p:sp>
      <p:sp>
        <p:nvSpPr>
          <p:cNvPr id="40" name="TextBox 39"/>
          <p:cNvSpPr txBox="1"/>
          <p:nvPr/>
        </p:nvSpPr>
        <p:spPr>
          <a:xfrm>
            <a:off x="8421624" y="4526280"/>
            <a:ext cx="3182112" cy="566928"/>
          </a:xfrm>
          <a:prstGeom prst="rect">
            <a:avLst/>
          </a:prstGeom>
          <a:noFill/>
        </p:spPr>
        <p:txBody>
          <a:bodyPr wrap="square" lIns="0" tIns="0" rIns="0" bIns="0" anchor="t">
            <a:noAutofit/>
          </a:bodyPr>
          <a:lstStyle/>
          <a:p>
            <a:pPr algn="l">
              <a:lnSpc>
                <a:spcPct val="95000"/>
              </a:lnSpc>
              <a:spcAft>
                <a:spcPts val="0"/>
              </a:spcAft>
            </a:pPr>
            <a:r>
              <a:rPr sz="1650" b="1" i="0">
                <a:solidFill>
                  <a:srgbClr val="333D47"/>
                </a:solidFill>
                <a:latin typeface="Arial"/>
              </a:rPr>
              <a:t>An indirect link to VONB / ANP</a:t>
            </a:r>
          </a:p>
        </p:txBody>
      </p:sp>
      <p:sp>
        <p:nvSpPr>
          <p:cNvPr id="41" name="TextBox 40"/>
          <p:cNvSpPr txBox="1"/>
          <p:nvPr/>
        </p:nvSpPr>
        <p:spPr>
          <a:xfrm>
            <a:off x="8421624" y="5120640"/>
            <a:ext cx="3182112" cy="54864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To be validated with AIA’s TDA methodology. No figure is claimed today.</a:t>
            </a:r>
          </a:p>
        </p:txBody>
      </p:sp>
      <p:sp>
        <p:nvSpPr>
          <p:cNvPr id="42" name="Slide Number Placeholder"/>
          <p:cNvSpPr>
            <a:spLocks noGrp="1"/>
          </p:cNvSpPr>
          <p:nvPr>
            <p:ph type="sldNum" sz="quarter" idx="4"/>
          </p:nvPr>
        </p:nvSpPr>
        <p:spPr/>
        <p:txBody>
          <a:bodyPr/>
          <a:lstStyle/>
          <a:p>
            <a:fld id="{18A41853-EF22-D446-BDBC-A7CF3FE93503}" type="slidenum">
              <a:rPr lang="en-US"/>
              <a:t>5</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Every new AI capability is a choice: another tool, or a stronger coworker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THE MULTIPLIER</a:t>
            </a:r>
          </a:p>
        </p:txBody>
      </p:sp>
      <p:sp>
        <p:nvSpPr>
          <p:cNvPr id="6" name="Oval 5"/>
          <p:cNvSpPr/>
          <p:nvPr/>
        </p:nvSpPr>
        <p:spPr>
          <a:xfrm>
            <a:off x="882396" y="2651760"/>
            <a:ext cx="868680" cy="868680"/>
          </a:xfrm>
          <a:prstGeom prst="ellipse">
            <a:avLst/>
          </a:prstGeom>
          <a:solidFill>
            <a:srgbClr val="333D47"/>
          </a:solidFill>
          <a:ln>
            <a:noFill/>
          </a:ln>
        </p:spPr>
        <p:txBody>
          <a:bodyPr rtlCol="0" anchor="ctr"/>
          <a:lstStyle/>
          <a:p>
            <a:pPr algn="ctr"/>
          </a:p>
        </p:txBody>
      </p:sp>
      <p:pic>
        <p:nvPicPr>
          <p:cNvPr id="7" name="Picture 6" descr="LuSparkles_w.png"/>
          <p:cNvPicPr>
            <a:picLocks noChangeAspect="1"/>
          </p:cNvPicPr>
          <p:nvPr/>
        </p:nvPicPr>
        <p:blipFill>
          <a:blip r:embed="rId3"/>
          <a:stretch>
            <a:fillRect/>
          </a:stretch>
        </p:blipFill>
        <p:spPr>
          <a:xfrm>
            <a:off x="1082192" y="2851556"/>
            <a:ext cx="469087" cy="469087"/>
          </a:xfrm>
          <a:prstGeom prst="rect">
            <a:avLst/>
          </a:prstGeom>
        </p:spPr>
      </p:pic>
      <p:sp>
        <p:nvSpPr>
          <p:cNvPr id="8" name="TextBox 7"/>
          <p:cNvSpPr txBox="1"/>
          <p:nvPr/>
        </p:nvSpPr>
        <p:spPr>
          <a:xfrm>
            <a:off x="265176" y="3607308"/>
            <a:ext cx="2103120" cy="548640"/>
          </a:xfrm>
          <a:prstGeom prst="rect">
            <a:avLst/>
          </a:prstGeom>
          <a:noFill/>
        </p:spPr>
        <p:txBody>
          <a:bodyPr wrap="square" lIns="0" tIns="0" rIns="0" bIns="0" anchor="t">
            <a:noAutofit/>
          </a:bodyPr>
          <a:lstStyle/>
          <a:p>
            <a:pPr algn="ctr">
              <a:lnSpc>
                <a:spcPct val="95000"/>
              </a:lnSpc>
              <a:spcAft>
                <a:spcPts val="0"/>
              </a:spcAft>
            </a:pPr>
            <a:r>
              <a:rPr sz="1400" b="1" i="0">
                <a:solidFill>
                  <a:srgbClr val="333D47"/>
                </a:solidFill>
                <a:latin typeface="Arial"/>
              </a:rPr>
              <a:t>AIA adds a new AI capability</a:t>
            </a:r>
          </a:p>
        </p:txBody>
      </p:sp>
      <p:sp>
        <p:nvSpPr>
          <p:cNvPr id="9" name="TextBox 8"/>
          <p:cNvSpPr txBox="1"/>
          <p:nvPr/>
        </p:nvSpPr>
        <p:spPr>
          <a:xfrm>
            <a:off x="265176" y="4137660"/>
            <a:ext cx="2103120" cy="502920"/>
          </a:xfrm>
          <a:prstGeom prst="rect">
            <a:avLst/>
          </a:prstGeom>
          <a:noFill/>
        </p:spPr>
        <p:txBody>
          <a:bodyPr wrap="square" lIns="0" tIns="0" rIns="0" bIns="0" anchor="t">
            <a:noAutofit/>
          </a:bodyPr>
          <a:lstStyle/>
          <a:p>
            <a:pPr algn="ctr">
              <a:spcAft>
                <a:spcPts val="0"/>
              </a:spcAft>
            </a:pPr>
            <a:r>
              <a:rPr sz="1150" b="0" i="0">
                <a:solidFill>
                  <a:srgbClr val="5F6770"/>
                </a:solidFill>
                <a:latin typeface="Arial"/>
              </a:rPr>
              <a:t>for example, a tool built by one AIA team</a:t>
            </a:r>
          </a:p>
        </p:txBody>
      </p:sp>
      <p:cxnSp>
        <p:nvCxnSpPr>
          <p:cNvPr id="10" name="Connector 9"/>
          <p:cNvCxnSpPr/>
          <p:nvPr/>
        </p:nvCxnSpPr>
        <p:spPr>
          <a:xfrm>
            <a:off x="1751076" y="3086100"/>
            <a:ext cx="644652" cy="0"/>
          </a:xfrm>
          <a:prstGeom prst="line">
            <a:avLst/>
          </a:prstGeom>
          <a:ln w="22225">
            <a:solidFill>
              <a:srgbClr val="9B928B"/>
            </a:solidFill>
          </a:ln>
        </p:spPr>
      </p:cxnSp>
      <p:cxnSp>
        <p:nvCxnSpPr>
          <p:cNvPr id="11" name="Connector 10"/>
          <p:cNvCxnSpPr/>
          <p:nvPr/>
        </p:nvCxnSpPr>
        <p:spPr>
          <a:xfrm>
            <a:off x="2395728" y="2560320"/>
            <a:ext cx="0" cy="1691640"/>
          </a:xfrm>
          <a:prstGeom prst="line">
            <a:avLst/>
          </a:prstGeom>
          <a:ln w="22225">
            <a:solidFill>
              <a:srgbClr val="9B928B"/>
            </a:solidFill>
          </a:ln>
        </p:spPr>
      </p:cxnSp>
      <p:cxnSp>
        <p:nvCxnSpPr>
          <p:cNvPr id="12" name="Connector 11"/>
          <p:cNvCxnSpPr/>
          <p:nvPr/>
        </p:nvCxnSpPr>
        <p:spPr>
          <a:xfrm>
            <a:off x="2395728" y="2560320"/>
            <a:ext cx="219456" cy="0"/>
          </a:xfrm>
          <a:prstGeom prst="line">
            <a:avLst/>
          </a:prstGeom>
          <a:ln w="22225">
            <a:solidFill>
              <a:srgbClr val="9B928B"/>
            </a:solidFill>
            <a:tailEnd type="triangle" w="med" len="med"/>
          </a:ln>
        </p:spPr>
      </p:cxnSp>
      <p:cxnSp>
        <p:nvCxnSpPr>
          <p:cNvPr id="13" name="Connector 12"/>
          <p:cNvCxnSpPr/>
          <p:nvPr/>
        </p:nvCxnSpPr>
        <p:spPr>
          <a:xfrm>
            <a:off x="2395728" y="4251960"/>
            <a:ext cx="219456" cy="0"/>
          </a:xfrm>
          <a:prstGeom prst="line">
            <a:avLst/>
          </a:prstGeom>
          <a:ln w="22225">
            <a:solidFill>
              <a:srgbClr val="D31145"/>
            </a:solidFill>
            <a:tailEnd type="triangle" w="med" len="med"/>
          </a:ln>
        </p:spPr>
      </p:cxnSp>
      <p:sp>
        <p:nvSpPr>
          <p:cNvPr id="14" name="Rounded Rectangle 13"/>
          <p:cNvSpPr/>
          <p:nvPr/>
        </p:nvSpPr>
        <p:spPr>
          <a:xfrm>
            <a:off x="2651760" y="1828800"/>
            <a:ext cx="9180576" cy="1463040"/>
          </a:xfrm>
          <a:prstGeom prst="roundRect">
            <a:avLst>
              <a:gd name="adj" fmla="val 6250"/>
            </a:avLst>
          </a:prstGeom>
          <a:solidFill>
            <a:srgbClr val="F4F1EF"/>
          </a:solidFill>
          <a:ln>
            <a:noFill/>
          </a:ln>
        </p:spPr>
        <p:txBody>
          <a:bodyPr rtlCol="0" anchor="ctr"/>
          <a:lstStyle/>
          <a:p>
            <a:pPr algn="ctr"/>
          </a:p>
        </p:txBody>
      </p:sp>
      <p:sp>
        <p:nvSpPr>
          <p:cNvPr id="15" name="TextBox 14"/>
          <p:cNvSpPr txBox="1"/>
          <p:nvPr/>
        </p:nvSpPr>
        <p:spPr>
          <a:xfrm>
            <a:off x="2880360" y="1975104"/>
            <a:ext cx="4572000" cy="237744"/>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RELEASED AS ANOTHER TOOL</a:t>
            </a:r>
          </a:p>
        </p:txBody>
      </p:sp>
      <p:sp>
        <p:nvSpPr>
          <p:cNvPr id="16" name="Rounded Rectangle 15"/>
          <p:cNvSpPr/>
          <p:nvPr/>
        </p:nvSpPr>
        <p:spPr>
          <a:xfrm>
            <a:off x="2880360"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screen to find and learn</a:t>
            </a:r>
          </a:p>
        </p:txBody>
      </p:sp>
      <p:cxnSp>
        <p:nvCxnSpPr>
          <p:cNvPr id="17" name="Connector 16"/>
          <p:cNvCxnSpPr/>
          <p:nvPr/>
        </p:nvCxnSpPr>
        <p:spPr>
          <a:xfrm>
            <a:off x="5029200" y="2697480"/>
            <a:ext cx="237744" cy="0"/>
          </a:xfrm>
          <a:prstGeom prst="line">
            <a:avLst/>
          </a:prstGeom>
          <a:ln w="19050">
            <a:solidFill>
              <a:srgbClr val="9B928B"/>
            </a:solidFill>
            <a:tailEnd type="triangle" w="med" len="med"/>
          </a:ln>
        </p:spPr>
      </p:cxnSp>
      <p:sp>
        <p:nvSpPr>
          <p:cNvPr id="18" name="Rounded Rectangle 17"/>
          <p:cNvSpPr/>
          <p:nvPr/>
        </p:nvSpPr>
        <p:spPr>
          <a:xfrm>
            <a:off x="5312664"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rollout, training and adoption</a:t>
            </a:r>
          </a:p>
        </p:txBody>
      </p:sp>
      <p:cxnSp>
        <p:nvCxnSpPr>
          <p:cNvPr id="19" name="Connector 18"/>
          <p:cNvCxnSpPr/>
          <p:nvPr/>
        </p:nvCxnSpPr>
        <p:spPr>
          <a:xfrm>
            <a:off x="7461504" y="2697480"/>
            <a:ext cx="237744" cy="0"/>
          </a:xfrm>
          <a:prstGeom prst="line">
            <a:avLst/>
          </a:prstGeom>
          <a:ln w="19050">
            <a:solidFill>
              <a:srgbClr val="9B928B"/>
            </a:solidFill>
            <a:tailEnd type="triangle" w="med" len="med"/>
          </a:ln>
        </p:spPr>
      </p:cxnSp>
      <p:sp>
        <p:nvSpPr>
          <p:cNvPr id="20" name="Rounded Rectangle 19"/>
          <p:cNvSpPr/>
          <p:nvPr/>
        </p:nvSpPr>
        <p:spPr>
          <a:xfrm>
            <a:off x="7744968"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Employees combine the outputs by hand</a:t>
            </a:r>
          </a:p>
        </p:txBody>
      </p:sp>
      <p:pic>
        <p:nvPicPr>
          <p:cNvPr id="21" name="Picture 20" descr="LuAppWindow_c.png"/>
          <p:cNvPicPr>
            <a:picLocks noChangeAspect="1"/>
          </p:cNvPicPr>
          <p:nvPr/>
        </p:nvPicPr>
        <p:blipFill>
          <a:blip r:embed="rId4"/>
          <a:stretch>
            <a:fillRect/>
          </a:stretch>
        </p:blipFill>
        <p:spPr>
          <a:xfrm>
            <a:off x="10122408" y="2304288"/>
            <a:ext cx="292608" cy="292608"/>
          </a:xfrm>
          <a:prstGeom prst="rect">
            <a:avLst/>
          </a:prstGeom>
        </p:spPr>
      </p:pic>
      <p:pic>
        <p:nvPicPr>
          <p:cNvPr id="22" name="Picture 21" descr="LuAppWindow_c.png"/>
          <p:cNvPicPr>
            <a:picLocks noChangeAspect="1"/>
          </p:cNvPicPr>
          <p:nvPr/>
        </p:nvPicPr>
        <p:blipFill>
          <a:blip r:embed="rId4"/>
          <a:stretch>
            <a:fillRect/>
          </a:stretch>
        </p:blipFill>
        <p:spPr>
          <a:xfrm>
            <a:off x="10506456" y="2304288"/>
            <a:ext cx="292608" cy="292608"/>
          </a:xfrm>
          <a:prstGeom prst="rect">
            <a:avLst/>
          </a:prstGeom>
        </p:spPr>
      </p:pic>
      <p:pic>
        <p:nvPicPr>
          <p:cNvPr id="23" name="Picture 22" descr="LuAppWindow_c.png"/>
          <p:cNvPicPr>
            <a:picLocks noChangeAspect="1"/>
          </p:cNvPicPr>
          <p:nvPr/>
        </p:nvPicPr>
        <p:blipFill>
          <a:blip r:embed="rId4"/>
          <a:stretch>
            <a:fillRect/>
          </a:stretch>
        </p:blipFill>
        <p:spPr>
          <a:xfrm>
            <a:off x="10890504" y="2304288"/>
            <a:ext cx="292608" cy="292608"/>
          </a:xfrm>
          <a:prstGeom prst="rect">
            <a:avLst/>
          </a:prstGeom>
        </p:spPr>
      </p:pic>
      <p:pic>
        <p:nvPicPr>
          <p:cNvPr id="24" name="Picture 23" descr="LuAppWindow_c.png"/>
          <p:cNvPicPr>
            <a:picLocks noChangeAspect="1"/>
          </p:cNvPicPr>
          <p:nvPr/>
        </p:nvPicPr>
        <p:blipFill>
          <a:blip r:embed="rId4"/>
          <a:stretch>
            <a:fillRect/>
          </a:stretch>
        </p:blipFill>
        <p:spPr>
          <a:xfrm>
            <a:off x="11274552" y="2304288"/>
            <a:ext cx="292608" cy="292608"/>
          </a:xfrm>
          <a:prstGeom prst="rect">
            <a:avLst/>
          </a:prstGeom>
        </p:spPr>
      </p:pic>
      <p:sp>
        <p:nvSpPr>
          <p:cNvPr id="25" name="TextBox 24"/>
          <p:cNvSpPr txBox="1"/>
          <p:nvPr/>
        </p:nvSpPr>
        <p:spPr>
          <a:xfrm>
            <a:off x="10122408" y="272491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333D47"/>
                </a:solidFill>
                <a:latin typeface="Arial"/>
              </a:rPr>
              <a:t>More AI → more tools to learn</a:t>
            </a:r>
          </a:p>
        </p:txBody>
      </p:sp>
      <p:sp>
        <p:nvSpPr>
          <p:cNvPr id="26" name="Rounded Rectangle 25"/>
          <p:cNvSpPr/>
          <p:nvPr/>
        </p:nvSpPr>
        <p:spPr>
          <a:xfrm>
            <a:off x="2651760" y="3520440"/>
            <a:ext cx="9180576" cy="1463040"/>
          </a:xfrm>
          <a:prstGeom prst="roundRect">
            <a:avLst>
              <a:gd name="adj" fmla="val 6250"/>
            </a:avLst>
          </a:prstGeom>
          <a:solidFill>
            <a:srgbClr val="FBE8ED"/>
          </a:solidFill>
          <a:ln>
            <a:noFill/>
          </a:ln>
        </p:spPr>
        <p:txBody>
          <a:bodyPr rtlCol="0" anchor="ctr"/>
          <a:lstStyle/>
          <a:p>
            <a:pPr algn="ctr"/>
          </a:p>
        </p:txBody>
      </p:sp>
      <p:sp>
        <p:nvSpPr>
          <p:cNvPr id="27" name="TextBox 26"/>
          <p:cNvSpPr txBox="1"/>
          <p:nvPr/>
        </p:nvSpPr>
        <p:spPr>
          <a:xfrm>
            <a:off x="2880360" y="3666744"/>
            <a:ext cx="4572000"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CONNECTED TO RILEY</a:t>
            </a:r>
          </a:p>
        </p:txBody>
      </p:sp>
      <p:sp>
        <p:nvSpPr>
          <p:cNvPr id="28" name="Rounded Rectangle 27"/>
          <p:cNvSpPr/>
          <p:nvPr/>
        </p:nvSpPr>
        <p:spPr>
          <a:xfrm>
            <a:off x="2880360"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Connected once: technical and governance work</a:t>
            </a:r>
          </a:p>
        </p:txBody>
      </p:sp>
      <p:cxnSp>
        <p:nvCxnSpPr>
          <p:cNvPr id="29" name="Connector 28"/>
          <p:cNvCxnSpPr/>
          <p:nvPr/>
        </p:nvCxnSpPr>
        <p:spPr>
          <a:xfrm>
            <a:off x="5029200" y="4389120"/>
            <a:ext cx="237744" cy="0"/>
          </a:xfrm>
          <a:prstGeom prst="line">
            <a:avLst/>
          </a:prstGeom>
          <a:ln w="19050">
            <a:solidFill>
              <a:srgbClr val="D31145"/>
            </a:solidFill>
            <a:tailEnd type="triangle" w="med" len="med"/>
          </a:ln>
        </p:spPr>
      </p:cxnSp>
      <p:sp>
        <p:nvSpPr>
          <p:cNvPr id="30" name="Rounded Rectangle 29"/>
          <p:cNvSpPr/>
          <p:nvPr/>
        </p:nvSpPr>
        <p:spPr>
          <a:xfrm>
            <a:off x="5312664"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Available to every authorized employee, in the same conversation</a:t>
            </a:r>
          </a:p>
        </p:txBody>
      </p:sp>
      <p:cxnSp>
        <p:nvCxnSpPr>
          <p:cNvPr id="31" name="Connector 30"/>
          <p:cNvCxnSpPr/>
          <p:nvPr/>
        </p:nvCxnSpPr>
        <p:spPr>
          <a:xfrm>
            <a:off x="7461504" y="4389120"/>
            <a:ext cx="237744" cy="0"/>
          </a:xfrm>
          <a:prstGeom prst="line">
            <a:avLst/>
          </a:prstGeom>
          <a:ln w="19050">
            <a:solidFill>
              <a:srgbClr val="D31145"/>
            </a:solidFill>
            <a:tailEnd type="triangle" w="med" len="med"/>
          </a:ln>
        </p:spPr>
      </p:cxnSp>
      <p:sp>
        <p:nvSpPr>
          <p:cNvPr id="32" name="Rounded Rectangle 31"/>
          <p:cNvSpPr/>
          <p:nvPr/>
        </p:nvSpPr>
        <p:spPr>
          <a:xfrm>
            <a:off x="7744968"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Riley combines it with what is already connected</a:t>
            </a:r>
          </a:p>
        </p:txBody>
      </p:sp>
      <p:sp>
        <p:nvSpPr>
          <p:cNvPr id="33" name="Oval 32"/>
          <p:cNvSpPr/>
          <p:nvPr/>
        </p:nvSpPr>
        <p:spPr>
          <a:xfrm>
            <a:off x="10140696" y="3941064"/>
            <a:ext cx="384048" cy="384048"/>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cxnSp>
        <p:nvCxnSpPr>
          <p:cNvPr id="34" name="Connector 33"/>
          <p:cNvCxnSpPr/>
          <p:nvPr/>
        </p:nvCxnSpPr>
        <p:spPr>
          <a:xfrm>
            <a:off x="10524744" y="4133088"/>
            <a:ext cx="182880" cy="0"/>
          </a:xfrm>
          <a:prstGeom prst="line">
            <a:avLst/>
          </a:prstGeom>
          <a:ln w="15875">
            <a:solidFill>
              <a:srgbClr val="D31145"/>
            </a:solidFill>
          </a:ln>
        </p:spPr>
      </p:cxnSp>
      <p:sp>
        <p:nvSpPr>
          <p:cNvPr id="35" name="Oval 34"/>
          <p:cNvSpPr/>
          <p:nvPr/>
        </p:nvSpPr>
        <p:spPr>
          <a:xfrm>
            <a:off x="10707624" y="4032504"/>
            <a:ext cx="201168" cy="201168"/>
          </a:xfrm>
          <a:prstGeom prst="ellipse">
            <a:avLst/>
          </a:prstGeom>
          <a:solidFill>
            <a:srgbClr val="FFFFFF"/>
          </a:solidFill>
          <a:ln w="15875">
            <a:solidFill>
              <a:srgbClr val="D31145"/>
            </a:solidFill>
          </a:ln>
        </p:spPr>
        <p:txBody>
          <a:bodyPr rtlCol="0" anchor="ctr"/>
          <a:lstStyle/>
          <a:p>
            <a:pPr algn="ctr"/>
          </a:p>
        </p:txBody>
      </p:sp>
      <p:cxnSp>
        <p:nvCxnSpPr>
          <p:cNvPr id="36" name="Connector 35"/>
          <p:cNvCxnSpPr/>
          <p:nvPr/>
        </p:nvCxnSpPr>
        <p:spPr>
          <a:xfrm>
            <a:off x="10927080" y="4133088"/>
            <a:ext cx="146304" cy="0"/>
          </a:xfrm>
          <a:prstGeom prst="line">
            <a:avLst/>
          </a:prstGeom>
          <a:ln w="15875">
            <a:solidFill>
              <a:srgbClr val="D31145"/>
            </a:solidFill>
          </a:ln>
        </p:spPr>
      </p:cxnSp>
      <p:sp>
        <p:nvSpPr>
          <p:cNvPr id="37" name="Oval 36"/>
          <p:cNvSpPr/>
          <p:nvPr/>
        </p:nvSpPr>
        <p:spPr>
          <a:xfrm>
            <a:off x="11073384" y="4032504"/>
            <a:ext cx="201168" cy="201168"/>
          </a:xfrm>
          <a:prstGeom prst="ellipse">
            <a:avLst/>
          </a:prstGeom>
          <a:solidFill>
            <a:srgbClr val="FFFFFF"/>
          </a:solidFill>
          <a:ln w="15875">
            <a:solidFill>
              <a:srgbClr val="D31145"/>
            </a:solidFill>
          </a:ln>
        </p:spPr>
        <p:txBody>
          <a:bodyPr rtlCol="0" anchor="ctr"/>
          <a:lstStyle/>
          <a:p>
            <a:pPr algn="ctr"/>
          </a:p>
        </p:txBody>
      </p:sp>
      <p:cxnSp>
        <p:nvCxnSpPr>
          <p:cNvPr id="38" name="Connector 37"/>
          <p:cNvCxnSpPr/>
          <p:nvPr/>
        </p:nvCxnSpPr>
        <p:spPr>
          <a:xfrm>
            <a:off x="11292840" y="4133088"/>
            <a:ext cx="146304" cy="0"/>
          </a:xfrm>
          <a:prstGeom prst="line">
            <a:avLst/>
          </a:prstGeom>
          <a:ln w="15875">
            <a:solidFill>
              <a:srgbClr val="D31145"/>
            </a:solidFill>
          </a:ln>
        </p:spPr>
      </p:cxnSp>
      <p:sp>
        <p:nvSpPr>
          <p:cNvPr id="39" name="Oval 38"/>
          <p:cNvSpPr/>
          <p:nvPr/>
        </p:nvSpPr>
        <p:spPr>
          <a:xfrm>
            <a:off x="11439144" y="4032504"/>
            <a:ext cx="201168" cy="201168"/>
          </a:xfrm>
          <a:prstGeom prst="ellipse">
            <a:avLst/>
          </a:prstGeom>
          <a:solidFill>
            <a:srgbClr val="D31145"/>
          </a:solidFill>
          <a:ln w="15875">
            <a:solidFill>
              <a:srgbClr val="D31145"/>
            </a:solidFill>
          </a:ln>
        </p:spPr>
        <p:txBody>
          <a:bodyPr rtlCol="0" anchor="ctr"/>
          <a:lstStyle/>
          <a:p>
            <a:pPr algn="ctr"/>
          </a:p>
        </p:txBody>
      </p:sp>
      <p:sp>
        <p:nvSpPr>
          <p:cNvPr id="40" name="TextBox 39"/>
          <p:cNvSpPr txBox="1"/>
          <p:nvPr/>
        </p:nvSpPr>
        <p:spPr>
          <a:xfrm>
            <a:off x="10122408" y="441655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D31145"/>
                </a:solidFill>
                <a:latin typeface="Arial"/>
              </a:rPr>
              <a:t>More AI → a more capable coworker</a:t>
            </a:r>
          </a:p>
        </p:txBody>
      </p:sp>
      <p:sp>
        <p:nvSpPr>
          <p:cNvPr id="41" name="Rounded Rectangle 40"/>
          <p:cNvSpPr/>
          <p:nvPr/>
        </p:nvSpPr>
        <p:spPr>
          <a:xfrm>
            <a:off x="356616" y="5166360"/>
            <a:ext cx="5632704" cy="566928"/>
          </a:xfrm>
          <a:prstGeom prst="roundRect">
            <a:avLst>
              <a:gd name="adj" fmla="val 12903"/>
            </a:avLst>
          </a:prstGeom>
          <a:solidFill>
            <a:srgbClr val="FFFFFF"/>
          </a:solidFill>
          <a:ln w="9525">
            <a:solidFill>
              <a:srgbClr val="DDD6D0"/>
            </a:solidFill>
          </a:ln>
        </p:spPr>
        <p:txBody>
          <a:bodyPr rtlCol="0" anchor="ctr"/>
          <a:lstStyle/>
          <a:p>
            <a:pPr algn="ctr"/>
          </a:p>
        </p:txBody>
      </p:sp>
      <p:pic>
        <p:nvPicPr>
          <p:cNvPr id="42" name="Picture 41" descr="LuPlug_c.png"/>
          <p:cNvPicPr>
            <a:picLocks noChangeAspect="1"/>
          </p:cNvPicPr>
          <p:nvPr/>
        </p:nvPicPr>
        <p:blipFill>
          <a:blip r:embed="rId5"/>
          <a:stretch>
            <a:fillRect/>
          </a:stretch>
        </p:blipFill>
        <p:spPr>
          <a:xfrm>
            <a:off x="502920" y="5303520"/>
            <a:ext cx="292608" cy="292608"/>
          </a:xfrm>
          <a:prstGeom prst="rect">
            <a:avLst/>
          </a:prstGeom>
        </p:spPr>
      </p:pic>
      <p:sp>
        <p:nvSpPr>
          <p:cNvPr id="43" name="TextBox 42"/>
          <p:cNvSpPr txBox="1"/>
          <p:nvPr/>
        </p:nvSpPr>
        <p:spPr>
          <a:xfrm>
            <a:off x="914400" y="5166360"/>
            <a:ext cx="4983480" cy="56692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Not automatic or free. </a:t>
            </a:r>
            <a:r>
              <a:rPr sz="1200" b="0" i="0">
                <a:solidFill>
                  <a:srgbClr val="333D47"/>
                </a:solidFill>
                <a:latin typeface="Arial"/>
              </a:rPr>
              <a:t>Every connection needs technical and governance work. Phase 2 tests it with another AIA team’s AI tool.</a:t>
            </a:r>
          </a:p>
        </p:txBody>
      </p:sp>
      <p:sp>
        <p:nvSpPr>
          <p:cNvPr id="44" name="Rounded Rectangle 43"/>
          <p:cNvSpPr/>
          <p:nvPr/>
        </p:nvSpPr>
        <p:spPr>
          <a:xfrm>
            <a:off x="6199632" y="5166360"/>
            <a:ext cx="5632704" cy="566928"/>
          </a:xfrm>
          <a:prstGeom prst="roundRect">
            <a:avLst>
              <a:gd name="adj" fmla="val 12903"/>
            </a:avLst>
          </a:prstGeom>
          <a:solidFill>
            <a:srgbClr val="FFFFFF"/>
          </a:solidFill>
          <a:ln w="9525">
            <a:solidFill>
              <a:srgbClr val="F2B6C6"/>
            </a:solidFill>
          </a:ln>
        </p:spPr>
        <p:txBody>
          <a:bodyPr rtlCol="0" anchor="ctr"/>
          <a:lstStyle/>
          <a:p>
            <a:pPr algn="ctr"/>
          </a:p>
        </p:txBody>
      </p:sp>
      <p:pic>
        <p:nvPicPr>
          <p:cNvPr id="45" name="Picture 44" descr="LuTrendingUp_r.png"/>
          <p:cNvPicPr>
            <a:picLocks noChangeAspect="1"/>
          </p:cNvPicPr>
          <p:nvPr/>
        </p:nvPicPr>
        <p:blipFill>
          <a:blip r:embed="rId6"/>
          <a:stretch>
            <a:fillRect/>
          </a:stretch>
        </p:blipFill>
        <p:spPr>
          <a:xfrm>
            <a:off x="6345936" y="5303520"/>
            <a:ext cx="292608" cy="292608"/>
          </a:xfrm>
          <a:prstGeom prst="rect">
            <a:avLst/>
          </a:prstGeom>
        </p:spPr>
      </p:pic>
      <p:sp>
        <p:nvSpPr>
          <p:cNvPr id="46" name="TextBox 45"/>
          <p:cNvSpPr txBox="1"/>
          <p:nvPr/>
        </p:nvSpPr>
        <p:spPr>
          <a:xfrm>
            <a:off x="6757416" y="5166360"/>
            <a:ext cx="4937760" cy="56692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Upside, a hypothesis: </a:t>
            </a:r>
            <a:r>
              <a:rPr sz="1200" b="0" i="0">
                <a:solidFill>
                  <a:srgbClr val="333D47"/>
                </a:solidFill>
                <a:latin typeface="Arial"/>
              </a:rPr>
              <a:t>the hour per person is a starting point. Value per employee could grow as more capabilities connect.</a:t>
            </a:r>
          </a:p>
        </p:txBody>
      </p:sp>
      <p:sp>
        <p:nvSpPr>
          <p:cNvPr id="47"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Copilot could be the engine. Riley is how AIA puts that engine to work across AIA.</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ISN’T THIS JUST COPILOT?</a:t>
            </a:r>
          </a:p>
        </p:txBody>
      </p:sp>
      <p:sp>
        <p:nvSpPr>
          <p:cNvPr id="6" name="Rounded Rectangle 5"/>
          <p:cNvSpPr/>
          <p:nvPr/>
        </p:nvSpPr>
        <p:spPr>
          <a:xfrm>
            <a:off x="356616" y="1783080"/>
            <a:ext cx="6958584" cy="457200"/>
          </a:xfrm>
          <a:prstGeom prst="roundRect">
            <a:avLst>
              <a:gd name="adj" fmla="val 16000"/>
            </a:avLst>
          </a:prstGeom>
          <a:solidFill>
            <a:srgbClr val="FFFFFF"/>
          </a:solidFill>
          <a:ln w="12700">
            <a:solidFill>
              <a:srgbClr val="DDD6D0"/>
            </a:solidFill>
          </a:ln>
        </p:spPr>
        <p:txBody>
          <a:bodyPr rtlCol="0" anchor="ctr"/>
          <a:lstStyle/>
          <a:p>
            <a:pPr algn="ctr"/>
          </a:p>
        </p:txBody>
      </p:sp>
      <p:pic>
        <p:nvPicPr>
          <p:cNvPr id="7" name="Picture 6" descr="LuMessagesSquare_c.png"/>
          <p:cNvPicPr>
            <a:picLocks noChangeAspect="1"/>
          </p:cNvPicPr>
          <p:nvPr/>
        </p:nvPicPr>
        <p:blipFill>
          <a:blip r:embed="rId3"/>
          <a:stretch>
            <a:fillRect/>
          </a:stretch>
        </p:blipFill>
        <p:spPr>
          <a:xfrm>
            <a:off x="539496" y="1874520"/>
            <a:ext cx="274320" cy="274320"/>
          </a:xfrm>
          <a:prstGeom prst="rect">
            <a:avLst/>
          </a:prstGeom>
        </p:spPr>
      </p:pic>
      <p:sp>
        <p:nvSpPr>
          <p:cNvPr id="8" name="TextBox 7"/>
          <p:cNvSpPr txBox="1"/>
          <p:nvPr/>
        </p:nvSpPr>
        <p:spPr>
          <a:xfrm>
            <a:off x="950976" y="1783080"/>
            <a:ext cx="6227064" cy="457200"/>
          </a:xfrm>
          <a:prstGeom prst="rect">
            <a:avLst/>
          </a:prstGeom>
          <a:noFill/>
        </p:spPr>
        <p:txBody>
          <a:bodyPr wrap="square" lIns="0" tIns="0" rIns="0" bIns="0" anchor="ctr">
            <a:noAutofit/>
          </a:bodyPr>
          <a:lstStyle/>
          <a:p>
            <a:pPr algn="l">
              <a:spcAft>
                <a:spcPts val="0"/>
              </a:spcAft>
            </a:pPr>
            <a:r>
              <a:rPr sz="1400" b="1" i="0">
                <a:solidFill>
                  <a:srgbClr val="333D47"/>
                </a:solidFill>
                <a:latin typeface="Arial"/>
              </a:rPr>
              <a:t>Employees</a:t>
            </a:r>
            <a:r>
              <a:rPr sz="1400" b="0" i="0">
                <a:solidFill>
                  <a:srgbClr val="333D47"/>
                </a:solidFill>
                <a:latin typeface="Arial"/>
              </a:rPr>
              <a:t>   one conversation in Microsoft Teams</a:t>
            </a:r>
          </a:p>
        </p:txBody>
      </p:sp>
      <p:sp>
        <p:nvSpPr>
          <p:cNvPr id="9" name="Rounded Rectangle 8"/>
          <p:cNvSpPr/>
          <p:nvPr/>
        </p:nvSpPr>
        <p:spPr>
          <a:xfrm>
            <a:off x="356616" y="2359152"/>
            <a:ext cx="6958584" cy="2057400"/>
          </a:xfrm>
          <a:prstGeom prst="roundRect">
            <a:avLst>
              <a:gd name="adj" fmla="val 4444"/>
            </a:avLst>
          </a:prstGeom>
          <a:solidFill>
            <a:srgbClr val="D31145"/>
          </a:solidFill>
          <a:ln>
            <a:noFill/>
          </a:ln>
        </p:spPr>
        <p:txBody>
          <a:bodyPr rtlCol="0" anchor="ctr"/>
          <a:lstStyle/>
          <a:p>
            <a:pPr algn="ctr"/>
          </a:p>
        </p:txBody>
      </p:sp>
      <p:sp>
        <p:nvSpPr>
          <p:cNvPr id="10" name="TextBox 9"/>
          <p:cNvSpPr txBox="1"/>
          <p:nvPr/>
        </p:nvSpPr>
        <p:spPr>
          <a:xfrm>
            <a:off x="585216" y="2468880"/>
            <a:ext cx="6501384" cy="274320"/>
          </a:xfrm>
          <a:prstGeom prst="rect">
            <a:avLst/>
          </a:prstGeom>
          <a:noFill/>
        </p:spPr>
        <p:txBody>
          <a:bodyPr wrap="square" lIns="0" tIns="0" rIns="0" bIns="0" anchor="t">
            <a:noAutofit/>
          </a:bodyPr>
          <a:lstStyle/>
          <a:p>
            <a:pPr algn="l">
              <a:spcAft>
                <a:spcPts val="0"/>
              </a:spcAft>
            </a:pPr>
            <a:r>
              <a:rPr sz="1250" b="1" i="0" spc="100">
                <a:solidFill>
                  <a:srgbClr val="FFFFFF"/>
                </a:solidFill>
                <a:latin typeface="Arial"/>
              </a:rPr>
              <a:t>RILEY  ·  THE AIA LAYER</a:t>
            </a:r>
            <a:r>
              <a:rPr sz="1200" b="0" i="0">
                <a:solidFill>
                  <a:srgbClr val="FFFFFF"/>
                </a:solidFill>
                <a:latin typeface="Arial"/>
              </a:rPr>
              <a:t>     what AIA defines</a:t>
            </a:r>
          </a:p>
        </p:txBody>
      </p:sp>
      <p:sp>
        <p:nvSpPr>
          <p:cNvPr id="11" name="Rounded Rectangle 10"/>
          <p:cNvSpPr/>
          <p:nvPr/>
        </p:nvSpPr>
        <p:spPr>
          <a:xfrm>
            <a:off x="585216" y="2834640"/>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AIA data connections</a:t>
            </a:r>
          </a:p>
        </p:txBody>
      </p:sp>
      <p:sp>
        <p:nvSpPr>
          <p:cNvPr id="12" name="Rounded Rectangle 11"/>
          <p:cNvSpPr/>
          <p:nvPr/>
        </p:nvSpPr>
        <p:spPr>
          <a:xfrm>
            <a:off x="2242566" y="2834640"/>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AIA systems</a:t>
            </a:r>
          </a:p>
        </p:txBody>
      </p:sp>
      <p:sp>
        <p:nvSpPr>
          <p:cNvPr id="13" name="Rounded Rectangle 12"/>
          <p:cNvSpPr/>
          <p:nvPr/>
        </p:nvSpPr>
        <p:spPr>
          <a:xfrm>
            <a:off x="3899916" y="2834640"/>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AI tools from AIA teams</a:t>
            </a:r>
          </a:p>
        </p:txBody>
      </p:sp>
      <p:sp>
        <p:nvSpPr>
          <p:cNvPr id="14" name="Rounded Rectangle 13"/>
          <p:cNvSpPr/>
          <p:nvPr/>
        </p:nvSpPr>
        <p:spPr>
          <a:xfrm>
            <a:off x="5557266" y="2834640"/>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Employee permissions</a:t>
            </a:r>
          </a:p>
        </p:txBody>
      </p:sp>
      <p:sp>
        <p:nvSpPr>
          <p:cNvPr id="15" name="Rounded Rectangle 14"/>
          <p:cNvSpPr/>
          <p:nvPr/>
        </p:nvSpPr>
        <p:spPr>
          <a:xfrm>
            <a:off x="585216" y="3593592"/>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AIA workflows</a:t>
            </a:r>
          </a:p>
        </p:txBody>
      </p:sp>
      <p:sp>
        <p:nvSpPr>
          <p:cNvPr id="16" name="Rounded Rectangle 15"/>
          <p:cNvSpPr/>
          <p:nvPr/>
        </p:nvSpPr>
        <p:spPr>
          <a:xfrm>
            <a:off x="2242566" y="3593592"/>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Approval rules</a:t>
            </a:r>
          </a:p>
        </p:txBody>
      </p:sp>
      <p:sp>
        <p:nvSpPr>
          <p:cNvPr id="17" name="Rounded Rectangle 16"/>
          <p:cNvSpPr/>
          <p:nvPr/>
        </p:nvSpPr>
        <p:spPr>
          <a:xfrm>
            <a:off x="3899916" y="3593592"/>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A record of the work</a:t>
            </a:r>
          </a:p>
        </p:txBody>
      </p:sp>
      <p:sp>
        <p:nvSpPr>
          <p:cNvPr id="18" name="Rounded Rectangle 17"/>
          <p:cNvSpPr/>
          <p:nvPr/>
        </p:nvSpPr>
        <p:spPr>
          <a:xfrm>
            <a:off x="5557266" y="3593592"/>
            <a:ext cx="1529334" cy="640080"/>
          </a:xfrm>
          <a:prstGeom prst="roundRect">
            <a:avLst>
              <a:gd name="adj" fmla="val 8571"/>
            </a:avLst>
          </a:prstGeom>
          <a:solidFill>
            <a:srgbClr val="FFFFFF"/>
          </a:solidFill>
          <a:ln>
            <a:noFill/>
          </a:ln>
        </p:spPr>
        <p:txBody>
          <a:bodyPr rtlCol="0" anchor="ctr" wrap="square" lIns="73152" tIns="27432" rIns="73152" bIns="27432">
            <a:noAutofit/>
          </a:bodyPr>
          <a:lstStyle/>
          <a:p>
            <a:pPr algn="ctr">
              <a:lnSpc>
                <a:spcPct val="95000"/>
              </a:lnSpc>
              <a:spcAft>
                <a:spcPts val="0"/>
              </a:spcAft>
            </a:pPr>
            <a:r>
              <a:rPr sz="1200" b="1" i="0">
                <a:solidFill>
                  <a:srgbClr val="D31145"/>
                </a:solidFill>
                <a:latin typeface="Arial"/>
              </a:rPr>
              <a:t>Feedback and governed learning</a:t>
            </a:r>
          </a:p>
        </p:txBody>
      </p:sp>
      <p:sp>
        <p:nvSpPr>
          <p:cNvPr id="19" name="Rounded Rectangle 18"/>
          <p:cNvSpPr/>
          <p:nvPr/>
        </p:nvSpPr>
        <p:spPr>
          <a:xfrm>
            <a:off x="356616" y="4535424"/>
            <a:ext cx="6958584" cy="1188720"/>
          </a:xfrm>
          <a:prstGeom prst="roundRect">
            <a:avLst>
              <a:gd name="adj" fmla="val 7692"/>
            </a:avLst>
          </a:prstGeom>
          <a:solidFill>
            <a:srgbClr val="F4F1EF"/>
          </a:solidFill>
          <a:ln w="9525">
            <a:solidFill>
              <a:srgbClr val="DDD6D0"/>
            </a:solidFill>
          </a:ln>
        </p:spPr>
        <p:txBody>
          <a:bodyPr rtlCol="0" anchor="ctr"/>
          <a:lstStyle/>
          <a:p>
            <a:pPr algn="ctr"/>
          </a:p>
        </p:txBody>
      </p:sp>
      <p:sp>
        <p:nvSpPr>
          <p:cNvPr id="20" name="TextBox 19"/>
          <p:cNvSpPr txBox="1"/>
          <p:nvPr/>
        </p:nvSpPr>
        <p:spPr>
          <a:xfrm>
            <a:off x="585216" y="4636008"/>
            <a:ext cx="6501384" cy="274320"/>
          </a:xfrm>
          <a:prstGeom prst="rect">
            <a:avLst/>
          </a:prstGeom>
          <a:noFill/>
        </p:spPr>
        <p:txBody>
          <a:bodyPr wrap="square" lIns="0" tIns="0" rIns="0" bIns="0" anchor="t">
            <a:noAutofit/>
          </a:bodyPr>
          <a:lstStyle/>
          <a:p>
            <a:pPr algn="l">
              <a:spcAft>
                <a:spcPts val="0"/>
              </a:spcAft>
            </a:pPr>
            <a:r>
              <a:rPr sz="1200" b="1" i="0" spc="100">
                <a:solidFill>
                  <a:srgbClr val="5F6770"/>
                </a:solidFill>
                <a:latin typeface="Arial"/>
              </a:rPr>
              <a:t>ENGINE  ·  </a:t>
            </a:r>
            <a:r>
              <a:rPr sz="1200" b="1" i="0">
                <a:solidFill>
                  <a:srgbClr val="5F6770"/>
                </a:solidFill>
                <a:latin typeface="Arial"/>
              </a:rPr>
              <a:t>Copilot Studio or another enterprise platform</a:t>
            </a:r>
          </a:p>
        </p:txBody>
      </p:sp>
      <p:sp>
        <p:nvSpPr>
          <p:cNvPr id="21" name="Rounded Rectangle 20"/>
          <p:cNvSpPr/>
          <p:nvPr/>
        </p:nvSpPr>
        <p:spPr>
          <a:xfrm>
            <a:off x="585216" y="5029200"/>
            <a:ext cx="1529334" cy="475488"/>
          </a:xfrm>
          <a:prstGeom prst="roundRect">
            <a:avLst>
              <a:gd name="adj" fmla="val 11538"/>
            </a:avLst>
          </a:prstGeom>
          <a:solidFill>
            <a:srgbClr val="FFFFFF"/>
          </a:solidFill>
          <a:ln w="9525">
            <a:solidFill>
              <a:srgbClr val="DDD6D0"/>
            </a:solidFill>
          </a:ln>
        </p:spPr>
        <p:txBody>
          <a:bodyPr rtlCol="0" anchor="ctr" wrap="square" lIns="54864" tIns="54864" rIns="54864" bIns="54864">
            <a:noAutofit/>
          </a:bodyPr>
          <a:lstStyle/>
          <a:p>
            <a:pPr algn="ctr">
              <a:spcAft>
                <a:spcPts val="0"/>
              </a:spcAft>
            </a:pPr>
            <a:r>
              <a:rPr sz="1250" b="0" i="0">
                <a:solidFill>
                  <a:srgbClr val="333D47"/>
                </a:solidFill>
                <a:latin typeface="Arial"/>
              </a:rPr>
              <a:t>AI models</a:t>
            </a:r>
          </a:p>
        </p:txBody>
      </p:sp>
      <p:sp>
        <p:nvSpPr>
          <p:cNvPr id="22" name="Rounded Rectangle 21"/>
          <p:cNvSpPr/>
          <p:nvPr/>
        </p:nvSpPr>
        <p:spPr>
          <a:xfrm>
            <a:off x="2242566" y="5029200"/>
            <a:ext cx="1529334" cy="475488"/>
          </a:xfrm>
          <a:prstGeom prst="roundRect">
            <a:avLst>
              <a:gd name="adj" fmla="val 11538"/>
            </a:avLst>
          </a:prstGeom>
          <a:solidFill>
            <a:srgbClr val="FFFFFF"/>
          </a:solidFill>
          <a:ln w="9525">
            <a:solidFill>
              <a:srgbClr val="DDD6D0"/>
            </a:solidFill>
          </a:ln>
        </p:spPr>
        <p:txBody>
          <a:bodyPr rtlCol="0" anchor="ctr" wrap="square" lIns="54864" tIns="54864" rIns="54864" bIns="54864">
            <a:noAutofit/>
          </a:bodyPr>
          <a:lstStyle/>
          <a:p>
            <a:pPr algn="ctr">
              <a:spcAft>
                <a:spcPts val="0"/>
              </a:spcAft>
            </a:pPr>
            <a:r>
              <a:rPr sz="1250" b="0" i="0">
                <a:solidFill>
                  <a:srgbClr val="333D47"/>
                </a:solidFill>
                <a:latin typeface="Arial"/>
              </a:rPr>
              <a:t>Agent runtime</a:t>
            </a:r>
          </a:p>
        </p:txBody>
      </p:sp>
      <p:sp>
        <p:nvSpPr>
          <p:cNvPr id="23" name="Rounded Rectangle 22"/>
          <p:cNvSpPr/>
          <p:nvPr/>
        </p:nvSpPr>
        <p:spPr>
          <a:xfrm>
            <a:off x="3899916" y="5029200"/>
            <a:ext cx="1529334" cy="475488"/>
          </a:xfrm>
          <a:prstGeom prst="roundRect">
            <a:avLst>
              <a:gd name="adj" fmla="val 11538"/>
            </a:avLst>
          </a:prstGeom>
          <a:solidFill>
            <a:srgbClr val="FFFFFF"/>
          </a:solidFill>
          <a:ln w="9525">
            <a:solidFill>
              <a:srgbClr val="DDD6D0"/>
            </a:solidFill>
          </a:ln>
        </p:spPr>
        <p:txBody>
          <a:bodyPr rtlCol="0" anchor="ctr" wrap="square" lIns="54864" tIns="54864" rIns="54864" bIns="54864">
            <a:noAutofit/>
          </a:bodyPr>
          <a:lstStyle/>
          <a:p>
            <a:pPr algn="ctr">
              <a:spcAft>
                <a:spcPts val="0"/>
              </a:spcAft>
            </a:pPr>
            <a:r>
              <a:rPr sz="1250" b="0" i="0">
                <a:solidFill>
                  <a:srgbClr val="333D47"/>
                </a:solidFill>
                <a:latin typeface="Arial"/>
              </a:rPr>
              <a:t>Orchestration</a:t>
            </a:r>
          </a:p>
        </p:txBody>
      </p:sp>
      <p:sp>
        <p:nvSpPr>
          <p:cNvPr id="24" name="Rounded Rectangle 23"/>
          <p:cNvSpPr/>
          <p:nvPr/>
        </p:nvSpPr>
        <p:spPr>
          <a:xfrm>
            <a:off x="5557266" y="5029200"/>
            <a:ext cx="1529334" cy="475488"/>
          </a:xfrm>
          <a:prstGeom prst="roundRect">
            <a:avLst>
              <a:gd name="adj" fmla="val 11538"/>
            </a:avLst>
          </a:prstGeom>
          <a:solidFill>
            <a:srgbClr val="FFFFFF"/>
          </a:solidFill>
          <a:ln w="9525">
            <a:solidFill>
              <a:srgbClr val="DDD6D0"/>
            </a:solidFill>
          </a:ln>
        </p:spPr>
        <p:txBody>
          <a:bodyPr rtlCol="0" anchor="ctr" wrap="square" lIns="54864" tIns="54864" rIns="54864" bIns="54864">
            <a:noAutofit/>
          </a:bodyPr>
          <a:lstStyle/>
          <a:p>
            <a:pPr algn="ctr">
              <a:spcAft>
                <a:spcPts val="0"/>
              </a:spcAft>
            </a:pPr>
            <a:r>
              <a:rPr sz="1250" b="0" i="0">
                <a:solidFill>
                  <a:srgbClr val="333D47"/>
                </a:solidFill>
                <a:latin typeface="Arial"/>
              </a:rPr>
              <a:t>Teams integration</a:t>
            </a:r>
          </a:p>
        </p:txBody>
      </p:sp>
      <p:sp>
        <p:nvSpPr>
          <p:cNvPr id="25" name="Oval 24"/>
          <p:cNvSpPr/>
          <p:nvPr/>
        </p:nvSpPr>
        <p:spPr>
          <a:xfrm>
            <a:off x="7726680" y="1783080"/>
            <a:ext cx="475488" cy="475488"/>
          </a:xfrm>
          <a:prstGeom prst="ellipse">
            <a:avLst/>
          </a:prstGeom>
          <a:solidFill>
            <a:srgbClr val="333D47"/>
          </a:solidFill>
          <a:ln>
            <a:noFill/>
          </a:ln>
        </p:spPr>
        <p:txBody>
          <a:bodyPr rtlCol="0" anchor="ctr"/>
          <a:lstStyle/>
          <a:p>
            <a:pPr algn="ctr"/>
          </a:p>
        </p:txBody>
      </p:sp>
      <p:pic>
        <p:nvPicPr>
          <p:cNvPr id="26" name="Picture 25" descr="LuCpu_w.png"/>
          <p:cNvPicPr>
            <a:picLocks noChangeAspect="1"/>
          </p:cNvPicPr>
          <p:nvPr/>
        </p:nvPicPr>
        <p:blipFill>
          <a:blip r:embed="rId4"/>
          <a:stretch>
            <a:fillRect/>
          </a:stretch>
        </p:blipFill>
        <p:spPr>
          <a:xfrm>
            <a:off x="7836042" y="1892442"/>
            <a:ext cx="256764" cy="256764"/>
          </a:xfrm>
          <a:prstGeom prst="rect">
            <a:avLst/>
          </a:prstGeom>
        </p:spPr>
      </p:pic>
      <p:sp>
        <p:nvSpPr>
          <p:cNvPr id="27" name="TextBox 26"/>
          <p:cNvSpPr txBox="1"/>
          <p:nvPr/>
        </p:nvSpPr>
        <p:spPr>
          <a:xfrm>
            <a:off x="8385048" y="1764792"/>
            <a:ext cx="3419856" cy="310896"/>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Riley is not the AI model</a:t>
            </a:r>
          </a:p>
        </p:txBody>
      </p:sp>
      <p:sp>
        <p:nvSpPr>
          <p:cNvPr id="28" name="TextBox 27"/>
          <p:cNvSpPr txBox="1"/>
          <p:nvPr/>
        </p:nvSpPr>
        <p:spPr>
          <a:xfrm>
            <a:off x="8385048" y="2112264"/>
            <a:ext cx="3419856" cy="82296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It needs no model of its own and does not compete with Copilot.</a:t>
            </a:r>
          </a:p>
        </p:txBody>
      </p:sp>
      <p:sp>
        <p:nvSpPr>
          <p:cNvPr id="29" name="Oval 28"/>
          <p:cNvSpPr/>
          <p:nvPr/>
        </p:nvSpPr>
        <p:spPr>
          <a:xfrm>
            <a:off x="7726680" y="3108960"/>
            <a:ext cx="475488" cy="475488"/>
          </a:xfrm>
          <a:prstGeom prst="ellipse">
            <a:avLst/>
          </a:prstGeom>
          <a:solidFill>
            <a:srgbClr val="333D47"/>
          </a:solidFill>
          <a:ln>
            <a:noFill/>
          </a:ln>
        </p:spPr>
        <p:txBody>
          <a:bodyPr rtlCol="0" anchor="ctr"/>
          <a:lstStyle/>
          <a:p>
            <a:pPr algn="ctr"/>
          </a:p>
        </p:txBody>
      </p:sp>
      <p:pic>
        <p:nvPicPr>
          <p:cNvPr id="30" name="Picture 29" descr="LuTrendingUp_w.png"/>
          <p:cNvPicPr>
            <a:picLocks noChangeAspect="1"/>
          </p:cNvPicPr>
          <p:nvPr/>
        </p:nvPicPr>
        <p:blipFill>
          <a:blip r:embed="rId5"/>
          <a:stretch>
            <a:fillRect/>
          </a:stretch>
        </p:blipFill>
        <p:spPr>
          <a:xfrm>
            <a:off x="7836042" y="3218322"/>
            <a:ext cx="256764" cy="256764"/>
          </a:xfrm>
          <a:prstGeom prst="rect">
            <a:avLst/>
          </a:prstGeom>
        </p:spPr>
      </p:pic>
      <p:sp>
        <p:nvSpPr>
          <p:cNvPr id="31" name="TextBox 30"/>
          <p:cNvSpPr txBox="1"/>
          <p:nvPr/>
        </p:nvSpPr>
        <p:spPr>
          <a:xfrm>
            <a:off x="8385048" y="3090672"/>
            <a:ext cx="3419856" cy="310896"/>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A better engine, a better Riley</a:t>
            </a:r>
          </a:p>
        </p:txBody>
      </p:sp>
      <p:sp>
        <p:nvSpPr>
          <p:cNvPr id="32" name="TextBox 31"/>
          <p:cNvSpPr txBox="1"/>
          <p:nvPr/>
        </p:nvSpPr>
        <p:spPr>
          <a:xfrm>
            <a:off x="8385048" y="3438144"/>
            <a:ext cx="3419856" cy="82296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If platforms add stronger native agent routing, Riley builds on it. More capable, not irrelevant.</a:t>
            </a:r>
          </a:p>
        </p:txBody>
      </p:sp>
      <p:sp>
        <p:nvSpPr>
          <p:cNvPr id="33" name="Oval 32"/>
          <p:cNvSpPr/>
          <p:nvPr/>
        </p:nvSpPr>
        <p:spPr>
          <a:xfrm>
            <a:off x="7726680" y="4434840"/>
            <a:ext cx="475488" cy="475488"/>
          </a:xfrm>
          <a:prstGeom prst="ellipse">
            <a:avLst/>
          </a:prstGeom>
          <a:solidFill>
            <a:srgbClr val="D31145"/>
          </a:solidFill>
          <a:ln>
            <a:noFill/>
          </a:ln>
        </p:spPr>
        <p:txBody>
          <a:bodyPr rtlCol="0" anchor="ctr"/>
          <a:lstStyle/>
          <a:p>
            <a:pPr algn="ctr"/>
          </a:p>
        </p:txBody>
      </p:sp>
      <p:pic>
        <p:nvPicPr>
          <p:cNvPr id="34" name="Picture 33" descr="LuKeyRound_w.png"/>
          <p:cNvPicPr>
            <a:picLocks noChangeAspect="1"/>
          </p:cNvPicPr>
          <p:nvPr/>
        </p:nvPicPr>
        <p:blipFill>
          <a:blip r:embed="rId6"/>
          <a:stretch>
            <a:fillRect/>
          </a:stretch>
        </p:blipFill>
        <p:spPr>
          <a:xfrm>
            <a:off x="7836042" y="4544202"/>
            <a:ext cx="256764" cy="256764"/>
          </a:xfrm>
          <a:prstGeom prst="rect">
            <a:avLst/>
          </a:prstGeom>
        </p:spPr>
      </p:pic>
      <p:sp>
        <p:nvSpPr>
          <p:cNvPr id="35" name="TextBox 34"/>
          <p:cNvSpPr txBox="1"/>
          <p:nvPr/>
        </p:nvSpPr>
        <p:spPr>
          <a:xfrm>
            <a:off x="8385048" y="4416552"/>
            <a:ext cx="3419856" cy="310896"/>
          </a:xfrm>
          <a:prstGeom prst="rect">
            <a:avLst/>
          </a:prstGeom>
          <a:noFill/>
        </p:spPr>
        <p:txBody>
          <a:bodyPr wrap="square" lIns="0" tIns="0" rIns="0" bIns="0" anchor="t">
            <a:noAutofit/>
          </a:bodyPr>
          <a:lstStyle/>
          <a:p>
            <a:pPr algn="l">
              <a:spcAft>
                <a:spcPts val="0"/>
              </a:spcAft>
            </a:pPr>
            <a:r>
              <a:rPr sz="1550" b="1" i="0">
                <a:solidFill>
                  <a:srgbClr val="D31145"/>
                </a:solidFill>
                <a:latin typeface="Arial"/>
              </a:rPr>
              <a:t>What AIA still has to define</a:t>
            </a:r>
          </a:p>
        </p:txBody>
      </p:sp>
      <p:sp>
        <p:nvSpPr>
          <p:cNvPr id="36" name="TextBox 35"/>
          <p:cNvSpPr txBox="1"/>
          <p:nvPr/>
        </p:nvSpPr>
        <p:spPr>
          <a:xfrm>
            <a:off x="8385048" y="4764024"/>
            <a:ext cx="3419856" cy="82296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Which data, systems and AI tools connect; who can use what; how work is approved and recorded; how Riley learns. That layer is Riley.</a:t>
            </a:r>
          </a:p>
        </p:txBody>
      </p:sp>
      <p:sp>
        <p:nvSpPr>
          <p:cNvPr id="37" name="Slide Number Placeholder"/>
          <p:cNvSpPr>
            <a:spLocks noGrp="1"/>
          </p:cNvSpPr>
          <p:nvPr>
            <p:ph type="sldNum" sz="quarter" idx="4"/>
          </p:nvPr>
        </p:nvSpPr>
        <p:spPr/>
        <p:txBody>
          <a:bodyPr/>
          <a:lstStyle/>
          <a:p>
            <a:fld id="{18A41853-EF22-D446-BDBC-A7CF3FE93503}" type="slidenum">
              <a:rPr lang="en-US"/>
              <a:t>7</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Twelve months to turn the scenario into evidence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FROM SCENARIO TO EVIDENCE</a:t>
            </a:r>
          </a:p>
        </p:txBody>
      </p:sp>
      <p:sp>
        <p:nvSpPr>
          <p:cNvPr id="6" name="Rounded Rectangle 5"/>
          <p:cNvSpPr/>
          <p:nvPr/>
        </p:nvSpPr>
        <p:spPr>
          <a:xfrm>
            <a:off x="356616" y="1572768"/>
            <a:ext cx="2731770" cy="3017520"/>
          </a:xfrm>
          <a:prstGeom prst="roundRect">
            <a:avLst>
              <a:gd name="adj" fmla="val 3347"/>
            </a:avLst>
          </a:prstGeom>
          <a:solidFill>
            <a:srgbClr val="F4F1EF"/>
          </a:solidFill>
          <a:ln>
            <a:noFill/>
          </a:ln>
        </p:spPr>
        <p:txBody>
          <a:bodyPr rtlCol="0" anchor="ctr"/>
          <a:lstStyle/>
          <a:p>
            <a:pPr algn="ctr"/>
          </a:p>
        </p:txBody>
      </p:sp>
      <p:sp>
        <p:nvSpPr>
          <p:cNvPr id="7" name="TextBox 6"/>
          <p:cNvSpPr txBox="1"/>
          <p:nvPr/>
        </p:nvSpPr>
        <p:spPr>
          <a:xfrm>
            <a:off x="557784" y="1737360"/>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0</a:t>
            </a:r>
            <a:r>
              <a:rPr sz="1150" b="0" i="0">
                <a:solidFill>
                  <a:srgbClr val="5F6770"/>
                </a:solidFill>
                <a:latin typeface="Arial"/>
              </a:rPr>
              <a:t>   Month 1</a:t>
            </a:r>
          </a:p>
        </p:txBody>
      </p:sp>
      <p:sp>
        <p:nvSpPr>
          <p:cNvPr id="8" name="TextBox 7"/>
          <p:cNvSpPr txBox="1"/>
          <p:nvPr/>
        </p:nvSpPr>
        <p:spPr>
          <a:xfrm>
            <a:off x="557784" y="2011680"/>
            <a:ext cx="2329434" cy="310896"/>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Choose and baseline</a:t>
            </a:r>
          </a:p>
        </p:txBody>
      </p:sp>
      <p:sp>
        <p:nvSpPr>
          <p:cNvPr id="9" name="TextBox 8"/>
          <p:cNvSpPr txBox="1"/>
          <p:nvPr/>
        </p:nvSpPr>
        <p:spPr>
          <a:xfrm>
            <a:off x="557784" y="2414016"/>
            <a:ext cx="2329434" cy="713232"/>
          </a:xfrm>
          <a:prstGeom prst="rect">
            <a:avLst/>
          </a:prstGeom>
          <a:noFill/>
        </p:spPr>
        <p:txBody>
          <a:bodyPr wrap="square" lIns="0" tIns="0" rIns="0" bIns="0" anchor="t">
            <a:noAutofit/>
          </a:bodyPr>
          <a:lstStyle/>
          <a:p>
            <a:pPr algn="l">
              <a:lnSpc>
                <a:spcPct val="98000"/>
              </a:lnSpc>
              <a:spcAft>
                <a:spcPts val="0"/>
              </a:spcAft>
            </a:pPr>
            <a:r>
              <a:rPr sz="1350" b="0" i="1">
                <a:solidFill>
                  <a:srgbClr val="333D47"/>
                </a:solidFill>
                <a:latin typeface="Arial"/>
              </a:rPr>
              <a:t>What does the work take today?</a:t>
            </a:r>
          </a:p>
        </p:txBody>
      </p:sp>
      <p:sp>
        <p:nvSpPr>
          <p:cNvPr id="10" name="TextBox 9"/>
          <p:cNvSpPr txBox="1"/>
          <p:nvPr/>
        </p:nvSpPr>
        <p:spPr>
          <a:xfrm>
            <a:off x="557784" y="3145536"/>
            <a:ext cx="2329434" cy="73152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Choose on value, readiness, data sensitivity and governance. Baseline effort, time and manual steps.</a:t>
            </a:r>
          </a:p>
        </p:txBody>
      </p:sp>
      <p:sp>
        <p:nvSpPr>
          <p:cNvPr id="11" name="Rounded Rectangle 10"/>
          <p:cNvSpPr/>
          <p:nvPr/>
        </p:nvSpPr>
        <p:spPr>
          <a:xfrm>
            <a:off x="3271266" y="1572768"/>
            <a:ext cx="2731770" cy="3017520"/>
          </a:xfrm>
          <a:prstGeom prst="roundRect">
            <a:avLst>
              <a:gd name="adj" fmla="val 3347"/>
            </a:avLst>
          </a:prstGeom>
          <a:solidFill>
            <a:srgbClr val="F4F1EF"/>
          </a:solidFill>
          <a:ln>
            <a:noFill/>
          </a:ln>
        </p:spPr>
        <p:txBody>
          <a:bodyPr rtlCol="0" anchor="ctr"/>
          <a:lstStyle/>
          <a:p>
            <a:pPr algn="ctr"/>
          </a:p>
        </p:txBody>
      </p:sp>
      <p:sp>
        <p:nvSpPr>
          <p:cNvPr id="12" name="TextBox 11"/>
          <p:cNvSpPr txBox="1"/>
          <p:nvPr/>
        </p:nvSpPr>
        <p:spPr>
          <a:xfrm>
            <a:off x="3472434" y="1737360"/>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1</a:t>
            </a:r>
            <a:r>
              <a:rPr sz="1150" b="0" i="0">
                <a:solidFill>
                  <a:srgbClr val="5F6770"/>
                </a:solidFill>
                <a:latin typeface="Arial"/>
              </a:rPr>
              <a:t>   Months 2–4</a:t>
            </a:r>
          </a:p>
        </p:txBody>
      </p:sp>
      <p:sp>
        <p:nvSpPr>
          <p:cNvPr id="13" name="TextBox 12"/>
          <p:cNvSpPr txBox="1"/>
          <p:nvPr/>
        </p:nvSpPr>
        <p:spPr>
          <a:xfrm>
            <a:off x="3472434" y="2011680"/>
            <a:ext cx="2329434" cy="310896"/>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Pilot one workflow</a:t>
            </a:r>
          </a:p>
        </p:txBody>
      </p:sp>
      <p:sp>
        <p:nvSpPr>
          <p:cNvPr id="14" name="TextBox 13"/>
          <p:cNvSpPr txBox="1"/>
          <p:nvPr/>
        </p:nvSpPr>
        <p:spPr>
          <a:xfrm>
            <a:off x="3472434" y="2414016"/>
            <a:ext cx="2329434" cy="713232"/>
          </a:xfrm>
          <a:prstGeom prst="rect">
            <a:avLst/>
          </a:prstGeom>
          <a:noFill/>
        </p:spPr>
        <p:txBody>
          <a:bodyPr wrap="square" lIns="0" tIns="0" rIns="0" bIns="0" anchor="t">
            <a:noAutofit/>
          </a:bodyPr>
          <a:lstStyle/>
          <a:p>
            <a:pPr algn="l">
              <a:lnSpc>
                <a:spcPct val="98000"/>
              </a:lnSpc>
              <a:spcAft>
                <a:spcPts val="0"/>
              </a:spcAft>
            </a:pPr>
            <a:r>
              <a:rPr sz="1350" b="0" i="1">
                <a:solidFill>
                  <a:srgbClr val="333D47"/>
                </a:solidFill>
                <a:latin typeface="Arial"/>
              </a:rPr>
              <a:t>Does Riley cut effort without losing quality?</a:t>
            </a:r>
          </a:p>
        </p:txBody>
      </p:sp>
      <p:sp>
        <p:nvSpPr>
          <p:cNvPr id="15" name="TextBox 14"/>
          <p:cNvSpPr txBox="1"/>
          <p:nvPr/>
        </p:nvSpPr>
        <p:spPr>
          <a:xfrm>
            <a:off x="3472434" y="3145536"/>
            <a:ext cx="2329434" cy="73152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One team. The employee approves every output. Measured against the baseline.</a:t>
            </a:r>
          </a:p>
        </p:txBody>
      </p:sp>
      <p:cxnSp>
        <p:nvCxnSpPr>
          <p:cNvPr id="16" name="Connector 15"/>
          <p:cNvCxnSpPr/>
          <p:nvPr/>
        </p:nvCxnSpPr>
        <p:spPr>
          <a:xfrm>
            <a:off x="3472434" y="3849624"/>
            <a:ext cx="2329434" cy="0"/>
          </a:xfrm>
          <a:prstGeom prst="line">
            <a:avLst/>
          </a:prstGeom>
          <a:ln w="9525">
            <a:solidFill>
              <a:srgbClr val="DDD6D0"/>
            </a:solidFill>
          </a:ln>
        </p:spPr>
      </p:cxnSp>
      <p:sp>
        <p:nvSpPr>
          <p:cNvPr id="17" name="Diamond 16"/>
          <p:cNvSpPr/>
          <p:nvPr/>
        </p:nvSpPr>
        <p:spPr>
          <a:xfrm>
            <a:off x="3472434" y="3968496"/>
            <a:ext cx="155448" cy="155448"/>
          </a:xfrm>
          <a:prstGeom prst="diamond">
            <a:avLst/>
          </a:prstGeom>
          <a:solidFill>
            <a:srgbClr val="D31145"/>
          </a:solidFill>
          <a:ln>
            <a:noFill/>
          </a:ln>
        </p:spPr>
        <p:txBody>
          <a:bodyPr rtlCol="0" anchor="ctr"/>
          <a:lstStyle/>
          <a:p>
            <a:pPr algn="ctr"/>
          </a:p>
        </p:txBody>
      </p:sp>
      <p:sp>
        <p:nvSpPr>
          <p:cNvPr id="18" name="TextBox 17"/>
          <p:cNvSpPr txBox="1"/>
          <p:nvPr/>
        </p:nvSpPr>
        <p:spPr>
          <a:xfrm>
            <a:off x="3701034" y="3904488"/>
            <a:ext cx="2091690" cy="603504"/>
          </a:xfrm>
          <a:prstGeom prst="rect">
            <a:avLst/>
          </a:prstGeom>
          <a:noFill/>
        </p:spPr>
        <p:txBody>
          <a:bodyPr wrap="square" lIns="0" tIns="0" rIns="0" bIns="0" anchor="t">
            <a:noAutofit/>
          </a:bodyPr>
          <a:lstStyle/>
          <a:p>
            <a:pPr algn="l">
              <a:spcAft>
                <a:spcPts val="0"/>
              </a:spcAft>
            </a:pPr>
            <a:r>
              <a:rPr sz="1000" b="1" i="0" spc="50">
                <a:solidFill>
                  <a:srgbClr val="333D47"/>
                </a:solidFill>
                <a:latin typeface="Arial"/>
              </a:rPr>
              <a:t>GO / NO-GO  </a:t>
            </a:r>
            <a:r>
              <a:rPr sz="1100" b="0" i="0">
                <a:solidFill>
                  <a:srgbClr val="333D47"/>
                </a:solidFill>
                <a:latin typeface="Arial"/>
              </a:rPr>
              <a:t>Effort down, quality held, usage sustained</a:t>
            </a:r>
          </a:p>
        </p:txBody>
      </p:sp>
      <p:sp>
        <p:nvSpPr>
          <p:cNvPr id="19" name="Rounded Rectangle 18"/>
          <p:cNvSpPr/>
          <p:nvPr/>
        </p:nvSpPr>
        <p:spPr>
          <a:xfrm>
            <a:off x="6185916" y="1572768"/>
            <a:ext cx="2731770" cy="3017520"/>
          </a:xfrm>
          <a:prstGeom prst="roundRect">
            <a:avLst>
              <a:gd name="adj" fmla="val 3347"/>
            </a:avLst>
          </a:prstGeom>
          <a:solidFill>
            <a:srgbClr val="D31145"/>
          </a:solidFill>
          <a:ln>
            <a:noFill/>
          </a:ln>
        </p:spPr>
        <p:txBody>
          <a:bodyPr rtlCol="0" anchor="ctr"/>
          <a:lstStyle/>
          <a:p>
            <a:pPr algn="ctr"/>
          </a:p>
        </p:txBody>
      </p:sp>
      <p:sp>
        <p:nvSpPr>
          <p:cNvPr id="20" name="TextBox 19"/>
          <p:cNvSpPr txBox="1"/>
          <p:nvPr/>
        </p:nvSpPr>
        <p:spPr>
          <a:xfrm>
            <a:off x="6387084" y="1737360"/>
            <a:ext cx="2329434" cy="237744"/>
          </a:xfrm>
          <a:prstGeom prst="rect">
            <a:avLst/>
          </a:prstGeom>
          <a:noFill/>
        </p:spPr>
        <p:txBody>
          <a:bodyPr wrap="square" lIns="0" tIns="0" rIns="0" bIns="0" anchor="t">
            <a:noAutofit/>
          </a:bodyPr>
          <a:lstStyle/>
          <a:p>
            <a:pPr algn="l">
              <a:spcAft>
                <a:spcPts val="0"/>
              </a:spcAft>
            </a:pPr>
            <a:r>
              <a:rPr sz="1150" b="1" i="0" spc="100">
                <a:solidFill>
                  <a:srgbClr val="FFFFFF"/>
                </a:solidFill>
                <a:latin typeface="Arial"/>
              </a:rPr>
              <a:t>PHASE 2</a:t>
            </a:r>
            <a:r>
              <a:rPr sz="1150" b="0" i="0">
                <a:solidFill>
                  <a:srgbClr val="FFFFFF"/>
                </a:solidFill>
                <a:latin typeface="Arial"/>
              </a:rPr>
              <a:t>   Months 5–7</a:t>
            </a:r>
          </a:p>
        </p:txBody>
      </p:sp>
      <p:sp>
        <p:nvSpPr>
          <p:cNvPr id="21" name="TextBox 20"/>
          <p:cNvSpPr txBox="1"/>
          <p:nvPr/>
        </p:nvSpPr>
        <p:spPr>
          <a:xfrm>
            <a:off x="6387084" y="2011680"/>
            <a:ext cx="2329434" cy="310896"/>
          </a:xfrm>
          <a:prstGeom prst="rect">
            <a:avLst/>
          </a:prstGeom>
          <a:noFill/>
        </p:spPr>
        <p:txBody>
          <a:bodyPr wrap="square" lIns="0" tIns="0" rIns="0" bIns="0" anchor="t">
            <a:noAutofit/>
          </a:bodyPr>
          <a:lstStyle/>
          <a:p>
            <a:pPr algn="l">
              <a:spcAft>
                <a:spcPts val="0"/>
              </a:spcAft>
            </a:pPr>
            <a:r>
              <a:rPr sz="1650" b="1" i="0">
                <a:solidFill>
                  <a:srgbClr val="FFFFFF"/>
                </a:solidFill>
                <a:latin typeface="Arial"/>
              </a:rPr>
              <a:t>Prove the multiplier</a:t>
            </a:r>
          </a:p>
        </p:txBody>
      </p:sp>
      <p:sp>
        <p:nvSpPr>
          <p:cNvPr id="22" name="TextBox 21"/>
          <p:cNvSpPr txBox="1"/>
          <p:nvPr/>
        </p:nvSpPr>
        <p:spPr>
          <a:xfrm>
            <a:off x="6387084" y="2414016"/>
            <a:ext cx="2329434" cy="713232"/>
          </a:xfrm>
          <a:prstGeom prst="rect">
            <a:avLst/>
          </a:prstGeom>
          <a:noFill/>
        </p:spPr>
        <p:txBody>
          <a:bodyPr wrap="square" lIns="0" tIns="0" rIns="0" bIns="0" anchor="t">
            <a:noAutofit/>
          </a:bodyPr>
          <a:lstStyle/>
          <a:p>
            <a:pPr algn="l">
              <a:lnSpc>
                <a:spcPct val="98000"/>
              </a:lnSpc>
              <a:spcAft>
                <a:spcPts val="0"/>
              </a:spcAft>
            </a:pPr>
            <a:r>
              <a:rPr sz="1350" b="0" i="1">
                <a:solidFill>
                  <a:srgbClr val="FFFFFF"/>
                </a:solidFill>
                <a:latin typeface="Arial"/>
              </a:rPr>
              <a:t>Can another team’s AI tool work through Riley, with no new tool for employees?</a:t>
            </a:r>
          </a:p>
        </p:txBody>
      </p:sp>
      <p:sp>
        <p:nvSpPr>
          <p:cNvPr id="23" name="TextBox 22"/>
          <p:cNvSpPr txBox="1"/>
          <p:nvPr/>
        </p:nvSpPr>
        <p:spPr>
          <a:xfrm>
            <a:off x="6387084" y="3145536"/>
            <a:ext cx="2329434" cy="731520"/>
          </a:xfrm>
          <a:prstGeom prst="rect">
            <a:avLst/>
          </a:prstGeom>
          <a:noFill/>
        </p:spPr>
        <p:txBody>
          <a:bodyPr wrap="square" lIns="0" tIns="0" rIns="0" bIns="0" anchor="t">
            <a:noAutofit/>
          </a:bodyPr>
          <a:lstStyle/>
          <a:p>
            <a:pPr algn="l">
              <a:spcAft>
                <a:spcPts val="0"/>
              </a:spcAft>
            </a:pPr>
            <a:r>
              <a:rPr sz="1150" b="0" i="0">
                <a:solidFill>
                  <a:srgbClr val="FFFFFF"/>
                </a:solidFill>
                <a:latin typeface="Arial"/>
              </a:rPr>
              <a:t>Connect a tool built by a different AIA team. Add a second workflow or team.</a:t>
            </a:r>
          </a:p>
        </p:txBody>
      </p:sp>
      <p:cxnSp>
        <p:nvCxnSpPr>
          <p:cNvPr id="24" name="Connector 23"/>
          <p:cNvCxnSpPr/>
          <p:nvPr/>
        </p:nvCxnSpPr>
        <p:spPr>
          <a:xfrm>
            <a:off x="6387084" y="3849624"/>
            <a:ext cx="2329434" cy="0"/>
          </a:xfrm>
          <a:prstGeom prst="line">
            <a:avLst/>
          </a:prstGeom>
          <a:ln w="9525">
            <a:solidFill>
              <a:srgbClr val="F2B6C6"/>
            </a:solidFill>
          </a:ln>
        </p:spPr>
      </p:cxnSp>
      <p:sp>
        <p:nvSpPr>
          <p:cNvPr id="25" name="Diamond 24"/>
          <p:cNvSpPr/>
          <p:nvPr/>
        </p:nvSpPr>
        <p:spPr>
          <a:xfrm>
            <a:off x="6387084" y="3968496"/>
            <a:ext cx="155448" cy="155448"/>
          </a:xfrm>
          <a:prstGeom prst="diamond">
            <a:avLst/>
          </a:prstGeom>
          <a:solidFill>
            <a:srgbClr val="FFFFFF"/>
          </a:solidFill>
          <a:ln>
            <a:noFill/>
          </a:ln>
        </p:spPr>
        <p:txBody>
          <a:bodyPr rtlCol="0" anchor="ctr"/>
          <a:lstStyle/>
          <a:p>
            <a:pPr algn="ctr"/>
          </a:p>
        </p:txBody>
      </p:sp>
      <p:sp>
        <p:nvSpPr>
          <p:cNvPr id="26" name="TextBox 25"/>
          <p:cNvSpPr txBox="1"/>
          <p:nvPr/>
        </p:nvSpPr>
        <p:spPr>
          <a:xfrm>
            <a:off x="6615684" y="3904488"/>
            <a:ext cx="2091690" cy="603504"/>
          </a:xfrm>
          <a:prstGeom prst="rect">
            <a:avLst/>
          </a:prstGeom>
          <a:noFill/>
        </p:spPr>
        <p:txBody>
          <a:bodyPr wrap="square" lIns="0" tIns="0" rIns="0" bIns="0" anchor="t">
            <a:noAutofit/>
          </a:bodyPr>
          <a:lstStyle/>
          <a:p>
            <a:pPr algn="l">
              <a:spcAft>
                <a:spcPts val="0"/>
              </a:spcAft>
            </a:pPr>
            <a:r>
              <a:rPr sz="1000" b="1" i="0" spc="50">
                <a:solidFill>
                  <a:srgbClr val="FFFFFF"/>
                </a:solidFill>
                <a:latin typeface="Arial"/>
              </a:rPr>
              <a:t>GO / NO-GO  </a:t>
            </a:r>
            <a:r>
              <a:rPr sz="1100" b="0" i="0">
                <a:solidFill>
                  <a:srgbClr val="FFFFFF"/>
                </a:solidFill>
                <a:latin typeface="Arial"/>
              </a:rPr>
              <a:t>Usable through Riley; results hold across both workflows</a:t>
            </a:r>
          </a:p>
        </p:txBody>
      </p:sp>
      <p:sp>
        <p:nvSpPr>
          <p:cNvPr id="27" name="Rounded Rectangle 26"/>
          <p:cNvSpPr/>
          <p:nvPr/>
        </p:nvSpPr>
        <p:spPr>
          <a:xfrm>
            <a:off x="6820281" y="1389888"/>
            <a:ext cx="146304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THE CORE TEST</a:t>
            </a:r>
          </a:p>
        </p:txBody>
      </p:sp>
      <p:sp>
        <p:nvSpPr>
          <p:cNvPr id="28" name="Rounded Rectangle 27"/>
          <p:cNvSpPr/>
          <p:nvPr/>
        </p:nvSpPr>
        <p:spPr>
          <a:xfrm>
            <a:off x="9100566" y="1572768"/>
            <a:ext cx="2731770" cy="3017520"/>
          </a:xfrm>
          <a:prstGeom prst="roundRect">
            <a:avLst>
              <a:gd name="adj" fmla="val 3347"/>
            </a:avLst>
          </a:prstGeom>
          <a:solidFill>
            <a:srgbClr val="F4F1EF"/>
          </a:solidFill>
          <a:ln>
            <a:noFill/>
          </a:ln>
        </p:spPr>
        <p:txBody>
          <a:bodyPr rtlCol="0" anchor="ctr"/>
          <a:lstStyle/>
          <a:p>
            <a:pPr algn="ctr"/>
          </a:p>
        </p:txBody>
      </p:sp>
      <p:sp>
        <p:nvSpPr>
          <p:cNvPr id="29" name="TextBox 28"/>
          <p:cNvSpPr txBox="1"/>
          <p:nvPr/>
        </p:nvSpPr>
        <p:spPr>
          <a:xfrm>
            <a:off x="9301734" y="1737360"/>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3</a:t>
            </a:r>
            <a:r>
              <a:rPr sz="1150" b="0" i="0">
                <a:solidFill>
                  <a:srgbClr val="5F6770"/>
                </a:solidFill>
                <a:latin typeface="Arial"/>
              </a:rPr>
              <a:t>   Months 8–12</a:t>
            </a:r>
          </a:p>
        </p:txBody>
      </p:sp>
      <p:sp>
        <p:nvSpPr>
          <p:cNvPr id="30" name="TextBox 29"/>
          <p:cNvSpPr txBox="1"/>
          <p:nvPr/>
        </p:nvSpPr>
        <p:spPr>
          <a:xfrm>
            <a:off x="9301734" y="2011680"/>
            <a:ext cx="2329434" cy="310896"/>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Scale toward the vision</a:t>
            </a:r>
          </a:p>
        </p:txBody>
      </p:sp>
      <p:sp>
        <p:nvSpPr>
          <p:cNvPr id="31" name="TextBox 30"/>
          <p:cNvSpPr txBox="1"/>
          <p:nvPr/>
        </p:nvSpPr>
        <p:spPr>
          <a:xfrm>
            <a:off x="9301734" y="2414016"/>
            <a:ext cx="2329434" cy="713232"/>
          </a:xfrm>
          <a:prstGeom prst="rect">
            <a:avLst/>
          </a:prstGeom>
          <a:noFill/>
        </p:spPr>
        <p:txBody>
          <a:bodyPr wrap="square" lIns="0" tIns="0" rIns="0" bIns="0" anchor="t">
            <a:noAutofit/>
          </a:bodyPr>
          <a:lstStyle/>
          <a:p>
            <a:pPr algn="l">
              <a:lnSpc>
                <a:spcPct val="98000"/>
              </a:lnSpc>
              <a:spcAft>
                <a:spcPts val="0"/>
              </a:spcAft>
            </a:pPr>
            <a:r>
              <a:rPr sz="1350" b="0" i="1">
                <a:solidFill>
                  <a:srgbClr val="333D47"/>
                </a:solidFill>
                <a:latin typeface="Arial"/>
              </a:rPr>
              <a:t>How big is the impact, measured?</a:t>
            </a:r>
          </a:p>
        </p:txBody>
      </p:sp>
      <p:sp>
        <p:nvSpPr>
          <p:cNvPr id="32" name="TextBox 31"/>
          <p:cNvSpPr txBox="1"/>
          <p:nvPr/>
        </p:nvSpPr>
        <p:spPr>
          <a:xfrm>
            <a:off x="9301734" y="3145536"/>
            <a:ext cx="2329434" cy="73152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More back-office teams and capabilities. Measured data replaces the scenario.</a:t>
            </a:r>
          </a:p>
        </p:txBody>
      </p:sp>
      <p:sp>
        <p:nvSpPr>
          <p:cNvPr id="33" name="TextBox 32"/>
          <p:cNvSpPr txBox="1"/>
          <p:nvPr/>
        </p:nvSpPr>
        <p:spPr>
          <a:xfrm>
            <a:off x="356616" y="4791456"/>
            <a:ext cx="109728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MEASURED AGAINST THE PHASE 0 BASELINE</a:t>
            </a:r>
          </a:p>
        </p:txBody>
      </p:sp>
      <p:sp>
        <p:nvSpPr>
          <p:cNvPr id="34" name="Rounded Rectangle 33"/>
          <p:cNvSpPr/>
          <p:nvPr/>
        </p:nvSpPr>
        <p:spPr>
          <a:xfrm>
            <a:off x="356616" y="5065776"/>
            <a:ext cx="1679448" cy="512064"/>
          </a:xfrm>
          <a:prstGeom prst="roundRect">
            <a:avLst>
              <a:gd name="adj" fmla="val 1071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Employee effort per task</a:t>
            </a:r>
          </a:p>
        </p:txBody>
      </p:sp>
      <p:sp>
        <p:nvSpPr>
          <p:cNvPr id="35" name="Rounded Rectangle 34"/>
          <p:cNvSpPr/>
          <p:nvPr/>
        </p:nvSpPr>
        <p:spPr>
          <a:xfrm>
            <a:off x="2145792" y="5065776"/>
            <a:ext cx="1679448" cy="512064"/>
          </a:xfrm>
          <a:prstGeom prst="roundRect">
            <a:avLst>
              <a:gd name="adj" fmla="val 1071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Time to finished work</a:t>
            </a:r>
          </a:p>
        </p:txBody>
      </p:sp>
      <p:sp>
        <p:nvSpPr>
          <p:cNvPr id="36" name="Rounded Rectangle 35"/>
          <p:cNvSpPr/>
          <p:nvPr/>
        </p:nvSpPr>
        <p:spPr>
          <a:xfrm>
            <a:off x="3934968" y="5065776"/>
            <a:ext cx="1679448" cy="512064"/>
          </a:xfrm>
          <a:prstGeom prst="roundRect">
            <a:avLst>
              <a:gd name="adj" fmla="val 1071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Manual steps and systems touched</a:t>
            </a:r>
          </a:p>
        </p:txBody>
      </p:sp>
      <p:sp>
        <p:nvSpPr>
          <p:cNvPr id="37" name="Rounded Rectangle 36"/>
          <p:cNvSpPr/>
          <p:nvPr/>
        </p:nvSpPr>
        <p:spPr>
          <a:xfrm>
            <a:off x="5724144" y="5065776"/>
            <a:ext cx="1679448" cy="512064"/>
          </a:xfrm>
          <a:prstGeom prst="roundRect">
            <a:avLst>
              <a:gd name="adj" fmla="val 1071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Rework rate</a:t>
            </a:r>
          </a:p>
        </p:txBody>
      </p:sp>
      <p:sp>
        <p:nvSpPr>
          <p:cNvPr id="38" name="Rounded Rectangle 37"/>
          <p:cNvSpPr/>
          <p:nvPr/>
        </p:nvSpPr>
        <p:spPr>
          <a:xfrm>
            <a:off x="7513320" y="5065776"/>
            <a:ext cx="1679448" cy="512064"/>
          </a:xfrm>
          <a:prstGeom prst="roundRect">
            <a:avLst>
              <a:gd name="adj" fmla="val 1071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Quality, with independent reviews</a:t>
            </a:r>
          </a:p>
        </p:txBody>
      </p:sp>
      <p:sp>
        <p:nvSpPr>
          <p:cNvPr id="39" name="Rounded Rectangle 38"/>
          <p:cNvSpPr/>
          <p:nvPr/>
        </p:nvSpPr>
        <p:spPr>
          <a:xfrm>
            <a:off x="9302496" y="5065776"/>
            <a:ext cx="1679448" cy="512064"/>
          </a:xfrm>
          <a:prstGeom prst="roundRect">
            <a:avLst>
              <a:gd name="adj" fmla="val 1071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Adoption and repeat use</a:t>
            </a:r>
          </a:p>
        </p:txBody>
      </p:sp>
      <p:sp>
        <p:nvSpPr>
          <p:cNvPr id="40" name="Slide Number Placeholder"/>
          <p:cNvSpPr>
            <a:spLocks noGrp="1"/>
          </p:cNvSpPr>
          <p:nvPr>
            <p:ph type="sldNum" sz="quarter" idx="4"/>
          </p:nvPr>
        </p:nvSpPr>
        <p:spPr/>
        <p:txBody>
          <a:bodyPr/>
          <a:lstStyle/>
          <a:p>
            <a:fld id="{18A41853-EF22-D446-BDBC-A7CF3FE93503}" type="slidenum">
              <a:rPr lang="en-US"/>
              <a:t>8</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coworker that can grow in three directions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6" name="Rounded Rectangle 5"/>
          <p:cNvSpPr/>
          <p:nvPr/>
        </p:nvSpPr>
        <p:spPr>
          <a:xfrm>
            <a:off x="356616" y="1371600"/>
            <a:ext cx="3639312" cy="3383280"/>
          </a:xfrm>
          <a:prstGeom prst="roundRect">
            <a:avLst>
              <a:gd name="adj" fmla="val 2702"/>
            </a:avLst>
          </a:prstGeom>
          <a:solidFill>
            <a:srgbClr val="F4F1EF"/>
          </a:solidFill>
          <a:ln>
            <a:noFill/>
          </a:ln>
        </p:spPr>
        <p:txBody>
          <a:bodyPr rtlCol="0" anchor="ctr"/>
          <a:lstStyle/>
          <a:p>
            <a:pPr algn="ctr"/>
          </a:p>
        </p:txBody>
      </p:sp>
      <p:sp>
        <p:nvSpPr>
          <p:cNvPr id="7" name="Oval 6"/>
          <p:cNvSpPr/>
          <p:nvPr/>
        </p:nvSpPr>
        <p:spPr>
          <a:xfrm>
            <a:off x="585216" y="1600200"/>
            <a:ext cx="512064" cy="512064"/>
          </a:xfrm>
          <a:prstGeom prst="ellipse">
            <a:avLst/>
          </a:prstGeom>
          <a:solidFill>
            <a:srgbClr val="D31145"/>
          </a:solidFill>
          <a:ln>
            <a:noFill/>
          </a:ln>
        </p:spPr>
        <p:txBody>
          <a:bodyPr rtlCol="0" anchor="ctr"/>
          <a:lstStyle/>
          <a:p>
            <a:pPr algn="ctr"/>
          </a:p>
        </p:txBody>
      </p:sp>
      <p:pic>
        <p:nvPicPr>
          <p:cNvPr id="8" name="Picture 7" descr="LuUsers_w.png"/>
          <p:cNvPicPr>
            <a:picLocks noChangeAspect="1"/>
          </p:cNvPicPr>
          <p:nvPr/>
        </p:nvPicPr>
        <p:blipFill>
          <a:blip r:embed="rId3"/>
          <a:stretch>
            <a:fillRect/>
          </a:stretch>
        </p:blipFill>
        <p:spPr>
          <a:xfrm>
            <a:off x="702991" y="1717975"/>
            <a:ext cx="276515" cy="276515"/>
          </a:xfrm>
          <a:prstGeom prst="rect">
            <a:avLst/>
          </a:prstGeom>
        </p:spPr>
      </p:pic>
      <p:sp>
        <p:nvSpPr>
          <p:cNvPr id="9" name="TextBox 8"/>
          <p:cNvSpPr txBox="1"/>
          <p:nvPr/>
        </p:nvSpPr>
        <p:spPr>
          <a:xfrm>
            <a:off x="1252728" y="1600200"/>
            <a:ext cx="2633472" cy="512064"/>
          </a:xfrm>
          <a:prstGeom prst="rect">
            <a:avLst/>
          </a:prstGeom>
          <a:noFill/>
        </p:spPr>
        <p:txBody>
          <a:bodyPr wrap="square" lIns="0" tIns="0" rIns="0" bIns="0" anchor="ctr">
            <a:noAutofit/>
          </a:bodyPr>
          <a:lstStyle/>
          <a:p>
            <a:pPr algn="l">
              <a:spcAft>
                <a:spcPts val="0"/>
              </a:spcAft>
            </a:pPr>
            <a:r>
              <a:rPr sz="1800" b="1" i="0">
                <a:solidFill>
                  <a:srgbClr val="333D47"/>
                </a:solidFill>
                <a:latin typeface="Arial"/>
              </a:rPr>
              <a:t>More employees</a:t>
            </a:r>
          </a:p>
        </p:txBody>
      </p:sp>
      <p:sp>
        <p:nvSpPr>
          <p:cNvPr id="10" name="TextBox 9"/>
          <p:cNvSpPr txBox="1"/>
          <p:nvPr/>
        </p:nvSpPr>
        <p:spPr>
          <a:xfrm>
            <a:off x="585216" y="2267712"/>
            <a:ext cx="3182112" cy="914400"/>
          </a:xfrm>
          <a:prstGeom prst="rect">
            <a:avLst/>
          </a:prstGeom>
          <a:noFill/>
        </p:spPr>
        <p:txBody>
          <a:bodyPr wrap="square" lIns="0" tIns="0" rIns="0" bIns="0" anchor="t">
            <a:noAutofit/>
          </a:bodyPr>
          <a:lstStyle/>
          <a:p>
            <a:pPr algn="l">
              <a:spcAft>
                <a:spcPts val="0"/>
              </a:spcAft>
            </a:pPr>
            <a:r>
              <a:rPr sz="1300" b="0" i="0">
                <a:solidFill>
                  <a:srgbClr val="333D47"/>
                </a:solidFill>
                <a:latin typeface="Arial"/>
              </a:rPr>
              <a:t>From one pilot team to back-office teams across many functions. The vision: every AIA employee.</a:t>
            </a:r>
          </a:p>
        </p:txBody>
      </p:sp>
      <p:sp>
        <p:nvSpPr>
          <p:cNvPr id="11" name="Rectangle 10"/>
          <p:cNvSpPr/>
          <p:nvPr/>
        </p:nvSpPr>
        <p:spPr>
          <a:xfrm>
            <a:off x="585216" y="4023360"/>
            <a:ext cx="987552" cy="457200"/>
          </a:xfrm>
          <a:prstGeom prst="rect">
            <a:avLst/>
          </a:prstGeom>
          <a:solidFill>
            <a:srgbClr val="D3CAC3"/>
          </a:solidFill>
          <a:ln>
            <a:noFill/>
          </a:ln>
        </p:spPr>
        <p:txBody>
          <a:bodyPr rtlCol="0" anchor="t" wrap="square" lIns="54864" tIns="54864" rIns="54864" bIns="36576">
            <a:noAutofit/>
          </a:bodyPr>
          <a:lstStyle/>
          <a:p>
            <a:pPr algn="ctr">
              <a:lnSpc>
                <a:spcPct val="95000"/>
              </a:lnSpc>
              <a:spcAft>
                <a:spcPts val="0"/>
              </a:spcAft>
            </a:pPr>
            <a:r>
              <a:rPr sz="1050" b="1" i="0">
                <a:solidFill>
                  <a:srgbClr val="333D47"/>
                </a:solidFill>
                <a:latin typeface="Arial"/>
              </a:rPr>
              <a:t>Pilot team</a:t>
            </a:r>
          </a:p>
        </p:txBody>
      </p:sp>
      <p:sp>
        <p:nvSpPr>
          <p:cNvPr id="12" name="Rectangle 11"/>
          <p:cNvSpPr/>
          <p:nvPr/>
        </p:nvSpPr>
        <p:spPr>
          <a:xfrm>
            <a:off x="1682496" y="3703320"/>
            <a:ext cx="987552" cy="777240"/>
          </a:xfrm>
          <a:prstGeom prst="rect">
            <a:avLst/>
          </a:prstGeom>
          <a:solidFill>
            <a:srgbClr val="F2B6C6"/>
          </a:solidFill>
          <a:ln>
            <a:noFill/>
          </a:ln>
        </p:spPr>
        <p:txBody>
          <a:bodyPr rtlCol="0" anchor="t" wrap="square" lIns="54864" tIns="54864" rIns="54864" bIns="36576">
            <a:noAutofit/>
          </a:bodyPr>
          <a:lstStyle/>
          <a:p>
            <a:pPr algn="ctr">
              <a:lnSpc>
                <a:spcPct val="95000"/>
              </a:lnSpc>
              <a:spcAft>
                <a:spcPts val="0"/>
              </a:spcAft>
            </a:pPr>
            <a:r>
              <a:rPr sz="1050" b="1" i="0">
                <a:solidFill>
                  <a:srgbClr val="333D47"/>
                </a:solidFill>
                <a:latin typeface="Arial"/>
              </a:rPr>
              <a:t>Back-office teams</a:t>
            </a:r>
          </a:p>
        </p:txBody>
      </p:sp>
      <p:sp>
        <p:nvSpPr>
          <p:cNvPr id="13" name="Rectangle 12"/>
          <p:cNvSpPr/>
          <p:nvPr/>
        </p:nvSpPr>
        <p:spPr>
          <a:xfrm>
            <a:off x="2779776" y="3291840"/>
            <a:ext cx="987552" cy="1188720"/>
          </a:xfrm>
          <a:prstGeom prst="rect">
            <a:avLst/>
          </a:prstGeom>
          <a:solidFill>
            <a:srgbClr val="D31145"/>
          </a:solidFill>
          <a:ln>
            <a:noFill/>
          </a:ln>
        </p:spPr>
        <p:txBody>
          <a:bodyPr rtlCol="0" anchor="t" wrap="square" lIns="54864" tIns="54864" rIns="54864" bIns="36576">
            <a:noAutofit/>
          </a:bodyPr>
          <a:lstStyle/>
          <a:p>
            <a:pPr algn="ctr">
              <a:lnSpc>
                <a:spcPct val="95000"/>
              </a:lnSpc>
              <a:spcAft>
                <a:spcPts val="0"/>
              </a:spcAft>
            </a:pPr>
            <a:r>
              <a:rPr sz="1050" b="1" i="0">
                <a:solidFill>
                  <a:srgbClr val="FFFFFF"/>
                </a:solidFill>
                <a:latin typeface="Arial"/>
              </a:rPr>
              <a:t>Every AIA employee (vision)</a:t>
            </a:r>
          </a:p>
        </p:txBody>
      </p:sp>
      <p:sp>
        <p:nvSpPr>
          <p:cNvPr id="14" name="Rounded Rectangle 13"/>
          <p:cNvSpPr/>
          <p:nvPr/>
        </p:nvSpPr>
        <p:spPr>
          <a:xfrm>
            <a:off x="4274820" y="1371600"/>
            <a:ext cx="3639312" cy="3383280"/>
          </a:xfrm>
          <a:prstGeom prst="roundRect">
            <a:avLst>
              <a:gd name="adj" fmla="val 2702"/>
            </a:avLst>
          </a:prstGeom>
          <a:solidFill>
            <a:srgbClr val="F4F1EF"/>
          </a:solidFill>
          <a:ln>
            <a:noFill/>
          </a:ln>
        </p:spPr>
        <p:txBody>
          <a:bodyPr rtlCol="0" anchor="ctr"/>
          <a:lstStyle/>
          <a:p>
            <a:pPr algn="ctr"/>
          </a:p>
        </p:txBody>
      </p:sp>
      <p:sp>
        <p:nvSpPr>
          <p:cNvPr id="15" name="Oval 14"/>
          <p:cNvSpPr/>
          <p:nvPr/>
        </p:nvSpPr>
        <p:spPr>
          <a:xfrm>
            <a:off x="4503420" y="1600200"/>
            <a:ext cx="512064" cy="512064"/>
          </a:xfrm>
          <a:prstGeom prst="ellipse">
            <a:avLst/>
          </a:prstGeom>
          <a:solidFill>
            <a:srgbClr val="D31145"/>
          </a:solidFill>
          <a:ln>
            <a:noFill/>
          </a:ln>
        </p:spPr>
        <p:txBody>
          <a:bodyPr rtlCol="0" anchor="ctr"/>
          <a:lstStyle/>
          <a:p>
            <a:pPr algn="ctr"/>
          </a:p>
        </p:txBody>
      </p:sp>
      <p:pic>
        <p:nvPicPr>
          <p:cNvPr id="16" name="Picture 15" descr="LuWorkflow_w.png"/>
          <p:cNvPicPr>
            <a:picLocks noChangeAspect="1"/>
          </p:cNvPicPr>
          <p:nvPr/>
        </p:nvPicPr>
        <p:blipFill>
          <a:blip r:embed="rId4"/>
          <a:stretch>
            <a:fillRect/>
          </a:stretch>
        </p:blipFill>
        <p:spPr>
          <a:xfrm>
            <a:off x="4621195" y="1717975"/>
            <a:ext cx="276515" cy="276515"/>
          </a:xfrm>
          <a:prstGeom prst="rect">
            <a:avLst/>
          </a:prstGeom>
        </p:spPr>
      </p:pic>
      <p:sp>
        <p:nvSpPr>
          <p:cNvPr id="17" name="TextBox 16"/>
          <p:cNvSpPr txBox="1"/>
          <p:nvPr/>
        </p:nvSpPr>
        <p:spPr>
          <a:xfrm>
            <a:off x="5170932" y="1600200"/>
            <a:ext cx="2633472" cy="512064"/>
          </a:xfrm>
          <a:prstGeom prst="rect">
            <a:avLst/>
          </a:prstGeom>
          <a:noFill/>
        </p:spPr>
        <p:txBody>
          <a:bodyPr wrap="square" lIns="0" tIns="0" rIns="0" bIns="0" anchor="ctr">
            <a:noAutofit/>
          </a:bodyPr>
          <a:lstStyle/>
          <a:p>
            <a:pPr algn="l">
              <a:spcAft>
                <a:spcPts val="0"/>
              </a:spcAft>
            </a:pPr>
            <a:r>
              <a:rPr sz="1800" b="1" i="0">
                <a:solidFill>
                  <a:srgbClr val="333D47"/>
                </a:solidFill>
                <a:latin typeface="Arial"/>
              </a:rPr>
              <a:t>More workflows</a:t>
            </a:r>
          </a:p>
        </p:txBody>
      </p:sp>
      <p:sp>
        <p:nvSpPr>
          <p:cNvPr id="18" name="TextBox 17"/>
          <p:cNvSpPr txBox="1"/>
          <p:nvPr/>
        </p:nvSpPr>
        <p:spPr>
          <a:xfrm>
            <a:off x="4503420" y="2267712"/>
            <a:ext cx="3182112" cy="914400"/>
          </a:xfrm>
          <a:prstGeom prst="rect">
            <a:avLst/>
          </a:prstGeom>
          <a:noFill/>
        </p:spPr>
        <p:txBody>
          <a:bodyPr wrap="square" lIns="0" tIns="0" rIns="0" bIns="0" anchor="t">
            <a:noAutofit/>
          </a:bodyPr>
          <a:lstStyle/>
          <a:p>
            <a:pPr algn="l">
              <a:spcAft>
                <a:spcPts val="0"/>
              </a:spcAft>
            </a:pPr>
            <a:r>
              <a:rPr sz="1300" b="0" i="0">
                <a:solidFill>
                  <a:srgbClr val="333D47"/>
                </a:solidFill>
                <a:latin typeface="Arial"/>
              </a:rPr>
              <a:t>The same pattern applies across back-office work, without a new tool each time.</a:t>
            </a:r>
          </a:p>
        </p:txBody>
      </p:sp>
      <p:sp>
        <p:nvSpPr>
          <p:cNvPr id="19" name="Rounded Rectangle 18"/>
          <p:cNvSpPr/>
          <p:nvPr/>
        </p:nvSpPr>
        <p:spPr>
          <a:xfrm>
            <a:off x="4503420" y="3474720"/>
            <a:ext cx="931180" cy="347472"/>
          </a:xfrm>
          <a:prstGeom prst="roundRect">
            <a:avLst>
              <a:gd name="adj" fmla="val 5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50" b="0" i="0">
                <a:solidFill>
                  <a:srgbClr val="333D47"/>
                </a:solidFill>
                <a:latin typeface="Arial"/>
              </a:rPr>
              <a:t>Research</a:t>
            </a:r>
          </a:p>
        </p:txBody>
      </p:sp>
      <p:sp>
        <p:nvSpPr>
          <p:cNvPr id="20" name="Rounded Rectangle 19"/>
          <p:cNvSpPr/>
          <p:nvPr/>
        </p:nvSpPr>
        <p:spPr>
          <a:xfrm>
            <a:off x="5526040" y="3474720"/>
            <a:ext cx="874220" cy="347472"/>
          </a:xfrm>
          <a:prstGeom prst="roundRect">
            <a:avLst>
              <a:gd name="adj" fmla="val 5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50" b="0" i="0">
                <a:solidFill>
                  <a:srgbClr val="333D47"/>
                </a:solidFill>
                <a:latin typeface="Arial"/>
              </a:rPr>
              <a:t>Analysis</a:t>
            </a:r>
          </a:p>
        </p:txBody>
      </p:sp>
      <p:sp>
        <p:nvSpPr>
          <p:cNvPr id="21" name="Rounded Rectangle 20"/>
          <p:cNvSpPr/>
          <p:nvPr/>
        </p:nvSpPr>
        <p:spPr>
          <a:xfrm>
            <a:off x="6491700" y="3474720"/>
            <a:ext cx="963311" cy="347472"/>
          </a:xfrm>
          <a:prstGeom prst="roundRect">
            <a:avLst>
              <a:gd name="adj" fmla="val 5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50" b="0" i="0">
                <a:solidFill>
                  <a:srgbClr val="333D47"/>
                </a:solidFill>
                <a:latin typeface="Arial"/>
              </a:rPr>
              <a:t>Reporting</a:t>
            </a:r>
          </a:p>
        </p:txBody>
      </p:sp>
      <p:sp>
        <p:nvSpPr>
          <p:cNvPr id="22" name="Rounded Rectangle 21"/>
          <p:cNvSpPr/>
          <p:nvPr/>
        </p:nvSpPr>
        <p:spPr>
          <a:xfrm>
            <a:off x="4503420" y="3931920"/>
            <a:ext cx="1182021" cy="347472"/>
          </a:xfrm>
          <a:prstGeom prst="roundRect">
            <a:avLst>
              <a:gd name="adj" fmla="val 5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50" b="0" i="0">
                <a:solidFill>
                  <a:srgbClr val="333D47"/>
                </a:solidFill>
                <a:latin typeface="Arial"/>
              </a:rPr>
              <a:t>Coordination</a:t>
            </a:r>
          </a:p>
        </p:txBody>
      </p:sp>
      <p:sp>
        <p:nvSpPr>
          <p:cNvPr id="23" name="Rounded Rectangle 22"/>
          <p:cNvSpPr/>
          <p:nvPr/>
        </p:nvSpPr>
        <p:spPr>
          <a:xfrm>
            <a:off x="5776881" y="3931920"/>
            <a:ext cx="833692" cy="347472"/>
          </a:xfrm>
          <a:prstGeom prst="roundRect">
            <a:avLst>
              <a:gd name="adj" fmla="val 5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50" b="0" i="0">
                <a:solidFill>
                  <a:srgbClr val="333D47"/>
                </a:solidFill>
                <a:latin typeface="Arial"/>
              </a:rPr>
              <a:t>Drafting</a:t>
            </a:r>
          </a:p>
        </p:txBody>
      </p:sp>
      <p:sp>
        <p:nvSpPr>
          <p:cNvPr id="24" name="Rounded Rectangle 23"/>
          <p:cNvSpPr/>
          <p:nvPr/>
        </p:nvSpPr>
        <p:spPr>
          <a:xfrm>
            <a:off x="8193024" y="1371600"/>
            <a:ext cx="3639312" cy="3383280"/>
          </a:xfrm>
          <a:prstGeom prst="roundRect">
            <a:avLst>
              <a:gd name="adj" fmla="val 2702"/>
            </a:avLst>
          </a:prstGeom>
          <a:solidFill>
            <a:srgbClr val="F4F1EF"/>
          </a:solidFill>
          <a:ln>
            <a:noFill/>
          </a:ln>
        </p:spPr>
        <p:txBody>
          <a:bodyPr rtlCol="0" anchor="ctr"/>
          <a:lstStyle/>
          <a:p>
            <a:pPr algn="ctr"/>
          </a:p>
        </p:txBody>
      </p:sp>
      <p:sp>
        <p:nvSpPr>
          <p:cNvPr id="25" name="Oval 24"/>
          <p:cNvSpPr/>
          <p:nvPr/>
        </p:nvSpPr>
        <p:spPr>
          <a:xfrm>
            <a:off x="8421624" y="1600200"/>
            <a:ext cx="512064" cy="512064"/>
          </a:xfrm>
          <a:prstGeom prst="ellipse">
            <a:avLst/>
          </a:prstGeom>
          <a:solidFill>
            <a:srgbClr val="D31145"/>
          </a:solidFill>
          <a:ln>
            <a:noFill/>
          </a:ln>
        </p:spPr>
        <p:txBody>
          <a:bodyPr rtlCol="0" anchor="ctr"/>
          <a:lstStyle/>
          <a:p>
            <a:pPr algn="ctr"/>
          </a:p>
        </p:txBody>
      </p:sp>
      <p:pic>
        <p:nvPicPr>
          <p:cNvPr id="26" name="Picture 25" descr="LuBlocks_w.png"/>
          <p:cNvPicPr>
            <a:picLocks noChangeAspect="1"/>
          </p:cNvPicPr>
          <p:nvPr/>
        </p:nvPicPr>
        <p:blipFill>
          <a:blip r:embed="rId5"/>
          <a:stretch>
            <a:fillRect/>
          </a:stretch>
        </p:blipFill>
        <p:spPr>
          <a:xfrm>
            <a:off x="8539399" y="1717975"/>
            <a:ext cx="276515" cy="276515"/>
          </a:xfrm>
          <a:prstGeom prst="rect">
            <a:avLst/>
          </a:prstGeom>
        </p:spPr>
      </p:pic>
      <p:sp>
        <p:nvSpPr>
          <p:cNvPr id="27" name="TextBox 26"/>
          <p:cNvSpPr txBox="1"/>
          <p:nvPr/>
        </p:nvSpPr>
        <p:spPr>
          <a:xfrm>
            <a:off x="9089136" y="1600200"/>
            <a:ext cx="2633472" cy="512064"/>
          </a:xfrm>
          <a:prstGeom prst="rect">
            <a:avLst/>
          </a:prstGeom>
          <a:noFill/>
        </p:spPr>
        <p:txBody>
          <a:bodyPr wrap="square" lIns="0" tIns="0" rIns="0" bIns="0" anchor="ctr">
            <a:noAutofit/>
          </a:bodyPr>
          <a:lstStyle/>
          <a:p>
            <a:pPr algn="l">
              <a:spcAft>
                <a:spcPts val="0"/>
              </a:spcAft>
            </a:pPr>
            <a:r>
              <a:rPr sz="1800" b="1" i="0">
                <a:solidFill>
                  <a:srgbClr val="333D47"/>
                </a:solidFill>
                <a:latin typeface="Arial"/>
              </a:rPr>
              <a:t>More capabilities</a:t>
            </a:r>
          </a:p>
        </p:txBody>
      </p:sp>
      <p:sp>
        <p:nvSpPr>
          <p:cNvPr id="28" name="TextBox 27"/>
          <p:cNvSpPr txBox="1"/>
          <p:nvPr/>
        </p:nvSpPr>
        <p:spPr>
          <a:xfrm>
            <a:off x="8421624" y="2267712"/>
            <a:ext cx="3182112" cy="914400"/>
          </a:xfrm>
          <a:prstGeom prst="rect">
            <a:avLst/>
          </a:prstGeom>
          <a:noFill/>
        </p:spPr>
        <p:txBody>
          <a:bodyPr wrap="square" lIns="0" tIns="0" rIns="0" bIns="0" anchor="t">
            <a:noAutofit/>
          </a:bodyPr>
          <a:lstStyle/>
          <a:p>
            <a:pPr algn="l">
              <a:spcAft>
                <a:spcPts val="0"/>
              </a:spcAft>
            </a:pPr>
            <a:r>
              <a:rPr sz="1300" b="0" i="0">
                <a:solidFill>
                  <a:srgbClr val="333D47"/>
                </a:solidFill>
                <a:latin typeface="Arial"/>
              </a:rPr>
              <a:t>Each capability connected once becomes available to every authorized employee, without rebuilding Riley.</a:t>
            </a:r>
          </a:p>
        </p:txBody>
      </p:sp>
      <p:cxnSp>
        <p:nvCxnSpPr>
          <p:cNvPr id="29" name="Connector 28"/>
          <p:cNvCxnSpPr/>
          <p:nvPr/>
        </p:nvCxnSpPr>
        <p:spPr>
          <a:xfrm flipH="1" flipV="1">
            <a:off x="8778240" y="3456432"/>
            <a:ext cx="1234440" cy="411480"/>
          </a:xfrm>
          <a:prstGeom prst="line">
            <a:avLst/>
          </a:prstGeom>
          <a:ln w="15875">
            <a:solidFill>
              <a:srgbClr val="9B928B"/>
            </a:solidFill>
          </a:ln>
        </p:spPr>
      </p:cxnSp>
      <p:cxnSp>
        <p:nvCxnSpPr>
          <p:cNvPr id="30" name="Connector 29"/>
          <p:cNvCxnSpPr/>
          <p:nvPr/>
        </p:nvCxnSpPr>
        <p:spPr>
          <a:xfrm flipH="1">
            <a:off x="8778240" y="3867912"/>
            <a:ext cx="1234440" cy="411480"/>
          </a:xfrm>
          <a:prstGeom prst="line">
            <a:avLst/>
          </a:prstGeom>
          <a:ln w="15875">
            <a:solidFill>
              <a:srgbClr val="9B928B"/>
            </a:solidFill>
          </a:ln>
        </p:spPr>
      </p:cxnSp>
      <p:cxnSp>
        <p:nvCxnSpPr>
          <p:cNvPr id="31" name="Connector 30"/>
          <p:cNvCxnSpPr/>
          <p:nvPr/>
        </p:nvCxnSpPr>
        <p:spPr>
          <a:xfrm flipV="1">
            <a:off x="10012680" y="3300984"/>
            <a:ext cx="0" cy="566928"/>
          </a:xfrm>
          <a:prstGeom prst="line">
            <a:avLst/>
          </a:prstGeom>
          <a:ln w="15875">
            <a:solidFill>
              <a:srgbClr val="9B928B"/>
            </a:solidFill>
          </a:ln>
        </p:spPr>
      </p:cxnSp>
      <p:cxnSp>
        <p:nvCxnSpPr>
          <p:cNvPr id="32" name="Connector 31"/>
          <p:cNvCxnSpPr/>
          <p:nvPr/>
        </p:nvCxnSpPr>
        <p:spPr>
          <a:xfrm flipV="1">
            <a:off x="10012680" y="3456432"/>
            <a:ext cx="1234440" cy="411480"/>
          </a:xfrm>
          <a:prstGeom prst="line">
            <a:avLst/>
          </a:prstGeom>
          <a:ln w="15875">
            <a:solidFill>
              <a:srgbClr val="9B928B"/>
            </a:solidFill>
          </a:ln>
        </p:spPr>
      </p:cxnSp>
      <p:cxnSp>
        <p:nvCxnSpPr>
          <p:cNvPr id="33" name="Connector 32"/>
          <p:cNvCxnSpPr/>
          <p:nvPr/>
        </p:nvCxnSpPr>
        <p:spPr>
          <a:xfrm>
            <a:off x="10012680" y="3867912"/>
            <a:ext cx="1234440" cy="411480"/>
          </a:xfrm>
          <a:prstGeom prst="line">
            <a:avLst/>
          </a:prstGeom>
          <a:ln w="15875">
            <a:solidFill>
              <a:srgbClr val="D31145"/>
            </a:solidFill>
          </a:ln>
        </p:spPr>
      </p:cxnSp>
      <p:cxnSp>
        <p:nvCxnSpPr>
          <p:cNvPr id="34" name="Connector 33"/>
          <p:cNvCxnSpPr/>
          <p:nvPr/>
        </p:nvCxnSpPr>
        <p:spPr>
          <a:xfrm>
            <a:off x="10012680" y="3867912"/>
            <a:ext cx="0" cy="566928"/>
          </a:xfrm>
          <a:prstGeom prst="line">
            <a:avLst/>
          </a:prstGeom>
          <a:ln w="15875">
            <a:solidFill>
              <a:srgbClr val="9B928B"/>
            </a:solidFill>
          </a:ln>
        </p:spPr>
      </p:cxnSp>
      <p:sp>
        <p:nvSpPr>
          <p:cNvPr id="35" name="Oval 34"/>
          <p:cNvSpPr/>
          <p:nvPr/>
        </p:nvSpPr>
        <p:spPr>
          <a:xfrm>
            <a:off x="8659368" y="3337560"/>
            <a:ext cx="237744" cy="237744"/>
          </a:xfrm>
          <a:prstGeom prst="ellipse">
            <a:avLst/>
          </a:prstGeom>
          <a:solidFill>
            <a:srgbClr val="FFFFFF"/>
          </a:solidFill>
          <a:ln w="15875">
            <a:solidFill>
              <a:srgbClr val="9B928B"/>
            </a:solidFill>
          </a:ln>
        </p:spPr>
        <p:txBody>
          <a:bodyPr rtlCol="0" anchor="ctr"/>
          <a:lstStyle/>
          <a:p>
            <a:pPr algn="ctr"/>
          </a:p>
        </p:txBody>
      </p:sp>
      <p:sp>
        <p:nvSpPr>
          <p:cNvPr id="36" name="Oval 35"/>
          <p:cNvSpPr/>
          <p:nvPr/>
        </p:nvSpPr>
        <p:spPr>
          <a:xfrm>
            <a:off x="8659368" y="4160520"/>
            <a:ext cx="237744" cy="237744"/>
          </a:xfrm>
          <a:prstGeom prst="ellipse">
            <a:avLst/>
          </a:prstGeom>
          <a:solidFill>
            <a:srgbClr val="FFFFFF"/>
          </a:solidFill>
          <a:ln w="15875">
            <a:solidFill>
              <a:srgbClr val="9B928B"/>
            </a:solidFill>
          </a:ln>
        </p:spPr>
        <p:txBody>
          <a:bodyPr rtlCol="0" anchor="ctr"/>
          <a:lstStyle/>
          <a:p>
            <a:pPr algn="ctr"/>
          </a:p>
        </p:txBody>
      </p:sp>
      <p:sp>
        <p:nvSpPr>
          <p:cNvPr id="37" name="Oval 36"/>
          <p:cNvSpPr/>
          <p:nvPr/>
        </p:nvSpPr>
        <p:spPr>
          <a:xfrm>
            <a:off x="9893808" y="3182112"/>
            <a:ext cx="237744" cy="237744"/>
          </a:xfrm>
          <a:prstGeom prst="ellipse">
            <a:avLst/>
          </a:prstGeom>
          <a:solidFill>
            <a:srgbClr val="FFFFFF"/>
          </a:solidFill>
          <a:ln w="15875">
            <a:solidFill>
              <a:srgbClr val="9B928B"/>
            </a:solidFill>
          </a:ln>
        </p:spPr>
        <p:txBody>
          <a:bodyPr rtlCol="0" anchor="ctr"/>
          <a:lstStyle/>
          <a:p>
            <a:pPr algn="ctr"/>
          </a:p>
        </p:txBody>
      </p:sp>
      <p:sp>
        <p:nvSpPr>
          <p:cNvPr id="38" name="Oval 37"/>
          <p:cNvSpPr/>
          <p:nvPr/>
        </p:nvSpPr>
        <p:spPr>
          <a:xfrm>
            <a:off x="11128248" y="3337560"/>
            <a:ext cx="237744" cy="237744"/>
          </a:xfrm>
          <a:prstGeom prst="ellipse">
            <a:avLst/>
          </a:prstGeom>
          <a:solidFill>
            <a:srgbClr val="FFFFFF"/>
          </a:solidFill>
          <a:ln w="15875">
            <a:solidFill>
              <a:srgbClr val="9B928B"/>
            </a:solidFill>
          </a:ln>
        </p:spPr>
        <p:txBody>
          <a:bodyPr rtlCol="0" anchor="ctr"/>
          <a:lstStyle/>
          <a:p>
            <a:pPr algn="ctr"/>
          </a:p>
        </p:txBody>
      </p:sp>
      <p:sp>
        <p:nvSpPr>
          <p:cNvPr id="39" name="Oval 38"/>
          <p:cNvSpPr/>
          <p:nvPr/>
        </p:nvSpPr>
        <p:spPr>
          <a:xfrm>
            <a:off x="11128248" y="4160520"/>
            <a:ext cx="237744" cy="237744"/>
          </a:xfrm>
          <a:prstGeom prst="ellipse">
            <a:avLst/>
          </a:prstGeom>
          <a:solidFill>
            <a:srgbClr val="D31145"/>
          </a:solidFill>
          <a:ln w="15875">
            <a:solidFill>
              <a:srgbClr val="D31145"/>
            </a:solidFill>
          </a:ln>
        </p:spPr>
        <p:txBody>
          <a:bodyPr rtlCol="0" anchor="ctr"/>
          <a:lstStyle/>
          <a:p>
            <a:pPr algn="ctr"/>
          </a:p>
        </p:txBody>
      </p:sp>
      <p:sp>
        <p:nvSpPr>
          <p:cNvPr id="40" name="Oval 39"/>
          <p:cNvSpPr/>
          <p:nvPr/>
        </p:nvSpPr>
        <p:spPr>
          <a:xfrm>
            <a:off x="9893808" y="4315968"/>
            <a:ext cx="237744" cy="237744"/>
          </a:xfrm>
          <a:prstGeom prst="ellipse">
            <a:avLst/>
          </a:prstGeom>
          <a:solidFill>
            <a:srgbClr val="FFFFFF"/>
          </a:solidFill>
          <a:ln w="15875">
            <a:solidFill>
              <a:srgbClr val="9B928B"/>
            </a:solidFill>
          </a:ln>
        </p:spPr>
        <p:txBody>
          <a:bodyPr rtlCol="0" anchor="ctr"/>
          <a:lstStyle/>
          <a:p>
            <a:pPr algn="ctr"/>
          </a:p>
        </p:txBody>
      </p:sp>
      <p:sp>
        <p:nvSpPr>
          <p:cNvPr id="41" name="Oval 40"/>
          <p:cNvSpPr/>
          <p:nvPr/>
        </p:nvSpPr>
        <p:spPr>
          <a:xfrm>
            <a:off x="9756648" y="3611880"/>
            <a:ext cx="512064" cy="512064"/>
          </a:xfrm>
          <a:prstGeom prst="ellipse">
            <a:avLst/>
          </a:prstGeom>
          <a:solidFill>
            <a:srgbClr val="D31145"/>
          </a:solidFill>
          <a:ln>
            <a:noFill/>
          </a:ln>
        </p:spPr>
        <p:txBody>
          <a:bodyPr rtlCol="0" anchor="ctr" wrap="square" lIns="0" tIns="0" rIns="0" bIns="0">
            <a:noAutofit/>
          </a:bodyPr>
          <a:lstStyle/>
          <a:p>
            <a:pPr algn="ctr">
              <a:spcAft>
                <a:spcPts val="0"/>
              </a:spcAft>
            </a:pPr>
            <a:r>
              <a:rPr sz="1600" b="1" i="0">
                <a:solidFill>
                  <a:srgbClr val="FFFFFF"/>
                </a:solidFill>
                <a:latin typeface="Arial"/>
              </a:rPr>
              <a:t>R</a:t>
            </a:r>
          </a:p>
        </p:txBody>
      </p:sp>
      <p:sp>
        <p:nvSpPr>
          <p:cNvPr id="42" name="Rounded Rectangle 41"/>
          <p:cNvSpPr/>
          <p:nvPr/>
        </p:nvSpPr>
        <p:spPr>
          <a:xfrm>
            <a:off x="356616" y="4956048"/>
            <a:ext cx="5632704" cy="731520"/>
          </a:xfrm>
          <a:prstGeom prst="roundRect">
            <a:avLst>
              <a:gd name="adj" fmla="val 10000"/>
            </a:avLst>
          </a:prstGeom>
          <a:solidFill>
            <a:srgbClr val="FFFFFF"/>
          </a:solidFill>
          <a:ln w="9525">
            <a:solidFill>
              <a:srgbClr val="DDD6D0"/>
            </a:solidFill>
          </a:ln>
        </p:spPr>
        <p:txBody>
          <a:bodyPr rtlCol="0" anchor="ctr"/>
          <a:lstStyle/>
          <a:p>
            <a:pPr algn="ctr"/>
          </a:p>
        </p:txBody>
      </p:sp>
      <p:pic>
        <p:nvPicPr>
          <p:cNvPr id="43" name="Picture 42" descr="LuEarth_c.png"/>
          <p:cNvPicPr>
            <a:picLocks noChangeAspect="1"/>
          </p:cNvPicPr>
          <p:nvPr/>
        </p:nvPicPr>
        <p:blipFill>
          <a:blip r:embed="rId6"/>
          <a:stretch>
            <a:fillRect/>
          </a:stretch>
        </p:blipFill>
        <p:spPr>
          <a:xfrm>
            <a:off x="521208" y="5157216"/>
            <a:ext cx="329184" cy="329184"/>
          </a:xfrm>
          <a:prstGeom prst="rect">
            <a:avLst/>
          </a:prstGeom>
        </p:spPr>
      </p:pic>
      <p:sp>
        <p:nvSpPr>
          <p:cNvPr id="44" name="TextBox 43"/>
          <p:cNvSpPr txBox="1"/>
          <p:nvPr/>
        </p:nvSpPr>
        <p:spPr>
          <a:xfrm>
            <a:off x="1005840" y="4956048"/>
            <a:ext cx="4892040" cy="731520"/>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Across markets: </a:t>
            </a:r>
            <a:r>
              <a:rPr sz="1200" b="0" i="0">
                <a:solidFill>
                  <a:srgbClr val="333D47"/>
                </a:solidFill>
                <a:latin typeface="Arial"/>
              </a:rPr>
              <a:t>reuse the core experience. Each market adds its own system connections, data controls, governance and process set-up.</a:t>
            </a:r>
          </a:p>
        </p:txBody>
      </p:sp>
      <p:sp>
        <p:nvSpPr>
          <p:cNvPr id="45" name="Rounded Rectangle 44"/>
          <p:cNvSpPr/>
          <p:nvPr/>
        </p:nvSpPr>
        <p:spPr>
          <a:xfrm>
            <a:off x="6199632" y="4956048"/>
            <a:ext cx="5632704" cy="713232"/>
          </a:xfrm>
          <a:prstGeom prst="roundRect">
            <a:avLst>
              <a:gd name="adj" fmla="val 10256"/>
            </a:avLst>
          </a:prstGeom>
          <a:solidFill>
            <a:srgbClr val="FBE8ED"/>
          </a:solidFill>
          <a:ln>
            <a:noFill/>
          </a:ln>
        </p:spPr>
        <p:txBody>
          <a:bodyPr rtlCol="0" anchor="ctr"/>
          <a:lstStyle/>
          <a:p>
            <a:pPr algn="ctr"/>
          </a:p>
        </p:txBody>
      </p:sp>
      <p:pic>
        <p:nvPicPr>
          <p:cNvPr id="46" name="Picture 45" descr="LuTrendingUp_r.png"/>
          <p:cNvPicPr>
            <a:picLocks noChangeAspect="1"/>
          </p:cNvPicPr>
          <p:nvPr/>
        </p:nvPicPr>
        <p:blipFill>
          <a:blip r:embed="rId7"/>
          <a:stretch>
            <a:fillRect/>
          </a:stretch>
        </p:blipFill>
        <p:spPr>
          <a:xfrm>
            <a:off x="6364224" y="5157216"/>
            <a:ext cx="329184" cy="329184"/>
          </a:xfrm>
          <a:prstGeom prst="rect">
            <a:avLst/>
          </a:prstGeom>
        </p:spPr>
      </p:pic>
      <p:sp>
        <p:nvSpPr>
          <p:cNvPr id="47" name="TextBox 46"/>
          <p:cNvSpPr txBox="1"/>
          <p:nvPr/>
        </p:nvSpPr>
        <p:spPr>
          <a:xfrm>
            <a:off x="6848856" y="4956048"/>
            <a:ext cx="4846320" cy="731520"/>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Enduring value: </a:t>
            </a:r>
            <a:r>
              <a:rPr sz="1200" b="0" i="0">
                <a:solidFill>
                  <a:srgbClr val="333D47"/>
                </a:solidFill>
                <a:latin typeface="Arial"/>
              </a:rPr>
              <a:t>usefulness can grow as capabilities, workflows and feedback are added. Not a one-time gain.</a:t>
            </a:r>
          </a:p>
        </p:txBody>
      </p:sp>
      <p:sp>
        <p:nvSpPr>
          <p:cNvPr id="48" name="Slide Number Placeholder"/>
          <p:cNvSpPr>
            <a:spLocks noGrp="1"/>
          </p:cNvSpPr>
          <p:nvPr>
            <p:ph type="sldNum" sz="quarter" idx="4"/>
          </p:nvPr>
        </p:nvSpPr>
        <p:spPr/>
        <p:txBody>
          <a:bodyPr/>
          <a:lstStyle/>
          <a:p>
            <a:fld id="{18A41853-EF22-D446-BDBC-A7CF3FE93503}" type="slidenum">
              <a:rPr lang="en-US"/>
              <a:t>9</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6" name="TextBox 5"/>
          <p:cNvSpPr txBox="1"/>
          <p:nvPr/>
        </p:nvSpPr>
        <p:spPr>
          <a:xfrm>
            <a:off x="356616" y="1325880"/>
            <a:ext cx="3931920" cy="237744"/>
          </a:xfrm>
          <a:prstGeom prst="rect">
            <a:avLst/>
          </a:prstGeom>
          <a:noFill/>
        </p:spPr>
        <p:txBody>
          <a:bodyPr wrap="square" lIns="0" tIns="0" rIns="0" bIns="0" anchor="t">
            <a:noAutofit/>
          </a:bodyPr>
          <a:lstStyle/>
          <a:p>
            <a:pPr algn="l">
              <a:spcAft>
                <a:spcPts val="0"/>
              </a:spcAft>
            </a:pPr>
            <a:r>
              <a:rPr sz="1100" b="1" i="0" spc="100">
                <a:solidFill>
                  <a:srgbClr val="5F6770"/>
                </a:solidFill>
                <a:latin typeface="Arial"/>
              </a:rPr>
              <a:t>PRACTICAL TO START</a:t>
            </a:r>
          </a:p>
        </p:txBody>
      </p:sp>
      <p:sp>
        <p:nvSpPr>
          <p:cNvPr id="7" name="Oval 6"/>
          <p:cNvSpPr/>
          <p:nvPr/>
        </p:nvSpPr>
        <p:spPr>
          <a:xfrm>
            <a:off x="356616" y="1737360"/>
            <a:ext cx="475488" cy="475488"/>
          </a:xfrm>
          <a:prstGeom prst="ellipse">
            <a:avLst/>
          </a:prstGeom>
          <a:solidFill>
            <a:srgbClr val="333D47"/>
          </a:solidFill>
          <a:ln>
            <a:noFill/>
          </a:ln>
        </p:spPr>
        <p:txBody>
          <a:bodyPr rtlCol="0" anchor="ctr"/>
          <a:lstStyle/>
          <a:p>
            <a:pPr algn="ctr"/>
          </a:p>
        </p:txBody>
      </p:sp>
      <p:pic>
        <p:nvPicPr>
          <p:cNvPr id="8" name="Picture 7" descr="LuMessagesSquare_w.png"/>
          <p:cNvPicPr>
            <a:picLocks noChangeAspect="1"/>
          </p:cNvPicPr>
          <p:nvPr/>
        </p:nvPicPr>
        <p:blipFill>
          <a:blip r:embed="rId3"/>
          <a:stretch>
            <a:fillRect/>
          </a:stretch>
        </p:blipFill>
        <p:spPr>
          <a:xfrm>
            <a:off x="465978" y="1846722"/>
            <a:ext cx="256764" cy="256764"/>
          </a:xfrm>
          <a:prstGeom prst="rect">
            <a:avLst/>
          </a:prstGeom>
        </p:spPr>
      </p:pic>
      <p:sp>
        <p:nvSpPr>
          <p:cNvPr id="9" name="TextBox 8"/>
          <p:cNvSpPr txBox="1"/>
          <p:nvPr/>
        </p:nvSpPr>
        <p:spPr>
          <a:xfrm>
            <a:off x="1005840" y="1719072"/>
            <a:ext cx="3291840" cy="310896"/>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Inside Microsoft Teams</a:t>
            </a:r>
          </a:p>
        </p:txBody>
      </p:sp>
      <p:sp>
        <p:nvSpPr>
          <p:cNvPr id="10" name="TextBox 9"/>
          <p:cNvSpPr txBox="1"/>
          <p:nvPr/>
        </p:nvSpPr>
        <p:spPr>
          <a:xfrm>
            <a:off x="1005840" y="2066544"/>
            <a:ext cx="3246120" cy="77724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Where employees already work. Trust is still earned through reliable results.</a:t>
            </a:r>
          </a:p>
        </p:txBody>
      </p:sp>
      <p:sp>
        <p:nvSpPr>
          <p:cNvPr id="11" name="Oval 10"/>
          <p:cNvSpPr/>
          <p:nvPr/>
        </p:nvSpPr>
        <p:spPr>
          <a:xfrm>
            <a:off x="356616" y="3063240"/>
            <a:ext cx="475488" cy="475488"/>
          </a:xfrm>
          <a:prstGeom prst="ellipse">
            <a:avLst/>
          </a:prstGeom>
          <a:solidFill>
            <a:srgbClr val="333D47"/>
          </a:solidFill>
          <a:ln>
            <a:noFill/>
          </a:ln>
        </p:spPr>
        <p:txBody>
          <a:bodyPr rtlCol="0" anchor="ctr"/>
          <a:lstStyle/>
          <a:p>
            <a:pPr algn="ctr"/>
          </a:p>
        </p:txBody>
      </p:sp>
      <p:pic>
        <p:nvPicPr>
          <p:cNvPr id="12" name="Picture 11" descr="LuCpu_w.png"/>
          <p:cNvPicPr>
            <a:picLocks noChangeAspect="1"/>
          </p:cNvPicPr>
          <p:nvPr/>
        </p:nvPicPr>
        <p:blipFill>
          <a:blip r:embed="rId4"/>
          <a:stretch>
            <a:fillRect/>
          </a:stretch>
        </p:blipFill>
        <p:spPr>
          <a:xfrm>
            <a:off x="465978" y="3172602"/>
            <a:ext cx="256764" cy="256764"/>
          </a:xfrm>
          <a:prstGeom prst="rect">
            <a:avLst/>
          </a:prstGeom>
        </p:spPr>
      </p:pic>
      <p:sp>
        <p:nvSpPr>
          <p:cNvPr id="13" name="TextBox 12"/>
          <p:cNvSpPr txBox="1"/>
          <p:nvPr/>
        </p:nvSpPr>
        <p:spPr>
          <a:xfrm>
            <a:off x="1005840" y="3044952"/>
            <a:ext cx="3291840" cy="310896"/>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On an enterprise AI platform</a:t>
            </a:r>
          </a:p>
        </p:txBody>
      </p:sp>
      <p:sp>
        <p:nvSpPr>
          <p:cNvPr id="14" name="TextBox 13"/>
          <p:cNvSpPr txBox="1"/>
          <p:nvPr/>
        </p:nvSpPr>
        <p:spPr>
          <a:xfrm>
            <a:off x="1005840" y="3392424"/>
            <a:ext cx="3246120" cy="77724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AIA already has or adopts. No new AI engine built from scratch.</a:t>
            </a:r>
          </a:p>
        </p:txBody>
      </p:sp>
      <p:sp>
        <p:nvSpPr>
          <p:cNvPr id="15" name="Oval 14"/>
          <p:cNvSpPr/>
          <p:nvPr/>
        </p:nvSpPr>
        <p:spPr>
          <a:xfrm>
            <a:off x="356616" y="4389120"/>
            <a:ext cx="475488" cy="475488"/>
          </a:xfrm>
          <a:prstGeom prst="ellipse">
            <a:avLst/>
          </a:prstGeom>
          <a:solidFill>
            <a:srgbClr val="333D47"/>
          </a:solidFill>
          <a:ln>
            <a:noFill/>
          </a:ln>
        </p:spPr>
        <p:txBody>
          <a:bodyPr rtlCol="0" anchor="ctr"/>
          <a:lstStyle/>
          <a:p>
            <a:pPr algn="ctr"/>
          </a:p>
        </p:txBody>
      </p:sp>
      <p:pic>
        <p:nvPicPr>
          <p:cNvPr id="16" name="Picture 15" descr="LuFlag_w.png"/>
          <p:cNvPicPr>
            <a:picLocks noChangeAspect="1"/>
          </p:cNvPicPr>
          <p:nvPr/>
        </p:nvPicPr>
        <p:blipFill>
          <a:blip r:embed="rId5"/>
          <a:stretch>
            <a:fillRect/>
          </a:stretch>
        </p:blipFill>
        <p:spPr>
          <a:xfrm>
            <a:off x="465978" y="4498482"/>
            <a:ext cx="256764" cy="256764"/>
          </a:xfrm>
          <a:prstGeom prst="rect">
            <a:avLst/>
          </a:prstGeom>
        </p:spPr>
      </p:pic>
      <p:sp>
        <p:nvSpPr>
          <p:cNvPr id="17" name="TextBox 16"/>
          <p:cNvSpPr txBox="1"/>
          <p:nvPr/>
        </p:nvSpPr>
        <p:spPr>
          <a:xfrm>
            <a:off x="1005840" y="4370832"/>
            <a:ext cx="3291840" cy="310896"/>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Narrow and gated</a:t>
            </a:r>
          </a:p>
        </p:txBody>
      </p:sp>
      <p:sp>
        <p:nvSpPr>
          <p:cNvPr id="18" name="TextBox 17"/>
          <p:cNvSpPr txBox="1"/>
          <p:nvPr/>
        </p:nvSpPr>
        <p:spPr>
          <a:xfrm>
            <a:off x="1005840" y="4718304"/>
            <a:ext cx="3246120" cy="77724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team, one workflow. Each phase proceeds only on measured results.</a:t>
            </a:r>
          </a:p>
        </p:txBody>
      </p:sp>
      <p:sp>
        <p:nvSpPr>
          <p:cNvPr id="19" name="TextBox 18"/>
          <p:cNvSpPr txBox="1"/>
          <p:nvPr/>
        </p:nvSpPr>
        <p:spPr>
          <a:xfrm>
            <a:off x="4709160" y="1325880"/>
            <a:ext cx="4572000" cy="237744"/>
          </a:xfrm>
          <a:prstGeom prst="rect">
            <a:avLst/>
          </a:prstGeom>
          <a:noFill/>
        </p:spPr>
        <p:txBody>
          <a:bodyPr wrap="square" lIns="0" tIns="0" rIns="0" bIns="0" anchor="t">
            <a:noAutofit/>
          </a:bodyPr>
          <a:lstStyle/>
          <a:p>
            <a:pPr algn="l">
              <a:spcAft>
                <a:spcPts val="0"/>
              </a:spcAft>
            </a:pPr>
            <a:r>
              <a:rPr sz="1100" b="1" i="0" spc="100">
                <a:solidFill>
                  <a:srgbClr val="5F6770"/>
                </a:solidFill>
                <a:latin typeface="Arial"/>
              </a:rPr>
              <a:t>DESIGNED TO BE TRUSTED</a:t>
            </a:r>
          </a:p>
        </p:txBody>
      </p:sp>
      <p:sp>
        <p:nvSpPr>
          <p:cNvPr id="20" name="Rounded Rectangle 19"/>
          <p:cNvSpPr/>
          <p:nvPr/>
        </p:nvSpPr>
        <p:spPr>
          <a:xfrm>
            <a:off x="4709160" y="1737360"/>
            <a:ext cx="7123176" cy="1188720"/>
          </a:xfrm>
          <a:prstGeom prst="roundRect">
            <a:avLst>
              <a:gd name="adj" fmla="val 7692"/>
            </a:avLst>
          </a:prstGeom>
          <a:solidFill>
            <a:srgbClr val="D31145"/>
          </a:solidFill>
          <a:ln>
            <a:noFill/>
          </a:ln>
        </p:spPr>
        <p:txBody>
          <a:bodyPr rtlCol="0" anchor="ctr"/>
          <a:lstStyle/>
          <a:p>
            <a:pPr algn="ctr"/>
          </a:p>
        </p:txBody>
      </p:sp>
      <p:sp>
        <p:nvSpPr>
          <p:cNvPr id="21" name="Oval 20"/>
          <p:cNvSpPr/>
          <p:nvPr/>
        </p:nvSpPr>
        <p:spPr>
          <a:xfrm>
            <a:off x="4937760" y="2093976"/>
            <a:ext cx="475488" cy="475488"/>
          </a:xfrm>
          <a:prstGeom prst="ellipse">
            <a:avLst/>
          </a:prstGeom>
          <a:solidFill>
            <a:srgbClr val="FFFFFF"/>
          </a:solidFill>
          <a:ln>
            <a:noFill/>
          </a:ln>
        </p:spPr>
        <p:txBody>
          <a:bodyPr rtlCol="0" anchor="ctr"/>
          <a:lstStyle/>
          <a:p>
            <a:pPr algn="ctr"/>
          </a:p>
        </p:txBody>
      </p:sp>
      <p:pic>
        <p:nvPicPr>
          <p:cNvPr id="22" name="Picture 21" descr="LuUserCheck_r.png"/>
          <p:cNvPicPr>
            <a:picLocks noChangeAspect="1"/>
          </p:cNvPicPr>
          <p:nvPr/>
        </p:nvPicPr>
        <p:blipFill>
          <a:blip r:embed="rId6"/>
          <a:stretch>
            <a:fillRect/>
          </a:stretch>
        </p:blipFill>
        <p:spPr>
          <a:xfrm>
            <a:off x="5047122" y="2203338"/>
            <a:ext cx="256764" cy="256764"/>
          </a:xfrm>
          <a:prstGeom prst="rect">
            <a:avLst/>
          </a:prstGeom>
        </p:spPr>
      </p:pic>
      <p:sp>
        <p:nvSpPr>
          <p:cNvPr id="23" name="TextBox 22"/>
          <p:cNvSpPr txBox="1"/>
          <p:nvPr/>
        </p:nvSpPr>
        <p:spPr>
          <a:xfrm>
            <a:off x="5605272" y="1828800"/>
            <a:ext cx="6025896" cy="310896"/>
          </a:xfrm>
          <a:prstGeom prst="rect">
            <a:avLst/>
          </a:prstGeom>
          <a:noFill/>
        </p:spPr>
        <p:txBody>
          <a:bodyPr wrap="square" lIns="0" tIns="0" rIns="0" bIns="0" anchor="t">
            <a:noAutofit/>
          </a:bodyPr>
          <a:lstStyle/>
          <a:p>
            <a:pPr algn="l">
              <a:spcAft>
                <a:spcPts val="0"/>
              </a:spcAft>
            </a:pPr>
            <a:r>
              <a:rPr sz="1700" b="1" i="0">
                <a:solidFill>
                  <a:srgbClr val="FFFFFF"/>
                </a:solidFill>
                <a:latin typeface="Arial"/>
              </a:rPr>
              <a:t>Approval before any final action</a:t>
            </a:r>
          </a:p>
        </p:txBody>
      </p:sp>
      <p:sp>
        <p:nvSpPr>
          <p:cNvPr id="24" name="TextBox 23"/>
          <p:cNvSpPr txBox="1"/>
          <p:nvPr/>
        </p:nvSpPr>
        <p:spPr>
          <a:xfrm>
            <a:off x="5605272" y="2194560"/>
            <a:ext cx="6025896" cy="68580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Riley can do the intermediate steps. Nothing is finalized, sent to anyone or entered into a business system until the employee approves. The employee stays accountable.</a:t>
            </a:r>
          </a:p>
        </p:txBody>
      </p:sp>
      <p:pic>
        <p:nvPicPr>
          <p:cNvPr id="25" name="Picture 24" descr="LuKeyRound_r.png"/>
          <p:cNvPicPr>
            <a:picLocks noChangeAspect="1"/>
          </p:cNvPicPr>
          <p:nvPr/>
        </p:nvPicPr>
        <p:blipFill>
          <a:blip r:embed="rId7"/>
          <a:stretch>
            <a:fillRect/>
          </a:stretch>
        </p:blipFill>
        <p:spPr>
          <a:xfrm>
            <a:off x="4727448" y="3200400"/>
            <a:ext cx="310896" cy="310896"/>
          </a:xfrm>
          <a:prstGeom prst="rect">
            <a:avLst/>
          </a:prstGeom>
        </p:spPr>
      </p:pic>
      <p:sp>
        <p:nvSpPr>
          <p:cNvPr id="26" name="TextBox 25"/>
          <p:cNvSpPr txBox="1"/>
          <p:nvPr/>
        </p:nvSpPr>
        <p:spPr>
          <a:xfrm>
            <a:off x="5184648" y="3182112"/>
            <a:ext cx="2921508"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Your permissions only</a:t>
            </a:r>
          </a:p>
        </p:txBody>
      </p:sp>
      <p:sp>
        <p:nvSpPr>
          <p:cNvPr id="27" name="TextBox 26"/>
          <p:cNvSpPr txBox="1"/>
          <p:nvPr/>
        </p:nvSpPr>
        <p:spPr>
          <a:xfrm>
            <a:off x="5184648" y="3474720"/>
            <a:ext cx="2875788" cy="530352"/>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Riley uses only what the requesting employee can already access.</a:t>
            </a:r>
          </a:p>
        </p:txBody>
      </p:sp>
      <p:pic>
        <p:nvPicPr>
          <p:cNvPr id="28" name="Picture 27" descr="LuShieldCheck_r.png"/>
          <p:cNvPicPr>
            <a:picLocks noChangeAspect="1"/>
          </p:cNvPicPr>
          <p:nvPr/>
        </p:nvPicPr>
        <p:blipFill>
          <a:blip r:embed="rId8"/>
          <a:stretch>
            <a:fillRect/>
          </a:stretch>
        </p:blipFill>
        <p:spPr>
          <a:xfrm>
            <a:off x="8426196" y="3200400"/>
            <a:ext cx="310896" cy="310896"/>
          </a:xfrm>
          <a:prstGeom prst="rect">
            <a:avLst/>
          </a:prstGeom>
        </p:spPr>
      </p:pic>
      <p:sp>
        <p:nvSpPr>
          <p:cNvPr id="29" name="TextBox 28"/>
          <p:cNvSpPr txBox="1"/>
          <p:nvPr/>
        </p:nvSpPr>
        <p:spPr>
          <a:xfrm>
            <a:off x="8883396" y="3182112"/>
            <a:ext cx="2921508"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Data stays under AIA controls</a:t>
            </a:r>
          </a:p>
        </p:txBody>
      </p:sp>
      <p:sp>
        <p:nvSpPr>
          <p:cNvPr id="30" name="TextBox 29"/>
          <p:cNvSpPr txBox="1"/>
          <p:nvPr/>
        </p:nvSpPr>
        <p:spPr>
          <a:xfrm>
            <a:off x="8883396" y="3474720"/>
            <a:ext cx="2875788" cy="530352"/>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AIA’s privacy and security controls apply. Approved external sources only.</a:t>
            </a:r>
          </a:p>
        </p:txBody>
      </p:sp>
      <p:pic>
        <p:nvPicPr>
          <p:cNvPr id="31" name="Picture 30" descr="LuScrollText_r.png"/>
          <p:cNvPicPr>
            <a:picLocks noChangeAspect="1"/>
          </p:cNvPicPr>
          <p:nvPr/>
        </p:nvPicPr>
        <p:blipFill>
          <a:blip r:embed="rId9"/>
          <a:stretch>
            <a:fillRect/>
          </a:stretch>
        </p:blipFill>
        <p:spPr>
          <a:xfrm>
            <a:off x="4727448" y="4041648"/>
            <a:ext cx="310896" cy="310896"/>
          </a:xfrm>
          <a:prstGeom prst="rect">
            <a:avLst/>
          </a:prstGeom>
        </p:spPr>
      </p:pic>
      <p:sp>
        <p:nvSpPr>
          <p:cNvPr id="32" name="TextBox 31"/>
          <p:cNvSpPr txBox="1"/>
          <p:nvPr/>
        </p:nvSpPr>
        <p:spPr>
          <a:xfrm>
            <a:off x="5184648" y="4023360"/>
            <a:ext cx="2921508"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A record of every piece of work</a:t>
            </a:r>
          </a:p>
        </p:txBody>
      </p:sp>
      <p:sp>
        <p:nvSpPr>
          <p:cNvPr id="33" name="TextBox 32"/>
          <p:cNvSpPr txBox="1"/>
          <p:nvPr/>
        </p:nvSpPr>
        <p:spPr>
          <a:xfrm>
            <a:off x="5184648" y="4315968"/>
            <a:ext cx="2875788" cy="530352"/>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Request, sources used, output, approval and final action.</a:t>
            </a:r>
          </a:p>
        </p:txBody>
      </p:sp>
      <p:pic>
        <p:nvPicPr>
          <p:cNvPr id="34" name="Picture 33" descr="LuRefreshCw_r.png"/>
          <p:cNvPicPr>
            <a:picLocks noChangeAspect="1"/>
          </p:cNvPicPr>
          <p:nvPr/>
        </p:nvPicPr>
        <p:blipFill>
          <a:blip r:embed="rId10"/>
          <a:stretch>
            <a:fillRect/>
          </a:stretch>
        </p:blipFill>
        <p:spPr>
          <a:xfrm>
            <a:off x="8426196" y="4041648"/>
            <a:ext cx="310896" cy="310896"/>
          </a:xfrm>
          <a:prstGeom prst="rect">
            <a:avLst/>
          </a:prstGeom>
        </p:spPr>
      </p:pic>
      <p:sp>
        <p:nvSpPr>
          <p:cNvPr id="35" name="TextBox 34"/>
          <p:cNvSpPr txBox="1"/>
          <p:nvPr/>
        </p:nvSpPr>
        <p:spPr>
          <a:xfrm>
            <a:off x="8883396" y="4023360"/>
            <a:ext cx="2921508"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Learning is governed</a:t>
            </a:r>
          </a:p>
        </p:txBody>
      </p:sp>
      <p:sp>
        <p:nvSpPr>
          <p:cNvPr id="36" name="TextBox 35"/>
          <p:cNvSpPr txBox="1"/>
          <p:nvPr/>
        </p:nvSpPr>
        <p:spPr>
          <a:xfrm>
            <a:off x="8883396" y="4315968"/>
            <a:ext cx="2875788" cy="530352"/>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What feedback is kept, and how it changes Riley, is agreed with risk and IT.</a:t>
            </a:r>
          </a:p>
        </p:txBody>
      </p:sp>
      <p:pic>
        <p:nvPicPr>
          <p:cNvPr id="37" name="Picture 36" descr="LuSearchCheck_r.png"/>
          <p:cNvPicPr>
            <a:picLocks noChangeAspect="1"/>
          </p:cNvPicPr>
          <p:nvPr/>
        </p:nvPicPr>
        <p:blipFill>
          <a:blip r:embed="rId11"/>
          <a:stretch>
            <a:fillRect/>
          </a:stretch>
        </p:blipFill>
        <p:spPr>
          <a:xfrm>
            <a:off x="4727448" y="4882896"/>
            <a:ext cx="310896" cy="310896"/>
          </a:xfrm>
          <a:prstGeom prst="rect">
            <a:avLst/>
          </a:prstGeom>
        </p:spPr>
      </p:pic>
      <p:sp>
        <p:nvSpPr>
          <p:cNvPr id="38" name="TextBox 37"/>
          <p:cNvSpPr txBox="1"/>
          <p:nvPr/>
        </p:nvSpPr>
        <p:spPr>
          <a:xfrm>
            <a:off x="5184648" y="4864608"/>
            <a:ext cx="2921508"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Independent quality checks</a:t>
            </a:r>
          </a:p>
        </p:txBody>
      </p:sp>
      <p:sp>
        <p:nvSpPr>
          <p:cNvPr id="39" name="TextBox 38"/>
          <p:cNvSpPr txBox="1"/>
          <p:nvPr/>
        </p:nvSpPr>
        <p:spPr>
          <a:xfrm>
            <a:off x="5184648" y="5157216"/>
            <a:ext cx="2875788" cy="530352"/>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A business reviewer regularly samples Riley’s work.</a:t>
            </a:r>
          </a:p>
        </p:txBody>
      </p:sp>
      <p:pic>
        <p:nvPicPr>
          <p:cNvPr id="40" name="Picture 39" descr="LuTarget_r.png"/>
          <p:cNvPicPr>
            <a:picLocks noChangeAspect="1"/>
          </p:cNvPicPr>
          <p:nvPr/>
        </p:nvPicPr>
        <p:blipFill>
          <a:blip r:embed="rId12"/>
          <a:stretch>
            <a:fillRect/>
          </a:stretch>
        </p:blipFill>
        <p:spPr>
          <a:xfrm>
            <a:off x="8426196" y="4882896"/>
            <a:ext cx="310896" cy="310896"/>
          </a:xfrm>
          <a:prstGeom prst="rect">
            <a:avLst/>
          </a:prstGeom>
        </p:spPr>
      </p:pic>
      <p:sp>
        <p:nvSpPr>
          <p:cNvPr id="41" name="TextBox 40"/>
          <p:cNvSpPr txBox="1"/>
          <p:nvPr/>
        </p:nvSpPr>
        <p:spPr>
          <a:xfrm>
            <a:off x="8883396" y="4864608"/>
            <a:ext cx="2921508"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First workflow chosen with care</a:t>
            </a:r>
          </a:p>
        </p:txBody>
      </p:sp>
      <p:sp>
        <p:nvSpPr>
          <p:cNvPr id="42" name="TextBox 41"/>
          <p:cNvSpPr txBox="1"/>
          <p:nvPr/>
        </p:nvSpPr>
        <p:spPr>
          <a:xfrm>
            <a:off x="8883396" y="5157216"/>
            <a:ext cx="2875788" cy="530352"/>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Phase 0 weighs data sensitivity and governance complexity.</a:t>
            </a:r>
          </a:p>
        </p:txBody>
      </p:sp>
      <p:sp>
        <p:nvSpPr>
          <p:cNvPr id="43" name="Slide Number Placeholder"/>
          <p:cNvSpPr>
            <a:spLocks noGrp="1"/>
          </p:cNvSpPr>
          <p:nvPr>
            <p:ph type="sldNum" sz="quarter" idx="4"/>
          </p:nvPr>
        </p:nvSpPr>
        <p:spPr/>
        <p:txBody>
          <a:bodyPr/>
          <a:lstStyle/>
          <a:p>
            <a:fld id="{18A41853-EF22-D446-BDBC-A7CF3FE93503}" type="slidenum">
              <a:rPr lang="en-US"/>
              <a:t>10</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8872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852928"/>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5" name="TextBox 4"/>
          <p:cNvSpPr txBox="1"/>
          <p:nvPr/>
        </p:nvSpPr>
        <p:spPr>
          <a:xfrm>
            <a:off x="1417320" y="2825496"/>
            <a:ext cx="4800600" cy="731520"/>
          </a:xfrm>
          <a:prstGeom prst="rect">
            <a:avLst/>
          </a:prstGeom>
          <a:noFill/>
        </p:spPr>
        <p:txBody>
          <a:bodyPr wrap="square" lIns="0" tIns="0" rIns="0" bIns="0" anchor="t">
            <a:noAutofit/>
          </a:bodyPr>
          <a:lstStyle/>
          <a:p>
            <a:pPr algn="l">
              <a:spcAft>
                <a:spcPts val="0"/>
              </a:spcAft>
            </a:pPr>
            <a:r>
              <a:rPr sz="1350" b="0" i="0">
                <a:solidFill>
                  <a:srgbClr val="FFFFFF"/>
                </a:solidFill>
                <a:latin typeface="Arial"/>
              </a:rPr>
              <a:t>Phase 1: one team, one workflow, about 3 months. Preliminary estimate ~US$20,000–60,000 incremental, to be scoped with IT and Finance.</a:t>
            </a:r>
          </a:p>
        </p:txBody>
      </p:sp>
      <p:sp>
        <p:nvSpPr>
          <p:cNvPr id="6" name="TextBox 5"/>
          <p:cNvSpPr txBox="1"/>
          <p:nvPr/>
        </p:nvSpPr>
        <p:spPr>
          <a:xfrm>
            <a:off x="356616" y="3621024"/>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ENABLE</a:t>
            </a:r>
          </a:p>
        </p:txBody>
      </p:sp>
      <p:sp>
        <p:nvSpPr>
          <p:cNvPr id="7" name="TextBox 6"/>
          <p:cNvSpPr txBox="1"/>
          <p:nvPr/>
        </p:nvSpPr>
        <p:spPr>
          <a:xfrm>
            <a:off x="1417320" y="3593592"/>
            <a:ext cx="4800600" cy="731520"/>
          </a:xfrm>
          <a:prstGeom prst="rect">
            <a:avLst/>
          </a:prstGeom>
          <a:noFill/>
        </p:spPr>
        <p:txBody>
          <a:bodyPr wrap="square" lIns="0" tIns="0" rIns="0" bIns="0" anchor="t">
            <a:noAutofit/>
          </a:bodyPr>
          <a:lstStyle/>
          <a:p>
            <a:pPr algn="l">
              <a:spcAft>
                <a:spcPts val="0"/>
              </a:spcAft>
            </a:pPr>
            <a:r>
              <a:rPr sz="1350" b="0" i="0">
                <a:solidFill>
                  <a:srgbClr val="FFFFFF"/>
                </a:solidFill>
                <a:latin typeface="Arial"/>
              </a:rPr>
              <a:t>A Hong Kong pilot sponsor and team, access to the AI platform and system owners, and one other team’s AI tool for Phase 2.</a:t>
            </a:r>
          </a:p>
        </p:txBody>
      </p:sp>
      <p:sp>
        <p:nvSpPr>
          <p:cNvPr id="8" name="TextBox 7"/>
          <p:cNvSpPr txBox="1"/>
          <p:nvPr/>
        </p:nvSpPr>
        <p:spPr>
          <a:xfrm>
            <a:off x="356616" y="4389120"/>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9" name="TextBox 8"/>
          <p:cNvSpPr txBox="1"/>
          <p:nvPr/>
        </p:nvSpPr>
        <p:spPr>
          <a:xfrm>
            <a:off x="1417320" y="4361688"/>
            <a:ext cx="4800600" cy="731520"/>
          </a:xfrm>
          <a:prstGeom prst="rect">
            <a:avLst/>
          </a:prstGeom>
          <a:noFill/>
        </p:spPr>
        <p:txBody>
          <a:bodyPr wrap="square" lIns="0" tIns="0" rIns="0" bIns="0" anchor="t">
            <a:noAutofit/>
          </a:bodyPr>
          <a:lstStyle/>
          <a:p>
            <a:pPr algn="l">
              <a:spcAft>
                <a:spcPts val="0"/>
              </a:spcAft>
            </a:pPr>
            <a:r>
              <a:rPr sz="1350" b="0" i="0">
                <a:solidFill>
                  <a:srgbClr val="FFFFFF"/>
                </a:solidFill>
                <a:latin typeface="Arial"/>
              </a:rPr>
              <a:t>Month 4: measured effort, quality and adoption on a real workflow. Month 7: whether the multiplier works.</a:t>
            </a:r>
          </a:p>
        </p:txBody>
      </p:sp>
      <p:sp>
        <p:nvSpPr>
          <p:cNvPr id="10" name="TextBox 9"/>
          <p:cNvSpPr txBox="1"/>
          <p:nvPr/>
        </p:nvSpPr>
        <p:spPr>
          <a:xfrm>
            <a:off x="356616" y="5230368"/>
            <a:ext cx="5852160" cy="640080"/>
          </a:xfrm>
          <a:prstGeom prst="rect">
            <a:avLst/>
          </a:prstGeom>
          <a:noFill/>
        </p:spPr>
        <p:txBody>
          <a:bodyPr wrap="square" lIns="0" tIns="0" rIns="0" bIns="0" anchor="t">
            <a:noAutofit/>
          </a:bodyPr>
          <a:lstStyle/>
          <a:p>
            <a:pPr algn="l">
              <a:lnSpc>
                <a:spcPct val="100000"/>
              </a:lnSpc>
              <a:spcAft>
                <a:spcPts val="0"/>
              </a:spcAft>
            </a:pPr>
            <a:r>
              <a:rPr sz="1500" b="1" i="0">
                <a:solidFill>
                  <a:srgbClr val="FFFFFF"/>
                </a:solidFill>
                <a:latin typeface="Arial"/>
              </a:rPr>
              <a:t>AIA will keep investing in AI. Riley tests whether that investment can compound for employees, instead of becoming more tools.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