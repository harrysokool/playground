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6" r:id="rId4"/>
    <p:sldId id="257" r:id="rId3"/>
    <p:sldId id="258" r:id="rId2"/>
    <p:sldId id="259" r:id="rId11"/>
    <p:sldId id="260" r:id="rId12"/>
    <p:sldId id="261" r:id="rId13"/>
    <p:sldId id="262" r:id="rId14"/>
    <p:sldId id="263" r:id="rId15"/>
    <p:sldId id="264" r:id="rId16"/>
    <p:sldId id="265" r:id="rId17"/>
    <p:sldId id="26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915C"/>
    <a:srgbClr val="68655A"/>
    <a:srgbClr val="FF7A85"/>
    <a:srgbClr val="4C4794"/>
    <a:srgbClr val="333D47"/>
    <a:srgbClr val="F1C400"/>
    <a:srgbClr val="D31145"/>
    <a:srgbClr val="42005B"/>
    <a:srgbClr val="42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87"/>
  </p:normalViewPr>
  <p:slideViewPr>
    <p:cSldViewPr snapToGrid="0" showGuides="1">
      <p:cViewPr varScale="1">
        <p:scale>
          <a:sx n="120" d="100"/>
          <a:sy n="120" d="100"/>
        </p:scale>
        <p:origin x="144" y="198"/>
      </p:cViewPr>
      <p:guideLst>
        <p:guide orient="horz" pos="2160"/>
        <p:guide pos="3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218ECE-A34A-49B3-9686-CAB705FE9FAE}" type="datetimeFigureOut">
              <a:rPr lang="en-GB" smtClean="0"/>
              <a:t>23/09/2026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CF2FCE-B231-44AD-BE06-D54B55D77B09}" type="slidenum">
              <a:rPr lang="en-GB" smtClean="0"/>
              <a:t>‹#›</a:t>
            </a:fld>
            <a:endParaRPr lang="en-GB"/>
          </a:p>
        </p:txBody>
      </p:sp>
    </p:spTree>
    <p:extLst>
      <p:ext uri="{BB962C8B-B14F-4D97-AF65-F5344CB8AC3E}">
        <p14:creationId xmlns:p14="http://schemas.microsoft.com/office/powerpoint/2010/main" val="1359141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ECA36D-3A4E-49AB-8998-33E386CC9347}" type="datetimeFigureOut">
              <a:rPr lang="en-US" smtClean="0"/>
              <a:t>9/23/2026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808D9-4A71-422D-8C20-E440E917BF93}" type="slidenum">
              <a:rPr lang="en-US" smtClean="0"/>
              <a:t>‹#›</a:t>
            </a:fld>
            <a:endParaRPr lang="en-US"/>
          </a:p>
        </p:txBody>
      </p:sp>
    </p:spTree>
    <p:extLst>
      <p:ext uri="{BB962C8B-B14F-4D97-AF65-F5344CB8AC3E}">
        <p14:creationId xmlns:p14="http://schemas.microsoft.com/office/powerpoint/2010/main" val="391278085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Riley is AIA's AI coworker: you give it an outcome, and it uses the same approved data, systems and tools you would use to do the work in between, then brings back finished work for you to approve. You own the outcome; Riley does the digital legwork. Categories: Employee Value (primary) and Operations Value.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what I observe across AIA, much of an employee's effort goes into the digital work around the actual outcome: finding data, opening systems, reading documents, searching emails and chats, checking external information, analysing, combining outputs and drafting the result. AI tools can help with individual steps, such as a summary or a draft, but the employee can still be left coordinating the whole chain. As AIA adds more systems and AI capabilities, employees may still be left coordinating across them by hand. This is an observation, not a measured finding; no counts or timings are claimed.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AI is designed as a tool employees use: help me do this step. Riley is designed as a coworker employees delegate an outcome to: take this outcome and do the digital work in between. That is the shift. It creates a new division of work: the employee owns the outcome and keeps the judgment, review and final approval; Riley takes on much of the digital execution - finding, opening, reading, checking, analysing, combining and drafting. This is conceptual positioning, not a criticism of other AI tools. What makes it work at AIA: the brain is enterprise AI (Copilot could be the engine; Riley needs no model of its own); the hands are AIA's own data, systems and AI tools, plus Microsoft 365 and approved external information as standard equipment; AIA's rules sit around it - permissions, approval before final action, an appropriate record and governed learning.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example, not the committed pilot; a lower-sensitivity internal workflow may be chosen first. No internal system names, tool names or data sources are implied. The employee sets the outcome in Teams. Riley shows its plan using only what that employee is permitted to access; pulls complaint records for this quarter and last; uses an internal AI capability to group complaints into themes; checks internal documents such as the previous review and procedures; checks relevant Outlook and Teams updates available to that employee; checks approved external sources for industry or regulatory context; then analyses, compares, drafts the management summary and prepares the presentation. The employee reviews, edits if needed and approves. Nothing is finalized, sent or entered into a business system before approval. Today the employee does every step in between; with Riley the employee sets the outcome, checks the work and decides.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opportunity is not minutes saved; it is how much more finished work one employee can deliver. Today the employee plays every role in the digital chain: requester, researcher, coordinator, analyst and drafter. With Riley, the employee becomes the outcome owner, reviewer and decision maker, and Riley becomes their digital execution partner. The long-term ambition is stated as a hypothesis to test, not a forecast: can one employee, supported by Riley, complete substantially more finished work than manual digital execution allows? No productivity multiple is claimed. The pilot measures it, including completed outputs per employee.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Near-term pilot impact is measured on the real Phase 1 team against a baseline: active employee effort per completed task, end-to-end completion time, manual steps and systems touched, rework rate, quality versus a human-only baseline (rated by the employee and confirmed by periodic independent sample reviews), adoption and repeat use, and - new in Revision 7 - completed outputs per employee, which tests whether Riley increases execution capacity, not only saves time. The conservative floor is an illustrative scenario, not a forecast: even at a deliberately cautious one hour a week, 1,000 employees would release around 1,000 hours every week, or around 50,000 hours a year assuming 50 working weeks. 1,000 is a scenario size, not a pilot population or an AIA employee count. One hour is 2.5% of a 40-hour week. Operations Value and any VONB/ANP link are hypotheses to validate with AIA's TDA methodology; no financial figure is claimed.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multiplier supports the main idea rather than defining it: Riley is a coworker, and a coworker becomes more useful as it is given more of the right tools. Every useful capability AIA connects - a system, a data source, an internal AI tool or another approved enterprise service - can expand what the same Riley can do, for employees permitted to use it, without another tool for them to learn. Connections are not free or automatic: each needs technical integration and governance review, and adds value only if it is genuinely useful. Value does not grow by a formula. The pilot tests this by extending Riley with another approved capability, such as an AI tool built by another AIA team.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Phases run in sequence and each proceeds only if the previous one shows results. Phase 1 is deliberately narrow: one team, one workflow and only the minimum capabilities that workflow needs, which protects feasibility, speed, governance and the budget assumption. Phase 0 (Month 1): select the workflow on business value, implementation readiness, data sensitivity and governance complexity; define its minimum capabilities; baseline effort, completion time, manual steps and completed outputs; confirm data access (including any Microsoft 365 access), security, privacy, record-keeping and governance. Phase 1 (Months 2-4) gate: effort reduced, quality maintained or improved, usage sustained. Phase 2 (Months 5-7): extend Riley with another approved capability - an AI tool built by another AIA team is the strongest example - and a second workflow or team. Gate: usable through Riley without a new tool for employees, with effort, quality and usage holding up. Fallback: if the chosen capability cannot be connected, select another approved capability and record why. Phase 3 (Months 8-12): more teams and capabilities; measured data replaces the illustrative scenario.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Riley scales in three directions: more employees, more workflows and more connected capabilities (systems, data sources, internal AI tools and other approved services). A large back-office population across many functions is in scope before any cross-market expansion. The long-term vision, not a forecast, is a digital execution partner for every AIA employee, with the employee accountable for every decision. That each approved capability can serve employees permitted to use it is a hypothesis tested in Phase 2. Across markets, the core experience can be reused while each market adds its own integrations, data controls, governance and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 delivered in Microsoft Teams; built on an enterprise AI/agent platform AIA already has, is evaluating or chooses to adopt; starts with one team, one workflow and the minimum capabilities it needs, gated on measured results. Governance: Riley acts only with the access the requesting employee already has, and only accesses Outlook, Teams or file content available to that employee through approved enterprise controls; sensitive and customer data stay under AIA's existing controls, with external information only from approved sources; the employee approves before anything is finalized, sent or entered into a business system; Riley keeps an appropriate record of its work under AIA policy; feedback-driven learning is governed with risk and IT; a business reviewer periodically samples quality.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ask is deliberately narrow, but the ambition is not: Phase 1 exists to establish whether Riley deserves to scale toward a digital execution partner for every AIA employee. Seed funding covers one team, one workflow and only the minimum capabilities that workflow needs, over about three months. US$20,000-60,000 is a preliminary planning estimate, not AIA-costed or benchmarked; it assumes an enterprise agent platform AIA already has or adopts, excludes existing staff time, depends on keeping Phase 1 narrow, and will be replaced with a scoped figure from IT and Finance. Phases 2-3 costs will be scoped from Phase 1 results. Resources: pilot sponsor; small build pod (product/business owner, AI/automation engineer or implementation partner, part-time security, privacy and compliance support); business reviewer for independent quality reviews; system and data owners and the owner of one other approved capability; Group Innovation Office mentorship.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A_TitleSlide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3DE312-0E56-1747-B671-3F457AA8D765}"/>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7E52CBAF-C878-FD45-8AF4-3C799CB4F535}"/>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26370" b="31414"/>
          <a:stretch/>
        </p:blipFill>
        <p:spPr>
          <a:xfrm>
            <a:off x="6580800" y="0"/>
            <a:ext cx="5611200" cy="6858000"/>
          </a:xfrm>
          <a:prstGeom prst="rect">
            <a:avLst/>
          </a:prstGeom>
        </p:spPr>
      </p:pic>
      <p:sp>
        <p:nvSpPr>
          <p:cNvPr id="12" name="Subtitle 2">
            <a:extLst>
              <a:ext uri="{FF2B5EF4-FFF2-40B4-BE49-F238E27FC236}">
                <a16:creationId xmlns:a16="http://schemas.microsoft.com/office/drawing/2014/main" id="{5FAC4E2A-F096-5540-918E-6F520E475C7C}"/>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date</a:t>
            </a:r>
          </a:p>
        </p:txBody>
      </p:sp>
      <p:sp>
        <p:nvSpPr>
          <p:cNvPr id="13" name="Text Placeholder 11">
            <a:extLst>
              <a:ext uri="{FF2B5EF4-FFF2-40B4-BE49-F238E27FC236}">
                <a16:creationId xmlns:a16="http://schemas.microsoft.com/office/drawing/2014/main" id="{0DD8F76D-7AD6-444B-9E55-80A650B42CD1}"/>
              </a:ext>
            </a:extLst>
          </p:cNvPr>
          <p:cNvSpPr>
            <a:spLocks noGrp="1"/>
          </p:cNvSpPr>
          <p:nvPr>
            <p:ph type="body" sz="quarter" idx="10"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Title of Presentation</a:t>
            </a:r>
          </a:p>
        </p:txBody>
      </p:sp>
      <p:sp>
        <p:nvSpPr>
          <p:cNvPr id="8" name="TextBox 7">
            <a:extLst>
              <a:ext uri="{FF2B5EF4-FFF2-40B4-BE49-F238E27FC236}">
                <a16:creationId xmlns:a16="http://schemas.microsoft.com/office/drawing/2014/main" id="{C005E6EB-133C-4C47-A11D-54E804FE9C2F}"/>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D9903880-9FDE-8D40-A562-3D8B9CB09AB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0000" y="360000"/>
            <a:ext cx="1828800" cy="660400"/>
          </a:xfrm>
          <a:prstGeom prst="rect">
            <a:avLst/>
          </a:prstGeom>
        </p:spPr>
      </p:pic>
    </p:spTree>
    <p:extLst>
      <p:ext uri="{BB962C8B-B14F-4D97-AF65-F5344CB8AC3E}">
        <p14:creationId xmlns:p14="http://schemas.microsoft.com/office/powerpoint/2010/main" val="1051781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IA_subheader white">
    <p:spTree>
      <p:nvGrpSpPr>
        <p:cNvPr id="1" name=""/>
        <p:cNvGrpSpPr/>
        <p:nvPr/>
      </p:nvGrpSpPr>
      <p:grpSpPr>
        <a:xfrm>
          <a:off x="0" y="0"/>
          <a:ext cx="0" cy="0"/>
          <a:chOff x="0" y="0"/>
          <a:chExt cx="0" cy="0"/>
        </a:xfrm>
      </p:grpSpPr>
      <p:sp>
        <p:nvSpPr>
          <p:cNvPr id="21" name="Text Placeholder 4"/>
          <p:cNvSpPr>
            <a:spLocks noGrp="1"/>
          </p:cNvSpPr>
          <p:nvPr>
            <p:ph type="body" sz="quarter" idx="15" hasCustomPrompt="1"/>
          </p:nvPr>
        </p:nvSpPr>
        <p:spPr>
          <a:xfrm>
            <a:off x="4237200" y="1800000"/>
            <a:ext cx="36072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22" name="Text Placeholder 4"/>
          <p:cNvSpPr>
            <a:spLocks noGrp="1"/>
          </p:cNvSpPr>
          <p:nvPr>
            <p:ph type="body" sz="quarter" idx="16" hasCustomPrompt="1"/>
          </p:nvPr>
        </p:nvSpPr>
        <p:spPr>
          <a:xfrm>
            <a:off x="360000" y="1800000"/>
            <a:ext cx="36000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7" name="Text Placeholder 11">
            <a:extLst>
              <a:ext uri="{FF2B5EF4-FFF2-40B4-BE49-F238E27FC236}">
                <a16:creationId xmlns:a16="http://schemas.microsoft.com/office/drawing/2014/main" id="{C4B34AF1-3AD0-DE4E-91C8-39A92B566589}"/>
              </a:ext>
            </a:extLst>
          </p:cNvPr>
          <p:cNvSpPr>
            <a:spLocks noGrp="1"/>
          </p:cNvSpPr>
          <p:nvPr>
            <p:ph type="body" sz="quarter" idx="10" hasCustomPrompt="1"/>
          </p:nvPr>
        </p:nvSpPr>
        <p:spPr>
          <a:xfrm>
            <a:off x="360000" y="540000"/>
            <a:ext cx="11160000" cy="1338676"/>
          </a:xfrm>
          <a:prstGeom prst="rect">
            <a:avLst/>
          </a:prstGeom>
          <a:noFill/>
        </p:spPr>
        <p:txBody>
          <a:bodyPr>
            <a:noAutofit/>
          </a:bodyPr>
          <a:lstStyle>
            <a:lvl1pPr>
              <a:lnSpc>
                <a:spcPts val="3200"/>
              </a:lnSpc>
              <a:defRPr sz="3600">
                <a:solidFill>
                  <a:srgbClr val="333D47"/>
                </a:solidFill>
              </a:defRPr>
            </a:lvl1pPr>
            <a:lvl2pPr marL="457200" indent="0">
              <a:buNone/>
              <a:defRPr/>
            </a:lvl2pPr>
          </a:lstStyle>
          <a:p>
            <a:pPr lvl="0"/>
            <a:r>
              <a:rPr lang="en-US" dirty="0"/>
              <a:t>Headline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pic>
        <p:nvPicPr>
          <p:cNvPr id="6" name="Graphic 5">
            <a:extLst>
              <a:ext uri="{FF2B5EF4-FFF2-40B4-BE49-F238E27FC236}">
                <a16:creationId xmlns:a16="http://schemas.microsoft.com/office/drawing/2014/main" id="{C2BBEFAE-7438-F548-BFC6-9CD53B767E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160000" y="5792400"/>
            <a:ext cx="635000" cy="660400"/>
          </a:xfrm>
          <a:prstGeom prst="rect">
            <a:avLst/>
          </a:prstGeom>
        </p:spPr>
      </p:pic>
    </p:spTree>
    <p:extLst>
      <p:ext uri="{BB962C8B-B14F-4D97-AF65-F5344CB8AC3E}">
        <p14:creationId xmlns:p14="http://schemas.microsoft.com/office/powerpoint/2010/main" val="209451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A_thank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B5BE0-8CB1-E247-A12A-51429A1939EB}"/>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4A93DA94-6D62-D040-97F3-1DFA5A72C689}"/>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Email</a:t>
            </a:r>
          </a:p>
          <a:p>
            <a:r>
              <a:rPr lang="en-US" dirty="0"/>
              <a:t>Date</a:t>
            </a:r>
          </a:p>
        </p:txBody>
      </p:sp>
      <p:sp>
        <p:nvSpPr>
          <p:cNvPr id="6" name="Text Placeholder 11">
            <a:extLst>
              <a:ext uri="{FF2B5EF4-FFF2-40B4-BE49-F238E27FC236}">
                <a16:creationId xmlns:a16="http://schemas.microsoft.com/office/drawing/2014/main" id="{0C3F0DB7-93FA-D243-9648-A59C82E13702}"/>
              </a:ext>
            </a:extLst>
          </p:cNvPr>
          <p:cNvSpPr>
            <a:spLocks noGrp="1"/>
          </p:cNvSpPr>
          <p:nvPr>
            <p:ph type="body" sz="quarter" idx="11"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Thank you</a:t>
            </a:r>
          </a:p>
        </p:txBody>
      </p:sp>
      <p:sp>
        <p:nvSpPr>
          <p:cNvPr id="8" name="TextBox 7">
            <a:extLst>
              <a:ext uri="{FF2B5EF4-FFF2-40B4-BE49-F238E27FC236}">
                <a16:creationId xmlns:a16="http://schemas.microsoft.com/office/drawing/2014/main" id="{F7BF49BF-4968-8D47-AB2D-21AB12177162}"/>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811844A6-A542-4643-96E7-3B2146FB59F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0000" y="360000"/>
            <a:ext cx="1828800" cy="660400"/>
          </a:xfrm>
          <a:prstGeom prst="rect">
            <a:avLst/>
          </a:prstGeom>
        </p:spPr>
      </p:pic>
      <p:pic>
        <p:nvPicPr>
          <p:cNvPr id="11" name="Graphic 10">
            <a:extLst>
              <a:ext uri="{FF2B5EF4-FFF2-40B4-BE49-F238E27FC236}">
                <a16:creationId xmlns:a16="http://schemas.microsoft.com/office/drawing/2014/main" id="{6BF7525C-9C01-724E-9D57-E82EE57D1FB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26370" b="31414"/>
          <a:stretch/>
        </p:blipFill>
        <p:spPr>
          <a:xfrm>
            <a:off x="6580800" y="0"/>
            <a:ext cx="5611200" cy="6858000"/>
          </a:xfrm>
          <a:prstGeom prst="rect">
            <a:avLst/>
          </a:prstGeom>
        </p:spPr>
      </p:pic>
    </p:spTree>
    <p:extLst>
      <p:ext uri="{BB962C8B-B14F-4D97-AF65-F5344CB8AC3E}">
        <p14:creationId xmlns:p14="http://schemas.microsoft.com/office/powerpoint/2010/main" val="7563068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svg"/><Relationship Id="rId6" Type="http://schemas.openxmlformats.org/officeDocument/2006/relationships/image" Target="../media/image2.svg"/><Relationship Id="rId7" Type="http://schemas.openxmlformats.org/officeDocument/2006/relationships/image" Target="../media/image3.svg"/><Relationship Id="rId8"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76106E65-026A-4C46-AFB0-85C3E7848DD0}"/>
              </a:ext>
            </a:extLst>
          </p:cNvPr>
          <p:cNvSpPr>
            <a:spLocks noGrp="1"/>
          </p:cNvSpPr>
          <p:nvPr>
            <p:ph type="title"/>
          </p:nvPr>
        </p:nvSpPr>
        <p:spPr>
          <a:xfrm>
            <a:off x="360000" y="540000"/>
            <a:ext cx="11472000" cy="1021287"/>
          </a:xfrm>
          <a:prstGeom prst="rect">
            <a:avLst/>
          </a:prstGeom>
        </p:spPr>
        <p:txBody>
          <a:bodyPr vert="horz" lIns="91440" tIns="45720" rIns="91440" bIns="45720" rtlCol="0" anchor="t">
            <a:normAutofit/>
          </a:bodyPr>
          <a:lstStyle/>
          <a:p>
            <a:r>
              <a:rPr lang="en-GB" dirty="0"/>
              <a:t>Click to edit master style</a:t>
            </a:r>
            <a:endParaRPr lang="en-US" dirty="0"/>
          </a:p>
        </p:txBody>
      </p:sp>
      <p:sp>
        <p:nvSpPr>
          <p:cNvPr id="10" name="Text Placeholder 2">
            <a:extLst>
              <a:ext uri="{FF2B5EF4-FFF2-40B4-BE49-F238E27FC236}">
                <a16:creationId xmlns:a16="http://schemas.microsoft.com/office/drawing/2014/main" id="{5707E24A-2FF5-4246-BEF6-082A6111800B}"/>
              </a:ext>
            </a:extLst>
          </p:cNvPr>
          <p:cNvSpPr>
            <a:spLocks noGrp="1"/>
          </p:cNvSpPr>
          <p:nvPr>
            <p:ph type="body" idx="1"/>
          </p:nvPr>
        </p:nvSpPr>
        <p:spPr>
          <a:xfrm>
            <a:off x="360000" y="1800000"/>
            <a:ext cx="11472000" cy="3364189"/>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D7F45575-B773-1649-9EFE-1C08EEFD46D1}"/>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4" name="TextBox 13">
            <a:extLst>
              <a:ext uri="{FF2B5EF4-FFF2-40B4-BE49-F238E27FC236}">
                <a16:creationId xmlns:a16="http://schemas.microsoft.com/office/drawing/2014/main" id="{14FEDD73-913A-A14E-9158-0586EE3B58B5}"/>
              </a:ext>
            </a:extLst>
          </p:cNvPr>
          <p:cNvSpPr txBox="1"/>
          <p:nvPr userDrawn="1"/>
        </p:nvSpPr>
        <p:spPr>
          <a:xfrm>
            <a:off x="720000" y="6336000"/>
            <a:ext cx="5400000" cy="216000"/>
          </a:xfrm>
          <a:prstGeom prst="rect">
            <a:avLst/>
          </a:prstGeom>
          <a:noFill/>
        </p:spPr>
        <p:txBody>
          <a:bodyPr wrap="square" lIns="90000" rtlCol="0" anchor="ctr" anchorCtr="0">
            <a:noAutofit/>
          </a:bodyPr>
          <a:lstStyle/>
          <a:p>
            <a:r>
              <a:rPr lang="en-GB" sz="800" b="0" i="0" dirty="0">
                <a:solidFill>
                  <a:schemeClr val="tx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tx1"/>
              </a:solidFill>
              <a:latin typeface="Arial" panose="020B0604020202020204" pitchFamily="34" charset="0"/>
              <a:cs typeface="Arial" panose="020B0604020202020204" pitchFamily="34" charset="0"/>
            </a:endParaRPr>
          </a:p>
        </p:txBody>
      </p:sp>
      <p:sp>
        <p:nvSpPr>
          <p:cNvPr id="49" name="Rectangle 9">
            <a:extLst>
              <a:ext uri="{FF2B5EF4-FFF2-40B4-BE49-F238E27FC236}">
                <a16:creationId xmlns:a16="http://schemas.microsoft.com/office/drawing/2014/main" id="{E0203ACC-1921-3649-A2D8-9E4ECC5D23B4}"/>
              </a:ext>
            </a:extLst>
          </p:cNvPr>
          <p:cNvSpPr>
            <a:spLocks noChangeArrowheads="1"/>
          </p:cNvSpPr>
          <p:nvPr userDrawn="1"/>
        </p:nvSpPr>
        <p:spPr bwMode="auto">
          <a:xfrm>
            <a:off x="-2626840" y="1353662"/>
            <a:ext cx="1844675" cy="801569"/>
          </a:xfrm>
          <a:prstGeom prst="rect">
            <a:avLst/>
          </a:prstGeom>
          <a:solidFill>
            <a:srgbClr val="333D47"/>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CHARCOAL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R51 G61 B71</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0" name="Rectangle 7">
            <a:extLst>
              <a:ext uri="{FF2B5EF4-FFF2-40B4-BE49-F238E27FC236}">
                <a16:creationId xmlns:a16="http://schemas.microsoft.com/office/drawing/2014/main" id="{3EE7A4A7-B933-B24E-AC2D-C118217EFEB4}"/>
              </a:ext>
            </a:extLst>
          </p:cNvPr>
          <p:cNvSpPr>
            <a:spLocks noChangeArrowheads="1"/>
          </p:cNvSpPr>
          <p:nvPr userDrawn="1"/>
        </p:nvSpPr>
        <p:spPr bwMode="auto">
          <a:xfrm>
            <a:off x="-2614697" y="407231"/>
            <a:ext cx="1821348" cy="806397"/>
          </a:xfrm>
          <a:prstGeom prst="rect">
            <a:avLst/>
          </a:prstGeom>
          <a:solidFill>
            <a:srgbClr val="D3114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RED</a:t>
            </a:r>
          </a:p>
          <a:p>
            <a:pPr>
              <a:spcBef>
                <a:spcPct val="0"/>
              </a:spcBef>
              <a:buFontTx/>
              <a:buNone/>
            </a:pPr>
            <a:r>
              <a:rPr lang="en-US" sz="1400" spc="-100" baseline="0" dirty="0">
                <a:solidFill>
                  <a:srgbClr val="FFFFFF"/>
                </a:solidFill>
                <a:latin typeface="Arial" panose="020B0604020202020204" pitchFamily="34" charset="0"/>
                <a:cs typeface="Arial" panose="020B0604020202020204" pitchFamily="34" charset="0"/>
              </a:rPr>
              <a:t>R211 G17 B69</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B57F8F61-AACF-4D43-A48E-73FD89E9FAC0}"/>
              </a:ext>
            </a:extLst>
          </p:cNvPr>
          <p:cNvSpPr txBox="1"/>
          <p:nvPr userDrawn="1"/>
        </p:nvSpPr>
        <p:spPr>
          <a:xfrm>
            <a:off x="-2942426" y="376236"/>
            <a:ext cx="259484" cy="1937287"/>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CORE COLOURS</a:t>
            </a:r>
          </a:p>
        </p:txBody>
      </p:sp>
      <p:sp>
        <p:nvSpPr>
          <p:cNvPr id="67" name="Rectangle 9">
            <a:extLst>
              <a:ext uri="{FF2B5EF4-FFF2-40B4-BE49-F238E27FC236}">
                <a16:creationId xmlns:a16="http://schemas.microsoft.com/office/drawing/2014/main" id="{6E16C6D7-5D67-3F48-9BAD-5211CB2770DE}"/>
              </a:ext>
            </a:extLst>
          </p:cNvPr>
          <p:cNvSpPr>
            <a:spLocks noChangeArrowheads="1"/>
          </p:cNvSpPr>
          <p:nvPr userDrawn="1"/>
        </p:nvSpPr>
        <p:spPr bwMode="auto">
          <a:xfrm>
            <a:off x="-4617303" y="5798524"/>
            <a:ext cx="1487670" cy="646439"/>
          </a:xfrm>
          <a:prstGeom prst="rect">
            <a:avLst/>
          </a:prstGeom>
          <a:solidFill>
            <a:schemeClr val="bg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WARM GREY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R211 G202 B195</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8" name="Rectangle 9">
            <a:extLst>
              <a:ext uri="{FF2B5EF4-FFF2-40B4-BE49-F238E27FC236}">
                <a16:creationId xmlns:a16="http://schemas.microsoft.com/office/drawing/2014/main" id="{30414EC1-704C-FF47-9611-AD4C8B879B94}"/>
              </a:ext>
            </a:extLst>
          </p:cNvPr>
          <p:cNvSpPr>
            <a:spLocks noChangeArrowheads="1"/>
          </p:cNvSpPr>
          <p:nvPr userDrawn="1"/>
        </p:nvSpPr>
        <p:spPr bwMode="auto">
          <a:xfrm>
            <a:off x="-4611596" y="1877530"/>
            <a:ext cx="1487670" cy="646439"/>
          </a:xfrm>
          <a:prstGeom prst="rect">
            <a:avLst/>
          </a:prstGeom>
          <a:solidFill>
            <a:schemeClr val="accent3"/>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ORANGE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G117 B77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46EDC2E1-B0F0-2B4D-8CFB-F684F18144D9}"/>
              </a:ext>
            </a:extLst>
          </p:cNvPr>
          <p:cNvSpPr txBox="1"/>
          <p:nvPr userDrawn="1"/>
        </p:nvSpPr>
        <p:spPr>
          <a:xfrm>
            <a:off x="-4910208" y="379515"/>
            <a:ext cx="314328" cy="3271299"/>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SUPPORTING COLOURS</a:t>
            </a:r>
          </a:p>
        </p:txBody>
      </p:sp>
      <p:sp>
        <p:nvSpPr>
          <p:cNvPr id="70" name="Rectangle 9">
            <a:extLst>
              <a:ext uri="{FF2B5EF4-FFF2-40B4-BE49-F238E27FC236}">
                <a16:creationId xmlns:a16="http://schemas.microsoft.com/office/drawing/2014/main" id="{32D26DB1-D22B-0146-BEE0-26A6F1234774}"/>
              </a:ext>
            </a:extLst>
          </p:cNvPr>
          <p:cNvSpPr>
            <a:spLocks noChangeArrowheads="1"/>
          </p:cNvSpPr>
          <p:nvPr userDrawn="1"/>
        </p:nvSpPr>
        <p:spPr bwMode="auto">
          <a:xfrm>
            <a:off x="-4611596" y="2663784"/>
            <a:ext cx="1487670" cy="646439"/>
          </a:xfrm>
          <a:prstGeom prst="rect">
            <a:avLst/>
          </a:prstGeom>
          <a:solidFill>
            <a:schemeClr val="accent4"/>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YELLOW</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R247 G201 B38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1" name="Rectangle 9">
            <a:extLst>
              <a:ext uri="{FF2B5EF4-FFF2-40B4-BE49-F238E27FC236}">
                <a16:creationId xmlns:a16="http://schemas.microsoft.com/office/drawing/2014/main" id="{38917B89-6ECF-F74A-9BA2-E9FCB7C72DD1}"/>
              </a:ext>
            </a:extLst>
          </p:cNvPr>
          <p:cNvSpPr>
            <a:spLocks noChangeArrowheads="1"/>
          </p:cNvSpPr>
          <p:nvPr userDrawn="1"/>
        </p:nvSpPr>
        <p:spPr bwMode="auto">
          <a:xfrm>
            <a:off x="-4611596" y="4266004"/>
            <a:ext cx="1487670" cy="646439"/>
          </a:xfrm>
          <a:prstGeom prst="rect">
            <a:avLst/>
          </a:prstGeom>
          <a:solidFill>
            <a:schemeClr val="accent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LAVENDER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R161 G153 B186</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2" name="Rectangle 9">
            <a:extLst>
              <a:ext uri="{FF2B5EF4-FFF2-40B4-BE49-F238E27FC236}">
                <a16:creationId xmlns:a16="http://schemas.microsoft.com/office/drawing/2014/main" id="{A835CB3C-C322-B743-8984-3B3E27A039B3}"/>
              </a:ext>
            </a:extLst>
          </p:cNvPr>
          <p:cNvSpPr>
            <a:spLocks noChangeArrowheads="1"/>
          </p:cNvSpPr>
          <p:nvPr userDrawn="1"/>
        </p:nvSpPr>
        <p:spPr bwMode="auto">
          <a:xfrm>
            <a:off x="-4611596" y="5052258"/>
            <a:ext cx="1487670" cy="646439"/>
          </a:xfrm>
          <a:prstGeom prst="rect">
            <a:avLst/>
          </a:prstGeom>
          <a:solidFill>
            <a:schemeClr val="tx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BLUE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R31 G120 B173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3" name="Rectangle 9">
            <a:extLst>
              <a:ext uri="{FF2B5EF4-FFF2-40B4-BE49-F238E27FC236}">
                <a16:creationId xmlns:a16="http://schemas.microsoft.com/office/drawing/2014/main" id="{0EB3A011-77AD-EE4C-BB9E-688A1F0E49B1}"/>
              </a:ext>
            </a:extLst>
          </p:cNvPr>
          <p:cNvSpPr>
            <a:spLocks noChangeArrowheads="1"/>
          </p:cNvSpPr>
          <p:nvPr userDrawn="1"/>
        </p:nvSpPr>
        <p:spPr bwMode="auto">
          <a:xfrm>
            <a:off x="-4611596" y="1125046"/>
            <a:ext cx="1487670" cy="646439"/>
          </a:xfrm>
          <a:prstGeom prst="rect">
            <a:avLst/>
          </a:prstGeom>
          <a:solidFill>
            <a:schemeClr val="accent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CERISE</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R186 G3 B97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4" name="Rectangle 9">
            <a:extLst>
              <a:ext uri="{FF2B5EF4-FFF2-40B4-BE49-F238E27FC236}">
                <a16:creationId xmlns:a16="http://schemas.microsoft.com/office/drawing/2014/main" id="{402466E5-EFAB-0E4A-B977-56C6D30093B0}"/>
              </a:ext>
            </a:extLst>
          </p:cNvPr>
          <p:cNvSpPr>
            <a:spLocks noChangeArrowheads="1"/>
          </p:cNvSpPr>
          <p:nvPr userDrawn="1"/>
        </p:nvSpPr>
        <p:spPr bwMode="auto">
          <a:xfrm>
            <a:off x="-4611596" y="3449154"/>
            <a:ext cx="1487670" cy="646439"/>
          </a:xfrm>
          <a:prstGeom prst="rect">
            <a:avLst/>
          </a:prstGeom>
          <a:solidFill>
            <a:schemeClr val="accent6"/>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PURPLE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R76 G71 B148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5" name="Rectangle 9">
            <a:extLst>
              <a:ext uri="{FF2B5EF4-FFF2-40B4-BE49-F238E27FC236}">
                <a16:creationId xmlns:a16="http://schemas.microsoft.com/office/drawing/2014/main" id="{F469A4F2-3792-2E49-8B38-6AFC63812708}"/>
              </a:ext>
            </a:extLst>
          </p:cNvPr>
          <p:cNvSpPr>
            <a:spLocks noChangeArrowheads="1"/>
          </p:cNvSpPr>
          <p:nvPr userDrawn="1"/>
        </p:nvSpPr>
        <p:spPr bwMode="auto">
          <a:xfrm>
            <a:off x="-4611596" y="373206"/>
            <a:ext cx="1487670" cy="646439"/>
          </a:xfrm>
          <a:prstGeom prst="rect">
            <a:avLst/>
          </a:prstGeom>
          <a:solidFill>
            <a:srgbClr val="FF7A8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SALMON</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G122 B133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grpSp>
        <p:nvGrpSpPr>
          <p:cNvPr id="76" name="Group 75">
            <a:extLst>
              <a:ext uri="{FF2B5EF4-FFF2-40B4-BE49-F238E27FC236}">
                <a16:creationId xmlns:a16="http://schemas.microsoft.com/office/drawing/2014/main" id="{A0DFD5F1-7ED6-7A4F-A85D-AC9239B9A9E4}"/>
              </a:ext>
            </a:extLst>
          </p:cNvPr>
          <p:cNvGrpSpPr/>
          <p:nvPr userDrawn="1"/>
        </p:nvGrpSpPr>
        <p:grpSpPr>
          <a:xfrm>
            <a:off x="-4617304" y="796253"/>
            <a:ext cx="1494303" cy="224029"/>
            <a:chOff x="5716131" y="796253"/>
            <a:chExt cx="995522" cy="224029"/>
          </a:xfrm>
        </p:grpSpPr>
        <p:sp>
          <p:nvSpPr>
            <p:cNvPr id="77" name="Rectangle 19">
              <a:extLst>
                <a:ext uri="{FF2B5EF4-FFF2-40B4-BE49-F238E27FC236}">
                  <a16:creationId xmlns:a16="http://schemas.microsoft.com/office/drawing/2014/main" id="{69707F44-6BC5-024E-87D0-3237CAF96668}"/>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78" name="Rectangle 20">
              <a:extLst>
                <a:ext uri="{FF2B5EF4-FFF2-40B4-BE49-F238E27FC236}">
                  <a16:creationId xmlns:a16="http://schemas.microsoft.com/office/drawing/2014/main" id="{D0D916EB-9F54-2F4B-BDD0-F877343549EC}"/>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79" name="Group 78">
            <a:extLst>
              <a:ext uri="{FF2B5EF4-FFF2-40B4-BE49-F238E27FC236}">
                <a16:creationId xmlns:a16="http://schemas.microsoft.com/office/drawing/2014/main" id="{7E6BDFF9-62CE-8349-B945-5E4093758751}"/>
              </a:ext>
            </a:extLst>
          </p:cNvPr>
          <p:cNvGrpSpPr/>
          <p:nvPr userDrawn="1"/>
        </p:nvGrpSpPr>
        <p:grpSpPr>
          <a:xfrm>
            <a:off x="-2626840" y="1878230"/>
            <a:ext cx="1844675" cy="277791"/>
            <a:chOff x="2606261" y="3143449"/>
            <a:chExt cx="2458017" cy="277791"/>
          </a:xfrm>
        </p:grpSpPr>
        <p:sp>
          <p:nvSpPr>
            <p:cNvPr id="80" name="Rectangle 19">
              <a:extLst>
                <a:ext uri="{FF2B5EF4-FFF2-40B4-BE49-F238E27FC236}">
                  <a16:creationId xmlns:a16="http://schemas.microsoft.com/office/drawing/2014/main" id="{914B8044-F95A-A74A-BC30-F3A5C9B45BC2}"/>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1" name="Rectangle 20">
              <a:extLst>
                <a:ext uri="{FF2B5EF4-FFF2-40B4-BE49-F238E27FC236}">
                  <a16:creationId xmlns:a16="http://schemas.microsoft.com/office/drawing/2014/main" id="{DCFFAD6D-DAE4-824F-BF41-EE5D85829979}"/>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2" name="Rectangle 22">
              <a:extLst>
                <a:ext uri="{FF2B5EF4-FFF2-40B4-BE49-F238E27FC236}">
                  <a16:creationId xmlns:a16="http://schemas.microsoft.com/office/drawing/2014/main" id="{B42DD97E-811A-2B47-918D-7C0F001104F8}"/>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3" name="Rectangle 19">
              <a:extLst>
                <a:ext uri="{FF2B5EF4-FFF2-40B4-BE49-F238E27FC236}">
                  <a16:creationId xmlns:a16="http://schemas.microsoft.com/office/drawing/2014/main" id="{3D37BE17-9C0A-E749-A606-9BC8E7CE3C80}"/>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4" name="Group 83">
            <a:extLst>
              <a:ext uri="{FF2B5EF4-FFF2-40B4-BE49-F238E27FC236}">
                <a16:creationId xmlns:a16="http://schemas.microsoft.com/office/drawing/2014/main" id="{029FDAA7-EDA4-E344-BCAC-7F6CCDECD451}"/>
              </a:ext>
            </a:extLst>
          </p:cNvPr>
          <p:cNvGrpSpPr/>
          <p:nvPr userDrawn="1"/>
        </p:nvGrpSpPr>
        <p:grpSpPr>
          <a:xfrm>
            <a:off x="-2626840" y="957107"/>
            <a:ext cx="1844675" cy="277791"/>
            <a:chOff x="2606261" y="3143449"/>
            <a:chExt cx="2458017" cy="277791"/>
          </a:xfrm>
        </p:grpSpPr>
        <p:sp>
          <p:nvSpPr>
            <p:cNvPr id="85" name="Rectangle 19">
              <a:extLst>
                <a:ext uri="{FF2B5EF4-FFF2-40B4-BE49-F238E27FC236}">
                  <a16:creationId xmlns:a16="http://schemas.microsoft.com/office/drawing/2014/main" id="{322E5F21-86AC-9847-9EAE-BB1715E938D4}"/>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6" name="Rectangle 20">
              <a:extLst>
                <a:ext uri="{FF2B5EF4-FFF2-40B4-BE49-F238E27FC236}">
                  <a16:creationId xmlns:a16="http://schemas.microsoft.com/office/drawing/2014/main" id="{6F019A4D-1606-E749-A834-546B40C5FC10}"/>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7" name="Rectangle 22">
              <a:extLst>
                <a:ext uri="{FF2B5EF4-FFF2-40B4-BE49-F238E27FC236}">
                  <a16:creationId xmlns:a16="http://schemas.microsoft.com/office/drawing/2014/main" id="{7308B2FC-69DD-954E-8980-2EC3AA1D7544}"/>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8" name="Rectangle 19">
              <a:extLst>
                <a:ext uri="{FF2B5EF4-FFF2-40B4-BE49-F238E27FC236}">
                  <a16:creationId xmlns:a16="http://schemas.microsoft.com/office/drawing/2014/main" id="{74AC479E-3F57-E644-A3C7-97D4AB45ADFF}"/>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9" name="Group 88">
            <a:extLst>
              <a:ext uri="{FF2B5EF4-FFF2-40B4-BE49-F238E27FC236}">
                <a16:creationId xmlns:a16="http://schemas.microsoft.com/office/drawing/2014/main" id="{EE533266-6387-9B46-8624-65A0D9D79FF0}"/>
              </a:ext>
            </a:extLst>
          </p:cNvPr>
          <p:cNvGrpSpPr/>
          <p:nvPr userDrawn="1"/>
        </p:nvGrpSpPr>
        <p:grpSpPr>
          <a:xfrm>
            <a:off x="-4617304" y="1549288"/>
            <a:ext cx="1494303" cy="224029"/>
            <a:chOff x="5716131" y="796253"/>
            <a:chExt cx="995522" cy="224029"/>
          </a:xfrm>
        </p:grpSpPr>
        <p:sp>
          <p:nvSpPr>
            <p:cNvPr id="90" name="Rectangle 19">
              <a:extLst>
                <a:ext uri="{FF2B5EF4-FFF2-40B4-BE49-F238E27FC236}">
                  <a16:creationId xmlns:a16="http://schemas.microsoft.com/office/drawing/2014/main" id="{BB7C84DB-7787-A44D-865E-1BD05831D91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1" name="Rectangle 20">
              <a:extLst>
                <a:ext uri="{FF2B5EF4-FFF2-40B4-BE49-F238E27FC236}">
                  <a16:creationId xmlns:a16="http://schemas.microsoft.com/office/drawing/2014/main" id="{9A96F96C-40C9-8D49-A8DD-AB3B11C9C2C0}"/>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2" name="Group 91">
            <a:extLst>
              <a:ext uri="{FF2B5EF4-FFF2-40B4-BE49-F238E27FC236}">
                <a16:creationId xmlns:a16="http://schemas.microsoft.com/office/drawing/2014/main" id="{DA26BA09-7293-5840-8B41-BA669E1DA42E}"/>
              </a:ext>
            </a:extLst>
          </p:cNvPr>
          <p:cNvGrpSpPr/>
          <p:nvPr userDrawn="1"/>
        </p:nvGrpSpPr>
        <p:grpSpPr>
          <a:xfrm>
            <a:off x="-4617304" y="2295599"/>
            <a:ext cx="1494303" cy="224029"/>
            <a:chOff x="5716131" y="796253"/>
            <a:chExt cx="995522" cy="224029"/>
          </a:xfrm>
        </p:grpSpPr>
        <p:sp>
          <p:nvSpPr>
            <p:cNvPr id="93" name="Rectangle 19">
              <a:extLst>
                <a:ext uri="{FF2B5EF4-FFF2-40B4-BE49-F238E27FC236}">
                  <a16:creationId xmlns:a16="http://schemas.microsoft.com/office/drawing/2014/main" id="{07DA5FAE-B117-1349-8D4B-5D7FCC8142A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4" name="Rectangle 20">
              <a:extLst>
                <a:ext uri="{FF2B5EF4-FFF2-40B4-BE49-F238E27FC236}">
                  <a16:creationId xmlns:a16="http://schemas.microsoft.com/office/drawing/2014/main" id="{F8E4D5C8-28FE-3740-934F-B88CFC79C33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5" name="Group 94">
            <a:extLst>
              <a:ext uri="{FF2B5EF4-FFF2-40B4-BE49-F238E27FC236}">
                <a16:creationId xmlns:a16="http://schemas.microsoft.com/office/drawing/2014/main" id="{BE60DD88-FE73-4A4E-83B0-C27EC4180A40}"/>
              </a:ext>
            </a:extLst>
          </p:cNvPr>
          <p:cNvGrpSpPr/>
          <p:nvPr userDrawn="1"/>
        </p:nvGrpSpPr>
        <p:grpSpPr>
          <a:xfrm>
            <a:off x="-4617304" y="3088976"/>
            <a:ext cx="1494303" cy="224029"/>
            <a:chOff x="5716131" y="796253"/>
            <a:chExt cx="995522" cy="224029"/>
          </a:xfrm>
        </p:grpSpPr>
        <p:sp>
          <p:nvSpPr>
            <p:cNvPr id="96" name="Rectangle 19">
              <a:extLst>
                <a:ext uri="{FF2B5EF4-FFF2-40B4-BE49-F238E27FC236}">
                  <a16:creationId xmlns:a16="http://schemas.microsoft.com/office/drawing/2014/main" id="{F65AC04E-77DF-3D4F-ABC4-331908CD1675}"/>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7" name="Rectangle 20">
              <a:extLst>
                <a:ext uri="{FF2B5EF4-FFF2-40B4-BE49-F238E27FC236}">
                  <a16:creationId xmlns:a16="http://schemas.microsoft.com/office/drawing/2014/main" id="{3A43A58E-FE1C-F241-9FCD-27CDB423B5A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8" name="Group 97">
            <a:extLst>
              <a:ext uri="{FF2B5EF4-FFF2-40B4-BE49-F238E27FC236}">
                <a16:creationId xmlns:a16="http://schemas.microsoft.com/office/drawing/2014/main" id="{85EC0C6B-BF0B-E84D-94EC-435A104A61F7}"/>
              </a:ext>
            </a:extLst>
          </p:cNvPr>
          <p:cNvGrpSpPr/>
          <p:nvPr userDrawn="1"/>
        </p:nvGrpSpPr>
        <p:grpSpPr>
          <a:xfrm>
            <a:off x="-4617304" y="3875629"/>
            <a:ext cx="1494303" cy="224029"/>
            <a:chOff x="5716131" y="796253"/>
            <a:chExt cx="995522" cy="224029"/>
          </a:xfrm>
        </p:grpSpPr>
        <p:sp>
          <p:nvSpPr>
            <p:cNvPr id="99" name="Rectangle 19">
              <a:extLst>
                <a:ext uri="{FF2B5EF4-FFF2-40B4-BE49-F238E27FC236}">
                  <a16:creationId xmlns:a16="http://schemas.microsoft.com/office/drawing/2014/main" id="{E7176F59-7B72-9148-B6EC-3D9A485B69F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0" name="Rectangle 20">
              <a:extLst>
                <a:ext uri="{FF2B5EF4-FFF2-40B4-BE49-F238E27FC236}">
                  <a16:creationId xmlns:a16="http://schemas.microsoft.com/office/drawing/2014/main" id="{2C7F8097-BD91-F644-9F8C-937FCE32DCE9}"/>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1" name="Group 100">
            <a:extLst>
              <a:ext uri="{FF2B5EF4-FFF2-40B4-BE49-F238E27FC236}">
                <a16:creationId xmlns:a16="http://schemas.microsoft.com/office/drawing/2014/main" id="{1E38DB8D-4AE7-FB41-966F-59657509D300}"/>
              </a:ext>
            </a:extLst>
          </p:cNvPr>
          <p:cNvGrpSpPr/>
          <p:nvPr userDrawn="1"/>
        </p:nvGrpSpPr>
        <p:grpSpPr>
          <a:xfrm>
            <a:off x="-4617304" y="4695900"/>
            <a:ext cx="1494303" cy="224029"/>
            <a:chOff x="5716131" y="796253"/>
            <a:chExt cx="995522" cy="224029"/>
          </a:xfrm>
        </p:grpSpPr>
        <p:sp>
          <p:nvSpPr>
            <p:cNvPr id="102" name="Rectangle 19">
              <a:extLst>
                <a:ext uri="{FF2B5EF4-FFF2-40B4-BE49-F238E27FC236}">
                  <a16:creationId xmlns:a16="http://schemas.microsoft.com/office/drawing/2014/main" id="{8E88217E-F57C-0F4D-A0DC-EAC60891AFD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3" name="Rectangle 20">
              <a:extLst>
                <a:ext uri="{FF2B5EF4-FFF2-40B4-BE49-F238E27FC236}">
                  <a16:creationId xmlns:a16="http://schemas.microsoft.com/office/drawing/2014/main" id="{0FE0007D-5F31-E149-B0CF-AB6784C43E66}"/>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4" name="Group 103">
            <a:extLst>
              <a:ext uri="{FF2B5EF4-FFF2-40B4-BE49-F238E27FC236}">
                <a16:creationId xmlns:a16="http://schemas.microsoft.com/office/drawing/2014/main" id="{5FE9AD56-297C-DB4B-A7BE-D6B0F01510E8}"/>
              </a:ext>
            </a:extLst>
          </p:cNvPr>
          <p:cNvGrpSpPr/>
          <p:nvPr userDrawn="1"/>
        </p:nvGrpSpPr>
        <p:grpSpPr>
          <a:xfrm>
            <a:off x="-4617304" y="5482553"/>
            <a:ext cx="1494303" cy="224029"/>
            <a:chOff x="5716131" y="796253"/>
            <a:chExt cx="995522" cy="224029"/>
          </a:xfrm>
        </p:grpSpPr>
        <p:sp>
          <p:nvSpPr>
            <p:cNvPr id="105" name="Rectangle 19">
              <a:extLst>
                <a:ext uri="{FF2B5EF4-FFF2-40B4-BE49-F238E27FC236}">
                  <a16:creationId xmlns:a16="http://schemas.microsoft.com/office/drawing/2014/main" id="{BAE1D5DB-96CD-7A41-AC4C-B60EE6BB7AE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6" name="Rectangle 20">
              <a:extLst>
                <a:ext uri="{FF2B5EF4-FFF2-40B4-BE49-F238E27FC236}">
                  <a16:creationId xmlns:a16="http://schemas.microsoft.com/office/drawing/2014/main" id="{91DC9FA1-0AEE-A849-8DCF-0F227C3A707E}"/>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7" name="Group 106">
            <a:extLst>
              <a:ext uri="{FF2B5EF4-FFF2-40B4-BE49-F238E27FC236}">
                <a16:creationId xmlns:a16="http://schemas.microsoft.com/office/drawing/2014/main" id="{D51248F3-2F75-594D-B53D-6D8AF82EB3EE}"/>
              </a:ext>
            </a:extLst>
          </p:cNvPr>
          <p:cNvGrpSpPr/>
          <p:nvPr userDrawn="1"/>
        </p:nvGrpSpPr>
        <p:grpSpPr>
          <a:xfrm>
            <a:off x="-4617304" y="6228865"/>
            <a:ext cx="1494303" cy="224029"/>
            <a:chOff x="5716131" y="796253"/>
            <a:chExt cx="995522" cy="224029"/>
          </a:xfrm>
        </p:grpSpPr>
        <p:sp>
          <p:nvSpPr>
            <p:cNvPr id="108" name="Rectangle 19">
              <a:extLst>
                <a:ext uri="{FF2B5EF4-FFF2-40B4-BE49-F238E27FC236}">
                  <a16:creationId xmlns:a16="http://schemas.microsoft.com/office/drawing/2014/main" id="{2C100E18-2C92-5642-871F-193C519D3709}"/>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9" name="Rectangle 20">
              <a:extLst>
                <a:ext uri="{FF2B5EF4-FFF2-40B4-BE49-F238E27FC236}">
                  <a16:creationId xmlns:a16="http://schemas.microsoft.com/office/drawing/2014/main" id="{C725273B-18AD-5547-A9A0-E5E2D55F1583}"/>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pic>
        <p:nvPicPr>
          <p:cNvPr id="3" name="Graphic 2">
            <a:extLst>
              <a:ext uri="{FF2B5EF4-FFF2-40B4-BE49-F238E27FC236}">
                <a16:creationId xmlns:a16="http://schemas.microsoft.com/office/drawing/2014/main" id="{1CF833E4-0060-484E-9965-5F640274ADE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4590" y="5400000"/>
            <a:ext cx="1828800" cy="660400"/>
          </a:xfrm>
          <a:prstGeom prst="rect">
            <a:avLst/>
          </a:prstGeom>
        </p:spPr>
      </p:pic>
      <p:pic>
        <p:nvPicPr>
          <p:cNvPr id="6" name="Graphic 5">
            <a:extLst>
              <a:ext uri="{FF2B5EF4-FFF2-40B4-BE49-F238E27FC236}">
                <a16:creationId xmlns:a16="http://schemas.microsoft.com/office/drawing/2014/main" id="{5EABF413-2674-1F41-94B7-816E8AFB804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4590" y="4661279"/>
            <a:ext cx="1828800" cy="660400"/>
          </a:xfrm>
          <a:prstGeom prst="rect">
            <a:avLst/>
          </a:prstGeom>
        </p:spPr>
      </p:pic>
      <p:pic>
        <p:nvPicPr>
          <p:cNvPr id="13" name="Graphic 12">
            <a:extLst>
              <a:ext uri="{FF2B5EF4-FFF2-40B4-BE49-F238E27FC236}">
                <a16:creationId xmlns:a16="http://schemas.microsoft.com/office/drawing/2014/main" id="{82AB809A-5890-BF46-A223-5F7B2A123F1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4590" y="3600000"/>
            <a:ext cx="635000" cy="660400"/>
          </a:xfrm>
          <a:prstGeom prst="rect">
            <a:avLst/>
          </a:prstGeom>
        </p:spPr>
      </p:pic>
      <p:pic>
        <p:nvPicPr>
          <p:cNvPr id="17" name="Graphic 16">
            <a:extLst>
              <a:ext uri="{FF2B5EF4-FFF2-40B4-BE49-F238E27FC236}">
                <a16:creationId xmlns:a16="http://schemas.microsoft.com/office/drawing/2014/main" id="{42CF3A70-9F27-F645-9FE9-CD81E473DE4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74969" y="3600000"/>
            <a:ext cx="635000" cy="660400"/>
          </a:xfrm>
          <a:prstGeom prst="rect">
            <a:avLst/>
          </a:prstGeom>
        </p:spPr>
      </p:pic>
      <p:sp>
        <p:nvSpPr>
          <p:cNvPr id="2" name="TextBox 1">
            <a:extLst>
              <a:ext uri="{FF2B5EF4-FFF2-40B4-BE49-F238E27FC236}">
                <a16:creationId xmlns:a16="http://schemas.microsoft.com/office/drawing/2014/main" id="{6D88D0BE-2EA1-94D6-EEC3-387CC3481826}"/>
              </a:ext>
            </a:extLst>
          </p:cNvPr>
          <p:cNvSpPr txBox="1"/>
          <p:nvPr>
            <p:extLst>
              <p:ext uri="{1162E1C5-73C7-4A58-AE30-91384D911F3F}">
                <p184:classification xmlns:p184="http://schemas.microsoft.com/office/powerpoint/2018/4/main" val="ftr"/>
              </p:ext>
            </p:extLst>
          </p:nvPr>
        </p:nvSpPr>
        <p:spPr>
          <a:xfrm>
            <a:off x="63500" y="6672580"/>
            <a:ext cx="654050" cy="121920"/>
          </a:xfrm>
          <a:prstGeom prst="rect">
            <a:avLst/>
          </a:prstGeom>
        </p:spPr>
        <p:txBody>
          <a:bodyPr horzOverflow="overflow" lIns="0" tIns="0" rIns="0" bIns="0">
            <a:spAutoFit/>
          </a:bodyPr>
          <a:lstStyle/>
          <a:p>
            <a:pPr algn="l"/>
            <a:r>
              <a:rPr lang="en-GB" sz="800">
                <a:solidFill>
                  <a:srgbClr val="317100">
                    <a:alpha val="50000"/>
                  </a:srgbClr>
                </a:solidFill>
                <a:latin typeface="Aptos" panose="020B0004020202020204" pitchFamily="34" charset="0"/>
              </a:rPr>
              <a:t>[AIA – PUBLIC]</a:t>
            </a:r>
          </a:p>
        </p:txBody>
      </p:sp>
    </p:spTree>
    <p:extLst>
      <p:ext uri="{BB962C8B-B14F-4D97-AF65-F5344CB8AC3E}">
        <p14:creationId xmlns:p14="http://schemas.microsoft.com/office/powerpoint/2010/main" val="2014199587"/>
      </p:ext>
    </p:extLst>
  </p:cSld>
  <p:clrMap bg1="lt1" tx1="dk1" bg2="lt2" tx2="dk2" accent1="accent1" accent2="accent2" accent3="accent3" accent4="accent4" accent5="accent5" accent6="accent6" hlink="hlink" folHlink="folHlink"/>
  <p:sldLayoutIdLst>
    <p:sldLayoutId id="2147483743" r:id="rId1"/>
    <p:sldLayoutId id="2147483681" r:id="rId2"/>
    <p:sldLayoutId id="2147483748" r:id="rId3"/>
  </p:sldLayoutIdLst>
  <p:hf hdr="0" ftr="0" dt="0"/>
  <p:txStyles>
    <p:titleStyle>
      <a:lvl1pPr algn="l" defTabSz="914400" rtl="0" eaLnBrk="1" latinLnBrk="0" hangingPunct="1">
        <a:spcBef>
          <a:spcPct val="0"/>
        </a:spcBef>
        <a:buNone/>
        <a:defRPr sz="4800" b="0" kern="1200" cap="none" normalizeH="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2" pos="744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image" Target="../media/image15.png"/><Relationship Id="rId12"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1.png"/><Relationship Id="rId4" Type="http://schemas.openxmlformats.org/officeDocument/2006/relationships/image" Target="../media/image10.png"/><Relationship Id="rId5" Type="http://schemas.openxmlformats.org/officeDocument/2006/relationships/image" Target="../media/image4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48.png"/><Relationship Id="rId8" Type="http://schemas.openxmlformats.org/officeDocument/2006/relationships/image" Target="../media/image49.png"/><Relationship Id="rId9" Type="http://schemas.openxmlformats.org/officeDocument/2006/relationships/image" Target="../media/image50.png"/><Relationship Id="rId10" Type="http://schemas.openxmlformats.org/officeDocument/2006/relationships/image" Target="../media/image11.png"/><Relationship Id="rId11" Type="http://schemas.openxmlformats.org/officeDocument/2006/relationships/image" Target="../media/image12.png"/><Relationship Id="rId12" Type="http://schemas.openxmlformats.org/officeDocument/2006/relationships/image" Target="../media/image5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3.png"/><Relationship Id="rId4" Type="http://schemas.openxmlformats.org/officeDocument/2006/relationships/image" Target="../media/image3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29.png"/><Relationship Id="rId6" Type="http://schemas.openxmlformats.org/officeDocument/2006/relationships/image" Target="../media/image37.png"/><Relationship Id="rId7"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34.png"/><Relationship Id="rId11" Type="http://schemas.openxmlformats.org/officeDocument/2006/relationships/image" Target="../media/image45.png"/><Relationship Id="rId12" Type="http://schemas.openxmlformats.org/officeDocument/2006/relationships/image" Target="../media/image4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a:xfrm>
            <a:off x="356616" y="4892040"/>
            <a:ext cx="5669280" cy="548640"/>
          </a:xfrm>
        </p:spPr>
        <p:txBody>
          <a:bodyPr lIns="0" tIns="0" rIns="0" bIns="0" anchor="t"/>
          <a:lstStyle/>
          <a:p>
            <a:pPr algn="l">
              <a:spcAft>
                <a:spcPts val="0"/>
              </a:spcAft>
            </a:pPr>
            <a:r>
              <a:rPr sz="1300" b="0" i="0">
                <a:solidFill>
                  <a:srgbClr val="FFFFFF"/>
                </a:solidFill>
                <a:latin typeface="Arial"/>
              </a:rPr>
              <a:t>Innovation Idea Awards 2026  ·  Hong Kong  ·  Individual submission</a:t>
            </a:r>
          </a:p>
          <a:p>
            <a:pPr algn="l">
              <a:spcAft>
                <a:spcPts val="0"/>
              </a:spcAft>
            </a:pPr>
            <a:r>
              <a:rPr sz="1300" b="0" i="0">
                <a:solidFill>
                  <a:srgbClr val="FFFFFF"/>
                </a:solidFill>
                <a:latin typeface="Arial"/>
              </a:rPr>
              <a:t>Employee Value  ·  Operations Value</a:t>
            </a:r>
          </a:p>
        </p:txBody>
      </p:sp>
      <p:sp>
        <p:nvSpPr>
          <p:cNvPr id="3" name="Text Placeholder 2"/>
          <p:cNvSpPr>
            <a:spLocks noGrp="1"/>
          </p:cNvSpPr>
          <p:nvPr>
            <p:ph type="body" idx="10" sz="quarter"/>
          </p:nvPr>
        </p:nvSpPr>
        <p:spPr>
          <a:xfrm>
            <a:off x="356616" y="1600200"/>
            <a:ext cx="5669280" cy="1051560"/>
          </a:xfrm>
        </p:spPr>
        <p:txBody>
          <a:bodyPr lIns="0" tIns="0" rIns="0" bIns="0" anchor="b"/>
          <a:lstStyle/>
          <a:p>
            <a:pPr algn="l">
              <a:lnSpc>
                <a:spcPct val="90000"/>
              </a:lnSpc>
              <a:spcAft>
                <a:spcPts val="0"/>
              </a:spcAft>
            </a:pPr>
            <a:r>
              <a:rPr sz="8000" b="1" i="0">
                <a:solidFill>
                  <a:srgbClr val="FFFFFF"/>
                </a:solidFill>
                <a:latin typeface="Arial"/>
              </a:rPr>
              <a:t>Riley</a:t>
            </a:r>
          </a:p>
        </p:txBody>
      </p:sp>
      <p:pic>
        <p:nvPicPr>
          <p:cNvPr id="4" name="Picture 3" descr="cover_waves_right.png"/>
          <p:cNvPicPr>
            <a:picLocks noChangeAspect="1"/>
          </p:cNvPicPr>
          <p:nvPr/>
        </p:nvPicPr>
        <p:blipFill>
          <a:blip r:embed="rId2"/>
          <a:stretch>
            <a:fillRect/>
          </a:stretch>
        </p:blipFill>
        <p:spPr>
          <a:xfrm>
            <a:off x="6217920" y="0"/>
            <a:ext cx="5973775" cy="6858000"/>
          </a:xfrm>
          <a:prstGeom prst="rect">
            <a:avLst/>
          </a:prstGeom>
        </p:spPr>
      </p:pic>
      <p:sp>
        <p:nvSpPr>
          <p:cNvPr id="5" name="TextBox 4"/>
          <p:cNvSpPr txBox="1"/>
          <p:nvPr/>
        </p:nvSpPr>
        <p:spPr>
          <a:xfrm>
            <a:off x="356616" y="2743200"/>
            <a:ext cx="5760720" cy="457200"/>
          </a:xfrm>
          <a:prstGeom prst="rect">
            <a:avLst/>
          </a:prstGeom>
          <a:noFill/>
        </p:spPr>
        <p:txBody>
          <a:bodyPr wrap="square" lIns="0" tIns="0" rIns="0" bIns="0" anchor="t">
            <a:noAutofit/>
          </a:bodyPr>
          <a:lstStyle/>
          <a:p>
            <a:pPr algn="l">
              <a:spcAft>
                <a:spcPts val="0"/>
              </a:spcAft>
            </a:pPr>
            <a:r>
              <a:rPr sz="2800" b="0" i="0">
                <a:solidFill>
                  <a:srgbClr val="FFFFFF"/>
                </a:solidFill>
                <a:latin typeface="Arial"/>
              </a:rPr>
              <a:t>AIA’s AI coworker</a:t>
            </a:r>
          </a:p>
        </p:txBody>
      </p:sp>
      <p:sp>
        <p:nvSpPr>
          <p:cNvPr id="6" name="TextBox 5"/>
          <p:cNvSpPr txBox="1"/>
          <p:nvPr/>
        </p:nvSpPr>
        <p:spPr>
          <a:xfrm>
            <a:off x="356616" y="3611880"/>
            <a:ext cx="5760720" cy="822960"/>
          </a:xfrm>
          <a:prstGeom prst="rect">
            <a:avLst/>
          </a:prstGeom>
          <a:noFill/>
        </p:spPr>
        <p:txBody>
          <a:bodyPr wrap="square" lIns="0" tIns="0" rIns="0" bIns="0" anchor="t">
            <a:noAutofit/>
          </a:bodyPr>
          <a:lstStyle/>
          <a:p>
            <a:pPr algn="l">
              <a:spcAft>
                <a:spcPts val="400"/>
              </a:spcAft>
            </a:pPr>
            <a:r>
              <a:rPr sz="2400" b="1" i="0">
                <a:solidFill>
                  <a:srgbClr val="FFFFFF"/>
                </a:solidFill>
                <a:latin typeface="Arial"/>
              </a:rPr>
              <a:t>You own the outcome.</a:t>
            </a:r>
          </a:p>
          <a:p>
            <a:pPr algn="l">
              <a:spcAft>
                <a:spcPts val="400"/>
              </a:spcAft>
            </a:pPr>
            <a:r>
              <a:rPr sz="2400" b="1" i="0">
                <a:solidFill>
                  <a:srgbClr val="FFFFFF"/>
                </a:solidFill>
                <a:latin typeface="Arial"/>
              </a:rPr>
              <a:t>Riley does the digital legwork.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Employees still do the digital legwork</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THE PROBLEM</a:t>
            </a:r>
          </a:p>
        </p:txBody>
      </p:sp>
      <p:sp>
        <p:nvSpPr>
          <p:cNvPr id="6" name="TextBox 5"/>
          <p:cNvSpPr txBox="1"/>
          <p:nvPr/>
        </p:nvSpPr>
        <p:spPr>
          <a:xfrm>
            <a:off x="356616" y="1042416"/>
            <a:ext cx="10515600" cy="365760"/>
          </a:xfrm>
          <a:prstGeom prst="rect">
            <a:avLst/>
          </a:prstGeom>
          <a:noFill/>
        </p:spPr>
        <p:txBody>
          <a:bodyPr wrap="square" lIns="0" tIns="0" rIns="0" bIns="0" anchor="t">
            <a:noAutofit/>
          </a:bodyPr>
          <a:lstStyle/>
          <a:p>
            <a:pPr algn="l">
              <a:spcAft>
                <a:spcPts val="0"/>
              </a:spcAft>
            </a:pPr>
            <a:r>
              <a:rPr sz="1700" b="0" i="0">
                <a:solidFill>
                  <a:srgbClr val="5F6770"/>
                </a:solidFill>
                <a:latin typeface="Arial"/>
              </a:rPr>
              <a:t>AI can help with single steps. The employee still runs the whole chain.</a:t>
            </a:r>
          </a:p>
        </p:txBody>
      </p:sp>
      <p:sp>
        <p:nvSpPr>
          <p:cNvPr id="7" name="Rounded Rectangle 6"/>
          <p:cNvSpPr/>
          <p:nvPr/>
        </p:nvSpPr>
        <p:spPr>
          <a:xfrm>
            <a:off x="356616" y="1828800"/>
            <a:ext cx="2057400" cy="2395728"/>
          </a:xfrm>
          <a:prstGeom prst="roundRect">
            <a:avLst>
              <a:gd name="adj" fmla="val 4444"/>
            </a:avLst>
          </a:prstGeom>
          <a:solidFill>
            <a:srgbClr val="FFFFFF"/>
          </a:solidFill>
          <a:ln w="19050">
            <a:solidFill>
              <a:srgbClr val="D31145"/>
            </a:solidFill>
          </a:ln>
        </p:spPr>
        <p:txBody>
          <a:bodyPr rtlCol="0" anchor="ctr"/>
          <a:lstStyle/>
          <a:p>
            <a:pPr algn="ctr"/>
          </a:p>
        </p:txBody>
      </p:sp>
      <p:sp>
        <p:nvSpPr>
          <p:cNvPr id="8" name="Oval 7"/>
          <p:cNvSpPr/>
          <p:nvPr/>
        </p:nvSpPr>
        <p:spPr>
          <a:xfrm>
            <a:off x="557784" y="2057400"/>
            <a:ext cx="457200" cy="457200"/>
          </a:xfrm>
          <a:prstGeom prst="ellipse">
            <a:avLst/>
          </a:prstGeom>
          <a:solidFill>
            <a:srgbClr val="D31145"/>
          </a:solidFill>
          <a:ln>
            <a:noFill/>
          </a:ln>
        </p:spPr>
        <p:txBody>
          <a:bodyPr rtlCol="0" anchor="ctr"/>
          <a:lstStyle/>
          <a:p>
            <a:pPr algn="ctr"/>
          </a:p>
        </p:txBody>
      </p:sp>
      <p:pic>
        <p:nvPicPr>
          <p:cNvPr id="9" name="Picture 8" descr="LuTarget_w.png"/>
          <p:cNvPicPr>
            <a:picLocks noChangeAspect="1"/>
          </p:cNvPicPr>
          <p:nvPr/>
        </p:nvPicPr>
        <p:blipFill>
          <a:blip r:embed="rId3"/>
          <a:stretch>
            <a:fillRect/>
          </a:stretch>
        </p:blipFill>
        <p:spPr>
          <a:xfrm>
            <a:off x="662940" y="2162556"/>
            <a:ext cx="246888" cy="246888"/>
          </a:xfrm>
          <a:prstGeom prst="rect">
            <a:avLst/>
          </a:prstGeom>
        </p:spPr>
      </p:pic>
      <p:sp>
        <p:nvSpPr>
          <p:cNvPr id="10" name="TextBox 9"/>
          <p:cNvSpPr txBox="1"/>
          <p:nvPr/>
        </p:nvSpPr>
        <p:spPr>
          <a:xfrm>
            <a:off x="557784" y="2651760"/>
            <a:ext cx="1691640" cy="237744"/>
          </a:xfrm>
          <a:prstGeom prst="rect">
            <a:avLst/>
          </a:prstGeom>
          <a:noFill/>
        </p:spPr>
        <p:txBody>
          <a:bodyPr wrap="square" lIns="0" tIns="0" rIns="0" bIns="0" anchor="t">
            <a:noAutofit/>
          </a:bodyPr>
          <a:lstStyle/>
          <a:p>
            <a:pPr algn="l">
              <a:spcAft>
                <a:spcPts val="0"/>
              </a:spcAft>
            </a:pPr>
            <a:r>
              <a:rPr sz="1050" b="1" i="0" spc="100">
                <a:solidFill>
                  <a:srgbClr val="D31145"/>
                </a:solidFill>
                <a:latin typeface="Arial"/>
              </a:rPr>
              <a:t>THE OUTCOME</a:t>
            </a:r>
          </a:p>
        </p:txBody>
      </p:sp>
      <p:sp>
        <p:nvSpPr>
          <p:cNvPr id="11" name="TextBox 10"/>
          <p:cNvSpPr txBox="1"/>
          <p:nvPr/>
        </p:nvSpPr>
        <p:spPr>
          <a:xfrm>
            <a:off x="557784" y="2907792"/>
            <a:ext cx="1691640" cy="731520"/>
          </a:xfrm>
          <a:prstGeom prst="rect">
            <a:avLst/>
          </a:prstGeom>
          <a:noFill/>
        </p:spPr>
        <p:txBody>
          <a:bodyPr wrap="square" lIns="0" tIns="0" rIns="0" bIns="0" anchor="t">
            <a:noAutofit/>
          </a:bodyPr>
          <a:lstStyle/>
          <a:p>
            <a:pPr algn="l">
              <a:lnSpc>
                <a:spcPct val="95000"/>
              </a:lnSpc>
              <a:spcAft>
                <a:spcPts val="0"/>
              </a:spcAft>
            </a:pPr>
            <a:r>
              <a:rPr sz="1500" b="1" i="0">
                <a:solidFill>
                  <a:srgbClr val="333D47"/>
                </a:solidFill>
                <a:latin typeface="Arial"/>
              </a:rPr>
              <a:t>What someone actually needs</a:t>
            </a:r>
          </a:p>
        </p:txBody>
      </p:sp>
      <p:sp>
        <p:nvSpPr>
          <p:cNvPr id="12" name="TextBox 11"/>
          <p:cNvSpPr txBox="1"/>
          <p:nvPr/>
        </p:nvSpPr>
        <p:spPr>
          <a:xfrm>
            <a:off x="557784" y="3520440"/>
            <a:ext cx="1691640" cy="640080"/>
          </a:xfrm>
          <a:prstGeom prst="rect">
            <a:avLst/>
          </a:prstGeom>
          <a:noFill/>
        </p:spPr>
        <p:txBody>
          <a:bodyPr wrap="square" lIns="0" tIns="0" rIns="0" bIns="0" anchor="t">
            <a:noAutofit/>
          </a:bodyPr>
          <a:lstStyle/>
          <a:p>
            <a:pPr algn="l">
              <a:spcAft>
                <a:spcPts val="0"/>
              </a:spcAft>
            </a:pPr>
            <a:r>
              <a:rPr sz="1150" b="0" i="1">
                <a:solidFill>
                  <a:srgbClr val="5F6770"/>
                </a:solidFill>
                <a:latin typeface="Arial"/>
              </a:rPr>
              <a:t>e.g. a management review, due Thursday</a:t>
            </a:r>
          </a:p>
        </p:txBody>
      </p:sp>
      <p:sp>
        <p:nvSpPr>
          <p:cNvPr id="13" name="Rounded Rectangle 12"/>
          <p:cNvSpPr/>
          <p:nvPr/>
        </p:nvSpPr>
        <p:spPr>
          <a:xfrm>
            <a:off x="2788920" y="1828800"/>
            <a:ext cx="1417320" cy="896112"/>
          </a:xfrm>
          <a:prstGeom prst="roundRect">
            <a:avLst>
              <a:gd name="adj" fmla="val 8163"/>
            </a:avLst>
          </a:prstGeom>
          <a:solidFill>
            <a:srgbClr val="F4F1EF"/>
          </a:solidFill>
          <a:ln>
            <a:noFill/>
          </a:ln>
        </p:spPr>
        <p:txBody>
          <a:bodyPr rtlCol="0" anchor="ctr"/>
          <a:lstStyle/>
          <a:p>
            <a:pPr algn="ctr"/>
          </a:p>
        </p:txBody>
      </p:sp>
      <p:pic>
        <p:nvPicPr>
          <p:cNvPr id="14" name="Picture 13" descr="LuDatabase_c.png"/>
          <p:cNvPicPr>
            <a:picLocks noChangeAspect="1"/>
          </p:cNvPicPr>
          <p:nvPr/>
        </p:nvPicPr>
        <p:blipFill>
          <a:blip r:embed="rId4"/>
          <a:stretch>
            <a:fillRect/>
          </a:stretch>
        </p:blipFill>
        <p:spPr>
          <a:xfrm>
            <a:off x="2926080" y="1956816"/>
            <a:ext cx="274320" cy="274320"/>
          </a:xfrm>
          <a:prstGeom prst="rect">
            <a:avLst/>
          </a:prstGeom>
        </p:spPr>
      </p:pic>
      <p:sp>
        <p:nvSpPr>
          <p:cNvPr id="15" name="TextBox 14"/>
          <p:cNvSpPr txBox="1"/>
          <p:nvPr/>
        </p:nvSpPr>
        <p:spPr>
          <a:xfrm>
            <a:off x="2926080" y="2286000"/>
            <a:ext cx="1188720" cy="420624"/>
          </a:xfrm>
          <a:prstGeom prst="rect">
            <a:avLst/>
          </a:prstGeom>
          <a:noFill/>
        </p:spPr>
        <p:txBody>
          <a:bodyPr wrap="square" lIns="0" tIns="0" rIns="0" bIns="0" anchor="t">
            <a:noAutofit/>
          </a:bodyPr>
          <a:lstStyle/>
          <a:p>
            <a:pPr algn="l">
              <a:lnSpc>
                <a:spcPct val="92000"/>
              </a:lnSpc>
              <a:spcAft>
                <a:spcPts val="0"/>
              </a:spcAft>
            </a:pPr>
            <a:r>
              <a:rPr sz="1200" b="1" i="0">
                <a:solidFill>
                  <a:srgbClr val="333D47"/>
                </a:solidFill>
                <a:latin typeface="Arial"/>
              </a:rPr>
              <a:t>Find the data</a:t>
            </a:r>
          </a:p>
        </p:txBody>
      </p:sp>
      <p:sp>
        <p:nvSpPr>
          <p:cNvPr id="16" name="Rounded Rectangle 15"/>
          <p:cNvSpPr/>
          <p:nvPr/>
        </p:nvSpPr>
        <p:spPr>
          <a:xfrm>
            <a:off x="4572000" y="1828800"/>
            <a:ext cx="1417320" cy="896112"/>
          </a:xfrm>
          <a:prstGeom prst="roundRect">
            <a:avLst>
              <a:gd name="adj" fmla="val 8163"/>
            </a:avLst>
          </a:prstGeom>
          <a:solidFill>
            <a:srgbClr val="F4F1EF"/>
          </a:solidFill>
          <a:ln>
            <a:noFill/>
          </a:ln>
        </p:spPr>
        <p:txBody>
          <a:bodyPr rtlCol="0" anchor="ctr"/>
          <a:lstStyle/>
          <a:p>
            <a:pPr algn="ctr"/>
          </a:p>
        </p:txBody>
      </p:sp>
      <p:pic>
        <p:nvPicPr>
          <p:cNvPr id="17" name="Picture 16" descr="LuServer_c.png"/>
          <p:cNvPicPr>
            <a:picLocks noChangeAspect="1"/>
          </p:cNvPicPr>
          <p:nvPr/>
        </p:nvPicPr>
        <p:blipFill>
          <a:blip r:embed="rId5"/>
          <a:stretch>
            <a:fillRect/>
          </a:stretch>
        </p:blipFill>
        <p:spPr>
          <a:xfrm>
            <a:off x="4709160" y="1956816"/>
            <a:ext cx="274320" cy="274320"/>
          </a:xfrm>
          <a:prstGeom prst="rect">
            <a:avLst/>
          </a:prstGeom>
        </p:spPr>
      </p:pic>
      <p:sp>
        <p:nvSpPr>
          <p:cNvPr id="18" name="TextBox 17"/>
          <p:cNvSpPr txBox="1"/>
          <p:nvPr/>
        </p:nvSpPr>
        <p:spPr>
          <a:xfrm>
            <a:off x="4709160" y="2286000"/>
            <a:ext cx="1188720" cy="420624"/>
          </a:xfrm>
          <a:prstGeom prst="rect">
            <a:avLst/>
          </a:prstGeom>
          <a:noFill/>
        </p:spPr>
        <p:txBody>
          <a:bodyPr wrap="square" lIns="0" tIns="0" rIns="0" bIns="0" anchor="t">
            <a:noAutofit/>
          </a:bodyPr>
          <a:lstStyle/>
          <a:p>
            <a:pPr algn="l">
              <a:lnSpc>
                <a:spcPct val="92000"/>
              </a:lnSpc>
              <a:spcAft>
                <a:spcPts val="0"/>
              </a:spcAft>
            </a:pPr>
            <a:r>
              <a:rPr sz="1200" b="1" i="0">
                <a:solidFill>
                  <a:srgbClr val="333D47"/>
                </a:solidFill>
                <a:latin typeface="Arial"/>
              </a:rPr>
              <a:t>Open the systems</a:t>
            </a:r>
          </a:p>
        </p:txBody>
      </p:sp>
      <p:sp>
        <p:nvSpPr>
          <p:cNvPr id="19" name="Rounded Rectangle 18"/>
          <p:cNvSpPr/>
          <p:nvPr/>
        </p:nvSpPr>
        <p:spPr>
          <a:xfrm>
            <a:off x="6355080" y="1828800"/>
            <a:ext cx="1417320" cy="896112"/>
          </a:xfrm>
          <a:prstGeom prst="roundRect">
            <a:avLst>
              <a:gd name="adj" fmla="val 8163"/>
            </a:avLst>
          </a:prstGeom>
          <a:solidFill>
            <a:srgbClr val="F4F1EF"/>
          </a:solidFill>
          <a:ln>
            <a:noFill/>
          </a:ln>
        </p:spPr>
        <p:txBody>
          <a:bodyPr rtlCol="0" anchor="ctr"/>
          <a:lstStyle/>
          <a:p>
            <a:pPr algn="ctr"/>
          </a:p>
        </p:txBody>
      </p:sp>
      <p:pic>
        <p:nvPicPr>
          <p:cNvPr id="20" name="Picture 19" descr="LuFileText_c.png"/>
          <p:cNvPicPr>
            <a:picLocks noChangeAspect="1"/>
          </p:cNvPicPr>
          <p:nvPr/>
        </p:nvPicPr>
        <p:blipFill>
          <a:blip r:embed="rId6"/>
          <a:stretch>
            <a:fillRect/>
          </a:stretch>
        </p:blipFill>
        <p:spPr>
          <a:xfrm>
            <a:off x="6492240" y="1956816"/>
            <a:ext cx="274320" cy="274320"/>
          </a:xfrm>
          <a:prstGeom prst="rect">
            <a:avLst/>
          </a:prstGeom>
        </p:spPr>
      </p:pic>
      <p:sp>
        <p:nvSpPr>
          <p:cNvPr id="21" name="TextBox 20"/>
          <p:cNvSpPr txBox="1"/>
          <p:nvPr/>
        </p:nvSpPr>
        <p:spPr>
          <a:xfrm>
            <a:off x="6492240" y="2286000"/>
            <a:ext cx="1188720" cy="420624"/>
          </a:xfrm>
          <a:prstGeom prst="rect">
            <a:avLst/>
          </a:prstGeom>
          <a:noFill/>
        </p:spPr>
        <p:txBody>
          <a:bodyPr wrap="square" lIns="0" tIns="0" rIns="0" bIns="0" anchor="t">
            <a:noAutofit/>
          </a:bodyPr>
          <a:lstStyle/>
          <a:p>
            <a:pPr algn="l">
              <a:lnSpc>
                <a:spcPct val="92000"/>
              </a:lnSpc>
              <a:spcAft>
                <a:spcPts val="0"/>
              </a:spcAft>
            </a:pPr>
            <a:r>
              <a:rPr sz="1200" b="1" i="0">
                <a:solidFill>
                  <a:srgbClr val="333D47"/>
                </a:solidFill>
                <a:latin typeface="Arial"/>
              </a:rPr>
              <a:t>Read documents</a:t>
            </a:r>
          </a:p>
        </p:txBody>
      </p:sp>
      <p:sp>
        <p:nvSpPr>
          <p:cNvPr id="22" name="Rounded Rectangle 21"/>
          <p:cNvSpPr/>
          <p:nvPr/>
        </p:nvSpPr>
        <p:spPr>
          <a:xfrm>
            <a:off x="8138160" y="1828800"/>
            <a:ext cx="1417320" cy="896112"/>
          </a:xfrm>
          <a:prstGeom prst="roundRect">
            <a:avLst>
              <a:gd name="adj" fmla="val 8163"/>
            </a:avLst>
          </a:prstGeom>
          <a:solidFill>
            <a:srgbClr val="F4F1EF"/>
          </a:solidFill>
          <a:ln>
            <a:noFill/>
          </a:ln>
        </p:spPr>
        <p:txBody>
          <a:bodyPr rtlCol="0" anchor="ctr"/>
          <a:lstStyle/>
          <a:p>
            <a:pPr algn="ctr"/>
          </a:p>
        </p:txBody>
      </p:sp>
      <p:pic>
        <p:nvPicPr>
          <p:cNvPr id="23" name="Picture 22" descr="LuMail_c.png"/>
          <p:cNvPicPr>
            <a:picLocks noChangeAspect="1"/>
          </p:cNvPicPr>
          <p:nvPr/>
        </p:nvPicPr>
        <p:blipFill>
          <a:blip r:embed="rId7"/>
          <a:stretch>
            <a:fillRect/>
          </a:stretch>
        </p:blipFill>
        <p:spPr>
          <a:xfrm>
            <a:off x="8275320" y="1956816"/>
            <a:ext cx="274320" cy="274320"/>
          </a:xfrm>
          <a:prstGeom prst="rect">
            <a:avLst/>
          </a:prstGeom>
        </p:spPr>
      </p:pic>
      <p:sp>
        <p:nvSpPr>
          <p:cNvPr id="24" name="TextBox 23"/>
          <p:cNvSpPr txBox="1"/>
          <p:nvPr/>
        </p:nvSpPr>
        <p:spPr>
          <a:xfrm>
            <a:off x="8275320" y="2286000"/>
            <a:ext cx="1188720" cy="420624"/>
          </a:xfrm>
          <a:prstGeom prst="rect">
            <a:avLst/>
          </a:prstGeom>
          <a:noFill/>
        </p:spPr>
        <p:txBody>
          <a:bodyPr wrap="square" lIns="0" tIns="0" rIns="0" bIns="0" anchor="t">
            <a:noAutofit/>
          </a:bodyPr>
          <a:lstStyle/>
          <a:p>
            <a:pPr algn="l">
              <a:lnSpc>
                <a:spcPct val="92000"/>
              </a:lnSpc>
              <a:spcAft>
                <a:spcPts val="0"/>
              </a:spcAft>
            </a:pPr>
            <a:r>
              <a:rPr sz="1200" b="1" i="0">
                <a:solidFill>
                  <a:srgbClr val="333D47"/>
                </a:solidFill>
                <a:latin typeface="Arial"/>
              </a:rPr>
              <a:t>Search emails and chats</a:t>
            </a:r>
          </a:p>
        </p:txBody>
      </p:sp>
      <p:sp>
        <p:nvSpPr>
          <p:cNvPr id="25" name="Rounded Rectangle 24"/>
          <p:cNvSpPr/>
          <p:nvPr/>
        </p:nvSpPr>
        <p:spPr>
          <a:xfrm>
            <a:off x="8138160" y="3328416"/>
            <a:ext cx="1417320" cy="896112"/>
          </a:xfrm>
          <a:prstGeom prst="roundRect">
            <a:avLst>
              <a:gd name="adj" fmla="val 8163"/>
            </a:avLst>
          </a:prstGeom>
          <a:solidFill>
            <a:srgbClr val="F4F1EF"/>
          </a:solidFill>
          <a:ln>
            <a:noFill/>
          </a:ln>
        </p:spPr>
        <p:txBody>
          <a:bodyPr rtlCol="0" anchor="ctr"/>
          <a:lstStyle/>
          <a:p>
            <a:pPr algn="ctr"/>
          </a:p>
        </p:txBody>
      </p:sp>
      <p:pic>
        <p:nvPicPr>
          <p:cNvPr id="26" name="Picture 25" descr="LuGlobe_c.png"/>
          <p:cNvPicPr>
            <a:picLocks noChangeAspect="1"/>
          </p:cNvPicPr>
          <p:nvPr/>
        </p:nvPicPr>
        <p:blipFill>
          <a:blip r:embed="rId8"/>
          <a:stretch>
            <a:fillRect/>
          </a:stretch>
        </p:blipFill>
        <p:spPr>
          <a:xfrm>
            <a:off x="8275320" y="3456432"/>
            <a:ext cx="274320" cy="274320"/>
          </a:xfrm>
          <a:prstGeom prst="rect">
            <a:avLst/>
          </a:prstGeom>
        </p:spPr>
      </p:pic>
      <p:sp>
        <p:nvSpPr>
          <p:cNvPr id="27" name="TextBox 26"/>
          <p:cNvSpPr txBox="1"/>
          <p:nvPr/>
        </p:nvSpPr>
        <p:spPr>
          <a:xfrm>
            <a:off x="8275320" y="3785616"/>
            <a:ext cx="1188720" cy="420624"/>
          </a:xfrm>
          <a:prstGeom prst="rect">
            <a:avLst/>
          </a:prstGeom>
          <a:noFill/>
        </p:spPr>
        <p:txBody>
          <a:bodyPr wrap="square" lIns="0" tIns="0" rIns="0" bIns="0" anchor="t">
            <a:noAutofit/>
          </a:bodyPr>
          <a:lstStyle/>
          <a:p>
            <a:pPr algn="l">
              <a:lnSpc>
                <a:spcPct val="92000"/>
              </a:lnSpc>
              <a:spcAft>
                <a:spcPts val="0"/>
              </a:spcAft>
            </a:pPr>
            <a:r>
              <a:rPr sz="1200" b="1" i="0">
                <a:solidFill>
                  <a:srgbClr val="333D47"/>
                </a:solidFill>
                <a:latin typeface="Arial"/>
              </a:rPr>
              <a:t>Check external information</a:t>
            </a:r>
          </a:p>
        </p:txBody>
      </p:sp>
      <p:sp>
        <p:nvSpPr>
          <p:cNvPr id="28" name="Rounded Rectangle 27"/>
          <p:cNvSpPr/>
          <p:nvPr/>
        </p:nvSpPr>
        <p:spPr>
          <a:xfrm>
            <a:off x="6355080" y="3328416"/>
            <a:ext cx="1417320" cy="896112"/>
          </a:xfrm>
          <a:prstGeom prst="roundRect">
            <a:avLst>
              <a:gd name="adj" fmla="val 8163"/>
            </a:avLst>
          </a:prstGeom>
          <a:solidFill>
            <a:srgbClr val="F4F1EF"/>
          </a:solidFill>
          <a:ln>
            <a:noFill/>
          </a:ln>
        </p:spPr>
        <p:txBody>
          <a:bodyPr rtlCol="0" anchor="ctr"/>
          <a:lstStyle/>
          <a:p>
            <a:pPr algn="ctr"/>
          </a:p>
        </p:txBody>
      </p:sp>
      <p:pic>
        <p:nvPicPr>
          <p:cNvPr id="29" name="Picture 28" descr="LuChartColumn_c.png"/>
          <p:cNvPicPr>
            <a:picLocks noChangeAspect="1"/>
          </p:cNvPicPr>
          <p:nvPr/>
        </p:nvPicPr>
        <p:blipFill>
          <a:blip r:embed="rId9"/>
          <a:stretch>
            <a:fillRect/>
          </a:stretch>
        </p:blipFill>
        <p:spPr>
          <a:xfrm>
            <a:off x="6492240" y="3456432"/>
            <a:ext cx="274320" cy="274320"/>
          </a:xfrm>
          <a:prstGeom prst="rect">
            <a:avLst/>
          </a:prstGeom>
        </p:spPr>
      </p:pic>
      <p:sp>
        <p:nvSpPr>
          <p:cNvPr id="30" name="TextBox 29"/>
          <p:cNvSpPr txBox="1"/>
          <p:nvPr/>
        </p:nvSpPr>
        <p:spPr>
          <a:xfrm>
            <a:off x="6492240" y="3785616"/>
            <a:ext cx="1188720" cy="420624"/>
          </a:xfrm>
          <a:prstGeom prst="rect">
            <a:avLst/>
          </a:prstGeom>
          <a:noFill/>
        </p:spPr>
        <p:txBody>
          <a:bodyPr wrap="square" lIns="0" tIns="0" rIns="0" bIns="0" anchor="t">
            <a:noAutofit/>
          </a:bodyPr>
          <a:lstStyle/>
          <a:p>
            <a:pPr algn="l">
              <a:lnSpc>
                <a:spcPct val="92000"/>
              </a:lnSpc>
              <a:spcAft>
                <a:spcPts val="0"/>
              </a:spcAft>
            </a:pPr>
            <a:r>
              <a:rPr sz="1200" b="1" i="0">
                <a:solidFill>
                  <a:srgbClr val="333D47"/>
                </a:solidFill>
                <a:latin typeface="Arial"/>
              </a:rPr>
              <a:t>Analyse</a:t>
            </a:r>
          </a:p>
        </p:txBody>
      </p:sp>
      <p:sp>
        <p:nvSpPr>
          <p:cNvPr id="31" name="Rounded Rectangle 30"/>
          <p:cNvSpPr/>
          <p:nvPr/>
        </p:nvSpPr>
        <p:spPr>
          <a:xfrm>
            <a:off x="6903720" y="3182112"/>
            <a:ext cx="822960" cy="256032"/>
          </a:xfrm>
          <a:prstGeom prst="roundRect">
            <a:avLst>
              <a:gd name="adj" fmla="val 50000"/>
            </a:avLst>
          </a:prstGeom>
          <a:solidFill>
            <a:srgbClr val="FBE8ED"/>
          </a:solidFill>
          <a:ln w="12700">
            <a:solidFill>
              <a:srgbClr val="F2B6C6"/>
            </a:solidFill>
          </a:ln>
        </p:spPr>
        <p:txBody>
          <a:bodyPr rtlCol="0" anchor="ctr" wrap="square" lIns="36576" tIns="36576" rIns="36576" bIns="36576">
            <a:noAutofit/>
          </a:bodyPr>
          <a:lstStyle/>
          <a:p>
            <a:pPr algn="ctr">
              <a:spcAft>
                <a:spcPts val="0"/>
              </a:spcAft>
            </a:pPr>
            <a:r>
              <a:rPr sz="900" b="1" i="0" spc="0">
                <a:solidFill>
                  <a:srgbClr val="D31145"/>
                </a:solidFill>
                <a:latin typeface="Arial"/>
              </a:rPr>
              <a:t>AI can help</a:t>
            </a:r>
          </a:p>
        </p:txBody>
      </p:sp>
      <p:sp>
        <p:nvSpPr>
          <p:cNvPr id="32" name="Rounded Rectangle 31"/>
          <p:cNvSpPr/>
          <p:nvPr/>
        </p:nvSpPr>
        <p:spPr>
          <a:xfrm>
            <a:off x="4572000" y="3328416"/>
            <a:ext cx="1417320" cy="896112"/>
          </a:xfrm>
          <a:prstGeom prst="roundRect">
            <a:avLst>
              <a:gd name="adj" fmla="val 8163"/>
            </a:avLst>
          </a:prstGeom>
          <a:solidFill>
            <a:srgbClr val="F4F1EF"/>
          </a:solidFill>
          <a:ln>
            <a:noFill/>
          </a:ln>
        </p:spPr>
        <p:txBody>
          <a:bodyPr rtlCol="0" anchor="ctr"/>
          <a:lstStyle/>
          <a:p>
            <a:pPr algn="ctr"/>
          </a:p>
        </p:txBody>
      </p:sp>
      <p:pic>
        <p:nvPicPr>
          <p:cNvPr id="33" name="Picture 32" descr="LuCopy_c.png"/>
          <p:cNvPicPr>
            <a:picLocks noChangeAspect="1"/>
          </p:cNvPicPr>
          <p:nvPr/>
        </p:nvPicPr>
        <p:blipFill>
          <a:blip r:embed="rId10"/>
          <a:stretch>
            <a:fillRect/>
          </a:stretch>
        </p:blipFill>
        <p:spPr>
          <a:xfrm>
            <a:off x="4709160" y="3456432"/>
            <a:ext cx="274320" cy="274320"/>
          </a:xfrm>
          <a:prstGeom prst="rect">
            <a:avLst/>
          </a:prstGeom>
        </p:spPr>
      </p:pic>
      <p:sp>
        <p:nvSpPr>
          <p:cNvPr id="34" name="TextBox 33"/>
          <p:cNvSpPr txBox="1"/>
          <p:nvPr/>
        </p:nvSpPr>
        <p:spPr>
          <a:xfrm>
            <a:off x="4709160" y="3785616"/>
            <a:ext cx="1188720" cy="420624"/>
          </a:xfrm>
          <a:prstGeom prst="rect">
            <a:avLst/>
          </a:prstGeom>
          <a:noFill/>
        </p:spPr>
        <p:txBody>
          <a:bodyPr wrap="square" lIns="0" tIns="0" rIns="0" bIns="0" anchor="t">
            <a:noAutofit/>
          </a:bodyPr>
          <a:lstStyle/>
          <a:p>
            <a:pPr algn="l">
              <a:lnSpc>
                <a:spcPct val="92000"/>
              </a:lnSpc>
              <a:spcAft>
                <a:spcPts val="0"/>
              </a:spcAft>
            </a:pPr>
            <a:r>
              <a:rPr sz="1200" b="1" i="0">
                <a:solidFill>
                  <a:srgbClr val="333D47"/>
                </a:solidFill>
                <a:latin typeface="Arial"/>
              </a:rPr>
              <a:t>Combine outputs</a:t>
            </a:r>
          </a:p>
        </p:txBody>
      </p:sp>
      <p:sp>
        <p:nvSpPr>
          <p:cNvPr id="35" name="Rounded Rectangle 34"/>
          <p:cNvSpPr/>
          <p:nvPr/>
        </p:nvSpPr>
        <p:spPr>
          <a:xfrm>
            <a:off x="2788920" y="3328416"/>
            <a:ext cx="1417320" cy="896112"/>
          </a:xfrm>
          <a:prstGeom prst="roundRect">
            <a:avLst>
              <a:gd name="adj" fmla="val 8163"/>
            </a:avLst>
          </a:prstGeom>
          <a:solidFill>
            <a:srgbClr val="F4F1EF"/>
          </a:solidFill>
          <a:ln>
            <a:noFill/>
          </a:ln>
        </p:spPr>
        <p:txBody>
          <a:bodyPr rtlCol="0" anchor="ctr"/>
          <a:lstStyle/>
          <a:p>
            <a:pPr algn="ctr"/>
          </a:p>
        </p:txBody>
      </p:sp>
      <p:pic>
        <p:nvPicPr>
          <p:cNvPr id="36" name="Picture 35" descr="LuFilePen_c.png"/>
          <p:cNvPicPr>
            <a:picLocks noChangeAspect="1"/>
          </p:cNvPicPr>
          <p:nvPr/>
        </p:nvPicPr>
        <p:blipFill>
          <a:blip r:embed="rId11"/>
          <a:stretch>
            <a:fillRect/>
          </a:stretch>
        </p:blipFill>
        <p:spPr>
          <a:xfrm>
            <a:off x="2926080" y="3456432"/>
            <a:ext cx="274320" cy="274320"/>
          </a:xfrm>
          <a:prstGeom prst="rect">
            <a:avLst/>
          </a:prstGeom>
        </p:spPr>
      </p:pic>
      <p:sp>
        <p:nvSpPr>
          <p:cNvPr id="37" name="TextBox 36"/>
          <p:cNvSpPr txBox="1"/>
          <p:nvPr/>
        </p:nvSpPr>
        <p:spPr>
          <a:xfrm>
            <a:off x="2926080" y="3785616"/>
            <a:ext cx="1188720" cy="420624"/>
          </a:xfrm>
          <a:prstGeom prst="rect">
            <a:avLst/>
          </a:prstGeom>
          <a:noFill/>
        </p:spPr>
        <p:txBody>
          <a:bodyPr wrap="square" lIns="0" tIns="0" rIns="0" bIns="0" anchor="t">
            <a:noAutofit/>
          </a:bodyPr>
          <a:lstStyle/>
          <a:p>
            <a:pPr algn="l">
              <a:lnSpc>
                <a:spcPct val="92000"/>
              </a:lnSpc>
              <a:spcAft>
                <a:spcPts val="0"/>
              </a:spcAft>
            </a:pPr>
            <a:r>
              <a:rPr sz="1200" b="1" i="0">
                <a:solidFill>
                  <a:srgbClr val="333D47"/>
                </a:solidFill>
                <a:latin typeface="Arial"/>
              </a:rPr>
              <a:t>Draft the result</a:t>
            </a:r>
          </a:p>
        </p:txBody>
      </p:sp>
      <p:sp>
        <p:nvSpPr>
          <p:cNvPr id="38" name="Rounded Rectangle 37"/>
          <p:cNvSpPr/>
          <p:nvPr/>
        </p:nvSpPr>
        <p:spPr>
          <a:xfrm>
            <a:off x="3337560" y="3182112"/>
            <a:ext cx="822960" cy="256032"/>
          </a:xfrm>
          <a:prstGeom prst="roundRect">
            <a:avLst>
              <a:gd name="adj" fmla="val 50000"/>
            </a:avLst>
          </a:prstGeom>
          <a:solidFill>
            <a:srgbClr val="FBE8ED"/>
          </a:solidFill>
          <a:ln w="12700">
            <a:solidFill>
              <a:srgbClr val="F2B6C6"/>
            </a:solidFill>
          </a:ln>
        </p:spPr>
        <p:txBody>
          <a:bodyPr rtlCol="0" anchor="ctr" wrap="square" lIns="36576" tIns="36576" rIns="36576" bIns="36576">
            <a:noAutofit/>
          </a:bodyPr>
          <a:lstStyle/>
          <a:p>
            <a:pPr algn="ctr">
              <a:spcAft>
                <a:spcPts val="0"/>
              </a:spcAft>
            </a:pPr>
            <a:r>
              <a:rPr sz="900" b="1" i="0" spc="0">
                <a:solidFill>
                  <a:srgbClr val="D31145"/>
                </a:solidFill>
                <a:latin typeface="Arial"/>
              </a:rPr>
              <a:t>AI can help</a:t>
            </a:r>
          </a:p>
        </p:txBody>
      </p:sp>
      <p:cxnSp>
        <p:nvCxnSpPr>
          <p:cNvPr id="39" name="Connector 38"/>
          <p:cNvCxnSpPr/>
          <p:nvPr/>
        </p:nvCxnSpPr>
        <p:spPr>
          <a:xfrm>
            <a:off x="4251960" y="2276856"/>
            <a:ext cx="274320" cy="0"/>
          </a:xfrm>
          <a:prstGeom prst="line">
            <a:avLst/>
          </a:prstGeom>
          <a:ln w="19050">
            <a:solidFill>
              <a:srgbClr val="9B928B"/>
            </a:solidFill>
            <a:tailEnd type="triangle" w="med" len="med"/>
          </a:ln>
        </p:spPr>
      </p:cxnSp>
      <p:cxnSp>
        <p:nvCxnSpPr>
          <p:cNvPr id="40" name="Connector 39"/>
          <p:cNvCxnSpPr/>
          <p:nvPr/>
        </p:nvCxnSpPr>
        <p:spPr>
          <a:xfrm>
            <a:off x="6035040" y="2276856"/>
            <a:ext cx="274320" cy="0"/>
          </a:xfrm>
          <a:prstGeom prst="line">
            <a:avLst/>
          </a:prstGeom>
          <a:ln w="19050">
            <a:solidFill>
              <a:srgbClr val="9B928B"/>
            </a:solidFill>
            <a:tailEnd type="triangle" w="med" len="med"/>
          </a:ln>
        </p:spPr>
      </p:cxnSp>
      <p:cxnSp>
        <p:nvCxnSpPr>
          <p:cNvPr id="41" name="Connector 40"/>
          <p:cNvCxnSpPr/>
          <p:nvPr/>
        </p:nvCxnSpPr>
        <p:spPr>
          <a:xfrm>
            <a:off x="7818120" y="2276856"/>
            <a:ext cx="274320" cy="0"/>
          </a:xfrm>
          <a:prstGeom prst="line">
            <a:avLst/>
          </a:prstGeom>
          <a:ln w="19050">
            <a:solidFill>
              <a:srgbClr val="9B928B"/>
            </a:solidFill>
            <a:tailEnd type="triangle" w="med" len="med"/>
          </a:ln>
        </p:spPr>
      </p:cxnSp>
      <p:cxnSp>
        <p:nvCxnSpPr>
          <p:cNvPr id="42" name="Connector 41"/>
          <p:cNvCxnSpPr/>
          <p:nvPr/>
        </p:nvCxnSpPr>
        <p:spPr>
          <a:xfrm>
            <a:off x="8846820" y="2761488"/>
            <a:ext cx="0" cy="530352"/>
          </a:xfrm>
          <a:prstGeom prst="line">
            <a:avLst/>
          </a:prstGeom>
          <a:ln w="19050">
            <a:solidFill>
              <a:srgbClr val="9B928B"/>
            </a:solidFill>
            <a:tailEnd type="triangle" w="med" len="med"/>
          </a:ln>
        </p:spPr>
      </p:cxnSp>
      <p:cxnSp>
        <p:nvCxnSpPr>
          <p:cNvPr id="43" name="Connector 42"/>
          <p:cNvCxnSpPr/>
          <p:nvPr/>
        </p:nvCxnSpPr>
        <p:spPr>
          <a:xfrm flipH="1">
            <a:off x="7818120" y="3776472"/>
            <a:ext cx="274320" cy="0"/>
          </a:xfrm>
          <a:prstGeom prst="line">
            <a:avLst/>
          </a:prstGeom>
          <a:ln w="19050">
            <a:solidFill>
              <a:srgbClr val="9B928B"/>
            </a:solidFill>
            <a:tailEnd type="triangle" w="med" len="med"/>
          </a:ln>
        </p:spPr>
      </p:cxnSp>
      <p:cxnSp>
        <p:nvCxnSpPr>
          <p:cNvPr id="44" name="Connector 43"/>
          <p:cNvCxnSpPr/>
          <p:nvPr/>
        </p:nvCxnSpPr>
        <p:spPr>
          <a:xfrm flipH="1">
            <a:off x="6035040" y="3776472"/>
            <a:ext cx="274320" cy="0"/>
          </a:xfrm>
          <a:prstGeom prst="line">
            <a:avLst/>
          </a:prstGeom>
          <a:ln w="19050">
            <a:solidFill>
              <a:srgbClr val="9B928B"/>
            </a:solidFill>
            <a:tailEnd type="triangle" w="med" len="med"/>
          </a:ln>
        </p:spPr>
      </p:cxnSp>
      <p:cxnSp>
        <p:nvCxnSpPr>
          <p:cNvPr id="45" name="Connector 44"/>
          <p:cNvCxnSpPr/>
          <p:nvPr/>
        </p:nvCxnSpPr>
        <p:spPr>
          <a:xfrm flipH="1">
            <a:off x="4251960" y="3776472"/>
            <a:ext cx="274320" cy="0"/>
          </a:xfrm>
          <a:prstGeom prst="line">
            <a:avLst/>
          </a:prstGeom>
          <a:ln w="19050">
            <a:solidFill>
              <a:srgbClr val="9B928B"/>
            </a:solidFill>
            <a:tailEnd type="triangle" w="med" len="med"/>
          </a:ln>
        </p:spPr>
      </p:cxnSp>
      <p:cxnSp>
        <p:nvCxnSpPr>
          <p:cNvPr id="46" name="Connector 45"/>
          <p:cNvCxnSpPr/>
          <p:nvPr/>
        </p:nvCxnSpPr>
        <p:spPr>
          <a:xfrm>
            <a:off x="2441448" y="2276856"/>
            <a:ext cx="301752" cy="0"/>
          </a:xfrm>
          <a:prstGeom prst="line">
            <a:avLst/>
          </a:prstGeom>
          <a:ln w="19050">
            <a:solidFill>
              <a:srgbClr val="9B928B"/>
            </a:solidFill>
            <a:tailEnd type="triangle" w="med" len="med"/>
          </a:ln>
        </p:spPr>
      </p:cxnSp>
      <p:cxnSp>
        <p:nvCxnSpPr>
          <p:cNvPr id="47" name="Connector 46"/>
          <p:cNvCxnSpPr/>
          <p:nvPr/>
        </p:nvCxnSpPr>
        <p:spPr>
          <a:xfrm flipH="1">
            <a:off x="2441448" y="3776472"/>
            <a:ext cx="301752" cy="0"/>
          </a:xfrm>
          <a:prstGeom prst="line">
            <a:avLst/>
          </a:prstGeom>
          <a:ln w="19050">
            <a:solidFill>
              <a:srgbClr val="D31145"/>
            </a:solidFill>
            <a:tailEnd type="triangle" w="med" len="med"/>
          </a:ln>
        </p:spPr>
      </p:cxnSp>
      <p:sp>
        <p:nvSpPr>
          <p:cNvPr id="48" name="Rounded Rectangle 47"/>
          <p:cNvSpPr/>
          <p:nvPr/>
        </p:nvSpPr>
        <p:spPr>
          <a:xfrm>
            <a:off x="2788920" y="4434840"/>
            <a:ext cx="6766560" cy="475488"/>
          </a:xfrm>
          <a:prstGeom prst="roundRect">
            <a:avLst>
              <a:gd name="adj" fmla="val 15384"/>
            </a:avLst>
          </a:prstGeom>
          <a:solidFill>
            <a:srgbClr val="333D47"/>
          </a:solidFill>
          <a:ln>
            <a:noFill/>
          </a:ln>
        </p:spPr>
        <p:txBody>
          <a:bodyPr rtlCol="0" anchor="ctr"/>
          <a:lstStyle/>
          <a:p>
            <a:pPr algn="ctr"/>
          </a:p>
        </p:txBody>
      </p:sp>
      <p:pic>
        <p:nvPicPr>
          <p:cNvPr id="49" name="Picture 48" descr="LuUser_w.png"/>
          <p:cNvPicPr>
            <a:picLocks noChangeAspect="1"/>
          </p:cNvPicPr>
          <p:nvPr/>
        </p:nvPicPr>
        <p:blipFill>
          <a:blip r:embed="rId12"/>
          <a:stretch>
            <a:fillRect/>
          </a:stretch>
        </p:blipFill>
        <p:spPr>
          <a:xfrm>
            <a:off x="2953512" y="4535424"/>
            <a:ext cx="274320" cy="274320"/>
          </a:xfrm>
          <a:prstGeom prst="rect">
            <a:avLst/>
          </a:prstGeom>
        </p:spPr>
      </p:pic>
      <p:sp>
        <p:nvSpPr>
          <p:cNvPr id="50" name="TextBox 49"/>
          <p:cNvSpPr txBox="1"/>
          <p:nvPr/>
        </p:nvSpPr>
        <p:spPr>
          <a:xfrm>
            <a:off x="3355848" y="4434840"/>
            <a:ext cx="6217920" cy="475488"/>
          </a:xfrm>
          <a:prstGeom prst="rect">
            <a:avLst/>
          </a:prstGeom>
          <a:noFill/>
        </p:spPr>
        <p:txBody>
          <a:bodyPr wrap="square" lIns="0" tIns="0" rIns="0" bIns="0" anchor="ctr">
            <a:noAutofit/>
          </a:bodyPr>
          <a:lstStyle/>
          <a:p>
            <a:pPr algn="l">
              <a:spcAft>
                <a:spcPts val="0"/>
              </a:spcAft>
            </a:pPr>
            <a:r>
              <a:rPr sz="1350" b="1" i="0">
                <a:solidFill>
                  <a:srgbClr val="FFFFFF"/>
                </a:solidFill>
                <a:latin typeface="Arial"/>
              </a:rPr>
              <a:t>The employee does, checks and joins every step, by hand.</a:t>
            </a:r>
          </a:p>
        </p:txBody>
      </p:sp>
      <p:sp>
        <p:nvSpPr>
          <p:cNvPr id="51" name="TextBox 50"/>
          <p:cNvSpPr txBox="1"/>
          <p:nvPr/>
        </p:nvSpPr>
        <p:spPr>
          <a:xfrm>
            <a:off x="9875520" y="1828800"/>
            <a:ext cx="1956816" cy="1188720"/>
          </a:xfrm>
          <a:prstGeom prst="rect">
            <a:avLst/>
          </a:prstGeom>
          <a:noFill/>
        </p:spPr>
        <p:txBody>
          <a:bodyPr wrap="square" lIns="0" tIns="0" rIns="0" bIns="0" anchor="t">
            <a:noAutofit/>
          </a:bodyPr>
          <a:lstStyle/>
          <a:p>
            <a:pPr algn="l">
              <a:lnSpc>
                <a:spcPct val="100000"/>
              </a:lnSpc>
              <a:spcAft>
                <a:spcPts val="0"/>
              </a:spcAft>
            </a:pPr>
            <a:r>
              <a:rPr sz="1900" b="1" i="0">
                <a:solidFill>
                  <a:srgbClr val="D31145"/>
                </a:solidFill>
                <a:latin typeface="Arial"/>
              </a:rPr>
              <a:t>Today, the employee is the connector.</a:t>
            </a:r>
          </a:p>
        </p:txBody>
      </p:sp>
      <p:sp>
        <p:nvSpPr>
          <p:cNvPr id="52" name="TextBox 51"/>
          <p:cNvSpPr txBox="1"/>
          <p:nvPr/>
        </p:nvSpPr>
        <p:spPr>
          <a:xfrm>
            <a:off x="9875520" y="3017520"/>
            <a:ext cx="1956816" cy="164592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As AIA adds more systems and AI capabilities, employees may still be left coordinating work across them by hand.</a:t>
            </a:r>
          </a:p>
        </p:txBody>
      </p:sp>
      <p:sp>
        <p:nvSpPr>
          <p:cNvPr id="53" name="Rounded Rectangle 52"/>
          <p:cNvSpPr/>
          <p:nvPr/>
        </p:nvSpPr>
        <p:spPr>
          <a:xfrm>
            <a:off x="356616" y="5440680"/>
            <a:ext cx="1325880" cy="274320"/>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1000" b="1" i="0" spc="50">
                <a:solidFill>
                  <a:srgbClr val="D31145"/>
                </a:solidFill>
                <a:latin typeface="Arial"/>
              </a:rPr>
              <a:t>OBSERVATION</a:t>
            </a:r>
          </a:p>
        </p:txBody>
      </p:sp>
      <p:sp>
        <p:nvSpPr>
          <p:cNvPr id="54" name="TextBox 53"/>
          <p:cNvSpPr txBox="1"/>
          <p:nvPr/>
        </p:nvSpPr>
        <p:spPr>
          <a:xfrm>
            <a:off x="1810512" y="5422392"/>
            <a:ext cx="9144000" cy="329184"/>
          </a:xfrm>
          <a:prstGeom prst="rect">
            <a:avLst/>
          </a:prstGeom>
          <a:noFill/>
        </p:spPr>
        <p:txBody>
          <a:bodyPr wrap="square" lIns="0" tIns="0" rIns="0" bIns="0" anchor="ctr">
            <a:noAutofit/>
          </a:bodyPr>
          <a:lstStyle/>
          <a:p>
            <a:pPr algn="l">
              <a:spcAft>
                <a:spcPts val="0"/>
              </a:spcAft>
            </a:pPr>
            <a:r>
              <a:rPr sz="1250" b="0" i="0">
                <a:solidFill>
                  <a:srgbClr val="5F6770"/>
                </a:solidFill>
                <a:latin typeface="Arial"/>
              </a:rPr>
              <a:t>From what I observe across AIA. An observation, not yet a measured finding.</a:t>
            </a:r>
          </a:p>
        </p:txBody>
      </p:sp>
      <p:sp>
        <p:nvSpPr>
          <p:cNvPr id="55" name="Slide Number Placeholder"/>
          <p:cNvSpPr>
            <a:spLocks noGrp="1"/>
          </p:cNvSpPr>
          <p:nvPr>
            <p:ph type="sldNum" sz="quarter" idx="4"/>
          </p:nvPr>
        </p:nvSpPr>
        <p:spPr/>
        <p:txBody>
          <a:bodyPr/>
          <a:lstStyle/>
          <a:p>
            <a:fld id="{18A41853-EF22-D446-BDBC-A7CF3FE93503}" type="slidenum">
              <a:rPr lang="en-US"/>
              <a:t>2</a:t>
            </a:fld>
            <a:endParaRPr lang="en-US"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From AI as a tool to AI as a coworker</a:t>
            </a:r>
          </a:p>
        </p:txBody>
      </p:sp>
      <p:sp>
        <p:nvSpPr>
          <p:cNvPr id="50" name="Slide Number Placeholder"/>
          <p:cNvSpPr>
            <a:spLocks noGrp="1"/>
          </p:cNvSpPr>
          <p:nvPr>
            <p:ph type="sldNum" sz="quarter" idx="4"/>
          </p:nvPr>
        </p:nvSpPr>
        <p:spPr/>
        <p:txBody>
          <a:bodyPr/>
          <a:lstStyle/>
          <a:p>
            <a:fld id="{18A41853-EF22-D446-BDBC-A7CF3FE93503}" type="slidenum">
              <a:rPr lang="en-US"/>
              <a:t>3</a:t>
            </a:fld>
            <a:endParaRPr lang="en-US" dirty="0"/>
          </a:p>
        </p:txBody>
      </p:sp>
      <p:sp>
        <p:nvSpPr>
          <p:cNvPr id="51" name="TextBox 50"/>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CREATIVITY  ·  WHAT RILEY IS</a:t>
            </a:r>
          </a:p>
        </p:txBody>
      </p:sp>
      <p:sp>
        <p:nvSpPr>
          <p:cNvPr id="52" name="TextBox 51"/>
          <p:cNvSpPr txBox="1"/>
          <p:nvPr/>
        </p:nvSpPr>
        <p:spPr>
          <a:xfrm>
            <a:off x="356616" y="1024128"/>
            <a:ext cx="11155680" cy="365760"/>
          </a:xfrm>
          <a:prstGeom prst="rect">
            <a:avLst/>
          </a:prstGeom>
          <a:noFill/>
        </p:spPr>
        <p:txBody>
          <a:bodyPr wrap="square" lIns="0" tIns="0" rIns="0" bIns="0" anchor="t">
            <a:noAutofit/>
          </a:bodyPr>
          <a:lstStyle/>
          <a:p>
            <a:pPr algn="l">
              <a:spcAft>
                <a:spcPts val="0"/>
              </a:spcAft>
            </a:pPr>
            <a:r>
              <a:rPr sz="1800" b="0" i="0">
                <a:solidFill>
                  <a:srgbClr val="5F6770"/>
                </a:solidFill>
                <a:latin typeface="Arial"/>
              </a:rPr>
              <a:t>You keep the judgment. Riley takes on the digital legwork.</a:t>
            </a:r>
          </a:p>
        </p:txBody>
      </p:sp>
      <p:sp>
        <p:nvSpPr>
          <p:cNvPr id="53" name="Rounded Rectangle 52"/>
          <p:cNvSpPr/>
          <p:nvPr/>
        </p:nvSpPr>
        <p:spPr>
          <a:xfrm>
            <a:off x="356616" y="1572768"/>
            <a:ext cx="4983480" cy="2331720"/>
          </a:xfrm>
          <a:prstGeom prst="roundRect">
            <a:avLst>
              <a:gd name="adj" fmla="val 4705"/>
            </a:avLst>
          </a:prstGeom>
          <a:solidFill>
            <a:srgbClr val="F4F1EF"/>
          </a:solidFill>
          <a:ln>
            <a:noFill/>
          </a:ln>
        </p:spPr>
        <p:txBody>
          <a:bodyPr rtlCol="0" anchor="ctr"/>
          <a:lstStyle/>
          <a:p>
            <a:pPr algn="ctr"/>
          </a:p>
        </p:txBody>
      </p:sp>
      <p:sp>
        <p:nvSpPr>
          <p:cNvPr id="54" name="TextBox 53"/>
          <p:cNvSpPr txBox="1"/>
          <p:nvPr/>
        </p:nvSpPr>
        <p:spPr>
          <a:xfrm>
            <a:off x="594360" y="1773936"/>
            <a:ext cx="4572000" cy="237744"/>
          </a:xfrm>
          <a:prstGeom prst="rect">
            <a:avLst/>
          </a:prstGeom>
          <a:noFill/>
        </p:spPr>
        <p:txBody>
          <a:bodyPr wrap="square" lIns="0" tIns="0" rIns="0" bIns="0" anchor="t">
            <a:noAutofit/>
          </a:bodyPr>
          <a:lstStyle/>
          <a:p>
            <a:pPr algn="l">
              <a:spcAft>
                <a:spcPts val="0"/>
              </a:spcAft>
            </a:pPr>
            <a:r>
              <a:rPr sz="1100" b="1" i="0" spc="100">
                <a:solidFill>
                  <a:srgbClr val="5F6770"/>
                </a:solidFill>
                <a:latin typeface="Arial"/>
              </a:rPr>
              <a:t>MOST AI TODAY: A TOOL</a:t>
            </a:r>
          </a:p>
        </p:txBody>
      </p:sp>
      <p:sp>
        <p:nvSpPr>
          <p:cNvPr id="55" name="TextBox 54"/>
          <p:cNvSpPr txBox="1"/>
          <p:nvPr/>
        </p:nvSpPr>
        <p:spPr>
          <a:xfrm>
            <a:off x="594360" y="2075688"/>
            <a:ext cx="4572000" cy="457200"/>
          </a:xfrm>
          <a:prstGeom prst="rect">
            <a:avLst/>
          </a:prstGeom>
          <a:noFill/>
        </p:spPr>
        <p:txBody>
          <a:bodyPr wrap="square" lIns="0" tIns="0" rIns="0" bIns="0" anchor="t">
            <a:noAutofit/>
          </a:bodyPr>
          <a:lstStyle/>
          <a:p>
            <a:pPr algn="l">
              <a:spcAft>
                <a:spcPts val="0"/>
              </a:spcAft>
            </a:pPr>
            <a:r>
              <a:rPr sz="2100" b="1" i="0">
                <a:solidFill>
                  <a:srgbClr val="333D47"/>
                </a:solidFill>
                <a:latin typeface="Arial"/>
              </a:rPr>
              <a:t>“Help me do this step.”</a:t>
            </a:r>
          </a:p>
        </p:txBody>
      </p:sp>
      <p:sp>
        <p:nvSpPr>
          <p:cNvPr id="56" name="Oval 55"/>
          <p:cNvSpPr/>
          <p:nvPr/>
        </p:nvSpPr>
        <p:spPr>
          <a:xfrm>
            <a:off x="640080" y="2980944"/>
            <a:ext cx="82296" cy="82296"/>
          </a:xfrm>
          <a:prstGeom prst="ellipse">
            <a:avLst/>
          </a:prstGeom>
          <a:solidFill>
            <a:srgbClr val="9B928B"/>
          </a:solidFill>
          <a:ln>
            <a:noFill/>
          </a:ln>
        </p:spPr>
        <p:txBody>
          <a:bodyPr rtlCol="0" anchor="ctr"/>
          <a:lstStyle/>
          <a:p>
            <a:pPr algn="ctr"/>
          </a:p>
        </p:txBody>
      </p:sp>
      <p:sp>
        <p:nvSpPr>
          <p:cNvPr id="57" name="TextBox 56"/>
          <p:cNvSpPr txBox="1"/>
          <p:nvPr/>
        </p:nvSpPr>
        <p:spPr>
          <a:xfrm>
            <a:off x="841248" y="2880360"/>
            <a:ext cx="4389120" cy="274320"/>
          </a:xfrm>
          <a:prstGeom prst="rect">
            <a:avLst/>
          </a:prstGeom>
          <a:noFill/>
        </p:spPr>
        <p:txBody>
          <a:bodyPr wrap="square" lIns="0" tIns="0" rIns="0" bIns="0" anchor="ctr">
            <a:noAutofit/>
          </a:bodyPr>
          <a:lstStyle/>
          <a:p>
            <a:pPr algn="l">
              <a:spcAft>
                <a:spcPts val="0"/>
              </a:spcAft>
            </a:pPr>
            <a:r>
              <a:rPr sz="1350" b="0" i="0">
                <a:solidFill>
                  <a:srgbClr val="333D47"/>
                </a:solidFill>
                <a:latin typeface="Arial"/>
              </a:rPr>
              <a:t>Another tool or screen to open</a:t>
            </a:r>
          </a:p>
        </p:txBody>
      </p:sp>
      <p:sp>
        <p:nvSpPr>
          <p:cNvPr id="58" name="Oval 57"/>
          <p:cNvSpPr/>
          <p:nvPr/>
        </p:nvSpPr>
        <p:spPr>
          <a:xfrm>
            <a:off x="640080" y="3282696"/>
            <a:ext cx="82296" cy="82296"/>
          </a:xfrm>
          <a:prstGeom prst="ellipse">
            <a:avLst/>
          </a:prstGeom>
          <a:solidFill>
            <a:srgbClr val="9B928B"/>
          </a:solidFill>
          <a:ln>
            <a:noFill/>
          </a:ln>
        </p:spPr>
        <p:txBody>
          <a:bodyPr rtlCol="0" anchor="ctr"/>
          <a:lstStyle/>
          <a:p>
            <a:pPr algn="ctr"/>
          </a:p>
        </p:txBody>
      </p:sp>
      <p:sp>
        <p:nvSpPr>
          <p:cNvPr id="59" name="TextBox 58"/>
          <p:cNvSpPr txBox="1"/>
          <p:nvPr/>
        </p:nvSpPr>
        <p:spPr>
          <a:xfrm>
            <a:off x="841248" y="3182112"/>
            <a:ext cx="4389120" cy="274320"/>
          </a:xfrm>
          <a:prstGeom prst="rect">
            <a:avLst/>
          </a:prstGeom>
          <a:noFill/>
        </p:spPr>
        <p:txBody>
          <a:bodyPr wrap="square" lIns="0" tIns="0" rIns="0" bIns="0" anchor="ctr">
            <a:noAutofit/>
          </a:bodyPr>
          <a:lstStyle/>
          <a:p>
            <a:pPr algn="l">
              <a:spcAft>
                <a:spcPts val="0"/>
              </a:spcAft>
            </a:pPr>
            <a:r>
              <a:rPr sz="1350" b="0" i="0">
                <a:solidFill>
                  <a:srgbClr val="333D47"/>
                </a:solidFill>
                <a:latin typeface="Arial"/>
              </a:rPr>
              <a:t>Helps with one task at a time</a:t>
            </a:r>
          </a:p>
        </p:txBody>
      </p:sp>
      <p:sp>
        <p:nvSpPr>
          <p:cNvPr id="60" name="Oval 59"/>
          <p:cNvSpPr/>
          <p:nvPr/>
        </p:nvSpPr>
        <p:spPr>
          <a:xfrm>
            <a:off x="640080" y="3584448"/>
            <a:ext cx="82296" cy="82296"/>
          </a:xfrm>
          <a:prstGeom prst="ellipse">
            <a:avLst/>
          </a:prstGeom>
          <a:solidFill>
            <a:srgbClr val="9B928B"/>
          </a:solidFill>
          <a:ln>
            <a:noFill/>
          </a:ln>
        </p:spPr>
        <p:txBody>
          <a:bodyPr rtlCol="0" anchor="ctr"/>
          <a:lstStyle/>
          <a:p>
            <a:pPr algn="ctr"/>
          </a:p>
        </p:txBody>
      </p:sp>
      <p:sp>
        <p:nvSpPr>
          <p:cNvPr id="61" name="TextBox 60"/>
          <p:cNvSpPr txBox="1"/>
          <p:nvPr/>
        </p:nvSpPr>
        <p:spPr>
          <a:xfrm>
            <a:off x="841248" y="3483864"/>
            <a:ext cx="4389120" cy="274320"/>
          </a:xfrm>
          <a:prstGeom prst="rect">
            <a:avLst/>
          </a:prstGeom>
          <a:noFill/>
        </p:spPr>
        <p:txBody>
          <a:bodyPr wrap="square" lIns="0" tIns="0" rIns="0" bIns="0" anchor="ctr">
            <a:noAutofit/>
          </a:bodyPr>
          <a:lstStyle/>
          <a:p>
            <a:pPr algn="l">
              <a:spcAft>
                <a:spcPts val="0"/>
              </a:spcAft>
            </a:pPr>
            <a:r>
              <a:rPr sz="1350" b="0" i="0">
                <a:solidFill>
                  <a:srgbClr val="333D47"/>
                </a:solidFill>
                <a:latin typeface="Arial"/>
              </a:rPr>
              <a:t>You still run and join the whole chain</a:t>
            </a:r>
          </a:p>
        </p:txBody>
      </p:sp>
      <p:cxnSp>
        <p:nvCxnSpPr>
          <p:cNvPr id="62" name="Connector 61"/>
          <p:cNvCxnSpPr/>
          <p:nvPr/>
        </p:nvCxnSpPr>
        <p:spPr>
          <a:xfrm>
            <a:off x="5413248" y="2738628"/>
            <a:ext cx="420624" cy="0"/>
          </a:xfrm>
          <a:prstGeom prst="line">
            <a:avLst/>
          </a:prstGeom>
          <a:ln w="31750">
            <a:solidFill>
              <a:srgbClr val="D31145"/>
            </a:solidFill>
            <a:tailEnd type="triangle" w="med" len="med"/>
          </a:ln>
        </p:spPr>
      </p:cxnSp>
      <p:sp>
        <p:nvSpPr>
          <p:cNvPr id="63" name="Rounded Rectangle 62"/>
          <p:cNvSpPr/>
          <p:nvPr/>
        </p:nvSpPr>
        <p:spPr>
          <a:xfrm>
            <a:off x="5897880" y="1572768"/>
            <a:ext cx="5934456" cy="2331720"/>
          </a:xfrm>
          <a:prstGeom prst="roundRect">
            <a:avLst>
              <a:gd name="adj" fmla="val 4705"/>
            </a:avLst>
          </a:prstGeom>
          <a:solidFill>
            <a:srgbClr val="D31145"/>
          </a:solidFill>
          <a:ln>
            <a:noFill/>
          </a:ln>
        </p:spPr>
        <p:txBody>
          <a:bodyPr rtlCol="0" anchor="ctr"/>
          <a:lstStyle/>
          <a:p>
            <a:pPr algn="ctr"/>
          </a:p>
        </p:txBody>
      </p:sp>
      <p:sp>
        <p:nvSpPr>
          <p:cNvPr id="64" name="Oval 63"/>
          <p:cNvSpPr/>
          <p:nvPr/>
        </p:nvSpPr>
        <p:spPr>
          <a:xfrm>
            <a:off x="6144768" y="1755648"/>
            <a:ext cx="329184" cy="329184"/>
          </a:xfrm>
          <a:prstGeom prst="ellipse">
            <a:avLst/>
          </a:prstGeom>
          <a:solidFill>
            <a:srgbClr val="FFFFFF"/>
          </a:solidFill>
          <a:ln>
            <a:noFill/>
          </a:ln>
        </p:spPr>
        <p:txBody>
          <a:bodyPr rtlCol="0" anchor="ctr" wrap="square" lIns="0" tIns="0" rIns="0" bIns="0">
            <a:noAutofit/>
          </a:bodyPr>
          <a:lstStyle/>
          <a:p>
            <a:pPr algn="ctr">
              <a:spcAft>
                <a:spcPts val="0"/>
              </a:spcAft>
            </a:pPr>
            <a:r>
              <a:rPr sz="1300" b="1" i="0">
                <a:solidFill>
                  <a:srgbClr val="D31145"/>
                </a:solidFill>
                <a:latin typeface="Arial"/>
              </a:rPr>
              <a:t>R</a:t>
            </a:r>
          </a:p>
        </p:txBody>
      </p:sp>
      <p:sp>
        <p:nvSpPr>
          <p:cNvPr id="65" name="TextBox 64"/>
          <p:cNvSpPr txBox="1"/>
          <p:nvPr/>
        </p:nvSpPr>
        <p:spPr>
          <a:xfrm>
            <a:off x="6583680" y="1755648"/>
            <a:ext cx="5029200" cy="329184"/>
          </a:xfrm>
          <a:prstGeom prst="rect">
            <a:avLst/>
          </a:prstGeom>
          <a:noFill/>
        </p:spPr>
        <p:txBody>
          <a:bodyPr wrap="square" lIns="0" tIns="0" rIns="0" bIns="0" anchor="ctr">
            <a:noAutofit/>
          </a:bodyPr>
          <a:lstStyle/>
          <a:p>
            <a:pPr algn="l">
              <a:spcAft>
                <a:spcPts val="0"/>
              </a:spcAft>
            </a:pPr>
            <a:r>
              <a:rPr sz="1100" b="1" i="0" spc="100">
                <a:solidFill>
                  <a:srgbClr val="FFFFFF"/>
                </a:solidFill>
                <a:latin typeface="Arial"/>
              </a:rPr>
              <a:t>RILEY: A COWORKER</a:t>
            </a:r>
          </a:p>
        </p:txBody>
      </p:sp>
      <p:sp>
        <p:nvSpPr>
          <p:cNvPr id="66" name="TextBox 65"/>
          <p:cNvSpPr txBox="1"/>
          <p:nvPr/>
        </p:nvSpPr>
        <p:spPr>
          <a:xfrm>
            <a:off x="6144768" y="2075688"/>
            <a:ext cx="5577840" cy="731520"/>
          </a:xfrm>
          <a:prstGeom prst="rect">
            <a:avLst/>
          </a:prstGeom>
          <a:noFill/>
        </p:spPr>
        <p:txBody>
          <a:bodyPr wrap="square" lIns="0" tIns="0" rIns="0" bIns="0" anchor="t">
            <a:noAutofit/>
          </a:bodyPr>
          <a:lstStyle/>
          <a:p>
            <a:pPr algn="l">
              <a:spcAft>
                <a:spcPts val="0"/>
              </a:spcAft>
            </a:pPr>
            <a:r>
              <a:rPr sz="2100" b="1" i="0">
                <a:solidFill>
                  <a:srgbClr val="FFFFFF"/>
                </a:solidFill>
                <a:latin typeface="Arial"/>
              </a:rPr>
              <a:t>“Take this outcome. Do the work in between.”</a:t>
            </a:r>
          </a:p>
        </p:txBody>
      </p:sp>
      <p:sp>
        <p:nvSpPr>
          <p:cNvPr id="67" name="Oval 66"/>
          <p:cNvSpPr/>
          <p:nvPr/>
        </p:nvSpPr>
        <p:spPr>
          <a:xfrm>
            <a:off x="6190488" y="2980944"/>
            <a:ext cx="82296" cy="82296"/>
          </a:xfrm>
          <a:prstGeom prst="ellipse">
            <a:avLst/>
          </a:prstGeom>
          <a:solidFill>
            <a:srgbClr val="FFFFFF"/>
          </a:solidFill>
          <a:ln>
            <a:noFill/>
          </a:ln>
        </p:spPr>
        <p:txBody>
          <a:bodyPr rtlCol="0" anchor="ctr"/>
          <a:lstStyle/>
          <a:p>
            <a:pPr algn="ctr"/>
          </a:p>
        </p:txBody>
      </p:sp>
      <p:sp>
        <p:nvSpPr>
          <p:cNvPr id="68" name="TextBox 67"/>
          <p:cNvSpPr txBox="1"/>
          <p:nvPr/>
        </p:nvSpPr>
        <p:spPr>
          <a:xfrm>
            <a:off x="6391656" y="2880360"/>
            <a:ext cx="5303520" cy="274320"/>
          </a:xfrm>
          <a:prstGeom prst="rect">
            <a:avLst/>
          </a:prstGeom>
          <a:noFill/>
        </p:spPr>
        <p:txBody>
          <a:bodyPr wrap="square" lIns="0" tIns="0" rIns="0" bIns="0" anchor="ctr">
            <a:noAutofit/>
          </a:bodyPr>
          <a:lstStyle/>
          <a:p>
            <a:pPr algn="l">
              <a:spcAft>
                <a:spcPts val="0"/>
              </a:spcAft>
            </a:pPr>
            <a:r>
              <a:rPr sz="1350" b="0" i="0">
                <a:solidFill>
                  <a:srgbClr val="FFFFFF"/>
                </a:solidFill>
                <a:latin typeface="Arial"/>
              </a:rPr>
              <a:t>One coworker, in the Teams you already use</a:t>
            </a:r>
          </a:p>
        </p:txBody>
      </p:sp>
      <p:sp>
        <p:nvSpPr>
          <p:cNvPr id="69" name="Oval 68"/>
          <p:cNvSpPr/>
          <p:nvPr/>
        </p:nvSpPr>
        <p:spPr>
          <a:xfrm>
            <a:off x="6190488" y="3282696"/>
            <a:ext cx="82296" cy="82296"/>
          </a:xfrm>
          <a:prstGeom prst="ellipse">
            <a:avLst/>
          </a:prstGeom>
          <a:solidFill>
            <a:srgbClr val="FFFFFF"/>
          </a:solidFill>
          <a:ln>
            <a:noFill/>
          </a:ln>
        </p:spPr>
        <p:txBody>
          <a:bodyPr rtlCol="0" anchor="ctr"/>
          <a:lstStyle/>
          <a:p>
            <a:pPr algn="ctr"/>
          </a:p>
        </p:txBody>
      </p:sp>
      <p:sp>
        <p:nvSpPr>
          <p:cNvPr id="70" name="TextBox 69"/>
          <p:cNvSpPr txBox="1"/>
          <p:nvPr/>
        </p:nvSpPr>
        <p:spPr>
          <a:xfrm>
            <a:off x="6391656" y="3182112"/>
            <a:ext cx="5303520" cy="274320"/>
          </a:xfrm>
          <a:prstGeom prst="rect">
            <a:avLst/>
          </a:prstGeom>
          <a:noFill/>
        </p:spPr>
        <p:txBody>
          <a:bodyPr wrap="square" lIns="0" tIns="0" rIns="0" bIns="0" anchor="ctr">
            <a:noAutofit/>
          </a:bodyPr>
          <a:lstStyle/>
          <a:p>
            <a:pPr algn="l">
              <a:spcAft>
                <a:spcPts val="0"/>
              </a:spcAft>
            </a:pPr>
            <a:r>
              <a:rPr sz="1350" b="0" i="0">
                <a:solidFill>
                  <a:srgbClr val="FFFFFF"/>
                </a:solidFill>
                <a:latin typeface="Arial"/>
              </a:rPr>
              <a:t>Carries the whole chain of digital work</a:t>
            </a:r>
          </a:p>
        </p:txBody>
      </p:sp>
      <p:sp>
        <p:nvSpPr>
          <p:cNvPr id="71" name="Oval 70"/>
          <p:cNvSpPr/>
          <p:nvPr/>
        </p:nvSpPr>
        <p:spPr>
          <a:xfrm>
            <a:off x="6190488" y="3584448"/>
            <a:ext cx="82296" cy="82296"/>
          </a:xfrm>
          <a:prstGeom prst="ellipse">
            <a:avLst/>
          </a:prstGeom>
          <a:solidFill>
            <a:srgbClr val="FFFFFF"/>
          </a:solidFill>
          <a:ln>
            <a:noFill/>
          </a:ln>
        </p:spPr>
        <p:txBody>
          <a:bodyPr rtlCol="0" anchor="ctr"/>
          <a:lstStyle/>
          <a:p>
            <a:pPr algn="ctr"/>
          </a:p>
        </p:txBody>
      </p:sp>
      <p:sp>
        <p:nvSpPr>
          <p:cNvPr id="72" name="TextBox 71"/>
          <p:cNvSpPr txBox="1"/>
          <p:nvPr/>
        </p:nvSpPr>
        <p:spPr>
          <a:xfrm>
            <a:off x="6391656" y="3483864"/>
            <a:ext cx="5303520" cy="274320"/>
          </a:xfrm>
          <a:prstGeom prst="rect">
            <a:avLst/>
          </a:prstGeom>
          <a:noFill/>
        </p:spPr>
        <p:txBody>
          <a:bodyPr wrap="square" lIns="0" tIns="0" rIns="0" bIns="0" anchor="ctr">
            <a:noAutofit/>
          </a:bodyPr>
          <a:lstStyle/>
          <a:p>
            <a:pPr algn="l">
              <a:spcAft>
                <a:spcPts val="0"/>
              </a:spcAft>
            </a:pPr>
            <a:r>
              <a:rPr sz="1350" b="0" i="0">
                <a:solidFill>
                  <a:srgbClr val="FFFFFF"/>
                </a:solidFill>
                <a:latin typeface="Arial"/>
              </a:rPr>
              <a:t>Uses many approved AIA capabilities</a:t>
            </a:r>
          </a:p>
        </p:txBody>
      </p:sp>
      <p:sp>
        <p:nvSpPr>
          <p:cNvPr id="73" name="TextBox 72"/>
          <p:cNvSpPr txBox="1"/>
          <p:nvPr/>
        </p:nvSpPr>
        <p:spPr>
          <a:xfrm>
            <a:off x="356616" y="4023360"/>
            <a:ext cx="4572000" cy="237744"/>
          </a:xfrm>
          <a:prstGeom prst="rect">
            <a:avLst/>
          </a:prstGeom>
          <a:noFill/>
        </p:spPr>
        <p:txBody>
          <a:bodyPr wrap="square" lIns="0" tIns="0" rIns="0" bIns="0" anchor="t">
            <a:noAutofit/>
          </a:bodyPr>
          <a:lstStyle/>
          <a:p>
            <a:pPr algn="l">
              <a:spcAft>
                <a:spcPts val="0"/>
              </a:spcAft>
            </a:pPr>
            <a:r>
              <a:rPr sz="1050" b="1" i="0" spc="100">
                <a:solidFill>
                  <a:srgbClr val="5F6770"/>
                </a:solidFill>
                <a:latin typeface="Arial"/>
              </a:rPr>
              <a:t>THE NEW DIVISION OF WORK</a:t>
            </a:r>
          </a:p>
        </p:txBody>
      </p:sp>
      <p:sp>
        <p:nvSpPr>
          <p:cNvPr id="74" name="Rounded Rectangle 73"/>
          <p:cNvSpPr/>
          <p:nvPr/>
        </p:nvSpPr>
        <p:spPr>
          <a:xfrm>
            <a:off x="356616" y="4315968"/>
            <a:ext cx="5600700" cy="731520"/>
          </a:xfrm>
          <a:prstGeom prst="roundRect">
            <a:avLst>
              <a:gd name="adj" fmla="val 12500"/>
            </a:avLst>
          </a:prstGeom>
          <a:solidFill>
            <a:srgbClr val="FBE8ED"/>
          </a:solidFill>
          <a:ln>
            <a:noFill/>
          </a:ln>
        </p:spPr>
        <p:txBody>
          <a:bodyPr rtlCol="0" anchor="ctr"/>
          <a:lstStyle/>
          <a:p>
            <a:pPr algn="ctr"/>
          </a:p>
        </p:txBody>
      </p:sp>
      <p:sp>
        <p:nvSpPr>
          <p:cNvPr id="75" name="TextBox 74"/>
          <p:cNvSpPr txBox="1"/>
          <p:nvPr/>
        </p:nvSpPr>
        <p:spPr>
          <a:xfrm>
            <a:off x="585216" y="4315968"/>
            <a:ext cx="1600200" cy="731520"/>
          </a:xfrm>
          <a:prstGeom prst="rect">
            <a:avLst/>
          </a:prstGeom>
          <a:noFill/>
        </p:spPr>
        <p:txBody>
          <a:bodyPr wrap="square" lIns="0" tIns="0" rIns="0" bIns="0" anchor="ctr">
            <a:noAutofit/>
          </a:bodyPr>
          <a:lstStyle/>
          <a:p>
            <a:pPr algn="l">
              <a:spcAft>
                <a:spcPts val="0"/>
              </a:spcAft>
            </a:pPr>
            <a:r>
              <a:rPr sz="1200" b="1" i="0" spc="100">
                <a:solidFill>
                  <a:srgbClr val="D31145"/>
                </a:solidFill>
                <a:latin typeface="Arial"/>
              </a:rPr>
              <a:t>YOU DELEGATE</a:t>
            </a:r>
          </a:p>
        </p:txBody>
      </p:sp>
      <p:sp>
        <p:nvSpPr>
          <p:cNvPr id="76" name="TextBox 75"/>
          <p:cNvSpPr txBox="1"/>
          <p:nvPr/>
        </p:nvSpPr>
        <p:spPr>
          <a:xfrm>
            <a:off x="2185416" y="4315968"/>
            <a:ext cx="3589020" cy="731520"/>
          </a:xfrm>
          <a:prstGeom prst="rect">
            <a:avLst/>
          </a:prstGeom>
          <a:noFill/>
        </p:spPr>
        <p:txBody>
          <a:bodyPr wrap="square" lIns="0" tIns="0" rIns="0" bIns="0" anchor="ctr">
            <a:noAutofit/>
          </a:bodyPr>
          <a:lstStyle/>
          <a:p>
            <a:pPr algn="l">
              <a:lnSpc>
                <a:spcPct val="95000"/>
              </a:lnSpc>
              <a:spcAft>
                <a:spcPts val="0"/>
              </a:spcAft>
            </a:pPr>
            <a:r>
              <a:rPr sz="1400" b="1" i="0">
                <a:solidFill>
                  <a:srgbClr val="333D47"/>
                </a:solidFill>
                <a:latin typeface="Arial"/>
              </a:rPr>
              <a:t>The digital legwork: finding, opening, reading, checking, analysing, combining, drafting.</a:t>
            </a:r>
          </a:p>
        </p:txBody>
      </p:sp>
      <p:sp>
        <p:nvSpPr>
          <p:cNvPr id="77" name="Rounded Rectangle 76"/>
          <p:cNvSpPr/>
          <p:nvPr/>
        </p:nvSpPr>
        <p:spPr>
          <a:xfrm>
            <a:off x="6231636" y="4315968"/>
            <a:ext cx="5600700" cy="731520"/>
          </a:xfrm>
          <a:prstGeom prst="roundRect">
            <a:avLst>
              <a:gd name="adj" fmla="val 12500"/>
            </a:avLst>
          </a:prstGeom>
          <a:solidFill>
            <a:srgbClr val="FFFFFF"/>
          </a:solidFill>
          <a:ln w="15875">
            <a:solidFill>
              <a:srgbClr val="333D47"/>
            </a:solidFill>
          </a:ln>
        </p:spPr>
        <p:txBody>
          <a:bodyPr rtlCol="0" anchor="ctr"/>
          <a:lstStyle/>
          <a:p>
            <a:pPr algn="ctr"/>
          </a:p>
        </p:txBody>
      </p:sp>
      <p:sp>
        <p:nvSpPr>
          <p:cNvPr id="78" name="TextBox 77"/>
          <p:cNvSpPr txBox="1"/>
          <p:nvPr/>
        </p:nvSpPr>
        <p:spPr>
          <a:xfrm>
            <a:off x="6460236" y="4315968"/>
            <a:ext cx="1600200" cy="731520"/>
          </a:xfrm>
          <a:prstGeom prst="rect">
            <a:avLst/>
          </a:prstGeom>
          <a:noFill/>
        </p:spPr>
        <p:txBody>
          <a:bodyPr wrap="square" lIns="0" tIns="0" rIns="0" bIns="0" anchor="ctr">
            <a:noAutofit/>
          </a:bodyPr>
          <a:lstStyle/>
          <a:p>
            <a:pPr algn="l">
              <a:spcAft>
                <a:spcPts val="0"/>
              </a:spcAft>
            </a:pPr>
            <a:r>
              <a:rPr sz="1200" b="1" i="0" spc="100">
                <a:solidFill>
                  <a:srgbClr val="333D47"/>
                </a:solidFill>
                <a:latin typeface="Arial"/>
              </a:rPr>
              <a:t>YOU KEEP</a:t>
            </a:r>
          </a:p>
        </p:txBody>
      </p:sp>
      <p:sp>
        <p:nvSpPr>
          <p:cNvPr id="79" name="TextBox 78"/>
          <p:cNvSpPr txBox="1"/>
          <p:nvPr/>
        </p:nvSpPr>
        <p:spPr>
          <a:xfrm>
            <a:off x="8060436" y="4315968"/>
            <a:ext cx="3589020" cy="731520"/>
          </a:xfrm>
          <a:prstGeom prst="rect">
            <a:avLst/>
          </a:prstGeom>
          <a:noFill/>
        </p:spPr>
        <p:txBody>
          <a:bodyPr wrap="square" lIns="0" tIns="0" rIns="0" bIns="0" anchor="ctr">
            <a:noAutofit/>
          </a:bodyPr>
          <a:lstStyle/>
          <a:p>
            <a:pPr algn="l">
              <a:lnSpc>
                <a:spcPct val="95000"/>
              </a:lnSpc>
              <a:spcAft>
                <a:spcPts val="0"/>
              </a:spcAft>
            </a:pPr>
            <a:r>
              <a:rPr sz="1400" b="1" i="0">
                <a:solidFill>
                  <a:srgbClr val="333D47"/>
                </a:solidFill>
                <a:latin typeface="Arial"/>
              </a:rPr>
              <a:t>The outcome, the judgment, the review and the final approval.</a:t>
            </a:r>
          </a:p>
        </p:txBody>
      </p:sp>
      <p:sp>
        <p:nvSpPr>
          <p:cNvPr id="80" name="TextBox 79"/>
          <p:cNvSpPr txBox="1"/>
          <p:nvPr/>
        </p:nvSpPr>
        <p:spPr>
          <a:xfrm>
            <a:off x="356616" y="5230368"/>
            <a:ext cx="2743200" cy="237744"/>
          </a:xfrm>
          <a:prstGeom prst="rect">
            <a:avLst/>
          </a:prstGeom>
          <a:noFill/>
        </p:spPr>
        <p:txBody>
          <a:bodyPr wrap="square" lIns="0" tIns="0" rIns="0" bIns="0" anchor="t">
            <a:noAutofit/>
          </a:bodyPr>
          <a:lstStyle/>
          <a:p>
            <a:pPr algn="l">
              <a:spcAft>
                <a:spcPts val="0"/>
              </a:spcAft>
            </a:pPr>
            <a:r>
              <a:rPr sz="1050" b="1" i="0" spc="100">
                <a:solidFill>
                  <a:srgbClr val="5F6770"/>
                </a:solidFill>
                <a:latin typeface="Arial"/>
              </a:rPr>
              <a:t>HOW IT WORKS AT AIA</a:t>
            </a:r>
          </a:p>
        </p:txBody>
      </p:sp>
      <p:pic>
        <p:nvPicPr>
          <p:cNvPr id="81" name="Picture 80" descr="image.png"/>
          <p:cNvPicPr>
            <a:picLocks noChangeAspect="1"/>
          </p:cNvPicPr>
          <p:nvPr/>
        </p:nvPicPr>
        <p:blipFill>
          <a:blip r:embed="rId4"/>
          <a:stretch>
            <a:fillRect/>
          </a:stretch>
        </p:blipFill>
        <p:spPr>
          <a:xfrm>
            <a:off x="356616" y="5532120"/>
            <a:ext cx="256032" cy="256032"/>
          </a:xfrm>
          <a:prstGeom prst="rect">
            <a:avLst/>
          </a:prstGeom>
        </p:spPr>
      </p:pic>
      <p:sp>
        <p:nvSpPr>
          <p:cNvPr id="82" name="TextBox 81"/>
          <p:cNvSpPr txBox="1"/>
          <p:nvPr/>
        </p:nvSpPr>
        <p:spPr>
          <a:xfrm>
            <a:off x="704088" y="5468112"/>
            <a:ext cx="3337560" cy="384048"/>
          </a:xfrm>
          <a:prstGeom prst="rect">
            <a:avLst/>
          </a:prstGeom>
          <a:noFill/>
        </p:spPr>
        <p:txBody>
          <a:bodyPr wrap="square" lIns="0" tIns="0" rIns="0" bIns="0" anchor="ctr">
            <a:noAutofit/>
          </a:bodyPr>
          <a:lstStyle/>
          <a:p>
            <a:pPr algn="l">
              <a:spcAft>
                <a:spcPts val="0"/>
              </a:spcAft>
            </a:pPr>
            <a:r>
              <a:rPr sz="1150" b="1" i="0">
                <a:solidFill>
                  <a:srgbClr val="333D47"/>
                </a:solidFill>
                <a:latin typeface="Arial"/>
              </a:rPr>
              <a:t>Brain  </a:t>
            </a:r>
            <a:r>
              <a:rPr sz="1150" b="0" i="0">
                <a:solidFill>
                  <a:srgbClr val="5F6770"/>
                </a:solidFill>
                <a:latin typeface="Arial"/>
              </a:rPr>
              <a:t>Enterprise AI. Copilot could be the engine.</a:t>
            </a:r>
          </a:p>
        </p:txBody>
      </p:sp>
      <p:pic>
        <p:nvPicPr>
          <p:cNvPr id="83" name="Picture 82" descr="image.png"/>
          <p:cNvPicPr>
            <a:picLocks noChangeAspect="1"/>
          </p:cNvPicPr>
          <p:nvPr/>
        </p:nvPicPr>
        <p:blipFill>
          <a:blip r:embed="rId5"/>
          <a:stretch>
            <a:fillRect/>
          </a:stretch>
        </p:blipFill>
        <p:spPr>
          <a:xfrm>
            <a:off x="4242816" y="5532120"/>
            <a:ext cx="256032" cy="256032"/>
          </a:xfrm>
          <a:prstGeom prst="rect">
            <a:avLst/>
          </a:prstGeom>
        </p:spPr>
      </p:pic>
      <p:sp>
        <p:nvSpPr>
          <p:cNvPr id="84" name="TextBox 83"/>
          <p:cNvSpPr txBox="1"/>
          <p:nvPr/>
        </p:nvSpPr>
        <p:spPr>
          <a:xfrm>
            <a:off x="4590288" y="5468112"/>
            <a:ext cx="3337560" cy="384048"/>
          </a:xfrm>
          <a:prstGeom prst="rect">
            <a:avLst/>
          </a:prstGeom>
          <a:noFill/>
        </p:spPr>
        <p:txBody>
          <a:bodyPr wrap="square" lIns="0" tIns="0" rIns="0" bIns="0" anchor="ctr">
            <a:noAutofit/>
          </a:bodyPr>
          <a:lstStyle/>
          <a:p>
            <a:pPr algn="l">
              <a:spcAft>
                <a:spcPts val="0"/>
              </a:spcAft>
            </a:pPr>
            <a:r>
              <a:rPr sz="1150" b="1" i="0">
                <a:solidFill>
                  <a:srgbClr val="D31145"/>
                </a:solidFill>
                <a:latin typeface="Arial"/>
              </a:rPr>
              <a:t>Hands  </a:t>
            </a:r>
            <a:r>
              <a:rPr sz="1150" b="0" i="0">
                <a:solidFill>
                  <a:srgbClr val="5F6770"/>
                </a:solidFill>
                <a:latin typeface="Arial"/>
              </a:rPr>
              <a:t>AIA’s own data, systems and AI tools, plus Microsoft 365.</a:t>
            </a:r>
          </a:p>
        </p:txBody>
      </p:sp>
      <p:pic>
        <p:nvPicPr>
          <p:cNvPr id="85" name="Picture 84" descr="image.png"/>
          <p:cNvPicPr>
            <a:picLocks noChangeAspect="1"/>
          </p:cNvPicPr>
          <p:nvPr/>
        </p:nvPicPr>
        <p:blipFill>
          <a:blip r:embed="rId6"/>
          <a:stretch>
            <a:fillRect/>
          </a:stretch>
        </p:blipFill>
        <p:spPr>
          <a:xfrm>
            <a:off x="8129016" y="5532120"/>
            <a:ext cx="256032" cy="256032"/>
          </a:xfrm>
          <a:prstGeom prst="rect">
            <a:avLst/>
          </a:prstGeom>
        </p:spPr>
      </p:pic>
      <p:sp>
        <p:nvSpPr>
          <p:cNvPr id="86" name="TextBox 85"/>
          <p:cNvSpPr txBox="1"/>
          <p:nvPr/>
        </p:nvSpPr>
        <p:spPr>
          <a:xfrm>
            <a:off x="8476488" y="5468112"/>
            <a:ext cx="3337560" cy="384048"/>
          </a:xfrm>
          <a:prstGeom prst="rect">
            <a:avLst/>
          </a:prstGeom>
          <a:noFill/>
        </p:spPr>
        <p:txBody>
          <a:bodyPr wrap="square" lIns="0" tIns="0" rIns="0" bIns="0" anchor="ctr">
            <a:noAutofit/>
          </a:bodyPr>
          <a:lstStyle/>
          <a:p>
            <a:pPr algn="l">
              <a:spcAft>
                <a:spcPts val="0"/>
              </a:spcAft>
            </a:pPr>
            <a:r>
              <a:rPr sz="1150" b="1" i="0">
                <a:solidFill>
                  <a:srgbClr val="333D47"/>
                </a:solidFill>
                <a:latin typeface="Arial"/>
              </a:rPr>
              <a:t>Rules  </a:t>
            </a:r>
            <a:r>
              <a:rPr sz="1150" b="0" i="0">
                <a:solidFill>
                  <a:srgbClr val="5F6770"/>
                </a:solidFill>
                <a:latin typeface="Arial"/>
              </a:rPr>
              <a:t>Permissions, approval, records, governed learning.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One outcome in. Finished work back.</a:t>
            </a:r>
          </a:p>
        </p:txBody>
      </p:sp>
      <p:sp>
        <p:nvSpPr>
          <p:cNvPr id="55" name="Slide Number Placeholder"/>
          <p:cNvSpPr>
            <a:spLocks noGrp="1"/>
          </p:cNvSpPr>
          <p:nvPr>
            <p:ph type="sldNum" sz="quarter" idx="4"/>
          </p:nvPr>
        </p:nvSpPr>
        <p:spPr/>
        <p:txBody>
          <a:bodyPr/>
          <a:lstStyle/>
          <a:p>
            <a:fld id="{18A41853-EF22-D446-BDBC-A7CF3FE93503}" type="slidenum">
              <a:rPr lang="en-US"/>
              <a:t>4</a:t>
            </a:fld>
            <a:endParaRPr lang="en-US" dirty="0"/>
          </a:p>
        </p:txBody>
      </p:sp>
      <p:sp>
        <p:nvSpPr>
          <p:cNvPr id="56" name="TextBox 55"/>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HOW RILEY WORKS  ·  ILLUSTRATIVE EXAMPLE</a:t>
            </a:r>
          </a:p>
        </p:txBody>
      </p:sp>
      <p:sp>
        <p:nvSpPr>
          <p:cNvPr id="57" name="Rounded Rectangle 56"/>
          <p:cNvSpPr/>
          <p:nvPr/>
        </p:nvSpPr>
        <p:spPr>
          <a:xfrm>
            <a:off x="356616" y="1325880"/>
            <a:ext cx="2606040" cy="3703320"/>
          </a:xfrm>
          <a:prstGeom prst="roundRect">
            <a:avLst>
              <a:gd name="adj" fmla="val 4210"/>
            </a:avLst>
          </a:prstGeom>
          <a:solidFill>
            <a:srgbClr val="FFFFFF"/>
          </a:solidFill>
          <a:ln w="19050">
            <a:solidFill>
              <a:srgbClr val="333D47"/>
            </a:solidFill>
          </a:ln>
        </p:spPr>
        <p:txBody>
          <a:bodyPr rtlCol="0" anchor="ctr"/>
          <a:lstStyle/>
          <a:p>
            <a:pPr algn="ctr"/>
          </a:p>
        </p:txBody>
      </p:sp>
      <p:sp>
        <p:nvSpPr>
          <p:cNvPr id="58" name="Oval 57"/>
          <p:cNvSpPr/>
          <p:nvPr/>
        </p:nvSpPr>
        <p:spPr>
          <a:xfrm>
            <a:off x="557784" y="1527048"/>
            <a:ext cx="329184" cy="329184"/>
          </a:xfrm>
          <a:prstGeom prst="ellipse">
            <a:avLst/>
          </a:prstGeom>
          <a:solidFill>
            <a:srgbClr val="333D47"/>
          </a:solidFill>
          <a:ln>
            <a:noFill/>
          </a:ln>
        </p:spPr>
        <p:txBody>
          <a:bodyPr rtlCol="0" anchor="ctr" wrap="square" lIns="0" tIns="0" rIns="0" bIns="0">
            <a:noAutofit/>
          </a:bodyPr>
          <a:lstStyle/>
          <a:p>
            <a:pPr algn="ctr">
              <a:spcAft>
                <a:spcPts val="0"/>
              </a:spcAft>
            </a:pPr>
            <a:r>
              <a:rPr sz="1200" b="1" i="0">
                <a:solidFill>
                  <a:srgbClr val="FFFFFF"/>
                </a:solidFill>
                <a:latin typeface="Arial"/>
              </a:rPr>
              <a:t>1</a:t>
            </a:r>
          </a:p>
        </p:txBody>
      </p:sp>
      <p:sp>
        <p:nvSpPr>
          <p:cNvPr id="59" name="TextBox 58"/>
          <p:cNvSpPr txBox="1"/>
          <p:nvPr/>
        </p:nvSpPr>
        <p:spPr>
          <a:xfrm>
            <a:off x="978408" y="1508760"/>
            <a:ext cx="1874520" cy="365760"/>
          </a:xfrm>
          <a:prstGeom prst="rect">
            <a:avLst/>
          </a:prstGeom>
          <a:noFill/>
        </p:spPr>
        <p:txBody>
          <a:bodyPr wrap="square" lIns="0" tIns="0" rIns="0" bIns="0" anchor="ctr">
            <a:noAutofit/>
          </a:bodyPr>
          <a:lstStyle/>
          <a:p>
            <a:pPr algn="l">
              <a:spcAft>
                <a:spcPts val="0"/>
              </a:spcAft>
            </a:pPr>
            <a:r>
              <a:rPr sz="1050" b="1" i="0" spc="80">
                <a:solidFill>
                  <a:srgbClr val="333D47"/>
                </a:solidFill>
                <a:latin typeface="Arial"/>
              </a:rPr>
              <a:t>YOU SET THE OUTCOME</a:t>
            </a:r>
          </a:p>
        </p:txBody>
      </p:sp>
      <p:pic>
        <p:nvPicPr>
          <p:cNvPr id="60" name="Picture 59" descr="image.png"/>
          <p:cNvPicPr>
            <a:picLocks noChangeAspect="1"/>
          </p:cNvPicPr>
          <p:nvPr/>
        </p:nvPicPr>
        <p:blipFill>
          <a:blip r:embed="rId3"/>
          <a:stretch>
            <a:fillRect/>
          </a:stretch>
        </p:blipFill>
        <p:spPr>
          <a:xfrm>
            <a:off x="576072" y="2057400"/>
            <a:ext cx="310896" cy="310896"/>
          </a:xfrm>
          <a:prstGeom prst="rect">
            <a:avLst/>
          </a:prstGeom>
        </p:spPr>
      </p:pic>
      <p:sp>
        <p:nvSpPr>
          <p:cNvPr id="61" name="TextBox 60"/>
          <p:cNvSpPr txBox="1"/>
          <p:nvPr/>
        </p:nvSpPr>
        <p:spPr>
          <a:xfrm>
            <a:off x="576072" y="2468880"/>
            <a:ext cx="2194560" cy="2377440"/>
          </a:xfrm>
          <a:prstGeom prst="rect">
            <a:avLst/>
          </a:prstGeom>
          <a:noFill/>
        </p:spPr>
        <p:txBody>
          <a:bodyPr wrap="square" lIns="0" tIns="0" rIns="0" bIns="0" anchor="t">
            <a:noAutofit/>
          </a:bodyPr>
          <a:lstStyle/>
          <a:p>
            <a:pPr algn="l">
              <a:lnSpc>
                <a:spcPct val="102000"/>
              </a:lnSpc>
              <a:spcAft>
                <a:spcPts val="0"/>
              </a:spcAft>
            </a:pPr>
            <a:r>
              <a:rPr sz="1300" b="0" i="1">
                <a:solidFill>
                  <a:srgbClr val="333D47"/>
                </a:solidFill>
                <a:latin typeface="Arial"/>
              </a:rPr>
              <a:t>“Prepare the quarterly complaints review for Thursday’s management meeting: top issues versus last quarter, likely drivers, what is already being done, and draft slides.”</a:t>
            </a:r>
          </a:p>
        </p:txBody>
      </p:sp>
      <p:sp>
        <p:nvSpPr>
          <p:cNvPr id="62" name="TextBox 61"/>
          <p:cNvSpPr txBox="1"/>
          <p:nvPr/>
        </p:nvSpPr>
        <p:spPr>
          <a:xfrm>
            <a:off x="576072" y="4572000"/>
            <a:ext cx="2240280" cy="320040"/>
          </a:xfrm>
          <a:prstGeom prst="rect">
            <a:avLst/>
          </a:prstGeom>
          <a:noFill/>
        </p:spPr>
        <p:txBody>
          <a:bodyPr wrap="square" lIns="0" tIns="0" rIns="0" bIns="0" anchor="t">
            <a:noAutofit/>
          </a:bodyPr>
          <a:lstStyle/>
          <a:p>
            <a:pPr algn="l">
              <a:spcAft>
                <a:spcPts val="0"/>
              </a:spcAft>
            </a:pPr>
            <a:r>
              <a:rPr sz="1050" b="0" i="0">
                <a:solidFill>
                  <a:srgbClr val="5F6770"/>
                </a:solidFill>
                <a:latin typeface="Arial"/>
              </a:rPr>
              <a:t>In Teams, like asking a colleague</a:t>
            </a:r>
          </a:p>
        </p:txBody>
      </p:sp>
      <p:cxnSp>
        <p:nvCxnSpPr>
          <p:cNvPr id="63" name="Connector 62"/>
          <p:cNvCxnSpPr/>
          <p:nvPr/>
        </p:nvCxnSpPr>
        <p:spPr>
          <a:xfrm>
            <a:off x="2999232" y="3177540"/>
            <a:ext cx="237744" cy="0"/>
          </a:xfrm>
          <a:prstGeom prst="line">
            <a:avLst/>
          </a:prstGeom>
          <a:ln w="25400">
            <a:solidFill>
              <a:srgbClr val="333D47"/>
            </a:solidFill>
            <a:tailEnd type="triangle" w="med" len="med"/>
          </a:ln>
        </p:spPr>
      </p:cxnSp>
      <p:sp>
        <p:nvSpPr>
          <p:cNvPr id="64" name="Rounded Rectangle 63"/>
          <p:cNvSpPr/>
          <p:nvPr/>
        </p:nvSpPr>
        <p:spPr>
          <a:xfrm>
            <a:off x="3273552" y="1325880"/>
            <a:ext cx="5577840" cy="3703320"/>
          </a:xfrm>
          <a:prstGeom prst="roundRect">
            <a:avLst>
              <a:gd name="adj" fmla="val 2962"/>
            </a:avLst>
          </a:prstGeom>
          <a:solidFill>
            <a:srgbClr val="FBE8ED"/>
          </a:solidFill>
          <a:ln w="19050">
            <a:solidFill>
              <a:srgbClr val="D31145"/>
            </a:solidFill>
          </a:ln>
        </p:spPr>
        <p:txBody>
          <a:bodyPr rtlCol="0" anchor="ctr"/>
          <a:lstStyle/>
          <a:p>
            <a:pPr algn="ctr"/>
          </a:p>
        </p:txBody>
      </p:sp>
      <p:sp>
        <p:nvSpPr>
          <p:cNvPr id="65" name="Oval 64"/>
          <p:cNvSpPr/>
          <p:nvPr/>
        </p:nvSpPr>
        <p:spPr>
          <a:xfrm>
            <a:off x="3474720" y="1508760"/>
            <a:ext cx="347472" cy="347472"/>
          </a:xfrm>
          <a:prstGeom prst="ellipse">
            <a:avLst/>
          </a:prstGeom>
          <a:solidFill>
            <a:srgbClr val="D31145"/>
          </a:solidFill>
          <a:ln>
            <a:noFill/>
          </a:ln>
        </p:spPr>
        <p:txBody>
          <a:bodyPr rtlCol="0" anchor="ctr" wrap="square" lIns="0" tIns="0" rIns="0" bIns="0">
            <a:noAutofit/>
          </a:bodyPr>
          <a:lstStyle/>
          <a:p>
            <a:pPr algn="ctr">
              <a:spcAft>
                <a:spcPts val="0"/>
              </a:spcAft>
            </a:pPr>
            <a:r>
              <a:rPr sz="1400" b="1" i="0">
                <a:solidFill>
                  <a:srgbClr val="FFFFFF"/>
                </a:solidFill>
                <a:latin typeface="Arial"/>
              </a:rPr>
              <a:t>R</a:t>
            </a:r>
          </a:p>
        </p:txBody>
      </p:sp>
      <p:sp>
        <p:nvSpPr>
          <p:cNvPr id="66" name="TextBox 65"/>
          <p:cNvSpPr txBox="1"/>
          <p:nvPr/>
        </p:nvSpPr>
        <p:spPr>
          <a:xfrm>
            <a:off x="3931920" y="1508760"/>
            <a:ext cx="4754880" cy="347472"/>
          </a:xfrm>
          <a:prstGeom prst="rect">
            <a:avLst/>
          </a:prstGeom>
          <a:noFill/>
        </p:spPr>
        <p:txBody>
          <a:bodyPr wrap="square" lIns="0" tIns="0" rIns="0" bIns="0" anchor="ctr">
            <a:noAutofit/>
          </a:bodyPr>
          <a:lstStyle/>
          <a:p>
            <a:pPr algn="l">
              <a:spcAft>
                <a:spcPts val="0"/>
              </a:spcAft>
            </a:pPr>
            <a:r>
              <a:rPr sz="1050" b="1" i="0" spc="80">
                <a:solidFill>
                  <a:srgbClr val="D31145"/>
                </a:solidFill>
                <a:latin typeface="Arial"/>
              </a:rPr>
              <a:t>RILEY DOES THE DIGITAL CHAIN</a:t>
            </a:r>
          </a:p>
        </p:txBody>
      </p:sp>
      <p:sp>
        <p:nvSpPr>
          <p:cNvPr id="67" name="Rounded Rectangle 66"/>
          <p:cNvSpPr/>
          <p:nvPr/>
        </p:nvSpPr>
        <p:spPr>
          <a:xfrm>
            <a:off x="3456432" y="2011680"/>
            <a:ext cx="5212080" cy="365760"/>
          </a:xfrm>
          <a:prstGeom prst="roundRect">
            <a:avLst>
              <a:gd name="adj" fmla="val 15000"/>
            </a:avLst>
          </a:prstGeom>
          <a:solidFill>
            <a:srgbClr val="FFFFFF"/>
          </a:solidFill>
          <a:ln>
            <a:noFill/>
          </a:ln>
        </p:spPr>
        <p:txBody>
          <a:bodyPr rtlCol="0" anchor="ctr"/>
          <a:lstStyle/>
          <a:p>
            <a:pPr algn="ctr"/>
          </a:p>
        </p:txBody>
      </p:sp>
      <p:sp>
        <p:nvSpPr>
          <p:cNvPr id="68" name="Oval 67"/>
          <p:cNvSpPr/>
          <p:nvPr/>
        </p:nvSpPr>
        <p:spPr>
          <a:xfrm>
            <a:off x="3547872" y="2066544"/>
            <a:ext cx="256032" cy="256032"/>
          </a:xfrm>
          <a:prstGeom prst="ellipse">
            <a:avLst/>
          </a:prstGeom>
          <a:solidFill>
            <a:srgbClr val="D31145"/>
          </a:solidFill>
          <a:ln>
            <a:noFill/>
          </a:ln>
        </p:spPr>
        <p:txBody>
          <a:bodyPr rtlCol="0" anchor="ctr" wrap="square" lIns="0" tIns="0" rIns="0" bIns="0">
            <a:noAutofit/>
          </a:bodyPr>
          <a:lstStyle/>
          <a:p>
            <a:pPr algn="ctr">
              <a:spcAft>
                <a:spcPts val="0"/>
              </a:spcAft>
            </a:pPr>
            <a:r>
              <a:rPr sz="1000" b="1" i="0">
                <a:solidFill>
                  <a:srgbClr val="FFFFFF"/>
                </a:solidFill>
                <a:latin typeface="Arial"/>
              </a:rPr>
              <a:t>2</a:t>
            </a:r>
          </a:p>
        </p:txBody>
      </p:sp>
      <p:sp>
        <p:nvSpPr>
          <p:cNvPr id="69" name="TextBox 68"/>
          <p:cNvSpPr txBox="1"/>
          <p:nvPr/>
        </p:nvSpPr>
        <p:spPr>
          <a:xfrm>
            <a:off x="3913632" y="2011680"/>
            <a:ext cx="4572000" cy="365760"/>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Shows its plan, using only what you can access</a:t>
            </a:r>
          </a:p>
        </p:txBody>
      </p:sp>
      <p:sp>
        <p:nvSpPr>
          <p:cNvPr id="70" name="Rounded Rectangle 69"/>
          <p:cNvSpPr/>
          <p:nvPr/>
        </p:nvSpPr>
        <p:spPr>
          <a:xfrm>
            <a:off x="3456432" y="2441448"/>
            <a:ext cx="5212080" cy="365760"/>
          </a:xfrm>
          <a:prstGeom prst="roundRect">
            <a:avLst>
              <a:gd name="adj" fmla="val 15000"/>
            </a:avLst>
          </a:prstGeom>
          <a:solidFill>
            <a:srgbClr val="FFFFFF"/>
          </a:solidFill>
          <a:ln>
            <a:noFill/>
          </a:ln>
        </p:spPr>
        <p:txBody>
          <a:bodyPr rtlCol="0" anchor="ctr"/>
          <a:lstStyle/>
          <a:p>
            <a:pPr algn="ctr"/>
          </a:p>
        </p:txBody>
      </p:sp>
      <p:sp>
        <p:nvSpPr>
          <p:cNvPr id="71" name="Oval 70"/>
          <p:cNvSpPr/>
          <p:nvPr/>
        </p:nvSpPr>
        <p:spPr>
          <a:xfrm>
            <a:off x="3547872" y="2496312"/>
            <a:ext cx="256032" cy="256032"/>
          </a:xfrm>
          <a:prstGeom prst="ellipse">
            <a:avLst/>
          </a:prstGeom>
          <a:solidFill>
            <a:srgbClr val="D31145"/>
          </a:solidFill>
          <a:ln>
            <a:noFill/>
          </a:ln>
        </p:spPr>
        <p:txBody>
          <a:bodyPr rtlCol="0" anchor="ctr" wrap="square" lIns="0" tIns="0" rIns="0" bIns="0">
            <a:noAutofit/>
          </a:bodyPr>
          <a:lstStyle/>
          <a:p>
            <a:pPr algn="ctr">
              <a:spcAft>
                <a:spcPts val="0"/>
              </a:spcAft>
            </a:pPr>
            <a:r>
              <a:rPr sz="1000" b="1" i="0">
                <a:solidFill>
                  <a:srgbClr val="FFFFFF"/>
                </a:solidFill>
                <a:latin typeface="Arial"/>
              </a:rPr>
              <a:t>3</a:t>
            </a:r>
          </a:p>
        </p:txBody>
      </p:sp>
      <p:sp>
        <p:nvSpPr>
          <p:cNvPr id="72" name="TextBox 71"/>
          <p:cNvSpPr txBox="1"/>
          <p:nvPr/>
        </p:nvSpPr>
        <p:spPr>
          <a:xfrm>
            <a:off x="3913632" y="2441448"/>
            <a:ext cx="3383280" cy="365760"/>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Pulls complaint records, this quarter and last</a:t>
            </a:r>
          </a:p>
        </p:txBody>
      </p:sp>
      <p:sp>
        <p:nvSpPr>
          <p:cNvPr id="73" name="TextBox 72"/>
          <p:cNvSpPr txBox="1"/>
          <p:nvPr/>
        </p:nvSpPr>
        <p:spPr>
          <a:xfrm>
            <a:off x="7205472" y="2441448"/>
            <a:ext cx="1353312" cy="365760"/>
          </a:xfrm>
          <a:prstGeom prst="rect">
            <a:avLst/>
          </a:prstGeom>
          <a:noFill/>
        </p:spPr>
        <p:txBody>
          <a:bodyPr wrap="square" lIns="0" tIns="0" rIns="0" bIns="0" anchor="ctr">
            <a:noAutofit/>
          </a:bodyPr>
          <a:lstStyle/>
          <a:p>
            <a:pPr algn="r">
              <a:spcAft>
                <a:spcPts val="0"/>
              </a:spcAft>
            </a:pPr>
            <a:r>
              <a:rPr sz="1050" b="1" i="0">
                <a:solidFill>
                  <a:srgbClr val="D31145"/>
                </a:solidFill>
                <a:latin typeface="Arial"/>
              </a:rPr>
              <a:t>AIA data</a:t>
            </a:r>
          </a:p>
        </p:txBody>
      </p:sp>
      <p:sp>
        <p:nvSpPr>
          <p:cNvPr id="74" name="Rounded Rectangle 73"/>
          <p:cNvSpPr/>
          <p:nvPr/>
        </p:nvSpPr>
        <p:spPr>
          <a:xfrm>
            <a:off x="3456432" y="2871216"/>
            <a:ext cx="5212080" cy="365760"/>
          </a:xfrm>
          <a:prstGeom prst="roundRect">
            <a:avLst>
              <a:gd name="adj" fmla="val 15000"/>
            </a:avLst>
          </a:prstGeom>
          <a:solidFill>
            <a:srgbClr val="FFFFFF"/>
          </a:solidFill>
          <a:ln>
            <a:noFill/>
          </a:ln>
        </p:spPr>
        <p:txBody>
          <a:bodyPr rtlCol="0" anchor="ctr"/>
          <a:lstStyle/>
          <a:p>
            <a:pPr algn="ctr"/>
          </a:p>
        </p:txBody>
      </p:sp>
      <p:sp>
        <p:nvSpPr>
          <p:cNvPr id="75" name="Oval 74"/>
          <p:cNvSpPr/>
          <p:nvPr/>
        </p:nvSpPr>
        <p:spPr>
          <a:xfrm>
            <a:off x="3547872" y="2926080"/>
            <a:ext cx="256032" cy="256032"/>
          </a:xfrm>
          <a:prstGeom prst="ellipse">
            <a:avLst/>
          </a:prstGeom>
          <a:solidFill>
            <a:srgbClr val="D31145"/>
          </a:solidFill>
          <a:ln>
            <a:noFill/>
          </a:ln>
        </p:spPr>
        <p:txBody>
          <a:bodyPr rtlCol="0" anchor="ctr" wrap="square" lIns="0" tIns="0" rIns="0" bIns="0">
            <a:noAutofit/>
          </a:bodyPr>
          <a:lstStyle/>
          <a:p>
            <a:pPr algn="ctr">
              <a:spcAft>
                <a:spcPts val="0"/>
              </a:spcAft>
            </a:pPr>
            <a:r>
              <a:rPr sz="1000" b="1" i="0">
                <a:solidFill>
                  <a:srgbClr val="FFFFFF"/>
                </a:solidFill>
                <a:latin typeface="Arial"/>
              </a:rPr>
              <a:t>4</a:t>
            </a:r>
          </a:p>
        </p:txBody>
      </p:sp>
      <p:sp>
        <p:nvSpPr>
          <p:cNvPr id="76" name="TextBox 75"/>
          <p:cNvSpPr txBox="1"/>
          <p:nvPr/>
        </p:nvSpPr>
        <p:spPr>
          <a:xfrm>
            <a:off x="3913632" y="2871216"/>
            <a:ext cx="3383280" cy="365760"/>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Groups the complaints into themes</a:t>
            </a:r>
          </a:p>
        </p:txBody>
      </p:sp>
      <p:sp>
        <p:nvSpPr>
          <p:cNvPr id="77" name="TextBox 76"/>
          <p:cNvSpPr txBox="1"/>
          <p:nvPr/>
        </p:nvSpPr>
        <p:spPr>
          <a:xfrm>
            <a:off x="7205472" y="2871216"/>
            <a:ext cx="1353312" cy="365760"/>
          </a:xfrm>
          <a:prstGeom prst="rect">
            <a:avLst/>
          </a:prstGeom>
          <a:noFill/>
        </p:spPr>
        <p:txBody>
          <a:bodyPr wrap="square" lIns="0" tIns="0" rIns="0" bIns="0" anchor="ctr">
            <a:noAutofit/>
          </a:bodyPr>
          <a:lstStyle/>
          <a:p>
            <a:pPr algn="r">
              <a:spcAft>
                <a:spcPts val="0"/>
              </a:spcAft>
            </a:pPr>
            <a:r>
              <a:rPr sz="1050" b="1" i="0">
                <a:solidFill>
                  <a:srgbClr val="D31145"/>
                </a:solidFill>
                <a:latin typeface="Arial"/>
              </a:rPr>
              <a:t>Internal AI tool</a:t>
            </a:r>
          </a:p>
        </p:txBody>
      </p:sp>
      <p:sp>
        <p:nvSpPr>
          <p:cNvPr id="78" name="Rounded Rectangle 77"/>
          <p:cNvSpPr/>
          <p:nvPr/>
        </p:nvSpPr>
        <p:spPr>
          <a:xfrm>
            <a:off x="3456432" y="3300984"/>
            <a:ext cx="5212080" cy="365760"/>
          </a:xfrm>
          <a:prstGeom prst="roundRect">
            <a:avLst>
              <a:gd name="adj" fmla="val 15000"/>
            </a:avLst>
          </a:prstGeom>
          <a:solidFill>
            <a:srgbClr val="FFFFFF"/>
          </a:solidFill>
          <a:ln>
            <a:noFill/>
          </a:ln>
        </p:spPr>
        <p:txBody>
          <a:bodyPr rtlCol="0" anchor="ctr"/>
          <a:lstStyle/>
          <a:p>
            <a:pPr algn="ctr"/>
          </a:p>
        </p:txBody>
      </p:sp>
      <p:sp>
        <p:nvSpPr>
          <p:cNvPr id="79" name="Oval 78"/>
          <p:cNvSpPr/>
          <p:nvPr/>
        </p:nvSpPr>
        <p:spPr>
          <a:xfrm>
            <a:off x="3547872" y="3355848"/>
            <a:ext cx="256032" cy="256032"/>
          </a:xfrm>
          <a:prstGeom prst="ellipse">
            <a:avLst/>
          </a:prstGeom>
          <a:solidFill>
            <a:srgbClr val="D31145"/>
          </a:solidFill>
          <a:ln>
            <a:noFill/>
          </a:ln>
        </p:spPr>
        <p:txBody>
          <a:bodyPr rtlCol="0" anchor="ctr" wrap="square" lIns="0" tIns="0" rIns="0" bIns="0">
            <a:noAutofit/>
          </a:bodyPr>
          <a:lstStyle/>
          <a:p>
            <a:pPr algn="ctr">
              <a:spcAft>
                <a:spcPts val="0"/>
              </a:spcAft>
            </a:pPr>
            <a:r>
              <a:rPr sz="1000" b="1" i="0">
                <a:solidFill>
                  <a:srgbClr val="FFFFFF"/>
                </a:solidFill>
                <a:latin typeface="Arial"/>
              </a:rPr>
              <a:t>5</a:t>
            </a:r>
          </a:p>
        </p:txBody>
      </p:sp>
      <p:sp>
        <p:nvSpPr>
          <p:cNvPr id="80" name="TextBox 79"/>
          <p:cNvSpPr txBox="1"/>
          <p:nvPr/>
        </p:nvSpPr>
        <p:spPr>
          <a:xfrm>
            <a:off x="3913632" y="3300984"/>
            <a:ext cx="3383280" cy="365760"/>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Checks the previous review and procedures</a:t>
            </a:r>
          </a:p>
        </p:txBody>
      </p:sp>
      <p:sp>
        <p:nvSpPr>
          <p:cNvPr id="81" name="TextBox 80"/>
          <p:cNvSpPr txBox="1"/>
          <p:nvPr/>
        </p:nvSpPr>
        <p:spPr>
          <a:xfrm>
            <a:off x="7205472" y="3300984"/>
            <a:ext cx="1353312" cy="365760"/>
          </a:xfrm>
          <a:prstGeom prst="rect">
            <a:avLst/>
          </a:prstGeom>
          <a:noFill/>
        </p:spPr>
        <p:txBody>
          <a:bodyPr wrap="square" lIns="0" tIns="0" rIns="0" bIns="0" anchor="ctr">
            <a:noAutofit/>
          </a:bodyPr>
          <a:lstStyle/>
          <a:p>
            <a:pPr algn="r">
              <a:spcAft>
                <a:spcPts val="0"/>
              </a:spcAft>
            </a:pPr>
            <a:r>
              <a:rPr sz="1050" b="1" i="0">
                <a:solidFill>
                  <a:srgbClr val="D31145"/>
                </a:solidFill>
                <a:latin typeface="Arial"/>
              </a:rPr>
              <a:t>AIA documents</a:t>
            </a:r>
          </a:p>
        </p:txBody>
      </p:sp>
      <p:sp>
        <p:nvSpPr>
          <p:cNvPr id="82" name="Rounded Rectangle 81"/>
          <p:cNvSpPr/>
          <p:nvPr/>
        </p:nvSpPr>
        <p:spPr>
          <a:xfrm>
            <a:off x="3456432" y="3730752"/>
            <a:ext cx="5212080" cy="365760"/>
          </a:xfrm>
          <a:prstGeom prst="roundRect">
            <a:avLst>
              <a:gd name="adj" fmla="val 15000"/>
            </a:avLst>
          </a:prstGeom>
          <a:solidFill>
            <a:srgbClr val="FFFFFF"/>
          </a:solidFill>
          <a:ln>
            <a:noFill/>
          </a:ln>
        </p:spPr>
        <p:txBody>
          <a:bodyPr rtlCol="0" anchor="ctr"/>
          <a:lstStyle/>
          <a:p>
            <a:pPr algn="ctr"/>
          </a:p>
        </p:txBody>
      </p:sp>
      <p:sp>
        <p:nvSpPr>
          <p:cNvPr id="83" name="Oval 82"/>
          <p:cNvSpPr/>
          <p:nvPr/>
        </p:nvSpPr>
        <p:spPr>
          <a:xfrm>
            <a:off x="3547872" y="3785616"/>
            <a:ext cx="256032" cy="256032"/>
          </a:xfrm>
          <a:prstGeom prst="ellipse">
            <a:avLst/>
          </a:prstGeom>
          <a:solidFill>
            <a:srgbClr val="D31145"/>
          </a:solidFill>
          <a:ln>
            <a:noFill/>
          </a:ln>
        </p:spPr>
        <p:txBody>
          <a:bodyPr rtlCol="0" anchor="ctr" wrap="square" lIns="0" tIns="0" rIns="0" bIns="0">
            <a:noAutofit/>
          </a:bodyPr>
          <a:lstStyle/>
          <a:p>
            <a:pPr algn="ctr">
              <a:spcAft>
                <a:spcPts val="0"/>
              </a:spcAft>
            </a:pPr>
            <a:r>
              <a:rPr sz="1000" b="1" i="0">
                <a:solidFill>
                  <a:srgbClr val="FFFFFF"/>
                </a:solidFill>
                <a:latin typeface="Arial"/>
              </a:rPr>
              <a:t>6</a:t>
            </a:r>
          </a:p>
        </p:txBody>
      </p:sp>
      <p:sp>
        <p:nvSpPr>
          <p:cNvPr id="84" name="TextBox 83"/>
          <p:cNvSpPr txBox="1"/>
          <p:nvPr/>
        </p:nvSpPr>
        <p:spPr>
          <a:xfrm>
            <a:off x="3913632" y="3730752"/>
            <a:ext cx="3383280" cy="365760"/>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Checks relevant Outlook and Teams updates</a:t>
            </a:r>
          </a:p>
        </p:txBody>
      </p:sp>
      <p:sp>
        <p:nvSpPr>
          <p:cNvPr id="85" name="TextBox 84"/>
          <p:cNvSpPr txBox="1"/>
          <p:nvPr/>
        </p:nvSpPr>
        <p:spPr>
          <a:xfrm>
            <a:off x="7205472" y="3730752"/>
            <a:ext cx="1353312" cy="365760"/>
          </a:xfrm>
          <a:prstGeom prst="rect">
            <a:avLst/>
          </a:prstGeom>
          <a:noFill/>
        </p:spPr>
        <p:txBody>
          <a:bodyPr wrap="square" lIns="0" tIns="0" rIns="0" bIns="0" anchor="ctr">
            <a:noAutofit/>
          </a:bodyPr>
          <a:lstStyle/>
          <a:p>
            <a:pPr algn="r">
              <a:spcAft>
                <a:spcPts val="0"/>
              </a:spcAft>
            </a:pPr>
            <a:r>
              <a:rPr sz="1050" b="1" i="0">
                <a:solidFill>
                  <a:srgbClr val="D31145"/>
                </a:solidFill>
                <a:latin typeface="Arial"/>
              </a:rPr>
              <a:t>Microsoft 365</a:t>
            </a:r>
          </a:p>
        </p:txBody>
      </p:sp>
      <p:sp>
        <p:nvSpPr>
          <p:cNvPr id="86" name="Rounded Rectangle 85"/>
          <p:cNvSpPr/>
          <p:nvPr/>
        </p:nvSpPr>
        <p:spPr>
          <a:xfrm>
            <a:off x="3456432" y="4160520"/>
            <a:ext cx="5212080" cy="365760"/>
          </a:xfrm>
          <a:prstGeom prst="roundRect">
            <a:avLst>
              <a:gd name="adj" fmla="val 15000"/>
            </a:avLst>
          </a:prstGeom>
          <a:solidFill>
            <a:srgbClr val="FFFFFF"/>
          </a:solidFill>
          <a:ln>
            <a:noFill/>
          </a:ln>
        </p:spPr>
        <p:txBody>
          <a:bodyPr rtlCol="0" anchor="ctr"/>
          <a:lstStyle/>
          <a:p>
            <a:pPr algn="ctr"/>
          </a:p>
        </p:txBody>
      </p:sp>
      <p:sp>
        <p:nvSpPr>
          <p:cNvPr id="87" name="Oval 86"/>
          <p:cNvSpPr/>
          <p:nvPr/>
        </p:nvSpPr>
        <p:spPr>
          <a:xfrm>
            <a:off x="3547872" y="4215384"/>
            <a:ext cx="256032" cy="256032"/>
          </a:xfrm>
          <a:prstGeom prst="ellipse">
            <a:avLst/>
          </a:prstGeom>
          <a:solidFill>
            <a:srgbClr val="D31145"/>
          </a:solidFill>
          <a:ln>
            <a:noFill/>
          </a:ln>
        </p:spPr>
        <p:txBody>
          <a:bodyPr rtlCol="0" anchor="ctr" wrap="square" lIns="0" tIns="0" rIns="0" bIns="0">
            <a:noAutofit/>
          </a:bodyPr>
          <a:lstStyle/>
          <a:p>
            <a:pPr algn="ctr">
              <a:spcAft>
                <a:spcPts val="0"/>
              </a:spcAft>
            </a:pPr>
            <a:r>
              <a:rPr sz="1000" b="1" i="0">
                <a:solidFill>
                  <a:srgbClr val="FFFFFF"/>
                </a:solidFill>
                <a:latin typeface="Arial"/>
              </a:rPr>
              <a:t>7</a:t>
            </a:r>
          </a:p>
        </p:txBody>
      </p:sp>
      <p:sp>
        <p:nvSpPr>
          <p:cNvPr id="88" name="TextBox 87"/>
          <p:cNvSpPr txBox="1"/>
          <p:nvPr/>
        </p:nvSpPr>
        <p:spPr>
          <a:xfrm>
            <a:off x="3913632" y="4160520"/>
            <a:ext cx="3383280" cy="365760"/>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Checks industry and regulatory context</a:t>
            </a:r>
          </a:p>
        </p:txBody>
      </p:sp>
      <p:sp>
        <p:nvSpPr>
          <p:cNvPr id="89" name="TextBox 88"/>
          <p:cNvSpPr txBox="1"/>
          <p:nvPr/>
        </p:nvSpPr>
        <p:spPr>
          <a:xfrm>
            <a:off x="7205472" y="4160520"/>
            <a:ext cx="1353312" cy="365760"/>
          </a:xfrm>
          <a:prstGeom prst="rect">
            <a:avLst/>
          </a:prstGeom>
          <a:noFill/>
        </p:spPr>
        <p:txBody>
          <a:bodyPr wrap="square" lIns="0" tIns="0" rIns="0" bIns="0" anchor="ctr">
            <a:noAutofit/>
          </a:bodyPr>
          <a:lstStyle/>
          <a:p>
            <a:pPr algn="r">
              <a:spcAft>
                <a:spcPts val="0"/>
              </a:spcAft>
            </a:pPr>
            <a:r>
              <a:rPr sz="1050" b="1" i="0">
                <a:solidFill>
                  <a:srgbClr val="D31145"/>
                </a:solidFill>
                <a:latin typeface="Arial"/>
              </a:rPr>
              <a:t>Approved sources</a:t>
            </a:r>
          </a:p>
        </p:txBody>
      </p:sp>
      <p:sp>
        <p:nvSpPr>
          <p:cNvPr id="90" name="Rounded Rectangle 89"/>
          <p:cNvSpPr/>
          <p:nvPr/>
        </p:nvSpPr>
        <p:spPr>
          <a:xfrm>
            <a:off x="3456432" y="4590288"/>
            <a:ext cx="5212080" cy="365760"/>
          </a:xfrm>
          <a:prstGeom prst="roundRect">
            <a:avLst>
              <a:gd name="adj" fmla="val 15000"/>
            </a:avLst>
          </a:prstGeom>
          <a:solidFill>
            <a:srgbClr val="FFFFFF"/>
          </a:solidFill>
          <a:ln>
            <a:noFill/>
          </a:ln>
        </p:spPr>
        <p:txBody>
          <a:bodyPr rtlCol="0" anchor="ctr"/>
          <a:lstStyle/>
          <a:p>
            <a:pPr algn="ctr"/>
          </a:p>
        </p:txBody>
      </p:sp>
      <p:sp>
        <p:nvSpPr>
          <p:cNvPr id="91" name="Oval 90"/>
          <p:cNvSpPr/>
          <p:nvPr/>
        </p:nvSpPr>
        <p:spPr>
          <a:xfrm>
            <a:off x="3547872" y="4645152"/>
            <a:ext cx="256032" cy="256032"/>
          </a:xfrm>
          <a:prstGeom prst="ellipse">
            <a:avLst/>
          </a:prstGeom>
          <a:solidFill>
            <a:srgbClr val="D31145"/>
          </a:solidFill>
          <a:ln>
            <a:noFill/>
          </a:ln>
        </p:spPr>
        <p:txBody>
          <a:bodyPr rtlCol="0" anchor="ctr" wrap="square" lIns="0" tIns="0" rIns="0" bIns="0">
            <a:noAutofit/>
          </a:bodyPr>
          <a:lstStyle/>
          <a:p>
            <a:pPr algn="ctr">
              <a:spcAft>
                <a:spcPts val="0"/>
              </a:spcAft>
            </a:pPr>
            <a:r>
              <a:rPr sz="1000" b="1" i="0">
                <a:solidFill>
                  <a:srgbClr val="FFFFFF"/>
                </a:solidFill>
                <a:latin typeface="Arial"/>
              </a:rPr>
              <a:t>8</a:t>
            </a:r>
          </a:p>
        </p:txBody>
      </p:sp>
      <p:sp>
        <p:nvSpPr>
          <p:cNvPr id="92" name="TextBox 91"/>
          <p:cNvSpPr txBox="1"/>
          <p:nvPr/>
        </p:nvSpPr>
        <p:spPr>
          <a:xfrm>
            <a:off x="3913632" y="4590288"/>
            <a:ext cx="4572000" cy="365760"/>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Analyses, compares, drafts the summary and slides</a:t>
            </a:r>
          </a:p>
        </p:txBody>
      </p:sp>
      <p:cxnSp>
        <p:nvCxnSpPr>
          <p:cNvPr id="93" name="Connector 92"/>
          <p:cNvCxnSpPr/>
          <p:nvPr/>
        </p:nvCxnSpPr>
        <p:spPr>
          <a:xfrm>
            <a:off x="8887968" y="3177540"/>
            <a:ext cx="237744" cy="0"/>
          </a:xfrm>
          <a:prstGeom prst="line">
            <a:avLst/>
          </a:prstGeom>
          <a:ln w="25400">
            <a:solidFill>
              <a:srgbClr val="D31145"/>
            </a:solidFill>
            <a:tailEnd type="triangle" w="med" len="med"/>
          </a:ln>
        </p:spPr>
      </p:cxnSp>
      <p:sp>
        <p:nvSpPr>
          <p:cNvPr id="94" name="Rounded Rectangle 93"/>
          <p:cNvSpPr/>
          <p:nvPr/>
        </p:nvSpPr>
        <p:spPr>
          <a:xfrm>
            <a:off x="9162288" y="1325880"/>
            <a:ext cx="2670048" cy="3703320"/>
          </a:xfrm>
          <a:prstGeom prst="roundRect">
            <a:avLst>
              <a:gd name="adj" fmla="val 4109"/>
            </a:avLst>
          </a:prstGeom>
          <a:solidFill>
            <a:srgbClr val="FFFFFF"/>
          </a:solidFill>
          <a:ln w="19050">
            <a:solidFill>
              <a:srgbClr val="333D47"/>
            </a:solidFill>
          </a:ln>
        </p:spPr>
        <p:txBody>
          <a:bodyPr rtlCol="0" anchor="ctr"/>
          <a:lstStyle/>
          <a:p>
            <a:pPr algn="ctr"/>
          </a:p>
        </p:txBody>
      </p:sp>
      <p:sp>
        <p:nvSpPr>
          <p:cNvPr id="95" name="Oval 94"/>
          <p:cNvSpPr/>
          <p:nvPr/>
        </p:nvSpPr>
        <p:spPr>
          <a:xfrm>
            <a:off x="9363456" y="1527048"/>
            <a:ext cx="329184" cy="329184"/>
          </a:xfrm>
          <a:prstGeom prst="ellipse">
            <a:avLst/>
          </a:prstGeom>
          <a:solidFill>
            <a:srgbClr val="333D47"/>
          </a:solidFill>
          <a:ln>
            <a:noFill/>
          </a:ln>
        </p:spPr>
        <p:txBody>
          <a:bodyPr rtlCol="0" anchor="ctr" wrap="square" lIns="0" tIns="0" rIns="0" bIns="0">
            <a:noAutofit/>
          </a:bodyPr>
          <a:lstStyle/>
          <a:p>
            <a:pPr algn="ctr">
              <a:spcAft>
                <a:spcPts val="0"/>
              </a:spcAft>
            </a:pPr>
            <a:r>
              <a:rPr sz="1200" b="1" i="0">
                <a:solidFill>
                  <a:srgbClr val="FFFFFF"/>
                </a:solidFill>
                <a:latin typeface="Arial"/>
              </a:rPr>
              <a:t>9</a:t>
            </a:r>
          </a:p>
        </p:txBody>
      </p:sp>
      <p:sp>
        <p:nvSpPr>
          <p:cNvPr id="96" name="TextBox 95"/>
          <p:cNvSpPr txBox="1"/>
          <p:nvPr/>
        </p:nvSpPr>
        <p:spPr>
          <a:xfrm>
            <a:off x="9784080" y="1508760"/>
            <a:ext cx="1938528" cy="365760"/>
          </a:xfrm>
          <a:prstGeom prst="rect">
            <a:avLst/>
          </a:prstGeom>
          <a:noFill/>
        </p:spPr>
        <p:txBody>
          <a:bodyPr wrap="square" lIns="0" tIns="0" rIns="0" bIns="0" anchor="ctr">
            <a:noAutofit/>
          </a:bodyPr>
          <a:lstStyle/>
          <a:p>
            <a:pPr algn="l">
              <a:spcAft>
                <a:spcPts val="0"/>
              </a:spcAft>
            </a:pPr>
            <a:r>
              <a:rPr sz="1050" b="1" i="0" spc="80">
                <a:solidFill>
                  <a:srgbClr val="333D47"/>
                </a:solidFill>
                <a:latin typeface="Arial"/>
              </a:rPr>
              <a:t>YOU DECIDE</a:t>
            </a:r>
          </a:p>
        </p:txBody>
      </p:sp>
      <p:sp>
        <p:nvSpPr>
          <p:cNvPr id="97" name="Rounded Rectangle 96"/>
          <p:cNvSpPr/>
          <p:nvPr/>
        </p:nvSpPr>
        <p:spPr>
          <a:xfrm>
            <a:off x="9363456" y="2057400"/>
            <a:ext cx="2267712" cy="402336"/>
          </a:xfrm>
          <a:prstGeom prst="roundRect">
            <a:avLst>
              <a:gd name="adj" fmla="val 13636"/>
            </a:avLst>
          </a:prstGeom>
          <a:solidFill>
            <a:srgbClr val="F4F1EF"/>
          </a:solidFill>
          <a:ln>
            <a:noFill/>
          </a:ln>
        </p:spPr>
        <p:txBody>
          <a:bodyPr rtlCol="0" anchor="ctr"/>
          <a:lstStyle/>
          <a:p>
            <a:pPr algn="ctr"/>
          </a:p>
        </p:txBody>
      </p:sp>
      <p:pic>
        <p:nvPicPr>
          <p:cNvPr id="98" name="Picture 97" descr="image.png"/>
          <p:cNvPicPr>
            <a:picLocks noChangeAspect="1"/>
          </p:cNvPicPr>
          <p:nvPr/>
        </p:nvPicPr>
        <p:blipFill>
          <a:blip r:embed="rId4"/>
          <a:stretch>
            <a:fillRect/>
          </a:stretch>
        </p:blipFill>
        <p:spPr>
          <a:xfrm>
            <a:off x="9454896" y="2130552"/>
            <a:ext cx="256032" cy="256032"/>
          </a:xfrm>
          <a:prstGeom prst="rect">
            <a:avLst/>
          </a:prstGeom>
        </p:spPr>
      </p:pic>
      <p:sp>
        <p:nvSpPr>
          <p:cNvPr id="99" name="TextBox 98"/>
          <p:cNvSpPr txBox="1"/>
          <p:nvPr/>
        </p:nvSpPr>
        <p:spPr>
          <a:xfrm>
            <a:off x="9802368" y="2057400"/>
            <a:ext cx="1801368" cy="402336"/>
          </a:xfrm>
          <a:prstGeom prst="rect">
            <a:avLst/>
          </a:prstGeom>
          <a:noFill/>
        </p:spPr>
        <p:txBody>
          <a:bodyPr wrap="square" lIns="0" tIns="0" rIns="0" bIns="0" anchor="ctr">
            <a:noAutofit/>
          </a:bodyPr>
          <a:lstStyle/>
          <a:p>
            <a:pPr algn="l">
              <a:spcAft>
                <a:spcPts val="0"/>
              </a:spcAft>
            </a:pPr>
            <a:r>
              <a:rPr sz="1200" b="1" i="0">
                <a:solidFill>
                  <a:srgbClr val="333D47"/>
                </a:solidFill>
                <a:latin typeface="Arial"/>
              </a:rPr>
              <a:t>Management summary</a:t>
            </a:r>
          </a:p>
        </p:txBody>
      </p:sp>
      <p:sp>
        <p:nvSpPr>
          <p:cNvPr id="100" name="Rounded Rectangle 99"/>
          <p:cNvSpPr/>
          <p:nvPr/>
        </p:nvSpPr>
        <p:spPr>
          <a:xfrm>
            <a:off x="9363456" y="2560320"/>
            <a:ext cx="2267712" cy="402336"/>
          </a:xfrm>
          <a:prstGeom prst="roundRect">
            <a:avLst>
              <a:gd name="adj" fmla="val 13636"/>
            </a:avLst>
          </a:prstGeom>
          <a:solidFill>
            <a:srgbClr val="F4F1EF"/>
          </a:solidFill>
          <a:ln>
            <a:noFill/>
          </a:ln>
        </p:spPr>
        <p:txBody>
          <a:bodyPr rtlCol="0" anchor="ctr"/>
          <a:lstStyle/>
          <a:p>
            <a:pPr algn="ctr"/>
          </a:p>
        </p:txBody>
      </p:sp>
      <p:pic>
        <p:nvPicPr>
          <p:cNvPr id="101" name="Picture 100" descr="LuPresentation_c.png"/>
          <p:cNvPicPr>
            <a:picLocks noChangeAspect="1"/>
          </p:cNvPicPr>
          <p:nvPr/>
        </p:nvPicPr>
        <p:blipFill>
          <a:blip r:embed="rId5"/>
          <a:stretch>
            <a:fillRect/>
          </a:stretch>
        </p:blipFill>
        <p:spPr>
          <a:xfrm>
            <a:off x="9454896" y="2633472"/>
            <a:ext cx="256032" cy="256032"/>
          </a:xfrm>
          <a:prstGeom prst="rect">
            <a:avLst/>
          </a:prstGeom>
        </p:spPr>
      </p:pic>
      <p:sp>
        <p:nvSpPr>
          <p:cNvPr id="102" name="TextBox 101"/>
          <p:cNvSpPr txBox="1"/>
          <p:nvPr/>
        </p:nvSpPr>
        <p:spPr>
          <a:xfrm>
            <a:off x="9802368" y="2560320"/>
            <a:ext cx="1801368" cy="402336"/>
          </a:xfrm>
          <a:prstGeom prst="rect">
            <a:avLst/>
          </a:prstGeom>
          <a:noFill/>
        </p:spPr>
        <p:txBody>
          <a:bodyPr wrap="square" lIns="0" tIns="0" rIns="0" bIns="0" anchor="ctr">
            <a:noAutofit/>
          </a:bodyPr>
          <a:lstStyle/>
          <a:p>
            <a:pPr algn="l">
              <a:spcAft>
                <a:spcPts val="0"/>
              </a:spcAft>
            </a:pPr>
            <a:r>
              <a:rPr sz="1200" b="1" i="0">
                <a:solidFill>
                  <a:srgbClr val="333D47"/>
                </a:solidFill>
                <a:latin typeface="Arial"/>
              </a:rPr>
              <a:t>Draft slides</a:t>
            </a:r>
          </a:p>
        </p:txBody>
      </p:sp>
      <p:sp>
        <p:nvSpPr>
          <p:cNvPr id="103" name="TextBox 102"/>
          <p:cNvSpPr txBox="1"/>
          <p:nvPr/>
        </p:nvSpPr>
        <p:spPr>
          <a:xfrm>
            <a:off x="9363456" y="3200400"/>
            <a:ext cx="2267712" cy="1097280"/>
          </a:xfrm>
          <a:prstGeom prst="rect">
            <a:avLst/>
          </a:prstGeom>
          <a:noFill/>
        </p:spPr>
        <p:txBody>
          <a:bodyPr wrap="square" lIns="0" tIns="0" rIns="0" bIns="0" anchor="t">
            <a:noAutofit/>
          </a:bodyPr>
          <a:lstStyle/>
          <a:p>
            <a:pPr algn="l">
              <a:lnSpc>
                <a:spcPct val="98000"/>
              </a:lnSpc>
              <a:spcAft>
                <a:spcPts val="0"/>
              </a:spcAft>
            </a:pPr>
            <a:r>
              <a:rPr sz="1500" b="1" i="0">
                <a:solidFill>
                  <a:srgbClr val="333D47"/>
                </a:solidFill>
                <a:latin typeface="Arial"/>
              </a:rPr>
              <a:t>Review, edit if needed, and approve.</a:t>
            </a:r>
          </a:p>
        </p:txBody>
      </p:sp>
      <p:sp>
        <p:nvSpPr>
          <p:cNvPr id="104" name="TextBox 103"/>
          <p:cNvSpPr txBox="1"/>
          <p:nvPr/>
        </p:nvSpPr>
        <p:spPr>
          <a:xfrm>
            <a:off x="9363456" y="3977640"/>
            <a:ext cx="2267712" cy="1005840"/>
          </a:xfrm>
          <a:prstGeom prst="rect">
            <a:avLst/>
          </a:prstGeom>
          <a:noFill/>
        </p:spPr>
        <p:txBody>
          <a:bodyPr wrap="square" lIns="0" tIns="0" rIns="0" bIns="0" anchor="t">
            <a:noAutofit/>
          </a:bodyPr>
          <a:lstStyle/>
          <a:p>
            <a:pPr algn="l">
              <a:spcAft>
                <a:spcPts val="0"/>
              </a:spcAft>
            </a:pPr>
            <a:r>
              <a:rPr sz="1150" b="0" i="0">
                <a:solidFill>
                  <a:srgbClr val="5F6770"/>
                </a:solidFill>
                <a:latin typeface="Arial"/>
              </a:rPr>
              <a:t>Nothing is final, sent or entered into a system before you approve.</a:t>
            </a:r>
          </a:p>
        </p:txBody>
      </p:sp>
      <p:sp>
        <p:nvSpPr>
          <p:cNvPr id="105" name="Rounded Rectangle 104"/>
          <p:cNvSpPr/>
          <p:nvPr/>
        </p:nvSpPr>
        <p:spPr>
          <a:xfrm>
            <a:off x="356616" y="5193792"/>
            <a:ext cx="11475720" cy="457200"/>
          </a:xfrm>
          <a:prstGeom prst="roundRect">
            <a:avLst>
              <a:gd name="adj" fmla="val 16000"/>
            </a:avLst>
          </a:prstGeom>
          <a:solidFill>
            <a:srgbClr val="333D47"/>
          </a:solidFill>
          <a:ln>
            <a:noFill/>
          </a:ln>
        </p:spPr>
        <p:txBody>
          <a:bodyPr rtlCol="0" anchor="ctr"/>
          <a:lstStyle/>
          <a:p>
            <a:pPr algn="ctr"/>
          </a:p>
        </p:txBody>
      </p:sp>
      <p:sp>
        <p:nvSpPr>
          <p:cNvPr id="106" name="TextBox 105"/>
          <p:cNvSpPr txBox="1"/>
          <p:nvPr/>
        </p:nvSpPr>
        <p:spPr>
          <a:xfrm>
            <a:off x="548640" y="5193792"/>
            <a:ext cx="11064240" cy="457200"/>
          </a:xfrm>
          <a:prstGeom prst="rect">
            <a:avLst/>
          </a:prstGeom>
          <a:noFill/>
        </p:spPr>
        <p:txBody>
          <a:bodyPr wrap="square" lIns="0" tIns="0" rIns="0" bIns="0" anchor="ctr">
            <a:noAutofit/>
          </a:bodyPr>
          <a:lstStyle/>
          <a:p>
            <a:pPr algn="l">
              <a:spcAft>
                <a:spcPts val="0"/>
              </a:spcAft>
            </a:pPr>
            <a:r>
              <a:rPr sz="1300" b="1" i="0">
                <a:solidFill>
                  <a:srgbClr val="FFFFFF"/>
                </a:solidFill>
                <a:latin typeface="Arial"/>
              </a:rPr>
              <a:t>Today: </a:t>
            </a:r>
            <a:r>
              <a:rPr sz="1300" b="0" i="0">
                <a:solidFill>
                  <a:srgbClr val="FFFFFF"/>
                </a:solidFill>
                <a:latin typeface="Arial"/>
              </a:rPr>
              <a:t>you do every step in between yourself.     </a:t>
            </a:r>
            <a:r>
              <a:rPr sz="1300" b="1" i="0">
                <a:solidFill>
                  <a:srgbClr val="F6CFDA"/>
                </a:solidFill>
                <a:latin typeface="Arial"/>
              </a:rPr>
              <a:t>With Riley: </a:t>
            </a:r>
            <a:r>
              <a:rPr sz="1300" b="0" i="0">
                <a:solidFill>
                  <a:srgbClr val="FFFFFF"/>
                </a:solidFill>
                <a:latin typeface="Arial"/>
              </a:rPr>
              <a:t>you set the outcome, check the work and decide.</a:t>
            </a:r>
          </a:p>
        </p:txBody>
      </p:sp>
      <p:sp>
        <p:nvSpPr>
          <p:cNvPr id="107" name="TextBox 106"/>
          <p:cNvSpPr txBox="1"/>
          <p:nvPr/>
        </p:nvSpPr>
        <p:spPr>
          <a:xfrm>
            <a:off x="356616" y="5705856"/>
            <a:ext cx="10058400" cy="237744"/>
          </a:xfrm>
          <a:prstGeom prst="rect">
            <a:avLst/>
          </a:prstGeom>
          <a:noFill/>
        </p:spPr>
        <p:txBody>
          <a:bodyPr wrap="square" lIns="0" tIns="0" rIns="0" bIns="0" anchor="t">
            <a:noAutofit/>
          </a:bodyPr>
          <a:lstStyle/>
          <a:p>
            <a:pPr algn="l">
              <a:spcAft>
                <a:spcPts val="0"/>
              </a:spcAft>
            </a:pPr>
            <a:r>
              <a:rPr sz="1000" b="0" i="1">
                <a:solidFill>
                  <a:srgbClr val="5F6770"/>
                </a:solidFill>
                <a:latin typeface="Arial"/>
              </a:rPr>
              <a:t>Illustrative example, not the committed pilot. A lower-sensitivity internal workflow may be chosen first.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One employee. Far more execution capacity.</a:t>
            </a:r>
          </a:p>
        </p:txBody>
      </p:sp>
      <p:sp>
        <p:nvSpPr>
          <p:cNvPr id="34" name="Slide Number Placeholder"/>
          <p:cNvSpPr>
            <a:spLocks noGrp="1"/>
          </p:cNvSpPr>
          <p:nvPr>
            <p:ph type="sldNum" sz="quarter" idx="4"/>
          </p:nvPr>
        </p:nvSpPr>
        <p:spPr/>
        <p:txBody>
          <a:bodyPr/>
          <a:lstStyle/>
          <a:p>
            <a:fld id="{18A41853-EF22-D446-BDBC-A7CF3FE93503}" type="slidenum">
              <a:rPr lang="en-US"/>
              <a:t>5</a:t>
            </a:fld>
            <a:endParaRPr lang="en-US" dirty="0"/>
          </a:p>
        </p:txBody>
      </p:sp>
      <p:sp>
        <p:nvSpPr>
          <p:cNvPr id="35" name="TextBox 3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IMPACT  ·  THE AMBITION</a:t>
            </a:r>
          </a:p>
        </p:txBody>
      </p:sp>
      <p:sp>
        <p:nvSpPr>
          <p:cNvPr id="36" name="TextBox 35"/>
          <p:cNvSpPr txBox="1"/>
          <p:nvPr/>
        </p:nvSpPr>
        <p:spPr>
          <a:xfrm>
            <a:off x="356616" y="1024128"/>
            <a:ext cx="11155680" cy="365760"/>
          </a:xfrm>
          <a:prstGeom prst="rect">
            <a:avLst/>
          </a:prstGeom>
          <a:noFill/>
        </p:spPr>
        <p:txBody>
          <a:bodyPr wrap="square" lIns="0" tIns="0" rIns="0" bIns="0" anchor="t">
            <a:noAutofit/>
          </a:bodyPr>
          <a:lstStyle/>
          <a:p>
            <a:pPr algn="l">
              <a:spcAft>
                <a:spcPts val="0"/>
              </a:spcAft>
            </a:pPr>
            <a:r>
              <a:rPr sz="1700" b="0" i="0">
                <a:solidFill>
                  <a:srgbClr val="5F6770"/>
                </a:solidFill>
                <a:latin typeface="Arial"/>
              </a:rPr>
              <a:t>The opportunity isn’t minutes saved. It’s how much more finished work one employee can deliver.</a:t>
            </a:r>
          </a:p>
        </p:txBody>
      </p:sp>
      <p:sp>
        <p:nvSpPr>
          <p:cNvPr id="37" name="TextBox 36"/>
          <p:cNvSpPr txBox="1"/>
          <p:nvPr/>
        </p:nvSpPr>
        <p:spPr>
          <a:xfrm>
            <a:off x="356616" y="1691640"/>
            <a:ext cx="1737360" cy="274320"/>
          </a:xfrm>
          <a:prstGeom prst="rect">
            <a:avLst/>
          </a:prstGeom>
          <a:noFill/>
        </p:spPr>
        <p:txBody>
          <a:bodyPr wrap="square" lIns="0" tIns="0" rIns="0" bIns="0" anchor="t">
            <a:noAutofit/>
          </a:bodyPr>
          <a:lstStyle/>
          <a:p>
            <a:pPr algn="l">
              <a:spcAft>
                <a:spcPts val="0"/>
              </a:spcAft>
            </a:pPr>
            <a:r>
              <a:rPr sz="1150" b="1" i="0" spc="100">
                <a:solidFill>
                  <a:srgbClr val="5F6770"/>
                </a:solidFill>
                <a:latin typeface="Arial"/>
              </a:rPr>
              <a:t>TODAY</a:t>
            </a:r>
          </a:p>
        </p:txBody>
      </p:sp>
      <p:sp>
        <p:nvSpPr>
          <p:cNvPr id="38" name="TextBox 37"/>
          <p:cNvSpPr txBox="1"/>
          <p:nvPr/>
        </p:nvSpPr>
        <p:spPr>
          <a:xfrm>
            <a:off x="356616" y="1965960"/>
            <a:ext cx="1737360" cy="45720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the employee is the</a:t>
            </a:r>
          </a:p>
        </p:txBody>
      </p:sp>
      <p:sp>
        <p:nvSpPr>
          <p:cNvPr id="39" name="Rounded Rectangle 38"/>
          <p:cNvSpPr/>
          <p:nvPr/>
        </p:nvSpPr>
        <p:spPr>
          <a:xfrm>
            <a:off x="2148840" y="1691640"/>
            <a:ext cx="1645920" cy="713232"/>
          </a:xfrm>
          <a:prstGeom prst="roundRect">
            <a:avLst>
              <a:gd name="adj" fmla="val 12820"/>
            </a:avLst>
          </a:prstGeom>
          <a:solidFill>
            <a:srgbClr val="F4F1EF"/>
          </a:solidFill>
          <a:ln>
            <a:noFill/>
          </a:ln>
        </p:spPr>
        <p:txBody>
          <a:bodyPr rtlCol="0" anchor="ctr" wrap="square" lIns="36576" tIns="36576" rIns="36576" bIns="36576">
            <a:noAutofit/>
          </a:bodyPr>
          <a:lstStyle/>
          <a:p>
            <a:pPr algn="ctr">
              <a:spcAft>
                <a:spcPts val="0"/>
              </a:spcAft>
            </a:pPr>
            <a:r>
              <a:rPr sz="1450" b="1" i="0">
                <a:solidFill>
                  <a:srgbClr val="333D47"/>
                </a:solidFill>
                <a:latin typeface="Arial"/>
              </a:rPr>
              <a:t>Requester</a:t>
            </a:r>
          </a:p>
        </p:txBody>
      </p:sp>
      <p:sp>
        <p:nvSpPr>
          <p:cNvPr id="40" name="TextBox 39"/>
          <p:cNvSpPr txBox="1"/>
          <p:nvPr/>
        </p:nvSpPr>
        <p:spPr>
          <a:xfrm>
            <a:off x="3794760" y="1691640"/>
            <a:ext cx="292608" cy="713232"/>
          </a:xfrm>
          <a:prstGeom prst="rect">
            <a:avLst/>
          </a:prstGeom>
          <a:noFill/>
        </p:spPr>
        <p:txBody>
          <a:bodyPr wrap="square" lIns="0" tIns="0" rIns="0" bIns="0" anchor="ctr">
            <a:noAutofit/>
          </a:bodyPr>
          <a:lstStyle/>
          <a:p>
            <a:pPr algn="ctr">
              <a:spcAft>
                <a:spcPts val="0"/>
              </a:spcAft>
            </a:pPr>
            <a:r>
              <a:rPr sz="2000" b="1" i="0">
                <a:solidFill>
                  <a:srgbClr val="9B928B"/>
                </a:solidFill>
                <a:latin typeface="Arial"/>
              </a:rPr>
              <a:t>+</a:t>
            </a:r>
          </a:p>
        </p:txBody>
      </p:sp>
      <p:sp>
        <p:nvSpPr>
          <p:cNvPr id="41" name="Rounded Rectangle 40"/>
          <p:cNvSpPr/>
          <p:nvPr/>
        </p:nvSpPr>
        <p:spPr>
          <a:xfrm>
            <a:off x="4087368" y="1691640"/>
            <a:ext cx="1645920" cy="713232"/>
          </a:xfrm>
          <a:prstGeom prst="roundRect">
            <a:avLst>
              <a:gd name="adj" fmla="val 12820"/>
            </a:avLst>
          </a:prstGeom>
          <a:solidFill>
            <a:srgbClr val="F4F1EF"/>
          </a:solidFill>
          <a:ln>
            <a:noFill/>
          </a:ln>
        </p:spPr>
        <p:txBody>
          <a:bodyPr rtlCol="0" anchor="ctr" wrap="square" lIns="36576" tIns="36576" rIns="36576" bIns="36576">
            <a:noAutofit/>
          </a:bodyPr>
          <a:lstStyle/>
          <a:p>
            <a:pPr algn="ctr">
              <a:spcAft>
                <a:spcPts val="0"/>
              </a:spcAft>
            </a:pPr>
            <a:r>
              <a:rPr sz="1450" b="1" i="0">
                <a:solidFill>
                  <a:srgbClr val="333D47"/>
                </a:solidFill>
                <a:latin typeface="Arial"/>
              </a:rPr>
              <a:t>Researcher</a:t>
            </a:r>
          </a:p>
        </p:txBody>
      </p:sp>
      <p:sp>
        <p:nvSpPr>
          <p:cNvPr id="42" name="TextBox 41"/>
          <p:cNvSpPr txBox="1"/>
          <p:nvPr/>
        </p:nvSpPr>
        <p:spPr>
          <a:xfrm>
            <a:off x="5733288" y="1691640"/>
            <a:ext cx="292608" cy="713232"/>
          </a:xfrm>
          <a:prstGeom prst="rect">
            <a:avLst/>
          </a:prstGeom>
          <a:noFill/>
        </p:spPr>
        <p:txBody>
          <a:bodyPr wrap="square" lIns="0" tIns="0" rIns="0" bIns="0" anchor="ctr">
            <a:noAutofit/>
          </a:bodyPr>
          <a:lstStyle/>
          <a:p>
            <a:pPr algn="ctr">
              <a:spcAft>
                <a:spcPts val="0"/>
              </a:spcAft>
            </a:pPr>
            <a:r>
              <a:rPr sz="2000" b="1" i="0">
                <a:solidFill>
                  <a:srgbClr val="9B928B"/>
                </a:solidFill>
                <a:latin typeface="Arial"/>
              </a:rPr>
              <a:t>+</a:t>
            </a:r>
          </a:p>
        </p:txBody>
      </p:sp>
      <p:sp>
        <p:nvSpPr>
          <p:cNvPr id="43" name="Rounded Rectangle 42"/>
          <p:cNvSpPr/>
          <p:nvPr/>
        </p:nvSpPr>
        <p:spPr>
          <a:xfrm>
            <a:off x="6025896" y="1691640"/>
            <a:ext cx="1645920" cy="713232"/>
          </a:xfrm>
          <a:prstGeom prst="roundRect">
            <a:avLst>
              <a:gd name="adj" fmla="val 12820"/>
            </a:avLst>
          </a:prstGeom>
          <a:solidFill>
            <a:srgbClr val="F4F1EF"/>
          </a:solidFill>
          <a:ln>
            <a:noFill/>
          </a:ln>
        </p:spPr>
        <p:txBody>
          <a:bodyPr rtlCol="0" anchor="ctr" wrap="square" lIns="36576" tIns="36576" rIns="36576" bIns="36576">
            <a:noAutofit/>
          </a:bodyPr>
          <a:lstStyle/>
          <a:p>
            <a:pPr algn="ctr">
              <a:spcAft>
                <a:spcPts val="0"/>
              </a:spcAft>
            </a:pPr>
            <a:r>
              <a:rPr sz="1450" b="1" i="0">
                <a:solidFill>
                  <a:srgbClr val="333D47"/>
                </a:solidFill>
                <a:latin typeface="Arial"/>
              </a:rPr>
              <a:t>Coordinator</a:t>
            </a:r>
          </a:p>
        </p:txBody>
      </p:sp>
      <p:sp>
        <p:nvSpPr>
          <p:cNvPr id="44" name="TextBox 43"/>
          <p:cNvSpPr txBox="1"/>
          <p:nvPr/>
        </p:nvSpPr>
        <p:spPr>
          <a:xfrm>
            <a:off x="7671816" y="1691640"/>
            <a:ext cx="292608" cy="713232"/>
          </a:xfrm>
          <a:prstGeom prst="rect">
            <a:avLst/>
          </a:prstGeom>
          <a:noFill/>
        </p:spPr>
        <p:txBody>
          <a:bodyPr wrap="square" lIns="0" tIns="0" rIns="0" bIns="0" anchor="ctr">
            <a:noAutofit/>
          </a:bodyPr>
          <a:lstStyle/>
          <a:p>
            <a:pPr algn="ctr">
              <a:spcAft>
                <a:spcPts val="0"/>
              </a:spcAft>
            </a:pPr>
            <a:r>
              <a:rPr sz="2000" b="1" i="0">
                <a:solidFill>
                  <a:srgbClr val="9B928B"/>
                </a:solidFill>
                <a:latin typeface="Arial"/>
              </a:rPr>
              <a:t>+</a:t>
            </a:r>
          </a:p>
        </p:txBody>
      </p:sp>
      <p:sp>
        <p:nvSpPr>
          <p:cNvPr id="45" name="Rounded Rectangle 44"/>
          <p:cNvSpPr/>
          <p:nvPr/>
        </p:nvSpPr>
        <p:spPr>
          <a:xfrm>
            <a:off x="7964424" y="1691640"/>
            <a:ext cx="1645920" cy="713232"/>
          </a:xfrm>
          <a:prstGeom prst="roundRect">
            <a:avLst>
              <a:gd name="adj" fmla="val 12820"/>
            </a:avLst>
          </a:prstGeom>
          <a:solidFill>
            <a:srgbClr val="F4F1EF"/>
          </a:solidFill>
          <a:ln>
            <a:noFill/>
          </a:ln>
        </p:spPr>
        <p:txBody>
          <a:bodyPr rtlCol="0" anchor="ctr" wrap="square" lIns="36576" tIns="36576" rIns="36576" bIns="36576">
            <a:noAutofit/>
          </a:bodyPr>
          <a:lstStyle/>
          <a:p>
            <a:pPr algn="ctr">
              <a:spcAft>
                <a:spcPts val="0"/>
              </a:spcAft>
            </a:pPr>
            <a:r>
              <a:rPr sz="1450" b="1" i="0">
                <a:solidFill>
                  <a:srgbClr val="333D47"/>
                </a:solidFill>
                <a:latin typeface="Arial"/>
              </a:rPr>
              <a:t>Analyst</a:t>
            </a:r>
          </a:p>
        </p:txBody>
      </p:sp>
      <p:sp>
        <p:nvSpPr>
          <p:cNvPr id="46" name="TextBox 45"/>
          <p:cNvSpPr txBox="1"/>
          <p:nvPr/>
        </p:nvSpPr>
        <p:spPr>
          <a:xfrm>
            <a:off x="9610344" y="1691640"/>
            <a:ext cx="292608" cy="713232"/>
          </a:xfrm>
          <a:prstGeom prst="rect">
            <a:avLst/>
          </a:prstGeom>
          <a:noFill/>
        </p:spPr>
        <p:txBody>
          <a:bodyPr wrap="square" lIns="0" tIns="0" rIns="0" bIns="0" anchor="ctr">
            <a:noAutofit/>
          </a:bodyPr>
          <a:lstStyle/>
          <a:p>
            <a:pPr algn="ctr">
              <a:spcAft>
                <a:spcPts val="0"/>
              </a:spcAft>
            </a:pPr>
            <a:r>
              <a:rPr sz="2000" b="1" i="0">
                <a:solidFill>
                  <a:srgbClr val="9B928B"/>
                </a:solidFill>
                <a:latin typeface="Arial"/>
              </a:rPr>
              <a:t>+</a:t>
            </a:r>
          </a:p>
        </p:txBody>
      </p:sp>
      <p:sp>
        <p:nvSpPr>
          <p:cNvPr id="47" name="Rounded Rectangle 46"/>
          <p:cNvSpPr/>
          <p:nvPr/>
        </p:nvSpPr>
        <p:spPr>
          <a:xfrm>
            <a:off x="9902952" y="1691640"/>
            <a:ext cx="1645920" cy="713232"/>
          </a:xfrm>
          <a:prstGeom prst="roundRect">
            <a:avLst>
              <a:gd name="adj" fmla="val 12820"/>
            </a:avLst>
          </a:prstGeom>
          <a:solidFill>
            <a:srgbClr val="F4F1EF"/>
          </a:solidFill>
          <a:ln>
            <a:noFill/>
          </a:ln>
        </p:spPr>
        <p:txBody>
          <a:bodyPr rtlCol="0" anchor="ctr" wrap="square" lIns="36576" tIns="36576" rIns="36576" bIns="36576">
            <a:noAutofit/>
          </a:bodyPr>
          <a:lstStyle/>
          <a:p>
            <a:pPr algn="ctr">
              <a:spcAft>
                <a:spcPts val="0"/>
              </a:spcAft>
            </a:pPr>
            <a:r>
              <a:rPr sz="1450" b="1" i="0">
                <a:solidFill>
                  <a:srgbClr val="333D47"/>
                </a:solidFill>
                <a:latin typeface="Arial"/>
              </a:rPr>
              <a:t>Drafter</a:t>
            </a:r>
          </a:p>
        </p:txBody>
      </p:sp>
      <p:sp>
        <p:nvSpPr>
          <p:cNvPr id="48" name="TextBox 47"/>
          <p:cNvSpPr txBox="1"/>
          <p:nvPr/>
        </p:nvSpPr>
        <p:spPr>
          <a:xfrm>
            <a:off x="356616" y="2761488"/>
            <a:ext cx="1737360" cy="274320"/>
          </a:xfrm>
          <a:prstGeom prst="rect">
            <a:avLst/>
          </a:prstGeom>
          <a:noFill/>
        </p:spPr>
        <p:txBody>
          <a:bodyPr wrap="square" lIns="0" tIns="0" rIns="0" bIns="0" anchor="t">
            <a:noAutofit/>
          </a:bodyPr>
          <a:lstStyle/>
          <a:p>
            <a:pPr algn="l">
              <a:spcAft>
                <a:spcPts val="0"/>
              </a:spcAft>
            </a:pPr>
            <a:r>
              <a:rPr sz="1150" b="1" i="0" spc="100">
                <a:solidFill>
                  <a:srgbClr val="D31145"/>
                </a:solidFill>
                <a:latin typeface="Arial"/>
              </a:rPr>
              <a:t>WITH RILEY</a:t>
            </a:r>
          </a:p>
        </p:txBody>
      </p:sp>
      <p:sp>
        <p:nvSpPr>
          <p:cNvPr id="49" name="TextBox 48"/>
          <p:cNvSpPr txBox="1"/>
          <p:nvPr/>
        </p:nvSpPr>
        <p:spPr>
          <a:xfrm>
            <a:off x="356616" y="3035808"/>
            <a:ext cx="1737360" cy="45720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the employee is the</a:t>
            </a:r>
          </a:p>
        </p:txBody>
      </p:sp>
      <p:sp>
        <p:nvSpPr>
          <p:cNvPr id="50" name="Rounded Rectangle 49"/>
          <p:cNvSpPr/>
          <p:nvPr/>
        </p:nvSpPr>
        <p:spPr>
          <a:xfrm>
            <a:off x="2148840" y="2761488"/>
            <a:ext cx="1645920" cy="713232"/>
          </a:xfrm>
          <a:prstGeom prst="roundRect">
            <a:avLst>
              <a:gd name="adj" fmla="val 12820"/>
            </a:avLst>
          </a:prstGeom>
          <a:solidFill>
            <a:srgbClr val="FBE8ED"/>
          </a:solidFill>
          <a:ln w="15875">
            <a:solidFill>
              <a:srgbClr val="D31145"/>
            </a:solidFill>
          </a:ln>
        </p:spPr>
        <p:txBody>
          <a:bodyPr rtlCol="0" anchor="ctr" wrap="square" lIns="36576" tIns="36576" rIns="36576" bIns="36576">
            <a:noAutofit/>
          </a:bodyPr>
          <a:lstStyle/>
          <a:p>
            <a:pPr algn="ctr">
              <a:spcAft>
                <a:spcPts val="0"/>
              </a:spcAft>
            </a:pPr>
            <a:r>
              <a:rPr sz="1450" b="1" i="0">
                <a:solidFill>
                  <a:srgbClr val="D31145"/>
                </a:solidFill>
                <a:latin typeface="Arial"/>
              </a:rPr>
              <a:t>Outcome owner</a:t>
            </a:r>
          </a:p>
        </p:txBody>
      </p:sp>
      <p:sp>
        <p:nvSpPr>
          <p:cNvPr id="51" name="TextBox 50"/>
          <p:cNvSpPr txBox="1"/>
          <p:nvPr/>
        </p:nvSpPr>
        <p:spPr>
          <a:xfrm>
            <a:off x="3794760" y="2761488"/>
            <a:ext cx="292608" cy="713232"/>
          </a:xfrm>
          <a:prstGeom prst="rect">
            <a:avLst/>
          </a:prstGeom>
          <a:noFill/>
        </p:spPr>
        <p:txBody>
          <a:bodyPr wrap="square" lIns="0" tIns="0" rIns="0" bIns="0" anchor="ctr">
            <a:noAutofit/>
          </a:bodyPr>
          <a:lstStyle/>
          <a:p>
            <a:pPr algn="ctr">
              <a:spcAft>
                <a:spcPts val="0"/>
              </a:spcAft>
            </a:pPr>
            <a:r>
              <a:rPr sz="2000" b="1" i="0">
                <a:solidFill>
                  <a:srgbClr val="9B928B"/>
                </a:solidFill>
                <a:latin typeface="Arial"/>
              </a:rPr>
              <a:t>+</a:t>
            </a:r>
          </a:p>
        </p:txBody>
      </p:sp>
      <p:sp>
        <p:nvSpPr>
          <p:cNvPr id="52" name="Rounded Rectangle 51"/>
          <p:cNvSpPr/>
          <p:nvPr/>
        </p:nvSpPr>
        <p:spPr>
          <a:xfrm>
            <a:off x="4087368" y="2761488"/>
            <a:ext cx="1645920" cy="713232"/>
          </a:xfrm>
          <a:prstGeom prst="roundRect">
            <a:avLst>
              <a:gd name="adj" fmla="val 12820"/>
            </a:avLst>
          </a:prstGeom>
          <a:solidFill>
            <a:srgbClr val="FBE8ED"/>
          </a:solidFill>
          <a:ln w="15875">
            <a:solidFill>
              <a:srgbClr val="D31145"/>
            </a:solidFill>
          </a:ln>
        </p:spPr>
        <p:txBody>
          <a:bodyPr rtlCol="0" anchor="ctr" wrap="square" lIns="36576" tIns="36576" rIns="36576" bIns="36576">
            <a:noAutofit/>
          </a:bodyPr>
          <a:lstStyle/>
          <a:p>
            <a:pPr algn="ctr">
              <a:spcAft>
                <a:spcPts val="0"/>
              </a:spcAft>
            </a:pPr>
            <a:r>
              <a:rPr sz="1450" b="1" i="0">
                <a:solidFill>
                  <a:srgbClr val="D31145"/>
                </a:solidFill>
                <a:latin typeface="Arial"/>
              </a:rPr>
              <a:t>Reviewer</a:t>
            </a:r>
          </a:p>
        </p:txBody>
      </p:sp>
      <p:sp>
        <p:nvSpPr>
          <p:cNvPr id="53" name="TextBox 52"/>
          <p:cNvSpPr txBox="1"/>
          <p:nvPr/>
        </p:nvSpPr>
        <p:spPr>
          <a:xfrm>
            <a:off x="5733288" y="2761488"/>
            <a:ext cx="292608" cy="713232"/>
          </a:xfrm>
          <a:prstGeom prst="rect">
            <a:avLst/>
          </a:prstGeom>
          <a:noFill/>
        </p:spPr>
        <p:txBody>
          <a:bodyPr wrap="square" lIns="0" tIns="0" rIns="0" bIns="0" anchor="ctr">
            <a:noAutofit/>
          </a:bodyPr>
          <a:lstStyle/>
          <a:p>
            <a:pPr algn="ctr">
              <a:spcAft>
                <a:spcPts val="0"/>
              </a:spcAft>
            </a:pPr>
            <a:r>
              <a:rPr sz="2000" b="1" i="0">
                <a:solidFill>
                  <a:srgbClr val="9B928B"/>
                </a:solidFill>
                <a:latin typeface="Arial"/>
              </a:rPr>
              <a:t>+</a:t>
            </a:r>
          </a:p>
        </p:txBody>
      </p:sp>
      <p:sp>
        <p:nvSpPr>
          <p:cNvPr id="54" name="Rounded Rectangle 53"/>
          <p:cNvSpPr/>
          <p:nvPr/>
        </p:nvSpPr>
        <p:spPr>
          <a:xfrm>
            <a:off x="6025896" y="2761488"/>
            <a:ext cx="1645920" cy="713232"/>
          </a:xfrm>
          <a:prstGeom prst="roundRect">
            <a:avLst>
              <a:gd name="adj" fmla="val 12820"/>
            </a:avLst>
          </a:prstGeom>
          <a:solidFill>
            <a:srgbClr val="FBE8ED"/>
          </a:solidFill>
          <a:ln w="15875">
            <a:solidFill>
              <a:srgbClr val="D31145"/>
            </a:solidFill>
          </a:ln>
        </p:spPr>
        <p:txBody>
          <a:bodyPr rtlCol="0" anchor="ctr" wrap="square" lIns="36576" tIns="36576" rIns="36576" bIns="36576">
            <a:noAutofit/>
          </a:bodyPr>
          <a:lstStyle/>
          <a:p>
            <a:pPr algn="ctr">
              <a:spcAft>
                <a:spcPts val="0"/>
              </a:spcAft>
            </a:pPr>
            <a:r>
              <a:rPr sz="1450" b="1" i="0">
                <a:solidFill>
                  <a:srgbClr val="D31145"/>
                </a:solidFill>
                <a:latin typeface="Arial"/>
              </a:rPr>
              <a:t>Decision maker</a:t>
            </a:r>
          </a:p>
        </p:txBody>
      </p:sp>
      <p:sp>
        <p:nvSpPr>
          <p:cNvPr id="55" name="TextBox 54"/>
          <p:cNvSpPr txBox="1"/>
          <p:nvPr/>
        </p:nvSpPr>
        <p:spPr>
          <a:xfrm>
            <a:off x="7808976" y="2761488"/>
            <a:ext cx="960120" cy="713232"/>
          </a:xfrm>
          <a:prstGeom prst="rect">
            <a:avLst/>
          </a:prstGeom>
          <a:noFill/>
        </p:spPr>
        <p:txBody>
          <a:bodyPr wrap="square" lIns="0" tIns="0" rIns="0" bIns="0" anchor="ctr">
            <a:noAutofit/>
          </a:bodyPr>
          <a:lstStyle/>
          <a:p>
            <a:pPr algn="l">
              <a:lnSpc>
                <a:spcPct val="95000"/>
              </a:lnSpc>
              <a:spcAft>
                <a:spcPts val="0"/>
              </a:spcAft>
            </a:pPr>
            <a:r>
              <a:rPr sz="1200" b="0" i="0">
                <a:solidFill>
                  <a:srgbClr val="5F6770"/>
                </a:solidFill>
                <a:latin typeface="Arial"/>
              </a:rPr>
              <a:t>Riley is the</a:t>
            </a:r>
          </a:p>
        </p:txBody>
      </p:sp>
      <p:sp>
        <p:nvSpPr>
          <p:cNvPr id="56" name="Rounded Rectangle 55"/>
          <p:cNvSpPr/>
          <p:nvPr/>
        </p:nvSpPr>
        <p:spPr>
          <a:xfrm>
            <a:off x="8769096" y="2761488"/>
            <a:ext cx="3063240" cy="713232"/>
          </a:xfrm>
          <a:prstGeom prst="roundRect">
            <a:avLst>
              <a:gd name="adj" fmla="val 12820"/>
            </a:avLst>
          </a:prstGeom>
          <a:solidFill>
            <a:srgbClr val="D31145"/>
          </a:solidFill>
          <a:ln>
            <a:noFill/>
          </a:ln>
        </p:spPr>
        <p:txBody>
          <a:bodyPr rtlCol="0" anchor="ctr"/>
          <a:lstStyle/>
          <a:p>
            <a:pPr algn="ctr"/>
          </a:p>
        </p:txBody>
      </p:sp>
      <p:sp>
        <p:nvSpPr>
          <p:cNvPr id="57" name="Oval 56"/>
          <p:cNvSpPr/>
          <p:nvPr/>
        </p:nvSpPr>
        <p:spPr>
          <a:xfrm>
            <a:off x="8906256" y="2935224"/>
            <a:ext cx="365760" cy="365760"/>
          </a:xfrm>
          <a:prstGeom prst="ellipse">
            <a:avLst/>
          </a:prstGeom>
          <a:solidFill>
            <a:srgbClr val="FFFFFF"/>
          </a:solidFill>
          <a:ln>
            <a:noFill/>
          </a:ln>
        </p:spPr>
        <p:txBody>
          <a:bodyPr rtlCol="0" anchor="ctr" wrap="square" lIns="0" tIns="0" rIns="0" bIns="0">
            <a:noAutofit/>
          </a:bodyPr>
          <a:lstStyle/>
          <a:p>
            <a:pPr algn="ctr">
              <a:spcAft>
                <a:spcPts val="0"/>
              </a:spcAft>
            </a:pPr>
            <a:r>
              <a:rPr sz="1400" b="1" i="0">
                <a:solidFill>
                  <a:srgbClr val="D31145"/>
                </a:solidFill>
                <a:latin typeface="Arial"/>
              </a:rPr>
              <a:t>R</a:t>
            </a:r>
          </a:p>
        </p:txBody>
      </p:sp>
      <p:sp>
        <p:nvSpPr>
          <p:cNvPr id="58" name="TextBox 57"/>
          <p:cNvSpPr txBox="1"/>
          <p:nvPr/>
        </p:nvSpPr>
        <p:spPr>
          <a:xfrm>
            <a:off x="9363456" y="2761488"/>
            <a:ext cx="2331720" cy="713232"/>
          </a:xfrm>
          <a:prstGeom prst="rect">
            <a:avLst/>
          </a:prstGeom>
          <a:noFill/>
        </p:spPr>
        <p:txBody>
          <a:bodyPr wrap="square" lIns="0" tIns="0" rIns="0" bIns="0" anchor="ctr">
            <a:noAutofit/>
          </a:bodyPr>
          <a:lstStyle/>
          <a:p>
            <a:pPr algn="l">
              <a:spcAft>
                <a:spcPts val="0"/>
              </a:spcAft>
            </a:pPr>
            <a:r>
              <a:rPr sz="1500" b="1" i="0">
                <a:solidFill>
                  <a:srgbClr val="FFFFFF"/>
                </a:solidFill>
                <a:latin typeface="Arial"/>
              </a:rPr>
              <a:t>Digital execution partner</a:t>
            </a:r>
          </a:p>
        </p:txBody>
      </p:sp>
      <p:sp>
        <p:nvSpPr>
          <p:cNvPr id="59" name="Rounded Rectangle 58"/>
          <p:cNvSpPr/>
          <p:nvPr/>
        </p:nvSpPr>
        <p:spPr>
          <a:xfrm>
            <a:off x="356616" y="3822192"/>
            <a:ext cx="11475720" cy="1847088"/>
          </a:xfrm>
          <a:prstGeom prst="roundRect">
            <a:avLst>
              <a:gd name="adj" fmla="val 6930"/>
            </a:avLst>
          </a:prstGeom>
          <a:solidFill>
            <a:srgbClr val="D31145"/>
          </a:solidFill>
          <a:ln>
            <a:noFill/>
          </a:ln>
        </p:spPr>
        <p:txBody>
          <a:bodyPr rtlCol="0" anchor="ctr"/>
          <a:lstStyle/>
          <a:p>
            <a:pPr algn="ctr"/>
          </a:p>
        </p:txBody>
      </p:sp>
      <p:sp>
        <p:nvSpPr>
          <p:cNvPr id="60" name="Rounded Rectangle 59"/>
          <p:cNvSpPr/>
          <p:nvPr/>
        </p:nvSpPr>
        <p:spPr>
          <a:xfrm>
            <a:off x="640080" y="4050792"/>
            <a:ext cx="3749040" cy="292608"/>
          </a:xfrm>
          <a:prstGeom prst="roundRect">
            <a:avLst>
              <a:gd name="adj" fmla="val 50000"/>
            </a:avLst>
          </a:prstGeom>
          <a:solidFill>
            <a:srgbClr val="FFFFFF"/>
          </a:solidFill>
          <a:ln w="12700">
            <a:solidFill>
              <a:srgbClr val="FFFFFF"/>
            </a:solidFill>
          </a:ln>
        </p:spPr>
        <p:txBody>
          <a:bodyPr rtlCol="0" anchor="ctr" wrap="square" lIns="36576" tIns="36576" rIns="36576" bIns="36576">
            <a:noAutofit/>
          </a:bodyPr>
          <a:lstStyle/>
          <a:p>
            <a:pPr algn="ctr">
              <a:spcAft>
                <a:spcPts val="0"/>
              </a:spcAft>
            </a:pPr>
            <a:r>
              <a:rPr sz="1000" b="1" i="0" spc="50">
                <a:solidFill>
                  <a:srgbClr val="D31145"/>
                </a:solidFill>
                <a:latin typeface="Arial"/>
              </a:rPr>
              <a:t>LONG-TERM AMBITION  ·  A HYPOTHESIS TO TEST</a:t>
            </a:r>
          </a:p>
        </p:txBody>
      </p:sp>
      <p:sp>
        <p:nvSpPr>
          <p:cNvPr id="61" name="TextBox 60"/>
          <p:cNvSpPr txBox="1"/>
          <p:nvPr/>
        </p:nvSpPr>
        <p:spPr>
          <a:xfrm>
            <a:off x="640080" y="4443984"/>
            <a:ext cx="10881360" cy="868680"/>
          </a:xfrm>
          <a:prstGeom prst="rect">
            <a:avLst/>
          </a:prstGeom>
          <a:noFill/>
        </p:spPr>
        <p:txBody>
          <a:bodyPr wrap="square" lIns="0" tIns="0" rIns="0" bIns="0" anchor="t">
            <a:noAutofit/>
          </a:bodyPr>
          <a:lstStyle/>
          <a:p>
            <a:pPr algn="l">
              <a:lnSpc>
                <a:spcPct val="95000"/>
              </a:lnSpc>
              <a:spcAft>
                <a:spcPts val="0"/>
              </a:spcAft>
            </a:pPr>
            <a:r>
              <a:rPr sz="2800" b="1" i="0">
                <a:solidFill>
                  <a:srgbClr val="FFFFFF"/>
                </a:solidFill>
                <a:latin typeface="Arial"/>
              </a:rPr>
              <a:t>Can one employee, supported by Riley, complete substantially more finished work?</a:t>
            </a:r>
          </a:p>
        </p:txBody>
      </p:sp>
      <p:sp>
        <p:nvSpPr>
          <p:cNvPr id="62" name="TextBox 61"/>
          <p:cNvSpPr txBox="1"/>
          <p:nvPr/>
        </p:nvSpPr>
        <p:spPr>
          <a:xfrm>
            <a:off x="640080" y="5285232"/>
            <a:ext cx="10881360" cy="274320"/>
          </a:xfrm>
          <a:prstGeom prst="rect">
            <a:avLst/>
          </a:prstGeom>
          <a:noFill/>
        </p:spPr>
        <p:txBody>
          <a:bodyPr wrap="square" lIns="0" tIns="0" rIns="0" bIns="0" anchor="t">
            <a:noAutofit/>
          </a:bodyPr>
          <a:lstStyle/>
          <a:p>
            <a:pPr algn="l">
              <a:spcAft>
                <a:spcPts val="0"/>
              </a:spcAft>
            </a:pPr>
            <a:r>
              <a:rPr sz="1200" b="0" i="0">
                <a:solidFill>
                  <a:srgbClr val="FFFFFF"/>
                </a:solidFill>
                <a:latin typeface="Arial"/>
              </a:rPr>
              <a:t>No productivity multiple is claimed. The pilot measures it, including completed outputs per employee.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Measured, not assumed. One hour is only the floor.</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IMPACT  ·  HOW IT IS MEASURED</a:t>
            </a:r>
          </a:p>
        </p:txBody>
      </p:sp>
      <p:sp>
        <p:nvSpPr>
          <p:cNvPr id="6" name="TextBox 5"/>
          <p:cNvSpPr txBox="1"/>
          <p:nvPr/>
        </p:nvSpPr>
        <p:spPr>
          <a:xfrm>
            <a:off x="356616" y="1325880"/>
            <a:ext cx="6766560" cy="237744"/>
          </a:xfrm>
          <a:prstGeom prst="rect">
            <a:avLst/>
          </a:prstGeom>
          <a:noFill/>
        </p:spPr>
        <p:txBody>
          <a:bodyPr wrap="square" lIns="0" tIns="0" rIns="0" bIns="0" anchor="t">
            <a:noAutofit/>
          </a:bodyPr>
          <a:lstStyle/>
          <a:p>
            <a:pPr algn="l">
              <a:spcAft>
                <a:spcPts val="0"/>
              </a:spcAft>
            </a:pPr>
            <a:r>
              <a:rPr sz="1050" b="1" i="0" spc="100">
                <a:solidFill>
                  <a:srgbClr val="5F6770"/>
                </a:solidFill>
                <a:latin typeface="Arial"/>
              </a:rPr>
              <a:t>NEAR-TERM PILOT IMPACT  ·  MEASURED AGAINST A BASELINE</a:t>
            </a:r>
          </a:p>
        </p:txBody>
      </p:sp>
      <p:pic>
        <p:nvPicPr>
          <p:cNvPr id="7" name="Picture 6" descr="LuTimer_r.png"/>
          <p:cNvPicPr>
            <a:picLocks noChangeAspect="1"/>
          </p:cNvPicPr>
          <p:nvPr/>
        </p:nvPicPr>
        <p:blipFill>
          <a:blip r:embed="rId3"/>
          <a:stretch>
            <a:fillRect/>
          </a:stretch>
        </p:blipFill>
        <p:spPr>
          <a:xfrm>
            <a:off x="356616" y="1728216"/>
            <a:ext cx="292608" cy="292608"/>
          </a:xfrm>
          <a:prstGeom prst="rect">
            <a:avLst/>
          </a:prstGeom>
        </p:spPr>
      </p:pic>
      <p:sp>
        <p:nvSpPr>
          <p:cNvPr id="8" name="TextBox 7"/>
          <p:cNvSpPr txBox="1"/>
          <p:nvPr/>
        </p:nvSpPr>
        <p:spPr>
          <a:xfrm>
            <a:off x="768096" y="1691640"/>
            <a:ext cx="2971800" cy="274320"/>
          </a:xfrm>
          <a:prstGeom prst="rect">
            <a:avLst/>
          </a:prstGeom>
          <a:noFill/>
        </p:spPr>
        <p:txBody>
          <a:bodyPr wrap="square" lIns="0" tIns="0" rIns="0" bIns="0" anchor="t">
            <a:noAutofit/>
          </a:bodyPr>
          <a:lstStyle/>
          <a:p>
            <a:pPr algn="l">
              <a:spcAft>
                <a:spcPts val="0"/>
              </a:spcAft>
            </a:pPr>
            <a:r>
              <a:rPr sz="1300" b="1" i="0">
                <a:solidFill>
                  <a:srgbClr val="333D47"/>
                </a:solidFill>
                <a:latin typeface="Arial"/>
              </a:rPr>
              <a:t>Employee effort per task</a:t>
            </a:r>
          </a:p>
        </p:txBody>
      </p:sp>
      <p:sp>
        <p:nvSpPr>
          <p:cNvPr id="9" name="TextBox 8"/>
          <p:cNvSpPr txBox="1"/>
          <p:nvPr/>
        </p:nvSpPr>
        <p:spPr>
          <a:xfrm>
            <a:off x="768096" y="1965960"/>
            <a:ext cx="2971800" cy="457200"/>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Hands-on time, before vs. after Riley</a:t>
            </a:r>
          </a:p>
        </p:txBody>
      </p:sp>
      <p:pic>
        <p:nvPicPr>
          <p:cNvPr id="10" name="Picture 9" descr="LuGauge_r.png"/>
          <p:cNvPicPr>
            <a:picLocks noChangeAspect="1"/>
          </p:cNvPicPr>
          <p:nvPr/>
        </p:nvPicPr>
        <p:blipFill>
          <a:blip r:embed="rId4"/>
          <a:stretch>
            <a:fillRect/>
          </a:stretch>
        </p:blipFill>
        <p:spPr>
          <a:xfrm>
            <a:off x="3831336" y="1728216"/>
            <a:ext cx="292608" cy="292608"/>
          </a:xfrm>
          <a:prstGeom prst="rect">
            <a:avLst/>
          </a:prstGeom>
        </p:spPr>
      </p:pic>
      <p:sp>
        <p:nvSpPr>
          <p:cNvPr id="11" name="TextBox 10"/>
          <p:cNvSpPr txBox="1"/>
          <p:nvPr/>
        </p:nvSpPr>
        <p:spPr>
          <a:xfrm>
            <a:off x="4242816" y="1691640"/>
            <a:ext cx="2971800" cy="274320"/>
          </a:xfrm>
          <a:prstGeom prst="rect">
            <a:avLst/>
          </a:prstGeom>
          <a:noFill/>
        </p:spPr>
        <p:txBody>
          <a:bodyPr wrap="square" lIns="0" tIns="0" rIns="0" bIns="0" anchor="t">
            <a:noAutofit/>
          </a:bodyPr>
          <a:lstStyle/>
          <a:p>
            <a:pPr algn="l">
              <a:spcAft>
                <a:spcPts val="0"/>
              </a:spcAft>
            </a:pPr>
            <a:r>
              <a:rPr sz="1300" b="1" i="0">
                <a:solidFill>
                  <a:srgbClr val="333D47"/>
                </a:solidFill>
                <a:latin typeface="Arial"/>
              </a:rPr>
              <a:t>End-to-end completion time</a:t>
            </a:r>
          </a:p>
        </p:txBody>
      </p:sp>
      <p:sp>
        <p:nvSpPr>
          <p:cNvPr id="12" name="TextBox 11"/>
          <p:cNvSpPr txBox="1"/>
          <p:nvPr/>
        </p:nvSpPr>
        <p:spPr>
          <a:xfrm>
            <a:off x="4242816" y="1965960"/>
            <a:ext cx="2971800" cy="457200"/>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From request to approved output</a:t>
            </a:r>
          </a:p>
        </p:txBody>
      </p:sp>
      <p:pic>
        <p:nvPicPr>
          <p:cNvPr id="13" name="Picture 12" descr="LuLayers_r.png"/>
          <p:cNvPicPr>
            <a:picLocks noChangeAspect="1"/>
          </p:cNvPicPr>
          <p:nvPr/>
        </p:nvPicPr>
        <p:blipFill>
          <a:blip r:embed="rId5"/>
          <a:stretch>
            <a:fillRect/>
          </a:stretch>
        </p:blipFill>
        <p:spPr>
          <a:xfrm>
            <a:off x="356616" y="2551176"/>
            <a:ext cx="292608" cy="292608"/>
          </a:xfrm>
          <a:prstGeom prst="rect">
            <a:avLst/>
          </a:prstGeom>
        </p:spPr>
      </p:pic>
      <p:sp>
        <p:nvSpPr>
          <p:cNvPr id="14" name="TextBox 13"/>
          <p:cNvSpPr txBox="1"/>
          <p:nvPr/>
        </p:nvSpPr>
        <p:spPr>
          <a:xfrm>
            <a:off x="768096" y="2514600"/>
            <a:ext cx="2971800" cy="274320"/>
          </a:xfrm>
          <a:prstGeom prst="rect">
            <a:avLst/>
          </a:prstGeom>
          <a:noFill/>
        </p:spPr>
        <p:txBody>
          <a:bodyPr wrap="square" lIns="0" tIns="0" rIns="0" bIns="0" anchor="t">
            <a:noAutofit/>
          </a:bodyPr>
          <a:lstStyle/>
          <a:p>
            <a:pPr algn="l">
              <a:spcAft>
                <a:spcPts val="0"/>
              </a:spcAft>
            </a:pPr>
            <a:r>
              <a:rPr sz="1300" b="1" i="0">
                <a:solidFill>
                  <a:srgbClr val="333D47"/>
                </a:solidFill>
                <a:latin typeface="Arial"/>
              </a:rPr>
              <a:t>Manual steps and systems touched</a:t>
            </a:r>
          </a:p>
        </p:txBody>
      </p:sp>
      <p:sp>
        <p:nvSpPr>
          <p:cNvPr id="15" name="TextBox 14"/>
          <p:cNvSpPr txBox="1"/>
          <p:nvPr/>
        </p:nvSpPr>
        <p:spPr>
          <a:xfrm>
            <a:off x="768096" y="2788920"/>
            <a:ext cx="2971800" cy="457200"/>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How much legwork is left to the employee</a:t>
            </a:r>
          </a:p>
        </p:txBody>
      </p:sp>
      <p:pic>
        <p:nvPicPr>
          <p:cNvPr id="16" name="Picture 15" descr="LuRepeat_r.png"/>
          <p:cNvPicPr>
            <a:picLocks noChangeAspect="1"/>
          </p:cNvPicPr>
          <p:nvPr/>
        </p:nvPicPr>
        <p:blipFill>
          <a:blip r:embed="rId6"/>
          <a:stretch>
            <a:fillRect/>
          </a:stretch>
        </p:blipFill>
        <p:spPr>
          <a:xfrm>
            <a:off x="3831336" y="2551176"/>
            <a:ext cx="292608" cy="292608"/>
          </a:xfrm>
          <a:prstGeom prst="rect">
            <a:avLst/>
          </a:prstGeom>
        </p:spPr>
      </p:pic>
      <p:sp>
        <p:nvSpPr>
          <p:cNvPr id="17" name="TextBox 16"/>
          <p:cNvSpPr txBox="1"/>
          <p:nvPr/>
        </p:nvSpPr>
        <p:spPr>
          <a:xfrm>
            <a:off x="4242816" y="2514600"/>
            <a:ext cx="2971800" cy="274320"/>
          </a:xfrm>
          <a:prstGeom prst="rect">
            <a:avLst/>
          </a:prstGeom>
          <a:noFill/>
        </p:spPr>
        <p:txBody>
          <a:bodyPr wrap="square" lIns="0" tIns="0" rIns="0" bIns="0" anchor="t">
            <a:noAutofit/>
          </a:bodyPr>
          <a:lstStyle/>
          <a:p>
            <a:pPr algn="l">
              <a:spcAft>
                <a:spcPts val="0"/>
              </a:spcAft>
            </a:pPr>
            <a:r>
              <a:rPr sz="1300" b="1" i="0">
                <a:solidFill>
                  <a:srgbClr val="333D47"/>
                </a:solidFill>
                <a:latin typeface="Arial"/>
              </a:rPr>
              <a:t>Rework rate</a:t>
            </a:r>
          </a:p>
        </p:txBody>
      </p:sp>
      <p:sp>
        <p:nvSpPr>
          <p:cNvPr id="18" name="TextBox 17"/>
          <p:cNvSpPr txBox="1"/>
          <p:nvPr/>
        </p:nvSpPr>
        <p:spPr>
          <a:xfrm>
            <a:off x="4242816" y="2788920"/>
            <a:ext cx="2971800" cy="457200"/>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How often outputs need significant correction</a:t>
            </a:r>
          </a:p>
        </p:txBody>
      </p:sp>
      <p:pic>
        <p:nvPicPr>
          <p:cNvPr id="19" name="Picture 18" descr="LuBadgeCheck_r.png"/>
          <p:cNvPicPr>
            <a:picLocks noChangeAspect="1"/>
          </p:cNvPicPr>
          <p:nvPr/>
        </p:nvPicPr>
        <p:blipFill>
          <a:blip r:embed="rId7"/>
          <a:stretch>
            <a:fillRect/>
          </a:stretch>
        </p:blipFill>
        <p:spPr>
          <a:xfrm>
            <a:off x="356616" y="3374136"/>
            <a:ext cx="292608" cy="292608"/>
          </a:xfrm>
          <a:prstGeom prst="rect">
            <a:avLst/>
          </a:prstGeom>
        </p:spPr>
      </p:pic>
      <p:sp>
        <p:nvSpPr>
          <p:cNvPr id="20" name="TextBox 19"/>
          <p:cNvSpPr txBox="1"/>
          <p:nvPr/>
        </p:nvSpPr>
        <p:spPr>
          <a:xfrm>
            <a:off x="768096" y="3337560"/>
            <a:ext cx="2971800" cy="274320"/>
          </a:xfrm>
          <a:prstGeom prst="rect">
            <a:avLst/>
          </a:prstGeom>
          <a:noFill/>
        </p:spPr>
        <p:txBody>
          <a:bodyPr wrap="square" lIns="0" tIns="0" rIns="0" bIns="0" anchor="t">
            <a:noAutofit/>
          </a:bodyPr>
          <a:lstStyle/>
          <a:p>
            <a:pPr algn="l">
              <a:spcAft>
                <a:spcPts val="0"/>
              </a:spcAft>
            </a:pPr>
            <a:r>
              <a:rPr sz="1300" b="1" i="0">
                <a:solidFill>
                  <a:srgbClr val="333D47"/>
                </a:solidFill>
                <a:latin typeface="Arial"/>
              </a:rPr>
              <a:t>Quality, with independent reviews</a:t>
            </a:r>
          </a:p>
        </p:txBody>
      </p:sp>
      <p:sp>
        <p:nvSpPr>
          <p:cNvPr id="21" name="TextBox 20"/>
          <p:cNvSpPr txBox="1"/>
          <p:nvPr/>
        </p:nvSpPr>
        <p:spPr>
          <a:xfrm>
            <a:off x="768096" y="3611880"/>
            <a:ext cx="2971800" cy="457200"/>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Against a human-only baseline</a:t>
            </a:r>
          </a:p>
        </p:txBody>
      </p:sp>
      <p:pic>
        <p:nvPicPr>
          <p:cNvPr id="22" name="Picture 21" descr="LuUsers_r.png"/>
          <p:cNvPicPr>
            <a:picLocks noChangeAspect="1"/>
          </p:cNvPicPr>
          <p:nvPr/>
        </p:nvPicPr>
        <p:blipFill>
          <a:blip r:embed="rId8"/>
          <a:stretch>
            <a:fillRect/>
          </a:stretch>
        </p:blipFill>
        <p:spPr>
          <a:xfrm>
            <a:off x="3831336" y="3374136"/>
            <a:ext cx="292608" cy="292608"/>
          </a:xfrm>
          <a:prstGeom prst="rect">
            <a:avLst/>
          </a:prstGeom>
        </p:spPr>
      </p:pic>
      <p:sp>
        <p:nvSpPr>
          <p:cNvPr id="23" name="TextBox 22"/>
          <p:cNvSpPr txBox="1"/>
          <p:nvPr/>
        </p:nvSpPr>
        <p:spPr>
          <a:xfrm>
            <a:off x="4242816" y="3337560"/>
            <a:ext cx="2971800" cy="274320"/>
          </a:xfrm>
          <a:prstGeom prst="rect">
            <a:avLst/>
          </a:prstGeom>
          <a:noFill/>
        </p:spPr>
        <p:txBody>
          <a:bodyPr wrap="square" lIns="0" tIns="0" rIns="0" bIns="0" anchor="t">
            <a:noAutofit/>
          </a:bodyPr>
          <a:lstStyle/>
          <a:p>
            <a:pPr algn="l">
              <a:spcAft>
                <a:spcPts val="0"/>
              </a:spcAft>
            </a:pPr>
            <a:r>
              <a:rPr sz="1300" b="1" i="0">
                <a:solidFill>
                  <a:srgbClr val="333D47"/>
                </a:solidFill>
                <a:latin typeface="Arial"/>
              </a:rPr>
              <a:t>Adoption and repeat use</a:t>
            </a:r>
          </a:p>
        </p:txBody>
      </p:sp>
      <p:sp>
        <p:nvSpPr>
          <p:cNvPr id="24" name="TextBox 23"/>
          <p:cNvSpPr txBox="1"/>
          <p:nvPr/>
        </p:nvSpPr>
        <p:spPr>
          <a:xfrm>
            <a:off x="4242816" y="3611880"/>
            <a:ext cx="2971800" cy="457200"/>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Whether employees choose to keep using it</a:t>
            </a:r>
          </a:p>
        </p:txBody>
      </p:sp>
      <p:sp>
        <p:nvSpPr>
          <p:cNvPr id="25" name="Rounded Rectangle 24"/>
          <p:cNvSpPr/>
          <p:nvPr/>
        </p:nvSpPr>
        <p:spPr>
          <a:xfrm>
            <a:off x="356616" y="4224528"/>
            <a:ext cx="6812280" cy="804672"/>
          </a:xfrm>
          <a:prstGeom prst="roundRect">
            <a:avLst>
              <a:gd name="adj" fmla="val 9090"/>
            </a:avLst>
          </a:prstGeom>
          <a:solidFill>
            <a:srgbClr val="FBE8ED"/>
          </a:solidFill>
          <a:ln w="15875">
            <a:solidFill>
              <a:srgbClr val="D31145"/>
            </a:solidFill>
          </a:ln>
        </p:spPr>
        <p:txBody>
          <a:bodyPr rtlCol="0" anchor="ctr"/>
          <a:lstStyle/>
          <a:p>
            <a:pPr algn="ctr"/>
          </a:p>
        </p:txBody>
      </p:sp>
      <p:pic>
        <p:nvPicPr>
          <p:cNvPr id="26" name="Picture 25" descr="LuTrendingUp_r.png"/>
          <p:cNvPicPr>
            <a:picLocks noChangeAspect="1"/>
          </p:cNvPicPr>
          <p:nvPr/>
        </p:nvPicPr>
        <p:blipFill>
          <a:blip r:embed="rId9"/>
          <a:stretch>
            <a:fillRect/>
          </a:stretch>
        </p:blipFill>
        <p:spPr>
          <a:xfrm>
            <a:off x="530352" y="4443984"/>
            <a:ext cx="347472" cy="347472"/>
          </a:xfrm>
          <a:prstGeom prst="rect">
            <a:avLst/>
          </a:prstGeom>
        </p:spPr>
      </p:pic>
      <p:sp>
        <p:nvSpPr>
          <p:cNvPr id="27" name="TextBox 26"/>
          <p:cNvSpPr txBox="1"/>
          <p:nvPr/>
        </p:nvSpPr>
        <p:spPr>
          <a:xfrm>
            <a:off x="1005840" y="4279392"/>
            <a:ext cx="4572000" cy="274320"/>
          </a:xfrm>
          <a:prstGeom prst="rect">
            <a:avLst/>
          </a:prstGeom>
          <a:noFill/>
        </p:spPr>
        <p:txBody>
          <a:bodyPr wrap="square" lIns="0" tIns="0" rIns="0" bIns="0" anchor="t">
            <a:noAutofit/>
          </a:bodyPr>
          <a:lstStyle/>
          <a:p>
            <a:pPr algn="l">
              <a:spcAft>
                <a:spcPts val="0"/>
              </a:spcAft>
            </a:pPr>
            <a:r>
              <a:rPr sz="1400" b="1" i="0">
                <a:solidFill>
                  <a:srgbClr val="333D47"/>
                </a:solidFill>
                <a:latin typeface="Arial"/>
              </a:rPr>
              <a:t>Completed outputs per employee</a:t>
            </a:r>
          </a:p>
        </p:txBody>
      </p:sp>
      <p:sp>
        <p:nvSpPr>
          <p:cNvPr id="28" name="Rounded Rectangle 27"/>
          <p:cNvSpPr/>
          <p:nvPr/>
        </p:nvSpPr>
        <p:spPr>
          <a:xfrm>
            <a:off x="5212080" y="4315968"/>
            <a:ext cx="685800" cy="237744"/>
          </a:xfrm>
          <a:prstGeom prst="roundRect">
            <a:avLst>
              <a:gd name="adj" fmla="val 50000"/>
            </a:avLst>
          </a:prstGeom>
          <a:solidFill>
            <a:srgbClr val="D31145"/>
          </a:solidFill>
          <a:ln w="12700">
            <a:solidFill>
              <a:srgbClr val="D31145"/>
            </a:solidFill>
          </a:ln>
        </p:spPr>
        <p:txBody>
          <a:bodyPr rtlCol="0" anchor="ctr" wrap="square" lIns="36576" tIns="36576" rIns="36576" bIns="36576">
            <a:noAutofit/>
          </a:bodyPr>
          <a:lstStyle/>
          <a:p>
            <a:pPr algn="ctr">
              <a:spcAft>
                <a:spcPts val="0"/>
              </a:spcAft>
            </a:pPr>
            <a:r>
              <a:rPr sz="900" b="1" i="0" spc="50">
                <a:solidFill>
                  <a:srgbClr val="FFFFFF"/>
                </a:solidFill>
                <a:latin typeface="Arial"/>
              </a:rPr>
              <a:t>NEW</a:t>
            </a:r>
          </a:p>
        </p:txBody>
      </p:sp>
      <p:sp>
        <p:nvSpPr>
          <p:cNvPr id="29" name="TextBox 28"/>
          <p:cNvSpPr txBox="1"/>
          <p:nvPr/>
        </p:nvSpPr>
        <p:spPr>
          <a:xfrm>
            <a:off x="1005840" y="4553712"/>
            <a:ext cx="6035040" cy="41148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Tests whether Riley increases execution capacity, not only saves time.</a:t>
            </a:r>
          </a:p>
        </p:txBody>
      </p:sp>
      <p:sp>
        <p:nvSpPr>
          <p:cNvPr id="30" name="Rounded Rectangle 29"/>
          <p:cNvSpPr/>
          <p:nvPr/>
        </p:nvSpPr>
        <p:spPr>
          <a:xfrm>
            <a:off x="7498080" y="1325880"/>
            <a:ext cx="4334256" cy="3703320"/>
          </a:xfrm>
          <a:prstGeom prst="roundRect">
            <a:avLst>
              <a:gd name="adj" fmla="val 2469"/>
            </a:avLst>
          </a:prstGeom>
          <a:solidFill>
            <a:srgbClr val="F4F1EF"/>
          </a:solidFill>
          <a:ln>
            <a:noFill/>
          </a:ln>
        </p:spPr>
        <p:txBody>
          <a:bodyPr rtlCol="0" anchor="ctr"/>
          <a:lstStyle/>
          <a:p>
            <a:pPr algn="ctr"/>
          </a:p>
        </p:txBody>
      </p:sp>
      <p:sp>
        <p:nvSpPr>
          <p:cNvPr id="31" name="TextBox 30"/>
          <p:cNvSpPr txBox="1"/>
          <p:nvPr/>
        </p:nvSpPr>
        <p:spPr>
          <a:xfrm>
            <a:off x="7772400" y="1527048"/>
            <a:ext cx="3785616" cy="237744"/>
          </a:xfrm>
          <a:prstGeom prst="rect">
            <a:avLst/>
          </a:prstGeom>
          <a:noFill/>
        </p:spPr>
        <p:txBody>
          <a:bodyPr wrap="square" lIns="0" tIns="0" rIns="0" bIns="0" anchor="t">
            <a:noAutofit/>
          </a:bodyPr>
          <a:lstStyle/>
          <a:p>
            <a:pPr algn="l">
              <a:spcAft>
                <a:spcPts val="0"/>
              </a:spcAft>
            </a:pPr>
            <a:r>
              <a:rPr sz="1050" b="1" i="0" spc="100">
                <a:solidFill>
                  <a:srgbClr val="5F6770"/>
                </a:solidFill>
                <a:latin typeface="Arial"/>
              </a:rPr>
              <a:t>A CONSERVATIVE FLOOR</a:t>
            </a:r>
          </a:p>
        </p:txBody>
      </p:sp>
      <p:sp>
        <p:nvSpPr>
          <p:cNvPr id="32" name="Rounded Rectangle 31"/>
          <p:cNvSpPr/>
          <p:nvPr/>
        </p:nvSpPr>
        <p:spPr>
          <a:xfrm>
            <a:off x="7772400" y="1828800"/>
            <a:ext cx="3246120" cy="256032"/>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900" b="1" i="0" spc="50">
                <a:solidFill>
                  <a:srgbClr val="D31145"/>
                </a:solidFill>
                <a:latin typeface="Arial"/>
              </a:rPr>
              <a:t>ILLUSTRATIVE SCENARIO  ·  NOT A FORECAST</a:t>
            </a:r>
          </a:p>
        </p:txBody>
      </p:sp>
      <p:sp>
        <p:nvSpPr>
          <p:cNvPr id="33" name="TextBox 32"/>
          <p:cNvSpPr txBox="1"/>
          <p:nvPr/>
        </p:nvSpPr>
        <p:spPr>
          <a:xfrm>
            <a:off x="7772400" y="2221992"/>
            <a:ext cx="3785616" cy="566928"/>
          </a:xfrm>
          <a:prstGeom prst="rect">
            <a:avLst/>
          </a:prstGeom>
          <a:noFill/>
        </p:spPr>
        <p:txBody>
          <a:bodyPr wrap="square" lIns="0" tIns="0" rIns="0" bIns="0" anchor="t">
            <a:noAutofit/>
          </a:bodyPr>
          <a:lstStyle/>
          <a:p>
            <a:pPr algn="l">
              <a:spcAft>
                <a:spcPts val="0"/>
              </a:spcAft>
            </a:pPr>
            <a:r>
              <a:rPr sz="1250" b="0" i="0">
                <a:solidFill>
                  <a:srgbClr val="333D47"/>
                </a:solidFill>
                <a:latin typeface="Arial"/>
              </a:rPr>
              <a:t>Even at a deliberately cautious one hour a week, 1,000 employees would release around</a:t>
            </a:r>
          </a:p>
        </p:txBody>
      </p:sp>
      <p:sp>
        <p:nvSpPr>
          <p:cNvPr id="34" name="TextBox 33"/>
          <p:cNvSpPr txBox="1"/>
          <p:nvPr/>
        </p:nvSpPr>
        <p:spPr>
          <a:xfrm>
            <a:off x="7772400" y="2770632"/>
            <a:ext cx="3785616" cy="658368"/>
          </a:xfrm>
          <a:prstGeom prst="rect">
            <a:avLst/>
          </a:prstGeom>
          <a:noFill/>
        </p:spPr>
        <p:txBody>
          <a:bodyPr wrap="square" lIns="0" tIns="0" rIns="0" bIns="0" anchor="ctr">
            <a:noAutofit/>
          </a:bodyPr>
          <a:lstStyle/>
          <a:p>
            <a:pPr algn="l">
              <a:spcAft>
                <a:spcPts val="0"/>
              </a:spcAft>
            </a:pPr>
            <a:r>
              <a:rPr sz="4400" b="1" i="0">
                <a:solidFill>
                  <a:srgbClr val="D31145"/>
                </a:solidFill>
                <a:latin typeface="Arial"/>
              </a:rPr>
              <a:t>1,000 hours</a:t>
            </a:r>
          </a:p>
        </p:txBody>
      </p:sp>
      <p:sp>
        <p:nvSpPr>
          <p:cNvPr id="35" name="TextBox 34"/>
          <p:cNvSpPr txBox="1"/>
          <p:nvPr/>
        </p:nvSpPr>
        <p:spPr>
          <a:xfrm>
            <a:off x="7772400" y="3410712"/>
            <a:ext cx="3785616" cy="292608"/>
          </a:xfrm>
          <a:prstGeom prst="rect">
            <a:avLst/>
          </a:prstGeom>
          <a:noFill/>
        </p:spPr>
        <p:txBody>
          <a:bodyPr wrap="square" lIns="0" tIns="0" rIns="0" bIns="0" anchor="t">
            <a:noAutofit/>
          </a:bodyPr>
          <a:lstStyle/>
          <a:p>
            <a:pPr algn="l">
              <a:spcAft>
                <a:spcPts val="0"/>
              </a:spcAft>
            </a:pPr>
            <a:r>
              <a:rPr sz="1500" b="0" i="0">
                <a:solidFill>
                  <a:srgbClr val="333D47"/>
                </a:solidFill>
                <a:latin typeface="Arial"/>
              </a:rPr>
              <a:t>every week</a:t>
            </a:r>
          </a:p>
        </p:txBody>
      </p:sp>
      <p:sp>
        <p:nvSpPr>
          <p:cNvPr id="36" name="TextBox 35"/>
          <p:cNvSpPr txBox="1"/>
          <p:nvPr/>
        </p:nvSpPr>
        <p:spPr>
          <a:xfrm>
            <a:off x="7772400" y="3758184"/>
            <a:ext cx="3785616" cy="365760"/>
          </a:xfrm>
          <a:prstGeom prst="rect">
            <a:avLst/>
          </a:prstGeom>
          <a:noFill/>
        </p:spPr>
        <p:txBody>
          <a:bodyPr wrap="square" lIns="0" tIns="0" rIns="0" bIns="0" anchor="t">
            <a:noAutofit/>
          </a:bodyPr>
          <a:lstStyle/>
          <a:p>
            <a:pPr algn="l">
              <a:spcAft>
                <a:spcPts val="0"/>
              </a:spcAft>
            </a:pPr>
            <a:r>
              <a:rPr sz="1900" b="1" i="0">
                <a:solidFill>
                  <a:srgbClr val="333D47"/>
                </a:solidFill>
                <a:latin typeface="Arial"/>
              </a:rPr>
              <a:t>≈ 50,000 hours a year</a:t>
            </a:r>
          </a:p>
        </p:txBody>
      </p:sp>
      <p:sp>
        <p:nvSpPr>
          <p:cNvPr id="37" name="TextBox 36"/>
          <p:cNvSpPr txBox="1"/>
          <p:nvPr/>
        </p:nvSpPr>
        <p:spPr>
          <a:xfrm>
            <a:off x="7772400" y="4160520"/>
            <a:ext cx="3785616" cy="731520"/>
          </a:xfrm>
          <a:prstGeom prst="rect">
            <a:avLst/>
          </a:prstGeom>
          <a:noFill/>
        </p:spPr>
        <p:txBody>
          <a:bodyPr wrap="square" lIns="0" tIns="0" rIns="0" bIns="0" anchor="t">
            <a:noAutofit/>
          </a:bodyPr>
          <a:lstStyle/>
          <a:p>
            <a:pPr algn="l">
              <a:spcAft>
                <a:spcPts val="0"/>
              </a:spcAft>
            </a:pPr>
            <a:r>
              <a:rPr sz="1000" b="0" i="1">
                <a:solidFill>
                  <a:srgbClr val="5F6770"/>
                </a:solidFill>
                <a:latin typeface="Arial"/>
              </a:rPr>
              <a:t>Assuming 50 working weeks. 1,000 is a scenario size, not an AIA employee count. One hour is 2.5% of a 40-hour week.</a:t>
            </a:r>
          </a:p>
        </p:txBody>
      </p:sp>
      <p:sp>
        <p:nvSpPr>
          <p:cNvPr id="38" name="TextBox 37"/>
          <p:cNvSpPr txBox="1"/>
          <p:nvPr/>
        </p:nvSpPr>
        <p:spPr>
          <a:xfrm>
            <a:off x="356616" y="5257800"/>
            <a:ext cx="11338560" cy="411480"/>
          </a:xfrm>
          <a:prstGeom prst="rect">
            <a:avLst/>
          </a:prstGeom>
          <a:noFill/>
        </p:spPr>
        <p:txBody>
          <a:bodyPr wrap="square" lIns="0" tIns="0" rIns="0" bIns="0" anchor="t">
            <a:noAutofit/>
          </a:bodyPr>
          <a:lstStyle/>
          <a:p>
            <a:pPr algn="l">
              <a:spcAft>
                <a:spcPts val="0"/>
              </a:spcAft>
            </a:pPr>
            <a:r>
              <a:rPr sz="1150" b="1" i="0">
                <a:solidFill>
                  <a:srgbClr val="5F6770"/>
                </a:solidFill>
                <a:latin typeface="Arial"/>
              </a:rPr>
              <a:t>Value link: </a:t>
            </a:r>
            <a:r>
              <a:rPr sz="1150" b="0" i="0">
                <a:solidFill>
                  <a:srgbClr val="5F6770"/>
                </a:solidFill>
                <a:latin typeface="Arial"/>
              </a:rPr>
              <a:t>Double Employee Value. Operations Value and any VONB / ANP link are hypotheses, to be validated with AIA’s TDA methodology.</a:t>
            </a:r>
          </a:p>
        </p:txBody>
      </p:sp>
      <p:sp>
        <p:nvSpPr>
          <p:cNvPr id="39" name="Slide Number Placeholder"/>
          <p:cNvSpPr>
            <a:spLocks noGrp="1"/>
          </p:cNvSpPr>
          <p:nvPr>
            <p:ph type="sldNum" sz="quarter" idx="4"/>
          </p:nvPr>
        </p:nvSpPr>
        <p:spPr/>
        <p:txBody>
          <a:bodyPr/>
          <a:lstStyle/>
          <a:p>
            <a:fld id="{18A41853-EF22-D446-BDBC-A7CF3FE93503}" type="slidenum">
              <a:rPr lang="en-US"/>
              <a:t>6</a:t>
            </a:fld>
            <a:endParaRPr lang="en-US"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The same Riley gets more capable over time</a:t>
            </a:r>
          </a:p>
        </p:txBody>
      </p:sp>
      <p:sp>
        <p:nvSpPr>
          <p:cNvPr id="42" name="Slide Number Placeholder"/>
          <p:cNvSpPr>
            <a:spLocks noGrp="1"/>
          </p:cNvSpPr>
          <p:nvPr>
            <p:ph type="sldNum" sz="quarter" idx="4"/>
          </p:nvPr>
        </p:nvSpPr>
        <p:spPr/>
        <p:txBody>
          <a:bodyPr/>
          <a:lstStyle/>
          <a:p>
            <a:fld id="{18A41853-EF22-D446-BDBC-A7CF3FE93503}" type="slidenum">
              <a:rPr lang="en-US"/>
              <a:t>7</a:t>
            </a:fld>
            <a:endParaRPr lang="en-US" dirty="0"/>
          </a:p>
        </p:txBody>
      </p:sp>
      <p:sp>
        <p:nvSpPr>
          <p:cNvPr id="43" name="TextBox 42"/>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CREATIVITY  ·  WHY RILEY GETS BETTER</a:t>
            </a:r>
          </a:p>
        </p:txBody>
      </p:sp>
      <p:sp>
        <p:nvSpPr>
          <p:cNvPr id="44" name="TextBox 43"/>
          <p:cNvSpPr txBox="1"/>
          <p:nvPr/>
        </p:nvSpPr>
        <p:spPr>
          <a:xfrm>
            <a:off x="356616" y="1572768"/>
            <a:ext cx="3291840" cy="237744"/>
          </a:xfrm>
          <a:prstGeom prst="rect">
            <a:avLst/>
          </a:prstGeom>
          <a:noFill/>
        </p:spPr>
        <p:txBody>
          <a:bodyPr wrap="square" lIns="0" tIns="0" rIns="0" bIns="0" anchor="t">
            <a:noAutofit/>
          </a:bodyPr>
          <a:lstStyle/>
          <a:p>
            <a:pPr algn="l">
              <a:spcAft>
                <a:spcPts val="0"/>
              </a:spcAft>
            </a:pPr>
            <a:r>
              <a:rPr sz="1050" b="1" i="0" spc="100">
                <a:solidFill>
                  <a:srgbClr val="5F6770"/>
                </a:solidFill>
                <a:latin typeface="Arial"/>
              </a:rPr>
              <a:t>WHAT RILEY CAN USE</a:t>
            </a:r>
          </a:p>
        </p:txBody>
      </p:sp>
      <p:cxnSp>
        <p:nvCxnSpPr>
          <p:cNvPr id="45" name="Connector 44"/>
          <p:cNvCxnSpPr/>
          <p:nvPr/>
        </p:nvCxnSpPr>
        <p:spPr>
          <a:xfrm>
            <a:off x="3566160" y="2148840"/>
            <a:ext cx="1508760" cy="1161288"/>
          </a:xfrm>
          <a:prstGeom prst="line">
            <a:avLst/>
          </a:prstGeom>
          <a:ln w="15875">
            <a:solidFill>
              <a:srgbClr val="F2B6C6"/>
            </a:solidFill>
          </a:ln>
        </p:spPr>
      </p:cxnSp>
      <p:sp>
        <p:nvSpPr>
          <p:cNvPr id="46" name="Rounded Rectangle 45"/>
          <p:cNvSpPr/>
          <p:nvPr/>
        </p:nvSpPr>
        <p:spPr>
          <a:xfrm>
            <a:off x="356616" y="1920240"/>
            <a:ext cx="3200400" cy="457200"/>
          </a:xfrm>
          <a:prstGeom prst="roundRect">
            <a:avLst>
              <a:gd name="adj" fmla="val 16000"/>
            </a:avLst>
          </a:prstGeom>
          <a:solidFill>
            <a:srgbClr val="FBE8ED"/>
          </a:solidFill>
          <a:ln>
            <a:noFill/>
          </a:ln>
        </p:spPr>
        <p:txBody>
          <a:bodyPr rtlCol="0" anchor="ctr"/>
          <a:lstStyle/>
          <a:p>
            <a:pPr algn="ctr"/>
          </a:p>
        </p:txBody>
      </p:sp>
      <p:pic>
        <p:nvPicPr>
          <p:cNvPr id="47" name="Picture 46" descr="LuDatabase_r.png"/>
          <p:cNvPicPr>
            <a:picLocks noChangeAspect="1"/>
          </p:cNvPicPr>
          <p:nvPr/>
        </p:nvPicPr>
        <p:blipFill>
          <a:blip r:embed="rId7"/>
          <a:stretch>
            <a:fillRect/>
          </a:stretch>
        </p:blipFill>
        <p:spPr>
          <a:xfrm>
            <a:off x="502920" y="2011680"/>
            <a:ext cx="274320" cy="274320"/>
          </a:xfrm>
          <a:prstGeom prst="rect">
            <a:avLst/>
          </a:prstGeom>
        </p:spPr>
      </p:pic>
      <p:sp>
        <p:nvSpPr>
          <p:cNvPr id="48" name="TextBox 47"/>
          <p:cNvSpPr txBox="1"/>
          <p:nvPr/>
        </p:nvSpPr>
        <p:spPr>
          <a:xfrm>
            <a:off x="896112" y="1920240"/>
            <a:ext cx="2606040" cy="457200"/>
          </a:xfrm>
          <a:prstGeom prst="rect">
            <a:avLst/>
          </a:prstGeom>
          <a:noFill/>
        </p:spPr>
        <p:txBody>
          <a:bodyPr wrap="square" lIns="0" tIns="0" rIns="0" bIns="0" anchor="ctr">
            <a:noAutofit/>
          </a:bodyPr>
          <a:lstStyle/>
          <a:p>
            <a:pPr algn="l">
              <a:spcAft>
                <a:spcPts val="0"/>
              </a:spcAft>
            </a:pPr>
            <a:r>
              <a:rPr sz="1250" b="1" i="0">
                <a:solidFill>
                  <a:srgbClr val="333D47"/>
                </a:solidFill>
                <a:latin typeface="Arial"/>
              </a:rPr>
              <a:t>AIA data and documents</a:t>
            </a:r>
          </a:p>
        </p:txBody>
      </p:sp>
      <p:cxnSp>
        <p:nvCxnSpPr>
          <p:cNvPr id="49" name="Connector 48"/>
          <p:cNvCxnSpPr/>
          <p:nvPr/>
        </p:nvCxnSpPr>
        <p:spPr>
          <a:xfrm>
            <a:off x="3566160" y="2752344"/>
            <a:ext cx="1508760" cy="557784"/>
          </a:xfrm>
          <a:prstGeom prst="line">
            <a:avLst/>
          </a:prstGeom>
          <a:ln w="15875">
            <a:solidFill>
              <a:srgbClr val="F2B6C6"/>
            </a:solidFill>
          </a:ln>
        </p:spPr>
      </p:cxnSp>
      <p:sp>
        <p:nvSpPr>
          <p:cNvPr id="50" name="Rounded Rectangle 49"/>
          <p:cNvSpPr/>
          <p:nvPr/>
        </p:nvSpPr>
        <p:spPr>
          <a:xfrm>
            <a:off x="356616" y="2523744"/>
            <a:ext cx="3200400" cy="457200"/>
          </a:xfrm>
          <a:prstGeom prst="roundRect">
            <a:avLst>
              <a:gd name="adj" fmla="val 16000"/>
            </a:avLst>
          </a:prstGeom>
          <a:solidFill>
            <a:srgbClr val="FBE8ED"/>
          </a:solidFill>
          <a:ln>
            <a:noFill/>
          </a:ln>
        </p:spPr>
        <p:txBody>
          <a:bodyPr rtlCol="0" anchor="ctr"/>
          <a:lstStyle/>
          <a:p>
            <a:pPr algn="ctr"/>
          </a:p>
        </p:txBody>
      </p:sp>
      <p:pic>
        <p:nvPicPr>
          <p:cNvPr id="51" name="Picture 50" descr="LuServer_r.png"/>
          <p:cNvPicPr>
            <a:picLocks noChangeAspect="1"/>
          </p:cNvPicPr>
          <p:nvPr/>
        </p:nvPicPr>
        <p:blipFill>
          <a:blip r:embed="rId8"/>
          <a:stretch>
            <a:fillRect/>
          </a:stretch>
        </p:blipFill>
        <p:spPr>
          <a:xfrm>
            <a:off x="502920" y="2615184"/>
            <a:ext cx="274320" cy="274320"/>
          </a:xfrm>
          <a:prstGeom prst="rect">
            <a:avLst/>
          </a:prstGeom>
        </p:spPr>
      </p:pic>
      <p:sp>
        <p:nvSpPr>
          <p:cNvPr id="52" name="TextBox 51"/>
          <p:cNvSpPr txBox="1"/>
          <p:nvPr/>
        </p:nvSpPr>
        <p:spPr>
          <a:xfrm>
            <a:off x="896112" y="2523744"/>
            <a:ext cx="2606040" cy="457200"/>
          </a:xfrm>
          <a:prstGeom prst="rect">
            <a:avLst/>
          </a:prstGeom>
          <a:noFill/>
        </p:spPr>
        <p:txBody>
          <a:bodyPr wrap="square" lIns="0" tIns="0" rIns="0" bIns="0" anchor="ctr">
            <a:noAutofit/>
          </a:bodyPr>
          <a:lstStyle/>
          <a:p>
            <a:pPr algn="l">
              <a:spcAft>
                <a:spcPts val="0"/>
              </a:spcAft>
            </a:pPr>
            <a:r>
              <a:rPr sz="1250" b="1" i="0">
                <a:solidFill>
                  <a:srgbClr val="333D47"/>
                </a:solidFill>
                <a:latin typeface="Arial"/>
              </a:rPr>
              <a:t>AIA systems</a:t>
            </a:r>
          </a:p>
        </p:txBody>
      </p:sp>
      <p:cxnSp>
        <p:nvCxnSpPr>
          <p:cNvPr id="53" name="Connector 52"/>
          <p:cNvCxnSpPr/>
          <p:nvPr/>
        </p:nvCxnSpPr>
        <p:spPr>
          <a:xfrm flipV="1">
            <a:off x="3566160" y="3310128"/>
            <a:ext cx="1508760" cy="45720"/>
          </a:xfrm>
          <a:prstGeom prst="line">
            <a:avLst/>
          </a:prstGeom>
          <a:ln w="15875">
            <a:solidFill>
              <a:srgbClr val="F2B6C6"/>
            </a:solidFill>
          </a:ln>
        </p:spPr>
      </p:cxnSp>
      <p:sp>
        <p:nvSpPr>
          <p:cNvPr id="54" name="Rounded Rectangle 53"/>
          <p:cNvSpPr/>
          <p:nvPr/>
        </p:nvSpPr>
        <p:spPr>
          <a:xfrm>
            <a:off x="356616" y="3127248"/>
            <a:ext cx="3200400" cy="457200"/>
          </a:xfrm>
          <a:prstGeom prst="roundRect">
            <a:avLst>
              <a:gd name="adj" fmla="val 16000"/>
            </a:avLst>
          </a:prstGeom>
          <a:solidFill>
            <a:srgbClr val="FBE8ED"/>
          </a:solidFill>
          <a:ln>
            <a:noFill/>
          </a:ln>
        </p:spPr>
        <p:txBody>
          <a:bodyPr rtlCol="0" anchor="ctr"/>
          <a:lstStyle/>
          <a:p>
            <a:pPr algn="ctr"/>
          </a:p>
        </p:txBody>
      </p:sp>
      <p:pic>
        <p:nvPicPr>
          <p:cNvPr id="55" name="Picture 54" descr="LuBrainCircuit_r.png"/>
          <p:cNvPicPr>
            <a:picLocks noChangeAspect="1"/>
          </p:cNvPicPr>
          <p:nvPr/>
        </p:nvPicPr>
        <p:blipFill>
          <a:blip r:embed="rId9"/>
          <a:stretch>
            <a:fillRect/>
          </a:stretch>
        </p:blipFill>
        <p:spPr>
          <a:xfrm>
            <a:off x="502920" y="3218688"/>
            <a:ext cx="274320" cy="274320"/>
          </a:xfrm>
          <a:prstGeom prst="rect">
            <a:avLst/>
          </a:prstGeom>
        </p:spPr>
      </p:pic>
      <p:sp>
        <p:nvSpPr>
          <p:cNvPr id="56" name="TextBox 55"/>
          <p:cNvSpPr txBox="1"/>
          <p:nvPr/>
        </p:nvSpPr>
        <p:spPr>
          <a:xfrm>
            <a:off x="896112" y="3127248"/>
            <a:ext cx="2606040" cy="457200"/>
          </a:xfrm>
          <a:prstGeom prst="rect">
            <a:avLst/>
          </a:prstGeom>
          <a:noFill/>
        </p:spPr>
        <p:txBody>
          <a:bodyPr wrap="square" lIns="0" tIns="0" rIns="0" bIns="0" anchor="ctr">
            <a:noAutofit/>
          </a:bodyPr>
          <a:lstStyle/>
          <a:p>
            <a:pPr algn="l">
              <a:spcAft>
                <a:spcPts val="0"/>
              </a:spcAft>
            </a:pPr>
            <a:r>
              <a:rPr sz="1250" b="1" i="0">
                <a:solidFill>
                  <a:srgbClr val="333D47"/>
                </a:solidFill>
                <a:latin typeface="Arial"/>
              </a:rPr>
              <a:t>AIA’s internal AI tools</a:t>
            </a:r>
          </a:p>
        </p:txBody>
      </p:sp>
      <p:cxnSp>
        <p:nvCxnSpPr>
          <p:cNvPr id="57" name="Connector 56"/>
          <p:cNvCxnSpPr/>
          <p:nvPr/>
        </p:nvCxnSpPr>
        <p:spPr>
          <a:xfrm flipV="1">
            <a:off x="3566160" y="3310128"/>
            <a:ext cx="1508760" cy="649224"/>
          </a:xfrm>
          <a:prstGeom prst="line">
            <a:avLst/>
          </a:prstGeom>
          <a:ln w="15875">
            <a:solidFill>
              <a:srgbClr val="F2B6C6"/>
            </a:solidFill>
          </a:ln>
        </p:spPr>
      </p:cxnSp>
      <p:sp>
        <p:nvSpPr>
          <p:cNvPr id="58" name="Rounded Rectangle 57"/>
          <p:cNvSpPr/>
          <p:nvPr/>
        </p:nvSpPr>
        <p:spPr>
          <a:xfrm>
            <a:off x="356616" y="3730752"/>
            <a:ext cx="3200400" cy="457200"/>
          </a:xfrm>
          <a:prstGeom prst="roundRect">
            <a:avLst>
              <a:gd name="adj" fmla="val 16000"/>
            </a:avLst>
          </a:prstGeom>
          <a:solidFill>
            <a:srgbClr val="F4F1EF"/>
          </a:solidFill>
          <a:ln>
            <a:noFill/>
          </a:ln>
        </p:spPr>
        <p:txBody>
          <a:bodyPr rtlCol="0" anchor="ctr"/>
          <a:lstStyle/>
          <a:p>
            <a:pPr algn="ctr"/>
          </a:p>
        </p:txBody>
      </p:sp>
      <p:pic>
        <p:nvPicPr>
          <p:cNvPr id="59" name="Picture 58" descr="image.png"/>
          <p:cNvPicPr>
            <a:picLocks noChangeAspect="1"/>
          </p:cNvPicPr>
          <p:nvPr/>
        </p:nvPicPr>
        <p:blipFill>
          <a:blip r:embed="rId10"/>
          <a:stretch>
            <a:fillRect/>
          </a:stretch>
        </p:blipFill>
        <p:spPr>
          <a:xfrm>
            <a:off x="502920" y="3822192"/>
            <a:ext cx="274320" cy="274320"/>
          </a:xfrm>
          <a:prstGeom prst="rect">
            <a:avLst/>
          </a:prstGeom>
        </p:spPr>
      </p:pic>
      <p:sp>
        <p:nvSpPr>
          <p:cNvPr id="60" name="TextBox 59"/>
          <p:cNvSpPr txBox="1"/>
          <p:nvPr/>
        </p:nvSpPr>
        <p:spPr>
          <a:xfrm>
            <a:off x="896112" y="3730752"/>
            <a:ext cx="2606040" cy="457200"/>
          </a:xfrm>
          <a:prstGeom prst="rect">
            <a:avLst/>
          </a:prstGeom>
          <a:noFill/>
        </p:spPr>
        <p:txBody>
          <a:bodyPr wrap="square" lIns="0" tIns="0" rIns="0" bIns="0" anchor="ctr">
            <a:noAutofit/>
          </a:bodyPr>
          <a:lstStyle/>
          <a:p>
            <a:pPr algn="l">
              <a:spcAft>
                <a:spcPts val="0"/>
              </a:spcAft>
            </a:pPr>
            <a:r>
              <a:rPr sz="1250" b="0" i="0">
                <a:solidFill>
                  <a:srgbClr val="333D47"/>
                </a:solidFill>
                <a:latin typeface="Arial"/>
              </a:rPr>
              <a:t>Microsoft 365</a:t>
            </a:r>
          </a:p>
        </p:txBody>
      </p:sp>
      <p:cxnSp>
        <p:nvCxnSpPr>
          <p:cNvPr id="61" name="Connector 60"/>
          <p:cNvCxnSpPr/>
          <p:nvPr/>
        </p:nvCxnSpPr>
        <p:spPr>
          <a:xfrm flipV="1">
            <a:off x="3566160" y="3310128"/>
            <a:ext cx="1508760" cy="1252728"/>
          </a:xfrm>
          <a:prstGeom prst="line">
            <a:avLst/>
          </a:prstGeom>
          <a:ln w="15875">
            <a:solidFill>
              <a:srgbClr val="F2B6C6"/>
            </a:solidFill>
          </a:ln>
        </p:spPr>
      </p:cxnSp>
      <p:sp>
        <p:nvSpPr>
          <p:cNvPr id="62" name="Rounded Rectangle 61"/>
          <p:cNvSpPr/>
          <p:nvPr/>
        </p:nvSpPr>
        <p:spPr>
          <a:xfrm>
            <a:off x="356616" y="4334256"/>
            <a:ext cx="3200400" cy="457200"/>
          </a:xfrm>
          <a:prstGeom prst="roundRect">
            <a:avLst>
              <a:gd name="adj" fmla="val 16000"/>
            </a:avLst>
          </a:prstGeom>
          <a:solidFill>
            <a:srgbClr val="F4F1EF"/>
          </a:solidFill>
          <a:ln>
            <a:noFill/>
          </a:ln>
        </p:spPr>
        <p:txBody>
          <a:bodyPr rtlCol="0" anchor="ctr"/>
          <a:lstStyle/>
          <a:p>
            <a:pPr algn="ctr"/>
          </a:p>
        </p:txBody>
      </p:sp>
      <p:pic>
        <p:nvPicPr>
          <p:cNvPr id="63" name="Picture 62" descr="image.png"/>
          <p:cNvPicPr>
            <a:picLocks noChangeAspect="1"/>
          </p:cNvPicPr>
          <p:nvPr/>
        </p:nvPicPr>
        <p:blipFill>
          <a:blip r:embed="rId11"/>
          <a:stretch>
            <a:fillRect/>
          </a:stretch>
        </p:blipFill>
        <p:spPr>
          <a:xfrm>
            <a:off x="502920" y="4425696"/>
            <a:ext cx="274320" cy="274320"/>
          </a:xfrm>
          <a:prstGeom prst="rect">
            <a:avLst/>
          </a:prstGeom>
        </p:spPr>
      </p:pic>
      <p:sp>
        <p:nvSpPr>
          <p:cNvPr id="64" name="TextBox 63"/>
          <p:cNvSpPr txBox="1"/>
          <p:nvPr/>
        </p:nvSpPr>
        <p:spPr>
          <a:xfrm>
            <a:off x="896112" y="4334256"/>
            <a:ext cx="2606040" cy="457200"/>
          </a:xfrm>
          <a:prstGeom prst="rect">
            <a:avLst/>
          </a:prstGeom>
          <a:noFill/>
        </p:spPr>
        <p:txBody>
          <a:bodyPr wrap="square" lIns="0" tIns="0" rIns="0" bIns="0" anchor="ctr">
            <a:noAutofit/>
          </a:bodyPr>
          <a:lstStyle/>
          <a:p>
            <a:pPr algn="l">
              <a:spcAft>
                <a:spcPts val="0"/>
              </a:spcAft>
            </a:pPr>
            <a:r>
              <a:rPr sz="1250" b="0" i="0">
                <a:solidFill>
                  <a:srgbClr val="333D47"/>
                </a:solidFill>
                <a:latin typeface="Arial"/>
              </a:rPr>
              <a:t>Approved external information</a:t>
            </a:r>
          </a:p>
        </p:txBody>
      </p:sp>
      <p:sp>
        <p:nvSpPr>
          <p:cNvPr id="65" name="TextBox 64"/>
          <p:cNvSpPr txBox="1"/>
          <p:nvPr/>
        </p:nvSpPr>
        <p:spPr>
          <a:xfrm>
            <a:off x="8458200" y="1572768"/>
            <a:ext cx="3383280" cy="237744"/>
          </a:xfrm>
          <a:prstGeom prst="rect">
            <a:avLst/>
          </a:prstGeom>
          <a:noFill/>
        </p:spPr>
        <p:txBody>
          <a:bodyPr wrap="square" lIns="0" tIns="0" rIns="0" bIns="0" anchor="t">
            <a:noAutofit/>
          </a:bodyPr>
          <a:lstStyle/>
          <a:p>
            <a:pPr algn="l">
              <a:spcAft>
                <a:spcPts val="0"/>
              </a:spcAft>
            </a:pPr>
            <a:r>
              <a:rPr sz="1050" b="1" i="0" spc="100">
                <a:solidFill>
                  <a:srgbClr val="D31145"/>
                </a:solidFill>
                <a:latin typeface="Arial"/>
              </a:rPr>
              <a:t>ADDED OVER TIME</a:t>
            </a:r>
          </a:p>
        </p:txBody>
      </p:sp>
      <p:cxnSp>
        <p:nvCxnSpPr>
          <p:cNvPr id="66" name="Connector 65"/>
          <p:cNvCxnSpPr/>
          <p:nvPr/>
        </p:nvCxnSpPr>
        <p:spPr>
          <a:xfrm flipV="1">
            <a:off x="6355080" y="2487168"/>
            <a:ext cx="2057400" cy="822960"/>
          </a:xfrm>
          <a:prstGeom prst="line">
            <a:avLst/>
          </a:prstGeom>
          <a:ln w="15875">
            <a:solidFill>
              <a:srgbClr val="D31145"/>
            </a:solidFill>
            <a:prstDash val="dash"/>
          </a:ln>
        </p:spPr>
      </p:cxnSp>
      <p:sp>
        <p:nvSpPr>
          <p:cNvPr id="67" name="Rounded Rectangle 66"/>
          <p:cNvSpPr/>
          <p:nvPr/>
        </p:nvSpPr>
        <p:spPr>
          <a:xfrm>
            <a:off x="8458200" y="2240280"/>
            <a:ext cx="3374136" cy="502920"/>
          </a:xfrm>
          <a:prstGeom prst="roundRect">
            <a:avLst>
              <a:gd name="adj" fmla="val 14545"/>
            </a:avLst>
          </a:prstGeom>
          <a:solidFill>
            <a:srgbClr val="FFFFFF"/>
          </a:solidFill>
          <a:ln w="15875">
            <a:solidFill>
              <a:srgbClr val="D31145"/>
            </a:solidFill>
            <a:prstDash val="dash"/>
          </a:ln>
        </p:spPr>
        <p:txBody>
          <a:bodyPr rtlCol="0" anchor="ctr"/>
          <a:lstStyle/>
          <a:p>
            <a:pPr algn="ctr"/>
          </a:p>
        </p:txBody>
      </p:sp>
      <p:pic>
        <p:nvPicPr>
          <p:cNvPr id="68" name="Picture 67" descr="LuPlus_r.png"/>
          <p:cNvPicPr>
            <a:picLocks noChangeAspect="1"/>
          </p:cNvPicPr>
          <p:nvPr/>
        </p:nvPicPr>
        <p:blipFill>
          <a:blip r:embed="rId12"/>
          <a:stretch>
            <a:fillRect/>
          </a:stretch>
        </p:blipFill>
        <p:spPr>
          <a:xfrm>
            <a:off x="8595360" y="2359152"/>
            <a:ext cx="256032" cy="256032"/>
          </a:xfrm>
          <a:prstGeom prst="rect">
            <a:avLst/>
          </a:prstGeom>
        </p:spPr>
      </p:pic>
      <p:sp>
        <p:nvSpPr>
          <p:cNvPr id="69" name="TextBox 68"/>
          <p:cNvSpPr txBox="1"/>
          <p:nvPr/>
        </p:nvSpPr>
        <p:spPr>
          <a:xfrm>
            <a:off x="8961120" y="2240280"/>
            <a:ext cx="2788920" cy="502920"/>
          </a:xfrm>
          <a:prstGeom prst="rect">
            <a:avLst/>
          </a:prstGeom>
          <a:noFill/>
        </p:spPr>
        <p:txBody>
          <a:bodyPr wrap="square" lIns="0" tIns="0" rIns="0" bIns="0" anchor="ctr">
            <a:noAutofit/>
          </a:bodyPr>
          <a:lstStyle/>
          <a:p>
            <a:pPr algn="l">
              <a:spcAft>
                <a:spcPts val="0"/>
              </a:spcAft>
            </a:pPr>
            <a:r>
              <a:rPr sz="1250" b="1" i="0">
                <a:solidFill>
                  <a:srgbClr val="D31145"/>
                </a:solidFill>
                <a:latin typeface="Arial"/>
              </a:rPr>
              <a:t>A new AIA system</a:t>
            </a:r>
          </a:p>
        </p:txBody>
      </p:sp>
      <p:cxnSp>
        <p:nvCxnSpPr>
          <p:cNvPr id="70" name="Connector 69"/>
          <p:cNvCxnSpPr/>
          <p:nvPr/>
        </p:nvCxnSpPr>
        <p:spPr>
          <a:xfrm flipV="1">
            <a:off x="6355080" y="3264408"/>
            <a:ext cx="2057400" cy="45720"/>
          </a:xfrm>
          <a:prstGeom prst="line">
            <a:avLst/>
          </a:prstGeom>
          <a:ln w="15875">
            <a:solidFill>
              <a:srgbClr val="D31145"/>
            </a:solidFill>
            <a:prstDash val="dash"/>
          </a:ln>
        </p:spPr>
      </p:cxnSp>
      <p:sp>
        <p:nvSpPr>
          <p:cNvPr id="71" name="Rounded Rectangle 70"/>
          <p:cNvSpPr/>
          <p:nvPr/>
        </p:nvSpPr>
        <p:spPr>
          <a:xfrm>
            <a:off x="8458200" y="3017520"/>
            <a:ext cx="3374136" cy="502920"/>
          </a:xfrm>
          <a:prstGeom prst="roundRect">
            <a:avLst>
              <a:gd name="adj" fmla="val 14545"/>
            </a:avLst>
          </a:prstGeom>
          <a:solidFill>
            <a:srgbClr val="FFFFFF"/>
          </a:solidFill>
          <a:ln w="15875">
            <a:solidFill>
              <a:srgbClr val="D31145"/>
            </a:solidFill>
            <a:prstDash val="dash"/>
          </a:ln>
        </p:spPr>
        <p:txBody>
          <a:bodyPr rtlCol="0" anchor="ctr"/>
          <a:lstStyle/>
          <a:p>
            <a:pPr algn="ctr"/>
          </a:p>
        </p:txBody>
      </p:sp>
      <p:pic>
        <p:nvPicPr>
          <p:cNvPr id="72" name="Picture 71" descr="LuPlus_r.png"/>
          <p:cNvPicPr>
            <a:picLocks noChangeAspect="1"/>
          </p:cNvPicPr>
          <p:nvPr/>
        </p:nvPicPr>
        <p:blipFill>
          <a:blip r:embed="rId12"/>
          <a:stretch>
            <a:fillRect/>
          </a:stretch>
        </p:blipFill>
        <p:spPr>
          <a:xfrm>
            <a:off x="8595360" y="3136392"/>
            <a:ext cx="256032" cy="256032"/>
          </a:xfrm>
          <a:prstGeom prst="rect">
            <a:avLst/>
          </a:prstGeom>
        </p:spPr>
      </p:pic>
      <p:sp>
        <p:nvSpPr>
          <p:cNvPr id="73" name="TextBox 72"/>
          <p:cNvSpPr txBox="1"/>
          <p:nvPr/>
        </p:nvSpPr>
        <p:spPr>
          <a:xfrm>
            <a:off x="8961120" y="3017520"/>
            <a:ext cx="2788920" cy="502920"/>
          </a:xfrm>
          <a:prstGeom prst="rect">
            <a:avLst/>
          </a:prstGeom>
          <a:noFill/>
        </p:spPr>
        <p:txBody>
          <a:bodyPr wrap="square" lIns="0" tIns="0" rIns="0" bIns="0" anchor="ctr">
            <a:noAutofit/>
          </a:bodyPr>
          <a:lstStyle/>
          <a:p>
            <a:pPr algn="l">
              <a:spcAft>
                <a:spcPts val="0"/>
              </a:spcAft>
            </a:pPr>
            <a:r>
              <a:rPr sz="1250" b="1" i="0">
                <a:solidFill>
                  <a:srgbClr val="D31145"/>
                </a:solidFill>
                <a:latin typeface="Arial"/>
              </a:rPr>
              <a:t>Another team’s AI tool</a:t>
            </a:r>
          </a:p>
        </p:txBody>
      </p:sp>
      <p:cxnSp>
        <p:nvCxnSpPr>
          <p:cNvPr id="74" name="Connector 73"/>
          <p:cNvCxnSpPr/>
          <p:nvPr/>
        </p:nvCxnSpPr>
        <p:spPr>
          <a:xfrm>
            <a:off x="6355080" y="3310128"/>
            <a:ext cx="2057400" cy="731520"/>
          </a:xfrm>
          <a:prstGeom prst="line">
            <a:avLst/>
          </a:prstGeom>
          <a:ln w="15875">
            <a:solidFill>
              <a:srgbClr val="D31145"/>
            </a:solidFill>
            <a:prstDash val="dash"/>
          </a:ln>
        </p:spPr>
      </p:cxnSp>
      <p:sp>
        <p:nvSpPr>
          <p:cNvPr id="75" name="Rounded Rectangle 74"/>
          <p:cNvSpPr/>
          <p:nvPr/>
        </p:nvSpPr>
        <p:spPr>
          <a:xfrm>
            <a:off x="8458200" y="3794760"/>
            <a:ext cx="3374136" cy="502920"/>
          </a:xfrm>
          <a:prstGeom prst="roundRect">
            <a:avLst>
              <a:gd name="adj" fmla="val 14545"/>
            </a:avLst>
          </a:prstGeom>
          <a:solidFill>
            <a:srgbClr val="FFFFFF"/>
          </a:solidFill>
          <a:ln w="15875">
            <a:solidFill>
              <a:srgbClr val="D31145"/>
            </a:solidFill>
            <a:prstDash val="dash"/>
          </a:ln>
        </p:spPr>
        <p:txBody>
          <a:bodyPr rtlCol="0" anchor="ctr"/>
          <a:lstStyle/>
          <a:p>
            <a:pPr algn="ctr"/>
          </a:p>
        </p:txBody>
      </p:sp>
      <p:pic>
        <p:nvPicPr>
          <p:cNvPr id="76" name="Picture 75" descr="LuPlus_r.png"/>
          <p:cNvPicPr>
            <a:picLocks noChangeAspect="1"/>
          </p:cNvPicPr>
          <p:nvPr/>
        </p:nvPicPr>
        <p:blipFill>
          <a:blip r:embed="rId12"/>
          <a:stretch>
            <a:fillRect/>
          </a:stretch>
        </p:blipFill>
        <p:spPr>
          <a:xfrm>
            <a:off x="8595360" y="3913632"/>
            <a:ext cx="256032" cy="256032"/>
          </a:xfrm>
          <a:prstGeom prst="rect">
            <a:avLst/>
          </a:prstGeom>
        </p:spPr>
      </p:pic>
      <p:sp>
        <p:nvSpPr>
          <p:cNvPr id="77" name="TextBox 76"/>
          <p:cNvSpPr txBox="1"/>
          <p:nvPr/>
        </p:nvSpPr>
        <p:spPr>
          <a:xfrm>
            <a:off x="8961120" y="3794760"/>
            <a:ext cx="2788920" cy="502920"/>
          </a:xfrm>
          <a:prstGeom prst="rect">
            <a:avLst/>
          </a:prstGeom>
          <a:noFill/>
        </p:spPr>
        <p:txBody>
          <a:bodyPr wrap="square" lIns="0" tIns="0" rIns="0" bIns="0" anchor="ctr">
            <a:noAutofit/>
          </a:bodyPr>
          <a:lstStyle/>
          <a:p>
            <a:pPr algn="l">
              <a:spcAft>
                <a:spcPts val="0"/>
              </a:spcAft>
            </a:pPr>
            <a:r>
              <a:rPr sz="1250" b="1" i="0">
                <a:solidFill>
                  <a:srgbClr val="D31145"/>
                </a:solidFill>
                <a:latin typeface="Arial"/>
              </a:rPr>
              <a:t>Another approved service</a:t>
            </a:r>
          </a:p>
        </p:txBody>
      </p:sp>
      <p:sp>
        <p:nvSpPr>
          <p:cNvPr id="78" name="Oval 77"/>
          <p:cNvSpPr/>
          <p:nvPr/>
        </p:nvSpPr>
        <p:spPr>
          <a:xfrm>
            <a:off x="4956048" y="2551176"/>
            <a:ext cx="1517904" cy="1517904"/>
          </a:xfrm>
          <a:prstGeom prst="ellipse">
            <a:avLst/>
          </a:prstGeom>
          <a:solidFill>
            <a:srgbClr val="FBE8ED"/>
          </a:solidFill>
          <a:ln>
            <a:noFill/>
          </a:ln>
        </p:spPr>
        <p:txBody>
          <a:bodyPr rtlCol="0" anchor="ctr"/>
          <a:lstStyle/>
          <a:p>
            <a:pPr algn="ctr"/>
          </a:p>
        </p:txBody>
      </p:sp>
      <p:sp>
        <p:nvSpPr>
          <p:cNvPr id="79" name="Oval 78"/>
          <p:cNvSpPr/>
          <p:nvPr/>
        </p:nvSpPr>
        <p:spPr>
          <a:xfrm>
            <a:off x="5120640" y="2715768"/>
            <a:ext cx="1188720" cy="1188720"/>
          </a:xfrm>
          <a:prstGeom prst="ellipse">
            <a:avLst/>
          </a:prstGeom>
          <a:solidFill>
            <a:srgbClr val="D31145"/>
          </a:solidFill>
          <a:ln>
            <a:noFill/>
          </a:ln>
        </p:spPr>
        <p:txBody>
          <a:bodyPr rtlCol="0" anchor="ctr" wrap="square" lIns="0" tIns="0" rIns="0" bIns="0">
            <a:noAutofit/>
          </a:bodyPr>
          <a:lstStyle/>
          <a:p>
            <a:pPr algn="ctr">
              <a:spcAft>
                <a:spcPts val="0"/>
              </a:spcAft>
            </a:pPr>
            <a:r>
              <a:rPr sz="4000" b="1" i="0">
                <a:solidFill>
                  <a:srgbClr val="FFFFFF"/>
                </a:solidFill>
                <a:latin typeface="Arial"/>
              </a:rPr>
              <a:t>R</a:t>
            </a:r>
          </a:p>
        </p:txBody>
      </p:sp>
      <p:sp>
        <p:nvSpPr>
          <p:cNvPr id="80" name="TextBox 79"/>
          <p:cNvSpPr txBox="1"/>
          <p:nvPr/>
        </p:nvSpPr>
        <p:spPr>
          <a:xfrm>
            <a:off x="4343400" y="4160520"/>
            <a:ext cx="2743200" cy="310896"/>
          </a:xfrm>
          <a:prstGeom prst="rect">
            <a:avLst/>
          </a:prstGeom>
          <a:noFill/>
        </p:spPr>
        <p:txBody>
          <a:bodyPr wrap="square" lIns="0" tIns="0" rIns="0" bIns="0" anchor="t">
            <a:noAutofit/>
          </a:bodyPr>
          <a:lstStyle/>
          <a:p>
            <a:pPr algn="ctr">
              <a:spcAft>
                <a:spcPts val="0"/>
              </a:spcAft>
            </a:pPr>
            <a:r>
              <a:rPr sz="1500" b="1" i="0">
                <a:solidFill>
                  <a:srgbClr val="333D47"/>
                </a:solidFill>
                <a:latin typeface="Arial"/>
              </a:rPr>
              <a:t>The same Riley</a:t>
            </a:r>
          </a:p>
        </p:txBody>
      </p:sp>
      <p:sp>
        <p:nvSpPr>
          <p:cNvPr id="81" name="TextBox 80"/>
          <p:cNvSpPr txBox="1"/>
          <p:nvPr/>
        </p:nvSpPr>
        <p:spPr>
          <a:xfrm>
            <a:off x="4251960" y="4453128"/>
            <a:ext cx="2926080" cy="457200"/>
          </a:xfrm>
          <a:prstGeom prst="rect">
            <a:avLst/>
          </a:prstGeom>
          <a:noFill/>
        </p:spPr>
        <p:txBody>
          <a:bodyPr wrap="square" lIns="0" tIns="0" rIns="0" bIns="0" anchor="t">
            <a:noAutofit/>
          </a:bodyPr>
          <a:lstStyle/>
          <a:p>
            <a:pPr algn="ctr">
              <a:spcAft>
                <a:spcPts val="0"/>
              </a:spcAft>
            </a:pPr>
            <a:r>
              <a:rPr sz="1150" b="0" i="0">
                <a:solidFill>
                  <a:srgbClr val="5F6770"/>
                </a:solidFill>
                <a:latin typeface="Arial"/>
              </a:rPr>
              <a:t>one conversation, no new tool for employees to learn</a:t>
            </a:r>
          </a:p>
        </p:txBody>
      </p:sp>
      <p:sp>
        <p:nvSpPr>
          <p:cNvPr id="82" name="Rounded Rectangle 81"/>
          <p:cNvSpPr/>
          <p:nvPr/>
        </p:nvSpPr>
        <p:spPr>
          <a:xfrm>
            <a:off x="356616" y="5166360"/>
            <a:ext cx="5632704" cy="502920"/>
          </a:xfrm>
          <a:prstGeom prst="roundRect">
            <a:avLst>
              <a:gd name="adj" fmla="val 14545"/>
            </a:avLst>
          </a:prstGeom>
          <a:solidFill>
            <a:srgbClr val="FFFFFF"/>
          </a:solidFill>
          <a:ln w="9525">
            <a:solidFill>
              <a:srgbClr val="DDD6D0"/>
            </a:solidFill>
          </a:ln>
        </p:spPr>
        <p:txBody>
          <a:bodyPr rtlCol="0" anchor="ctr"/>
          <a:lstStyle/>
          <a:p>
            <a:pPr algn="ctr"/>
          </a:p>
        </p:txBody>
      </p:sp>
      <p:pic>
        <p:nvPicPr>
          <p:cNvPr id="83" name="Picture 82" descr="image.png"/>
          <p:cNvPicPr>
            <a:picLocks noChangeAspect="1"/>
          </p:cNvPicPr>
          <p:nvPr/>
        </p:nvPicPr>
        <p:blipFill>
          <a:blip r:embed="rId5"/>
          <a:stretch>
            <a:fillRect/>
          </a:stretch>
        </p:blipFill>
        <p:spPr>
          <a:xfrm>
            <a:off x="502920" y="5276088"/>
            <a:ext cx="274320" cy="274320"/>
          </a:xfrm>
          <a:prstGeom prst="rect">
            <a:avLst/>
          </a:prstGeom>
        </p:spPr>
      </p:pic>
      <p:sp>
        <p:nvSpPr>
          <p:cNvPr id="84" name="TextBox 83"/>
          <p:cNvSpPr txBox="1"/>
          <p:nvPr/>
        </p:nvSpPr>
        <p:spPr>
          <a:xfrm>
            <a:off x="914400" y="5166360"/>
            <a:ext cx="4983480" cy="502920"/>
          </a:xfrm>
          <a:prstGeom prst="rect">
            <a:avLst/>
          </a:prstGeom>
          <a:noFill/>
        </p:spPr>
        <p:txBody>
          <a:bodyPr wrap="square" lIns="0" tIns="0" rIns="0" bIns="0" anchor="ctr">
            <a:noAutofit/>
          </a:bodyPr>
          <a:lstStyle/>
          <a:p>
            <a:pPr algn="l">
              <a:spcAft>
                <a:spcPts val="0"/>
              </a:spcAft>
            </a:pPr>
            <a:r>
              <a:rPr sz="1200" b="1" i="0">
                <a:solidFill>
                  <a:srgbClr val="333D47"/>
                </a:solidFill>
                <a:latin typeface="Arial"/>
              </a:rPr>
              <a:t>Not automatic or free. </a:t>
            </a:r>
            <a:r>
              <a:rPr sz="1200" b="0" i="0">
                <a:solidFill>
                  <a:srgbClr val="333D47"/>
                </a:solidFill>
                <a:latin typeface="Arial"/>
              </a:rPr>
              <a:t>Each connection needs technical and governance work.</a:t>
            </a:r>
          </a:p>
        </p:txBody>
      </p:sp>
      <p:sp>
        <p:nvSpPr>
          <p:cNvPr id="85" name="Rounded Rectangle 84"/>
          <p:cNvSpPr/>
          <p:nvPr/>
        </p:nvSpPr>
        <p:spPr>
          <a:xfrm>
            <a:off x="6199632" y="5166360"/>
            <a:ext cx="5632704" cy="502920"/>
          </a:xfrm>
          <a:prstGeom prst="roundRect">
            <a:avLst>
              <a:gd name="adj" fmla="val 14545"/>
            </a:avLst>
          </a:prstGeom>
          <a:solidFill>
            <a:srgbClr val="FFFFFF"/>
          </a:solidFill>
          <a:ln w="9525">
            <a:solidFill>
              <a:srgbClr val="F2B6C6"/>
            </a:solidFill>
          </a:ln>
        </p:spPr>
        <p:txBody>
          <a:bodyPr rtlCol="0" anchor="ctr"/>
          <a:lstStyle/>
          <a:p>
            <a:pPr algn="ctr"/>
          </a:p>
        </p:txBody>
      </p:sp>
      <p:pic>
        <p:nvPicPr>
          <p:cNvPr id="86" name="Picture 85" descr="image.png"/>
          <p:cNvPicPr>
            <a:picLocks noChangeAspect="1"/>
          </p:cNvPicPr>
          <p:nvPr/>
        </p:nvPicPr>
        <p:blipFill>
          <a:blip r:embed="rId6"/>
          <a:stretch>
            <a:fillRect/>
          </a:stretch>
        </p:blipFill>
        <p:spPr>
          <a:xfrm>
            <a:off x="6345936" y="5276088"/>
            <a:ext cx="274320" cy="274320"/>
          </a:xfrm>
          <a:prstGeom prst="rect">
            <a:avLst/>
          </a:prstGeom>
        </p:spPr>
      </p:pic>
      <p:sp>
        <p:nvSpPr>
          <p:cNvPr id="87" name="TextBox 86"/>
          <p:cNvSpPr txBox="1"/>
          <p:nvPr/>
        </p:nvSpPr>
        <p:spPr>
          <a:xfrm>
            <a:off x="6757416" y="5166360"/>
            <a:ext cx="4937760" cy="502920"/>
          </a:xfrm>
          <a:prstGeom prst="rect">
            <a:avLst/>
          </a:prstGeom>
          <a:noFill/>
        </p:spPr>
        <p:txBody>
          <a:bodyPr wrap="square" lIns="0" tIns="0" rIns="0" bIns="0" anchor="ctr">
            <a:noAutofit/>
          </a:bodyPr>
          <a:lstStyle/>
          <a:p>
            <a:pPr algn="l">
              <a:spcAft>
                <a:spcPts val="0"/>
              </a:spcAft>
            </a:pPr>
            <a:r>
              <a:rPr sz="1200" b="1" i="0">
                <a:solidFill>
                  <a:srgbClr val="D31145"/>
                </a:solidFill>
                <a:latin typeface="Arial"/>
              </a:rPr>
              <a:t>Tested in the pilot: </a:t>
            </a:r>
            <a:r>
              <a:rPr sz="1200" b="0" i="0">
                <a:solidFill>
                  <a:srgbClr val="333D47"/>
                </a:solidFill>
                <a:latin typeface="Arial"/>
              </a:rPr>
              <a:t>add one approved capability, e.g. another team’s AI tool.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Twelve months to turn the idea into evidence</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THE PLAN</a:t>
            </a:r>
          </a:p>
        </p:txBody>
      </p:sp>
      <p:sp>
        <p:nvSpPr>
          <p:cNvPr id="6" name="Rounded Rectangle 5"/>
          <p:cNvSpPr/>
          <p:nvPr/>
        </p:nvSpPr>
        <p:spPr>
          <a:xfrm>
            <a:off x="356616" y="1572768"/>
            <a:ext cx="2731770" cy="2971800"/>
          </a:xfrm>
          <a:prstGeom prst="roundRect">
            <a:avLst>
              <a:gd name="adj" fmla="val 3347"/>
            </a:avLst>
          </a:prstGeom>
          <a:solidFill>
            <a:srgbClr val="F4F1EF"/>
          </a:solidFill>
          <a:ln>
            <a:noFill/>
          </a:ln>
        </p:spPr>
        <p:txBody>
          <a:bodyPr rtlCol="0" anchor="ctr"/>
          <a:lstStyle/>
          <a:p>
            <a:pPr algn="ctr"/>
          </a:p>
        </p:txBody>
      </p:sp>
      <p:sp>
        <p:nvSpPr>
          <p:cNvPr id="7" name="TextBox 6"/>
          <p:cNvSpPr txBox="1"/>
          <p:nvPr/>
        </p:nvSpPr>
        <p:spPr>
          <a:xfrm>
            <a:off x="557784" y="1755648"/>
            <a:ext cx="2329434" cy="237744"/>
          </a:xfrm>
          <a:prstGeom prst="rect">
            <a:avLst/>
          </a:prstGeom>
          <a:noFill/>
        </p:spPr>
        <p:txBody>
          <a:bodyPr wrap="square" lIns="0" tIns="0" rIns="0" bIns="0" anchor="t">
            <a:noAutofit/>
          </a:bodyPr>
          <a:lstStyle/>
          <a:p>
            <a:pPr algn="l">
              <a:spcAft>
                <a:spcPts val="0"/>
              </a:spcAft>
            </a:pPr>
            <a:r>
              <a:rPr sz="1150" b="1" i="0" spc="100">
                <a:solidFill>
                  <a:srgbClr val="D31145"/>
                </a:solidFill>
                <a:latin typeface="Arial"/>
              </a:rPr>
              <a:t>PHASE 0</a:t>
            </a:r>
            <a:r>
              <a:rPr sz="1150" b="0" i="0">
                <a:solidFill>
                  <a:srgbClr val="5F6770"/>
                </a:solidFill>
                <a:latin typeface="Arial"/>
              </a:rPr>
              <a:t>   Month 1</a:t>
            </a:r>
          </a:p>
        </p:txBody>
      </p:sp>
      <p:sp>
        <p:nvSpPr>
          <p:cNvPr id="8" name="TextBox 7"/>
          <p:cNvSpPr txBox="1"/>
          <p:nvPr/>
        </p:nvSpPr>
        <p:spPr>
          <a:xfrm>
            <a:off x="557784" y="2048256"/>
            <a:ext cx="2329434" cy="310896"/>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Choose and baseline</a:t>
            </a:r>
          </a:p>
        </p:txBody>
      </p:sp>
      <p:sp>
        <p:nvSpPr>
          <p:cNvPr id="9" name="TextBox 8"/>
          <p:cNvSpPr txBox="1"/>
          <p:nvPr/>
        </p:nvSpPr>
        <p:spPr>
          <a:xfrm>
            <a:off x="557784" y="2468880"/>
            <a:ext cx="2329434" cy="1097280"/>
          </a:xfrm>
          <a:prstGeom prst="rect">
            <a:avLst/>
          </a:prstGeom>
          <a:noFill/>
        </p:spPr>
        <p:txBody>
          <a:bodyPr wrap="square" lIns="0" tIns="0" rIns="0" bIns="0" anchor="t">
            <a:noAutofit/>
          </a:bodyPr>
          <a:lstStyle/>
          <a:p>
            <a:pPr algn="l">
              <a:lnSpc>
                <a:spcPct val="98000"/>
              </a:lnSpc>
              <a:spcAft>
                <a:spcPts val="0"/>
              </a:spcAft>
            </a:pPr>
            <a:r>
              <a:rPr sz="1400" b="0" i="1">
                <a:solidFill>
                  <a:srgbClr val="333D47"/>
                </a:solidFill>
                <a:latin typeface="Arial"/>
              </a:rPr>
              <a:t>What does the chosen workflow take today?</a:t>
            </a:r>
          </a:p>
        </p:txBody>
      </p:sp>
      <p:sp>
        <p:nvSpPr>
          <p:cNvPr id="10" name="TextBox 9"/>
          <p:cNvSpPr txBox="1"/>
          <p:nvPr/>
        </p:nvSpPr>
        <p:spPr>
          <a:xfrm>
            <a:off x="557784" y="3630168"/>
            <a:ext cx="2329434" cy="54864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Chosen on value, readiness, data sensitivity and governance.</a:t>
            </a:r>
          </a:p>
        </p:txBody>
      </p:sp>
      <p:sp>
        <p:nvSpPr>
          <p:cNvPr id="11" name="Rounded Rectangle 10"/>
          <p:cNvSpPr/>
          <p:nvPr/>
        </p:nvSpPr>
        <p:spPr>
          <a:xfrm>
            <a:off x="3271266" y="1572768"/>
            <a:ext cx="2731770" cy="2971800"/>
          </a:xfrm>
          <a:prstGeom prst="roundRect">
            <a:avLst>
              <a:gd name="adj" fmla="val 3347"/>
            </a:avLst>
          </a:prstGeom>
          <a:solidFill>
            <a:srgbClr val="F4F1EF"/>
          </a:solidFill>
          <a:ln>
            <a:noFill/>
          </a:ln>
        </p:spPr>
        <p:txBody>
          <a:bodyPr rtlCol="0" anchor="ctr"/>
          <a:lstStyle/>
          <a:p>
            <a:pPr algn="ctr"/>
          </a:p>
        </p:txBody>
      </p:sp>
      <p:sp>
        <p:nvSpPr>
          <p:cNvPr id="12" name="TextBox 11"/>
          <p:cNvSpPr txBox="1"/>
          <p:nvPr/>
        </p:nvSpPr>
        <p:spPr>
          <a:xfrm>
            <a:off x="3472434" y="1755648"/>
            <a:ext cx="2329434" cy="237744"/>
          </a:xfrm>
          <a:prstGeom prst="rect">
            <a:avLst/>
          </a:prstGeom>
          <a:noFill/>
        </p:spPr>
        <p:txBody>
          <a:bodyPr wrap="square" lIns="0" tIns="0" rIns="0" bIns="0" anchor="t">
            <a:noAutofit/>
          </a:bodyPr>
          <a:lstStyle/>
          <a:p>
            <a:pPr algn="l">
              <a:spcAft>
                <a:spcPts val="0"/>
              </a:spcAft>
            </a:pPr>
            <a:r>
              <a:rPr sz="1150" b="1" i="0" spc="100">
                <a:solidFill>
                  <a:srgbClr val="D31145"/>
                </a:solidFill>
                <a:latin typeface="Arial"/>
              </a:rPr>
              <a:t>PHASE 1</a:t>
            </a:r>
            <a:r>
              <a:rPr sz="1150" b="0" i="0">
                <a:solidFill>
                  <a:srgbClr val="5F6770"/>
                </a:solidFill>
                <a:latin typeface="Arial"/>
              </a:rPr>
              <a:t>   Months 2–4</a:t>
            </a:r>
          </a:p>
        </p:txBody>
      </p:sp>
      <p:sp>
        <p:nvSpPr>
          <p:cNvPr id="13" name="TextBox 12"/>
          <p:cNvSpPr txBox="1"/>
          <p:nvPr/>
        </p:nvSpPr>
        <p:spPr>
          <a:xfrm>
            <a:off x="3472434" y="2048256"/>
            <a:ext cx="2329434" cy="310896"/>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Pilot one workflow</a:t>
            </a:r>
          </a:p>
        </p:txBody>
      </p:sp>
      <p:sp>
        <p:nvSpPr>
          <p:cNvPr id="14" name="TextBox 13"/>
          <p:cNvSpPr txBox="1"/>
          <p:nvPr/>
        </p:nvSpPr>
        <p:spPr>
          <a:xfrm>
            <a:off x="3472434" y="2468880"/>
            <a:ext cx="2329434" cy="1097280"/>
          </a:xfrm>
          <a:prstGeom prst="rect">
            <a:avLst/>
          </a:prstGeom>
          <a:noFill/>
        </p:spPr>
        <p:txBody>
          <a:bodyPr wrap="square" lIns="0" tIns="0" rIns="0" bIns="0" anchor="t">
            <a:noAutofit/>
          </a:bodyPr>
          <a:lstStyle/>
          <a:p>
            <a:pPr algn="l">
              <a:lnSpc>
                <a:spcPct val="98000"/>
              </a:lnSpc>
              <a:spcAft>
                <a:spcPts val="0"/>
              </a:spcAft>
            </a:pPr>
            <a:r>
              <a:rPr sz="1400" b="0" i="1">
                <a:solidFill>
                  <a:srgbClr val="333D47"/>
                </a:solidFill>
                <a:latin typeface="Arial"/>
              </a:rPr>
              <a:t>Does Riley reduce effort without losing quality?</a:t>
            </a:r>
          </a:p>
        </p:txBody>
      </p:sp>
      <p:sp>
        <p:nvSpPr>
          <p:cNvPr id="15" name="TextBox 14"/>
          <p:cNvSpPr txBox="1"/>
          <p:nvPr/>
        </p:nvSpPr>
        <p:spPr>
          <a:xfrm>
            <a:off x="3472434" y="3145536"/>
            <a:ext cx="2329434" cy="54864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One team. Minimum capabilities only.</a:t>
            </a:r>
          </a:p>
        </p:txBody>
      </p:sp>
      <p:cxnSp>
        <p:nvCxnSpPr>
          <p:cNvPr id="16" name="Connector 15"/>
          <p:cNvCxnSpPr/>
          <p:nvPr/>
        </p:nvCxnSpPr>
        <p:spPr>
          <a:xfrm>
            <a:off x="3472434" y="3739896"/>
            <a:ext cx="2329434" cy="0"/>
          </a:xfrm>
          <a:prstGeom prst="line">
            <a:avLst/>
          </a:prstGeom>
          <a:ln w="9525">
            <a:solidFill>
              <a:srgbClr val="DDD6D0"/>
            </a:solidFill>
          </a:ln>
        </p:spPr>
      </p:cxnSp>
      <p:sp>
        <p:nvSpPr>
          <p:cNvPr id="17" name="Diamond 16"/>
          <p:cNvSpPr/>
          <p:nvPr/>
        </p:nvSpPr>
        <p:spPr>
          <a:xfrm>
            <a:off x="3472434" y="3877056"/>
            <a:ext cx="155448" cy="155448"/>
          </a:xfrm>
          <a:prstGeom prst="diamond">
            <a:avLst/>
          </a:prstGeom>
          <a:solidFill>
            <a:srgbClr val="D31145"/>
          </a:solidFill>
          <a:ln>
            <a:noFill/>
          </a:ln>
        </p:spPr>
        <p:txBody>
          <a:bodyPr rtlCol="0" anchor="ctr"/>
          <a:lstStyle/>
          <a:p>
            <a:pPr algn="ctr"/>
          </a:p>
        </p:txBody>
      </p:sp>
      <p:sp>
        <p:nvSpPr>
          <p:cNvPr id="18" name="TextBox 17"/>
          <p:cNvSpPr txBox="1"/>
          <p:nvPr/>
        </p:nvSpPr>
        <p:spPr>
          <a:xfrm>
            <a:off x="3701034" y="3813048"/>
            <a:ext cx="2091690" cy="731520"/>
          </a:xfrm>
          <a:prstGeom prst="rect">
            <a:avLst/>
          </a:prstGeom>
          <a:noFill/>
        </p:spPr>
        <p:txBody>
          <a:bodyPr wrap="square" lIns="0" tIns="0" rIns="0" bIns="0" anchor="t">
            <a:noAutofit/>
          </a:bodyPr>
          <a:lstStyle/>
          <a:p>
            <a:pPr algn="l">
              <a:spcAft>
                <a:spcPts val="0"/>
              </a:spcAft>
            </a:pPr>
            <a:r>
              <a:rPr sz="1000" b="1" i="0" spc="50">
                <a:solidFill>
                  <a:srgbClr val="333D47"/>
                </a:solidFill>
                <a:latin typeface="Arial"/>
              </a:rPr>
              <a:t>GO / NO-GO  </a:t>
            </a:r>
            <a:r>
              <a:rPr sz="1150" b="0" i="0">
                <a:solidFill>
                  <a:srgbClr val="333D47"/>
                </a:solidFill>
                <a:latin typeface="Arial"/>
              </a:rPr>
              <a:t>Effort down, quality held, usage sustained</a:t>
            </a:r>
          </a:p>
        </p:txBody>
      </p:sp>
      <p:sp>
        <p:nvSpPr>
          <p:cNvPr id="19" name="Rounded Rectangle 18"/>
          <p:cNvSpPr/>
          <p:nvPr/>
        </p:nvSpPr>
        <p:spPr>
          <a:xfrm>
            <a:off x="6185916" y="1572768"/>
            <a:ext cx="2731770" cy="2971800"/>
          </a:xfrm>
          <a:prstGeom prst="roundRect">
            <a:avLst>
              <a:gd name="adj" fmla="val 3347"/>
            </a:avLst>
          </a:prstGeom>
          <a:solidFill>
            <a:srgbClr val="D31145"/>
          </a:solidFill>
          <a:ln>
            <a:noFill/>
          </a:ln>
        </p:spPr>
        <p:txBody>
          <a:bodyPr rtlCol="0" anchor="ctr"/>
          <a:lstStyle/>
          <a:p>
            <a:pPr algn="ctr"/>
          </a:p>
        </p:txBody>
      </p:sp>
      <p:sp>
        <p:nvSpPr>
          <p:cNvPr id="20" name="TextBox 19"/>
          <p:cNvSpPr txBox="1"/>
          <p:nvPr/>
        </p:nvSpPr>
        <p:spPr>
          <a:xfrm>
            <a:off x="6387084" y="1755648"/>
            <a:ext cx="2329434" cy="237744"/>
          </a:xfrm>
          <a:prstGeom prst="rect">
            <a:avLst/>
          </a:prstGeom>
          <a:noFill/>
        </p:spPr>
        <p:txBody>
          <a:bodyPr wrap="square" lIns="0" tIns="0" rIns="0" bIns="0" anchor="t">
            <a:noAutofit/>
          </a:bodyPr>
          <a:lstStyle/>
          <a:p>
            <a:pPr algn="l">
              <a:spcAft>
                <a:spcPts val="0"/>
              </a:spcAft>
            </a:pPr>
            <a:r>
              <a:rPr sz="1150" b="1" i="0" spc="100">
                <a:solidFill>
                  <a:srgbClr val="FFFFFF"/>
                </a:solidFill>
                <a:latin typeface="Arial"/>
              </a:rPr>
              <a:t>PHASE 2</a:t>
            </a:r>
            <a:r>
              <a:rPr sz="1150" b="0" i="0">
                <a:solidFill>
                  <a:srgbClr val="FFFFFF"/>
                </a:solidFill>
                <a:latin typeface="Arial"/>
              </a:rPr>
              <a:t>   Months 5–7</a:t>
            </a:r>
          </a:p>
        </p:txBody>
      </p:sp>
      <p:sp>
        <p:nvSpPr>
          <p:cNvPr id="21" name="TextBox 20"/>
          <p:cNvSpPr txBox="1"/>
          <p:nvPr/>
        </p:nvSpPr>
        <p:spPr>
          <a:xfrm>
            <a:off x="6387084" y="2048256"/>
            <a:ext cx="2329434" cy="310896"/>
          </a:xfrm>
          <a:prstGeom prst="rect">
            <a:avLst/>
          </a:prstGeom>
          <a:noFill/>
        </p:spPr>
        <p:txBody>
          <a:bodyPr wrap="square" lIns="0" tIns="0" rIns="0" bIns="0" anchor="t">
            <a:noAutofit/>
          </a:bodyPr>
          <a:lstStyle/>
          <a:p>
            <a:pPr algn="l">
              <a:spcAft>
                <a:spcPts val="0"/>
              </a:spcAft>
            </a:pPr>
            <a:r>
              <a:rPr sz="1600" b="1" i="0">
                <a:solidFill>
                  <a:srgbClr val="FFFFFF"/>
                </a:solidFill>
                <a:latin typeface="Arial"/>
              </a:rPr>
              <a:t>Extend Riley</a:t>
            </a:r>
          </a:p>
        </p:txBody>
      </p:sp>
      <p:sp>
        <p:nvSpPr>
          <p:cNvPr id="22" name="TextBox 21"/>
          <p:cNvSpPr txBox="1"/>
          <p:nvPr/>
        </p:nvSpPr>
        <p:spPr>
          <a:xfrm>
            <a:off x="6387084" y="2468880"/>
            <a:ext cx="2329434" cy="1097280"/>
          </a:xfrm>
          <a:prstGeom prst="rect">
            <a:avLst/>
          </a:prstGeom>
          <a:noFill/>
        </p:spPr>
        <p:txBody>
          <a:bodyPr wrap="square" lIns="0" tIns="0" rIns="0" bIns="0" anchor="t">
            <a:noAutofit/>
          </a:bodyPr>
          <a:lstStyle/>
          <a:p>
            <a:pPr algn="l">
              <a:lnSpc>
                <a:spcPct val="98000"/>
              </a:lnSpc>
              <a:spcAft>
                <a:spcPts val="0"/>
              </a:spcAft>
            </a:pPr>
            <a:r>
              <a:rPr sz="1400" b="0" i="1">
                <a:solidFill>
                  <a:srgbClr val="FFFFFF"/>
                </a:solidFill>
                <a:latin typeface="Arial"/>
              </a:rPr>
              <a:t>Can Riley add another approved capability, keeping the same experience and quality?</a:t>
            </a:r>
          </a:p>
        </p:txBody>
      </p:sp>
      <p:cxnSp>
        <p:nvCxnSpPr>
          <p:cNvPr id="23" name="Connector 22"/>
          <p:cNvCxnSpPr/>
          <p:nvPr/>
        </p:nvCxnSpPr>
        <p:spPr>
          <a:xfrm>
            <a:off x="6387084" y="3739896"/>
            <a:ext cx="2329434" cy="0"/>
          </a:xfrm>
          <a:prstGeom prst="line">
            <a:avLst/>
          </a:prstGeom>
          <a:ln w="9525">
            <a:solidFill>
              <a:srgbClr val="F2B6C6"/>
            </a:solidFill>
          </a:ln>
        </p:spPr>
      </p:cxnSp>
      <p:sp>
        <p:nvSpPr>
          <p:cNvPr id="24" name="Diamond 23"/>
          <p:cNvSpPr/>
          <p:nvPr/>
        </p:nvSpPr>
        <p:spPr>
          <a:xfrm>
            <a:off x="6387084" y="3877056"/>
            <a:ext cx="155448" cy="155448"/>
          </a:xfrm>
          <a:prstGeom prst="diamond">
            <a:avLst/>
          </a:prstGeom>
          <a:solidFill>
            <a:srgbClr val="FFFFFF"/>
          </a:solidFill>
          <a:ln>
            <a:noFill/>
          </a:ln>
        </p:spPr>
        <p:txBody>
          <a:bodyPr rtlCol="0" anchor="ctr"/>
          <a:lstStyle/>
          <a:p>
            <a:pPr algn="ctr"/>
          </a:p>
        </p:txBody>
      </p:sp>
      <p:sp>
        <p:nvSpPr>
          <p:cNvPr id="25" name="TextBox 24"/>
          <p:cNvSpPr txBox="1"/>
          <p:nvPr/>
        </p:nvSpPr>
        <p:spPr>
          <a:xfrm>
            <a:off x="6615684" y="3813048"/>
            <a:ext cx="2091690" cy="731520"/>
          </a:xfrm>
          <a:prstGeom prst="rect">
            <a:avLst/>
          </a:prstGeom>
          <a:noFill/>
        </p:spPr>
        <p:txBody>
          <a:bodyPr wrap="square" lIns="0" tIns="0" rIns="0" bIns="0" anchor="t">
            <a:noAutofit/>
          </a:bodyPr>
          <a:lstStyle/>
          <a:p>
            <a:pPr algn="l">
              <a:spcAft>
                <a:spcPts val="0"/>
              </a:spcAft>
            </a:pPr>
            <a:r>
              <a:rPr sz="1000" b="1" i="0" spc="50">
                <a:solidFill>
                  <a:srgbClr val="FFFFFF"/>
                </a:solidFill>
                <a:latin typeface="Arial"/>
              </a:rPr>
              <a:t>GO / NO-GO  </a:t>
            </a:r>
            <a:r>
              <a:rPr sz="1150" b="0" i="0">
                <a:solidFill>
                  <a:srgbClr val="FFFFFF"/>
                </a:solidFill>
                <a:latin typeface="Arial"/>
              </a:rPr>
              <a:t>Usable through Riley; results hold across two workflows</a:t>
            </a:r>
          </a:p>
        </p:txBody>
      </p:sp>
      <p:sp>
        <p:nvSpPr>
          <p:cNvPr id="26" name="Rounded Rectangle 25"/>
          <p:cNvSpPr/>
          <p:nvPr/>
        </p:nvSpPr>
        <p:spPr>
          <a:xfrm>
            <a:off x="6683121" y="1389888"/>
            <a:ext cx="1737360" cy="274320"/>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1000" b="1" i="0" spc="50">
                <a:solidFill>
                  <a:srgbClr val="D31145"/>
                </a:solidFill>
                <a:latin typeface="Arial"/>
              </a:rPr>
              <a:t>THE EXTENSION TEST</a:t>
            </a:r>
          </a:p>
        </p:txBody>
      </p:sp>
      <p:sp>
        <p:nvSpPr>
          <p:cNvPr id="27" name="Rounded Rectangle 26"/>
          <p:cNvSpPr/>
          <p:nvPr/>
        </p:nvSpPr>
        <p:spPr>
          <a:xfrm>
            <a:off x="9100566" y="1572768"/>
            <a:ext cx="2731770" cy="2971800"/>
          </a:xfrm>
          <a:prstGeom prst="roundRect">
            <a:avLst>
              <a:gd name="adj" fmla="val 3347"/>
            </a:avLst>
          </a:prstGeom>
          <a:solidFill>
            <a:srgbClr val="F4F1EF"/>
          </a:solidFill>
          <a:ln>
            <a:noFill/>
          </a:ln>
        </p:spPr>
        <p:txBody>
          <a:bodyPr rtlCol="0" anchor="ctr"/>
          <a:lstStyle/>
          <a:p>
            <a:pPr algn="ctr"/>
          </a:p>
        </p:txBody>
      </p:sp>
      <p:sp>
        <p:nvSpPr>
          <p:cNvPr id="28" name="TextBox 27"/>
          <p:cNvSpPr txBox="1"/>
          <p:nvPr/>
        </p:nvSpPr>
        <p:spPr>
          <a:xfrm>
            <a:off x="9301734" y="1755648"/>
            <a:ext cx="2329434" cy="237744"/>
          </a:xfrm>
          <a:prstGeom prst="rect">
            <a:avLst/>
          </a:prstGeom>
          <a:noFill/>
        </p:spPr>
        <p:txBody>
          <a:bodyPr wrap="square" lIns="0" tIns="0" rIns="0" bIns="0" anchor="t">
            <a:noAutofit/>
          </a:bodyPr>
          <a:lstStyle/>
          <a:p>
            <a:pPr algn="l">
              <a:spcAft>
                <a:spcPts val="0"/>
              </a:spcAft>
            </a:pPr>
            <a:r>
              <a:rPr sz="1150" b="1" i="0" spc="100">
                <a:solidFill>
                  <a:srgbClr val="D31145"/>
                </a:solidFill>
                <a:latin typeface="Arial"/>
              </a:rPr>
              <a:t>PHASE 3</a:t>
            </a:r>
            <a:r>
              <a:rPr sz="1150" b="0" i="0">
                <a:solidFill>
                  <a:srgbClr val="5F6770"/>
                </a:solidFill>
                <a:latin typeface="Arial"/>
              </a:rPr>
              <a:t>   Months 8–12</a:t>
            </a:r>
          </a:p>
        </p:txBody>
      </p:sp>
      <p:sp>
        <p:nvSpPr>
          <p:cNvPr id="29" name="TextBox 28"/>
          <p:cNvSpPr txBox="1"/>
          <p:nvPr/>
        </p:nvSpPr>
        <p:spPr>
          <a:xfrm>
            <a:off x="9301734" y="2048256"/>
            <a:ext cx="2329434" cy="310896"/>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Scale toward the vision</a:t>
            </a:r>
          </a:p>
        </p:txBody>
      </p:sp>
      <p:sp>
        <p:nvSpPr>
          <p:cNvPr id="30" name="TextBox 29"/>
          <p:cNvSpPr txBox="1"/>
          <p:nvPr/>
        </p:nvSpPr>
        <p:spPr>
          <a:xfrm>
            <a:off x="9301734" y="2468880"/>
            <a:ext cx="2329434" cy="1097280"/>
          </a:xfrm>
          <a:prstGeom prst="rect">
            <a:avLst/>
          </a:prstGeom>
          <a:noFill/>
        </p:spPr>
        <p:txBody>
          <a:bodyPr wrap="square" lIns="0" tIns="0" rIns="0" bIns="0" anchor="t">
            <a:noAutofit/>
          </a:bodyPr>
          <a:lstStyle/>
          <a:p>
            <a:pPr algn="l">
              <a:lnSpc>
                <a:spcPct val="98000"/>
              </a:lnSpc>
              <a:spcAft>
                <a:spcPts val="0"/>
              </a:spcAft>
            </a:pPr>
            <a:r>
              <a:rPr sz="1400" b="0" i="1">
                <a:solidFill>
                  <a:srgbClr val="333D47"/>
                </a:solidFill>
                <a:latin typeface="Arial"/>
              </a:rPr>
              <a:t>What does measured data say about wider impact?</a:t>
            </a:r>
          </a:p>
        </p:txBody>
      </p:sp>
      <p:sp>
        <p:nvSpPr>
          <p:cNvPr id="31" name="TextBox 30"/>
          <p:cNvSpPr txBox="1"/>
          <p:nvPr/>
        </p:nvSpPr>
        <p:spPr>
          <a:xfrm>
            <a:off x="9301734" y="3630168"/>
            <a:ext cx="2329434" cy="54864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Measured data replaces the illustrative scenario.</a:t>
            </a:r>
          </a:p>
        </p:txBody>
      </p:sp>
      <p:sp>
        <p:nvSpPr>
          <p:cNvPr id="32" name="Rounded Rectangle 31"/>
          <p:cNvSpPr/>
          <p:nvPr/>
        </p:nvSpPr>
        <p:spPr>
          <a:xfrm>
            <a:off x="356616" y="4800600"/>
            <a:ext cx="5632704" cy="822960"/>
          </a:xfrm>
          <a:prstGeom prst="roundRect">
            <a:avLst>
              <a:gd name="adj" fmla="val 8888"/>
            </a:avLst>
          </a:prstGeom>
          <a:solidFill>
            <a:srgbClr val="FFFFFF"/>
          </a:solidFill>
          <a:ln w="9525">
            <a:solidFill>
              <a:srgbClr val="DDD6D0"/>
            </a:solidFill>
          </a:ln>
        </p:spPr>
        <p:txBody>
          <a:bodyPr rtlCol="0" anchor="ctr"/>
          <a:lstStyle/>
          <a:p>
            <a:pPr algn="ctr"/>
          </a:p>
        </p:txBody>
      </p:sp>
      <p:pic>
        <p:nvPicPr>
          <p:cNvPr id="33" name="Picture 32" descr="LuTarget_c.png"/>
          <p:cNvPicPr>
            <a:picLocks noChangeAspect="1"/>
          </p:cNvPicPr>
          <p:nvPr/>
        </p:nvPicPr>
        <p:blipFill>
          <a:blip r:embed="rId3"/>
          <a:stretch>
            <a:fillRect/>
          </a:stretch>
        </p:blipFill>
        <p:spPr>
          <a:xfrm>
            <a:off x="521208" y="5056632"/>
            <a:ext cx="310896" cy="310896"/>
          </a:xfrm>
          <a:prstGeom prst="rect">
            <a:avLst/>
          </a:prstGeom>
        </p:spPr>
      </p:pic>
      <p:sp>
        <p:nvSpPr>
          <p:cNvPr id="34" name="TextBox 33"/>
          <p:cNvSpPr txBox="1"/>
          <p:nvPr/>
        </p:nvSpPr>
        <p:spPr>
          <a:xfrm>
            <a:off x="960120" y="4800600"/>
            <a:ext cx="4937760" cy="822960"/>
          </a:xfrm>
          <a:prstGeom prst="rect">
            <a:avLst/>
          </a:prstGeom>
          <a:noFill/>
        </p:spPr>
        <p:txBody>
          <a:bodyPr wrap="square" lIns="0" tIns="0" rIns="0" bIns="0" anchor="ctr">
            <a:noAutofit/>
          </a:bodyPr>
          <a:lstStyle/>
          <a:p>
            <a:pPr algn="l">
              <a:spcAft>
                <a:spcPts val="0"/>
              </a:spcAft>
            </a:pPr>
            <a:r>
              <a:rPr sz="1200" b="1" i="0">
                <a:solidFill>
                  <a:srgbClr val="333D47"/>
                </a:solidFill>
                <a:latin typeface="Arial"/>
              </a:rPr>
              <a:t>Phase 1 stays narrow: </a:t>
            </a:r>
            <a:r>
              <a:rPr sz="1200" b="0" i="0">
                <a:solidFill>
                  <a:srgbClr val="333D47"/>
                </a:solidFill>
                <a:latin typeface="Arial"/>
              </a:rPr>
              <a:t>only the minimum capabilities one meaningful workflow needs. The wider set of hands is the long-term direction.</a:t>
            </a:r>
          </a:p>
        </p:txBody>
      </p:sp>
      <p:sp>
        <p:nvSpPr>
          <p:cNvPr id="35" name="Rounded Rectangle 34"/>
          <p:cNvSpPr/>
          <p:nvPr/>
        </p:nvSpPr>
        <p:spPr>
          <a:xfrm>
            <a:off x="6199632" y="4800600"/>
            <a:ext cx="5632704" cy="822960"/>
          </a:xfrm>
          <a:prstGeom prst="roundRect">
            <a:avLst>
              <a:gd name="adj" fmla="val 8888"/>
            </a:avLst>
          </a:prstGeom>
          <a:solidFill>
            <a:srgbClr val="FFFFFF"/>
          </a:solidFill>
          <a:ln w="9525">
            <a:solidFill>
              <a:srgbClr val="F2B6C6"/>
            </a:solidFill>
          </a:ln>
        </p:spPr>
        <p:txBody>
          <a:bodyPr rtlCol="0" anchor="ctr"/>
          <a:lstStyle/>
          <a:p>
            <a:pPr algn="ctr"/>
          </a:p>
        </p:txBody>
      </p:sp>
      <p:pic>
        <p:nvPicPr>
          <p:cNvPr id="36" name="Picture 35" descr="LuRefreshCw_r.png"/>
          <p:cNvPicPr>
            <a:picLocks noChangeAspect="1"/>
          </p:cNvPicPr>
          <p:nvPr/>
        </p:nvPicPr>
        <p:blipFill>
          <a:blip r:embed="rId4"/>
          <a:stretch>
            <a:fillRect/>
          </a:stretch>
        </p:blipFill>
        <p:spPr>
          <a:xfrm>
            <a:off x="6364224" y="5056632"/>
            <a:ext cx="310896" cy="310896"/>
          </a:xfrm>
          <a:prstGeom prst="rect">
            <a:avLst/>
          </a:prstGeom>
        </p:spPr>
      </p:pic>
      <p:sp>
        <p:nvSpPr>
          <p:cNvPr id="37" name="TextBox 36"/>
          <p:cNvSpPr txBox="1"/>
          <p:nvPr/>
        </p:nvSpPr>
        <p:spPr>
          <a:xfrm>
            <a:off x="6803136" y="4800600"/>
            <a:ext cx="4892040" cy="822960"/>
          </a:xfrm>
          <a:prstGeom prst="rect">
            <a:avLst/>
          </a:prstGeom>
          <a:noFill/>
        </p:spPr>
        <p:txBody>
          <a:bodyPr wrap="square" lIns="0" tIns="0" rIns="0" bIns="0" anchor="ctr">
            <a:noAutofit/>
          </a:bodyPr>
          <a:lstStyle/>
          <a:p>
            <a:pPr algn="l">
              <a:spcAft>
                <a:spcPts val="0"/>
              </a:spcAft>
            </a:pPr>
            <a:r>
              <a:rPr sz="1200" b="1" i="0">
                <a:solidFill>
                  <a:srgbClr val="D31145"/>
                </a:solidFill>
                <a:latin typeface="Arial"/>
              </a:rPr>
              <a:t>If Phase 2’s capability can’t be connected: </a:t>
            </a:r>
            <a:r>
              <a:rPr sz="1200" b="0" i="0">
                <a:solidFill>
                  <a:srgbClr val="333D47"/>
                </a:solidFill>
                <a:latin typeface="Arial"/>
              </a:rPr>
              <a:t>select another approved capability, and record why the first attempt failed.</a:t>
            </a:r>
          </a:p>
        </p:txBody>
      </p:sp>
      <p:sp>
        <p:nvSpPr>
          <p:cNvPr id="38" name="Slide Number Placeholder"/>
          <p:cNvSpPr>
            <a:spLocks noGrp="1"/>
          </p:cNvSpPr>
          <p:nvPr>
            <p:ph type="sldNum" sz="quarter" idx="4"/>
          </p:nvPr>
        </p:nvSpPr>
        <p:spPr/>
        <p:txBody>
          <a:bodyPr/>
          <a:lstStyle/>
          <a:p>
            <a:fld id="{18A41853-EF22-D446-BDBC-A7CF3FE93503}" type="slidenum">
              <a:rPr lang="en-US"/>
              <a:t>8</a:t>
            </a:fld>
            <a:endParaRPr lang="en-US"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One coworker that can grow in three directions</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SCALABILITY  ·  INNOVATION FOR ENDURING VALUE</a:t>
            </a:r>
          </a:p>
        </p:txBody>
      </p:sp>
      <p:sp>
        <p:nvSpPr>
          <p:cNvPr id="6" name="Rounded Rectangle 5"/>
          <p:cNvSpPr/>
          <p:nvPr/>
        </p:nvSpPr>
        <p:spPr>
          <a:xfrm>
            <a:off x="356616" y="1371600"/>
            <a:ext cx="3639312" cy="1874520"/>
          </a:xfrm>
          <a:prstGeom prst="roundRect">
            <a:avLst>
              <a:gd name="adj" fmla="val 4878"/>
            </a:avLst>
          </a:prstGeom>
          <a:solidFill>
            <a:srgbClr val="F4F1EF"/>
          </a:solidFill>
          <a:ln>
            <a:noFill/>
          </a:ln>
        </p:spPr>
        <p:txBody>
          <a:bodyPr rtlCol="0" anchor="ctr"/>
          <a:lstStyle/>
          <a:p>
            <a:pPr algn="ctr"/>
          </a:p>
        </p:txBody>
      </p:sp>
      <p:sp>
        <p:nvSpPr>
          <p:cNvPr id="7" name="Oval 6"/>
          <p:cNvSpPr/>
          <p:nvPr/>
        </p:nvSpPr>
        <p:spPr>
          <a:xfrm>
            <a:off x="585216" y="1600200"/>
            <a:ext cx="512064" cy="512064"/>
          </a:xfrm>
          <a:prstGeom prst="ellipse">
            <a:avLst/>
          </a:prstGeom>
          <a:solidFill>
            <a:srgbClr val="D31145"/>
          </a:solidFill>
          <a:ln>
            <a:noFill/>
          </a:ln>
        </p:spPr>
        <p:txBody>
          <a:bodyPr rtlCol="0" anchor="ctr"/>
          <a:lstStyle/>
          <a:p>
            <a:pPr algn="ctr"/>
          </a:p>
        </p:txBody>
      </p:sp>
      <p:pic>
        <p:nvPicPr>
          <p:cNvPr id="8" name="Picture 7" descr="LuUsers_w.png"/>
          <p:cNvPicPr>
            <a:picLocks noChangeAspect="1"/>
          </p:cNvPicPr>
          <p:nvPr/>
        </p:nvPicPr>
        <p:blipFill>
          <a:blip r:embed="rId3"/>
          <a:stretch>
            <a:fillRect/>
          </a:stretch>
        </p:blipFill>
        <p:spPr>
          <a:xfrm>
            <a:off x="702991" y="1717975"/>
            <a:ext cx="276515" cy="276515"/>
          </a:xfrm>
          <a:prstGeom prst="rect">
            <a:avLst/>
          </a:prstGeom>
        </p:spPr>
      </p:pic>
      <p:sp>
        <p:nvSpPr>
          <p:cNvPr id="9" name="TextBox 8"/>
          <p:cNvSpPr txBox="1"/>
          <p:nvPr/>
        </p:nvSpPr>
        <p:spPr>
          <a:xfrm>
            <a:off x="1252728" y="1600200"/>
            <a:ext cx="2633472" cy="512064"/>
          </a:xfrm>
          <a:prstGeom prst="rect">
            <a:avLst/>
          </a:prstGeom>
          <a:noFill/>
        </p:spPr>
        <p:txBody>
          <a:bodyPr wrap="square" lIns="0" tIns="0" rIns="0" bIns="0" anchor="ctr">
            <a:noAutofit/>
          </a:bodyPr>
          <a:lstStyle/>
          <a:p>
            <a:pPr algn="l">
              <a:lnSpc>
                <a:spcPct val="95000"/>
              </a:lnSpc>
              <a:spcAft>
                <a:spcPts val="0"/>
              </a:spcAft>
            </a:pPr>
            <a:r>
              <a:rPr sz="1700" b="1" i="0">
                <a:solidFill>
                  <a:srgbClr val="333D47"/>
                </a:solidFill>
                <a:latin typeface="Arial"/>
              </a:rPr>
              <a:t>More employees</a:t>
            </a:r>
          </a:p>
        </p:txBody>
      </p:sp>
      <p:sp>
        <p:nvSpPr>
          <p:cNvPr id="10" name="TextBox 9"/>
          <p:cNvSpPr txBox="1"/>
          <p:nvPr/>
        </p:nvSpPr>
        <p:spPr>
          <a:xfrm>
            <a:off x="585216" y="2286000"/>
            <a:ext cx="3182112" cy="868680"/>
          </a:xfrm>
          <a:prstGeom prst="rect">
            <a:avLst/>
          </a:prstGeom>
          <a:noFill/>
        </p:spPr>
        <p:txBody>
          <a:bodyPr wrap="square" lIns="0" tIns="0" rIns="0" bIns="0" anchor="t">
            <a:noAutofit/>
          </a:bodyPr>
          <a:lstStyle/>
          <a:p>
            <a:pPr algn="l">
              <a:spcAft>
                <a:spcPts val="0"/>
              </a:spcAft>
            </a:pPr>
            <a:r>
              <a:rPr sz="1350" b="0" i="0">
                <a:solidFill>
                  <a:srgbClr val="333D47"/>
                </a:solidFill>
                <a:latin typeface="Arial"/>
              </a:rPr>
              <a:t>From one pilot team to back-office teams across many functions.</a:t>
            </a:r>
          </a:p>
        </p:txBody>
      </p:sp>
      <p:sp>
        <p:nvSpPr>
          <p:cNvPr id="11" name="Rounded Rectangle 10"/>
          <p:cNvSpPr/>
          <p:nvPr/>
        </p:nvSpPr>
        <p:spPr>
          <a:xfrm>
            <a:off x="4274820" y="1371600"/>
            <a:ext cx="3639312" cy="1874520"/>
          </a:xfrm>
          <a:prstGeom prst="roundRect">
            <a:avLst>
              <a:gd name="adj" fmla="val 4878"/>
            </a:avLst>
          </a:prstGeom>
          <a:solidFill>
            <a:srgbClr val="F4F1EF"/>
          </a:solidFill>
          <a:ln>
            <a:noFill/>
          </a:ln>
        </p:spPr>
        <p:txBody>
          <a:bodyPr rtlCol="0" anchor="ctr"/>
          <a:lstStyle/>
          <a:p>
            <a:pPr algn="ctr"/>
          </a:p>
        </p:txBody>
      </p:sp>
      <p:sp>
        <p:nvSpPr>
          <p:cNvPr id="12" name="Oval 11"/>
          <p:cNvSpPr/>
          <p:nvPr/>
        </p:nvSpPr>
        <p:spPr>
          <a:xfrm>
            <a:off x="4503420" y="1600200"/>
            <a:ext cx="512064" cy="512064"/>
          </a:xfrm>
          <a:prstGeom prst="ellipse">
            <a:avLst/>
          </a:prstGeom>
          <a:solidFill>
            <a:srgbClr val="D31145"/>
          </a:solidFill>
          <a:ln>
            <a:noFill/>
          </a:ln>
        </p:spPr>
        <p:txBody>
          <a:bodyPr rtlCol="0" anchor="ctr"/>
          <a:lstStyle/>
          <a:p>
            <a:pPr algn="ctr"/>
          </a:p>
        </p:txBody>
      </p:sp>
      <p:pic>
        <p:nvPicPr>
          <p:cNvPr id="13" name="Picture 12" descr="LuWorkflow_w.png"/>
          <p:cNvPicPr>
            <a:picLocks noChangeAspect="1"/>
          </p:cNvPicPr>
          <p:nvPr/>
        </p:nvPicPr>
        <p:blipFill>
          <a:blip r:embed="rId4"/>
          <a:stretch>
            <a:fillRect/>
          </a:stretch>
        </p:blipFill>
        <p:spPr>
          <a:xfrm>
            <a:off x="4621195" y="1717975"/>
            <a:ext cx="276515" cy="276515"/>
          </a:xfrm>
          <a:prstGeom prst="rect">
            <a:avLst/>
          </a:prstGeom>
        </p:spPr>
      </p:pic>
      <p:sp>
        <p:nvSpPr>
          <p:cNvPr id="14" name="TextBox 13"/>
          <p:cNvSpPr txBox="1"/>
          <p:nvPr/>
        </p:nvSpPr>
        <p:spPr>
          <a:xfrm>
            <a:off x="5170932" y="1600200"/>
            <a:ext cx="2633472" cy="512064"/>
          </a:xfrm>
          <a:prstGeom prst="rect">
            <a:avLst/>
          </a:prstGeom>
          <a:noFill/>
        </p:spPr>
        <p:txBody>
          <a:bodyPr wrap="square" lIns="0" tIns="0" rIns="0" bIns="0" anchor="ctr">
            <a:noAutofit/>
          </a:bodyPr>
          <a:lstStyle/>
          <a:p>
            <a:pPr algn="l">
              <a:lnSpc>
                <a:spcPct val="95000"/>
              </a:lnSpc>
              <a:spcAft>
                <a:spcPts val="0"/>
              </a:spcAft>
            </a:pPr>
            <a:r>
              <a:rPr sz="1700" b="1" i="0">
                <a:solidFill>
                  <a:srgbClr val="333D47"/>
                </a:solidFill>
                <a:latin typeface="Arial"/>
              </a:rPr>
              <a:t>More workflows</a:t>
            </a:r>
          </a:p>
        </p:txBody>
      </p:sp>
      <p:sp>
        <p:nvSpPr>
          <p:cNvPr id="15" name="TextBox 14"/>
          <p:cNvSpPr txBox="1"/>
          <p:nvPr/>
        </p:nvSpPr>
        <p:spPr>
          <a:xfrm>
            <a:off x="4503420" y="2286000"/>
            <a:ext cx="3182112" cy="868680"/>
          </a:xfrm>
          <a:prstGeom prst="rect">
            <a:avLst/>
          </a:prstGeom>
          <a:noFill/>
        </p:spPr>
        <p:txBody>
          <a:bodyPr wrap="square" lIns="0" tIns="0" rIns="0" bIns="0" anchor="t">
            <a:noAutofit/>
          </a:bodyPr>
          <a:lstStyle/>
          <a:p>
            <a:pPr algn="l">
              <a:spcAft>
                <a:spcPts val="0"/>
              </a:spcAft>
            </a:pPr>
            <a:r>
              <a:rPr sz="1350" b="0" i="0">
                <a:solidFill>
                  <a:srgbClr val="333D47"/>
                </a:solidFill>
                <a:latin typeface="Arial"/>
              </a:rPr>
              <a:t>New kinds of work through the same coworker, rather than a new tool each time.</a:t>
            </a:r>
          </a:p>
        </p:txBody>
      </p:sp>
      <p:sp>
        <p:nvSpPr>
          <p:cNvPr id="16" name="Rounded Rectangle 15"/>
          <p:cNvSpPr/>
          <p:nvPr/>
        </p:nvSpPr>
        <p:spPr>
          <a:xfrm>
            <a:off x="8193024" y="1371600"/>
            <a:ext cx="3639312" cy="1874520"/>
          </a:xfrm>
          <a:prstGeom prst="roundRect">
            <a:avLst>
              <a:gd name="adj" fmla="val 4878"/>
            </a:avLst>
          </a:prstGeom>
          <a:solidFill>
            <a:srgbClr val="F4F1EF"/>
          </a:solidFill>
          <a:ln>
            <a:noFill/>
          </a:ln>
        </p:spPr>
        <p:txBody>
          <a:bodyPr rtlCol="0" anchor="ctr"/>
          <a:lstStyle/>
          <a:p>
            <a:pPr algn="ctr"/>
          </a:p>
        </p:txBody>
      </p:sp>
      <p:sp>
        <p:nvSpPr>
          <p:cNvPr id="17" name="Oval 16"/>
          <p:cNvSpPr/>
          <p:nvPr/>
        </p:nvSpPr>
        <p:spPr>
          <a:xfrm>
            <a:off x="8421624" y="1600200"/>
            <a:ext cx="512064" cy="512064"/>
          </a:xfrm>
          <a:prstGeom prst="ellipse">
            <a:avLst/>
          </a:prstGeom>
          <a:solidFill>
            <a:srgbClr val="D31145"/>
          </a:solidFill>
          <a:ln>
            <a:noFill/>
          </a:ln>
        </p:spPr>
        <p:txBody>
          <a:bodyPr rtlCol="0" anchor="ctr"/>
          <a:lstStyle/>
          <a:p>
            <a:pPr algn="ctr"/>
          </a:p>
        </p:txBody>
      </p:sp>
      <p:pic>
        <p:nvPicPr>
          <p:cNvPr id="18" name="Picture 17" descr="LuBlocks_w.png"/>
          <p:cNvPicPr>
            <a:picLocks noChangeAspect="1"/>
          </p:cNvPicPr>
          <p:nvPr/>
        </p:nvPicPr>
        <p:blipFill>
          <a:blip r:embed="rId5"/>
          <a:stretch>
            <a:fillRect/>
          </a:stretch>
        </p:blipFill>
        <p:spPr>
          <a:xfrm>
            <a:off x="8539399" y="1717975"/>
            <a:ext cx="276515" cy="276515"/>
          </a:xfrm>
          <a:prstGeom prst="rect">
            <a:avLst/>
          </a:prstGeom>
        </p:spPr>
      </p:pic>
      <p:sp>
        <p:nvSpPr>
          <p:cNvPr id="19" name="TextBox 18"/>
          <p:cNvSpPr txBox="1"/>
          <p:nvPr/>
        </p:nvSpPr>
        <p:spPr>
          <a:xfrm>
            <a:off x="9089136" y="1600200"/>
            <a:ext cx="2633472" cy="512064"/>
          </a:xfrm>
          <a:prstGeom prst="rect">
            <a:avLst/>
          </a:prstGeom>
          <a:noFill/>
        </p:spPr>
        <p:txBody>
          <a:bodyPr wrap="square" lIns="0" tIns="0" rIns="0" bIns="0" anchor="ctr">
            <a:noAutofit/>
          </a:bodyPr>
          <a:lstStyle/>
          <a:p>
            <a:pPr algn="l">
              <a:lnSpc>
                <a:spcPct val="95000"/>
              </a:lnSpc>
              <a:spcAft>
                <a:spcPts val="0"/>
              </a:spcAft>
            </a:pPr>
            <a:r>
              <a:rPr sz="1700" b="1" i="0">
                <a:solidFill>
                  <a:srgbClr val="333D47"/>
                </a:solidFill>
                <a:latin typeface="Arial"/>
              </a:rPr>
              <a:t>More connected capabilities</a:t>
            </a:r>
          </a:p>
        </p:txBody>
      </p:sp>
      <p:sp>
        <p:nvSpPr>
          <p:cNvPr id="20" name="TextBox 19"/>
          <p:cNvSpPr txBox="1"/>
          <p:nvPr/>
        </p:nvSpPr>
        <p:spPr>
          <a:xfrm>
            <a:off x="8421624" y="2286000"/>
            <a:ext cx="3182112" cy="868680"/>
          </a:xfrm>
          <a:prstGeom prst="rect">
            <a:avLst/>
          </a:prstGeom>
          <a:noFill/>
        </p:spPr>
        <p:txBody>
          <a:bodyPr wrap="square" lIns="0" tIns="0" rIns="0" bIns="0" anchor="t">
            <a:noAutofit/>
          </a:bodyPr>
          <a:lstStyle/>
          <a:p>
            <a:pPr algn="l">
              <a:spcAft>
                <a:spcPts val="0"/>
              </a:spcAft>
            </a:pPr>
            <a:r>
              <a:rPr sz="1350" b="0" i="0">
                <a:solidFill>
                  <a:srgbClr val="333D47"/>
                </a:solidFill>
                <a:latin typeface="Arial"/>
              </a:rPr>
              <a:t>Systems, data, internal AI tools and approved services. Each could serve every permitted employee.</a:t>
            </a:r>
          </a:p>
        </p:txBody>
      </p:sp>
      <p:sp>
        <p:nvSpPr>
          <p:cNvPr id="21" name="Rounded Rectangle 20"/>
          <p:cNvSpPr/>
          <p:nvPr/>
        </p:nvSpPr>
        <p:spPr>
          <a:xfrm>
            <a:off x="356616" y="3474720"/>
            <a:ext cx="11475720" cy="1143000"/>
          </a:xfrm>
          <a:prstGeom prst="roundRect">
            <a:avLst>
              <a:gd name="adj" fmla="val 8000"/>
            </a:avLst>
          </a:prstGeom>
          <a:solidFill>
            <a:srgbClr val="D31145"/>
          </a:solidFill>
          <a:ln>
            <a:noFill/>
          </a:ln>
        </p:spPr>
        <p:txBody>
          <a:bodyPr rtlCol="0" anchor="ctr"/>
          <a:lstStyle/>
          <a:p>
            <a:pPr algn="ctr"/>
          </a:p>
        </p:txBody>
      </p:sp>
      <p:sp>
        <p:nvSpPr>
          <p:cNvPr id="22" name="Rounded Rectangle 21"/>
          <p:cNvSpPr/>
          <p:nvPr/>
        </p:nvSpPr>
        <p:spPr>
          <a:xfrm>
            <a:off x="594360" y="3657600"/>
            <a:ext cx="2377440" cy="292608"/>
          </a:xfrm>
          <a:prstGeom prst="roundRect">
            <a:avLst>
              <a:gd name="adj" fmla="val 50000"/>
            </a:avLst>
          </a:prstGeom>
          <a:solidFill>
            <a:srgbClr val="FFFFFF"/>
          </a:solidFill>
          <a:ln w="12700">
            <a:solidFill>
              <a:srgbClr val="FFFFFF"/>
            </a:solidFill>
          </a:ln>
        </p:spPr>
        <p:txBody>
          <a:bodyPr rtlCol="0" anchor="ctr" wrap="square" lIns="36576" tIns="36576" rIns="36576" bIns="36576">
            <a:noAutofit/>
          </a:bodyPr>
          <a:lstStyle/>
          <a:p>
            <a:pPr algn="ctr">
              <a:spcAft>
                <a:spcPts val="0"/>
              </a:spcAft>
            </a:pPr>
            <a:r>
              <a:rPr sz="1000" b="1" i="0" spc="50">
                <a:solidFill>
                  <a:srgbClr val="D31145"/>
                </a:solidFill>
                <a:latin typeface="Arial"/>
              </a:rPr>
              <a:t>VISION, NOT A FORECAST</a:t>
            </a:r>
          </a:p>
        </p:txBody>
      </p:sp>
      <p:sp>
        <p:nvSpPr>
          <p:cNvPr id="23" name="TextBox 22"/>
          <p:cNvSpPr txBox="1"/>
          <p:nvPr/>
        </p:nvSpPr>
        <p:spPr>
          <a:xfrm>
            <a:off x="594360" y="4023360"/>
            <a:ext cx="10972800" cy="457200"/>
          </a:xfrm>
          <a:prstGeom prst="rect">
            <a:avLst/>
          </a:prstGeom>
          <a:noFill/>
        </p:spPr>
        <p:txBody>
          <a:bodyPr wrap="square" lIns="0" tIns="0" rIns="0" bIns="0" anchor="t">
            <a:noAutofit/>
          </a:bodyPr>
          <a:lstStyle/>
          <a:p>
            <a:pPr algn="l">
              <a:spcAft>
                <a:spcPts val="0"/>
              </a:spcAft>
            </a:pPr>
            <a:r>
              <a:rPr sz="1700" b="1" i="0">
                <a:solidFill>
                  <a:srgbClr val="FFFFFF"/>
                </a:solidFill>
                <a:latin typeface="Arial"/>
              </a:rPr>
              <a:t>A digital execution partner for every AIA employee, with the employee accountable for every decision.</a:t>
            </a:r>
          </a:p>
        </p:txBody>
      </p:sp>
      <p:sp>
        <p:nvSpPr>
          <p:cNvPr id="24" name="Rounded Rectangle 23"/>
          <p:cNvSpPr/>
          <p:nvPr/>
        </p:nvSpPr>
        <p:spPr>
          <a:xfrm>
            <a:off x="356616" y="4846320"/>
            <a:ext cx="5632704" cy="749808"/>
          </a:xfrm>
          <a:prstGeom prst="roundRect">
            <a:avLst>
              <a:gd name="adj" fmla="val 9756"/>
            </a:avLst>
          </a:prstGeom>
          <a:solidFill>
            <a:srgbClr val="FFFFFF"/>
          </a:solidFill>
          <a:ln w="9525">
            <a:solidFill>
              <a:srgbClr val="DDD6D0"/>
            </a:solidFill>
          </a:ln>
        </p:spPr>
        <p:txBody>
          <a:bodyPr rtlCol="0" anchor="ctr"/>
          <a:lstStyle/>
          <a:p>
            <a:pPr algn="ctr"/>
          </a:p>
        </p:txBody>
      </p:sp>
      <p:pic>
        <p:nvPicPr>
          <p:cNvPr id="25" name="Picture 24" descr="LuEarth_c.png"/>
          <p:cNvPicPr>
            <a:picLocks noChangeAspect="1"/>
          </p:cNvPicPr>
          <p:nvPr/>
        </p:nvPicPr>
        <p:blipFill>
          <a:blip r:embed="rId6"/>
          <a:stretch>
            <a:fillRect/>
          </a:stretch>
        </p:blipFill>
        <p:spPr>
          <a:xfrm>
            <a:off x="521208" y="5056632"/>
            <a:ext cx="329184" cy="329184"/>
          </a:xfrm>
          <a:prstGeom prst="rect">
            <a:avLst/>
          </a:prstGeom>
        </p:spPr>
      </p:pic>
      <p:sp>
        <p:nvSpPr>
          <p:cNvPr id="26" name="TextBox 25"/>
          <p:cNvSpPr txBox="1"/>
          <p:nvPr/>
        </p:nvSpPr>
        <p:spPr>
          <a:xfrm>
            <a:off x="1005840" y="4846320"/>
            <a:ext cx="4892040" cy="749808"/>
          </a:xfrm>
          <a:prstGeom prst="rect">
            <a:avLst/>
          </a:prstGeom>
          <a:noFill/>
        </p:spPr>
        <p:txBody>
          <a:bodyPr wrap="square" lIns="0" tIns="0" rIns="0" bIns="0" anchor="ctr">
            <a:noAutofit/>
          </a:bodyPr>
          <a:lstStyle/>
          <a:p>
            <a:pPr algn="l">
              <a:spcAft>
                <a:spcPts val="0"/>
              </a:spcAft>
            </a:pPr>
            <a:r>
              <a:rPr sz="1200" b="1" i="0">
                <a:solidFill>
                  <a:srgbClr val="333D47"/>
                </a:solidFill>
                <a:latin typeface="Arial"/>
              </a:rPr>
              <a:t>Across markets: </a:t>
            </a:r>
            <a:r>
              <a:rPr sz="1200" b="0" i="0">
                <a:solidFill>
                  <a:srgbClr val="333D47"/>
                </a:solidFill>
                <a:latin typeface="Arial"/>
              </a:rPr>
              <a:t>reuse the core experience. Each market still adds its own integrations, data controls, governance and configuration.</a:t>
            </a:r>
          </a:p>
        </p:txBody>
      </p:sp>
      <p:sp>
        <p:nvSpPr>
          <p:cNvPr id="27" name="Rounded Rectangle 26"/>
          <p:cNvSpPr/>
          <p:nvPr/>
        </p:nvSpPr>
        <p:spPr>
          <a:xfrm>
            <a:off x="6199632" y="4846320"/>
            <a:ext cx="5632704" cy="749808"/>
          </a:xfrm>
          <a:prstGeom prst="roundRect">
            <a:avLst>
              <a:gd name="adj" fmla="val 9756"/>
            </a:avLst>
          </a:prstGeom>
          <a:solidFill>
            <a:srgbClr val="FBE8ED"/>
          </a:solidFill>
          <a:ln>
            <a:noFill/>
          </a:ln>
        </p:spPr>
        <p:txBody>
          <a:bodyPr rtlCol="0" anchor="ctr"/>
          <a:lstStyle/>
          <a:p>
            <a:pPr algn="ctr"/>
          </a:p>
        </p:txBody>
      </p:sp>
      <p:pic>
        <p:nvPicPr>
          <p:cNvPr id="28" name="Picture 27" descr="LuTrendingUp_r.png"/>
          <p:cNvPicPr>
            <a:picLocks noChangeAspect="1"/>
          </p:cNvPicPr>
          <p:nvPr/>
        </p:nvPicPr>
        <p:blipFill>
          <a:blip r:embed="rId7"/>
          <a:stretch>
            <a:fillRect/>
          </a:stretch>
        </p:blipFill>
        <p:spPr>
          <a:xfrm>
            <a:off x="6364224" y="5056632"/>
            <a:ext cx="329184" cy="329184"/>
          </a:xfrm>
          <a:prstGeom prst="rect">
            <a:avLst/>
          </a:prstGeom>
        </p:spPr>
      </p:pic>
      <p:sp>
        <p:nvSpPr>
          <p:cNvPr id="29" name="TextBox 28"/>
          <p:cNvSpPr txBox="1"/>
          <p:nvPr/>
        </p:nvSpPr>
        <p:spPr>
          <a:xfrm>
            <a:off x="6848856" y="4846320"/>
            <a:ext cx="4846320" cy="749808"/>
          </a:xfrm>
          <a:prstGeom prst="rect">
            <a:avLst/>
          </a:prstGeom>
          <a:noFill/>
        </p:spPr>
        <p:txBody>
          <a:bodyPr wrap="square" lIns="0" tIns="0" rIns="0" bIns="0" anchor="ctr">
            <a:noAutofit/>
          </a:bodyPr>
          <a:lstStyle/>
          <a:p>
            <a:pPr algn="l">
              <a:spcAft>
                <a:spcPts val="0"/>
              </a:spcAft>
            </a:pPr>
            <a:r>
              <a:rPr sz="1200" b="1" i="0">
                <a:solidFill>
                  <a:srgbClr val="D31145"/>
                </a:solidFill>
                <a:latin typeface="Arial"/>
              </a:rPr>
              <a:t>Enduring value: </a:t>
            </a:r>
            <a:r>
              <a:rPr sz="1200" b="0" i="0">
                <a:solidFill>
                  <a:srgbClr val="333D47"/>
                </a:solidFill>
                <a:latin typeface="Arial"/>
              </a:rPr>
              <a:t>designed so usefulness can grow as capabilities, workflows and feedback are added.</a:t>
            </a:r>
          </a:p>
        </p:txBody>
      </p:sp>
      <p:sp>
        <p:nvSpPr>
          <p:cNvPr id="30" name="Slide Number Placeholder"/>
          <p:cNvSpPr>
            <a:spLocks noGrp="1"/>
          </p:cNvSpPr>
          <p:nvPr>
            <p:ph type="sldNum" sz="quarter" idx="4"/>
          </p:nvPr>
        </p:nvSpPr>
        <p:spPr/>
        <p:txBody>
          <a:bodyPr/>
          <a:lstStyle/>
          <a:p>
            <a:fld id="{18A41853-EF22-D446-BDBC-A7CF3FE93503}" type="slidenum">
              <a:rPr lang="en-US"/>
              <a:t>9</a:t>
            </a:fld>
            <a:endParaRPr lang="en-US"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Practical to start. Built to be trusted.</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FEASIBILITY</a:t>
            </a:r>
          </a:p>
        </p:txBody>
      </p:sp>
      <p:sp>
        <p:nvSpPr>
          <p:cNvPr id="6" name="Oval 5"/>
          <p:cNvSpPr/>
          <p:nvPr/>
        </p:nvSpPr>
        <p:spPr>
          <a:xfrm>
            <a:off x="356616" y="1371600"/>
            <a:ext cx="457200" cy="457200"/>
          </a:xfrm>
          <a:prstGeom prst="ellipse">
            <a:avLst/>
          </a:prstGeom>
          <a:solidFill>
            <a:srgbClr val="333D47"/>
          </a:solidFill>
          <a:ln>
            <a:noFill/>
          </a:ln>
        </p:spPr>
        <p:txBody>
          <a:bodyPr rtlCol="0" anchor="ctr"/>
          <a:lstStyle/>
          <a:p>
            <a:pPr algn="ctr"/>
          </a:p>
        </p:txBody>
      </p:sp>
      <p:pic>
        <p:nvPicPr>
          <p:cNvPr id="7" name="Picture 6" descr="LuMessagesSquare_w.png"/>
          <p:cNvPicPr>
            <a:picLocks noChangeAspect="1"/>
          </p:cNvPicPr>
          <p:nvPr/>
        </p:nvPicPr>
        <p:blipFill>
          <a:blip r:embed="rId3"/>
          <a:stretch>
            <a:fillRect/>
          </a:stretch>
        </p:blipFill>
        <p:spPr>
          <a:xfrm>
            <a:off x="461772" y="1476756"/>
            <a:ext cx="246888" cy="246888"/>
          </a:xfrm>
          <a:prstGeom prst="rect">
            <a:avLst/>
          </a:prstGeom>
        </p:spPr>
      </p:pic>
      <p:sp>
        <p:nvSpPr>
          <p:cNvPr id="8" name="TextBox 7"/>
          <p:cNvSpPr txBox="1"/>
          <p:nvPr/>
        </p:nvSpPr>
        <p:spPr>
          <a:xfrm>
            <a:off x="960120" y="1335024"/>
            <a:ext cx="3002280" cy="274320"/>
          </a:xfrm>
          <a:prstGeom prst="rect">
            <a:avLst/>
          </a:prstGeom>
          <a:noFill/>
        </p:spPr>
        <p:txBody>
          <a:bodyPr wrap="square" lIns="0" tIns="0" rIns="0" bIns="0" anchor="t">
            <a:noAutofit/>
          </a:bodyPr>
          <a:lstStyle/>
          <a:p>
            <a:pPr algn="l">
              <a:spcAft>
                <a:spcPts val="0"/>
              </a:spcAft>
            </a:pPr>
            <a:r>
              <a:rPr sz="1500" b="1" i="0">
                <a:solidFill>
                  <a:srgbClr val="333D47"/>
                </a:solidFill>
                <a:latin typeface="Arial"/>
              </a:rPr>
              <a:t>In Microsoft Teams</a:t>
            </a:r>
          </a:p>
        </p:txBody>
      </p:sp>
      <p:sp>
        <p:nvSpPr>
          <p:cNvPr id="9" name="TextBox 8"/>
          <p:cNvSpPr txBox="1"/>
          <p:nvPr/>
        </p:nvSpPr>
        <p:spPr>
          <a:xfrm>
            <a:off x="960120" y="1609344"/>
            <a:ext cx="3002280" cy="27432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where employees already work</a:t>
            </a:r>
          </a:p>
        </p:txBody>
      </p:sp>
      <p:sp>
        <p:nvSpPr>
          <p:cNvPr id="10" name="Oval 9"/>
          <p:cNvSpPr/>
          <p:nvPr/>
        </p:nvSpPr>
        <p:spPr>
          <a:xfrm>
            <a:off x="4273296" y="1371600"/>
            <a:ext cx="457200" cy="457200"/>
          </a:xfrm>
          <a:prstGeom prst="ellipse">
            <a:avLst/>
          </a:prstGeom>
          <a:solidFill>
            <a:srgbClr val="333D47"/>
          </a:solidFill>
          <a:ln>
            <a:noFill/>
          </a:ln>
        </p:spPr>
        <p:txBody>
          <a:bodyPr rtlCol="0" anchor="ctr"/>
          <a:lstStyle/>
          <a:p>
            <a:pPr algn="ctr"/>
          </a:p>
        </p:txBody>
      </p:sp>
      <p:pic>
        <p:nvPicPr>
          <p:cNvPr id="11" name="Picture 10" descr="LuCpu_w.png"/>
          <p:cNvPicPr>
            <a:picLocks noChangeAspect="1"/>
          </p:cNvPicPr>
          <p:nvPr/>
        </p:nvPicPr>
        <p:blipFill>
          <a:blip r:embed="rId4"/>
          <a:stretch>
            <a:fillRect/>
          </a:stretch>
        </p:blipFill>
        <p:spPr>
          <a:xfrm>
            <a:off x="4378452" y="1476756"/>
            <a:ext cx="246888" cy="246888"/>
          </a:xfrm>
          <a:prstGeom prst="rect">
            <a:avLst/>
          </a:prstGeom>
        </p:spPr>
      </p:pic>
      <p:sp>
        <p:nvSpPr>
          <p:cNvPr id="12" name="TextBox 11"/>
          <p:cNvSpPr txBox="1"/>
          <p:nvPr/>
        </p:nvSpPr>
        <p:spPr>
          <a:xfrm>
            <a:off x="4876800" y="1335024"/>
            <a:ext cx="3002280" cy="274320"/>
          </a:xfrm>
          <a:prstGeom prst="rect">
            <a:avLst/>
          </a:prstGeom>
          <a:noFill/>
        </p:spPr>
        <p:txBody>
          <a:bodyPr wrap="square" lIns="0" tIns="0" rIns="0" bIns="0" anchor="t">
            <a:noAutofit/>
          </a:bodyPr>
          <a:lstStyle/>
          <a:p>
            <a:pPr algn="l">
              <a:spcAft>
                <a:spcPts val="0"/>
              </a:spcAft>
            </a:pPr>
            <a:r>
              <a:rPr sz="1500" b="1" i="0">
                <a:solidFill>
                  <a:srgbClr val="333D47"/>
                </a:solidFill>
                <a:latin typeface="Arial"/>
              </a:rPr>
              <a:t>On an enterprise AI platform</a:t>
            </a:r>
          </a:p>
        </p:txBody>
      </p:sp>
      <p:sp>
        <p:nvSpPr>
          <p:cNvPr id="13" name="TextBox 12"/>
          <p:cNvSpPr txBox="1"/>
          <p:nvPr/>
        </p:nvSpPr>
        <p:spPr>
          <a:xfrm>
            <a:off x="4876800" y="1609344"/>
            <a:ext cx="3002280" cy="27432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that AIA has or adopts</a:t>
            </a:r>
          </a:p>
        </p:txBody>
      </p:sp>
      <p:sp>
        <p:nvSpPr>
          <p:cNvPr id="14" name="Oval 13"/>
          <p:cNvSpPr/>
          <p:nvPr/>
        </p:nvSpPr>
        <p:spPr>
          <a:xfrm>
            <a:off x="8189976" y="1371600"/>
            <a:ext cx="457200" cy="457200"/>
          </a:xfrm>
          <a:prstGeom prst="ellipse">
            <a:avLst/>
          </a:prstGeom>
          <a:solidFill>
            <a:srgbClr val="333D47"/>
          </a:solidFill>
          <a:ln>
            <a:noFill/>
          </a:ln>
        </p:spPr>
        <p:txBody>
          <a:bodyPr rtlCol="0" anchor="ctr"/>
          <a:lstStyle/>
          <a:p>
            <a:pPr algn="ctr"/>
          </a:p>
        </p:txBody>
      </p:sp>
      <p:pic>
        <p:nvPicPr>
          <p:cNvPr id="15" name="Picture 14" descr="LuFlag_w.png"/>
          <p:cNvPicPr>
            <a:picLocks noChangeAspect="1"/>
          </p:cNvPicPr>
          <p:nvPr/>
        </p:nvPicPr>
        <p:blipFill>
          <a:blip r:embed="rId5"/>
          <a:stretch>
            <a:fillRect/>
          </a:stretch>
        </p:blipFill>
        <p:spPr>
          <a:xfrm>
            <a:off x="8295132" y="1476756"/>
            <a:ext cx="246888" cy="246888"/>
          </a:xfrm>
          <a:prstGeom prst="rect">
            <a:avLst/>
          </a:prstGeom>
        </p:spPr>
      </p:pic>
      <p:sp>
        <p:nvSpPr>
          <p:cNvPr id="16" name="TextBox 15"/>
          <p:cNvSpPr txBox="1"/>
          <p:nvPr/>
        </p:nvSpPr>
        <p:spPr>
          <a:xfrm>
            <a:off x="8793480" y="1335024"/>
            <a:ext cx="3002280" cy="274320"/>
          </a:xfrm>
          <a:prstGeom prst="rect">
            <a:avLst/>
          </a:prstGeom>
          <a:noFill/>
        </p:spPr>
        <p:txBody>
          <a:bodyPr wrap="square" lIns="0" tIns="0" rIns="0" bIns="0" anchor="t">
            <a:noAutofit/>
          </a:bodyPr>
          <a:lstStyle/>
          <a:p>
            <a:pPr algn="l">
              <a:spcAft>
                <a:spcPts val="0"/>
              </a:spcAft>
            </a:pPr>
            <a:r>
              <a:rPr sz="1500" b="1" i="0">
                <a:solidFill>
                  <a:srgbClr val="333D47"/>
                </a:solidFill>
                <a:latin typeface="Arial"/>
              </a:rPr>
              <a:t>Narrow and gated</a:t>
            </a:r>
          </a:p>
        </p:txBody>
      </p:sp>
      <p:sp>
        <p:nvSpPr>
          <p:cNvPr id="17" name="TextBox 16"/>
          <p:cNvSpPr txBox="1"/>
          <p:nvPr/>
        </p:nvSpPr>
        <p:spPr>
          <a:xfrm>
            <a:off x="8793480" y="1609344"/>
            <a:ext cx="3002280" cy="27432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one workflow, minimum capabilities</a:t>
            </a:r>
          </a:p>
        </p:txBody>
      </p:sp>
      <p:cxnSp>
        <p:nvCxnSpPr>
          <p:cNvPr id="18" name="Connector 17"/>
          <p:cNvCxnSpPr/>
          <p:nvPr/>
        </p:nvCxnSpPr>
        <p:spPr>
          <a:xfrm>
            <a:off x="356616" y="2148840"/>
            <a:ext cx="11475720" cy="0"/>
          </a:xfrm>
          <a:prstGeom prst="line">
            <a:avLst/>
          </a:prstGeom>
          <a:ln w="9525">
            <a:solidFill>
              <a:srgbClr val="DDD6D0"/>
            </a:solidFill>
          </a:ln>
        </p:spPr>
      </p:cxnSp>
      <p:sp>
        <p:nvSpPr>
          <p:cNvPr id="19" name="Rounded Rectangle 18"/>
          <p:cNvSpPr/>
          <p:nvPr/>
        </p:nvSpPr>
        <p:spPr>
          <a:xfrm>
            <a:off x="356616" y="2377440"/>
            <a:ext cx="3931920" cy="3200400"/>
          </a:xfrm>
          <a:prstGeom prst="roundRect">
            <a:avLst>
              <a:gd name="adj" fmla="val 2857"/>
            </a:avLst>
          </a:prstGeom>
          <a:solidFill>
            <a:srgbClr val="D31145"/>
          </a:solidFill>
          <a:ln>
            <a:noFill/>
          </a:ln>
        </p:spPr>
        <p:txBody>
          <a:bodyPr rtlCol="0" anchor="ctr"/>
          <a:lstStyle/>
          <a:p>
            <a:pPr algn="ctr"/>
          </a:p>
        </p:txBody>
      </p:sp>
      <p:sp>
        <p:nvSpPr>
          <p:cNvPr id="20" name="Oval 19"/>
          <p:cNvSpPr/>
          <p:nvPr/>
        </p:nvSpPr>
        <p:spPr>
          <a:xfrm>
            <a:off x="594360" y="2606040"/>
            <a:ext cx="548640" cy="548640"/>
          </a:xfrm>
          <a:prstGeom prst="ellipse">
            <a:avLst/>
          </a:prstGeom>
          <a:solidFill>
            <a:srgbClr val="FFFFFF"/>
          </a:solidFill>
          <a:ln>
            <a:noFill/>
          </a:ln>
        </p:spPr>
        <p:txBody>
          <a:bodyPr rtlCol="0" anchor="ctr"/>
          <a:lstStyle/>
          <a:p>
            <a:pPr algn="ctr"/>
          </a:p>
        </p:txBody>
      </p:sp>
      <p:pic>
        <p:nvPicPr>
          <p:cNvPr id="21" name="Picture 20" descr="LuUserCheck_r.png"/>
          <p:cNvPicPr>
            <a:picLocks noChangeAspect="1"/>
          </p:cNvPicPr>
          <p:nvPr/>
        </p:nvPicPr>
        <p:blipFill>
          <a:blip r:embed="rId6"/>
          <a:stretch>
            <a:fillRect/>
          </a:stretch>
        </p:blipFill>
        <p:spPr>
          <a:xfrm>
            <a:off x="720547" y="2732227"/>
            <a:ext cx="296266" cy="296266"/>
          </a:xfrm>
          <a:prstGeom prst="rect">
            <a:avLst/>
          </a:prstGeom>
        </p:spPr>
      </p:pic>
      <p:sp>
        <p:nvSpPr>
          <p:cNvPr id="22" name="TextBox 21"/>
          <p:cNvSpPr txBox="1"/>
          <p:nvPr/>
        </p:nvSpPr>
        <p:spPr>
          <a:xfrm>
            <a:off x="594360" y="3291840"/>
            <a:ext cx="3474720" cy="640080"/>
          </a:xfrm>
          <a:prstGeom prst="rect">
            <a:avLst/>
          </a:prstGeom>
          <a:noFill/>
        </p:spPr>
        <p:txBody>
          <a:bodyPr wrap="square" lIns="0" tIns="0" rIns="0" bIns="0" anchor="t">
            <a:noAutofit/>
          </a:bodyPr>
          <a:lstStyle/>
          <a:p>
            <a:pPr algn="l">
              <a:lnSpc>
                <a:spcPct val="95000"/>
              </a:lnSpc>
              <a:spcAft>
                <a:spcPts val="0"/>
              </a:spcAft>
            </a:pPr>
            <a:r>
              <a:rPr sz="1900" b="1" i="0">
                <a:solidFill>
                  <a:srgbClr val="FFFFFF"/>
                </a:solidFill>
                <a:latin typeface="Arial"/>
              </a:rPr>
              <a:t>Approval before any final action</a:t>
            </a:r>
          </a:p>
        </p:txBody>
      </p:sp>
      <p:sp>
        <p:nvSpPr>
          <p:cNvPr id="23" name="TextBox 22"/>
          <p:cNvSpPr txBox="1"/>
          <p:nvPr/>
        </p:nvSpPr>
        <p:spPr>
          <a:xfrm>
            <a:off x="594360" y="4005072"/>
            <a:ext cx="3474720" cy="1463040"/>
          </a:xfrm>
          <a:prstGeom prst="rect">
            <a:avLst/>
          </a:prstGeom>
          <a:noFill/>
        </p:spPr>
        <p:txBody>
          <a:bodyPr wrap="square" lIns="0" tIns="0" rIns="0" bIns="0" anchor="t">
            <a:noAutofit/>
          </a:bodyPr>
          <a:lstStyle/>
          <a:p>
            <a:pPr algn="l">
              <a:spcAft>
                <a:spcPts val="0"/>
              </a:spcAft>
            </a:pPr>
            <a:r>
              <a:rPr sz="1300" b="0" i="0">
                <a:solidFill>
                  <a:srgbClr val="FFFFFF"/>
                </a:solidFill>
                <a:latin typeface="Arial"/>
              </a:rPr>
              <a:t>Riley can do the intermediate steps. Nothing is finalized, sent to anyone or entered into a business system until the employee approves. The employee stays accountable.</a:t>
            </a:r>
          </a:p>
        </p:txBody>
      </p:sp>
      <p:pic>
        <p:nvPicPr>
          <p:cNvPr id="24" name="Picture 23" descr="LuKeyRound_r.png"/>
          <p:cNvPicPr>
            <a:picLocks noChangeAspect="1"/>
          </p:cNvPicPr>
          <p:nvPr/>
        </p:nvPicPr>
        <p:blipFill>
          <a:blip r:embed="rId7"/>
          <a:stretch>
            <a:fillRect/>
          </a:stretch>
        </p:blipFill>
        <p:spPr>
          <a:xfrm>
            <a:off x="4617720" y="2468880"/>
            <a:ext cx="292608" cy="292608"/>
          </a:xfrm>
          <a:prstGeom prst="rect">
            <a:avLst/>
          </a:prstGeom>
        </p:spPr>
      </p:pic>
      <p:sp>
        <p:nvSpPr>
          <p:cNvPr id="25" name="TextBox 24"/>
          <p:cNvSpPr txBox="1"/>
          <p:nvPr/>
        </p:nvSpPr>
        <p:spPr>
          <a:xfrm>
            <a:off x="5074920" y="2377440"/>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Employee permissions only</a:t>
            </a:r>
          </a:p>
        </p:txBody>
      </p:sp>
      <p:sp>
        <p:nvSpPr>
          <p:cNvPr id="26" name="TextBox 25"/>
          <p:cNvSpPr txBox="1"/>
          <p:nvPr/>
        </p:nvSpPr>
        <p:spPr>
          <a:xfrm>
            <a:off x="7909560" y="2377440"/>
            <a:ext cx="3886200" cy="475488"/>
          </a:xfrm>
          <a:prstGeom prst="rect">
            <a:avLst/>
          </a:prstGeom>
          <a:noFill/>
        </p:spPr>
        <p:txBody>
          <a:bodyPr wrap="square" lIns="0" tIns="0" rIns="0" bIns="0" anchor="ctr">
            <a:noAutofit/>
          </a:bodyPr>
          <a:lstStyle/>
          <a:p>
            <a:pPr algn="l">
              <a:spcAft>
                <a:spcPts val="0"/>
              </a:spcAft>
            </a:pPr>
            <a:r>
              <a:rPr sz="1150" b="0" i="0">
                <a:solidFill>
                  <a:srgbClr val="5F6770"/>
                </a:solidFill>
                <a:latin typeface="Arial"/>
              </a:rPr>
              <a:t>Only what the requesting employee can access, including Outlook and Teams, via approved controls.</a:t>
            </a:r>
          </a:p>
        </p:txBody>
      </p:sp>
      <p:cxnSp>
        <p:nvCxnSpPr>
          <p:cNvPr id="27" name="Connector 26"/>
          <p:cNvCxnSpPr/>
          <p:nvPr/>
        </p:nvCxnSpPr>
        <p:spPr>
          <a:xfrm>
            <a:off x="4617720" y="2889504"/>
            <a:ext cx="7214616" cy="0"/>
          </a:xfrm>
          <a:prstGeom prst="line">
            <a:avLst/>
          </a:prstGeom>
          <a:ln w="9525">
            <a:solidFill>
              <a:srgbClr val="F4F1EF"/>
            </a:solidFill>
          </a:ln>
        </p:spPr>
      </p:cxnSp>
      <p:pic>
        <p:nvPicPr>
          <p:cNvPr id="28" name="Picture 27" descr="LuShieldCheck_r.png"/>
          <p:cNvPicPr>
            <a:picLocks noChangeAspect="1"/>
          </p:cNvPicPr>
          <p:nvPr/>
        </p:nvPicPr>
        <p:blipFill>
          <a:blip r:embed="rId8"/>
          <a:stretch>
            <a:fillRect/>
          </a:stretch>
        </p:blipFill>
        <p:spPr>
          <a:xfrm>
            <a:off x="4617720" y="3008376"/>
            <a:ext cx="292608" cy="292608"/>
          </a:xfrm>
          <a:prstGeom prst="rect">
            <a:avLst/>
          </a:prstGeom>
        </p:spPr>
      </p:pic>
      <p:sp>
        <p:nvSpPr>
          <p:cNvPr id="29" name="TextBox 28"/>
          <p:cNvSpPr txBox="1"/>
          <p:nvPr/>
        </p:nvSpPr>
        <p:spPr>
          <a:xfrm>
            <a:off x="5074920" y="2916936"/>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AIA data and security controls</a:t>
            </a:r>
          </a:p>
        </p:txBody>
      </p:sp>
      <p:sp>
        <p:nvSpPr>
          <p:cNvPr id="30" name="TextBox 29"/>
          <p:cNvSpPr txBox="1"/>
          <p:nvPr/>
        </p:nvSpPr>
        <p:spPr>
          <a:xfrm>
            <a:off x="7909560" y="2916936"/>
            <a:ext cx="3886200" cy="475488"/>
          </a:xfrm>
          <a:prstGeom prst="rect">
            <a:avLst/>
          </a:prstGeom>
          <a:noFill/>
        </p:spPr>
        <p:txBody>
          <a:bodyPr wrap="square" lIns="0" tIns="0" rIns="0" bIns="0" anchor="ctr">
            <a:noAutofit/>
          </a:bodyPr>
          <a:lstStyle/>
          <a:p>
            <a:pPr algn="l">
              <a:spcAft>
                <a:spcPts val="0"/>
              </a:spcAft>
            </a:pPr>
            <a:r>
              <a:rPr sz="1150" b="0" i="0">
                <a:solidFill>
                  <a:srgbClr val="5F6770"/>
                </a:solidFill>
                <a:latin typeface="Arial"/>
              </a:rPr>
              <a:t>Existing privacy and security controls apply. Approved external sources only.</a:t>
            </a:r>
          </a:p>
        </p:txBody>
      </p:sp>
      <p:cxnSp>
        <p:nvCxnSpPr>
          <p:cNvPr id="31" name="Connector 30"/>
          <p:cNvCxnSpPr/>
          <p:nvPr/>
        </p:nvCxnSpPr>
        <p:spPr>
          <a:xfrm>
            <a:off x="4617720" y="3429000"/>
            <a:ext cx="7214616" cy="0"/>
          </a:xfrm>
          <a:prstGeom prst="line">
            <a:avLst/>
          </a:prstGeom>
          <a:ln w="9525">
            <a:solidFill>
              <a:srgbClr val="F4F1EF"/>
            </a:solidFill>
          </a:ln>
        </p:spPr>
      </p:cxnSp>
      <p:pic>
        <p:nvPicPr>
          <p:cNvPr id="32" name="Picture 31" descr="LuScrollText_r.png"/>
          <p:cNvPicPr>
            <a:picLocks noChangeAspect="1"/>
          </p:cNvPicPr>
          <p:nvPr/>
        </p:nvPicPr>
        <p:blipFill>
          <a:blip r:embed="rId9"/>
          <a:stretch>
            <a:fillRect/>
          </a:stretch>
        </p:blipFill>
        <p:spPr>
          <a:xfrm>
            <a:off x="4617720" y="3547872"/>
            <a:ext cx="292608" cy="292608"/>
          </a:xfrm>
          <a:prstGeom prst="rect">
            <a:avLst/>
          </a:prstGeom>
        </p:spPr>
      </p:pic>
      <p:sp>
        <p:nvSpPr>
          <p:cNvPr id="33" name="TextBox 32"/>
          <p:cNvSpPr txBox="1"/>
          <p:nvPr/>
        </p:nvSpPr>
        <p:spPr>
          <a:xfrm>
            <a:off x="5074920" y="3456432"/>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An appropriate record</a:t>
            </a:r>
          </a:p>
        </p:txBody>
      </p:sp>
      <p:sp>
        <p:nvSpPr>
          <p:cNvPr id="34" name="TextBox 33"/>
          <p:cNvSpPr txBox="1"/>
          <p:nvPr/>
        </p:nvSpPr>
        <p:spPr>
          <a:xfrm>
            <a:off x="7909560" y="3456432"/>
            <a:ext cx="3886200" cy="475488"/>
          </a:xfrm>
          <a:prstGeom prst="rect">
            <a:avLst/>
          </a:prstGeom>
          <a:noFill/>
        </p:spPr>
        <p:txBody>
          <a:bodyPr wrap="square" lIns="0" tIns="0" rIns="0" bIns="0" anchor="ctr">
            <a:noAutofit/>
          </a:bodyPr>
          <a:lstStyle/>
          <a:p>
            <a:pPr algn="l">
              <a:spcAft>
                <a:spcPts val="0"/>
              </a:spcAft>
            </a:pPr>
            <a:r>
              <a:rPr sz="1150" b="0" i="0">
                <a:solidFill>
                  <a:srgbClr val="5F6770"/>
                </a:solidFill>
                <a:latin typeface="Arial"/>
              </a:rPr>
              <a:t>Of the request, capabilities used, output, approval and final action.</a:t>
            </a:r>
          </a:p>
        </p:txBody>
      </p:sp>
      <p:cxnSp>
        <p:nvCxnSpPr>
          <p:cNvPr id="35" name="Connector 34"/>
          <p:cNvCxnSpPr/>
          <p:nvPr/>
        </p:nvCxnSpPr>
        <p:spPr>
          <a:xfrm>
            <a:off x="4617720" y="3968496"/>
            <a:ext cx="7214616" cy="0"/>
          </a:xfrm>
          <a:prstGeom prst="line">
            <a:avLst/>
          </a:prstGeom>
          <a:ln w="9525">
            <a:solidFill>
              <a:srgbClr val="F4F1EF"/>
            </a:solidFill>
          </a:ln>
        </p:spPr>
      </p:cxnSp>
      <p:pic>
        <p:nvPicPr>
          <p:cNvPr id="36" name="Picture 35" descr="LuRefreshCw_r.png"/>
          <p:cNvPicPr>
            <a:picLocks noChangeAspect="1"/>
          </p:cNvPicPr>
          <p:nvPr/>
        </p:nvPicPr>
        <p:blipFill>
          <a:blip r:embed="rId10"/>
          <a:stretch>
            <a:fillRect/>
          </a:stretch>
        </p:blipFill>
        <p:spPr>
          <a:xfrm>
            <a:off x="4617720" y="4087368"/>
            <a:ext cx="292608" cy="292608"/>
          </a:xfrm>
          <a:prstGeom prst="rect">
            <a:avLst/>
          </a:prstGeom>
        </p:spPr>
      </p:pic>
      <p:sp>
        <p:nvSpPr>
          <p:cNvPr id="37" name="TextBox 36"/>
          <p:cNvSpPr txBox="1"/>
          <p:nvPr/>
        </p:nvSpPr>
        <p:spPr>
          <a:xfrm>
            <a:off x="5074920" y="3995928"/>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Governed feedback and learning</a:t>
            </a:r>
          </a:p>
        </p:txBody>
      </p:sp>
      <p:sp>
        <p:nvSpPr>
          <p:cNvPr id="38" name="TextBox 37"/>
          <p:cNvSpPr txBox="1"/>
          <p:nvPr/>
        </p:nvSpPr>
        <p:spPr>
          <a:xfrm>
            <a:off x="7909560" y="3995928"/>
            <a:ext cx="3886200" cy="475488"/>
          </a:xfrm>
          <a:prstGeom prst="rect">
            <a:avLst/>
          </a:prstGeom>
          <a:noFill/>
        </p:spPr>
        <p:txBody>
          <a:bodyPr wrap="square" lIns="0" tIns="0" rIns="0" bIns="0" anchor="ctr">
            <a:noAutofit/>
          </a:bodyPr>
          <a:lstStyle/>
          <a:p>
            <a:pPr algn="l">
              <a:spcAft>
                <a:spcPts val="0"/>
              </a:spcAft>
            </a:pPr>
            <a:r>
              <a:rPr sz="1150" b="0" i="0">
                <a:solidFill>
                  <a:srgbClr val="5F6770"/>
                </a:solidFill>
                <a:latin typeface="Arial"/>
              </a:rPr>
              <a:t>Agreed with risk and IT before it changes Riley’s behaviour.</a:t>
            </a:r>
          </a:p>
        </p:txBody>
      </p:sp>
      <p:cxnSp>
        <p:nvCxnSpPr>
          <p:cNvPr id="39" name="Connector 38"/>
          <p:cNvCxnSpPr/>
          <p:nvPr/>
        </p:nvCxnSpPr>
        <p:spPr>
          <a:xfrm>
            <a:off x="4617720" y="4507992"/>
            <a:ext cx="7214616" cy="0"/>
          </a:xfrm>
          <a:prstGeom prst="line">
            <a:avLst/>
          </a:prstGeom>
          <a:ln w="9525">
            <a:solidFill>
              <a:srgbClr val="F4F1EF"/>
            </a:solidFill>
          </a:ln>
        </p:spPr>
      </p:cxnSp>
      <p:pic>
        <p:nvPicPr>
          <p:cNvPr id="40" name="Picture 39" descr="LuSearchCheck_r.png"/>
          <p:cNvPicPr>
            <a:picLocks noChangeAspect="1"/>
          </p:cNvPicPr>
          <p:nvPr/>
        </p:nvPicPr>
        <p:blipFill>
          <a:blip r:embed="rId11"/>
          <a:stretch>
            <a:fillRect/>
          </a:stretch>
        </p:blipFill>
        <p:spPr>
          <a:xfrm>
            <a:off x="4617720" y="4626864"/>
            <a:ext cx="292608" cy="292608"/>
          </a:xfrm>
          <a:prstGeom prst="rect">
            <a:avLst/>
          </a:prstGeom>
        </p:spPr>
      </p:pic>
      <p:sp>
        <p:nvSpPr>
          <p:cNvPr id="41" name="TextBox 40"/>
          <p:cNvSpPr txBox="1"/>
          <p:nvPr/>
        </p:nvSpPr>
        <p:spPr>
          <a:xfrm>
            <a:off x="5074920" y="4535424"/>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Independent quality checks</a:t>
            </a:r>
          </a:p>
        </p:txBody>
      </p:sp>
      <p:sp>
        <p:nvSpPr>
          <p:cNvPr id="42" name="TextBox 41"/>
          <p:cNvSpPr txBox="1"/>
          <p:nvPr/>
        </p:nvSpPr>
        <p:spPr>
          <a:xfrm>
            <a:off x="7909560" y="4535424"/>
            <a:ext cx="3886200" cy="475488"/>
          </a:xfrm>
          <a:prstGeom prst="rect">
            <a:avLst/>
          </a:prstGeom>
          <a:noFill/>
        </p:spPr>
        <p:txBody>
          <a:bodyPr wrap="square" lIns="0" tIns="0" rIns="0" bIns="0" anchor="ctr">
            <a:noAutofit/>
          </a:bodyPr>
          <a:lstStyle/>
          <a:p>
            <a:pPr algn="l">
              <a:spcAft>
                <a:spcPts val="0"/>
              </a:spcAft>
            </a:pPr>
            <a:r>
              <a:rPr sz="1150" b="0" i="0">
                <a:solidFill>
                  <a:srgbClr val="5F6770"/>
                </a:solidFill>
                <a:latin typeface="Arial"/>
              </a:rPr>
              <a:t>A business reviewer periodically samples Riley’s work.</a:t>
            </a:r>
          </a:p>
        </p:txBody>
      </p:sp>
      <p:cxnSp>
        <p:nvCxnSpPr>
          <p:cNvPr id="43" name="Connector 42"/>
          <p:cNvCxnSpPr/>
          <p:nvPr/>
        </p:nvCxnSpPr>
        <p:spPr>
          <a:xfrm>
            <a:off x="4617720" y="5047488"/>
            <a:ext cx="7214616" cy="0"/>
          </a:xfrm>
          <a:prstGeom prst="line">
            <a:avLst/>
          </a:prstGeom>
          <a:ln w="9525">
            <a:solidFill>
              <a:srgbClr val="F4F1EF"/>
            </a:solidFill>
          </a:ln>
        </p:spPr>
      </p:cxnSp>
      <p:pic>
        <p:nvPicPr>
          <p:cNvPr id="44" name="Picture 43" descr="LuTarget_r.png"/>
          <p:cNvPicPr>
            <a:picLocks noChangeAspect="1"/>
          </p:cNvPicPr>
          <p:nvPr/>
        </p:nvPicPr>
        <p:blipFill>
          <a:blip r:embed="rId12"/>
          <a:stretch>
            <a:fillRect/>
          </a:stretch>
        </p:blipFill>
        <p:spPr>
          <a:xfrm>
            <a:off x="4617720" y="5166360"/>
            <a:ext cx="292608" cy="292608"/>
          </a:xfrm>
          <a:prstGeom prst="rect">
            <a:avLst/>
          </a:prstGeom>
        </p:spPr>
      </p:pic>
      <p:sp>
        <p:nvSpPr>
          <p:cNvPr id="45" name="TextBox 44"/>
          <p:cNvSpPr txBox="1"/>
          <p:nvPr/>
        </p:nvSpPr>
        <p:spPr>
          <a:xfrm>
            <a:off x="5074920" y="5074920"/>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First workflow chosen with care</a:t>
            </a:r>
          </a:p>
        </p:txBody>
      </p:sp>
      <p:sp>
        <p:nvSpPr>
          <p:cNvPr id="46" name="TextBox 45"/>
          <p:cNvSpPr txBox="1"/>
          <p:nvPr/>
        </p:nvSpPr>
        <p:spPr>
          <a:xfrm>
            <a:off x="7909560" y="5074920"/>
            <a:ext cx="3886200" cy="475488"/>
          </a:xfrm>
          <a:prstGeom prst="rect">
            <a:avLst/>
          </a:prstGeom>
          <a:noFill/>
        </p:spPr>
        <p:txBody>
          <a:bodyPr wrap="square" lIns="0" tIns="0" rIns="0" bIns="0" anchor="ctr">
            <a:noAutofit/>
          </a:bodyPr>
          <a:lstStyle/>
          <a:p>
            <a:pPr algn="l">
              <a:spcAft>
                <a:spcPts val="0"/>
              </a:spcAft>
            </a:pPr>
            <a:r>
              <a:rPr sz="1150" b="0" i="0">
                <a:solidFill>
                  <a:srgbClr val="5F6770"/>
                </a:solidFill>
                <a:latin typeface="Arial"/>
              </a:rPr>
              <a:t>Weighing value, readiness, data sensitivity and governance.</a:t>
            </a:r>
          </a:p>
        </p:txBody>
      </p:sp>
      <p:sp>
        <p:nvSpPr>
          <p:cNvPr id="47" name="Slide Number Placeholder"/>
          <p:cNvSpPr>
            <a:spLocks noGrp="1"/>
          </p:cNvSpPr>
          <p:nvPr>
            <p:ph type="sldNum" sz="quarter" idx="4"/>
          </p:nvPr>
        </p:nvSpPr>
        <p:spPr/>
        <p:txBody>
          <a:bodyPr/>
          <a:lstStyle/>
          <a:p>
            <a:fld id="{18A41853-EF22-D446-BDBC-A7CF3FE93503}" type="slidenum">
              <a:rPr lang="en-US"/>
              <a:t>10</a:t>
            </a:fld>
            <a:endParaRPr lang="en-US"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1" sz="quarter"/>
          </p:nvPr>
        </p:nvSpPr>
        <p:spPr>
          <a:xfrm>
            <a:off x="356616" y="1143000"/>
            <a:ext cx="5943600" cy="1097280"/>
          </a:xfrm>
        </p:spPr>
        <p:txBody>
          <a:bodyPr lIns="0" tIns="0" rIns="0" bIns="0" anchor="t"/>
          <a:lstStyle/>
          <a:p>
            <a:pPr algn="l">
              <a:lnSpc>
                <a:spcPct val="92000"/>
              </a:lnSpc>
              <a:spcAft>
                <a:spcPts val="0"/>
              </a:spcAft>
            </a:pPr>
            <a:r>
              <a:rPr sz="4000" b="1" i="0">
                <a:solidFill>
                  <a:srgbClr val="FFFFFF"/>
                </a:solidFill>
                <a:latin typeface="Arial"/>
              </a:rPr>
              <a:t>Fund Phase 1.</a:t>
            </a:r>
          </a:p>
          <a:p>
            <a:pPr algn="l">
              <a:lnSpc>
                <a:spcPct val="92000"/>
              </a:lnSpc>
              <a:spcAft>
                <a:spcPts val="0"/>
              </a:spcAft>
            </a:pPr>
            <a:r>
              <a:rPr sz="4000" b="1" i="0">
                <a:solidFill>
                  <a:srgbClr val="FFFFFF"/>
                </a:solidFill>
                <a:latin typeface="Arial"/>
              </a:rPr>
              <a:t>Let the evidence decide.</a:t>
            </a:r>
          </a:p>
        </p:txBody>
      </p:sp>
      <p:sp>
        <p:nvSpPr>
          <p:cNvPr id="4" name="TextBox 3"/>
          <p:cNvSpPr txBox="1"/>
          <p:nvPr/>
        </p:nvSpPr>
        <p:spPr>
          <a:xfrm>
            <a:off x="356616" y="2542032"/>
            <a:ext cx="5852160" cy="329184"/>
          </a:xfrm>
          <a:prstGeom prst="rect">
            <a:avLst/>
          </a:prstGeom>
          <a:noFill/>
        </p:spPr>
        <p:txBody>
          <a:bodyPr wrap="square" lIns="0" tIns="0" rIns="0" bIns="0" anchor="t">
            <a:noAutofit/>
          </a:bodyPr>
          <a:lstStyle/>
          <a:p>
            <a:pPr algn="l">
              <a:spcAft>
                <a:spcPts val="0"/>
              </a:spcAft>
            </a:pPr>
            <a:r>
              <a:rPr sz="1500" b="0" i="0">
                <a:solidFill>
                  <a:srgbClr val="FFFFFF"/>
                </a:solidFill>
                <a:latin typeface="Arial"/>
              </a:rPr>
              <a:t>Phase 1 establishes whether Riley deserves to scale.</a:t>
            </a:r>
          </a:p>
        </p:txBody>
      </p:sp>
      <p:sp>
        <p:nvSpPr>
          <p:cNvPr id="5" name="TextBox 4"/>
          <p:cNvSpPr txBox="1"/>
          <p:nvPr/>
        </p:nvSpPr>
        <p:spPr>
          <a:xfrm>
            <a:off x="356616" y="2999232"/>
            <a:ext cx="1097280" cy="274320"/>
          </a:xfrm>
          <a:prstGeom prst="rect">
            <a:avLst/>
          </a:prstGeom>
          <a:noFill/>
        </p:spPr>
        <p:txBody>
          <a:bodyPr wrap="square" lIns="0" tIns="0" rIns="0" bIns="0" anchor="t">
            <a:noAutofit/>
          </a:bodyPr>
          <a:lstStyle/>
          <a:p>
            <a:pPr algn="l">
              <a:spcAft>
                <a:spcPts val="0"/>
              </a:spcAft>
            </a:pPr>
            <a:r>
              <a:rPr sz="1200" b="1" i="0" spc="150">
                <a:solidFill>
                  <a:srgbClr val="FFFFFF"/>
                </a:solidFill>
                <a:latin typeface="Arial"/>
              </a:rPr>
              <a:t>FUND</a:t>
            </a:r>
          </a:p>
        </p:txBody>
      </p:sp>
      <p:sp>
        <p:nvSpPr>
          <p:cNvPr id="6" name="TextBox 5"/>
          <p:cNvSpPr txBox="1"/>
          <p:nvPr/>
        </p:nvSpPr>
        <p:spPr>
          <a:xfrm>
            <a:off x="1417320" y="2971800"/>
            <a:ext cx="4846320" cy="731520"/>
          </a:xfrm>
          <a:prstGeom prst="rect">
            <a:avLst/>
          </a:prstGeom>
          <a:noFill/>
        </p:spPr>
        <p:txBody>
          <a:bodyPr wrap="square" lIns="0" tIns="0" rIns="0" bIns="0" anchor="t">
            <a:noAutofit/>
          </a:bodyPr>
          <a:lstStyle/>
          <a:p>
            <a:pPr algn="l">
              <a:spcAft>
                <a:spcPts val="0"/>
              </a:spcAft>
            </a:pPr>
            <a:r>
              <a:rPr sz="1250" b="0" i="0">
                <a:solidFill>
                  <a:srgbClr val="FFFFFF"/>
                </a:solidFill>
                <a:latin typeface="Arial"/>
              </a:rPr>
              <a:t>Phase 1: one team, one workflow, minimum capabilities, about 3 months. Preliminary estimate ~US$20,000–60,000 incremental. Phase 2–3 costs scoped from Phase 1 results.</a:t>
            </a:r>
          </a:p>
        </p:txBody>
      </p:sp>
      <p:sp>
        <p:nvSpPr>
          <p:cNvPr id="7" name="TextBox 6"/>
          <p:cNvSpPr txBox="1"/>
          <p:nvPr/>
        </p:nvSpPr>
        <p:spPr>
          <a:xfrm>
            <a:off x="356616" y="3730752"/>
            <a:ext cx="1097280" cy="274320"/>
          </a:xfrm>
          <a:prstGeom prst="rect">
            <a:avLst/>
          </a:prstGeom>
          <a:noFill/>
        </p:spPr>
        <p:txBody>
          <a:bodyPr wrap="square" lIns="0" tIns="0" rIns="0" bIns="0" anchor="t">
            <a:noAutofit/>
          </a:bodyPr>
          <a:lstStyle/>
          <a:p>
            <a:pPr algn="l">
              <a:spcAft>
                <a:spcPts val="0"/>
              </a:spcAft>
            </a:pPr>
            <a:r>
              <a:rPr sz="1200" b="1" i="0" spc="150">
                <a:solidFill>
                  <a:srgbClr val="FFFFFF"/>
                </a:solidFill>
                <a:latin typeface="Arial"/>
              </a:rPr>
              <a:t>PEOPLE</a:t>
            </a:r>
          </a:p>
        </p:txBody>
      </p:sp>
      <p:sp>
        <p:nvSpPr>
          <p:cNvPr id="8" name="TextBox 7"/>
          <p:cNvSpPr txBox="1"/>
          <p:nvPr/>
        </p:nvSpPr>
        <p:spPr>
          <a:xfrm>
            <a:off x="1417320" y="3703320"/>
            <a:ext cx="4846320" cy="731520"/>
          </a:xfrm>
          <a:prstGeom prst="rect">
            <a:avLst/>
          </a:prstGeom>
          <a:noFill/>
        </p:spPr>
        <p:txBody>
          <a:bodyPr wrap="square" lIns="0" tIns="0" rIns="0" bIns="0" anchor="t">
            <a:noAutofit/>
          </a:bodyPr>
          <a:lstStyle/>
          <a:p>
            <a:pPr algn="l">
              <a:spcAft>
                <a:spcPts val="0"/>
              </a:spcAft>
            </a:pPr>
            <a:r>
              <a:rPr sz="1250" b="0" i="0">
                <a:solidFill>
                  <a:srgbClr val="FFFFFF"/>
                </a:solidFill>
                <a:latin typeface="Arial"/>
              </a:rPr>
              <a:t>A business sponsor, a small build pod, a business quality reviewer, system and data owners, and Group Innovation Office mentorship.</a:t>
            </a:r>
          </a:p>
        </p:txBody>
      </p:sp>
      <p:sp>
        <p:nvSpPr>
          <p:cNvPr id="9" name="TextBox 8"/>
          <p:cNvSpPr txBox="1"/>
          <p:nvPr/>
        </p:nvSpPr>
        <p:spPr>
          <a:xfrm>
            <a:off x="356616" y="4462272"/>
            <a:ext cx="1097280" cy="274320"/>
          </a:xfrm>
          <a:prstGeom prst="rect">
            <a:avLst/>
          </a:prstGeom>
          <a:noFill/>
        </p:spPr>
        <p:txBody>
          <a:bodyPr wrap="square" lIns="0" tIns="0" rIns="0" bIns="0" anchor="t">
            <a:noAutofit/>
          </a:bodyPr>
          <a:lstStyle/>
          <a:p>
            <a:pPr algn="l">
              <a:spcAft>
                <a:spcPts val="0"/>
              </a:spcAft>
            </a:pPr>
            <a:r>
              <a:rPr sz="1200" b="1" i="0" spc="150">
                <a:solidFill>
                  <a:srgbClr val="FFFFFF"/>
                </a:solidFill>
                <a:latin typeface="Arial"/>
              </a:rPr>
              <a:t>LEARN</a:t>
            </a:r>
          </a:p>
        </p:txBody>
      </p:sp>
      <p:sp>
        <p:nvSpPr>
          <p:cNvPr id="10" name="TextBox 9"/>
          <p:cNvSpPr txBox="1"/>
          <p:nvPr/>
        </p:nvSpPr>
        <p:spPr>
          <a:xfrm>
            <a:off x="1417320" y="4434840"/>
            <a:ext cx="4846320" cy="731520"/>
          </a:xfrm>
          <a:prstGeom prst="rect">
            <a:avLst/>
          </a:prstGeom>
          <a:noFill/>
        </p:spPr>
        <p:txBody>
          <a:bodyPr wrap="square" lIns="0" tIns="0" rIns="0" bIns="0" anchor="t">
            <a:noAutofit/>
          </a:bodyPr>
          <a:lstStyle/>
          <a:p>
            <a:pPr algn="l">
              <a:spcAft>
                <a:spcPts val="0"/>
              </a:spcAft>
            </a:pPr>
            <a:r>
              <a:rPr sz="1250" b="0" i="0">
                <a:solidFill>
                  <a:srgbClr val="FFFFFF"/>
                </a:solidFill>
                <a:latin typeface="Arial"/>
              </a:rPr>
              <a:t>Month 4: measured effort, quality, adoption and completed outputs. Month 7: whether Riley can add another approved capability in the same experience.</a:t>
            </a:r>
          </a:p>
        </p:txBody>
      </p:sp>
      <p:sp>
        <p:nvSpPr>
          <p:cNvPr id="11" name="TextBox 10"/>
          <p:cNvSpPr txBox="1"/>
          <p:nvPr/>
        </p:nvSpPr>
        <p:spPr>
          <a:xfrm>
            <a:off x="356616" y="5285232"/>
            <a:ext cx="5897880" cy="640080"/>
          </a:xfrm>
          <a:prstGeom prst="rect">
            <a:avLst/>
          </a:prstGeom>
          <a:noFill/>
        </p:spPr>
        <p:txBody>
          <a:bodyPr wrap="square" lIns="0" tIns="0" rIns="0" bIns="0" anchor="t">
            <a:noAutofit/>
          </a:bodyPr>
          <a:lstStyle/>
          <a:p>
            <a:pPr algn="l">
              <a:lnSpc>
                <a:spcPct val="100000"/>
              </a:lnSpc>
              <a:spcAft>
                <a:spcPts val="0"/>
              </a:spcAft>
            </a:pPr>
            <a:r>
              <a:rPr sz="1550" b="1" i="0">
                <a:solidFill>
                  <a:srgbClr val="FFFFFF"/>
                </a:solidFill>
                <a:latin typeface="Arial"/>
              </a:rPr>
              <a:t>The ambition: a digital execution partner for every AIA employee. The first step: one team, measured.</a:t>
            </a:r>
          </a:p>
        </p:txBody>
      </p:sp>
    </p:spTree>
  </p:cSld>
  <p:clrMapOvr>
    <a:masterClrMapping/>
  </p:clrMapOvr>
</p:sld>
</file>

<file path=ppt/theme/theme1.xml><?xml version="1.0" encoding="utf-8"?>
<a:theme xmlns:a="http://schemas.openxmlformats.org/drawingml/2006/main" name="AIA_2020">
  <a:themeElements>
    <a:clrScheme name="AIA_2020">
      <a:dk1>
        <a:srgbClr val="303D48"/>
      </a:dk1>
      <a:lt1>
        <a:srgbClr val="FFFFFF"/>
      </a:lt1>
      <a:dk2>
        <a:srgbClr val="1F78AD"/>
      </a:dk2>
      <a:lt2>
        <a:srgbClr val="D3CAC3"/>
      </a:lt2>
      <a:accent1>
        <a:srgbClr val="D31145"/>
      </a:accent1>
      <a:accent2>
        <a:srgbClr val="BA0361"/>
      </a:accent2>
      <a:accent3>
        <a:srgbClr val="FF754D"/>
      </a:accent3>
      <a:accent4>
        <a:srgbClr val="F7C926"/>
      </a:accent4>
      <a:accent5>
        <a:srgbClr val="A199BA"/>
      </a:accent5>
      <a:accent6>
        <a:srgbClr val="4C4793"/>
      </a:accent6>
      <a:hlink>
        <a:srgbClr val="4C4793"/>
      </a:hlink>
      <a:folHlink>
        <a:srgbClr val="0845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AIA_PPT_Template_2018_16x9_V3.1" id="{C24C495E-28EC-4C06-8757-BE4D80E4F71D}" vid="{3469129E-3778-43A8-9BE1-B54836CD94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1521</TotalTime>
  <Words>1</Words>
  <Application>Microsoft Office PowerPoint</Application>
  <PresentationFormat>Widescreen</PresentationFormat>
  <Paragraphs>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Calibri</vt:lpstr>
      <vt:lpstr>AIA_2020</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Harry-CC</dc:creator>
  <cp:lastModifiedBy>Wang, Harry-CC</cp:lastModifiedBy>
  <cp:revision>4</cp:revision>
  <cp:lastPrinted>2020-05-18T12:18:52Z</cp:lastPrinted>
  <dcterms:created xsi:type="dcterms:W3CDTF">2026-09-21T01:03:41Z</dcterms:created>
  <dcterms:modified xsi:type="dcterms:W3CDTF">2026-09-23T02:34:05Z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1b32ef-ed69-48a4-80a7-c96eee60b7ed_Enabled">
    <vt:lpwstr>true</vt:lpwstr>
  </property>
  <property fmtid="{D5CDD505-2E9C-101B-9397-08002B2CF9AE}" pid="3" name="MSIP_Label_891b32ef-ed69-48a4-80a7-c96eee60b7ed_SetDate">
    <vt:lpwstr>2026-09-21T01:43:46Z</vt:lpwstr>
  </property>
  <property fmtid="{D5CDD505-2E9C-101B-9397-08002B2CF9AE}" pid="4" name="MSIP_Label_891b32ef-ed69-48a4-80a7-c96eee60b7ed_Method">
    <vt:lpwstr>Privileged</vt:lpwstr>
  </property>
  <property fmtid="{D5CDD505-2E9C-101B-9397-08002B2CF9AE}" pid="5" name="MSIP_Label_891b32ef-ed69-48a4-80a7-c96eee60b7ed_Name">
    <vt:lpwstr>891b32ef-ed69-48a4-80a7-c96eee60b7ed</vt:lpwstr>
  </property>
  <property fmtid="{D5CDD505-2E9C-101B-9397-08002B2CF9AE}" pid="6" name="MSIP_Label_891b32ef-ed69-48a4-80a7-c96eee60b7ed_SiteId">
    <vt:lpwstr>7f2c1900-9fd4-4b89-91d3-79a649996f0a</vt:lpwstr>
  </property>
  <property fmtid="{D5CDD505-2E9C-101B-9397-08002B2CF9AE}" pid="7" name="MSIP_Label_891b32ef-ed69-48a4-80a7-c96eee60b7ed_ActionId">
    <vt:lpwstr>90345cdd-399e-49a9-970c-b0d82dbcf4a1</vt:lpwstr>
  </property>
  <property fmtid="{D5CDD505-2E9C-101B-9397-08002B2CF9AE}" pid="8" name="MSIP_Label_891b32ef-ed69-48a4-80a7-c96eee60b7ed_ContentBits">
    <vt:lpwstr>2</vt:lpwstr>
  </property>
  <property fmtid="{D5CDD505-2E9C-101B-9397-08002B2CF9AE}" pid="9" name="MSIP_Label_891b32ef-ed69-48a4-80a7-c96eee60b7ed_Tag">
    <vt:lpwstr>10, 0, 1, 1</vt:lpwstr>
  </property>
  <property fmtid="{D5CDD505-2E9C-101B-9397-08002B2CF9AE}" pid="10" name="ClassificationContentMarkingFooterLocations">
    <vt:lpwstr>AIA_2020:2</vt:lpwstr>
  </property>
  <property fmtid="{D5CDD505-2E9C-101B-9397-08002B2CF9AE}" pid="11" name="ClassificationContentMarkingFooterText">
    <vt:lpwstr>[AIA – PUBLIC]</vt:lpwstr>
  </property>
</Properties>
</file>