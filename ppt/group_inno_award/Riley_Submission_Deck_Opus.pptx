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svg" ContentType="image/svg+xml"/>
  <Override PartName="/ppt/media/image2.svg" ContentType="image/svg+xml"/>
  <Override PartName="/ppt/media/image3.svg" ContentType="image/svg+xml"/>
  <Override PartName="/ppt/media/image4.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
  </p:notesMasterIdLst>
  <p:handoutMasterIdLst>
    <p:handoutMasterId r:id="rId6"/>
  </p:handoutMasterIdLst>
  <p:sldIdLst>
    <p:sldId id="256" r:id="rId4"/>
    <p:sldId id="257" r:id="rId3"/>
    <p:sldId id="258" r:id="rId2"/>
    <p:sldId id="259" r:id="rId11"/>
    <p:sldId id="260" r:id="rId12"/>
    <p:sldId id="261" r:id="rId13"/>
    <p:sldId id="262" r:id="rId14"/>
    <p:sldId id="263" r:id="rId15"/>
    <p:sldId id="264" r:id="rId16"/>
    <p:sldId id="265" r:id="rId17"/>
    <p:sldId id="266" r:id="rId18"/>
    <p:sldId id="267"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A5915C"/>
    <a:srgbClr val="68655A"/>
    <a:srgbClr val="FF7A85"/>
    <a:srgbClr val="4C4794"/>
    <a:srgbClr val="333D47"/>
    <a:srgbClr val="F1C400"/>
    <a:srgbClr val="D31145"/>
    <a:srgbClr val="42005B"/>
    <a:srgbClr val="42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0" autoAdjust="0"/>
    <p:restoredTop sz="94687"/>
  </p:normalViewPr>
  <p:slideViewPr>
    <p:cSldViewPr snapToGrid="0" showGuides="1">
      <p:cViewPr varScale="1">
        <p:scale>
          <a:sx n="120" d="100"/>
          <a:sy n="120" d="100"/>
        </p:scale>
        <p:origin x="144" y="198"/>
      </p:cViewPr>
      <p:guideLst>
        <p:guide orient="horz" pos="2160"/>
        <p:guide pos="30"/>
      </p:guideLst>
    </p:cSldViewPr>
  </p:slideViewPr>
  <p:notesTextViewPr>
    <p:cViewPr>
      <p:scale>
        <a:sx n="1" d="1"/>
        <a:sy n="1" d="1"/>
      </p:scale>
      <p:origin x="0" y="0"/>
    </p:cViewPr>
  </p:notesTextViewPr>
  <p:sorterViewPr>
    <p:cViewPr>
      <p:scale>
        <a:sx n="66" d="100"/>
        <a:sy n="66" d="100"/>
      </p:scale>
      <p:origin x="0" y="0"/>
    </p:cViewPr>
  </p:sorterViewPr>
  <p:notesViewPr>
    <p:cSldViewPr snapToGrid="0">
      <p:cViewPr varScale="1">
        <p:scale>
          <a:sx n="96" d="100"/>
          <a:sy n="96" d="100"/>
        </p:scale>
        <p:origin x="3642"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3218ECE-A34A-49B3-9686-CAB705FE9FAE}" type="datetimeFigureOut">
              <a:rPr lang="en-GB" smtClean="0"/>
              <a:t>23/09/2026</a:t>
            </a:fld>
            <a:endParaRPr lang="en-GB"/>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FCF2FCE-B231-44AD-BE06-D54B55D77B09}" type="slidenum">
              <a:rPr lang="en-GB" smtClean="0"/>
              <a:t>‹#›</a:t>
            </a:fld>
            <a:endParaRPr lang="en-GB"/>
          </a:p>
        </p:txBody>
      </p:sp>
    </p:spTree>
    <p:extLst>
      <p:ext uri="{BB962C8B-B14F-4D97-AF65-F5344CB8AC3E}">
        <p14:creationId xmlns:p14="http://schemas.microsoft.com/office/powerpoint/2010/main" val="1359141429"/>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FECA36D-3A4E-49AB-8998-33E386CC9347}" type="datetimeFigureOut">
              <a:rPr lang="en-US" smtClean="0"/>
              <a:t>9/23/2026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16A808D9-4A71-422D-8C20-E440E917BF93}" type="slidenum">
              <a:rPr lang="en-US" smtClean="0"/>
              <a:t>‹#›</a:t>
            </a:fld>
            <a:endParaRPr lang="en-US"/>
          </a:p>
        </p:txBody>
      </p:sp>
    </p:spTree>
    <p:extLst>
      <p:ext uri="{BB962C8B-B14F-4D97-AF65-F5344CB8AC3E}">
        <p14:creationId xmlns:p14="http://schemas.microsoft.com/office/powerpoint/2010/main" val="3912780854"/>
      </p:ext>
    </p:extLst>
  </p:cSld>
  <p:clrMap bg1="lt1" tx1="dk1" bg2="lt2" tx2="dk2" accent1="accent1" accent2="accent2" accent3="accent3" accent4="accent4" accent5="accent5" accent6="accent6" hlink="hlink" folHlink="folHlink"/>
  <p:hf hd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Riley is a virtual coworker for AIA employees, inside Microsoft Teams. You describe the outcome; Riley coordinates AIA's data, systems and AI capabilities to do much of the work; you review and approve.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it is, the problem, why it matters. The one line to remember: Riley is not the AI model - it is the AIA layer that turns separate AI capabilities into one coworker employees can use.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observed organizational problem, not a measured one. Each tool is valuable, but the employee has to find, learn and combine them. Riley becomes the one connector. McKinsey context: interaction workers spend nearly 20% of the workweek looking for internal information or tracking down colleagues (2012).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conversation in Microsoft Teams. The complaints workflow is a candidate first pilot, not the definition of Riley. Riley may plan and carry out intermediate steps itself, but nothing is finalized, sent to anyone, or entered into a business system until the employee approves.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scenario, not a forecast. 1,000 is a scenario size, not a pilot population or an AIA employee count. 1 hour is not yet proven - the pilot exists to test whether this level of improvement is achievable. Why 1 hour is a modest assumption: it is 2.5% of a 40-hour week, about one-eighth of the time McKinsey found knowledge workers spend looking for internal information or tracking down colleagues. Framing is released capacity for higher-value work (Double Employee Value).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measures, three questions. Quality is not left to the requesting employee alone: periodic independent sample reviews by a business reviewer or subject-matter expert. In Phase 3 the illustrative scenario is replaced by a projection built from this measured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Riley does not compete with Copilot. Copilot Studio, another enterprise agent platform, or future technology could be the engine - a build decision, not the innovation. A generic platform does not arrive knowing AIA. Riley is the AIA-specific coworker layer that connects AIA data, systems, AI capabilities from different teams, business processes, permissions and governance, employee feedback and auditability through one employee experience.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Riley, every new AI solution can become another separate tool to discover and learn. With Riley, a newly connected capability increases what Riley can do while employees keep using the same interface. Connections are not free or automatic: each needs technical and governance work, done once per capability. Phase 2 exists to prove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Enduring value, not a one-time productivity gain: Riley's usefulness can grow as more capabilities, workflows and employee feedback are added. Reach grows from one pilot team, to back-office teams across many functions, to the long-term vision of every AIA employee. Across markets, the core experience can be reused while each market adds its own integrations, data controls, governance and process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on existing or emerging enterprise AI technology, not a from-scratch engine. Delivered in Microsoft Teams. Riley acts only with the employee's own access, data stays under AIA controls, and the employee approves before anything is finalized, sent to anyone, or entered into a business system. Riley keeps a traceable record; learning is governed; quality is independently sampled. No specific logging, memory or training architecture is committed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run in sequence and each proceeds only if the previous one shows results. Phase 2 is the core test of the idea: a capability built by a different AIA team becomes usable through Riley with no new tool for employees. Phase 3 replaces the illustrative scenario with a projection from measured data.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select a pilot team, fund Phase 1 with the award's seed funding, build and test the first workflow, measure the result, then prove the multiplier in Phase 2. The budget is a preliminary planning estimate, not AIA-costed or benchmarked, excluding existing staff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IA_TitleSlidePlai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63DE312-0E56-1747-B671-3F457AA8D765}"/>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Graphic 3">
            <a:extLst>
              <a:ext uri="{FF2B5EF4-FFF2-40B4-BE49-F238E27FC236}">
                <a16:creationId xmlns:a16="http://schemas.microsoft.com/office/drawing/2014/main" id="{7E52CBAF-C878-FD45-8AF4-3C799CB4F535}"/>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26370" b="31414"/>
          <a:stretch/>
        </p:blipFill>
        <p:spPr>
          <a:xfrm>
            <a:off x="6580800" y="0"/>
            <a:ext cx="5611200" cy="6858000"/>
          </a:xfrm>
          <a:prstGeom prst="rect">
            <a:avLst/>
          </a:prstGeom>
        </p:spPr>
      </p:pic>
      <p:sp>
        <p:nvSpPr>
          <p:cNvPr id="12" name="Subtitle 2">
            <a:extLst>
              <a:ext uri="{FF2B5EF4-FFF2-40B4-BE49-F238E27FC236}">
                <a16:creationId xmlns:a16="http://schemas.microsoft.com/office/drawing/2014/main" id="{5FAC4E2A-F096-5540-918E-6F520E475C7C}"/>
              </a:ext>
            </a:extLst>
          </p:cNvPr>
          <p:cNvSpPr>
            <a:spLocks noGrp="1"/>
          </p:cNvSpPr>
          <p:nvPr>
            <p:ph type="subTitle" idx="1" hasCustomPrompt="1"/>
          </p:nvPr>
        </p:nvSpPr>
        <p:spPr>
          <a:xfrm>
            <a:off x="360000" y="3601225"/>
            <a:ext cx="5080000" cy="358775"/>
          </a:xfrm>
          <a:prstGeom prst="rect">
            <a:avLst/>
          </a:prstGeom>
        </p:spPr>
        <p:txBody>
          <a:bodyPr>
            <a:noAutofit/>
          </a:bodyPr>
          <a:lstStyle>
            <a:lvl1pPr marL="0" indent="0" algn="l">
              <a:lnSpc>
                <a:spcPct val="100000"/>
              </a:lnSpc>
              <a:spcBef>
                <a:spcPts val="600"/>
              </a:spcBef>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add date</a:t>
            </a:r>
          </a:p>
        </p:txBody>
      </p:sp>
      <p:sp>
        <p:nvSpPr>
          <p:cNvPr id="13" name="Text Placeholder 11">
            <a:extLst>
              <a:ext uri="{FF2B5EF4-FFF2-40B4-BE49-F238E27FC236}">
                <a16:creationId xmlns:a16="http://schemas.microsoft.com/office/drawing/2014/main" id="{0DD8F76D-7AD6-444B-9E55-80A650B42CD1}"/>
              </a:ext>
            </a:extLst>
          </p:cNvPr>
          <p:cNvSpPr>
            <a:spLocks noGrp="1"/>
          </p:cNvSpPr>
          <p:nvPr>
            <p:ph type="body" sz="quarter" idx="10" hasCustomPrompt="1"/>
          </p:nvPr>
        </p:nvSpPr>
        <p:spPr>
          <a:xfrm>
            <a:off x="360000" y="2160000"/>
            <a:ext cx="5400000" cy="1269000"/>
          </a:xfrm>
          <a:prstGeom prst="rect">
            <a:avLst/>
          </a:prstGeom>
          <a:noFill/>
        </p:spPr>
        <p:txBody>
          <a:bodyPr>
            <a:noAutofit/>
          </a:bodyPr>
          <a:lstStyle>
            <a:lvl1pPr>
              <a:lnSpc>
                <a:spcPct val="80000"/>
              </a:lnSpc>
              <a:defRPr sz="4800">
                <a:solidFill>
                  <a:schemeClr val="bg1"/>
                </a:solidFill>
              </a:defRPr>
            </a:lvl1pPr>
            <a:lvl2pPr marL="457200" indent="0">
              <a:buNone/>
              <a:defRPr/>
            </a:lvl2pPr>
          </a:lstStyle>
          <a:p>
            <a:pPr lvl="0"/>
            <a:r>
              <a:rPr lang="en-US" dirty="0"/>
              <a:t>Title of Presentation</a:t>
            </a:r>
          </a:p>
        </p:txBody>
      </p:sp>
      <p:sp>
        <p:nvSpPr>
          <p:cNvPr id="8" name="TextBox 7">
            <a:extLst>
              <a:ext uri="{FF2B5EF4-FFF2-40B4-BE49-F238E27FC236}">
                <a16:creationId xmlns:a16="http://schemas.microsoft.com/office/drawing/2014/main" id="{C005E6EB-133C-4C47-A11D-54E804FE9C2F}"/>
              </a:ext>
            </a:extLst>
          </p:cNvPr>
          <p:cNvSpPr txBox="1"/>
          <p:nvPr userDrawn="1"/>
        </p:nvSpPr>
        <p:spPr>
          <a:xfrm>
            <a:off x="360000" y="6336000"/>
            <a:ext cx="5400000" cy="216000"/>
          </a:xfrm>
          <a:prstGeom prst="rect">
            <a:avLst/>
          </a:prstGeom>
          <a:noFill/>
        </p:spPr>
        <p:txBody>
          <a:bodyPr wrap="square" lIns="90000" rtlCol="0" anchor="ctr" anchorCtr="0">
            <a:spAutoFit/>
          </a:bodyPr>
          <a:lstStyle/>
          <a:p>
            <a:r>
              <a:rPr lang="en-GB" sz="800" b="0" i="0" dirty="0">
                <a:solidFill>
                  <a:schemeClr val="bg1"/>
                </a:solidFill>
                <a:latin typeface="Arial" panose="020B0604020202020204" pitchFamily="34" charset="0"/>
                <a:ea typeface="MS PGothic" pitchFamily="34" charset="-128"/>
                <a:cs typeface="Arial" panose="020B0604020202020204" pitchFamily="34" charset="0"/>
              </a:rPr>
              <a:t>AIA confidential and proprietary information. Not for distribution.  </a:t>
            </a:r>
            <a:endParaRPr lang="en-US" sz="800" b="0" i="0" dirty="0">
              <a:solidFill>
                <a:schemeClr val="bg1"/>
              </a:solidFill>
              <a:latin typeface="Arial" panose="020B0604020202020204" pitchFamily="34" charset="0"/>
              <a:cs typeface="Arial" panose="020B0604020202020204" pitchFamily="34" charset="0"/>
            </a:endParaRPr>
          </a:p>
        </p:txBody>
      </p:sp>
      <p:pic>
        <p:nvPicPr>
          <p:cNvPr id="10" name="Graphic 9">
            <a:extLst>
              <a:ext uri="{FF2B5EF4-FFF2-40B4-BE49-F238E27FC236}">
                <a16:creationId xmlns:a16="http://schemas.microsoft.com/office/drawing/2014/main" id="{D9903880-9FDE-8D40-A562-3D8B9CB09AB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60000" y="360000"/>
            <a:ext cx="1828800" cy="660400"/>
          </a:xfrm>
          <a:prstGeom prst="rect">
            <a:avLst/>
          </a:prstGeom>
        </p:spPr>
      </p:pic>
    </p:spTree>
    <p:extLst>
      <p:ext uri="{BB962C8B-B14F-4D97-AF65-F5344CB8AC3E}">
        <p14:creationId xmlns:p14="http://schemas.microsoft.com/office/powerpoint/2010/main" val="105178173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IA_subheader white">
    <p:spTree>
      <p:nvGrpSpPr>
        <p:cNvPr id="1" name=""/>
        <p:cNvGrpSpPr/>
        <p:nvPr/>
      </p:nvGrpSpPr>
      <p:grpSpPr>
        <a:xfrm>
          <a:off x="0" y="0"/>
          <a:ext cx="0" cy="0"/>
          <a:chOff x="0" y="0"/>
          <a:chExt cx="0" cy="0"/>
        </a:xfrm>
      </p:grpSpPr>
      <p:sp>
        <p:nvSpPr>
          <p:cNvPr id="21" name="Text Placeholder 4"/>
          <p:cNvSpPr>
            <a:spLocks noGrp="1"/>
          </p:cNvSpPr>
          <p:nvPr>
            <p:ph type="body" sz="quarter" idx="15" hasCustomPrompt="1"/>
          </p:nvPr>
        </p:nvSpPr>
        <p:spPr>
          <a:xfrm>
            <a:off x="4237200" y="1800000"/>
            <a:ext cx="3607200" cy="4256262"/>
          </a:xfrm>
          <a:prstGeom prst="rect">
            <a:avLst/>
          </a:prstGeom>
        </p:spPr>
        <p:txBody>
          <a:bodyPr vert="horz">
            <a:noAutofit/>
          </a:bodyPr>
          <a:lstStyle>
            <a:lvl1pPr algn="l">
              <a:lnSpc>
                <a:spcPct val="100000"/>
              </a:lnSpc>
              <a:defRPr sz="1600">
                <a:solidFill>
                  <a:schemeClr val="tx1"/>
                </a:solidFill>
              </a:defRPr>
            </a:lvl1pPr>
            <a:lvl2pPr algn="l">
              <a:defRPr sz="2000">
                <a:solidFill>
                  <a:schemeClr val="accent2"/>
                </a:solidFill>
              </a:defRPr>
            </a:lvl2pPr>
            <a:lvl3pPr algn="l">
              <a:defRPr sz="2000">
                <a:solidFill>
                  <a:schemeClr val="accent2"/>
                </a:solidFill>
              </a:defRPr>
            </a:lvl3pPr>
            <a:lvl4pPr algn="l">
              <a:defRPr sz="2000">
                <a:solidFill>
                  <a:schemeClr val="accent2"/>
                </a:solidFill>
              </a:defRPr>
            </a:lvl4pPr>
            <a:lvl5pPr algn="l">
              <a:defRPr sz="2000">
                <a:solidFill>
                  <a:schemeClr val="accent2"/>
                </a:solidFill>
              </a:defRPr>
            </a:lvl5pPr>
          </a:lstStyle>
          <a:p>
            <a:pPr lvl="0"/>
            <a:r>
              <a:rPr lang="en-GB" dirty="0" err="1"/>
              <a:t>Bodycopy</a:t>
            </a:r>
            <a:r>
              <a:rPr lang="en-GB" dirty="0"/>
              <a:t> in here</a:t>
            </a:r>
            <a:endParaRPr lang="en-US" dirty="0"/>
          </a:p>
        </p:txBody>
      </p:sp>
      <p:sp>
        <p:nvSpPr>
          <p:cNvPr id="22" name="Text Placeholder 4"/>
          <p:cNvSpPr>
            <a:spLocks noGrp="1"/>
          </p:cNvSpPr>
          <p:nvPr>
            <p:ph type="body" sz="quarter" idx="16" hasCustomPrompt="1"/>
          </p:nvPr>
        </p:nvSpPr>
        <p:spPr>
          <a:xfrm>
            <a:off x="360000" y="1800000"/>
            <a:ext cx="3600000" cy="4256262"/>
          </a:xfrm>
          <a:prstGeom prst="rect">
            <a:avLst/>
          </a:prstGeom>
        </p:spPr>
        <p:txBody>
          <a:bodyPr vert="horz">
            <a:noAutofit/>
          </a:bodyPr>
          <a:lstStyle>
            <a:lvl1pPr algn="l">
              <a:lnSpc>
                <a:spcPct val="100000"/>
              </a:lnSpc>
              <a:defRPr sz="1600">
                <a:solidFill>
                  <a:schemeClr val="tx1"/>
                </a:solidFill>
              </a:defRPr>
            </a:lvl1pPr>
            <a:lvl2pPr algn="l">
              <a:defRPr sz="2000">
                <a:solidFill>
                  <a:schemeClr val="accent2"/>
                </a:solidFill>
              </a:defRPr>
            </a:lvl2pPr>
            <a:lvl3pPr algn="l">
              <a:defRPr sz="2000">
                <a:solidFill>
                  <a:schemeClr val="accent2"/>
                </a:solidFill>
              </a:defRPr>
            </a:lvl3pPr>
            <a:lvl4pPr algn="l">
              <a:defRPr sz="2000">
                <a:solidFill>
                  <a:schemeClr val="accent2"/>
                </a:solidFill>
              </a:defRPr>
            </a:lvl4pPr>
            <a:lvl5pPr algn="l">
              <a:defRPr sz="2000">
                <a:solidFill>
                  <a:schemeClr val="accent2"/>
                </a:solidFill>
              </a:defRPr>
            </a:lvl5pPr>
          </a:lstStyle>
          <a:p>
            <a:pPr lvl="0"/>
            <a:r>
              <a:rPr lang="en-GB" dirty="0" err="1"/>
              <a:t>Bodycopy</a:t>
            </a:r>
            <a:r>
              <a:rPr lang="en-GB" dirty="0"/>
              <a:t> in here</a:t>
            </a:r>
            <a:endParaRPr lang="en-US" dirty="0"/>
          </a:p>
        </p:txBody>
      </p:sp>
      <p:sp>
        <p:nvSpPr>
          <p:cNvPr id="7" name="Text Placeholder 11">
            <a:extLst>
              <a:ext uri="{FF2B5EF4-FFF2-40B4-BE49-F238E27FC236}">
                <a16:creationId xmlns:a16="http://schemas.microsoft.com/office/drawing/2014/main" id="{C4B34AF1-3AD0-DE4E-91C8-39A92B566589}"/>
              </a:ext>
            </a:extLst>
          </p:cNvPr>
          <p:cNvSpPr>
            <a:spLocks noGrp="1"/>
          </p:cNvSpPr>
          <p:nvPr>
            <p:ph type="body" sz="quarter" idx="10" hasCustomPrompt="1"/>
          </p:nvPr>
        </p:nvSpPr>
        <p:spPr>
          <a:xfrm>
            <a:off x="360000" y="540000"/>
            <a:ext cx="11160000" cy="1338676"/>
          </a:xfrm>
          <a:prstGeom prst="rect">
            <a:avLst/>
          </a:prstGeom>
          <a:noFill/>
        </p:spPr>
        <p:txBody>
          <a:bodyPr>
            <a:noAutofit/>
          </a:bodyPr>
          <a:lstStyle>
            <a:lvl1pPr>
              <a:lnSpc>
                <a:spcPts val="3200"/>
              </a:lnSpc>
              <a:defRPr sz="3600">
                <a:solidFill>
                  <a:srgbClr val="333D47"/>
                </a:solidFill>
              </a:defRPr>
            </a:lvl1pPr>
            <a:lvl2pPr marL="457200" indent="0">
              <a:buNone/>
              <a:defRPr/>
            </a:lvl2pPr>
          </a:lstStyle>
          <a:p>
            <a:pPr lvl="0"/>
            <a:r>
              <a:rPr lang="en-US" dirty="0"/>
              <a:t>Headline</a:t>
            </a:r>
          </a:p>
        </p:txBody>
      </p:sp>
      <p:sp>
        <p:nvSpPr>
          <p:cNvPr id="10" name="Slide Number Placeholder 5">
            <a:extLst>
              <a:ext uri="{FF2B5EF4-FFF2-40B4-BE49-F238E27FC236}">
                <a16:creationId xmlns:a16="http://schemas.microsoft.com/office/drawing/2014/main" id="{3E493E1F-F28C-FD47-B996-3EBF17D328AE}"/>
              </a:ext>
            </a:extLst>
          </p:cNvPr>
          <p:cNvSpPr>
            <a:spLocks noGrp="1"/>
          </p:cNvSpPr>
          <p:nvPr>
            <p:ph type="sldNum" sz="quarter" idx="4"/>
          </p:nvPr>
        </p:nvSpPr>
        <p:spPr>
          <a:xfrm>
            <a:off x="359999" y="6264872"/>
            <a:ext cx="360000" cy="360000"/>
          </a:xfrm>
          <a:prstGeom prst="rect">
            <a:avLst/>
          </a:prstGeom>
        </p:spPr>
        <p:txBody>
          <a:bodyPr vert="horz" lIns="91440" tIns="45720" rIns="91440" bIns="45720" rtlCol="0" anchor="ctr"/>
          <a:lstStyle>
            <a:lvl1pPr algn="l">
              <a:defRPr sz="800" b="0" i="0">
                <a:solidFill>
                  <a:schemeClr val="tx1"/>
                </a:solidFill>
                <a:latin typeface="Arial" panose="020B0604020202020204" pitchFamily="34" charset="0"/>
                <a:cs typeface="Arial" panose="020B0604020202020204" pitchFamily="34" charset="0"/>
              </a:defRPr>
            </a:lvl1pPr>
          </a:lstStyle>
          <a:p>
            <a:fld id="{18A41853-EF22-D446-BDBC-A7CF3FE93503}" type="slidenum">
              <a:rPr lang="en-US" smtClean="0"/>
              <a:pPr/>
              <a:t>‹#›</a:t>
            </a:fld>
            <a:endParaRPr lang="en-US" dirty="0"/>
          </a:p>
        </p:txBody>
      </p:sp>
      <p:pic>
        <p:nvPicPr>
          <p:cNvPr id="6" name="Graphic 5">
            <a:extLst>
              <a:ext uri="{FF2B5EF4-FFF2-40B4-BE49-F238E27FC236}">
                <a16:creationId xmlns:a16="http://schemas.microsoft.com/office/drawing/2014/main" id="{C2BBEFAE-7438-F548-BFC6-9CD53B767E2D}"/>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1160000" y="5792400"/>
            <a:ext cx="635000" cy="660400"/>
          </a:xfrm>
          <a:prstGeom prst="rect">
            <a:avLst/>
          </a:prstGeom>
        </p:spPr>
      </p:pic>
    </p:spTree>
    <p:extLst>
      <p:ext uri="{BB962C8B-B14F-4D97-AF65-F5344CB8AC3E}">
        <p14:creationId xmlns:p14="http://schemas.microsoft.com/office/powerpoint/2010/main" val="20945141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IA_thankyou">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52B5BE0-8CB1-E247-A12A-51429A1939EB}"/>
              </a:ext>
            </a:extLst>
          </p:cNvPr>
          <p:cNvSpPr/>
          <p:nvPr userDrawn="1"/>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ubtitle 2">
            <a:extLst>
              <a:ext uri="{FF2B5EF4-FFF2-40B4-BE49-F238E27FC236}">
                <a16:creationId xmlns:a16="http://schemas.microsoft.com/office/drawing/2014/main" id="{4A93DA94-6D62-D040-97F3-1DFA5A72C689}"/>
              </a:ext>
            </a:extLst>
          </p:cNvPr>
          <p:cNvSpPr>
            <a:spLocks noGrp="1"/>
          </p:cNvSpPr>
          <p:nvPr>
            <p:ph type="subTitle" idx="1" hasCustomPrompt="1"/>
          </p:nvPr>
        </p:nvSpPr>
        <p:spPr>
          <a:xfrm>
            <a:off x="360000" y="3601225"/>
            <a:ext cx="5080000" cy="358775"/>
          </a:xfrm>
          <a:prstGeom prst="rect">
            <a:avLst/>
          </a:prstGeom>
        </p:spPr>
        <p:txBody>
          <a:bodyPr>
            <a:noAutofit/>
          </a:bodyPr>
          <a:lstStyle>
            <a:lvl1pPr marL="0" indent="0" algn="l">
              <a:lnSpc>
                <a:spcPct val="100000"/>
              </a:lnSpc>
              <a:spcBef>
                <a:spcPts val="600"/>
              </a:spcBef>
              <a:buNone/>
              <a:defRPr sz="1400">
                <a:solidFill>
                  <a:schemeClr val="bg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Email</a:t>
            </a:r>
          </a:p>
          <a:p>
            <a:r>
              <a:rPr lang="en-US" dirty="0"/>
              <a:t>Date</a:t>
            </a:r>
          </a:p>
        </p:txBody>
      </p:sp>
      <p:sp>
        <p:nvSpPr>
          <p:cNvPr id="6" name="Text Placeholder 11">
            <a:extLst>
              <a:ext uri="{FF2B5EF4-FFF2-40B4-BE49-F238E27FC236}">
                <a16:creationId xmlns:a16="http://schemas.microsoft.com/office/drawing/2014/main" id="{0C3F0DB7-93FA-D243-9648-A59C82E13702}"/>
              </a:ext>
            </a:extLst>
          </p:cNvPr>
          <p:cNvSpPr>
            <a:spLocks noGrp="1"/>
          </p:cNvSpPr>
          <p:nvPr>
            <p:ph type="body" sz="quarter" idx="11" hasCustomPrompt="1"/>
          </p:nvPr>
        </p:nvSpPr>
        <p:spPr>
          <a:xfrm>
            <a:off x="360000" y="2160000"/>
            <a:ext cx="5400000" cy="1269000"/>
          </a:xfrm>
          <a:prstGeom prst="rect">
            <a:avLst/>
          </a:prstGeom>
          <a:noFill/>
        </p:spPr>
        <p:txBody>
          <a:bodyPr>
            <a:noAutofit/>
          </a:bodyPr>
          <a:lstStyle>
            <a:lvl1pPr>
              <a:lnSpc>
                <a:spcPct val="80000"/>
              </a:lnSpc>
              <a:defRPr sz="4800">
                <a:solidFill>
                  <a:schemeClr val="bg1"/>
                </a:solidFill>
              </a:defRPr>
            </a:lvl1pPr>
            <a:lvl2pPr marL="457200" indent="0">
              <a:buNone/>
              <a:defRPr/>
            </a:lvl2pPr>
          </a:lstStyle>
          <a:p>
            <a:pPr lvl="0"/>
            <a:r>
              <a:rPr lang="en-US" dirty="0"/>
              <a:t>Thank you</a:t>
            </a:r>
          </a:p>
        </p:txBody>
      </p:sp>
      <p:sp>
        <p:nvSpPr>
          <p:cNvPr id="8" name="TextBox 7">
            <a:extLst>
              <a:ext uri="{FF2B5EF4-FFF2-40B4-BE49-F238E27FC236}">
                <a16:creationId xmlns:a16="http://schemas.microsoft.com/office/drawing/2014/main" id="{F7BF49BF-4968-8D47-AB2D-21AB12177162}"/>
              </a:ext>
            </a:extLst>
          </p:cNvPr>
          <p:cNvSpPr txBox="1"/>
          <p:nvPr userDrawn="1"/>
        </p:nvSpPr>
        <p:spPr>
          <a:xfrm>
            <a:off x="360000" y="6336000"/>
            <a:ext cx="5400000" cy="216000"/>
          </a:xfrm>
          <a:prstGeom prst="rect">
            <a:avLst/>
          </a:prstGeom>
          <a:noFill/>
        </p:spPr>
        <p:txBody>
          <a:bodyPr wrap="square" lIns="90000" rtlCol="0" anchor="ctr" anchorCtr="0">
            <a:spAutoFit/>
          </a:bodyPr>
          <a:lstStyle/>
          <a:p>
            <a:r>
              <a:rPr lang="en-GB" sz="800" b="0" i="0" dirty="0">
                <a:solidFill>
                  <a:schemeClr val="bg1"/>
                </a:solidFill>
                <a:latin typeface="Arial" panose="020B0604020202020204" pitchFamily="34" charset="0"/>
                <a:ea typeface="MS PGothic" pitchFamily="34" charset="-128"/>
                <a:cs typeface="Arial" panose="020B0604020202020204" pitchFamily="34" charset="0"/>
              </a:rPr>
              <a:t>AIA confidential and proprietary information. Not for distribution.</a:t>
            </a:r>
            <a:endParaRPr lang="en-US" sz="800" b="0" i="0" dirty="0">
              <a:solidFill>
                <a:schemeClr val="bg1"/>
              </a:solidFill>
              <a:latin typeface="Arial" panose="020B0604020202020204" pitchFamily="34" charset="0"/>
              <a:cs typeface="Arial" panose="020B0604020202020204" pitchFamily="34" charset="0"/>
            </a:endParaRPr>
          </a:p>
        </p:txBody>
      </p:sp>
      <p:pic>
        <p:nvPicPr>
          <p:cNvPr id="10" name="Graphic 9">
            <a:extLst>
              <a:ext uri="{FF2B5EF4-FFF2-40B4-BE49-F238E27FC236}">
                <a16:creationId xmlns:a16="http://schemas.microsoft.com/office/drawing/2014/main" id="{811844A6-A542-4643-96E7-3B2146FB59FE}"/>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60000" y="360000"/>
            <a:ext cx="1828800" cy="660400"/>
          </a:xfrm>
          <a:prstGeom prst="rect">
            <a:avLst/>
          </a:prstGeom>
        </p:spPr>
      </p:pic>
      <p:pic>
        <p:nvPicPr>
          <p:cNvPr id="11" name="Graphic 10">
            <a:extLst>
              <a:ext uri="{FF2B5EF4-FFF2-40B4-BE49-F238E27FC236}">
                <a16:creationId xmlns:a16="http://schemas.microsoft.com/office/drawing/2014/main" id="{6BF7525C-9C01-724E-9D57-E82EE57D1FBD}"/>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26370" b="31414"/>
          <a:stretch/>
        </p:blipFill>
        <p:spPr>
          <a:xfrm>
            <a:off x="6580800" y="0"/>
            <a:ext cx="5611200" cy="6858000"/>
          </a:xfrm>
          <a:prstGeom prst="rect">
            <a:avLst/>
          </a:prstGeom>
        </p:spPr>
      </p:pic>
    </p:spTree>
    <p:extLst>
      <p:ext uri="{BB962C8B-B14F-4D97-AF65-F5344CB8AC3E}">
        <p14:creationId xmlns:p14="http://schemas.microsoft.com/office/powerpoint/2010/main" val="75630686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svg"/><Relationship Id="rId6" Type="http://schemas.openxmlformats.org/officeDocument/2006/relationships/image" Target="../media/image2.svg"/><Relationship Id="rId7" Type="http://schemas.openxmlformats.org/officeDocument/2006/relationships/image" Target="../media/image3.svg"/><Relationship Id="rId8" Type="http://schemas.openxmlformats.org/officeDocument/2006/relationships/image" Target="../media/image4.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Title Placeholder 1">
            <a:extLst>
              <a:ext uri="{FF2B5EF4-FFF2-40B4-BE49-F238E27FC236}">
                <a16:creationId xmlns:a16="http://schemas.microsoft.com/office/drawing/2014/main" id="{76106E65-026A-4C46-AFB0-85C3E7848DD0}"/>
              </a:ext>
            </a:extLst>
          </p:cNvPr>
          <p:cNvSpPr>
            <a:spLocks noGrp="1"/>
          </p:cNvSpPr>
          <p:nvPr>
            <p:ph type="title"/>
          </p:nvPr>
        </p:nvSpPr>
        <p:spPr>
          <a:xfrm>
            <a:off x="360000" y="540000"/>
            <a:ext cx="11472000" cy="1021287"/>
          </a:xfrm>
          <a:prstGeom prst="rect">
            <a:avLst/>
          </a:prstGeom>
        </p:spPr>
        <p:txBody>
          <a:bodyPr vert="horz" lIns="91440" tIns="45720" rIns="91440" bIns="45720" rtlCol="0" anchor="t">
            <a:normAutofit/>
          </a:bodyPr>
          <a:lstStyle/>
          <a:p>
            <a:r>
              <a:rPr lang="en-GB" dirty="0"/>
              <a:t>Click to edit master style</a:t>
            </a:r>
            <a:endParaRPr lang="en-US" dirty="0"/>
          </a:p>
        </p:txBody>
      </p:sp>
      <p:sp>
        <p:nvSpPr>
          <p:cNvPr id="10" name="Text Placeholder 2">
            <a:extLst>
              <a:ext uri="{FF2B5EF4-FFF2-40B4-BE49-F238E27FC236}">
                <a16:creationId xmlns:a16="http://schemas.microsoft.com/office/drawing/2014/main" id="{5707E24A-2FF5-4246-BEF6-082A6111800B}"/>
              </a:ext>
            </a:extLst>
          </p:cNvPr>
          <p:cNvSpPr>
            <a:spLocks noGrp="1"/>
          </p:cNvSpPr>
          <p:nvPr>
            <p:ph type="body" idx="1"/>
          </p:nvPr>
        </p:nvSpPr>
        <p:spPr>
          <a:xfrm>
            <a:off x="360000" y="1800000"/>
            <a:ext cx="11472000" cy="3364189"/>
          </a:xfrm>
          <a:prstGeom prst="rect">
            <a:avLst/>
          </a:prstGeom>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Slide Number Placeholder 5">
            <a:extLst>
              <a:ext uri="{FF2B5EF4-FFF2-40B4-BE49-F238E27FC236}">
                <a16:creationId xmlns:a16="http://schemas.microsoft.com/office/drawing/2014/main" id="{D7F45575-B773-1649-9EFE-1C08EEFD46D1}"/>
              </a:ext>
            </a:extLst>
          </p:cNvPr>
          <p:cNvSpPr>
            <a:spLocks noGrp="1"/>
          </p:cNvSpPr>
          <p:nvPr>
            <p:ph type="sldNum" sz="quarter" idx="4"/>
          </p:nvPr>
        </p:nvSpPr>
        <p:spPr>
          <a:xfrm>
            <a:off x="359999" y="6264872"/>
            <a:ext cx="360000" cy="360000"/>
          </a:xfrm>
          <a:prstGeom prst="rect">
            <a:avLst/>
          </a:prstGeom>
        </p:spPr>
        <p:txBody>
          <a:bodyPr vert="horz" lIns="91440" tIns="45720" rIns="91440" bIns="45720" rtlCol="0" anchor="ctr"/>
          <a:lstStyle>
            <a:lvl1pPr algn="l">
              <a:defRPr sz="800" b="0" i="0">
                <a:solidFill>
                  <a:schemeClr val="tx1"/>
                </a:solidFill>
                <a:latin typeface="Arial" panose="020B0604020202020204" pitchFamily="34" charset="0"/>
                <a:cs typeface="Arial" panose="020B0604020202020204" pitchFamily="34" charset="0"/>
              </a:defRPr>
            </a:lvl1pPr>
          </a:lstStyle>
          <a:p>
            <a:fld id="{18A41853-EF22-D446-BDBC-A7CF3FE93503}" type="slidenum">
              <a:rPr lang="en-US" smtClean="0"/>
              <a:pPr/>
              <a:t>‹#›</a:t>
            </a:fld>
            <a:endParaRPr lang="en-US" dirty="0"/>
          </a:p>
        </p:txBody>
      </p:sp>
      <p:sp>
        <p:nvSpPr>
          <p:cNvPr id="14" name="TextBox 13">
            <a:extLst>
              <a:ext uri="{FF2B5EF4-FFF2-40B4-BE49-F238E27FC236}">
                <a16:creationId xmlns:a16="http://schemas.microsoft.com/office/drawing/2014/main" id="{14FEDD73-913A-A14E-9158-0586EE3B58B5}"/>
              </a:ext>
            </a:extLst>
          </p:cNvPr>
          <p:cNvSpPr txBox="1"/>
          <p:nvPr userDrawn="1"/>
        </p:nvSpPr>
        <p:spPr>
          <a:xfrm>
            <a:off x="720000" y="6336000"/>
            <a:ext cx="5400000" cy="216000"/>
          </a:xfrm>
          <a:prstGeom prst="rect">
            <a:avLst/>
          </a:prstGeom>
          <a:noFill/>
        </p:spPr>
        <p:txBody>
          <a:bodyPr wrap="square" lIns="90000" rtlCol="0" anchor="ctr" anchorCtr="0">
            <a:noAutofit/>
          </a:bodyPr>
          <a:lstStyle/>
          <a:p>
            <a:r>
              <a:rPr lang="en-GB" sz="800" b="0" i="0" dirty="0">
                <a:solidFill>
                  <a:schemeClr val="tx1"/>
                </a:solidFill>
                <a:latin typeface="Arial" panose="020B0604020202020204" pitchFamily="34" charset="0"/>
                <a:ea typeface="MS PGothic" pitchFamily="34" charset="-128"/>
                <a:cs typeface="Arial" panose="020B0604020202020204" pitchFamily="34" charset="0"/>
              </a:rPr>
              <a:t>AIA confidential and proprietary information. Not for distribution. </a:t>
            </a:r>
            <a:endParaRPr lang="en-US" sz="800" b="0" i="0" dirty="0">
              <a:solidFill>
                <a:schemeClr val="tx1"/>
              </a:solidFill>
              <a:latin typeface="Arial" panose="020B0604020202020204" pitchFamily="34" charset="0"/>
              <a:cs typeface="Arial" panose="020B0604020202020204" pitchFamily="34" charset="0"/>
            </a:endParaRPr>
          </a:p>
        </p:txBody>
      </p:sp>
      <p:sp>
        <p:nvSpPr>
          <p:cNvPr id="49" name="Rectangle 9">
            <a:extLst>
              <a:ext uri="{FF2B5EF4-FFF2-40B4-BE49-F238E27FC236}">
                <a16:creationId xmlns:a16="http://schemas.microsoft.com/office/drawing/2014/main" id="{E0203ACC-1921-3649-A2D8-9E4ECC5D23B4}"/>
              </a:ext>
            </a:extLst>
          </p:cNvPr>
          <p:cNvSpPr>
            <a:spLocks noChangeArrowheads="1"/>
          </p:cNvSpPr>
          <p:nvPr userDrawn="1"/>
        </p:nvSpPr>
        <p:spPr bwMode="auto">
          <a:xfrm>
            <a:off x="-2626840" y="1353662"/>
            <a:ext cx="1844675" cy="801569"/>
          </a:xfrm>
          <a:prstGeom prst="rect">
            <a:avLst/>
          </a:prstGeom>
          <a:solidFill>
            <a:srgbClr val="333D47"/>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CHARCOAL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R51 G61 B71</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50" name="Rectangle 7">
            <a:extLst>
              <a:ext uri="{FF2B5EF4-FFF2-40B4-BE49-F238E27FC236}">
                <a16:creationId xmlns:a16="http://schemas.microsoft.com/office/drawing/2014/main" id="{3EE7A4A7-B933-B24E-AC2D-C118217EFEB4}"/>
              </a:ext>
            </a:extLst>
          </p:cNvPr>
          <p:cNvSpPr>
            <a:spLocks noChangeArrowheads="1"/>
          </p:cNvSpPr>
          <p:nvPr userDrawn="1"/>
        </p:nvSpPr>
        <p:spPr bwMode="auto">
          <a:xfrm>
            <a:off x="-2614697" y="407231"/>
            <a:ext cx="1821348" cy="806397"/>
          </a:xfrm>
          <a:prstGeom prst="rect">
            <a:avLst/>
          </a:prstGeom>
          <a:solidFill>
            <a:srgbClr val="D3114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RED</a:t>
            </a:r>
          </a:p>
          <a:p>
            <a:pPr>
              <a:spcBef>
                <a:spcPct val="0"/>
              </a:spcBef>
              <a:buFontTx/>
              <a:buNone/>
            </a:pPr>
            <a:r>
              <a:rPr lang="en-US" sz="1400" spc="-100" baseline="0" dirty="0">
                <a:solidFill>
                  <a:srgbClr val="FFFFFF"/>
                </a:solidFill>
                <a:latin typeface="Arial" panose="020B0604020202020204" pitchFamily="34" charset="0"/>
                <a:cs typeface="Arial" panose="020B0604020202020204" pitchFamily="34" charset="0"/>
              </a:rPr>
              <a:t>R211 G17 B69</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58" name="TextBox 57">
            <a:extLst>
              <a:ext uri="{FF2B5EF4-FFF2-40B4-BE49-F238E27FC236}">
                <a16:creationId xmlns:a16="http://schemas.microsoft.com/office/drawing/2014/main" id="{B57F8F61-AACF-4D43-A48E-73FD89E9FAC0}"/>
              </a:ext>
            </a:extLst>
          </p:cNvPr>
          <p:cNvSpPr txBox="1"/>
          <p:nvPr userDrawn="1"/>
        </p:nvSpPr>
        <p:spPr>
          <a:xfrm>
            <a:off x="-2942426" y="376236"/>
            <a:ext cx="259484" cy="1937287"/>
          </a:xfrm>
          <a:prstGeom prst="rect">
            <a:avLst/>
          </a:prstGeom>
          <a:noFill/>
        </p:spPr>
        <p:txBody>
          <a:bodyPr vert="vert270" wrap="square" lIns="0" tIns="0" rIns="0" bIns="0" rtlCol="0">
            <a:noAutofit/>
          </a:bodyPr>
          <a:lstStyle/>
          <a:p>
            <a:pPr algn="r">
              <a:lnSpc>
                <a:spcPct val="80000"/>
              </a:lnSpc>
            </a:pPr>
            <a:r>
              <a:rPr lang="en-US" b="1" i="0" dirty="0">
                <a:solidFill>
                  <a:srgbClr val="585858"/>
                </a:solidFill>
                <a:latin typeface="Arial" panose="020B0604020202020204" pitchFamily="34" charset="0"/>
                <a:cs typeface="Arial" panose="020B0604020202020204" pitchFamily="34" charset="0"/>
              </a:rPr>
              <a:t>CORE COLOURS</a:t>
            </a:r>
          </a:p>
        </p:txBody>
      </p:sp>
      <p:sp>
        <p:nvSpPr>
          <p:cNvPr id="67" name="Rectangle 9">
            <a:extLst>
              <a:ext uri="{FF2B5EF4-FFF2-40B4-BE49-F238E27FC236}">
                <a16:creationId xmlns:a16="http://schemas.microsoft.com/office/drawing/2014/main" id="{6E16C6D7-5D67-3F48-9BAD-5211CB2770DE}"/>
              </a:ext>
            </a:extLst>
          </p:cNvPr>
          <p:cNvSpPr>
            <a:spLocks noChangeArrowheads="1"/>
          </p:cNvSpPr>
          <p:nvPr userDrawn="1"/>
        </p:nvSpPr>
        <p:spPr bwMode="auto">
          <a:xfrm>
            <a:off x="-4617303" y="5798524"/>
            <a:ext cx="1487670" cy="646439"/>
          </a:xfrm>
          <a:prstGeom prst="rect">
            <a:avLst/>
          </a:prstGeom>
          <a:solidFill>
            <a:schemeClr val="bg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WARM GREY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R211 G202 B195</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68" name="Rectangle 9">
            <a:extLst>
              <a:ext uri="{FF2B5EF4-FFF2-40B4-BE49-F238E27FC236}">
                <a16:creationId xmlns:a16="http://schemas.microsoft.com/office/drawing/2014/main" id="{30414EC1-704C-FF47-9611-AD4C8B879B94}"/>
              </a:ext>
            </a:extLst>
          </p:cNvPr>
          <p:cNvSpPr>
            <a:spLocks noChangeArrowheads="1"/>
          </p:cNvSpPr>
          <p:nvPr userDrawn="1"/>
        </p:nvSpPr>
        <p:spPr bwMode="auto">
          <a:xfrm>
            <a:off x="-4611596" y="1877530"/>
            <a:ext cx="1487670" cy="646439"/>
          </a:xfrm>
          <a:prstGeom prst="rect">
            <a:avLst/>
          </a:prstGeom>
          <a:solidFill>
            <a:schemeClr val="accent3"/>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ORANGE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R255 G117 B77</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69" name="TextBox 68">
            <a:extLst>
              <a:ext uri="{FF2B5EF4-FFF2-40B4-BE49-F238E27FC236}">
                <a16:creationId xmlns:a16="http://schemas.microsoft.com/office/drawing/2014/main" id="{46EDC2E1-B0F0-2B4D-8CFB-F684F18144D9}"/>
              </a:ext>
            </a:extLst>
          </p:cNvPr>
          <p:cNvSpPr txBox="1"/>
          <p:nvPr userDrawn="1"/>
        </p:nvSpPr>
        <p:spPr>
          <a:xfrm>
            <a:off x="-4910208" y="379515"/>
            <a:ext cx="314328" cy="3271299"/>
          </a:xfrm>
          <a:prstGeom prst="rect">
            <a:avLst/>
          </a:prstGeom>
          <a:noFill/>
        </p:spPr>
        <p:txBody>
          <a:bodyPr vert="vert270" wrap="square" lIns="0" tIns="0" rIns="0" bIns="0" rtlCol="0">
            <a:noAutofit/>
          </a:bodyPr>
          <a:lstStyle/>
          <a:p>
            <a:pPr algn="r">
              <a:lnSpc>
                <a:spcPct val="80000"/>
              </a:lnSpc>
            </a:pPr>
            <a:r>
              <a:rPr lang="en-US" b="1" i="0" dirty="0">
                <a:solidFill>
                  <a:srgbClr val="585858"/>
                </a:solidFill>
                <a:latin typeface="Arial" panose="020B0604020202020204" pitchFamily="34" charset="0"/>
                <a:cs typeface="Arial" panose="020B0604020202020204" pitchFamily="34" charset="0"/>
              </a:rPr>
              <a:t>SUPPORTING COLOURS</a:t>
            </a:r>
          </a:p>
        </p:txBody>
      </p:sp>
      <p:sp>
        <p:nvSpPr>
          <p:cNvPr id="70" name="Rectangle 9">
            <a:extLst>
              <a:ext uri="{FF2B5EF4-FFF2-40B4-BE49-F238E27FC236}">
                <a16:creationId xmlns:a16="http://schemas.microsoft.com/office/drawing/2014/main" id="{32D26DB1-D22B-0146-BEE0-26A6F1234774}"/>
              </a:ext>
            </a:extLst>
          </p:cNvPr>
          <p:cNvSpPr>
            <a:spLocks noChangeArrowheads="1"/>
          </p:cNvSpPr>
          <p:nvPr userDrawn="1"/>
        </p:nvSpPr>
        <p:spPr bwMode="auto">
          <a:xfrm>
            <a:off x="-4611596" y="2663784"/>
            <a:ext cx="1487670" cy="646439"/>
          </a:xfrm>
          <a:prstGeom prst="rect">
            <a:avLst/>
          </a:prstGeom>
          <a:solidFill>
            <a:schemeClr val="accent4"/>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YELLOW</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R247 G201 B38</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1" name="Rectangle 9">
            <a:extLst>
              <a:ext uri="{FF2B5EF4-FFF2-40B4-BE49-F238E27FC236}">
                <a16:creationId xmlns:a16="http://schemas.microsoft.com/office/drawing/2014/main" id="{38917B89-6ECF-F74A-9BA2-E9FCB7C72DD1}"/>
              </a:ext>
            </a:extLst>
          </p:cNvPr>
          <p:cNvSpPr>
            <a:spLocks noChangeArrowheads="1"/>
          </p:cNvSpPr>
          <p:nvPr userDrawn="1"/>
        </p:nvSpPr>
        <p:spPr bwMode="auto">
          <a:xfrm>
            <a:off x="-4611596" y="4266004"/>
            <a:ext cx="1487670" cy="646439"/>
          </a:xfrm>
          <a:prstGeom prst="rect">
            <a:avLst/>
          </a:prstGeom>
          <a:solidFill>
            <a:schemeClr val="accent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LAVENDER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R161 G153 B186</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2" name="Rectangle 9">
            <a:extLst>
              <a:ext uri="{FF2B5EF4-FFF2-40B4-BE49-F238E27FC236}">
                <a16:creationId xmlns:a16="http://schemas.microsoft.com/office/drawing/2014/main" id="{A835CB3C-C322-B743-8984-3B3E27A039B3}"/>
              </a:ext>
            </a:extLst>
          </p:cNvPr>
          <p:cNvSpPr>
            <a:spLocks noChangeArrowheads="1"/>
          </p:cNvSpPr>
          <p:nvPr userDrawn="1"/>
        </p:nvSpPr>
        <p:spPr bwMode="auto">
          <a:xfrm>
            <a:off x="-4611596" y="5052258"/>
            <a:ext cx="1487670" cy="646439"/>
          </a:xfrm>
          <a:prstGeom prst="rect">
            <a:avLst/>
          </a:prstGeom>
          <a:solidFill>
            <a:schemeClr val="tx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BLUE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R31 G120 B173</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3" name="Rectangle 9">
            <a:extLst>
              <a:ext uri="{FF2B5EF4-FFF2-40B4-BE49-F238E27FC236}">
                <a16:creationId xmlns:a16="http://schemas.microsoft.com/office/drawing/2014/main" id="{0EB3A011-77AD-EE4C-BB9E-688A1F0E49B1}"/>
              </a:ext>
            </a:extLst>
          </p:cNvPr>
          <p:cNvSpPr>
            <a:spLocks noChangeArrowheads="1"/>
          </p:cNvSpPr>
          <p:nvPr userDrawn="1"/>
        </p:nvSpPr>
        <p:spPr bwMode="auto">
          <a:xfrm>
            <a:off x="-4611596" y="1125046"/>
            <a:ext cx="1487670" cy="646439"/>
          </a:xfrm>
          <a:prstGeom prst="rect">
            <a:avLst/>
          </a:prstGeom>
          <a:solidFill>
            <a:schemeClr val="accent2"/>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CERISE</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R186 G3 B97</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4" name="Rectangle 9">
            <a:extLst>
              <a:ext uri="{FF2B5EF4-FFF2-40B4-BE49-F238E27FC236}">
                <a16:creationId xmlns:a16="http://schemas.microsoft.com/office/drawing/2014/main" id="{402466E5-EFAB-0E4A-B977-56C6D30093B0}"/>
              </a:ext>
            </a:extLst>
          </p:cNvPr>
          <p:cNvSpPr>
            <a:spLocks noChangeArrowheads="1"/>
          </p:cNvSpPr>
          <p:nvPr userDrawn="1"/>
        </p:nvSpPr>
        <p:spPr bwMode="auto">
          <a:xfrm>
            <a:off x="-4611596" y="3449154"/>
            <a:ext cx="1487670" cy="646439"/>
          </a:xfrm>
          <a:prstGeom prst="rect">
            <a:avLst/>
          </a:prstGeom>
          <a:solidFill>
            <a:schemeClr val="accent6"/>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PURPLE </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R76 G71 B148</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sp>
        <p:nvSpPr>
          <p:cNvPr id="75" name="Rectangle 9">
            <a:extLst>
              <a:ext uri="{FF2B5EF4-FFF2-40B4-BE49-F238E27FC236}">
                <a16:creationId xmlns:a16="http://schemas.microsoft.com/office/drawing/2014/main" id="{F469A4F2-3792-2E49-8B38-6AFC63812708}"/>
              </a:ext>
            </a:extLst>
          </p:cNvPr>
          <p:cNvSpPr>
            <a:spLocks noChangeArrowheads="1"/>
          </p:cNvSpPr>
          <p:nvPr userDrawn="1"/>
        </p:nvSpPr>
        <p:spPr bwMode="auto">
          <a:xfrm>
            <a:off x="-4611596" y="373206"/>
            <a:ext cx="1487670" cy="646439"/>
          </a:xfrm>
          <a:prstGeom prst="rect">
            <a:avLst/>
          </a:prstGeom>
          <a:solidFill>
            <a:srgbClr val="FF7A85"/>
          </a:solidFill>
          <a:ln w="9525">
            <a:noFill/>
            <a:miter lim="800000"/>
            <a:headEnd/>
            <a:tailEnd/>
          </a:ln>
          <a:effectLst/>
        </p:spPr>
        <p:txBody>
          <a:bodyPr wrap="none" anchor="ctr"/>
          <a:lstStyle/>
          <a:p>
            <a:pPr>
              <a:spcBef>
                <a:spcPct val="0"/>
              </a:spcBef>
              <a:buFontTx/>
              <a:buNone/>
            </a:pPr>
            <a:r>
              <a:rPr lang="en-US" sz="1400" b="1" spc="-100" baseline="0" dirty="0">
                <a:solidFill>
                  <a:srgbClr val="FFFFFF"/>
                </a:solidFill>
                <a:latin typeface="Arial" panose="020B0604020202020204" pitchFamily="34" charset="0"/>
                <a:cs typeface="Arial" panose="020B0604020202020204" pitchFamily="34" charset="0"/>
              </a:rPr>
              <a:t>AIA SALMON</a:t>
            </a:r>
            <a:br>
              <a:rPr lang="en-US" sz="1400" b="1" spc="-100" baseline="0" dirty="0">
                <a:solidFill>
                  <a:srgbClr val="FFFFFF"/>
                </a:solidFill>
                <a:latin typeface="Arial" panose="020B0604020202020204" pitchFamily="34" charset="0"/>
                <a:cs typeface="Arial" panose="020B0604020202020204" pitchFamily="34" charset="0"/>
              </a:rPr>
            </a:br>
            <a:r>
              <a:rPr lang="en-US" sz="1400" spc="-100" baseline="0" dirty="0">
                <a:solidFill>
                  <a:srgbClr val="FFFFFF"/>
                </a:solidFill>
                <a:latin typeface="Arial" panose="020B0604020202020204" pitchFamily="34" charset="0"/>
                <a:cs typeface="Arial" panose="020B0604020202020204" pitchFamily="34" charset="0"/>
              </a:rPr>
              <a:t>R255 G122 B133</a:t>
            </a:r>
          </a:p>
          <a:p>
            <a:pPr>
              <a:spcBef>
                <a:spcPct val="0"/>
              </a:spcBef>
              <a:buFontTx/>
              <a:buNone/>
            </a:pPr>
            <a:endParaRPr lang="en-US" sz="1400" spc="-100" baseline="0" dirty="0">
              <a:solidFill>
                <a:srgbClr val="FFFFFF"/>
              </a:solidFill>
              <a:latin typeface="Arial" panose="020B0604020202020204" pitchFamily="34" charset="0"/>
              <a:cs typeface="Arial" panose="020B0604020202020204" pitchFamily="34" charset="0"/>
            </a:endParaRPr>
          </a:p>
        </p:txBody>
      </p:sp>
      <p:grpSp>
        <p:nvGrpSpPr>
          <p:cNvPr id="76" name="Group 75">
            <a:extLst>
              <a:ext uri="{FF2B5EF4-FFF2-40B4-BE49-F238E27FC236}">
                <a16:creationId xmlns:a16="http://schemas.microsoft.com/office/drawing/2014/main" id="{A0DFD5F1-7ED6-7A4F-A85D-AC9239B9A9E4}"/>
              </a:ext>
            </a:extLst>
          </p:cNvPr>
          <p:cNvGrpSpPr/>
          <p:nvPr userDrawn="1"/>
        </p:nvGrpSpPr>
        <p:grpSpPr>
          <a:xfrm>
            <a:off x="-4617304" y="796253"/>
            <a:ext cx="1494303" cy="224029"/>
            <a:chOff x="5716131" y="796253"/>
            <a:chExt cx="995522" cy="224029"/>
          </a:xfrm>
        </p:grpSpPr>
        <p:sp>
          <p:nvSpPr>
            <p:cNvPr id="77" name="Rectangle 19">
              <a:extLst>
                <a:ext uri="{FF2B5EF4-FFF2-40B4-BE49-F238E27FC236}">
                  <a16:creationId xmlns:a16="http://schemas.microsoft.com/office/drawing/2014/main" id="{69707F44-6BC5-024E-87D0-3237CAF96668}"/>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78" name="Rectangle 20">
              <a:extLst>
                <a:ext uri="{FF2B5EF4-FFF2-40B4-BE49-F238E27FC236}">
                  <a16:creationId xmlns:a16="http://schemas.microsoft.com/office/drawing/2014/main" id="{D0D916EB-9F54-2F4B-BDD0-F877343549EC}"/>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79" name="Group 78">
            <a:extLst>
              <a:ext uri="{FF2B5EF4-FFF2-40B4-BE49-F238E27FC236}">
                <a16:creationId xmlns:a16="http://schemas.microsoft.com/office/drawing/2014/main" id="{7E6BDFF9-62CE-8349-B945-5E4093758751}"/>
              </a:ext>
            </a:extLst>
          </p:cNvPr>
          <p:cNvGrpSpPr/>
          <p:nvPr userDrawn="1"/>
        </p:nvGrpSpPr>
        <p:grpSpPr>
          <a:xfrm>
            <a:off x="-2626840" y="1878230"/>
            <a:ext cx="1844675" cy="277791"/>
            <a:chOff x="2606261" y="3143449"/>
            <a:chExt cx="2458017" cy="277791"/>
          </a:xfrm>
        </p:grpSpPr>
        <p:sp>
          <p:nvSpPr>
            <p:cNvPr id="80" name="Rectangle 19">
              <a:extLst>
                <a:ext uri="{FF2B5EF4-FFF2-40B4-BE49-F238E27FC236}">
                  <a16:creationId xmlns:a16="http://schemas.microsoft.com/office/drawing/2014/main" id="{914B8044-F95A-A74A-BC30-F3A5C9B45BC2}"/>
                </a:ext>
              </a:extLst>
            </p:cNvPr>
            <p:cNvSpPr>
              <a:spLocks noChangeArrowheads="1"/>
            </p:cNvSpPr>
            <p:nvPr/>
          </p:nvSpPr>
          <p:spPr bwMode="auto">
            <a:xfrm>
              <a:off x="3211379" y="3143449"/>
              <a:ext cx="615945" cy="277791"/>
            </a:xfrm>
            <a:prstGeom prst="rect">
              <a:avLst/>
            </a:prstGeom>
            <a:solidFill>
              <a:schemeClr val="bg1">
                <a:alpha val="4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4</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1" name="Rectangle 20">
              <a:extLst>
                <a:ext uri="{FF2B5EF4-FFF2-40B4-BE49-F238E27FC236}">
                  <a16:creationId xmlns:a16="http://schemas.microsoft.com/office/drawing/2014/main" id="{DCFFAD6D-DAE4-824F-BF41-EE5D85829979}"/>
                </a:ext>
              </a:extLst>
            </p:cNvPr>
            <p:cNvSpPr>
              <a:spLocks noChangeArrowheads="1"/>
            </p:cNvSpPr>
            <p:nvPr/>
          </p:nvSpPr>
          <p:spPr bwMode="auto">
            <a:xfrm>
              <a:off x="3829856" y="3143449"/>
              <a:ext cx="615945" cy="277791"/>
            </a:xfrm>
            <a:prstGeom prst="rect">
              <a:avLst/>
            </a:prstGeom>
            <a:solidFill>
              <a:schemeClr val="bg1">
                <a:alpha val="6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6</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2" name="Rectangle 22">
              <a:extLst>
                <a:ext uri="{FF2B5EF4-FFF2-40B4-BE49-F238E27FC236}">
                  <a16:creationId xmlns:a16="http://schemas.microsoft.com/office/drawing/2014/main" id="{B42DD97E-811A-2B47-918D-7C0F001104F8}"/>
                </a:ext>
              </a:extLst>
            </p:cNvPr>
            <p:cNvSpPr>
              <a:spLocks noChangeArrowheads="1"/>
            </p:cNvSpPr>
            <p:nvPr/>
          </p:nvSpPr>
          <p:spPr bwMode="auto">
            <a:xfrm>
              <a:off x="4448333" y="3143449"/>
              <a:ext cx="615945" cy="277791"/>
            </a:xfrm>
            <a:prstGeom prst="rect">
              <a:avLst/>
            </a:prstGeom>
            <a:solidFill>
              <a:schemeClr val="bg1">
                <a:alpha val="8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80%</a:t>
              </a:r>
            </a:p>
          </p:txBody>
        </p:sp>
        <p:sp>
          <p:nvSpPr>
            <p:cNvPr id="83" name="Rectangle 19">
              <a:extLst>
                <a:ext uri="{FF2B5EF4-FFF2-40B4-BE49-F238E27FC236}">
                  <a16:creationId xmlns:a16="http://schemas.microsoft.com/office/drawing/2014/main" id="{3D37BE17-9C0A-E749-A606-9BC8E7CE3C80}"/>
                </a:ext>
              </a:extLst>
            </p:cNvPr>
            <p:cNvSpPr>
              <a:spLocks noChangeArrowheads="1"/>
            </p:cNvSpPr>
            <p:nvPr/>
          </p:nvSpPr>
          <p:spPr bwMode="auto">
            <a:xfrm>
              <a:off x="2606261" y="3143449"/>
              <a:ext cx="615945" cy="277791"/>
            </a:xfrm>
            <a:prstGeom prst="rect">
              <a:avLst/>
            </a:prstGeom>
            <a:solidFill>
              <a:schemeClr val="bg1">
                <a:alpha val="2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20%</a:t>
              </a:r>
            </a:p>
          </p:txBody>
        </p:sp>
      </p:grpSp>
      <p:grpSp>
        <p:nvGrpSpPr>
          <p:cNvPr id="84" name="Group 83">
            <a:extLst>
              <a:ext uri="{FF2B5EF4-FFF2-40B4-BE49-F238E27FC236}">
                <a16:creationId xmlns:a16="http://schemas.microsoft.com/office/drawing/2014/main" id="{029FDAA7-EDA4-E344-BCAC-7F6CCDECD451}"/>
              </a:ext>
            </a:extLst>
          </p:cNvPr>
          <p:cNvGrpSpPr/>
          <p:nvPr userDrawn="1"/>
        </p:nvGrpSpPr>
        <p:grpSpPr>
          <a:xfrm>
            <a:off x="-2626840" y="957107"/>
            <a:ext cx="1844675" cy="277791"/>
            <a:chOff x="2606261" y="3143449"/>
            <a:chExt cx="2458017" cy="277791"/>
          </a:xfrm>
        </p:grpSpPr>
        <p:sp>
          <p:nvSpPr>
            <p:cNvPr id="85" name="Rectangle 19">
              <a:extLst>
                <a:ext uri="{FF2B5EF4-FFF2-40B4-BE49-F238E27FC236}">
                  <a16:creationId xmlns:a16="http://schemas.microsoft.com/office/drawing/2014/main" id="{322E5F21-86AC-9847-9EAE-BB1715E938D4}"/>
                </a:ext>
              </a:extLst>
            </p:cNvPr>
            <p:cNvSpPr>
              <a:spLocks noChangeArrowheads="1"/>
            </p:cNvSpPr>
            <p:nvPr/>
          </p:nvSpPr>
          <p:spPr bwMode="auto">
            <a:xfrm>
              <a:off x="3211379" y="3143449"/>
              <a:ext cx="615945" cy="277791"/>
            </a:xfrm>
            <a:prstGeom prst="rect">
              <a:avLst/>
            </a:prstGeom>
            <a:solidFill>
              <a:schemeClr val="bg1">
                <a:alpha val="4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4</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6" name="Rectangle 20">
              <a:extLst>
                <a:ext uri="{FF2B5EF4-FFF2-40B4-BE49-F238E27FC236}">
                  <a16:creationId xmlns:a16="http://schemas.microsoft.com/office/drawing/2014/main" id="{6F019A4D-1606-E749-A834-546B40C5FC10}"/>
                </a:ext>
              </a:extLst>
            </p:cNvPr>
            <p:cNvSpPr>
              <a:spLocks noChangeArrowheads="1"/>
            </p:cNvSpPr>
            <p:nvPr/>
          </p:nvSpPr>
          <p:spPr bwMode="auto">
            <a:xfrm>
              <a:off x="3829856" y="3143449"/>
              <a:ext cx="615945" cy="277791"/>
            </a:xfrm>
            <a:prstGeom prst="rect">
              <a:avLst/>
            </a:prstGeom>
            <a:solidFill>
              <a:schemeClr val="bg1">
                <a:alpha val="60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6</a:t>
              </a:r>
              <a:r>
                <a:rPr lang="en-US" sz="1200" b="1" spc="-100" baseline="0" dirty="0">
                  <a:solidFill>
                    <a:schemeClr val="bg1"/>
                  </a:solidFill>
                  <a:latin typeface="Arial" panose="020B0604020202020204" pitchFamily="34" charset="0"/>
                  <a:cs typeface="Arial" panose="020B0604020202020204" pitchFamily="34" charset="0"/>
                </a:rPr>
                <a:t>0%</a:t>
              </a:r>
            </a:p>
          </p:txBody>
        </p:sp>
        <p:sp>
          <p:nvSpPr>
            <p:cNvPr id="87" name="Rectangle 22">
              <a:extLst>
                <a:ext uri="{FF2B5EF4-FFF2-40B4-BE49-F238E27FC236}">
                  <a16:creationId xmlns:a16="http://schemas.microsoft.com/office/drawing/2014/main" id="{7308B2FC-69DD-954E-8980-2EC3AA1D7544}"/>
                </a:ext>
              </a:extLst>
            </p:cNvPr>
            <p:cNvSpPr>
              <a:spLocks noChangeArrowheads="1"/>
            </p:cNvSpPr>
            <p:nvPr/>
          </p:nvSpPr>
          <p:spPr bwMode="auto">
            <a:xfrm>
              <a:off x="4448333" y="3143449"/>
              <a:ext cx="615945" cy="277791"/>
            </a:xfrm>
            <a:prstGeom prst="rect">
              <a:avLst/>
            </a:prstGeom>
            <a:solidFill>
              <a:schemeClr val="bg1">
                <a:alpha val="8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80%</a:t>
              </a:r>
            </a:p>
          </p:txBody>
        </p:sp>
        <p:sp>
          <p:nvSpPr>
            <p:cNvPr id="88" name="Rectangle 19">
              <a:extLst>
                <a:ext uri="{FF2B5EF4-FFF2-40B4-BE49-F238E27FC236}">
                  <a16:creationId xmlns:a16="http://schemas.microsoft.com/office/drawing/2014/main" id="{74AC479E-3F57-E644-A3C7-97D4AB45ADFF}"/>
                </a:ext>
              </a:extLst>
            </p:cNvPr>
            <p:cNvSpPr>
              <a:spLocks noChangeArrowheads="1"/>
            </p:cNvSpPr>
            <p:nvPr/>
          </p:nvSpPr>
          <p:spPr bwMode="auto">
            <a:xfrm>
              <a:off x="2606261" y="3143449"/>
              <a:ext cx="615945" cy="277791"/>
            </a:xfrm>
            <a:prstGeom prst="rect">
              <a:avLst/>
            </a:prstGeom>
            <a:solidFill>
              <a:schemeClr val="bg1">
                <a:alpha val="20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20%</a:t>
              </a:r>
            </a:p>
          </p:txBody>
        </p:sp>
      </p:grpSp>
      <p:grpSp>
        <p:nvGrpSpPr>
          <p:cNvPr id="89" name="Group 88">
            <a:extLst>
              <a:ext uri="{FF2B5EF4-FFF2-40B4-BE49-F238E27FC236}">
                <a16:creationId xmlns:a16="http://schemas.microsoft.com/office/drawing/2014/main" id="{EE533266-6387-9B46-8624-65A0D9D79FF0}"/>
              </a:ext>
            </a:extLst>
          </p:cNvPr>
          <p:cNvGrpSpPr/>
          <p:nvPr userDrawn="1"/>
        </p:nvGrpSpPr>
        <p:grpSpPr>
          <a:xfrm>
            <a:off x="-4617304" y="1549288"/>
            <a:ext cx="1494303" cy="224029"/>
            <a:chOff x="5716131" y="796253"/>
            <a:chExt cx="995522" cy="224029"/>
          </a:xfrm>
        </p:grpSpPr>
        <p:sp>
          <p:nvSpPr>
            <p:cNvPr id="90" name="Rectangle 19">
              <a:extLst>
                <a:ext uri="{FF2B5EF4-FFF2-40B4-BE49-F238E27FC236}">
                  <a16:creationId xmlns:a16="http://schemas.microsoft.com/office/drawing/2014/main" id="{BB7C84DB-7787-A44D-865E-1BD05831D911}"/>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1" name="Rectangle 20">
              <a:extLst>
                <a:ext uri="{FF2B5EF4-FFF2-40B4-BE49-F238E27FC236}">
                  <a16:creationId xmlns:a16="http://schemas.microsoft.com/office/drawing/2014/main" id="{9A96F96C-40C9-8D49-A8DD-AB3B11C9C2C0}"/>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2" name="Group 91">
            <a:extLst>
              <a:ext uri="{FF2B5EF4-FFF2-40B4-BE49-F238E27FC236}">
                <a16:creationId xmlns:a16="http://schemas.microsoft.com/office/drawing/2014/main" id="{DA26BA09-7293-5840-8B41-BA669E1DA42E}"/>
              </a:ext>
            </a:extLst>
          </p:cNvPr>
          <p:cNvGrpSpPr/>
          <p:nvPr userDrawn="1"/>
        </p:nvGrpSpPr>
        <p:grpSpPr>
          <a:xfrm>
            <a:off x="-4617304" y="2295599"/>
            <a:ext cx="1494303" cy="224029"/>
            <a:chOff x="5716131" y="796253"/>
            <a:chExt cx="995522" cy="224029"/>
          </a:xfrm>
        </p:grpSpPr>
        <p:sp>
          <p:nvSpPr>
            <p:cNvPr id="93" name="Rectangle 19">
              <a:extLst>
                <a:ext uri="{FF2B5EF4-FFF2-40B4-BE49-F238E27FC236}">
                  <a16:creationId xmlns:a16="http://schemas.microsoft.com/office/drawing/2014/main" id="{07DA5FAE-B117-1349-8D4B-5D7FCC8142A1}"/>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4" name="Rectangle 20">
              <a:extLst>
                <a:ext uri="{FF2B5EF4-FFF2-40B4-BE49-F238E27FC236}">
                  <a16:creationId xmlns:a16="http://schemas.microsoft.com/office/drawing/2014/main" id="{F8E4D5C8-28FE-3740-934F-B88CFC79C337}"/>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5" name="Group 94">
            <a:extLst>
              <a:ext uri="{FF2B5EF4-FFF2-40B4-BE49-F238E27FC236}">
                <a16:creationId xmlns:a16="http://schemas.microsoft.com/office/drawing/2014/main" id="{BE60DD88-FE73-4A4E-83B0-C27EC4180A40}"/>
              </a:ext>
            </a:extLst>
          </p:cNvPr>
          <p:cNvGrpSpPr/>
          <p:nvPr userDrawn="1"/>
        </p:nvGrpSpPr>
        <p:grpSpPr>
          <a:xfrm>
            <a:off x="-4617304" y="3088976"/>
            <a:ext cx="1494303" cy="224029"/>
            <a:chOff x="5716131" y="796253"/>
            <a:chExt cx="995522" cy="224029"/>
          </a:xfrm>
        </p:grpSpPr>
        <p:sp>
          <p:nvSpPr>
            <p:cNvPr id="96" name="Rectangle 19">
              <a:extLst>
                <a:ext uri="{FF2B5EF4-FFF2-40B4-BE49-F238E27FC236}">
                  <a16:creationId xmlns:a16="http://schemas.microsoft.com/office/drawing/2014/main" id="{F65AC04E-77DF-3D4F-ABC4-331908CD1675}"/>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97" name="Rectangle 20">
              <a:extLst>
                <a:ext uri="{FF2B5EF4-FFF2-40B4-BE49-F238E27FC236}">
                  <a16:creationId xmlns:a16="http://schemas.microsoft.com/office/drawing/2014/main" id="{3A43A58E-FE1C-F241-9FCD-27CDB423B5A7}"/>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98" name="Group 97">
            <a:extLst>
              <a:ext uri="{FF2B5EF4-FFF2-40B4-BE49-F238E27FC236}">
                <a16:creationId xmlns:a16="http://schemas.microsoft.com/office/drawing/2014/main" id="{85EC0C6B-BF0B-E84D-94EC-435A104A61F7}"/>
              </a:ext>
            </a:extLst>
          </p:cNvPr>
          <p:cNvGrpSpPr/>
          <p:nvPr userDrawn="1"/>
        </p:nvGrpSpPr>
        <p:grpSpPr>
          <a:xfrm>
            <a:off x="-4617304" y="3875629"/>
            <a:ext cx="1494303" cy="224029"/>
            <a:chOff x="5716131" y="796253"/>
            <a:chExt cx="995522" cy="224029"/>
          </a:xfrm>
        </p:grpSpPr>
        <p:sp>
          <p:nvSpPr>
            <p:cNvPr id="99" name="Rectangle 19">
              <a:extLst>
                <a:ext uri="{FF2B5EF4-FFF2-40B4-BE49-F238E27FC236}">
                  <a16:creationId xmlns:a16="http://schemas.microsoft.com/office/drawing/2014/main" id="{E7176F59-7B72-9148-B6EC-3D9A485B69F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0" name="Rectangle 20">
              <a:extLst>
                <a:ext uri="{FF2B5EF4-FFF2-40B4-BE49-F238E27FC236}">
                  <a16:creationId xmlns:a16="http://schemas.microsoft.com/office/drawing/2014/main" id="{2C7F8097-BD91-F644-9F8C-937FCE32DCE9}"/>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1" name="Group 100">
            <a:extLst>
              <a:ext uri="{FF2B5EF4-FFF2-40B4-BE49-F238E27FC236}">
                <a16:creationId xmlns:a16="http://schemas.microsoft.com/office/drawing/2014/main" id="{1E38DB8D-4AE7-FB41-966F-59657509D300}"/>
              </a:ext>
            </a:extLst>
          </p:cNvPr>
          <p:cNvGrpSpPr/>
          <p:nvPr userDrawn="1"/>
        </p:nvGrpSpPr>
        <p:grpSpPr>
          <a:xfrm>
            <a:off x="-4617304" y="4695900"/>
            <a:ext cx="1494303" cy="224029"/>
            <a:chOff x="5716131" y="796253"/>
            <a:chExt cx="995522" cy="224029"/>
          </a:xfrm>
        </p:grpSpPr>
        <p:sp>
          <p:nvSpPr>
            <p:cNvPr id="102" name="Rectangle 19">
              <a:extLst>
                <a:ext uri="{FF2B5EF4-FFF2-40B4-BE49-F238E27FC236}">
                  <a16:creationId xmlns:a16="http://schemas.microsoft.com/office/drawing/2014/main" id="{8E88217E-F57C-0F4D-A0DC-EAC60891AFD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3" name="Rectangle 20">
              <a:extLst>
                <a:ext uri="{FF2B5EF4-FFF2-40B4-BE49-F238E27FC236}">
                  <a16:creationId xmlns:a16="http://schemas.microsoft.com/office/drawing/2014/main" id="{0FE0007D-5F31-E149-B0CF-AB6784C43E66}"/>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4" name="Group 103">
            <a:extLst>
              <a:ext uri="{FF2B5EF4-FFF2-40B4-BE49-F238E27FC236}">
                <a16:creationId xmlns:a16="http://schemas.microsoft.com/office/drawing/2014/main" id="{5FE9AD56-297C-DB4B-A7BE-D6B0F01510E8}"/>
              </a:ext>
            </a:extLst>
          </p:cNvPr>
          <p:cNvGrpSpPr/>
          <p:nvPr userDrawn="1"/>
        </p:nvGrpSpPr>
        <p:grpSpPr>
          <a:xfrm>
            <a:off x="-4617304" y="5482553"/>
            <a:ext cx="1494303" cy="224029"/>
            <a:chOff x="5716131" y="796253"/>
            <a:chExt cx="995522" cy="224029"/>
          </a:xfrm>
        </p:grpSpPr>
        <p:sp>
          <p:nvSpPr>
            <p:cNvPr id="105" name="Rectangle 19">
              <a:extLst>
                <a:ext uri="{FF2B5EF4-FFF2-40B4-BE49-F238E27FC236}">
                  <a16:creationId xmlns:a16="http://schemas.microsoft.com/office/drawing/2014/main" id="{BAE1D5DB-96CD-7A41-AC4C-B60EE6BB7AE4}"/>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6" name="Rectangle 20">
              <a:extLst>
                <a:ext uri="{FF2B5EF4-FFF2-40B4-BE49-F238E27FC236}">
                  <a16:creationId xmlns:a16="http://schemas.microsoft.com/office/drawing/2014/main" id="{91DC9FA1-0AEE-A849-8DCF-0F227C3A707E}"/>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grpSp>
        <p:nvGrpSpPr>
          <p:cNvPr id="107" name="Group 106">
            <a:extLst>
              <a:ext uri="{FF2B5EF4-FFF2-40B4-BE49-F238E27FC236}">
                <a16:creationId xmlns:a16="http://schemas.microsoft.com/office/drawing/2014/main" id="{D51248F3-2F75-594D-B53D-6D8AF82EB3EE}"/>
              </a:ext>
            </a:extLst>
          </p:cNvPr>
          <p:cNvGrpSpPr/>
          <p:nvPr userDrawn="1"/>
        </p:nvGrpSpPr>
        <p:grpSpPr>
          <a:xfrm>
            <a:off x="-4617304" y="6228865"/>
            <a:ext cx="1494303" cy="224029"/>
            <a:chOff x="5716131" y="796253"/>
            <a:chExt cx="995522" cy="224029"/>
          </a:xfrm>
        </p:grpSpPr>
        <p:sp>
          <p:nvSpPr>
            <p:cNvPr id="108" name="Rectangle 19">
              <a:extLst>
                <a:ext uri="{FF2B5EF4-FFF2-40B4-BE49-F238E27FC236}">
                  <a16:creationId xmlns:a16="http://schemas.microsoft.com/office/drawing/2014/main" id="{2C100E18-2C92-5642-871F-193C519D3709}"/>
                </a:ext>
              </a:extLst>
            </p:cNvPr>
            <p:cNvSpPr>
              <a:spLocks noChangeArrowheads="1"/>
            </p:cNvSpPr>
            <p:nvPr/>
          </p:nvSpPr>
          <p:spPr bwMode="auto">
            <a:xfrm>
              <a:off x="5716131" y="796253"/>
              <a:ext cx="496740" cy="224029"/>
            </a:xfrm>
            <a:prstGeom prst="rect">
              <a:avLst/>
            </a:prstGeom>
            <a:solidFill>
              <a:schemeClr val="bg1">
                <a:alpha val="25000"/>
              </a:schemeClr>
            </a:solidFill>
            <a:ln w="9525">
              <a:noFill/>
              <a:miter lim="800000"/>
              <a:headEnd/>
              <a:tailEnd/>
            </a:ln>
            <a:effectLst/>
          </p:spPr>
          <p:txBody>
            <a:bodyPr wrap="none" anchor="ctr"/>
            <a:lstStyle/>
            <a:p>
              <a:pPr algn="ctr">
                <a:spcBef>
                  <a:spcPct val="0"/>
                </a:spcBef>
                <a:buFontTx/>
                <a:buNone/>
              </a:pPr>
              <a:r>
                <a:rPr lang="en-US" sz="1200" b="1" spc="-100" baseline="0" dirty="0">
                  <a:solidFill>
                    <a:schemeClr val="bg1"/>
                  </a:solidFill>
                  <a:latin typeface="Arial" panose="020B0604020202020204" pitchFamily="34" charset="0"/>
                  <a:cs typeface="Arial" panose="020B0604020202020204" pitchFamily="34" charset="0"/>
                </a:rPr>
                <a:t>25%</a:t>
              </a:r>
            </a:p>
          </p:txBody>
        </p:sp>
        <p:sp>
          <p:nvSpPr>
            <p:cNvPr id="109" name="Rectangle 20">
              <a:extLst>
                <a:ext uri="{FF2B5EF4-FFF2-40B4-BE49-F238E27FC236}">
                  <a16:creationId xmlns:a16="http://schemas.microsoft.com/office/drawing/2014/main" id="{C725273B-18AD-5547-A9A0-E5E2D55F1583}"/>
                </a:ext>
              </a:extLst>
            </p:cNvPr>
            <p:cNvSpPr>
              <a:spLocks noChangeArrowheads="1"/>
            </p:cNvSpPr>
            <p:nvPr/>
          </p:nvSpPr>
          <p:spPr bwMode="auto">
            <a:xfrm>
              <a:off x="6214913" y="796253"/>
              <a:ext cx="496740" cy="224029"/>
            </a:xfrm>
            <a:prstGeom prst="rect">
              <a:avLst/>
            </a:prstGeom>
            <a:solidFill>
              <a:schemeClr val="bg1">
                <a:alpha val="75000"/>
              </a:schemeClr>
            </a:solidFill>
            <a:ln w="9525">
              <a:noFill/>
              <a:miter lim="800000"/>
              <a:headEnd/>
              <a:tailEnd/>
            </a:ln>
            <a:effectLst/>
          </p:spPr>
          <p:txBody>
            <a:bodyPr wrap="none" anchor="ctr"/>
            <a:lstStyle/>
            <a:p>
              <a:pPr algn="ctr">
                <a:spcBef>
                  <a:spcPct val="0"/>
                </a:spcBef>
                <a:buFontTx/>
                <a:buNone/>
              </a:pPr>
              <a:r>
                <a:rPr lang="en-US" sz="1200" b="1" spc="-100" dirty="0">
                  <a:solidFill>
                    <a:schemeClr val="bg1"/>
                  </a:solidFill>
                  <a:latin typeface="Arial" panose="020B0604020202020204" pitchFamily="34" charset="0"/>
                  <a:cs typeface="Arial" panose="020B0604020202020204" pitchFamily="34" charset="0"/>
                </a:rPr>
                <a:t>75</a:t>
              </a:r>
              <a:r>
                <a:rPr lang="en-US" sz="1200" b="1" spc="-100" baseline="0" dirty="0">
                  <a:solidFill>
                    <a:schemeClr val="bg1"/>
                  </a:solidFill>
                  <a:latin typeface="Arial" panose="020B0604020202020204" pitchFamily="34" charset="0"/>
                  <a:cs typeface="Arial" panose="020B0604020202020204" pitchFamily="34" charset="0"/>
                </a:rPr>
                <a:t>%</a:t>
              </a:r>
            </a:p>
          </p:txBody>
        </p:sp>
      </p:grpSp>
      <p:pic>
        <p:nvPicPr>
          <p:cNvPr id="3" name="Graphic 2">
            <a:extLst>
              <a:ext uri="{FF2B5EF4-FFF2-40B4-BE49-F238E27FC236}">
                <a16:creationId xmlns:a16="http://schemas.microsoft.com/office/drawing/2014/main" id="{1CF833E4-0060-484E-9965-5F640274ADE4}"/>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164590" y="5400000"/>
            <a:ext cx="1828800" cy="660400"/>
          </a:xfrm>
          <a:prstGeom prst="rect">
            <a:avLst/>
          </a:prstGeom>
        </p:spPr>
      </p:pic>
      <p:pic>
        <p:nvPicPr>
          <p:cNvPr id="6" name="Graphic 5">
            <a:extLst>
              <a:ext uri="{FF2B5EF4-FFF2-40B4-BE49-F238E27FC236}">
                <a16:creationId xmlns:a16="http://schemas.microsoft.com/office/drawing/2014/main" id="{5EABF413-2674-1F41-94B7-816E8AFB8043}"/>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2164590" y="4661279"/>
            <a:ext cx="1828800" cy="660400"/>
          </a:xfrm>
          <a:prstGeom prst="rect">
            <a:avLst/>
          </a:prstGeom>
        </p:spPr>
      </p:pic>
      <p:pic>
        <p:nvPicPr>
          <p:cNvPr id="13" name="Graphic 12">
            <a:extLst>
              <a:ext uri="{FF2B5EF4-FFF2-40B4-BE49-F238E27FC236}">
                <a16:creationId xmlns:a16="http://schemas.microsoft.com/office/drawing/2014/main" id="{82AB809A-5890-BF46-A223-5F7B2A123F1A}"/>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2164590" y="3600000"/>
            <a:ext cx="635000" cy="660400"/>
          </a:xfrm>
          <a:prstGeom prst="rect">
            <a:avLst/>
          </a:prstGeom>
        </p:spPr>
      </p:pic>
      <p:pic>
        <p:nvPicPr>
          <p:cNvPr id="17" name="Graphic 16">
            <a:extLst>
              <a:ext uri="{FF2B5EF4-FFF2-40B4-BE49-F238E27FC236}">
                <a16:creationId xmlns:a16="http://schemas.microsoft.com/office/drawing/2014/main" id="{42CF3A70-9F27-F645-9FE9-CD81E473DE48}"/>
              </a:ext>
            </a:extLst>
          </p:cNvPr>
          <p:cNvPicPr>
            <a:picLocks noChangeAspect="1"/>
          </p:cNvPicPr>
          <p:nvPr userDrawn="1"/>
        </p:nvPicPr>
        <p:blipFill>
          <a:blip>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2874969" y="3600000"/>
            <a:ext cx="635000" cy="660400"/>
          </a:xfrm>
          <a:prstGeom prst="rect">
            <a:avLst/>
          </a:prstGeom>
        </p:spPr>
      </p:pic>
      <p:sp>
        <p:nvSpPr>
          <p:cNvPr id="2" name="TextBox 1">
            <a:extLst>
              <a:ext uri="{FF2B5EF4-FFF2-40B4-BE49-F238E27FC236}">
                <a16:creationId xmlns:a16="http://schemas.microsoft.com/office/drawing/2014/main" id="{6D88D0BE-2EA1-94D6-EEC3-387CC3481826}"/>
              </a:ext>
            </a:extLst>
          </p:cNvPr>
          <p:cNvSpPr txBox="1"/>
          <p:nvPr>
            <p:extLst>
              <p:ext uri="{1162E1C5-73C7-4A58-AE30-91384D911F3F}">
                <p184:classification xmlns:p184="http://schemas.microsoft.com/office/powerpoint/2018/4/main" val="ftr"/>
              </p:ext>
            </p:extLst>
          </p:nvPr>
        </p:nvSpPr>
        <p:spPr>
          <a:xfrm>
            <a:off x="63500" y="6672580"/>
            <a:ext cx="654050" cy="121920"/>
          </a:xfrm>
          <a:prstGeom prst="rect">
            <a:avLst/>
          </a:prstGeom>
        </p:spPr>
        <p:txBody>
          <a:bodyPr horzOverflow="overflow" lIns="0" tIns="0" rIns="0" bIns="0">
            <a:spAutoFit/>
          </a:bodyPr>
          <a:lstStyle/>
          <a:p>
            <a:pPr algn="l"/>
            <a:r>
              <a:rPr lang="en-GB" sz="800">
                <a:solidFill>
                  <a:srgbClr val="317100">
                    <a:alpha val="50000"/>
                  </a:srgbClr>
                </a:solidFill>
                <a:latin typeface="Aptos" panose="020B0004020202020204" pitchFamily="34" charset="0"/>
              </a:rPr>
              <a:t>[AIA – PUBLIC]</a:t>
            </a:r>
          </a:p>
        </p:txBody>
      </p:sp>
    </p:spTree>
    <p:extLst>
      <p:ext uri="{BB962C8B-B14F-4D97-AF65-F5344CB8AC3E}">
        <p14:creationId xmlns:p14="http://schemas.microsoft.com/office/powerpoint/2010/main" val="2014199587"/>
      </p:ext>
    </p:extLst>
  </p:cSld>
  <p:clrMap bg1="lt1" tx1="dk1" bg2="lt2" tx2="dk2" accent1="accent1" accent2="accent2" accent3="accent3" accent4="accent4" accent5="accent5" accent6="accent6" hlink="hlink" folHlink="folHlink"/>
  <p:sldLayoutIdLst>
    <p:sldLayoutId id="2147483743" r:id="rId1"/>
    <p:sldLayoutId id="2147483681" r:id="rId2"/>
    <p:sldLayoutId id="2147483748" r:id="rId3"/>
  </p:sldLayoutIdLst>
  <p:hf hdr="0" ftr="0" dt="0"/>
  <p:txStyles>
    <p:titleStyle>
      <a:lvl1pPr algn="l" defTabSz="914400" rtl="0" eaLnBrk="1" latinLnBrk="0" hangingPunct="1">
        <a:spcBef>
          <a:spcPct val="0"/>
        </a:spcBef>
        <a:buNone/>
        <a:defRPr sz="4800" b="0" kern="1200" cap="none" normalizeH="0" baseline="0">
          <a:solidFill>
            <a:schemeClr val="tx1"/>
          </a:solidFill>
          <a:latin typeface="Arial" panose="020B0604020202020204" pitchFamily="34" charset="0"/>
          <a:ea typeface="+mj-ea"/>
          <a:cs typeface="Arial" panose="020B0604020202020204" pitchFamily="34" charset="0"/>
        </a:defRPr>
      </a:lvl1pPr>
    </p:titleStyle>
    <p:bodyStyle>
      <a:lvl1pPr marL="0" indent="0" algn="l" defTabSz="914400" rtl="0" eaLnBrk="1" latinLnBrk="0" hangingPunct="1">
        <a:lnSpc>
          <a:spcPct val="100000"/>
        </a:lnSpc>
        <a:spcBef>
          <a:spcPts val="1200"/>
        </a:spcBef>
        <a:buFont typeface="Arial" panose="020B0604020202020204" pitchFamily="34" charset="0"/>
        <a:buNone/>
        <a:defRPr sz="1600" kern="1200">
          <a:solidFill>
            <a:schemeClr val="tx1"/>
          </a:solidFill>
          <a:latin typeface="Arial" panose="020B0604020202020204" pitchFamily="34" charset="0"/>
          <a:ea typeface="+mn-ea"/>
          <a:cs typeface="Arial" panose="020B0604020202020204" pitchFamily="34" charset="0"/>
        </a:defRPr>
      </a:lvl1pPr>
      <a:lvl2pPr marL="742950" indent="-285750" algn="l" defTabSz="914400" rtl="0" eaLnBrk="1" latinLnBrk="0" hangingPunct="1">
        <a:lnSpc>
          <a:spcPct val="100000"/>
        </a:lnSpc>
        <a:spcBef>
          <a:spcPts val="1200"/>
        </a:spcBef>
        <a:buFont typeface="Arial" panose="020B0604020202020204" pitchFamily="34" charset="0"/>
        <a:buChar char="–"/>
        <a:defRPr sz="1600" kern="1200">
          <a:solidFill>
            <a:schemeClr val="tx1"/>
          </a:solidFill>
          <a:latin typeface="Arial" panose="020B0604020202020204" pitchFamily="34" charset="0"/>
          <a:ea typeface="+mn-ea"/>
          <a:cs typeface="Arial" panose="020B0604020202020204" pitchFamily="34" charset="0"/>
        </a:defRPr>
      </a:lvl2pPr>
      <a:lvl3pPr marL="11430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3pPr>
      <a:lvl4pPr marL="16002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ct val="100000"/>
        </a:lnSpc>
        <a:spcBef>
          <a:spcPts val="1200"/>
        </a:spcBef>
        <a:buFont typeface="Arial" panose="020B0604020202020204" pitchFamily="34" charset="0"/>
        <a:buChar char="»"/>
        <a:defRPr sz="14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088" userDrawn="1">
          <p15:clr>
            <a:srgbClr val="F26B43"/>
          </p15:clr>
        </p15:guide>
        <p15:guide id="2" pos="744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8.png"/><Relationship Id="rId4"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4.png"/><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4.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a:xfrm>
            <a:off x="356616" y="5257800"/>
            <a:ext cx="5852160" cy="365760"/>
          </a:xfrm>
        </p:spPr>
        <p:txBody>
          <a:bodyPr wrap="square" tIns="91440" bIns="91440" anchor="t">
            <a:noAutofit/>
          </a:bodyPr>
          <a:lstStyle/>
          <a:p>
            <a:pPr algn="l"/>
            <a:r>
              <a:rPr sz="1400" b="0" i="0">
                <a:solidFill>
                  <a:srgbClr val="FFFFFF"/>
                </a:solidFill>
                <a:latin typeface="Arial"/>
              </a:rPr>
              <a:t>Innovation Idea Awards 2026  ·  Employee Value  ·  Hong Kong</a:t>
            </a:r>
          </a:p>
        </p:txBody>
      </p:sp>
      <p:sp>
        <p:nvSpPr>
          <p:cNvPr id="3" name="Text Placeholder 2"/>
          <p:cNvSpPr>
            <a:spLocks noGrp="1"/>
          </p:cNvSpPr>
          <p:nvPr>
            <p:ph type="body" idx="10" sz="quarter"/>
          </p:nvPr>
        </p:nvSpPr>
        <p:spPr>
          <a:xfrm>
            <a:off x="356616" y="1600200"/>
            <a:ext cx="5852160" cy="1828800"/>
          </a:xfrm>
        </p:spPr>
        <p:txBody>
          <a:bodyPr wrap="square" tIns="91440" bIns="91440" anchor="t">
            <a:noAutofit/>
          </a:bodyPr>
          <a:lstStyle/>
          <a:p>
            <a:pPr algn="l"/>
            <a:r>
              <a:rPr sz="7200" b="1" i="0">
                <a:solidFill>
                  <a:srgbClr val="FFFFFF"/>
                </a:solidFill>
                <a:latin typeface="Arial"/>
              </a:rPr>
              <a:t>Riley</a:t>
            </a:r>
          </a:p>
          <a:p>
            <a:pPr algn="l">
              <a:spcBef>
                <a:spcPts val="600"/>
              </a:spcBef>
            </a:pPr>
            <a:r>
              <a:rPr sz="3000" b="0" i="0">
                <a:solidFill>
                  <a:srgbClr val="FFFFFF"/>
                </a:solidFill>
                <a:latin typeface="Arial"/>
              </a:rPr>
              <a:t>AIA’s virtual coworker</a:t>
            </a:r>
          </a:p>
        </p:txBody>
      </p:sp>
      <p:sp>
        <p:nvSpPr>
          <p:cNvPr id="4" name="TextBox 3"/>
          <p:cNvSpPr txBox="1"/>
          <p:nvPr/>
        </p:nvSpPr>
        <p:spPr>
          <a:xfrm>
            <a:off x="448056" y="3657600"/>
            <a:ext cx="5669280" cy="1188720"/>
          </a:xfrm>
          <a:prstGeom prst="rect">
            <a:avLst/>
          </a:prstGeom>
          <a:noFill/>
        </p:spPr>
        <p:txBody>
          <a:bodyPr wrap="square" lIns="0" rIns="0" tIns="0" bIns="0" anchor="t">
            <a:noAutofit/>
          </a:bodyPr>
          <a:lstStyle/>
          <a:p>
            <a:pPr algn="l"/>
            <a:r>
              <a:rPr sz="1800" b="0" i="0">
                <a:solidFill>
                  <a:srgbClr val="FFFFFF"/>
                </a:solidFill>
                <a:latin typeface="Arial"/>
              </a:rPr>
              <a:t>Describe the outcome you need. Riley coordinates AIA’s data, systems and AI capabilities to complete much of the work. You review and approve.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Riley in 30 seconds</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AT A GLANCE</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2</a:t>
            </a:fld>
            <a:endParaRPr lang="en-US" dirty="0"/>
          </a:p>
        </p:txBody>
      </p:sp>
      <p:sp>
        <p:nvSpPr>
          <p:cNvPr id="6" name="Rounded Rectangle 5"/>
          <p:cNvSpPr/>
          <p:nvPr/>
        </p:nvSpPr>
        <p:spPr>
          <a:xfrm>
            <a:off x="457200" y="1600200"/>
            <a:ext cx="3566160" cy="3337560"/>
          </a:xfrm>
          <a:prstGeom prst="roundRect">
            <a:avLst>
              <a:gd name="adj" fmla="val 5000"/>
            </a:avLst>
          </a:prstGeom>
          <a:solidFill>
            <a:srgbClr val="F4F2F0"/>
          </a:solidFill>
          <a:ln>
            <a:noFill/>
          </a:ln>
        </p:spPr>
        <p:txBody>
          <a:bodyPr rtlCol="0" anchor="ctr"/>
          <a:lstStyle/>
          <a:p/>
        </p:txBody>
      </p:sp>
      <p:sp>
        <p:nvSpPr>
          <p:cNvPr id="7" name="Oval 6"/>
          <p:cNvSpPr/>
          <p:nvPr/>
        </p:nvSpPr>
        <p:spPr>
          <a:xfrm>
            <a:off x="777240" y="1920240"/>
            <a:ext cx="731520" cy="731520"/>
          </a:xfrm>
          <a:prstGeom prst="ellipse">
            <a:avLst/>
          </a:prstGeom>
          <a:solidFill>
            <a:srgbClr val="D31145"/>
          </a:solidFill>
          <a:ln>
            <a:noFill/>
          </a:ln>
        </p:spPr>
        <p:txBody>
          <a:bodyPr rtlCol="0" anchor="ctr"/>
          <a:lstStyle/>
          <a:p/>
        </p:txBody>
      </p:sp>
      <p:pic>
        <p:nvPicPr>
          <p:cNvPr id="8" name="Picture 7" descr="LuMessagesSquare_w.png"/>
          <p:cNvPicPr>
            <a:picLocks noChangeAspect="1"/>
          </p:cNvPicPr>
          <p:nvPr/>
        </p:nvPicPr>
        <p:blipFill>
          <a:blip r:embed="rId3"/>
          <a:stretch>
            <a:fillRect/>
          </a:stretch>
        </p:blipFill>
        <p:spPr>
          <a:xfrm>
            <a:off x="952804" y="2095804"/>
            <a:ext cx="380390" cy="380390"/>
          </a:xfrm>
          <a:prstGeom prst="rect">
            <a:avLst/>
          </a:prstGeom>
        </p:spPr>
      </p:pic>
      <p:sp>
        <p:nvSpPr>
          <p:cNvPr id="9" name="TextBox 8"/>
          <p:cNvSpPr txBox="1"/>
          <p:nvPr/>
        </p:nvSpPr>
        <p:spPr>
          <a:xfrm>
            <a:off x="777240" y="2834640"/>
            <a:ext cx="2926080" cy="274320"/>
          </a:xfrm>
          <a:prstGeom prst="rect">
            <a:avLst/>
          </a:prstGeom>
          <a:noFill/>
        </p:spPr>
        <p:txBody>
          <a:bodyPr wrap="square" lIns="0" rIns="0" tIns="0" bIns="0" anchor="t">
            <a:noAutofit/>
          </a:bodyPr>
          <a:lstStyle/>
          <a:p>
            <a:pPr algn="l"/>
            <a:r>
              <a:rPr sz="1200" b="1" i="0">
                <a:solidFill>
                  <a:srgbClr val="D31145"/>
                </a:solidFill>
                <a:latin typeface="Arial"/>
              </a:rPr>
              <a:t>WHAT IT IS</a:t>
            </a:r>
          </a:p>
        </p:txBody>
      </p:sp>
      <p:sp>
        <p:nvSpPr>
          <p:cNvPr id="10" name="TextBox 9"/>
          <p:cNvSpPr txBox="1"/>
          <p:nvPr/>
        </p:nvSpPr>
        <p:spPr>
          <a:xfrm>
            <a:off x="777240" y="3136391"/>
            <a:ext cx="2926080" cy="685800"/>
          </a:xfrm>
          <a:prstGeom prst="rect">
            <a:avLst/>
          </a:prstGeom>
          <a:noFill/>
        </p:spPr>
        <p:txBody>
          <a:bodyPr wrap="square" lIns="0" rIns="0" tIns="0" bIns="0" anchor="t">
            <a:noAutofit/>
          </a:bodyPr>
          <a:lstStyle/>
          <a:p>
            <a:pPr algn="l"/>
            <a:r>
              <a:rPr sz="2000" b="1" i="0">
                <a:solidFill>
                  <a:srgbClr val="333D47"/>
                </a:solidFill>
                <a:latin typeface="Arial"/>
              </a:rPr>
              <a:t>A virtual coworker in Microsoft Teams</a:t>
            </a:r>
          </a:p>
        </p:txBody>
      </p:sp>
      <p:sp>
        <p:nvSpPr>
          <p:cNvPr id="11" name="TextBox 10"/>
          <p:cNvSpPr txBox="1"/>
          <p:nvPr/>
        </p:nvSpPr>
        <p:spPr>
          <a:xfrm>
            <a:off x="777240" y="3813048"/>
            <a:ext cx="2926080" cy="1005840"/>
          </a:xfrm>
          <a:prstGeom prst="rect">
            <a:avLst/>
          </a:prstGeom>
          <a:noFill/>
        </p:spPr>
        <p:txBody>
          <a:bodyPr wrap="square" lIns="0" rIns="0" tIns="0" bIns="0" anchor="t">
            <a:noAutofit/>
          </a:bodyPr>
          <a:lstStyle/>
          <a:p>
            <a:pPr algn="l"/>
            <a:r>
              <a:rPr sz="1400" b="0" i="0">
                <a:solidFill>
                  <a:srgbClr val="5A6570"/>
                </a:solidFill>
                <a:latin typeface="Arial"/>
              </a:rPr>
              <a:t>Employees describe the outcome they need. Riley does much of the work using approved AIA data, systems and AI.</a:t>
            </a:r>
          </a:p>
        </p:txBody>
      </p:sp>
      <p:sp>
        <p:nvSpPr>
          <p:cNvPr id="12" name="Rounded Rectangle 11"/>
          <p:cNvSpPr/>
          <p:nvPr/>
        </p:nvSpPr>
        <p:spPr>
          <a:xfrm>
            <a:off x="4325112" y="1600200"/>
            <a:ext cx="3566160" cy="3337560"/>
          </a:xfrm>
          <a:prstGeom prst="roundRect">
            <a:avLst>
              <a:gd name="adj" fmla="val 5000"/>
            </a:avLst>
          </a:prstGeom>
          <a:solidFill>
            <a:srgbClr val="F4F2F0"/>
          </a:solidFill>
          <a:ln>
            <a:noFill/>
          </a:ln>
        </p:spPr>
        <p:txBody>
          <a:bodyPr rtlCol="0" anchor="ctr"/>
          <a:lstStyle/>
          <a:p/>
        </p:txBody>
      </p:sp>
      <p:sp>
        <p:nvSpPr>
          <p:cNvPr id="13" name="Oval 12"/>
          <p:cNvSpPr/>
          <p:nvPr/>
        </p:nvSpPr>
        <p:spPr>
          <a:xfrm>
            <a:off x="4645151" y="1920240"/>
            <a:ext cx="731520" cy="731520"/>
          </a:xfrm>
          <a:prstGeom prst="ellipse">
            <a:avLst/>
          </a:prstGeom>
          <a:solidFill>
            <a:srgbClr val="D31145"/>
          </a:solidFill>
          <a:ln>
            <a:noFill/>
          </a:ln>
        </p:spPr>
        <p:txBody>
          <a:bodyPr rtlCol="0" anchor="ctr"/>
          <a:lstStyle/>
          <a:p/>
        </p:txBody>
      </p:sp>
      <p:pic>
        <p:nvPicPr>
          <p:cNvPr id="14" name="Picture 13" descr="LuShuffle_w.png"/>
          <p:cNvPicPr>
            <a:picLocks noChangeAspect="1"/>
          </p:cNvPicPr>
          <p:nvPr/>
        </p:nvPicPr>
        <p:blipFill>
          <a:blip r:embed="rId4"/>
          <a:stretch>
            <a:fillRect/>
          </a:stretch>
        </p:blipFill>
        <p:spPr>
          <a:xfrm>
            <a:off x="4820716" y="2095804"/>
            <a:ext cx="380390" cy="380390"/>
          </a:xfrm>
          <a:prstGeom prst="rect">
            <a:avLst/>
          </a:prstGeom>
        </p:spPr>
      </p:pic>
      <p:sp>
        <p:nvSpPr>
          <p:cNvPr id="15" name="TextBox 14"/>
          <p:cNvSpPr txBox="1"/>
          <p:nvPr/>
        </p:nvSpPr>
        <p:spPr>
          <a:xfrm>
            <a:off x="4645151" y="2834640"/>
            <a:ext cx="2926080" cy="274320"/>
          </a:xfrm>
          <a:prstGeom prst="rect">
            <a:avLst/>
          </a:prstGeom>
          <a:noFill/>
        </p:spPr>
        <p:txBody>
          <a:bodyPr wrap="square" lIns="0" rIns="0" tIns="0" bIns="0" anchor="t">
            <a:noAutofit/>
          </a:bodyPr>
          <a:lstStyle/>
          <a:p>
            <a:pPr algn="l"/>
            <a:r>
              <a:rPr sz="1200" b="1" i="0">
                <a:solidFill>
                  <a:srgbClr val="D31145"/>
                </a:solidFill>
                <a:latin typeface="Arial"/>
              </a:rPr>
              <a:t>THE PROBLEM</a:t>
            </a:r>
          </a:p>
        </p:txBody>
      </p:sp>
      <p:sp>
        <p:nvSpPr>
          <p:cNvPr id="16" name="TextBox 15"/>
          <p:cNvSpPr txBox="1"/>
          <p:nvPr/>
        </p:nvSpPr>
        <p:spPr>
          <a:xfrm>
            <a:off x="4645151" y="3136391"/>
            <a:ext cx="2926080" cy="685800"/>
          </a:xfrm>
          <a:prstGeom prst="rect">
            <a:avLst/>
          </a:prstGeom>
          <a:noFill/>
        </p:spPr>
        <p:txBody>
          <a:bodyPr wrap="square" lIns="0" rIns="0" tIns="0" bIns="0" anchor="t">
            <a:noAutofit/>
          </a:bodyPr>
          <a:lstStyle/>
          <a:p>
            <a:pPr algn="l"/>
            <a:r>
              <a:rPr sz="2000" b="1" i="0">
                <a:solidFill>
                  <a:srgbClr val="333D47"/>
                </a:solidFill>
                <a:latin typeface="Arial"/>
              </a:rPr>
              <a:t>Employees are the connector</a:t>
            </a:r>
          </a:p>
        </p:txBody>
      </p:sp>
      <p:sp>
        <p:nvSpPr>
          <p:cNvPr id="17" name="TextBox 16"/>
          <p:cNvSpPr txBox="1"/>
          <p:nvPr/>
        </p:nvSpPr>
        <p:spPr>
          <a:xfrm>
            <a:off x="4645151" y="3813048"/>
            <a:ext cx="2926080" cy="1005840"/>
          </a:xfrm>
          <a:prstGeom prst="rect">
            <a:avLst/>
          </a:prstGeom>
          <a:noFill/>
        </p:spPr>
        <p:txBody>
          <a:bodyPr wrap="square" lIns="0" rIns="0" tIns="0" bIns="0" anchor="t">
            <a:noAutofit/>
          </a:bodyPr>
          <a:lstStyle/>
          <a:p>
            <a:pPr algn="l"/>
            <a:r>
              <a:rPr sz="1400" b="0" i="0">
                <a:solidFill>
                  <a:srgbClr val="5A6570"/>
                </a:solidFill>
                <a:latin typeface="Arial"/>
              </a:rPr>
              <a:t>AI tools built separately by different teams leave employees to find, learn and combine them – a burden that grows with every new tool.</a:t>
            </a:r>
          </a:p>
        </p:txBody>
      </p:sp>
      <p:sp>
        <p:nvSpPr>
          <p:cNvPr id="18" name="Rounded Rectangle 17"/>
          <p:cNvSpPr/>
          <p:nvPr/>
        </p:nvSpPr>
        <p:spPr>
          <a:xfrm>
            <a:off x="8193023" y="1600200"/>
            <a:ext cx="3566160" cy="3337560"/>
          </a:xfrm>
          <a:prstGeom prst="roundRect">
            <a:avLst>
              <a:gd name="adj" fmla="val 5000"/>
            </a:avLst>
          </a:prstGeom>
          <a:solidFill>
            <a:srgbClr val="F4F2F0"/>
          </a:solidFill>
          <a:ln>
            <a:noFill/>
          </a:ln>
        </p:spPr>
        <p:txBody>
          <a:bodyPr rtlCol="0" anchor="ctr"/>
          <a:lstStyle/>
          <a:p/>
        </p:txBody>
      </p:sp>
      <p:sp>
        <p:nvSpPr>
          <p:cNvPr id="19" name="Oval 18"/>
          <p:cNvSpPr/>
          <p:nvPr/>
        </p:nvSpPr>
        <p:spPr>
          <a:xfrm>
            <a:off x="8513063" y="1920240"/>
            <a:ext cx="731520" cy="731520"/>
          </a:xfrm>
          <a:prstGeom prst="ellipse">
            <a:avLst/>
          </a:prstGeom>
          <a:solidFill>
            <a:srgbClr val="D31145"/>
          </a:solidFill>
          <a:ln>
            <a:noFill/>
          </a:ln>
        </p:spPr>
        <p:txBody>
          <a:bodyPr rtlCol="0" anchor="ctr"/>
          <a:lstStyle/>
          <a:p/>
        </p:txBody>
      </p:sp>
      <p:pic>
        <p:nvPicPr>
          <p:cNvPr id="20" name="Picture 19" descr="LuTrendingUp_w.png"/>
          <p:cNvPicPr>
            <a:picLocks noChangeAspect="1"/>
          </p:cNvPicPr>
          <p:nvPr/>
        </p:nvPicPr>
        <p:blipFill>
          <a:blip r:embed="rId5"/>
          <a:stretch>
            <a:fillRect/>
          </a:stretch>
        </p:blipFill>
        <p:spPr>
          <a:xfrm>
            <a:off x="8688628" y="2095804"/>
            <a:ext cx="380390" cy="380390"/>
          </a:xfrm>
          <a:prstGeom prst="rect">
            <a:avLst/>
          </a:prstGeom>
        </p:spPr>
      </p:pic>
      <p:sp>
        <p:nvSpPr>
          <p:cNvPr id="21" name="TextBox 20"/>
          <p:cNvSpPr txBox="1"/>
          <p:nvPr/>
        </p:nvSpPr>
        <p:spPr>
          <a:xfrm>
            <a:off x="8513063" y="2834640"/>
            <a:ext cx="2926080" cy="274320"/>
          </a:xfrm>
          <a:prstGeom prst="rect">
            <a:avLst/>
          </a:prstGeom>
          <a:noFill/>
        </p:spPr>
        <p:txBody>
          <a:bodyPr wrap="square" lIns="0" rIns="0" tIns="0" bIns="0" anchor="t">
            <a:noAutofit/>
          </a:bodyPr>
          <a:lstStyle/>
          <a:p>
            <a:pPr algn="l"/>
            <a:r>
              <a:rPr sz="1200" b="1" i="0">
                <a:solidFill>
                  <a:srgbClr val="D31145"/>
                </a:solidFill>
                <a:latin typeface="Arial"/>
              </a:rPr>
              <a:t>WHY IT MATTERS</a:t>
            </a:r>
          </a:p>
        </p:txBody>
      </p:sp>
      <p:sp>
        <p:nvSpPr>
          <p:cNvPr id="22" name="TextBox 21"/>
          <p:cNvSpPr txBox="1"/>
          <p:nvPr/>
        </p:nvSpPr>
        <p:spPr>
          <a:xfrm>
            <a:off x="8513063" y="3136391"/>
            <a:ext cx="2926080" cy="685800"/>
          </a:xfrm>
          <a:prstGeom prst="rect">
            <a:avLst/>
          </a:prstGeom>
          <a:noFill/>
        </p:spPr>
        <p:txBody>
          <a:bodyPr wrap="square" lIns="0" rIns="0" tIns="0" bIns="0" anchor="t">
            <a:noAutofit/>
          </a:bodyPr>
          <a:lstStyle/>
          <a:p>
            <a:pPr algn="l"/>
            <a:r>
              <a:rPr sz="2000" b="1" i="0">
                <a:solidFill>
                  <a:srgbClr val="333D47"/>
                </a:solidFill>
                <a:latin typeface="Arial"/>
              </a:rPr>
              <a:t>Capacity that compounds</a:t>
            </a:r>
          </a:p>
        </p:txBody>
      </p:sp>
      <p:sp>
        <p:nvSpPr>
          <p:cNvPr id="23" name="TextBox 22"/>
          <p:cNvSpPr txBox="1"/>
          <p:nvPr/>
        </p:nvSpPr>
        <p:spPr>
          <a:xfrm>
            <a:off x="8513063" y="3813048"/>
            <a:ext cx="2926080" cy="1005840"/>
          </a:xfrm>
          <a:prstGeom prst="rect">
            <a:avLst/>
          </a:prstGeom>
          <a:noFill/>
        </p:spPr>
        <p:txBody>
          <a:bodyPr wrap="square" lIns="0" rIns="0" tIns="0" bIns="0" anchor="t">
            <a:noAutofit/>
          </a:bodyPr>
          <a:lstStyle/>
          <a:p>
            <a:pPr algn="l"/>
            <a:r>
              <a:rPr sz="1400" b="0" i="0">
                <a:solidFill>
                  <a:srgbClr val="5A6570"/>
                </a:solidFill>
                <a:latin typeface="Arial"/>
              </a:rPr>
              <a:t>Time moves from searching and switching to higher-value work, and every AI capability connected makes Riley more useful.</a:t>
            </a:r>
          </a:p>
        </p:txBody>
      </p:sp>
      <p:sp>
        <p:nvSpPr>
          <p:cNvPr id="24" name="TextBox 23"/>
          <p:cNvSpPr txBox="1"/>
          <p:nvPr/>
        </p:nvSpPr>
        <p:spPr>
          <a:xfrm>
            <a:off x="457200" y="5074920"/>
            <a:ext cx="11292840" cy="640080"/>
          </a:xfrm>
          <a:prstGeom prst="rect">
            <a:avLst/>
          </a:prstGeom>
          <a:noFill/>
        </p:spPr>
        <p:txBody>
          <a:bodyPr wrap="square" lIns="0" rIns="0" tIns="0" bIns="0" anchor="ctr">
            <a:noAutofit/>
          </a:bodyPr>
          <a:lstStyle/>
          <a:p>
            <a:pPr algn="ctr"/>
            <a:r>
              <a:rPr sz="1800" b="1" i="0">
                <a:solidFill>
                  <a:srgbClr val="D31145"/>
                </a:solidFill>
                <a:latin typeface="Arial"/>
              </a:rPr>
              <a:t>Riley is not the AI model. </a:t>
            </a:r>
            <a:r>
              <a:rPr sz="1800" b="0" i="0">
                <a:solidFill>
                  <a:srgbClr val="333D47"/>
                </a:solidFill>
                <a:latin typeface="Arial"/>
              </a:rPr>
              <a:t>Riley is the AIA layer that turns separate AI capabilities into one coworker employees can use.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Today, the employee is the connector</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THE PROBLEM</a:t>
            </a:r>
          </a:p>
        </p:txBody>
      </p:sp>
      <p:sp>
        <p:nvSpPr>
          <p:cNvPr id="6" name="TextBox 5"/>
          <p:cNvSpPr txBox="1"/>
          <p:nvPr/>
        </p:nvSpPr>
        <p:spPr>
          <a:xfrm>
            <a:off x="448056" y="1133856"/>
            <a:ext cx="11155680" cy="457200"/>
          </a:xfrm>
          <a:prstGeom prst="rect">
            <a:avLst/>
          </a:prstGeom>
          <a:noFill/>
        </p:spPr>
        <p:txBody>
          <a:bodyPr wrap="square" lIns="0" rIns="0" tIns="0" bIns="0" anchor="t">
            <a:noAutofit/>
          </a:bodyPr>
          <a:lstStyle/>
          <a:p>
            <a:pPr algn="l"/>
            <a:r>
              <a:rPr sz="1600" b="0" i="0">
                <a:solidFill>
                  <a:srgbClr val="5A6570"/>
                </a:solidFill>
                <a:latin typeface="Arial"/>
              </a:rPr>
              <a:t>From what I observe, AIA teams are building valuable AI tools separately, and employees are left to connect them.</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3</a:t>
            </a:fld>
            <a:endParaRPr lang="en-US" dirty="0"/>
          </a:p>
        </p:txBody>
      </p:sp>
      <p:sp>
        <p:nvSpPr>
          <p:cNvPr id="7" name="Rounded Rectangle 6"/>
          <p:cNvSpPr/>
          <p:nvPr/>
        </p:nvSpPr>
        <p:spPr>
          <a:xfrm>
            <a:off x="457200" y="1783080"/>
            <a:ext cx="5440680" cy="3246120"/>
          </a:xfrm>
          <a:prstGeom prst="roundRect">
            <a:avLst>
              <a:gd name="adj" fmla="val 4000"/>
            </a:avLst>
          </a:prstGeom>
          <a:solidFill>
            <a:srgbClr val="F4F2F0"/>
          </a:solidFill>
          <a:ln>
            <a:noFill/>
          </a:ln>
        </p:spPr>
        <p:txBody>
          <a:bodyPr rtlCol="0" anchor="ctr"/>
          <a:lstStyle/>
          <a:p/>
        </p:txBody>
      </p:sp>
      <p:sp>
        <p:nvSpPr>
          <p:cNvPr id="8" name="TextBox 7"/>
          <p:cNvSpPr txBox="1"/>
          <p:nvPr/>
        </p:nvSpPr>
        <p:spPr>
          <a:xfrm>
            <a:off x="731520" y="1984248"/>
            <a:ext cx="2743200" cy="274320"/>
          </a:xfrm>
          <a:prstGeom prst="rect">
            <a:avLst/>
          </a:prstGeom>
          <a:noFill/>
        </p:spPr>
        <p:txBody>
          <a:bodyPr wrap="square" lIns="0" rIns="0" tIns="0" bIns="0" anchor="t">
            <a:noAutofit/>
          </a:bodyPr>
          <a:lstStyle/>
          <a:p>
            <a:pPr algn="l"/>
            <a:r>
              <a:rPr sz="1300" b="1" i="0">
                <a:solidFill>
                  <a:srgbClr val="5A6570"/>
                </a:solidFill>
                <a:latin typeface="Arial"/>
              </a:rPr>
              <a:t>TODAY</a:t>
            </a:r>
          </a:p>
        </p:txBody>
      </p:sp>
      <p:sp>
        <p:nvSpPr>
          <p:cNvPr id="9" name="Oval 8"/>
          <p:cNvSpPr/>
          <p:nvPr/>
        </p:nvSpPr>
        <p:spPr>
          <a:xfrm>
            <a:off x="2830068" y="2057400"/>
            <a:ext cx="694944" cy="694944"/>
          </a:xfrm>
          <a:prstGeom prst="ellipse">
            <a:avLst/>
          </a:prstGeom>
          <a:solidFill>
            <a:srgbClr val="333D47"/>
          </a:solidFill>
          <a:ln>
            <a:noFill/>
          </a:ln>
        </p:spPr>
        <p:txBody>
          <a:bodyPr rtlCol="0" anchor="ctr"/>
          <a:lstStyle/>
          <a:p/>
        </p:txBody>
      </p:sp>
      <p:pic>
        <p:nvPicPr>
          <p:cNvPr id="10" name="Picture 9" descr="LuUser_w.png"/>
          <p:cNvPicPr>
            <a:picLocks noChangeAspect="1"/>
          </p:cNvPicPr>
          <p:nvPr/>
        </p:nvPicPr>
        <p:blipFill>
          <a:blip r:embed="rId3"/>
          <a:stretch>
            <a:fillRect/>
          </a:stretch>
        </p:blipFill>
        <p:spPr>
          <a:xfrm>
            <a:off x="2985516" y="2212848"/>
            <a:ext cx="384048" cy="384048"/>
          </a:xfrm>
          <a:prstGeom prst="rect">
            <a:avLst/>
          </a:prstGeom>
        </p:spPr>
      </p:pic>
      <p:sp>
        <p:nvSpPr>
          <p:cNvPr id="11" name="Rounded Rectangle 10"/>
          <p:cNvSpPr/>
          <p:nvPr/>
        </p:nvSpPr>
        <p:spPr>
          <a:xfrm>
            <a:off x="589788"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12" name="Picture 11" descr="LuBrainCircuit_c.png"/>
          <p:cNvPicPr>
            <a:picLocks noChangeAspect="1"/>
          </p:cNvPicPr>
          <p:nvPr/>
        </p:nvPicPr>
        <p:blipFill>
          <a:blip r:embed="rId4"/>
          <a:stretch>
            <a:fillRect/>
          </a:stretch>
        </p:blipFill>
        <p:spPr>
          <a:xfrm>
            <a:off x="827531" y="3977639"/>
            <a:ext cx="310896" cy="310896"/>
          </a:xfrm>
          <a:prstGeom prst="rect">
            <a:avLst/>
          </a:prstGeom>
        </p:spPr>
      </p:pic>
      <p:sp>
        <p:nvSpPr>
          <p:cNvPr id="13" name="TextBox 12"/>
          <p:cNvSpPr txBox="1"/>
          <p:nvPr/>
        </p:nvSpPr>
        <p:spPr>
          <a:xfrm>
            <a:off x="589788"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A</a:t>
            </a:r>
          </a:p>
        </p:txBody>
      </p:sp>
      <p:cxnSp>
        <p:nvCxnSpPr>
          <p:cNvPr id="14" name="Connector 13"/>
          <p:cNvCxnSpPr/>
          <p:nvPr/>
        </p:nvCxnSpPr>
        <p:spPr>
          <a:xfrm flipH="1">
            <a:off x="982980" y="2752344"/>
            <a:ext cx="2194560" cy="1133856"/>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467612"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16" name="Picture 15" descr="LuBrainCircuit_c.png"/>
          <p:cNvPicPr>
            <a:picLocks noChangeAspect="1"/>
          </p:cNvPicPr>
          <p:nvPr/>
        </p:nvPicPr>
        <p:blipFill>
          <a:blip r:embed="rId4"/>
          <a:stretch>
            <a:fillRect/>
          </a:stretch>
        </p:blipFill>
        <p:spPr>
          <a:xfrm>
            <a:off x="1705356" y="3977639"/>
            <a:ext cx="310896" cy="310896"/>
          </a:xfrm>
          <a:prstGeom prst="rect">
            <a:avLst/>
          </a:prstGeom>
        </p:spPr>
      </p:pic>
      <p:sp>
        <p:nvSpPr>
          <p:cNvPr id="17" name="TextBox 16"/>
          <p:cNvSpPr txBox="1"/>
          <p:nvPr/>
        </p:nvSpPr>
        <p:spPr>
          <a:xfrm>
            <a:off x="1467612"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B</a:t>
            </a:r>
          </a:p>
        </p:txBody>
      </p:sp>
      <p:cxnSp>
        <p:nvCxnSpPr>
          <p:cNvPr id="18" name="Connector 17"/>
          <p:cNvCxnSpPr/>
          <p:nvPr/>
        </p:nvCxnSpPr>
        <p:spPr>
          <a:xfrm flipH="1">
            <a:off x="1860804" y="2752344"/>
            <a:ext cx="1316736" cy="1133856"/>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345436"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0" name="Picture 19" descr="LuBrainCircuit_c.png"/>
          <p:cNvPicPr>
            <a:picLocks noChangeAspect="1"/>
          </p:cNvPicPr>
          <p:nvPr/>
        </p:nvPicPr>
        <p:blipFill>
          <a:blip r:embed="rId4"/>
          <a:stretch>
            <a:fillRect/>
          </a:stretch>
        </p:blipFill>
        <p:spPr>
          <a:xfrm>
            <a:off x="2583180" y="3977639"/>
            <a:ext cx="310896" cy="310896"/>
          </a:xfrm>
          <a:prstGeom prst="rect">
            <a:avLst/>
          </a:prstGeom>
        </p:spPr>
      </p:pic>
      <p:sp>
        <p:nvSpPr>
          <p:cNvPr id="21" name="TextBox 20"/>
          <p:cNvSpPr txBox="1"/>
          <p:nvPr/>
        </p:nvSpPr>
        <p:spPr>
          <a:xfrm>
            <a:off x="2345436"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C</a:t>
            </a:r>
          </a:p>
        </p:txBody>
      </p:sp>
      <p:cxnSp>
        <p:nvCxnSpPr>
          <p:cNvPr id="22" name="Connector 21"/>
          <p:cNvCxnSpPr/>
          <p:nvPr/>
        </p:nvCxnSpPr>
        <p:spPr>
          <a:xfrm flipH="1">
            <a:off x="2738628" y="2752344"/>
            <a:ext cx="438912" cy="1133856"/>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223260"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4" name="Picture 23" descr="LuServer_c.png"/>
          <p:cNvPicPr>
            <a:picLocks noChangeAspect="1"/>
          </p:cNvPicPr>
          <p:nvPr/>
        </p:nvPicPr>
        <p:blipFill>
          <a:blip r:embed="rId5"/>
          <a:stretch>
            <a:fillRect/>
          </a:stretch>
        </p:blipFill>
        <p:spPr>
          <a:xfrm>
            <a:off x="3461004" y="3977639"/>
            <a:ext cx="310896" cy="310896"/>
          </a:xfrm>
          <a:prstGeom prst="rect">
            <a:avLst/>
          </a:prstGeom>
        </p:spPr>
      </p:pic>
      <p:sp>
        <p:nvSpPr>
          <p:cNvPr id="25" name="TextBox 24"/>
          <p:cNvSpPr txBox="1"/>
          <p:nvPr/>
        </p:nvSpPr>
        <p:spPr>
          <a:xfrm>
            <a:off x="3223260"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Core</a:t>
            </a:r>
          </a:p>
          <a:p>
            <a:pPr algn="ctr"/>
            <a:r>
              <a:rPr sz="1200" b="0" i="0">
                <a:solidFill>
                  <a:srgbClr val="333D47"/>
                </a:solidFill>
                <a:latin typeface="Arial"/>
              </a:rPr>
              <a:t>systems</a:t>
            </a:r>
          </a:p>
        </p:txBody>
      </p:sp>
      <p:cxnSp>
        <p:nvCxnSpPr>
          <p:cNvPr id="26" name="Connector 25"/>
          <p:cNvCxnSpPr/>
          <p:nvPr/>
        </p:nvCxnSpPr>
        <p:spPr>
          <a:xfrm>
            <a:off x="3177540" y="2752344"/>
            <a:ext cx="438912" cy="1133856"/>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101083"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28" name="Picture 27" descr="LuDatabase_c.png"/>
          <p:cNvPicPr>
            <a:picLocks noChangeAspect="1"/>
          </p:cNvPicPr>
          <p:nvPr/>
        </p:nvPicPr>
        <p:blipFill>
          <a:blip r:embed="rId6"/>
          <a:stretch>
            <a:fillRect/>
          </a:stretch>
        </p:blipFill>
        <p:spPr>
          <a:xfrm>
            <a:off x="4338827" y="3977639"/>
            <a:ext cx="310896" cy="310896"/>
          </a:xfrm>
          <a:prstGeom prst="rect">
            <a:avLst/>
          </a:prstGeom>
        </p:spPr>
      </p:pic>
      <p:sp>
        <p:nvSpPr>
          <p:cNvPr id="29" name="TextBox 28"/>
          <p:cNvSpPr txBox="1"/>
          <p:nvPr/>
        </p:nvSpPr>
        <p:spPr>
          <a:xfrm>
            <a:off x="4101083"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Data &amp;</a:t>
            </a:r>
          </a:p>
          <a:p>
            <a:pPr algn="ctr"/>
            <a:r>
              <a:rPr sz="1200" b="0" i="0">
                <a:solidFill>
                  <a:srgbClr val="333D47"/>
                </a:solidFill>
                <a:latin typeface="Arial"/>
              </a:rPr>
              <a:t>documents</a:t>
            </a:r>
          </a:p>
        </p:txBody>
      </p:sp>
      <p:cxnSp>
        <p:nvCxnSpPr>
          <p:cNvPr id="30" name="Connector 29"/>
          <p:cNvCxnSpPr/>
          <p:nvPr/>
        </p:nvCxnSpPr>
        <p:spPr>
          <a:xfrm>
            <a:off x="3177540" y="2752344"/>
            <a:ext cx="1316735" cy="1133856"/>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978908"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32" name="Picture 31" descr="LuGlobe_c.png"/>
          <p:cNvPicPr>
            <a:picLocks noChangeAspect="1"/>
          </p:cNvPicPr>
          <p:nvPr/>
        </p:nvPicPr>
        <p:blipFill>
          <a:blip r:embed="rId7"/>
          <a:stretch>
            <a:fillRect/>
          </a:stretch>
        </p:blipFill>
        <p:spPr>
          <a:xfrm>
            <a:off x="5216652" y="3977639"/>
            <a:ext cx="310896" cy="310896"/>
          </a:xfrm>
          <a:prstGeom prst="rect">
            <a:avLst/>
          </a:prstGeom>
        </p:spPr>
      </p:pic>
      <p:sp>
        <p:nvSpPr>
          <p:cNvPr id="33" name="TextBox 32"/>
          <p:cNvSpPr txBox="1"/>
          <p:nvPr/>
        </p:nvSpPr>
        <p:spPr>
          <a:xfrm>
            <a:off x="4978908"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External</a:t>
            </a:r>
          </a:p>
          <a:p>
            <a:pPr algn="ctr"/>
            <a:r>
              <a:rPr sz="1200" b="0" i="0">
                <a:solidFill>
                  <a:srgbClr val="333D47"/>
                </a:solidFill>
                <a:latin typeface="Arial"/>
              </a:rPr>
              <a:t>info</a:t>
            </a:r>
          </a:p>
        </p:txBody>
      </p:sp>
      <p:cxnSp>
        <p:nvCxnSpPr>
          <p:cNvPr id="34" name="Connector 33"/>
          <p:cNvCxnSpPr/>
          <p:nvPr/>
        </p:nvCxnSpPr>
        <p:spPr>
          <a:xfrm>
            <a:off x="3177540" y="2752344"/>
            <a:ext cx="2194560" cy="1133856"/>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634740" y="2258568"/>
            <a:ext cx="2240280" cy="365760"/>
          </a:xfrm>
          <a:prstGeom prst="rect">
            <a:avLst/>
          </a:prstGeom>
          <a:noFill/>
        </p:spPr>
        <p:txBody>
          <a:bodyPr wrap="square" lIns="0" rIns="0" tIns="0" bIns="0" anchor="t">
            <a:noAutofit/>
          </a:bodyPr>
          <a:lstStyle/>
          <a:p>
            <a:pPr algn="l"/>
            <a:r>
              <a:rPr sz="1300" b="0" i="1">
                <a:solidFill>
                  <a:srgbClr val="5A6570"/>
                </a:solidFill>
                <a:latin typeface="Arial"/>
              </a:rPr>
              <a:t>find · learn · switch · combine</a:t>
            </a:r>
          </a:p>
        </p:txBody>
      </p:sp>
      <p:sp>
        <p:nvSpPr>
          <p:cNvPr id="36" name="Rounded Rectangle 35"/>
          <p:cNvSpPr/>
          <p:nvPr/>
        </p:nvSpPr>
        <p:spPr>
          <a:xfrm>
            <a:off x="6309360" y="1783080"/>
            <a:ext cx="5440680" cy="3246120"/>
          </a:xfrm>
          <a:prstGeom prst="roundRect">
            <a:avLst>
              <a:gd name="adj" fmla="val 4000"/>
            </a:avLst>
          </a:prstGeom>
          <a:solidFill>
            <a:srgbClr val="FBE7EC"/>
          </a:solidFill>
          <a:ln>
            <a:noFill/>
          </a:ln>
        </p:spPr>
        <p:txBody>
          <a:bodyPr rtlCol="0" anchor="ctr"/>
          <a:lstStyle/>
          <a:p/>
        </p:txBody>
      </p:sp>
      <p:sp>
        <p:nvSpPr>
          <p:cNvPr id="37" name="TextBox 36"/>
          <p:cNvSpPr txBox="1"/>
          <p:nvPr/>
        </p:nvSpPr>
        <p:spPr>
          <a:xfrm>
            <a:off x="6583680" y="1984248"/>
            <a:ext cx="2743200" cy="274320"/>
          </a:xfrm>
          <a:prstGeom prst="rect">
            <a:avLst/>
          </a:prstGeom>
          <a:noFill/>
        </p:spPr>
        <p:txBody>
          <a:bodyPr wrap="square" lIns="0" rIns="0" tIns="0" bIns="0" anchor="t">
            <a:noAutofit/>
          </a:bodyPr>
          <a:lstStyle/>
          <a:p>
            <a:pPr algn="l"/>
            <a:r>
              <a:rPr sz="1300" b="1" i="0">
                <a:solidFill>
                  <a:srgbClr val="D31145"/>
                </a:solidFill>
                <a:latin typeface="Arial"/>
              </a:rPr>
              <a:t>WITH RILEY</a:t>
            </a:r>
          </a:p>
        </p:txBody>
      </p:sp>
      <p:sp>
        <p:nvSpPr>
          <p:cNvPr id="38" name="Oval 37"/>
          <p:cNvSpPr/>
          <p:nvPr/>
        </p:nvSpPr>
        <p:spPr>
          <a:xfrm>
            <a:off x="8682228" y="2057400"/>
            <a:ext cx="694944" cy="694944"/>
          </a:xfrm>
          <a:prstGeom prst="ellipse">
            <a:avLst/>
          </a:prstGeom>
          <a:solidFill>
            <a:srgbClr val="333D47"/>
          </a:solidFill>
          <a:ln>
            <a:noFill/>
          </a:ln>
        </p:spPr>
        <p:txBody>
          <a:bodyPr rtlCol="0" anchor="ctr"/>
          <a:lstStyle/>
          <a:p/>
        </p:txBody>
      </p:sp>
      <p:pic>
        <p:nvPicPr>
          <p:cNvPr id="39" name="Picture 38" descr="LuUser_w.png"/>
          <p:cNvPicPr>
            <a:picLocks noChangeAspect="1"/>
          </p:cNvPicPr>
          <p:nvPr/>
        </p:nvPicPr>
        <p:blipFill>
          <a:blip r:embed="rId3"/>
          <a:stretch>
            <a:fillRect/>
          </a:stretch>
        </p:blipFill>
        <p:spPr>
          <a:xfrm>
            <a:off x="8837676" y="2212848"/>
            <a:ext cx="384048" cy="384048"/>
          </a:xfrm>
          <a:prstGeom prst="rect">
            <a:avLst/>
          </a:prstGeom>
        </p:spPr>
      </p:pic>
      <p:sp>
        <p:nvSpPr>
          <p:cNvPr id="40" name="Rounded Rectangle 39"/>
          <p:cNvSpPr/>
          <p:nvPr/>
        </p:nvSpPr>
        <p:spPr>
          <a:xfrm>
            <a:off x="6441948"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1" name="Picture 40" descr="LuBrainCircuit_r.png"/>
          <p:cNvPicPr>
            <a:picLocks noChangeAspect="1"/>
          </p:cNvPicPr>
          <p:nvPr/>
        </p:nvPicPr>
        <p:blipFill>
          <a:blip r:embed="rId8"/>
          <a:stretch>
            <a:fillRect/>
          </a:stretch>
        </p:blipFill>
        <p:spPr>
          <a:xfrm>
            <a:off x="6679692" y="3977639"/>
            <a:ext cx="310896" cy="310896"/>
          </a:xfrm>
          <a:prstGeom prst="rect">
            <a:avLst/>
          </a:prstGeom>
        </p:spPr>
      </p:pic>
      <p:sp>
        <p:nvSpPr>
          <p:cNvPr id="42" name="TextBox 41"/>
          <p:cNvSpPr txBox="1"/>
          <p:nvPr/>
        </p:nvSpPr>
        <p:spPr>
          <a:xfrm>
            <a:off x="6441948"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A</a:t>
            </a:r>
          </a:p>
        </p:txBody>
      </p:sp>
      <p:cxnSp>
        <p:nvCxnSpPr>
          <p:cNvPr id="43" name="Connector 42"/>
          <p:cNvCxnSpPr/>
          <p:nvPr/>
        </p:nvCxnSpPr>
        <p:spPr>
          <a:xfrm>
            <a:off x="6835140" y="3566160"/>
            <a:ext cx="0" cy="32004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7319771"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5" name="Picture 44" descr="LuBrainCircuit_r.png"/>
          <p:cNvPicPr>
            <a:picLocks noChangeAspect="1"/>
          </p:cNvPicPr>
          <p:nvPr/>
        </p:nvPicPr>
        <p:blipFill>
          <a:blip r:embed="rId8"/>
          <a:stretch>
            <a:fillRect/>
          </a:stretch>
        </p:blipFill>
        <p:spPr>
          <a:xfrm>
            <a:off x="7557515" y="3977639"/>
            <a:ext cx="310896" cy="310896"/>
          </a:xfrm>
          <a:prstGeom prst="rect">
            <a:avLst/>
          </a:prstGeom>
        </p:spPr>
      </p:pic>
      <p:sp>
        <p:nvSpPr>
          <p:cNvPr id="46" name="TextBox 45"/>
          <p:cNvSpPr txBox="1"/>
          <p:nvPr/>
        </p:nvSpPr>
        <p:spPr>
          <a:xfrm>
            <a:off x="7319771"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B</a:t>
            </a:r>
          </a:p>
        </p:txBody>
      </p:sp>
      <p:cxnSp>
        <p:nvCxnSpPr>
          <p:cNvPr id="47" name="Connector 46"/>
          <p:cNvCxnSpPr/>
          <p:nvPr/>
        </p:nvCxnSpPr>
        <p:spPr>
          <a:xfrm>
            <a:off x="7712963" y="3566160"/>
            <a:ext cx="0" cy="32004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197596"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49" name="Picture 48" descr="LuBrainCircuit_r.png"/>
          <p:cNvPicPr>
            <a:picLocks noChangeAspect="1"/>
          </p:cNvPicPr>
          <p:nvPr/>
        </p:nvPicPr>
        <p:blipFill>
          <a:blip r:embed="rId8"/>
          <a:stretch>
            <a:fillRect/>
          </a:stretch>
        </p:blipFill>
        <p:spPr>
          <a:xfrm>
            <a:off x="8435340" y="3977639"/>
            <a:ext cx="310896" cy="310896"/>
          </a:xfrm>
          <a:prstGeom prst="rect">
            <a:avLst/>
          </a:prstGeom>
        </p:spPr>
      </p:pic>
      <p:sp>
        <p:nvSpPr>
          <p:cNvPr id="50" name="TextBox 49"/>
          <p:cNvSpPr txBox="1"/>
          <p:nvPr/>
        </p:nvSpPr>
        <p:spPr>
          <a:xfrm>
            <a:off x="8197596"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AI tool</a:t>
            </a:r>
          </a:p>
          <a:p>
            <a:pPr algn="ctr"/>
            <a:r>
              <a:rPr sz="1200" b="0" i="0">
                <a:solidFill>
                  <a:srgbClr val="333D47"/>
                </a:solidFill>
                <a:latin typeface="Arial"/>
              </a:rPr>
              <a:t>team C</a:t>
            </a:r>
          </a:p>
        </p:txBody>
      </p:sp>
      <p:cxnSp>
        <p:nvCxnSpPr>
          <p:cNvPr id="51" name="Connector 50"/>
          <p:cNvCxnSpPr/>
          <p:nvPr/>
        </p:nvCxnSpPr>
        <p:spPr>
          <a:xfrm>
            <a:off x="8590788" y="3566160"/>
            <a:ext cx="0" cy="32004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9075420"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53" name="Picture 52" descr="LuServer_r.png"/>
          <p:cNvPicPr>
            <a:picLocks noChangeAspect="1"/>
          </p:cNvPicPr>
          <p:nvPr/>
        </p:nvPicPr>
        <p:blipFill>
          <a:blip r:embed="rId9"/>
          <a:stretch>
            <a:fillRect/>
          </a:stretch>
        </p:blipFill>
        <p:spPr>
          <a:xfrm>
            <a:off x="9313164" y="3977639"/>
            <a:ext cx="310896" cy="310896"/>
          </a:xfrm>
          <a:prstGeom prst="rect">
            <a:avLst/>
          </a:prstGeom>
        </p:spPr>
      </p:pic>
      <p:sp>
        <p:nvSpPr>
          <p:cNvPr id="54" name="TextBox 53"/>
          <p:cNvSpPr txBox="1"/>
          <p:nvPr/>
        </p:nvSpPr>
        <p:spPr>
          <a:xfrm>
            <a:off x="9075420"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Core</a:t>
            </a:r>
          </a:p>
          <a:p>
            <a:pPr algn="ctr"/>
            <a:r>
              <a:rPr sz="1200" b="0" i="0">
                <a:solidFill>
                  <a:srgbClr val="333D47"/>
                </a:solidFill>
                <a:latin typeface="Arial"/>
              </a:rPr>
              <a:t>systems</a:t>
            </a:r>
          </a:p>
        </p:txBody>
      </p:sp>
      <p:cxnSp>
        <p:nvCxnSpPr>
          <p:cNvPr id="55" name="Connector 54"/>
          <p:cNvCxnSpPr/>
          <p:nvPr/>
        </p:nvCxnSpPr>
        <p:spPr>
          <a:xfrm>
            <a:off x="9468612" y="3566160"/>
            <a:ext cx="0" cy="32004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9953244"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57" name="Picture 56" descr="LuDatabase_r.png"/>
          <p:cNvPicPr>
            <a:picLocks noChangeAspect="1"/>
          </p:cNvPicPr>
          <p:nvPr/>
        </p:nvPicPr>
        <p:blipFill>
          <a:blip r:embed="rId10"/>
          <a:stretch>
            <a:fillRect/>
          </a:stretch>
        </p:blipFill>
        <p:spPr>
          <a:xfrm>
            <a:off x="10190988" y="3977639"/>
            <a:ext cx="310896" cy="310896"/>
          </a:xfrm>
          <a:prstGeom prst="rect">
            <a:avLst/>
          </a:prstGeom>
        </p:spPr>
      </p:pic>
      <p:sp>
        <p:nvSpPr>
          <p:cNvPr id="58" name="TextBox 57"/>
          <p:cNvSpPr txBox="1"/>
          <p:nvPr/>
        </p:nvSpPr>
        <p:spPr>
          <a:xfrm>
            <a:off x="9953244"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Data &amp;</a:t>
            </a:r>
          </a:p>
          <a:p>
            <a:pPr algn="ctr"/>
            <a:r>
              <a:rPr sz="1200" b="0" i="0">
                <a:solidFill>
                  <a:srgbClr val="333D47"/>
                </a:solidFill>
                <a:latin typeface="Arial"/>
              </a:rPr>
              <a:t>documents</a:t>
            </a:r>
          </a:p>
        </p:txBody>
      </p:sp>
      <p:cxnSp>
        <p:nvCxnSpPr>
          <p:cNvPr id="59" name="Connector 58"/>
          <p:cNvCxnSpPr/>
          <p:nvPr/>
        </p:nvCxnSpPr>
        <p:spPr>
          <a:xfrm>
            <a:off x="10346436" y="3566160"/>
            <a:ext cx="0" cy="32004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0831067" y="3886200"/>
            <a:ext cx="786384" cy="960120"/>
          </a:xfrm>
          <a:prstGeom prst="roundRect">
            <a:avLst>
              <a:gd name="adj" fmla="val 10000"/>
            </a:avLst>
          </a:prstGeom>
          <a:solidFill>
            <a:srgbClr val="FFFFFF"/>
          </a:solidFill>
          <a:ln w="9525">
            <a:solidFill>
              <a:srgbClr val="D9D6D3"/>
            </a:solidFill>
          </a:ln>
        </p:spPr>
        <p:txBody>
          <a:bodyPr rtlCol="0" anchor="ctr"/>
          <a:lstStyle/>
          <a:p/>
        </p:txBody>
      </p:sp>
      <p:pic>
        <p:nvPicPr>
          <p:cNvPr id="61" name="Picture 60" descr="LuGlobe_r.png"/>
          <p:cNvPicPr>
            <a:picLocks noChangeAspect="1"/>
          </p:cNvPicPr>
          <p:nvPr/>
        </p:nvPicPr>
        <p:blipFill>
          <a:blip r:embed="rId11"/>
          <a:stretch>
            <a:fillRect/>
          </a:stretch>
        </p:blipFill>
        <p:spPr>
          <a:xfrm>
            <a:off x="11068811" y="3977639"/>
            <a:ext cx="310896" cy="310896"/>
          </a:xfrm>
          <a:prstGeom prst="rect">
            <a:avLst/>
          </a:prstGeom>
        </p:spPr>
      </p:pic>
      <p:sp>
        <p:nvSpPr>
          <p:cNvPr id="62" name="TextBox 61"/>
          <p:cNvSpPr txBox="1"/>
          <p:nvPr/>
        </p:nvSpPr>
        <p:spPr>
          <a:xfrm>
            <a:off x="10831067" y="4343400"/>
            <a:ext cx="786384" cy="457200"/>
          </a:xfrm>
          <a:prstGeom prst="rect">
            <a:avLst/>
          </a:prstGeom>
          <a:noFill/>
        </p:spPr>
        <p:txBody>
          <a:bodyPr wrap="square" lIns="0" rIns="0" tIns="0" bIns="0" anchor="t">
            <a:noAutofit/>
          </a:bodyPr>
          <a:lstStyle/>
          <a:p>
            <a:pPr algn="ctr"/>
            <a:r>
              <a:rPr sz="1200" b="0" i="0">
                <a:solidFill>
                  <a:srgbClr val="333D47"/>
                </a:solidFill>
                <a:latin typeface="Arial"/>
              </a:rPr>
              <a:t>External</a:t>
            </a:r>
          </a:p>
          <a:p>
            <a:pPr algn="ctr"/>
            <a:r>
              <a:rPr sz="1200" b="0" i="0">
                <a:solidFill>
                  <a:srgbClr val="333D47"/>
                </a:solidFill>
                <a:latin typeface="Arial"/>
              </a:rPr>
              <a:t>info</a:t>
            </a:r>
          </a:p>
        </p:txBody>
      </p:sp>
      <p:cxnSp>
        <p:nvCxnSpPr>
          <p:cNvPr id="63" name="Connector 62"/>
          <p:cNvCxnSpPr/>
          <p:nvPr/>
        </p:nvCxnSpPr>
        <p:spPr>
          <a:xfrm>
            <a:off x="11224259" y="3566160"/>
            <a:ext cx="0" cy="320040"/>
          </a:xfrm>
          <a:prstGeom prst="line">
            <a:avLst/>
          </a:prstGeom>
          <a:ln w="19050">
            <a:solidFill>
              <a:srgbClr val="D31145"/>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9029700" y="2752344"/>
            <a:ext cx="0" cy="219456"/>
          </a:xfrm>
          <a:prstGeom prst="line">
            <a:avLst/>
          </a:prstGeom>
          <a:ln w="25400">
            <a:solidFill>
              <a:srgbClr val="D31145"/>
            </a:solidFill>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6441948" y="2971800"/>
            <a:ext cx="5175504" cy="594360"/>
          </a:xfrm>
          <a:prstGeom prst="roundRect">
            <a:avLst>
              <a:gd name="adj" fmla="val 15000"/>
            </a:avLst>
          </a:prstGeom>
          <a:solidFill>
            <a:srgbClr val="D31145"/>
          </a:solidFill>
          <a:ln>
            <a:noFill/>
          </a:ln>
        </p:spPr>
        <p:txBody>
          <a:bodyPr rtlCol="0" anchor="ctr" wrap="square" lIns="0" rIns="0" tIns="0" bIns="0">
            <a:noAutofit/>
          </a:bodyPr>
          <a:lstStyle/>
          <a:p>
            <a:pPr algn="ctr"/>
            <a:r>
              <a:rPr sz="1800" b="1" i="0">
                <a:solidFill>
                  <a:srgbClr val="FFFFFF"/>
                </a:solidFill>
                <a:latin typeface="Arial"/>
              </a:rPr>
              <a:t>Riley</a:t>
            </a:r>
            <a:r>
              <a:rPr sz="1400" b="0" i="0">
                <a:solidFill>
                  <a:srgbClr val="FFFFFF"/>
                </a:solidFill>
                <a:latin typeface="Arial"/>
              </a:rPr>
              <a:t>   one coworker layer</a:t>
            </a:r>
          </a:p>
        </p:txBody>
      </p:sp>
      <p:sp>
        <p:nvSpPr>
          <p:cNvPr id="66" name="TextBox 65"/>
          <p:cNvSpPr txBox="1"/>
          <p:nvPr/>
        </p:nvSpPr>
        <p:spPr>
          <a:xfrm>
            <a:off x="9532620" y="2240280"/>
            <a:ext cx="2103120" cy="365760"/>
          </a:xfrm>
          <a:prstGeom prst="rect">
            <a:avLst/>
          </a:prstGeom>
          <a:noFill/>
        </p:spPr>
        <p:txBody>
          <a:bodyPr wrap="square" lIns="0" rIns="0" tIns="0" bIns="0" anchor="t">
            <a:noAutofit/>
          </a:bodyPr>
          <a:lstStyle/>
          <a:p>
            <a:pPr algn="l"/>
            <a:r>
              <a:rPr sz="1300" b="0" i="1">
                <a:solidFill>
                  <a:srgbClr val="D31145"/>
                </a:solidFill>
                <a:latin typeface="Arial"/>
              </a:rPr>
              <a:t>one conversation</a:t>
            </a:r>
          </a:p>
        </p:txBody>
      </p:sp>
      <p:sp>
        <p:nvSpPr>
          <p:cNvPr id="67" name="TextBox 66"/>
          <p:cNvSpPr txBox="1"/>
          <p:nvPr/>
        </p:nvSpPr>
        <p:spPr>
          <a:xfrm>
            <a:off x="457200" y="5138928"/>
            <a:ext cx="5440680" cy="365760"/>
          </a:xfrm>
          <a:prstGeom prst="rect">
            <a:avLst/>
          </a:prstGeom>
          <a:noFill/>
        </p:spPr>
        <p:txBody>
          <a:bodyPr wrap="square" lIns="0" rIns="0" tIns="0" bIns="0" anchor="t">
            <a:noAutofit/>
          </a:bodyPr>
          <a:lstStyle/>
          <a:p>
            <a:pPr algn="ctr"/>
            <a:r>
              <a:rPr sz="1500" b="1" i="0">
                <a:solidFill>
                  <a:srgbClr val="333D47"/>
                </a:solidFill>
                <a:latin typeface="Arial"/>
              </a:rPr>
              <a:t>Every new tool is one more to find, learn and combine.</a:t>
            </a:r>
          </a:p>
        </p:txBody>
      </p:sp>
      <p:sp>
        <p:nvSpPr>
          <p:cNvPr id="68" name="TextBox 67"/>
          <p:cNvSpPr txBox="1"/>
          <p:nvPr/>
        </p:nvSpPr>
        <p:spPr>
          <a:xfrm>
            <a:off x="6309360" y="5138928"/>
            <a:ext cx="5440680" cy="365760"/>
          </a:xfrm>
          <a:prstGeom prst="rect">
            <a:avLst/>
          </a:prstGeom>
          <a:noFill/>
        </p:spPr>
        <p:txBody>
          <a:bodyPr wrap="square" lIns="0" rIns="0" tIns="0" bIns="0" anchor="t">
            <a:noAutofit/>
          </a:bodyPr>
          <a:lstStyle/>
          <a:p>
            <a:pPr algn="ctr"/>
            <a:r>
              <a:rPr sz="1500" b="1" i="0">
                <a:solidFill>
                  <a:srgbClr val="D31145"/>
                </a:solidFill>
                <a:latin typeface="Arial"/>
              </a:rPr>
              <a:t>Every new capability is reached through one conversation.</a:t>
            </a:r>
          </a:p>
        </p:txBody>
      </p:sp>
      <p:sp>
        <p:nvSpPr>
          <p:cNvPr id="69" name="TextBox 68"/>
          <p:cNvSpPr txBox="1"/>
          <p:nvPr/>
        </p:nvSpPr>
        <p:spPr>
          <a:xfrm>
            <a:off x="457200" y="5623560"/>
            <a:ext cx="10241280" cy="274320"/>
          </a:xfrm>
          <a:prstGeom prst="rect">
            <a:avLst/>
          </a:prstGeom>
          <a:noFill/>
        </p:spPr>
        <p:txBody>
          <a:bodyPr wrap="square" lIns="0" rIns="0" tIns="0" bIns="0" anchor="t">
            <a:noAutofit/>
          </a:bodyPr>
          <a:lstStyle/>
          <a:p>
            <a:pPr algn="l"/>
            <a:r>
              <a:rPr sz="1200" b="0" i="0">
                <a:solidFill>
                  <a:srgbClr val="5A6570"/>
                </a:solidFill>
                <a:latin typeface="Arial"/>
              </a:rPr>
              <a:t>Context: interaction workers spend nearly 20% of the workweek looking for internal information or tracking down colleagues (McKinsey Global Institute, 2012).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Ask for an outcome. Approve finished work.</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HOW IT WORKS</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4</a:t>
            </a:fld>
            <a:endParaRPr lang="en-US" dirty="0"/>
          </a:p>
        </p:txBody>
      </p:sp>
      <p:sp>
        <p:nvSpPr>
          <p:cNvPr id="6" name="Rounded Rectangle 5"/>
          <p:cNvSpPr/>
          <p:nvPr/>
        </p:nvSpPr>
        <p:spPr>
          <a:xfrm>
            <a:off x="457200" y="1572768"/>
            <a:ext cx="6355080" cy="4023360"/>
          </a:xfrm>
          <a:prstGeom prst="roundRect">
            <a:avLst>
              <a:gd name="adj" fmla="val 3000"/>
            </a:avLst>
          </a:prstGeom>
          <a:solidFill>
            <a:srgbClr val="FFFFFF"/>
          </a:solidFill>
          <a:ln w="12700">
            <a:solidFill>
              <a:srgbClr val="C9C4C0"/>
            </a:solidFill>
          </a:ln>
        </p:spPr>
        <p:txBody>
          <a:bodyPr rtlCol="0" anchor="ctr"/>
          <a:lstStyle/>
          <a:p/>
        </p:txBody>
      </p:sp>
      <p:sp>
        <p:nvSpPr>
          <p:cNvPr id="7" name="Rectangle 6"/>
          <p:cNvSpPr/>
          <p:nvPr/>
        </p:nvSpPr>
        <p:spPr>
          <a:xfrm>
            <a:off x="475488" y="1591056"/>
            <a:ext cx="6318504" cy="475488"/>
          </a:xfrm>
          <a:prstGeom prst="rect">
            <a:avLst/>
          </a:prstGeom>
          <a:solidFill>
            <a:srgbClr val="F3F2F1"/>
          </a:solidFill>
          <a:ln>
            <a:noFill/>
          </a:ln>
        </p:spPr>
        <p:txBody>
          <a:bodyPr rtlCol="0" anchor="ctr"/>
          <a:lstStyle/>
          <a:p/>
        </p:txBody>
      </p:sp>
      <p:sp>
        <p:nvSpPr>
          <p:cNvPr id="8" name="Oval 7"/>
          <p:cNvSpPr/>
          <p:nvPr/>
        </p:nvSpPr>
        <p:spPr>
          <a:xfrm>
            <a:off x="640080" y="1664208"/>
            <a:ext cx="329184" cy="329184"/>
          </a:xfrm>
          <a:prstGeom prst="ellipse">
            <a:avLst/>
          </a:prstGeom>
          <a:solidFill>
            <a:srgbClr val="D31145"/>
          </a:solidFill>
          <a:ln>
            <a:noFill/>
          </a:ln>
        </p:spPr>
        <p:txBody>
          <a:bodyPr rtlCol="0" anchor="ctr"/>
          <a:lstStyle/>
          <a:p/>
        </p:txBody>
      </p:sp>
      <p:sp>
        <p:nvSpPr>
          <p:cNvPr id="9" name="TextBox 8"/>
          <p:cNvSpPr txBox="1"/>
          <p:nvPr/>
        </p:nvSpPr>
        <p:spPr>
          <a:xfrm>
            <a:off x="640080" y="1664208"/>
            <a:ext cx="329184" cy="329184"/>
          </a:xfrm>
          <a:prstGeom prst="rect">
            <a:avLst/>
          </a:prstGeom>
          <a:noFill/>
        </p:spPr>
        <p:txBody>
          <a:bodyPr wrap="square" lIns="0" rIns="0" tIns="0" bIns="0" anchor="ctr">
            <a:noAutofit/>
          </a:bodyPr>
          <a:lstStyle/>
          <a:p>
            <a:pPr algn="ctr"/>
            <a:r>
              <a:rPr sz="1400" b="1" i="0">
                <a:solidFill>
                  <a:srgbClr val="FFFFFF"/>
                </a:solidFill>
                <a:latin typeface="Arial"/>
              </a:rPr>
              <a:t>R</a:t>
            </a:r>
          </a:p>
        </p:txBody>
      </p:sp>
      <p:sp>
        <p:nvSpPr>
          <p:cNvPr id="10" name="TextBox 9"/>
          <p:cNvSpPr txBox="1"/>
          <p:nvPr/>
        </p:nvSpPr>
        <p:spPr>
          <a:xfrm>
            <a:off x="1078992" y="1645920"/>
            <a:ext cx="2743200" cy="365760"/>
          </a:xfrm>
          <a:prstGeom prst="rect">
            <a:avLst/>
          </a:prstGeom>
          <a:noFill/>
        </p:spPr>
        <p:txBody>
          <a:bodyPr wrap="square" lIns="0" rIns="0" tIns="0" bIns="0" anchor="ctr">
            <a:noAutofit/>
          </a:bodyPr>
          <a:lstStyle/>
          <a:p>
            <a:pPr algn="l"/>
            <a:r>
              <a:rPr sz="1400" b="1" i="0">
                <a:solidFill>
                  <a:srgbClr val="333D47"/>
                </a:solidFill>
                <a:latin typeface="Arial"/>
              </a:rPr>
              <a:t>Riley</a:t>
            </a:r>
            <a:r>
              <a:rPr sz="1200" b="0" i="0">
                <a:solidFill>
                  <a:srgbClr val="5A6570"/>
                </a:solidFill>
                <a:latin typeface="Arial"/>
              </a:rPr>
              <a:t>   AIA virtual coworker</a:t>
            </a:r>
          </a:p>
        </p:txBody>
      </p:sp>
      <p:sp>
        <p:nvSpPr>
          <p:cNvPr id="11" name="TextBox 10"/>
          <p:cNvSpPr txBox="1"/>
          <p:nvPr/>
        </p:nvSpPr>
        <p:spPr>
          <a:xfrm>
            <a:off x="4160520" y="1645920"/>
            <a:ext cx="2468880" cy="365760"/>
          </a:xfrm>
          <a:prstGeom prst="rect">
            <a:avLst/>
          </a:prstGeom>
          <a:noFill/>
        </p:spPr>
        <p:txBody>
          <a:bodyPr wrap="square" lIns="0" rIns="0" tIns="0" bIns="0" anchor="ctr">
            <a:noAutofit/>
          </a:bodyPr>
          <a:lstStyle/>
          <a:p>
            <a:pPr algn="r"/>
            <a:r>
              <a:rPr sz="1200" b="0" i="0">
                <a:solidFill>
                  <a:srgbClr val="5A6570"/>
                </a:solidFill>
                <a:latin typeface="Arial"/>
              </a:rPr>
              <a:t>Microsoft Teams chat (illustrative)</a:t>
            </a:r>
          </a:p>
        </p:txBody>
      </p:sp>
      <p:sp>
        <p:nvSpPr>
          <p:cNvPr id="12" name="Rounded Rectangle 11"/>
          <p:cNvSpPr/>
          <p:nvPr/>
        </p:nvSpPr>
        <p:spPr>
          <a:xfrm>
            <a:off x="1783080" y="2194560"/>
            <a:ext cx="4846320" cy="1005840"/>
          </a:xfrm>
          <a:prstGeom prst="roundRect">
            <a:avLst>
              <a:gd name="adj" fmla="val 8000"/>
            </a:avLst>
          </a:prstGeom>
          <a:solidFill>
            <a:srgbClr val="E9E4E1"/>
          </a:solidFill>
          <a:ln>
            <a:noFill/>
          </a:ln>
        </p:spPr>
        <p:txBody>
          <a:bodyPr rtlCol="0" anchor="ctr" wrap="square" lIns="109728" rIns="109728" tIns="109728" bIns="109728">
            <a:noAutofit/>
          </a:bodyPr>
          <a:lstStyle/>
          <a:p>
            <a:pPr algn="l"/>
            <a:r>
              <a:rPr sz="1300" b="0" i="0">
                <a:solidFill>
                  <a:srgbClr val="333D47"/>
                </a:solidFill>
                <a:latin typeface="Arial"/>
              </a:rPr>
              <a:t>“Review the latest customer complaints, identify the most common issues, compare them with the previous quarter, research relevant external information, prepare a management summary and draft a presentation.”</a:t>
            </a:r>
          </a:p>
        </p:txBody>
      </p:sp>
      <p:sp>
        <p:nvSpPr>
          <p:cNvPr id="13" name="Oval 12"/>
          <p:cNvSpPr/>
          <p:nvPr/>
        </p:nvSpPr>
        <p:spPr>
          <a:xfrm>
            <a:off x="576072" y="2560320"/>
            <a:ext cx="274320" cy="274320"/>
          </a:xfrm>
          <a:prstGeom prst="ellipse">
            <a:avLst/>
          </a:prstGeom>
          <a:solidFill>
            <a:srgbClr val="D31145"/>
          </a:solidFill>
          <a:ln>
            <a:noFill/>
          </a:ln>
        </p:spPr>
        <p:txBody>
          <a:bodyPr rtlCol="0" anchor="ctr"/>
          <a:lstStyle/>
          <a:p/>
        </p:txBody>
      </p:sp>
      <p:sp>
        <p:nvSpPr>
          <p:cNvPr id="14" name="TextBox 13"/>
          <p:cNvSpPr txBox="1"/>
          <p:nvPr/>
        </p:nvSpPr>
        <p:spPr>
          <a:xfrm>
            <a:off x="576072" y="2560320"/>
            <a:ext cx="274320" cy="274320"/>
          </a:xfrm>
          <a:prstGeom prst="rect">
            <a:avLst/>
          </a:prstGeom>
          <a:noFill/>
        </p:spPr>
        <p:txBody>
          <a:bodyPr wrap="square" lIns="0" rIns="0" tIns="0" bIns="0" anchor="ctr">
            <a:noAutofit/>
          </a:bodyPr>
          <a:lstStyle/>
          <a:p>
            <a:pPr algn="ctr"/>
            <a:r>
              <a:rPr sz="1200" b="1" i="0">
                <a:solidFill>
                  <a:srgbClr val="FFFFFF"/>
                </a:solidFill>
                <a:latin typeface="Arial"/>
              </a:rPr>
              <a:t>1</a:t>
            </a:r>
          </a:p>
        </p:txBody>
      </p:sp>
      <p:sp>
        <p:nvSpPr>
          <p:cNvPr id="15" name="Rounded Rectangle 14"/>
          <p:cNvSpPr/>
          <p:nvPr/>
        </p:nvSpPr>
        <p:spPr>
          <a:xfrm>
            <a:off x="1005840" y="3337560"/>
            <a:ext cx="5623560" cy="1389888"/>
          </a:xfrm>
          <a:prstGeom prst="roundRect">
            <a:avLst>
              <a:gd name="adj" fmla="val 6000"/>
            </a:avLst>
          </a:prstGeom>
          <a:solidFill>
            <a:srgbClr val="FBE7EC"/>
          </a:solidFill>
          <a:ln>
            <a:noFill/>
          </a:ln>
        </p:spPr>
        <p:txBody>
          <a:bodyPr rtlCol="0" anchor="ctr"/>
          <a:lstStyle/>
          <a:p/>
        </p:txBody>
      </p:sp>
      <p:sp>
        <p:nvSpPr>
          <p:cNvPr id="16" name="TextBox 15"/>
          <p:cNvSpPr txBox="1"/>
          <p:nvPr/>
        </p:nvSpPr>
        <p:spPr>
          <a:xfrm>
            <a:off x="1143000" y="3401568"/>
            <a:ext cx="5349240" cy="274320"/>
          </a:xfrm>
          <a:prstGeom prst="rect">
            <a:avLst/>
          </a:prstGeom>
          <a:noFill/>
        </p:spPr>
        <p:txBody>
          <a:bodyPr wrap="square" lIns="0" rIns="0" tIns="0" bIns="0" anchor="t">
            <a:noAutofit/>
          </a:bodyPr>
          <a:lstStyle/>
          <a:p>
            <a:pPr algn="l"/>
            <a:r>
              <a:rPr sz="1300" b="1" i="0">
                <a:solidFill>
                  <a:srgbClr val="333D47"/>
                </a:solidFill>
                <a:latin typeface="Arial"/>
              </a:rPr>
              <a:t>Here’s my plan, using only what you’re authorized to access:</a:t>
            </a:r>
          </a:p>
        </p:txBody>
      </p:sp>
      <p:pic>
        <p:nvPicPr>
          <p:cNvPr id="17" name="Picture 16" descr="LuCircleCheck_r.png"/>
          <p:cNvPicPr>
            <a:picLocks noChangeAspect="1"/>
          </p:cNvPicPr>
          <p:nvPr/>
        </p:nvPicPr>
        <p:blipFill>
          <a:blip r:embed="rId3"/>
          <a:stretch>
            <a:fillRect/>
          </a:stretch>
        </p:blipFill>
        <p:spPr>
          <a:xfrm>
            <a:off x="1170432" y="3749039"/>
            <a:ext cx="182880" cy="182880"/>
          </a:xfrm>
          <a:prstGeom prst="rect">
            <a:avLst/>
          </a:prstGeom>
        </p:spPr>
      </p:pic>
      <p:sp>
        <p:nvSpPr>
          <p:cNvPr id="18" name="TextBox 17"/>
          <p:cNvSpPr txBox="1"/>
          <p:nvPr/>
        </p:nvSpPr>
        <p:spPr>
          <a:xfrm>
            <a:off x="1426464" y="3730752"/>
            <a:ext cx="3291840" cy="237744"/>
          </a:xfrm>
          <a:prstGeom prst="rect">
            <a:avLst/>
          </a:prstGeom>
          <a:noFill/>
        </p:spPr>
        <p:txBody>
          <a:bodyPr wrap="square" lIns="0" rIns="0" tIns="0" bIns="0" anchor="t">
            <a:noAutofit/>
          </a:bodyPr>
          <a:lstStyle/>
          <a:p>
            <a:pPr algn="l"/>
            <a:r>
              <a:rPr sz="1250" b="0" i="0">
                <a:solidFill>
                  <a:srgbClr val="333D47"/>
                </a:solidFill>
                <a:latin typeface="Arial"/>
              </a:rPr>
              <a:t>Complaint records, this quarter and last</a:t>
            </a:r>
          </a:p>
        </p:txBody>
      </p:sp>
      <p:sp>
        <p:nvSpPr>
          <p:cNvPr id="19" name="TextBox 18"/>
          <p:cNvSpPr txBox="1"/>
          <p:nvPr/>
        </p:nvSpPr>
        <p:spPr>
          <a:xfrm>
            <a:off x="4800600" y="3730752"/>
            <a:ext cx="1645920" cy="237744"/>
          </a:xfrm>
          <a:prstGeom prst="rect">
            <a:avLst/>
          </a:prstGeom>
          <a:noFill/>
        </p:spPr>
        <p:txBody>
          <a:bodyPr wrap="square" lIns="0" rIns="0" tIns="0" bIns="0" anchor="t">
            <a:noAutofit/>
          </a:bodyPr>
          <a:lstStyle/>
          <a:p>
            <a:pPr algn="r"/>
            <a:r>
              <a:rPr sz="1200" b="1" i="0">
                <a:solidFill>
                  <a:srgbClr val="D31145"/>
                </a:solidFill>
                <a:latin typeface="Arial"/>
              </a:rPr>
              <a:t>AIA data</a:t>
            </a:r>
          </a:p>
        </p:txBody>
      </p:sp>
      <p:pic>
        <p:nvPicPr>
          <p:cNvPr id="20" name="Picture 19" descr="LuCircleCheck_r.png"/>
          <p:cNvPicPr>
            <a:picLocks noChangeAspect="1"/>
          </p:cNvPicPr>
          <p:nvPr/>
        </p:nvPicPr>
        <p:blipFill>
          <a:blip r:embed="rId3"/>
          <a:stretch>
            <a:fillRect/>
          </a:stretch>
        </p:blipFill>
        <p:spPr>
          <a:xfrm>
            <a:off x="1170432" y="3991355"/>
            <a:ext cx="182880" cy="182880"/>
          </a:xfrm>
          <a:prstGeom prst="rect">
            <a:avLst/>
          </a:prstGeom>
        </p:spPr>
      </p:pic>
      <p:sp>
        <p:nvSpPr>
          <p:cNvPr id="21" name="TextBox 20"/>
          <p:cNvSpPr txBox="1"/>
          <p:nvPr/>
        </p:nvSpPr>
        <p:spPr>
          <a:xfrm>
            <a:off x="1426464" y="3973068"/>
            <a:ext cx="3291840" cy="237744"/>
          </a:xfrm>
          <a:prstGeom prst="rect">
            <a:avLst/>
          </a:prstGeom>
          <a:noFill/>
        </p:spPr>
        <p:txBody>
          <a:bodyPr wrap="square" lIns="0" rIns="0" tIns="0" bIns="0" anchor="t">
            <a:noAutofit/>
          </a:bodyPr>
          <a:lstStyle/>
          <a:p>
            <a:pPr algn="l"/>
            <a:r>
              <a:rPr sz="1250" b="0" i="0">
                <a:solidFill>
                  <a:srgbClr val="333D47"/>
                </a:solidFill>
                <a:latin typeface="Arial"/>
              </a:rPr>
              <a:t>Issues grouped and compared by theme</a:t>
            </a:r>
          </a:p>
        </p:txBody>
      </p:sp>
      <p:sp>
        <p:nvSpPr>
          <p:cNvPr id="22" name="TextBox 21"/>
          <p:cNvSpPr txBox="1"/>
          <p:nvPr/>
        </p:nvSpPr>
        <p:spPr>
          <a:xfrm>
            <a:off x="4800600" y="3973068"/>
            <a:ext cx="1645920" cy="237744"/>
          </a:xfrm>
          <a:prstGeom prst="rect">
            <a:avLst/>
          </a:prstGeom>
          <a:noFill/>
        </p:spPr>
        <p:txBody>
          <a:bodyPr wrap="square" lIns="0" rIns="0" tIns="0" bIns="0" anchor="t">
            <a:noAutofit/>
          </a:bodyPr>
          <a:lstStyle/>
          <a:p>
            <a:pPr algn="r"/>
            <a:r>
              <a:rPr sz="1200" b="1" i="0">
                <a:solidFill>
                  <a:srgbClr val="D31145"/>
                </a:solidFill>
                <a:latin typeface="Arial"/>
              </a:rPr>
              <a:t>AIA AI capability</a:t>
            </a:r>
          </a:p>
        </p:txBody>
      </p:sp>
      <p:pic>
        <p:nvPicPr>
          <p:cNvPr id="23" name="Picture 22" descr="LuCircleCheck_r.png"/>
          <p:cNvPicPr>
            <a:picLocks noChangeAspect="1"/>
          </p:cNvPicPr>
          <p:nvPr/>
        </p:nvPicPr>
        <p:blipFill>
          <a:blip r:embed="rId3"/>
          <a:stretch>
            <a:fillRect/>
          </a:stretch>
        </p:blipFill>
        <p:spPr>
          <a:xfrm>
            <a:off x="1170432" y="4233672"/>
            <a:ext cx="182880" cy="182880"/>
          </a:xfrm>
          <a:prstGeom prst="rect">
            <a:avLst/>
          </a:prstGeom>
        </p:spPr>
      </p:pic>
      <p:sp>
        <p:nvSpPr>
          <p:cNvPr id="24" name="TextBox 23"/>
          <p:cNvSpPr txBox="1"/>
          <p:nvPr/>
        </p:nvSpPr>
        <p:spPr>
          <a:xfrm>
            <a:off x="1426464" y="4215384"/>
            <a:ext cx="3291840" cy="237744"/>
          </a:xfrm>
          <a:prstGeom prst="rect">
            <a:avLst/>
          </a:prstGeom>
          <a:noFill/>
        </p:spPr>
        <p:txBody>
          <a:bodyPr wrap="square" lIns="0" rIns="0" tIns="0" bIns="0" anchor="t">
            <a:noAutofit/>
          </a:bodyPr>
          <a:lstStyle/>
          <a:p>
            <a:pPr algn="l"/>
            <a:r>
              <a:rPr sz="1250" b="0" i="0">
                <a:solidFill>
                  <a:srgbClr val="333D47"/>
                </a:solidFill>
                <a:latin typeface="Arial"/>
              </a:rPr>
              <a:t>Relevant external information</a:t>
            </a:r>
          </a:p>
        </p:txBody>
      </p:sp>
      <p:sp>
        <p:nvSpPr>
          <p:cNvPr id="25" name="TextBox 24"/>
          <p:cNvSpPr txBox="1"/>
          <p:nvPr/>
        </p:nvSpPr>
        <p:spPr>
          <a:xfrm>
            <a:off x="4800600" y="4215384"/>
            <a:ext cx="1645920" cy="237744"/>
          </a:xfrm>
          <a:prstGeom prst="rect">
            <a:avLst/>
          </a:prstGeom>
          <a:noFill/>
        </p:spPr>
        <p:txBody>
          <a:bodyPr wrap="square" lIns="0" rIns="0" tIns="0" bIns="0" anchor="t">
            <a:noAutofit/>
          </a:bodyPr>
          <a:lstStyle/>
          <a:p>
            <a:pPr algn="r"/>
            <a:r>
              <a:rPr sz="1200" b="1" i="0">
                <a:solidFill>
                  <a:srgbClr val="D31145"/>
                </a:solidFill>
                <a:latin typeface="Arial"/>
              </a:rPr>
              <a:t>Approved sources</a:t>
            </a:r>
          </a:p>
        </p:txBody>
      </p:sp>
      <p:pic>
        <p:nvPicPr>
          <p:cNvPr id="26" name="Picture 25" descr="LuCircleCheck_r.png"/>
          <p:cNvPicPr>
            <a:picLocks noChangeAspect="1"/>
          </p:cNvPicPr>
          <p:nvPr/>
        </p:nvPicPr>
        <p:blipFill>
          <a:blip r:embed="rId3"/>
          <a:stretch>
            <a:fillRect/>
          </a:stretch>
        </p:blipFill>
        <p:spPr>
          <a:xfrm>
            <a:off x="1170432" y="4475988"/>
            <a:ext cx="182880" cy="182880"/>
          </a:xfrm>
          <a:prstGeom prst="rect">
            <a:avLst/>
          </a:prstGeom>
        </p:spPr>
      </p:pic>
      <p:sp>
        <p:nvSpPr>
          <p:cNvPr id="27" name="TextBox 26"/>
          <p:cNvSpPr txBox="1"/>
          <p:nvPr/>
        </p:nvSpPr>
        <p:spPr>
          <a:xfrm>
            <a:off x="1426464" y="4457700"/>
            <a:ext cx="3291840" cy="237744"/>
          </a:xfrm>
          <a:prstGeom prst="rect">
            <a:avLst/>
          </a:prstGeom>
          <a:noFill/>
        </p:spPr>
        <p:txBody>
          <a:bodyPr wrap="square" lIns="0" rIns="0" tIns="0" bIns="0" anchor="t">
            <a:noAutofit/>
          </a:bodyPr>
          <a:lstStyle/>
          <a:p>
            <a:pPr algn="l"/>
            <a:r>
              <a:rPr sz="1250" b="0" i="0">
                <a:solidFill>
                  <a:srgbClr val="333D47"/>
                </a:solidFill>
                <a:latin typeface="Arial"/>
              </a:rPr>
              <a:t>Management summary and draft presentation</a:t>
            </a:r>
          </a:p>
        </p:txBody>
      </p:sp>
      <p:sp>
        <p:nvSpPr>
          <p:cNvPr id="28" name="TextBox 27"/>
          <p:cNvSpPr txBox="1"/>
          <p:nvPr/>
        </p:nvSpPr>
        <p:spPr>
          <a:xfrm>
            <a:off x="4800600" y="4457700"/>
            <a:ext cx="1645920" cy="237744"/>
          </a:xfrm>
          <a:prstGeom prst="rect">
            <a:avLst/>
          </a:prstGeom>
          <a:noFill/>
        </p:spPr>
        <p:txBody>
          <a:bodyPr wrap="square" lIns="0" rIns="0" tIns="0" bIns="0" anchor="t">
            <a:noAutofit/>
          </a:bodyPr>
          <a:lstStyle/>
          <a:p>
            <a:pPr algn="r"/>
            <a:r>
              <a:rPr sz="1200" b="1" i="0">
                <a:solidFill>
                  <a:srgbClr val="D31145"/>
                </a:solidFill>
                <a:latin typeface="Arial"/>
              </a:rPr>
              <a:t>Finished work</a:t>
            </a:r>
          </a:p>
        </p:txBody>
      </p:sp>
      <p:sp>
        <p:nvSpPr>
          <p:cNvPr id="29" name="Oval 28"/>
          <p:cNvSpPr/>
          <p:nvPr/>
        </p:nvSpPr>
        <p:spPr>
          <a:xfrm>
            <a:off x="576072" y="3401568"/>
            <a:ext cx="274320" cy="274320"/>
          </a:xfrm>
          <a:prstGeom prst="ellipse">
            <a:avLst/>
          </a:prstGeom>
          <a:solidFill>
            <a:srgbClr val="D31145"/>
          </a:solidFill>
          <a:ln>
            <a:noFill/>
          </a:ln>
        </p:spPr>
        <p:txBody>
          <a:bodyPr rtlCol="0" anchor="ctr"/>
          <a:lstStyle/>
          <a:p/>
        </p:txBody>
      </p:sp>
      <p:sp>
        <p:nvSpPr>
          <p:cNvPr id="30" name="TextBox 29"/>
          <p:cNvSpPr txBox="1"/>
          <p:nvPr/>
        </p:nvSpPr>
        <p:spPr>
          <a:xfrm>
            <a:off x="576072" y="3401568"/>
            <a:ext cx="274320" cy="274320"/>
          </a:xfrm>
          <a:prstGeom prst="rect">
            <a:avLst/>
          </a:prstGeom>
          <a:noFill/>
        </p:spPr>
        <p:txBody>
          <a:bodyPr wrap="square" lIns="0" rIns="0" tIns="0" bIns="0" anchor="ctr">
            <a:noAutofit/>
          </a:bodyPr>
          <a:lstStyle/>
          <a:p>
            <a:pPr algn="ctr"/>
            <a:r>
              <a:rPr sz="1200" b="1" i="0">
                <a:solidFill>
                  <a:srgbClr val="FFFFFF"/>
                </a:solidFill>
                <a:latin typeface="Arial"/>
              </a:rPr>
              <a:t>2</a:t>
            </a:r>
          </a:p>
        </p:txBody>
      </p:sp>
      <p:sp>
        <p:nvSpPr>
          <p:cNvPr id="31" name="Oval 30"/>
          <p:cNvSpPr/>
          <p:nvPr/>
        </p:nvSpPr>
        <p:spPr>
          <a:xfrm>
            <a:off x="576072" y="4087368"/>
            <a:ext cx="274320" cy="274320"/>
          </a:xfrm>
          <a:prstGeom prst="ellipse">
            <a:avLst/>
          </a:prstGeom>
          <a:solidFill>
            <a:srgbClr val="D31145"/>
          </a:solidFill>
          <a:ln>
            <a:noFill/>
          </a:ln>
        </p:spPr>
        <p:txBody>
          <a:bodyPr rtlCol="0" anchor="ctr"/>
          <a:lstStyle/>
          <a:p/>
        </p:txBody>
      </p:sp>
      <p:sp>
        <p:nvSpPr>
          <p:cNvPr id="32" name="TextBox 31"/>
          <p:cNvSpPr txBox="1"/>
          <p:nvPr/>
        </p:nvSpPr>
        <p:spPr>
          <a:xfrm>
            <a:off x="576072" y="4087368"/>
            <a:ext cx="274320" cy="274320"/>
          </a:xfrm>
          <a:prstGeom prst="rect">
            <a:avLst/>
          </a:prstGeom>
          <a:noFill/>
        </p:spPr>
        <p:txBody>
          <a:bodyPr wrap="square" lIns="0" rIns="0" tIns="0" bIns="0" anchor="ctr">
            <a:noAutofit/>
          </a:bodyPr>
          <a:lstStyle/>
          <a:p>
            <a:pPr algn="ctr"/>
            <a:r>
              <a:rPr sz="1200" b="1" i="0">
                <a:solidFill>
                  <a:srgbClr val="FFFFFF"/>
                </a:solidFill>
                <a:latin typeface="Arial"/>
              </a:rPr>
              <a:t>3</a:t>
            </a:r>
          </a:p>
        </p:txBody>
      </p:sp>
      <p:sp>
        <p:nvSpPr>
          <p:cNvPr id="33" name="Rounded Rectangle 32"/>
          <p:cNvSpPr/>
          <p:nvPr/>
        </p:nvSpPr>
        <p:spPr>
          <a:xfrm>
            <a:off x="1005840" y="4818888"/>
            <a:ext cx="3611880" cy="329184"/>
          </a:xfrm>
          <a:prstGeom prst="roundRect">
            <a:avLst>
              <a:gd name="adj" fmla="val 20000"/>
            </a:avLst>
          </a:prstGeom>
          <a:solidFill>
            <a:srgbClr val="FFFFFF"/>
          </a:solidFill>
          <a:ln w="9525">
            <a:solidFill>
              <a:srgbClr val="D9D6D3"/>
            </a:solidFill>
          </a:ln>
        </p:spPr>
        <p:txBody>
          <a:bodyPr rtlCol="0" anchor="ctr"/>
          <a:lstStyle/>
          <a:p/>
        </p:txBody>
      </p:sp>
      <p:pic>
        <p:nvPicPr>
          <p:cNvPr id="34" name="Picture 33" descr="LuPaperclip_c.png"/>
          <p:cNvPicPr>
            <a:picLocks noChangeAspect="1"/>
          </p:cNvPicPr>
          <p:nvPr/>
        </p:nvPicPr>
        <p:blipFill>
          <a:blip r:embed="rId4"/>
          <a:stretch>
            <a:fillRect/>
          </a:stretch>
        </p:blipFill>
        <p:spPr>
          <a:xfrm>
            <a:off x="1115568" y="4882896"/>
            <a:ext cx="201168" cy="201168"/>
          </a:xfrm>
          <a:prstGeom prst="rect">
            <a:avLst/>
          </a:prstGeom>
        </p:spPr>
      </p:pic>
      <p:sp>
        <p:nvSpPr>
          <p:cNvPr id="35" name="TextBox 34"/>
          <p:cNvSpPr txBox="1"/>
          <p:nvPr/>
        </p:nvSpPr>
        <p:spPr>
          <a:xfrm>
            <a:off x="1371600" y="4818888"/>
            <a:ext cx="3200400" cy="329184"/>
          </a:xfrm>
          <a:prstGeom prst="rect">
            <a:avLst/>
          </a:prstGeom>
          <a:noFill/>
        </p:spPr>
        <p:txBody>
          <a:bodyPr wrap="square" lIns="0" rIns="0" tIns="0" bIns="0" anchor="ctr">
            <a:noAutofit/>
          </a:bodyPr>
          <a:lstStyle/>
          <a:p>
            <a:pPr algn="l"/>
            <a:r>
              <a:rPr sz="1200" b="0" i="0">
                <a:solidFill>
                  <a:srgbClr val="333D47"/>
                </a:solidFill>
                <a:latin typeface="Arial"/>
              </a:rPr>
              <a:t>Management summary  ·  Draft presentation</a:t>
            </a:r>
          </a:p>
        </p:txBody>
      </p:sp>
      <p:sp>
        <p:nvSpPr>
          <p:cNvPr id="36" name="Oval 35"/>
          <p:cNvSpPr/>
          <p:nvPr/>
        </p:nvSpPr>
        <p:spPr>
          <a:xfrm>
            <a:off x="576072" y="4846320"/>
            <a:ext cx="274320" cy="274320"/>
          </a:xfrm>
          <a:prstGeom prst="ellipse">
            <a:avLst/>
          </a:prstGeom>
          <a:solidFill>
            <a:srgbClr val="D31145"/>
          </a:solidFill>
          <a:ln>
            <a:noFill/>
          </a:ln>
        </p:spPr>
        <p:txBody>
          <a:bodyPr rtlCol="0" anchor="ctr"/>
          <a:lstStyle/>
          <a:p/>
        </p:txBody>
      </p:sp>
      <p:sp>
        <p:nvSpPr>
          <p:cNvPr id="37" name="TextBox 36"/>
          <p:cNvSpPr txBox="1"/>
          <p:nvPr/>
        </p:nvSpPr>
        <p:spPr>
          <a:xfrm>
            <a:off x="576072" y="4846320"/>
            <a:ext cx="274320" cy="274320"/>
          </a:xfrm>
          <a:prstGeom prst="rect">
            <a:avLst/>
          </a:prstGeom>
          <a:noFill/>
        </p:spPr>
        <p:txBody>
          <a:bodyPr wrap="square" lIns="0" rIns="0" tIns="0" bIns="0" anchor="ctr">
            <a:noAutofit/>
          </a:bodyPr>
          <a:lstStyle/>
          <a:p>
            <a:pPr algn="ctr"/>
            <a:r>
              <a:rPr sz="1200" b="1" i="0">
                <a:solidFill>
                  <a:srgbClr val="FFFFFF"/>
                </a:solidFill>
                <a:latin typeface="Arial"/>
              </a:rPr>
              <a:t>4</a:t>
            </a:r>
          </a:p>
        </p:txBody>
      </p:sp>
      <p:sp>
        <p:nvSpPr>
          <p:cNvPr id="38" name="Rounded Rectangle 37"/>
          <p:cNvSpPr/>
          <p:nvPr/>
        </p:nvSpPr>
        <p:spPr>
          <a:xfrm>
            <a:off x="1005840" y="5212080"/>
            <a:ext cx="1783080" cy="329184"/>
          </a:xfrm>
          <a:prstGeom prst="roundRect">
            <a:avLst>
              <a:gd name="adj" fmla="val 30000"/>
            </a:avLst>
          </a:prstGeom>
          <a:solidFill>
            <a:srgbClr val="FFFFFF"/>
          </a:solidFill>
          <a:ln w="12700">
            <a:solidFill>
              <a:srgbClr val="333D47"/>
            </a:solidFill>
          </a:ln>
        </p:spPr>
        <p:txBody>
          <a:bodyPr rtlCol="0" anchor="ctr"/>
          <a:lstStyle/>
          <a:p/>
        </p:txBody>
      </p:sp>
      <p:sp>
        <p:nvSpPr>
          <p:cNvPr id="39" name="TextBox 38"/>
          <p:cNvSpPr txBox="1"/>
          <p:nvPr/>
        </p:nvSpPr>
        <p:spPr>
          <a:xfrm>
            <a:off x="1005840" y="5212080"/>
            <a:ext cx="1783080" cy="329184"/>
          </a:xfrm>
          <a:prstGeom prst="rect">
            <a:avLst/>
          </a:prstGeom>
          <a:noFill/>
        </p:spPr>
        <p:txBody>
          <a:bodyPr wrap="square" lIns="0" rIns="0" tIns="0" bIns="0" anchor="ctr">
            <a:noAutofit/>
          </a:bodyPr>
          <a:lstStyle/>
          <a:p>
            <a:pPr algn="ctr"/>
            <a:r>
              <a:rPr sz="1200" b="1" i="0">
                <a:solidFill>
                  <a:srgbClr val="333D47"/>
                </a:solidFill>
                <a:latin typeface="Arial"/>
              </a:rPr>
              <a:t>Request changes</a:t>
            </a:r>
          </a:p>
        </p:txBody>
      </p:sp>
      <p:sp>
        <p:nvSpPr>
          <p:cNvPr id="40" name="Rounded Rectangle 39"/>
          <p:cNvSpPr/>
          <p:nvPr/>
        </p:nvSpPr>
        <p:spPr>
          <a:xfrm>
            <a:off x="2880360" y="5212080"/>
            <a:ext cx="1143000" cy="329184"/>
          </a:xfrm>
          <a:prstGeom prst="roundRect">
            <a:avLst>
              <a:gd name="adj" fmla="val 30000"/>
            </a:avLst>
          </a:prstGeom>
          <a:solidFill>
            <a:srgbClr val="D31145"/>
          </a:solidFill>
          <a:ln>
            <a:noFill/>
          </a:ln>
        </p:spPr>
        <p:txBody>
          <a:bodyPr rtlCol="0" anchor="ctr"/>
          <a:lstStyle/>
          <a:p/>
        </p:txBody>
      </p:sp>
      <p:sp>
        <p:nvSpPr>
          <p:cNvPr id="41" name="TextBox 40"/>
          <p:cNvSpPr txBox="1"/>
          <p:nvPr/>
        </p:nvSpPr>
        <p:spPr>
          <a:xfrm>
            <a:off x="2880360" y="5212080"/>
            <a:ext cx="1143000" cy="329184"/>
          </a:xfrm>
          <a:prstGeom prst="rect">
            <a:avLst/>
          </a:prstGeom>
          <a:noFill/>
        </p:spPr>
        <p:txBody>
          <a:bodyPr wrap="square" lIns="0" rIns="0" tIns="0" bIns="0" anchor="ctr">
            <a:noAutofit/>
          </a:bodyPr>
          <a:lstStyle/>
          <a:p>
            <a:pPr algn="ctr"/>
            <a:r>
              <a:rPr sz="1200" b="1" i="0">
                <a:solidFill>
                  <a:srgbClr val="FFFFFF"/>
                </a:solidFill>
                <a:latin typeface="Arial"/>
              </a:rPr>
              <a:t>Approve</a:t>
            </a:r>
          </a:p>
        </p:txBody>
      </p:sp>
      <p:sp>
        <p:nvSpPr>
          <p:cNvPr id="42" name="TextBox 41"/>
          <p:cNvSpPr txBox="1"/>
          <p:nvPr/>
        </p:nvSpPr>
        <p:spPr>
          <a:xfrm>
            <a:off x="4114800" y="5212080"/>
            <a:ext cx="2560320" cy="329184"/>
          </a:xfrm>
          <a:prstGeom prst="rect">
            <a:avLst/>
          </a:prstGeom>
          <a:noFill/>
        </p:spPr>
        <p:txBody>
          <a:bodyPr wrap="square" lIns="0" rIns="0" tIns="0" bIns="0" anchor="ctr">
            <a:noAutofit/>
          </a:bodyPr>
          <a:lstStyle/>
          <a:p>
            <a:pPr algn="l"/>
            <a:r>
              <a:rPr sz="1200" b="0" i="1">
                <a:solidFill>
                  <a:srgbClr val="5A6570"/>
                </a:solidFill>
                <a:latin typeface="Arial"/>
              </a:rPr>
              <a:t>Nothing goes out until you approve</a:t>
            </a:r>
          </a:p>
        </p:txBody>
      </p:sp>
      <p:sp>
        <p:nvSpPr>
          <p:cNvPr id="43" name="Oval 42"/>
          <p:cNvSpPr/>
          <p:nvPr/>
        </p:nvSpPr>
        <p:spPr>
          <a:xfrm>
            <a:off x="576072" y="5239512"/>
            <a:ext cx="274320" cy="274320"/>
          </a:xfrm>
          <a:prstGeom prst="ellipse">
            <a:avLst/>
          </a:prstGeom>
          <a:solidFill>
            <a:srgbClr val="D31145"/>
          </a:solidFill>
          <a:ln>
            <a:noFill/>
          </a:ln>
        </p:spPr>
        <p:txBody>
          <a:bodyPr rtlCol="0" anchor="ctr"/>
          <a:lstStyle/>
          <a:p/>
        </p:txBody>
      </p:sp>
      <p:sp>
        <p:nvSpPr>
          <p:cNvPr id="44" name="TextBox 43"/>
          <p:cNvSpPr txBox="1"/>
          <p:nvPr/>
        </p:nvSpPr>
        <p:spPr>
          <a:xfrm>
            <a:off x="576072" y="5239512"/>
            <a:ext cx="274320" cy="274320"/>
          </a:xfrm>
          <a:prstGeom prst="rect">
            <a:avLst/>
          </a:prstGeom>
          <a:noFill/>
        </p:spPr>
        <p:txBody>
          <a:bodyPr wrap="square" lIns="0" rIns="0" tIns="0" bIns="0" anchor="ctr">
            <a:noAutofit/>
          </a:bodyPr>
          <a:lstStyle/>
          <a:p>
            <a:pPr algn="ctr"/>
            <a:r>
              <a:rPr sz="1200" b="1" i="0">
                <a:solidFill>
                  <a:srgbClr val="FFFFFF"/>
                </a:solidFill>
                <a:latin typeface="Arial"/>
              </a:rPr>
              <a:t>5</a:t>
            </a:r>
          </a:p>
        </p:txBody>
      </p:sp>
      <p:sp>
        <p:nvSpPr>
          <p:cNvPr id="45" name="Oval 44"/>
          <p:cNvSpPr/>
          <p:nvPr/>
        </p:nvSpPr>
        <p:spPr>
          <a:xfrm>
            <a:off x="7269480" y="1618488"/>
            <a:ext cx="402336" cy="402336"/>
          </a:xfrm>
          <a:prstGeom prst="ellipse">
            <a:avLst/>
          </a:prstGeom>
          <a:solidFill>
            <a:srgbClr val="333D47"/>
          </a:solidFill>
          <a:ln>
            <a:noFill/>
          </a:ln>
        </p:spPr>
        <p:txBody>
          <a:bodyPr rtlCol="0" anchor="ctr"/>
          <a:lstStyle/>
          <a:p/>
        </p:txBody>
      </p:sp>
      <p:sp>
        <p:nvSpPr>
          <p:cNvPr id="46" name="TextBox 45"/>
          <p:cNvSpPr txBox="1"/>
          <p:nvPr/>
        </p:nvSpPr>
        <p:spPr>
          <a:xfrm>
            <a:off x="7269480" y="1618488"/>
            <a:ext cx="402336" cy="402336"/>
          </a:xfrm>
          <a:prstGeom prst="rect">
            <a:avLst/>
          </a:prstGeom>
          <a:noFill/>
        </p:spPr>
        <p:txBody>
          <a:bodyPr wrap="square" lIns="0" rIns="0" tIns="0" bIns="0" anchor="ctr">
            <a:noAutofit/>
          </a:bodyPr>
          <a:lstStyle/>
          <a:p>
            <a:pPr algn="ctr"/>
            <a:r>
              <a:rPr sz="1500" b="1" i="0">
                <a:solidFill>
                  <a:srgbClr val="FFFFFF"/>
                </a:solidFill>
                <a:latin typeface="Arial"/>
              </a:rPr>
              <a:t>1</a:t>
            </a:r>
          </a:p>
        </p:txBody>
      </p:sp>
      <p:sp>
        <p:nvSpPr>
          <p:cNvPr id="47" name="TextBox 46"/>
          <p:cNvSpPr txBox="1"/>
          <p:nvPr/>
        </p:nvSpPr>
        <p:spPr>
          <a:xfrm>
            <a:off x="7863840" y="1600200"/>
            <a:ext cx="3886200" cy="292608"/>
          </a:xfrm>
          <a:prstGeom prst="rect">
            <a:avLst/>
          </a:prstGeom>
          <a:noFill/>
        </p:spPr>
        <p:txBody>
          <a:bodyPr wrap="square" lIns="0" rIns="0" tIns="0" bIns="0" anchor="t">
            <a:noAutofit/>
          </a:bodyPr>
          <a:lstStyle/>
          <a:p>
            <a:pPr algn="l"/>
            <a:r>
              <a:rPr sz="1700" b="1" i="0">
                <a:solidFill>
                  <a:srgbClr val="333D47"/>
                </a:solidFill>
                <a:latin typeface="Arial"/>
              </a:rPr>
              <a:t>Ask</a:t>
            </a:r>
          </a:p>
        </p:txBody>
      </p:sp>
      <p:sp>
        <p:nvSpPr>
          <p:cNvPr id="48" name="TextBox 47"/>
          <p:cNvSpPr txBox="1"/>
          <p:nvPr/>
        </p:nvSpPr>
        <p:spPr>
          <a:xfrm>
            <a:off x="7863840" y="1911095"/>
            <a:ext cx="3886200" cy="402336"/>
          </a:xfrm>
          <a:prstGeom prst="rect">
            <a:avLst/>
          </a:prstGeom>
          <a:noFill/>
        </p:spPr>
        <p:txBody>
          <a:bodyPr wrap="square" lIns="0" rIns="0" tIns="0" bIns="0" anchor="t">
            <a:noAutofit/>
          </a:bodyPr>
          <a:lstStyle/>
          <a:p>
            <a:pPr algn="l"/>
            <a:r>
              <a:rPr sz="1400" b="0" i="0">
                <a:solidFill>
                  <a:srgbClr val="5A6570"/>
                </a:solidFill>
                <a:latin typeface="Arial"/>
              </a:rPr>
              <a:t>Describe the outcome you need, in Teams.</a:t>
            </a:r>
          </a:p>
        </p:txBody>
      </p:sp>
      <p:sp>
        <p:nvSpPr>
          <p:cNvPr id="49" name="Oval 48"/>
          <p:cNvSpPr/>
          <p:nvPr/>
        </p:nvSpPr>
        <p:spPr>
          <a:xfrm>
            <a:off x="7269480" y="2331720"/>
            <a:ext cx="402336" cy="402336"/>
          </a:xfrm>
          <a:prstGeom prst="ellipse">
            <a:avLst/>
          </a:prstGeom>
          <a:solidFill>
            <a:srgbClr val="333D47"/>
          </a:solidFill>
          <a:ln>
            <a:noFill/>
          </a:ln>
        </p:spPr>
        <p:txBody>
          <a:bodyPr rtlCol="0" anchor="ctr"/>
          <a:lstStyle/>
          <a:p/>
        </p:txBody>
      </p:sp>
      <p:sp>
        <p:nvSpPr>
          <p:cNvPr id="50" name="TextBox 49"/>
          <p:cNvSpPr txBox="1"/>
          <p:nvPr/>
        </p:nvSpPr>
        <p:spPr>
          <a:xfrm>
            <a:off x="7269480" y="2331720"/>
            <a:ext cx="402336" cy="402336"/>
          </a:xfrm>
          <a:prstGeom prst="rect">
            <a:avLst/>
          </a:prstGeom>
          <a:noFill/>
        </p:spPr>
        <p:txBody>
          <a:bodyPr wrap="square" lIns="0" rIns="0" tIns="0" bIns="0" anchor="ctr">
            <a:noAutofit/>
          </a:bodyPr>
          <a:lstStyle/>
          <a:p>
            <a:pPr algn="ctr"/>
            <a:r>
              <a:rPr sz="1500" b="1" i="0">
                <a:solidFill>
                  <a:srgbClr val="FFFFFF"/>
                </a:solidFill>
                <a:latin typeface="Arial"/>
              </a:rPr>
              <a:t>2</a:t>
            </a:r>
          </a:p>
        </p:txBody>
      </p:sp>
      <p:sp>
        <p:nvSpPr>
          <p:cNvPr id="51" name="TextBox 50"/>
          <p:cNvSpPr txBox="1"/>
          <p:nvPr/>
        </p:nvSpPr>
        <p:spPr>
          <a:xfrm>
            <a:off x="7863840" y="2313432"/>
            <a:ext cx="3886200" cy="292608"/>
          </a:xfrm>
          <a:prstGeom prst="rect">
            <a:avLst/>
          </a:prstGeom>
          <a:noFill/>
        </p:spPr>
        <p:txBody>
          <a:bodyPr wrap="square" lIns="0" rIns="0" tIns="0" bIns="0" anchor="t">
            <a:noAutofit/>
          </a:bodyPr>
          <a:lstStyle/>
          <a:p>
            <a:pPr algn="l"/>
            <a:r>
              <a:rPr sz="1700" b="1" i="0">
                <a:solidFill>
                  <a:srgbClr val="333D47"/>
                </a:solidFill>
                <a:latin typeface="Arial"/>
              </a:rPr>
              <a:t>Plan</a:t>
            </a:r>
          </a:p>
        </p:txBody>
      </p:sp>
      <p:sp>
        <p:nvSpPr>
          <p:cNvPr id="52" name="TextBox 51"/>
          <p:cNvSpPr txBox="1"/>
          <p:nvPr/>
        </p:nvSpPr>
        <p:spPr>
          <a:xfrm>
            <a:off x="7863840" y="2624328"/>
            <a:ext cx="3886200" cy="402336"/>
          </a:xfrm>
          <a:prstGeom prst="rect">
            <a:avLst/>
          </a:prstGeom>
          <a:noFill/>
        </p:spPr>
        <p:txBody>
          <a:bodyPr wrap="square" lIns="0" rIns="0" tIns="0" bIns="0" anchor="t">
            <a:noAutofit/>
          </a:bodyPr>
          <a:lstStyle/>
          <a:p>
            <a:pPr algn="l"/>
            <a:r>
              <a:rPr sz="1400" b="0" i="0">
                <a:solidFill>
                  <a:srgbClr val="5A6570"/>
                </a:solidFill>
                <a:latin typeface="Arial"/>
              </a:rPr>
              <a:t>Riley decides which capabilities the task needs.</a:t>
            </a:r>
          </a:p>
        </p:txBody>
      </p:sp>
      <p:sp>
        <p:nvSpPr>
          <p:cNvPr id="53" name="Oval 52"/>
          <p:cNvSpPr/>
          <p:nvPr/>
        </p:nvSpPr>
        <p:spPr>
          <a:xfrm>
            <a:off x="7269480" y="3044952"/>
            <a:ext cx="402336" cy="402336"/>
          </a:xfrm>
          <a:prstGeom prst="ellipse">
            <a:avLst/>
          </a:prstGeom>
          <a:solidFill>
            <a:srgbClr val="333D47"/>
          </a:solidFill>
          <a:ln>
            <a:noFill/>
          </a:ln>
        </p:spPr>
        <p:txBody>
          <a:bodyPr rtlCol="0" anchor="ctr"/>
          <a:lstStyle/>
          <a:p/>
        </p:txBody>
      </p:sp>
      <p:sp>
        <p:nvSpPr>
          <p:cNvPr id="54" name="TextBox 53"/>
          <p:cNvSpPr txBox="1"/>
          <p:nvPr/>
        </p:nvSpPr>
        <p:spPr>
          <a:xfrm>
            <a:off x="7269480" y="3044952"/>
            <a:ext cx="402336" cy="402336"/>
          </a:xfrm>
          <a:prstGeom prst="rect">
            <a:avLst/>
          </a:prstGeom>
          <a:noFill/>
        </p:spPr>
        <p:txBody>
          <a:bodyPr wrap="square" lIns="0" rIns="0" tIns="0" bIns="0" anchor="ctr">
            <a:noAutofit/>
          </a:bodyPr>
          <a:lstStyle/>
          <a:p>
            <a:pPr algn="ctr"/>
            <a:r>
              <a:rPr sz="1500" b="1" i="0">
                <a:solidFill>
                  <a:srgbClr val="FFFFFF"/>
                </a:solidFill>
                <a:latin typeface="Arial"/>
              </a:rPr>
              <a:t>3</a:t>
            </a:r>
          </a:p>
        </p:txBody>
      </p:sp>
      <p:sp>
        <p:nvSpPr>
          <p:cNvPr id="55" name="TextBox 54"/>
          <p:cNvSpPr txBox="1"/>
          <p:nvPr/>
        </p:nvSpPr>
        <p:spPr>
          <a:xfrm>
            <a:off x="7863840" y="3026664"/>
            <a:ext cx="3886200" cy="292608"/>
          </a:xfrm>
          <a:prstGeom prst="rect">
            <a:avLst/>
          </a:prstGeom>
          <a:noFill/>
        </p:spPr>
        <p:txBody>
          <a:bodyPr wrap="square" lIns="0" rIns="0" tIns="0" bIns="0" anchor="t">
            <a:noAutofit/>
          </a:bodyPr>
          <a:lstStyle/>
          <a:p>
            <a:pPr algn="l"/>
            <a:r>
              <a:rPr sz="1700" b="1" i="0">
                <a:solidFill>
                  <a:srgbClr val="333D47"/>
                </a:solidFill>
                <a:latin typeface="Arial"/>
              </a:rPr>
              <a:t>Do</a:t>
            </a:r>
          </a:p>
        </p:txBody>
      </p:sp>
      <p:sp>
        <p:nvSpPr>
          <p:cNvPr id="56" name="TextBox 55"/>
          <p:cNvSpPr txBox="1"/>
          <p:nvPr/>
        </p:nvSpPr>
        <p:spPr>
          <a:xfrm>
            <a:off x="7863840" y="3337560"/>
            <a:ext cx="3886200" cy="603503"/>
          </a:xfrm>
          <a:prstGeom prst="rect">
            <a:avLst/>
          </a:prstGeom>
          <a:noFill/>
        </p:spPr>
        <p:txBody>
          <a:bodyPr wrap="square" lIns="0" rIns="0" tIns="0" bIns="0" anchor="t">
            <a:noAutofit/>
          </a:bodyPr>
          <a:lstStyle/>
          <a:p>
            <a:pPr algn="l"/>
            <a:r>
              <a:rPr sz="1400" b="0" i="0">
                <a:solidFill>
                  <a:srgbClr val="5A6570"/>
                </a:solidFill>
                <a:latin typeface="Arial"/>
              </a:rPr>
              <a:t>Uses approved AIA data, systems and AI capabilities, within your permissions.</a:t>
            </a:r>
          </a:p>
        </p:txBody>
      </p:sp>
      <p:sp>
        <p:nvSpPr>
          <p:cNvPr id="57" name="Oval 56"/>
          <p:cNvSpPr/>
          <p:nvPr/>
        </p:nvSpPr>
        <p:spPr>
          <a:xfrm>
            <a:off x="7269480" y="3959352"/>
            <a:ext cx="402336" cy="402336"/>
          </a:xfrm>
          <a:prstGeom prst="ellipse">
            <a:avLst/>
          </a:prstGeom>
          <a:solidFill>
            <a:srgbClr val="333D47"/>
          </a:solidFill>
          <a:ln>
            <a:noFill/>
          </a:ln>
        </p:spPr>
        <p:txBody>
          <a:bodyPr rtlCol="0" anchor="ctr"/>
          <a:lstStyle/>
          <a:p/>
        </p:txBody>
      </p:sp>
      <p:sp>
        <p:nvSpPr>
          <p:cNvPr id="58" name="TextBox 57"/>
          <p:cNvSpPr txBox="1"/>
          <p:nvPr/>
        </p:nvSpPr>
        <p:spPr>
          <a:xfrm>
            <a:off x="7269480" y="3959352"/>
            <a:ext cx="402336" cy="402336"/>
          </a:xfrm>
          <a:prstGeom prst="rect">
            <a:avLst/>
          </a:prstGeom>
          <a:noFill/>
        </p:spPr>
        <p:txBody>
          <a:bodyPr wrap="square" lIns="0" rIns="0" tIns="0" bIns="0" anchor="ctr">
            <a:noAutofit/>
          </a:bodyPr>
          <a:lstStyle/>
          <a:p>
            <a:pPr algn="ctr"/>
            <a:r>
              <a:rPr sz="1500" b="1" i="0">
                <a:solidFill>
                  <a:srgbClr val="FFFFFF"/>
                </a:solidFill>
                <a:latin typeface="Arial"/>
              </a:rPr>
              <a:t>4</a:t>
            </a:r>
          </a:p>
        </p:txBody>
      </p:sp>
      <p:sp>
        <p:nvSpPr>
          <p:cNvPr id="59" name="TextBox 58"/>
          <p:cNvSpPr txBox="1"/>
          <p:nvPr/>
        </p:nvSpPr>
        <p:spPr>
          <a:xfrm>
            <a:off x="7863840" y="3941064"/>
            <a:ext cx="3886200" cy="292608"/>
          </a:xfrm>
          <a:prstGeom prst="rect">
            <a:avLst/>
          </a:prstGeom>
          <a:noFill/>
        </p:spPr>
        <p:txBody>
          <a:bodyPr wrap="square" lIns="0" rIns="0" tIns="0" bIns="0" anchor="t">
            <a:noAutofit/>
          </a:bodyPr>
          <a:lstStyle/>
          <a:p>
            <a:pPr algn="l"/>
            <a:r>
              <a:rPr sz="1700" b="1" i="0">
                <a:solidFill>
                  <a:srgbClr val="333D47"/>
                </a:solidFill>
                <a:latin typeface="Arial"/>
              </a:rPr>
              <a:t>Deliver</a:t>
            </a:r>
          </a:p>
        </p:txBody>
      </p:sp>
      <p:sp>
        <p:nvSpPr>
          <p:cNvPr id="60" name="TextBox 59"/>
          <p:cNvSpPr txBox="1"/>
          <p:nvPr/>
        </p:nvSpPr>
        <p:spPr>
          <a:xfrm>
            <a:off x="7863840" y="4251960"/>
            <a:ext cx="3886200" cy="402336"/>
          </a:xfrm>
          <a:prstGeom prst="rect">
            <a:avLst/>
          </a:prstGeom>
          <a:noFill/>
        </p:spPr>
        <p:txBody>
          <a:bodyPr wrap="square" lIns="0" rIns="0" tIns="0" bIns="0" anchor="t">
            <a:noAutofit/>
          </a:bodyPr>
          <a:lstStyle/>
          <a:p>
            <a:pPr algn="l"/>
            <a:r>
              <a:rPr sz="1400" b="0" i="0">
                <a:solidFill>
                  <a:srgbClr val="5A6570"/>
                </a:solidFill>
                <a:latin typeface="Arial"/>
              </a:rPr>
              <a:t>Returns a finished piece of work.</a:t>
            </a:r>
          </a:p>
        </p:txBody>
      </p:sp>
      <p:sp>
        <p:nvSpPr>
          <p:cNvPr id="61" name="Oval 60"/>
          <p:cNvSpPr/>
          <p:nvPr/>
        </p:nvSpPr>
        <p:spPr>
          <a:xfrm>
            <a:off x="7269480" y="4672584"/>
            <a:ext cx="402336" cy="402336"/>
          </a:xfrm>
          <a:prstGeom prst="ellipse">
            <a:avLst/>
          </a:prstGeom>
          <a:solidFill>
            <a:srgbClr val="D31145"/>
          </a:solidFill>
          <a:ln>
            <a:noFill/>
          </a:ln>
        </p:spPr>
        <p:txBody>
          <a:bodyPr rtlCol="0" anchor="ctr"/>
          <a:lstStyle/>
          <a:p/>
        </p:txBody>
      </p:sp>
      <p:sp>
        <p:nvSpPr>
          <p:cNvPr id="62" name="TextBox 61"/>
          <p:cNvSpPr txBox="1"/>
          <p:nvPr/>
        </p:nvSpPr>
        <p:spPr>
          <a:xfrm>
            <a:off x="7269480" y="4672584"/>
            <a:ext cx="402336" cy="402336"/>
          </a:xfrm>
          <a:prstGeom prst="rect">
            <a:avLst/>
          </a:prstGeom>
          <a:noFill/>
        </p:spPr>
        <p:txBody>
          <a:bodyPr wrap="square" lIns="0" rIns="0" tIns="0" bIns="0" anchor="ctr">
            <a:noAutofit/>
          </a:bodyPr>
          <a:lstStyle/>
          <a:p>
            <a:pPr algn="ctr"/>
            <a:r>
              <a:rPr sz="1500" b="1" i="0">
                <a:solidFill>
                  <a:srgbClr val="FFFFFF"/>
                </a:solidFill>
                <a:latin typeface="Arial"/>
              </a:rPr>
              <a:t>5</a:t>
            </a:r>
          </a:p>
        </p:txBody>
      </p:sp>
      <p:sp>
        <p:nvSpPr>
          <p:cNvPr id="63" name="TextBox 62"/>
          <p:cNvSpPr txBox="1"/>
          <p:nvPr/>
        </p:nvSpPr>
        <p:spPr>
          <a:xfrm>
            <a:off x="7863840" y="4654296"/>
            <a:ext cx="3886200" cy="292608"/>
          </a:xfrm>
          <a:prstGeom prst="rect">
            <a:avLst/>
          </a:prstGeom>
          <a:noFill/>
        </p:spPr>
        <p:txBody>
          <a:bodyPr wrap="square" lIns="0" rIns="0" tIns="0" bIns="0" anchor="t">
            <a:noAutofit/>
          </a:bodyPr>
          <a:lstStyle/>
          <a:p>
            <a:pPr algn="l"/>
            <a:r>
              <a:rPr sz="1700" b="1" i="0">
                <a:solidFill>
                  <a:srgbClr val="D31145"/>
                </a:solidFill>
                <a:latin typeface="Arial"/>
              </a:rPr>
              <a:t>Approve</a:t>
            </a:r>
          </a:p>
        </p:txBody>
      </p:sp>
      <p:sp>
        <p:nvSpPr>
          <p:cNvPr id="64" name="TextBox 63"/>
          <p:cNvSpPr txBox="1"/>
          <p:nvPr/>
        </p:nvSpPr>
        <p:spPr>
          <a:xfrm>
            <a:off x="7863840" y="4965192"/>
            <a:ext cx="3886200" cy="786383"/>
          </a:xfrm>
          <a:prstGeom prst="rect">
            <a:avLst/>
          </a:prstGeom>
          <a:noFill/>
        </p:spPr>
        <p:txBody>
          <a:bodyPr wrap="square" lIns="0" rIns="0" tIns="0" bIns="0" anchor="t">
            <a:noAutofit/>
          </a:bodyPr>
          <a:lstStyle/>
          <a:p>
            <a:pPr algn="l"/>
            <a:r>
              <a:rPr sz="1400" b="0" i="0">
                <a:solidFill>
                  <a:srgbClr val="5A6570"/>
                </a:solidFill>
                <a:latin typeface="Arial"/>
              </a:rPr>
              <a:t>You review and approve before anything is finalized, sent to anyone, or entered into a business system.</a:t>
            </a:r>
          </a:p>
        </p:txBody>
      </p:sp>
      <p:sp>
        <p:nvSpPr>
          <p:cNvPr id="65" name="TextBox 64"/>
          <p:cNvSpPr txBox="1"/>
          <p:nvPr/>
        </p:nvSpPr>
        <p:spPr>
          <a:xfrm>
            <a:off x="457200" y="5669280"/>
            <a:ext cx="8229600" cy="274320"/>
          </a:xfrm>
          <a:prstGeom prst="rect">
            <a:avLst/>
          </a:prstGeom>
          <a:noFill/>
        </p:spPr>
        <p:txBody>
          <a:bodyPr wrap="square" lIns="0" rIns="0" tIns="0" bIns="0" anchor="t">
            <a:noAutofit/>
          </a:bodyPr>
          <a:lstStyle/>
          <a:p>
            <a:pPr algn="l"/>
            <a:r>
              <a:rPr sz="1200" b="0" i="1">
                <a:solidFill>
                  <a:srgbClr val="5A6570"/>
                </a:solidFill>
                <a:latin typeface="Arial"/>
              </a:rPr>
              <a:t>Illustrative example: a candidate first pilot, not the definition of Riley.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What 1 hour a week could mean at scale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IMPACT</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5</a:t>
            </a:fld>
            <a:endParaRPr lang="en-US" dirty="0"/>
          </a:p>
        </p:txBody>
      </p:sp>
      <p:sp>
        <p:nvSpPr>
          <p:cNvPr id="6" name="Rounded Rectangle 5"/>
          <p:cNvSpPr/>
          <p:nvPr/>
        </p:nvSpPr>
        <p:spPr>
          <a:xfrm>
            <a:off x="457200" y="1645920"/>
            <a:ext cx="4206240" cy="347472"/>
          </a:xfrm>
          <a:prstGeom prst="roundRect">
            <a:avLst>
              <a:gd name="adj" fmla="val 50000"/>
            </a:avLst>
          </a:prstGeom>
          <a:solidFill>
            <a:srgbClr val="FFFFFF"/>
          </a:solidFill>
          <a:ln w="15875">
            <a:solidFill>
              <a:srgbClr val="D31145"/>
            </a:solidFill>
          </a:ln>
        </p:spPr>
        <p:txBody>
          <a:bodyPr rtlCol="0" anchor="ctr" wrap="square" lIns="0" rIns="0" tIns="0" bIns="0">
            <a:noAutofit/>
          </a:bodyPr>
          <a:lstStyle/>
          <a:p>
            <a:pPr algn="ctr"/>
            <a:r>
              <a:rPr sz="1200" b="1" i="0">
                <a:solidFill>
                  <a:srgbClr val="D31145"/>
                </a:solidFill>
                <a:latin typeface="Arial"/>
              </a:rPr>
              <a:t>ILLUSTRATIVE SCENARIO  ·  NOT A FORECAST</a:t>
            </a:r>
          </a:p>
        </p:txBody>
      </p:sp>
      <p:sp>
        <p:nvSpPr>
          <p:cNvPr id="7" name="TextBox 6"/>
          <p:cNvSpPr txBox="1"/>
          <p:nvPr/>
        </p:nvSpPr>
        <p:spPr>
          <a:xfrm>
            <a:off x="457200" y="2148840"/>
            <a:ext cx="6766560" cy="914400"/>
          </a:xfrm>
          <a:prstGeom prst="rect">
            <a:avLst/>
          </a:prstGeom>
          <a:noFill/>
        </p:spPr>
        <p:txBody>
          <a:bodyPr wrap="square" lIns="0" rIns="0" tIns="0" bIns="0" anchor="t">
            <a:noAutofit/>
          </a:bodyPr>
          <a:lstStyle/>
          <a:p>
            <a:pPr algn="l"/>
            <a:r>
              <a:rPr sz="2000" b="0" i="0">
                <a:solidFill>
                  <a:srgbClr val="333D47"/>
                </a:solidFill>
                <a:latin typeface="Arial"/>
              </a:rPr>
              <a:t>If Riley eventually served </a:t>
            </a:r>
            <a:r>
              <a:rPr sz="2000" b="1" i="0">
                <a:solidFill>
                  <a:srgbClr val="333D47"/>
                </a:solidFill>
                <a:latin typeface="Arial"/>
              </a:rPr>
              <a:t>1,000 employees</a:t>
            </a:r>
            <a:r>
              <a:rPr sz="2000" b="0" i="0">
                <a:solidFill>
                  <a:srgbClr val="333D47"/>
                </a:solidFill>
                <a:latin typeface="Arial"/>
              </a:rPr>
              <a:t> and saved each employee an average of </a:t>
            </a:r>
            <a:r>
              <a:rPr sz="2000" b="1" i="0">
                <a:solidFill>
                  <a:srgbClr val="333D47"/>
                </a:solidFill>
                <a:latin typeface="Arial"/>
              </a:rPr>
              <a:t>1 hour per week</a:t>
            </a:r>
            <a:r>
              <a:rPr sz="2000" b="0" i="0">
                <a:solidFill>
                  <a:srgbClr val="333D47"/>
                </a:solidFill>
                <a:latin typeface="Arial"/>
              </a:rPr>
              <a:t>, it would release approximately</a:t>
            </a:r>
          </a:p>
        </p:txBody>
      </p:sp>
      <p:sp>
        <p:nvSpPr>
          <p:cNvPr id="8" name="TextBox 7"/>
          <p:cNvSpPr txBox="1"/>
          <p:nvPr/>
        </p:nvSpPr>
        <p:spPr>
          <a:xfrm>
            <a:off x="457200" y="3108960"/>
            <a:ext cx="6766560" cy="914400"/>
          </a:xfrm>
          <a:prstGeom prst="rect">
            <a:avLst/>
          </a:prstGeom>
          <a:noFill/>
        </p:spPr>
        <p:txBody>
          <a:bodyPr wrap="square" lIns="0" rIns="0" tIns="0" bIns="0" anchor="t">
            <a:noAutofit/>
          </a:bodyPr>
          <a:lstStyle/>
          <a:p>
            <a:pPr algn="l"/>
            <a:r>
              <a:rPr sz="6600" b="1" i="0">
                <a:solidFill>
                  <a:srgbClr val="D31145"/>
                </a:solidFill>
                <a:latin typeface="Arial"/>
              </a:rPr>
              <a:t>1,000 hours</a:t>
            </a:r>
          </a:p>
        </p:txBody>
      </p:sp>
      <p:sp>
        <p:nvSpPr>
          <p:cNvPr id="9" name="TextBox 8"/>
          <p:cNvSpPr txBox="1"/>
          <p:nvPr/>
        </p:nvSpPr>
        <p:spPr>
          <a:xfrm>
            <a:off x="457200" y="4069080"/>
            <a:ext cx="6766560" cy="365760"/>
          </a:xfrm>
          <a:prstGeom prst="rect">
            <a:avLst/>
          </a:prstGeom>
          <a:noFill/>
        </p:spPr>
        <p:txBody>
          <a:bodyPr wrap="square" lIns="0" rIns="0" tIns="0" bIns="0" anchor="t">
            <a:noAutofit/>
          </a:bodyPr>
          <a:lstStyle/>
          <a:p>
            <a:pPr algn="l"/>
            <a:r>
              <a:rPr sz="1800" b="1" i="0">
                <a:solidFill>
                  <a:srgbClr val="333D47"/>
                </a:solidFill>
                <a:latin typeface="Arial"/>
              </a:rPr>
              <a:t>of employee capacity every week, for higher-value work</a:t>
            </a:r>
          </a:p>
        </p:txBody>
      </p:sp>
      <p:sp>
        <p:nvSpPr>
          <p:cNvPr id="10" name="Rectangle 9"/>
          <p:cNvSpPr/>
          <p:nvPr/>
        </p:nvSpPr>
        <p:spPr>
          <a:xfrm>
            <a:off x="457200" y="4681728"/>
            <a:ext cx="6675120" cy="237744"/>
          </a:xfrm>
          <a:prstGeom prst="rect">
            <a:avLst/>
          </a:prstGeom>
          <a:solidFill>
            <a:srgbClr val="F0F1F2"/>
          </a:solidFill>
          <a:ln>
            <a:noFill/>
          </a:ln>
        </p:spPr>
        <p:txBody>
          <a:bodyPr rtlCol="0" anchor="ctr"/>
          <a:lstStyle/>
          <a:p/>
        </p:txBody>
      </p:sp>
      <p:sp>
        <p:nvSpPr>
          <p:cNvPr id="11" name="Rectangle 10"/>
          <p:cNvSpPr/>
          <p:nvPr/>
        </p:nvSpPr>
        <p:spPr>
          <a:xfrm>
            <a:off x="457200" y="4681728"/>
            <a:ext cx="1335024" cy="237744"/>
          </a:xfrm>
          <a:prstGeom prst="rect">
            <a:avLst/>
          </a:prstGeom>
          <a:solidFill>
            <a:srgbClr val="D3CAC3"/>
          </a:solidFill>
          <a:ln>
            <a:noFill/>
          </a:ln>
        </p:spPr>
        <p:txBody>
          <a:bodyPr rtlCol="0" anchor="ctr"/>
          <a:lstStyle/>
          <a:p/>
        </p:txBody>
      </p:sp>
      <p:sp>
        <p:nvSpPr>
          <p:cNvPr id="12" name="Rectangle 11"/>
          <p:cNvSpPr/>
          <p:nvPr/>
        </p:nvSpPr>
        <p:spPr>
          <a:xfrm>
            <a:off x="457200" y="4681728"/>
            <a:ext cx="166878" cy="237744"/>
          </a:xfrm>
          <a:prstGeom prst="rect">
            <a:avLst/>
          </a:prstGeom>
          <a:solidFill>
            <a:srgbClr val="D31145"/>
          </a:solidFill>
          <a:ln>
            <a:noFill/>
          </a:ln>
        </p:spPr>
        <p:txBody>
          <a:bodyPr rtlCol="0" anchor="ctr"/>
          <a:lstStyle/>
          <a:p/>
        </p:txBody>
      </p:sp>
      <p:sp>
        <p:nvSpPr>
          <p:cNvPr id="13" name="TextBox 12"/>
          <p:cNvSpPr txBox="1"/>
          <p:nvPr/>
        </p:nvSpPr>
        <p:spPr>
          <a:xfrm>
            <a:off x="457200" y="4956048"/>
            <a:ext cx="6675120" cy="502920"/>
          </a:xfrm>
          <a:prstGeom prst="rect">
            <a:avLst/>
          </a:prstGeom>
          <a:noFill/>
        </p:spPr>
        <p:txBody>
          <a:bodyPr wrap="square" lIns="0" rIns="0" tIns="0" bIns="0" anchor="t">
            <a:noAutofit/>
          </a:bodyPr>
          <a:lstStyle/>
          <a:p>
            <a:pPr algn="l"/>
            <a:r>
              <a:rPr sz="1200" b="1" i="0">
                <a:solidFill>
                  <a:srgbClr val="5A6570"/>
                </a:solidFill>
                <a:latin typeface="Arial"/>
              </a:rPr>
              <a:t>A 40-hour week.  </a:t>
            </a:r>
            <a:r>
              <a:rPr sz="1200" b="1" i="0">
                <a:solidFill>
                  <a:srgbClr val="D31145"/>
                </a:solidFill>
                <a:latin typeface="Arial"/>
              </a:rPr>
              <a:t>1 h</a:t>
            </a:r>
            <a:r>
              <a:rPr sz="1200" b="0" i="0">
                <a:solidFill>
                  <a:srgbClr val="5A6570"/>
                </a:solidFill>
                <a:latin typeface="Arial"/>
              </a:rPr>
              <a:t> = the scenario.  </a:t>
            </a:r>
            <a:r>
              <a:rPr sz="1200" b="1" i="0">
                <a:solidFill>
                  <a:srgbClr val="5A6570"/>
                </a:solidFill>
                <a:latin typeface="Arial"/>
              </a:rPr>
              <a:t>~8 h</a:t>
            </a:r>
            <a:r>
              <a:rPr sz="1200" b="0" i="0">
                <a:solidFill>
                  <a:srgbClr val="5A6570"/>
                </a:solidFill>
                <a:latin typeface="Arial"/>
              </a:rPr>
              <a:t> = nearly 20% of the week spent looking for internal information or tracking down colleagues (McKinsey, 2012).</a:t>
            </a:r>
          </a:p>
        </p:txBody>
      </p:sp>
      <p:sp>
        <p:nvSpPr>
          <p:cNvPr id="14" name="Rounded Rectangle 13"/>
          <p:cNvSpPr/>
          <p:nvPr/>
        </p:nvSpPr>
        <p:spPr>
          <a:xfrm>
            <a:off x="7589520" y="1645920"/>
            <a:ext cx="4160520" cy="3977639"/>
          </a:xfrm>
          <a:prstGeom prst="roundRect">
            <a:avLst>
              <a:gd name="adj" fmla="val 4000"/>
            </a:avLst>
          </a:prstGeom>
          <a:solidFill>
            <a:srgbClr val="F4F2F0"/>
          </a:solidFill>
          <a:ln>
            <a:noFill/>
          </a:ln>
        </p:spPr>
        <p:txBody>
          <a:bodyPr rtlCol="0" anchor="ctr"/>
          <a:lstStyle/>
          <a:p/>
        </p:txBody>
      </p:sp>
      <p:sp>
        <p:nvSpPr>
          <p:cNvPr id="15" name="TextBox 14"/>
          <p:cNvSpPr txBox="1"/>
          <p:nvPr/>
        </p:nvSpPr>
        <p:spPr>
          <a:xfrm>
            <a:off x="7909560" y="1874519"/>
            <a:ext cx="3520439" cy="274320"/>
          </a:xfrm>
          <a:prstGeom prst="rect">
            <a:avLst/>
          </a:prstGeom>
          <a:noFill/>
        </p:spPr>
        <p:txBody>
          <a:bodyPr wrap="square" lIns="0" rIns="0" tIns="0" bIns="0" anchor="t">
            <a:noAutofit/>
          </a:bodyPr>
          <a:lstStyle/>
          <a:p>
            <a:pPr algn="l"/>
            <a:r>
              <a:rPr sz="1200" b="1" i="0">
                <a:solidFill>
                  <a:srgbClr val="D31145"/>
                </a:solidFill>
                <a:latin typeface="Arial"/>
              </a:rPr>
              <a:t>DOUBLE EMPLOYEE VALUE</a:t>
            </a:r>
          </a:p>
        </p:txBody>
      </p:sp>
      <p:sp>
        <p:nvSpPr>
          <p:cNvPr id="16" name="TextBox 15"/>
          <p:cNvSpPr txBox="1"/>
          <p:nvPr/>
        </p:nvSpPr>
        <p:spPr>
          <a:xfrm>
            <a:off x="7909560" y="2148840"/>
            <a:ext cx="3520439" cy="411480"/>
          </a:xfrm>
          <a:prstGeom prst="rect">
            <a:avLst/>
          </a:prstGeom>
          <a:noFill/>
        </p:spPr>
        <p:txBody>
          <a:bodyPr wrap="square" lIns="0" rIns="0" tIns="0" bIns="0" anchor="t">
            <a:noAutofit/>
          </a:bodyPr>
          <a:lstStyle/>
          <a:p>
            <a:pPr algn="l"/>
            <a:r>
              <a:rPr sz="2000" b="1" i="0">
                <a:solidFill>
                  <a:srgbClr val="333D47"/>
                </a:solidFill>
                <a:latin typeface="Arial"/>
              </a:rPr>
              <a:t>Where the time goes</a:t>
            </a:r>
          </a:p>
        </p:txBody>
      </p:sp>
      <p:sp>
        <p:nvSpPr>
          <p:cNvPr id="17" name="TextBox 16"/>
          <p:cNvSpPr txBox="1"/>
          <p:nvPr/>
        </p:nvSpPr>
        <p:spPr>
          <a:xfrm>
            <a:off x="7909560" y="2670048"/>
            <a:ext cx="3520439" cy="274320"/>
          </a:xfrm>
          <a:prstGeom prst="rect">
            <a:avLst/>
          </a:prstGeom>
          <a:noFill/>
        </p:spPr>
        <p:txBody>
          <a:bodyPr wrap="square" lIns="0" rIns="0" tIns="0" bIns="0" anchor="t">
            <a:noAutofit/>
          </a:bodyPr>
          <a:lstStyle/>
          <a:p>
            <a:pPr algn="l"/>
            <a:r>
              <a:rPr sz="1200" b="1" i="0">
                <a:solidFill>
                  <a:srgbClr val="5A6570"/>
                </a:solidFill>
                <a:latin typeface="Arial"/>
              </a:rPr>
              <a:t>LESS TIME ON</a:t>
            </a:r>
          </a:p>
        </p:txBody>
      </p:sp>
      <p:sp>
        <p:nvSpPr>
          <p:cNvPr id="18" name="TextBox 17"/>
          <p:cNvSpPr txBox="1"/>
          <p:nvPr/>
        </p:nvSpPr>
        <p:spPr>
          <a:xfrm>
            <a:off x="7909560" y="2944368"/>
            <a:ext cx="3520439" cy="1097280"/>
          </a:xfrm>
          <a:prstGeom prst="rect">
            <a:avLst/>
          </a:prstGeom>
          <a:noFill/>
        </p:spPr>
        <p:txBody>
          <a:bodyPr wrap="square" lIns="0" rIns="0" tIns="0" bIns="0" anchor="t">
            <a:noAutofit/>
          </a:bodyPr>
          <a:lstStyle/>
          <a:p>
            <a:pPr algn="l">
              <a:spcAft>
                <a:spcPts val="200"/>
              </a:spcAft>
            </a:pPr>
            <a:r>
              <a:rPr sz="1100" b="0" i="0">
                <a:solidFill>
                  <a:srgbClr val="8A939B"/>
                </a:solidFill>
                <a:latin typeface="Arial"/>
              </a:rPr>
              <a:t>●  </a:t>
            </a:r>
            <a:r>
              <a:rPr sz="1500" b="0" i="0">
                <a:solidFill>
                  <a:srgbClr val="5A6570"/>
                </a:solidFill>
                <a:latin typeface="Arial"/>
              </a:rPr>
              <a:t>Searching for information</a:t>
            </a:r>
          </a:p>
          <a:p>
            <a:pPr algn="l">
              <a:spcAft>
                <a:spcPts val="200"/>
              </a:spcAft>
            </a:pPr>
            <a:r>
              <a:rPr sz="1100" b="0" i="0">
                <a:solidFill>
                  <a:srgbClr val="8A939B"/>
                </a:solidFill>
                <a:latin typeface="Arial"/>
              </a:rPr>
              <a:t>●  </a:t>
            </a:r>
            <a:r>
              <a:rPr sz="1500" b="0" i="0">
                <a:solidFill>
                  <a:srgbClr val="5A6570"/>
                </a:solidFill>
                <a:latin typeface="Arial"/>
              </a:rPr>
              <a:t>Switching between systems</a:t>
            </a:r>
          </a:p>
          <a:p>
            <a:pPr algn="l">
              <a:spcAft>
                <a:spcPts val="200"/>
              </a:spcAft>
            </a:pPr>
            <a:r>
              <a:rPr sz="1100" b="0" i="0">
                <a:solidFill>
                  <a:srgbClr val="8A939B"/>
                </a:solidFill>
                <a:latin typeface="Arial"/>
              </a:rPr>
              <a:t>●  </a:t>
            </a:r>
            <a:r>
              <a:rPr sz="1500" b="0" i="0">
                <a:solidFill>
                  <a:srgbClr val="5A6570"/>
                </a:solidFill>
                <a:latin typeface="Arial"/>
              </a:rPr>
              <a:t>Chasing and coordinating</a:t>
            </a:r>
          </a:p>
          <a:p>
            <a:pPr algn="l">
              <a:spcAft>
                <a:spcPts val="200"/>
              </a:spcAft>
            </a:pPr>
            <a:r>
              <a:rPr sz="1100" b="0" i="0">
                <a:solidFill>
                  <a:srgbClr val="8A939B"/>
                </a:solidFill>
                <a:latin typeface="Arial"/>
              </a:rPr>
              <a:t>●  </a:t>
            </a:r>
            <a:r>
              <a:rPr sz="1500" b="0" i="0">
                <a:solidFill>
                  <a:srgbClr val="5A6570"/>
                </a:solidFill>
                <a:latin typeface="Arial"/>
              </a:rPr>
              <a:t>Repetitive assembly</a:t>
            </a:r>
          </a:p>
        </p:txBody>
      </p:sp>
      <p:pic>
        <p:nvPicPr>
          <p:cNvPr id="19" name="Picture 18" descr="LuArrowRight_r.png"/>
          <p:cNvPicPr>
            <a:picLocks noChangeAspect="1"/>
          </p:cNvPicPr>
          <p:nvPr/>
        </p:nvPicPr>
        <p:blipFill>
          <a:blip r:embed="rId3"/>
          <a:stretch>
            <a:fillRect/>
          </a:stretch>
        </p:blipFill>
        <p:spPr>
          <a:xfrm rot="5400000">
            <a:off x="9486900" y="4041648"/>
            <a:ext cx="365760" cy="365760"/>
          </a:xfrm>
          <a:prstGeom prst="rect">
            <a:avLst/>
          </a:prstGeom>
        </p:spPr>
      </p:pic>
      <p:sp>
        <p:nvSpPr>
          <p:cNvPr id="20" name="TextBox 19"/>
          <p:cNvSpPr txBox="1"/>
          <p:nvPr/>
        </p:nvSpPr>
        <p:spPr>
          <a:xfrm>
            <a:off x="7909560" y="4407408"/>
            <a:ext cx="3520439" cy="274320"/>
          </a:xfrm>
          <a:prstGeom prst="rect">
            <a:avLst/>
          </a:prstGeom>
          <a:noFill/>
        </p:spPr>
        <p:txBody>
          <a:bodyPr wrap="square" lIns="0" rIns="0" tIns="0" bIns="0" anchor="t">
            <a:noAutofit/>
          </a:bodyPr>
          <a:lstStyle/>
          <a:p>
            <a:pPr algn="l"/>
            <a:r>
              <a:rPr sz="1200" b="1" i="0">
                <a:solidFill>
                  <a:srgbClr val="D31145"/>
                </a:solidFill>
                <a:latin typeface="Arial"/>
              </a:rPr>
              <a:t>MORE TIME FOR</a:t>
            </a:r>
          </a:p>
        </p:txBody>
      </p:sp>
      <p:sp>
        <p:nvSpPr>
          <p:cNvPr id="21" name="TextBox 20"/>
          <p:cNvSpPr txBox="1"/>
          <p:nvPr/>
        </p:nvSpPr>
        <p:spPr>
          <a:xfrm>
            <a:off x="7909560" y="4681728"/>
            <a:ext cx="3520439" cy="822960"/>
          </a:xfrm>
          <a:prstGeom prst="rect">
            <a:avLst/>
          </a:prstGeom>
          <a:noFill/>
        </p:spPr>
        <p:txBody>
          <a:bodyPr wrap="square" lIns="0" rIns="0" tIns="0" bIns="0" anchor="t">
            <a:noAutofit/>
          </a:bodyPr>
          <a:lstStyle/>
          <a:p>
            <a:pPr algn="l"/>
            <a:r>
              <a:rPr sz="1600" b="1" i="0">
                <a:solidFill>
                  <a:srgbClr val="333D47"/>
                </a:solidFill>
                <a:latin typeface="Arial"/>
              </a:rPr>
              <a:t>Customers, judgment and decisions, problem-solving and innovation</a:t>
            </a:r>
          </a:p>
        </p:txBody>
      </p:sp>
      <p:sp>
        <p:nvSpPr>
          <p:cNvPr id="22" name="TextBox 21"/>
          <p:cNvSpPr txBox="1"/>
          <p:nvPr/>
        </p:nvSpPr>
        <p:spPr>
          <a:xfrm>
            <a:off x="457200" y="5532120"/>
            <a:ext cx="6766560" cy="274320"/>
          </a:xfrm>
          <a:prstGeom prst="rect">
            <a:avLst/>
          </a:prstGeom>
          <a:noFill/>
        </p:spPr>
        <p:txBody>
          <a:bodyPr wrap="square" lIns="0" rIns="0" tIns="0" bIns="0" anchor="t">
            <a:noAutofit/>
          </a:bodyPr>
          <a:lstStyle/>
          <a:p>
            <a:pPr algn="l"/>
            <a:r>
              <a:rPr sz="1200" b="0" i="1">
                <a:solidFill>
                  <a:srgbClr val="5A6570"/>
                </a:solidFill>
                <a:latin typeface="Arial"/>
              </a:rPr>
              <a:t>1,000 is not a pilot size or an AIA employee count. 1 hour is not yet proven: the pilot exists to test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The pilot turns the scenario into evidence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IMPACT  ·  HOW WE PROVE IT</a:t>
            </a:r>
          </a:p>
        </p:txBody>
      </p:sp>
      <p:sp>
        <p:nvSpPr>
          <p:cNvPr id="6" name="TextBox 5"/>
          <p:cNvSpPr txBox="1"/>
          <p:nvPr/>
        </p:nvSpPr>
        <p:spPr>
          <a:xfrm>
            <a:off x="448056" y="1133856"/>
            <a:ext cx="11155680" cy="457200"/>
          </a:xfrm>
          <a:prstGeom prst="rect">
            <a:avLst/>
          </a:prstGeom>
          <a:noFill/>
        </p:spPr>
        <p:txBody>
          <a:bodyPr wrap="square" lIns="0" rIns="0" tIns="0" bIns="0" anchor="t">
            <a:noAutofit/>
          </a:bodyPr>
          <a:lstStyle/>
          <a:p>
            <a:pPr algn="l"/>
            <a:r>
              <a:rPr sz="1600" b="0" i="0">
                <a:solidFill>
                  <a:srgbClr val="5A6570"/>
                </a:solidFill>
                <a:latin typeface="Arial"/>
              </a:rPr>
              <a:t>Measured on the real Phase 1 team, against a Phase 0 baseline.</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6</a:t>
            </a:fld>
            <a:endParaRPr lang="en-US" dirty="0"/>
          </a:p>
        </p:txBody>
      </p:sp>
      <p:sp>
        <p:nvSpPr>
          <p:cNvPr id="7" name="Oval 6"/>
          <p:cNvSpPr/>
          <p:nvPr/>
        </p:nvSpPr>
        <p:spPr>
          <a:xfrm>
            <a:off x="457200" y="1783080"/>
            <a:ext cx="640080" cy="640080"/>
          </a:xfrm>
          <a:prstGeom prst="ellipse">
            <a:avLst/>
          </a:prstGeom>
          <a:solidFill>
            <a:srgbClr val="D31145"/>
          </a:solidFill>
          <a:ln>
            <a:noFill/>
          </a:ln>
        </p:spPr>
        <p:txBody>
          <a:bodyPr rtlCol="0" anchor="ctr"/>
          <a:lstStyle/>
          <a:p/>
        </p:txBody>
      </p:sp>
      <p:pic>
        <p:nvPicPr>
          <p:cNvPr id="8" name="Picture 7" descr="LuTimer_w.png"/>
          <p:cNvPicPr>
            <a:picLocks noChangeAspect="1"/>
          </p:cNvPicPr>
          <p:nvPr/>
        </p:nvPicPr>
        <p:blipFill>
          <a:blip r:embed="rId3"/>
          <a:stretch>
            <a:fillRect/>
          </a:stretch>
        </p:blipFill>
        <p:spPr>
          <a:xfrm>
            <a:off x="610819" y="1936699"/>
            <a:ext cx="332841" cy="332841"/>
          </a:xfrm>
          <a:prstGeom prst="rect">
            <a:avLst/>
          </a:prstGeom>
        </p:spPr>
      </p:pic>
      <p:sp>
        <p:nvSpPr>
          <p:cNvPr id="9" name="TextBox 8"/>
          <p:cNvSpPr txBox="1"/>
          <p:nvPr/>
        </p:nvSpPr>
        <p:spPr>
          <a:xfrm>
            <a:off x="1234440" y="1783080"/>
            <a:ext cx="2788920" cy="640080"/>
          </a:xfrm>
          <a:prstGeom prst="rect">
            <a:avLst/>
          </a:prstGeom>
          <a:noFill/>
        </p:spPr>
        <p:txBody>
          <a:bodyPr wrap="square" lIns="0" rIns="0" tIns="0" bIns="0" anchor="ctr">
            <a:noAutofit/>
          </a:bodyPr>
          <a:lstStyle/>
          <a:p>
            <a:pPr algn="l"/>
            <a:r>
              <a:rPr sz="1900" b="1" i="0">
                <a:solidFill>
                  <a:srgbClr val="333D47"/>
                </a:solidFill>
                <a:latin typeface="Arial"/>
              </a:rPr>
              <a:t>Does it save effort?</a:t>
            </a:r>
          </a:p>
        </p:txBody>
      </p:sp>
      <p:cxnSp>
        <p:nvCxnSpPr>
          <p:cNvPr id="10" name="Connector 9"/>
          <p:cNvCxnSpPr/>
          <p:nvPr/>
        </p:nvCxnSpPr>
        <p:spPr>
          <a:xfrm>
            <a:off x="457200" y="2587752"/>
            <a:ext cx="3566160"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697480"/>
            <a:ext cx="3566160" cy="292608"/>
          </a:xfrm>
          <a:prstGeom prst="rect">
            <a:avLst/>
          </a:prstGeom>
          <a:noFill/>
        </p:spPr>
        <p:txBody>
          <a:bodyPr wrap="square" lIns="0" rIns="0" tIns="0" bIns="0" anchor="t">
            <a:noAutofit/>
          </a:bodyPr>
          <a:lstStyle/>
          <a:p>
            <a:pPr algn="l"/>
            <a:r>
              <a:rPr sz="1600" b="1" i="0">
                <a:solidFill>
                  <a:srgbClr val="333D47"/>
                </a:solidFill>
                <a:latin typeface="Arial"/>
              </a:rPr>
              <a:t>Active employee effort</a:t>
            </a:r>
          </a:p>
        </p:txBody>
      </p:sp>
      <p:sp>
        <p:nvSpPr>
          <p:cNvPr id="12" name="TextBox 11"/>
          <p:cNvSpPr txBox="1"/>
          <p:nvPr/>
        </p:nvSpPr>
        <p:spPr>
          <a:xfrm>
            <a:off x="457200" y="3026664"/>
            <a:ext cx="3566160" cy="685800"/>
          </a:xfrm>
          <a:prstGeom prst="rect">
            <a:avLst/>
          </a:prstGeom>
          <a:noFill/>
        </p:spPr>
        <p:txBody>
          <a:bodyPr wrap="square" lIns="0" rIns="0" tIns="0" bIns="0" anchor="t">
            <a:noAutofit/>
          </a:bodyPr>
          <a:lstStyle/>
          <a:p>
            <a:pPr algn="l"/>
            <a:r>
              <a:rPr sz="1400" b="0" i="0">
                <a:solidFill>
                  <a:srgbClr val="5A6570"/>
                </a:solidFill>
                <a:latin typeface="Arial"/>
              </a:rPr>
              <a:t>Time spent per completed task, before vs. after</a:t>
            </a:r>
          </a:p>
        </p:txBody>
      </p:sp>
      <p:cxnSp>
        <p:nvCxnSpPr>
          <p:cNvPr id="13" name="Connector 12"/>
          <p:cNvCxnSpPr/>
          <p:nvPr/>
        </p:nvCxnSpPr>
        <p:spPr>
          <a:xfrm>
            <a:off x="457200" y="3685032"/>
            <a:ext cx="3566160"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57200" y="3794760"/>
            <a:ext cx="3566160" cy="292608"/>
          </a:xfrm>
          <a:prstGeom prst="rect">
            <a:avLst/>
          </a:prstGeom>
          <a:noFill/>
        </p:spPr>
        <p:txBody>
          <a:bodyPr wrap="square" lIns="0" rIns="0" tIns="0" bIns="0" anchor="t">
            <a:noAutofit/>
          </a:bodyPr>
          <a:lstStyle/>
          <a:p>
            <a:pPr algn="l"/>
            <a:r>
              <a:rPr sz="1600" b="1" i="0">
                <a:solidFill>
                  <a:srgbClr val="333D47"/>
                </a:solidFill>
                <a:latin typeface="Arial"/>
              </a:rPr>
              <a:t>End-to-end completion time</a:t>
            </a:r>
          </a:p>
        </p:txBody>
      </p:sp>
      <p:sp>
        <p:nvSpPr>
          <p:cNvPr id="15" name="TextBox 14"/>
          <p:cNvSpPr txBox="1"/>
          <p:nvPr/>
        </p:nvSpPr>
        <p:spPr>
          <a:xfrm>
            <a:off x="457200" y="4123944"/>
            <a:ext cx="3566160" cy="685800"/>
          </a:xfrm>
          <a:prstGeom prst="rect">
            <a:avLst/>
          </a:prstGeom>
          <a:noFill/>
        </p:spPr>
        <p:txBody>
          <a:bodyPr wrap="square" lIns="0" rIns="0" tIns="0" bIns="0" anchor="t">
            <a:noAutofit/>
          </a:bodyPr>
          <a:lstStyle/>
          <a:p>
            <a:pPr algn="l"/>
            <a:r>
              <a:rPr sz="1400" b="0" i="0">
                <a:solidFill>
                  <a:srgbClr val="5A6570"/>
                </a:solidFill>
                <a:latin typeface="Arial"/>
              </a:rPr>
              <a:t>From request to finished, approved output</a:t>
            </a:r>
          </a:p>
        </p:txBody>
      </p:sp>
      <p:sp>
        <p:nvSpPr>
          <p:cNvPr id="16" name="Oval 15"/>
          <p:cNvSpPr/>
          <p:nvPr/>
        </p:nvSpPr>
        <p:spPr>
          <a:xfrm>
            <a:off x="4325112" y="1783080"/>
            <a:ext cx="640080" cy="640080"/>
          </a:xfrm>
          <a:prstGeom prst="ellipse">
            <a:avLst/>
          </a:prstGeom>
          <a:solidFill>
            <a:srgbClr val="D31145"/>
          </a:solidFill>
          <a:ln>
            <a:noFill/>
          </a:ln>
        </p:spPr>
        <p:txBody>
          <a:bodyPr rtlCol="0" anchor="ctr"/>
          <a:lstStyle/>
          <a:p/>
        </p:txBody>
      </p:sp>
      <p:pic>
        <p:nvPicPr>
          <p:cNvPr id="17" name="Picture 16" descr="LuBadgeCheck_w.png"/>
          <p:cNvPicPr>
            <a:picLocks noChangeAspect="1"/>
          </p:cNvPicPr>
          <p:nvPr/>
        </p:nvPicPr>
        <p:blipFill>
          <a:blip r:embed="rId4"/>
          <a:stretch>
            <a:fillRect/>
          </a:stretch>
        </p:blipFill>
        <p:spPr>
          <a:xfrm>
            <a:off x="4478731" y="1936699"/>
            <a:ext cx="332841" cy="332841"/>
          </a:xfrm>
          <a:prstGeom prst="rect">
            <a:avLst/>
          </a:prstGeom>
        </p:spPr>
      </p:pic>
      <p:sp>
        <p:nvSpPr>
          <p:cNvPr id="18" name="TextBox 17"/>
          <p:cNvSpPr txBox="1"/>
          <p:nvPr/>
        </p:nvSpPr>
        <p:spPr>
          <a:xfrm>
            <a:off x="5102351" y="1783080"/>
            <a:ext cx="2788920" cy="640080"/>
          </a:xfrm>
          <a:prstGeom prst="rect">
            <a:avLst/>
          </a:prstGeom>
          <a:noFill/>
        </p:spPr>
        <p:txBody>
          <a:bodyPr wrap="square" lIns="0" rIns="0" tIns="0" bIns="0" anchor="ctr">
            <a:noAutofit/>
          </a:bodyPr>
          <a:lstStyle/>
          <a:p>
            <a:pPr algn="l"/>
            <a:r>
              <a:rPr sz="1900" b="1" i="0">
                <a:solidFill>
                  <a:srgbClr val="333D47"/>
                </a:solidFill>
                <a:latin typeface="Arial"/>
              </a:rPr>
              <a:t>Is the work good?</a:t>
            </a:r>
          </a:p>
        </p:txBody>
      </p:sp>
      <p:cxnSp>
        <p:nvCxnSpPr>
          <p:cNvPr id="19" name="Connector 18"/>
          <p:cNvCxnSpPr/>
          <p:nvPr/>
        </p:nvCxnSpPr>
        <p:spPr>
          <a:xfrm>
            <a:off x="4325112" y="2587752"/>
            <a:ext cx="3566159"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325112" y="2697480"/>
            <a:ext cx="3566160" cy="292608"/>
          </a:xfrm>
          <a:prstGeom prst="rect">
            <a:avLst/>
          </a:prstGeom>
          <a:noFill/>
        </p:spPr>
        <p:txBody>
          <a:bodyPr wrap="square" lIns="0" rIns="0" tIns="0" bIns="0" anchor="t">
            <a:noAutofit/>
          </a:bodyPr>
          <a:lstStyle/>
          <a:p>
            <a:pPr algn="l"/>
            <a:r>
              <a:rPr sz="1600" b="1" i="0">
                <a:solidFill>
                  <a:srgbClr val="D31145"/>
                </a:solidFill>
                <a:latin typeface="Arial"/>
              </a:rPr>
              <a:t>Quality</a:t>
            </a:r>
          </a:p>
        </p:txBody>
      </p:sp>
      <p:sp>
        <p:nvSpPr>
          <p:cNvPr id="21" name="TextBox 20"/>
          <p:cNvSpPr txBox="1"/>
          <p:nvPr/>
        </p:nvSpPr>
        <p:spPr>
          <a:xfrm>
            <a:off x="4325112" y="3026664"/>
            <a:ext cx="3566160" cy="685800"/>
          </a:xfrm>
          <a:prstGeom prst="rect">
            <a:avLst/>
          </a:prstGeom>
          <a:noFill/>
        </p:spPr>
        <p:txBody>
          <a:bodyPr wrap="square" lIns="0" rIns="0" tIns="0" bIns="0" anchor="t">
            <a:noAutofit/>
          </a:bodyPr>
          <a:lstStyle/>
          <a:p>
            <a:pPr algn="l"/>
            <a:r>
              <a:rPr sz="1400" b="0" i="0">
                <a:solidFill>
                  <a:srgbClr val="5A6570"/>
                </a:solidFill>
                <a:latin typeface="Arial"/>
              </a:rPr>
              <a:t>Against a human-only baseline, confirmed by periodic independent sample reviews</a:t>
            </a:r>
          </a:p>
        </p:txBody>
      </p:sp>
      <p:cxnSp>
        <p:nvCxnSpPr>
          <p:cNvPr id="22" name="Connector 21"/>
          <p:cNvCxnSpPr/>
          <p:nvPr/>
        </p:nvCxnSpPr>
        <p:spPr>
          <a:xfrm>
            <a:off x="4325112" y="3685032"/>
            <a:ext cx="3566159"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5112" y="3794760"/>
            <a:ext cx="3566160" cy="292608"/>
          </a:xfrm>
          <a:prstGeom prst="rect">
            <a:avLst/>
          </a:prstGeom>
          <a:noFill/>
        </p:spPr>
        <p:txBody>
          <a:bodyPr wrap="square" lIns="0" rIns="0" tIns="0" bIns="0" anchor="t">
            <a:noAutofit/>
          </a:bodyPr>
          <a:lstStyle/>
          <a:p>
            <a:pPr algn="l"/>
            <a:r>
              <a:rPr sz="1600" b="1" i="0">
                <a:solidFill>
                  <a:srgbClr val="333D47"/>
                </a:solidFill>
                <a:latin typeface="Arial"/>
              </a:rPr>
              <a:t>Rework rate</a:t>
            </a:r>
          </a:p>
        </p:txBody>
      </p:sp>
      <p:sp>
        <p:nvSpPr>
          <p:cNvPr id="24" name="TextBox 23"/>
          <p:cNvSpPr txBox="1"/>
          <p:nvPr/>
        </p:nvSpPr>
        <p:spPr>
          <a:xfrm>
            <a:off x="4325112" y="4123944"/>
            <a:ext cx="3566160" cy="685800"/>
          </a:xfrm>
          <a:prstGeom prst="rect">
            <a:avLst/>
          </a:prstGeom>
          <a:noFill/>
        </p:spPr>
        <p:txBody>
          <a:bodyPr wrap="square" lIns="0" rIns="0" tIns="0" bIns="0" anchor="t">
            <a:noAutofit/>
          </a:bodyPr>
          <a:lstStyle/>
          <a:p>
            <a:pPr algn="l"/>
            <a:r>
              <a:rPr sz="1400" b="0" i="0">
                <a:solidFill>
                  <a:srgbClr val="5A6570"/>
                </a:solidFill>
                <a:latin typeface="Arial"/>
              </a:rPr>
              <a:t>Outputs needing real correction, and how fast it falls</a:t>
            </a:r>
          </a:p>
        </p:txBody>
      </p:sp>
      <p:sp>
        <p:nvSpPr>
          <p:cNvPr id="25" name="Oval 24"/>
          <p:cNvSpPr/>
          <p:nvPr/>
        </p:nvSpPr>
        <p:spPr>
          <a:xfrm>
            <a:off x="8193023" y="1783080"/>
            <a:ext cx="640080" cy="640080"/>
          </a:xfrm>
          <a:prstGeom prst="ellipse">
            <a:avLst/>
          </a:prstGeom>
          <a:solidFill>
            <a:srgbClr val="D31145"/>
          </a:solidFill>
          <a:ln>
            <a:noFill/>
          </a:ln>
        </p:spPr>
        <p:txBody>
          <a:bodyPr rtlCol="0" anchor="ctr"/>
          <a:lstStyle/>
          <a:p/>
        </p:txBody>
      </p:sp>
      <p:pic>
        <p:nvPicPr>
          <p:cNvPr id="26" name="Picture 25" descr="LuLayers_w.png"/>
          <p:cNvPicPr>
            <a:picLocks noChangeAspect="1"/>
          </p:cNvPicPr>
          <p:nvPr/>
        </p:nvPicPr>
        <p:blipFill>
          <a:blip r:embed="rId5"/>
          <a:stretch>
            <a:fillRect/>
          </a:stretch>
        </p:blipFill>
        <p:spPr>
          <a:xfrm>
            <a:off x="8346643" y="1936699"/>
            <a:ext cx="332841" cy="332841"/>
          </a:xfrm>
          <a:prstGeom prst="rect">
            <a:avLst/>
          </a:prstGeom>
        </p:spPr>
      </p:pic>
      <p:sp>
        <p:nvSpPr>
          <p:cNvPr id="27" name="TextBox 26"/>
          <p:cNvSpPr txBox="1"/>
          <p:nvPr/>
        </p:nvSpPr>
        <p:spPr>
          <a:xfrm>
            <a:off x="8970263" y="1783080"/>
            <a:ext cx="2788920" cy="640080"/>
          </a:xfrm>
          <a:prstGeom prst="rect">
            <a:avLst/>
          </a:prstGeom>
          <a:noFill/>
        </p:spPr>
        <p:txBody>
          <a:bodyPr wrap="square" lIns="0" rIns="0" tIns="0" bIns="0" anchor="ctr">
            <a:noAutofit/>
          </a:bodyPr>
          <a:lstStyle/>
          <a:p>
            <a:pPr algn="l"/>
            <a:r>
              <a:rPr sz="1900" b="1" i="0">
                <a:solidFill>
                  <a:srgbClr val="333D47"/>
                </a:solidFill>
                <a:latin typeface="Arial"/>
              </a:rPr>
              <a:t>Does it fix fragmentation?</a:t>
            </a:r>
          </a:p>
        </p:txBody>
      </p:sp>
      <p:cxnSp>
        <p:nvCxnSpPr>
          <p:cNvPr id="28" name="Connector 27"/>
          <p:cNvCxnSpPr/>
          <p:nvPr/>
        </p:nvCxnSpPr>
        <p:spPr>
          <a:xfrm>
            <a:off x="8193023" y="2587752"/>
            <a:ext cx="3566161"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193023" y="2697480"/>
            <a:ext cx="3566160" cy="292608"/>
          </a:xfrm>
          <a:prstGeom prst="rect">
            <a:avLst/>
          </a:prstGeom>
          <a:noFill/>
        </p:spPr>
        <p:txBody>
          <a:bodyPr wrap="square" lIns="0" rIns="0" tIns="0" bIns="0" anchor="t">
            <a:noAutofit/>
          </a:bodyPr>
          <a:lstStyle/>
          <a:p>
            <a:pPr algn="l"/>
            <a:r>
              <a:rPr sz="1600" b="1" i="0">
                <a:solidFill>
                  <a:srgbClr val="333D47"/>
                </a:solidFill>
                <a:latin typeface="Arial"/>
              </a:rPr>
              <a:t>Manual steps and systems touched</a:t>
            </a:r>
          </a:p>
        </p:txBody>
      </p:sp>
      <p:sp>
        <p:nvSpPr>
          <p:cNvPr id="30" name="TextBox 29"/>
          <p:cNvSpPr txBox="1"/>
          <p:nvPr/>
        </p:nvSpPr>
        <p:spPr>
          <a:xfrm>
            <a:off x="8193023" y="3026664"/>
            <a:ext cx="3566160" cy="685800"/>
          </a:xfrm>
          <a:prstGeom prst="rect">
            <a:avLst/>
          </a:prstGeom>
          <a:noFill/>
        </p:spPr>
        <p:txBody>
          <a:bodyPr wrap="square" lIns="0" rIns="0" tIns="0" bIns="0" anchor="t">
            <a:noAutofit/>
          </a:bodyPr>
          <a:lstStyle/>
          <a:p>
            <a:pPr algn="l"/>
            <a:r>
              <a:rPr sz="1400" b="0" i="0">
                <a:solidFill>
                  <a:srgbClr val="5A6570"/>
                </a:solidFill>
                <a:latin typeface="Arial"/>
              </a:rPr>
              <a:t>Tools used by hand before vs. handled by Riley</a:t>
            </a:r>
          </a:p>
        </p:txBody>
      </p:sp>
      <p:cxnSp>
        <p:nvCxnSpPr>
          <p:cNvPr id="31" name="Connector 30"/>
          <p:cNvCxnSpPr/>
          <p:nvPr/>
        </p:nvCxnSpPr>
        <p:spPr>
          <a:xfrm>
            <a:off x="8193023" y="3685032"/>
            <a:ext cx="3566161" cy="0"/>
          </a:xfrm>
          <a:prstGeom prst="line">
            <a:avLst/>
          </a:prstGeom>
          <a:ln w="12700">
            <a:solidFill>
              <a:srgbClr val="D9D6D3"/>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193023" y="3794760"/>
            <a:ext cx="3566160" cy="292608"/>
          </a:xfrm>
          <a:prstGeom prst="rect">
            <a:avLst/>
          </a:prstGeom>
          <a:noFill/>
        </p:spPr>
        <p:txBody>
          <a:bodyPr wrap="square" lIns="0" rIns="0" tIns="0" bIns="0" anchor="t">
            <a:noAutofit/>
          </a:bodyPr>
          <a:lstStyle/>
          <a:p>
            <a:pPr algn="l"/>
            <a:r>
              <a:rPr sz="1600" b="1" i="0">
                <a:solidFill>
                  <a:srgbClr val="333D47"/>
                </a:solidFill>
                <a:latin typeface="Arial"/>
              </a:rPr>
              <a:t>Adoption</a:t>
            </a:r>
          </a:p>
        </p:txBody>
      </p:sp>
      <p:sp>
        <p:nvSpPr>
          <p:cNvPr id="33" name="TextBox 32"/>
          <p:cNvSpPr txBox="1"/>
          <p:nvPr/>
        </p:nvSpPr>
        <p:spPr>
          <a:xfrm>
            <a:off x="8193023" y="4123944"/>
            <a:ext cx="3566160" cy="685800"/>
          </a:xfrm>
          <a:prstGeom prst="rect">
            <a:avLst/>
          </a:prstGeom>
          <a:noFill/>
        </p:spPr>
        <p:txBody>
          <a:bodyPr wrap="square" lIns="0" rIns="0" tIns="0" bIns="0" anchor="t">
            <a:noAutofit/>
          </a:bodyPr>
          <a:lstStyle/>
          <a:p>
            <a:pPr algn="l"/>
            <a:r>
              <a:rPr sz="1400" b="0" i="0">
                <a:solidFill>
                  <a:srgbClr val="5A6570"/>
                </a:solidFill>
                <a:latin typeface="Arial"/>
              </a:rPr>
              <a:t>Employees choosing to use Riley, week after week</a:t>
            </a:r>
          </a:p>
        </p:txBody>
      </p:sp>
      <p:sp>
        <p:nvSpPr>
          <p:cNvPr id="34" name="Pentagon 33"/>
          <p:cNvSpPr/>
          <p:nvPr/>
        </p:nvSpPr>
        <p:spPr>
          <a:xfrm>
            <a:off x="457200" y="4937760"/>
            <a:ext cx="3840479" cy="658368"/>
          </a:xfrm>
          <a:prstGeom prst="homePlate">
            <a:avLst/>
          </a:prstGeom>
          <a:solidFill>
            <a:srgbClr val="E9E4E1"/>
          </a:solidFill>
          <a:ln>
            <a:noFill/>
          </a:ln>
        </p:spPr>
        <p:txBody>
          <a:bodyPr rtlCol="0" anchor="ctr" wrap="square" lIns="137160" rIns="320040">
            <a:noAutofit/>
          </a:bodyPr>
          <a:lstStyle/>
          <a:p>
            <a:pPr algn="ctr"/>
            <a:r>
              <a:rPr sz="1300" b="1" i="0">
                <a:solidFill>
                  <a:srgbClr val="333D47"/>
                </a:solidFill>
                <a:latin typeface="Arial"/>
              </a:rPr>
              <a:t>Phase 0  </a:t>
            </a:r>
            <a:r>
              <a:rPr sz="1300" b="0" i="0">
                <a:solidFill>
                  <a:srgbClr val="333D47"/>
                </a:solidFill>
                <a:latin typeface="Arial"/>
              </a:rPr>
              <a:t>Baseline today’s effort, time and steps</a:t>
            </a:r>
          </a:p>
        </p:txBody>
      </p:sp>
      <p:sp>
        <p:nvSpPr>
          <p:cNvPr id="35" name="Chevron 34"/>
          <p:cNvSpPr/>
          <p:nvPr/>
        </p:nvSpPr>
        <p:spPr>
          <a:xfrm>
            <a:off x="4224527" y="4937760"/>
            <a:ext cx="3840479" cy="658368"/>
          </a:xfrm>
          <a:prstGeom prst="chevron">
            <a:avLst/>
          </a:prstGeom>
          <a:solidFill>
            <a:srgbClr val="F4C4D1"/>
          </a:solidFill>
          <a:ln>
            <a:noFill/>
          </a:ln>
        </p:spPr>
        <p:txBody>
          <a:bodyPr rtlCol="0" anchor="ctr" wrap="square" lIns="411480" rIns="320040">
            <a:noAutofit/>
          </a:bodyPr>
          <a:lstStyle/>
          <a:p>
            <a:pPr algn="ctr"/>
            <a:r>
              <a:rPr sz="1300" b="1" i="0">
                <a:solidFill>
                  <a:srgbClr val="333D47"/>
                </a:solidFill>
                <a:latin typeface="Arial"/>
              </a:rPr>
              <a:t>Phase 1  </a:t>
            </a:r>
            <a:r>
              <a:rPr sz="1300" b="0" i="0">
                <a:solidFill>
                  <a:srgbClr val="333D47"/>
                </a:solidFill>
                <a:latin typeface="Arial"/>
              </a:rPr>
              <a:t>Measure the same work with Riley</a:t>
            </a:r>
          </a:p>
        </p:txBody>
      </p:sp>
      <p:sp>
        <p:nvSpPr>
          <p:cNvPr id="36" name="Chevron 35"/>
          <p:cNvSpPr/>
          <p:nvPr/>
        </p:nvSpPr>
        <p:spPr>
          <a:xfrm>
            <a:off x="7991855" y="4937760"/>
            <a:ext cx="3840479" cy="658368"/>
          </a:xfrm>
          <a:prstGeom prst="chevron">
            <a:avLst/>
          </a:prstGeom>
          <a:solidFill>
            <a:srgbClr val="D31145"/>
          </a:solidFill>
          <a:ln>
            <a:noFill/>
          </a:ln>
        </p:spPr>
        <p:txBody>
          <a:bodyPr rtlCol="0" anchor="ctr" wrap="square" lIns="411480" rIns="320040">
            <a:noAutofit/>
          </a:bodyPr>
          <a:lstStyle/>
          <a:p>
            <a:pPr algn="ctr"/>
            <a:r>
              <a:rPr sz="1300" b="1" i="0">
                <a:solidFill>
                  <a:srgbClr val="FFFFFF"/>
                </a:solidFill>
                <a:latin typeface="Arial"/>
              </a:rPr>
              <a:t>Phase 3  </a:t>
            </a:r>
            <a:r>
              <a:rPr sz="1300" b="0" i="0">
                <a:solidFill>
                  <a:srgbClr val="FFFFFF"/>
                </a:solidFill>
                <a:latin typeface="Arial"/>
              </a:rPr>
              <a:t>Replace the scenario with a projection from real 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Isn’t this just Copilot?</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CREATIVITY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7</a:t>
            </a:fld>
            <a:endParaRPr lang="en-US" dirty="0"/>
          </a:p>
        </p:txBody>
      </p:sp>
      <p:sp>
        <p:nvSpPr>
          <p:cNvPr id="6" name="TextBox 5"/>
          <p:cNvSpPr txBox="1"/>
          <p:nvPr/>
        </p:nvSpPr>
        <p:spPr>
          <a:xfrm>
            <a:off x="457200" y="1737360"/>
            <a:ext cx="4023360" cy="3108960"/>
          </a:xfrm>
          <a:prstGeom prst="rect">
            <a:avLst/>
          </a:prstGeom>
          <a:noFill/>
        </p:spPr>
        <p:txBody>
          <a:bodyPr wrap="square" lIns="0" rIns="0" tIns="0" bIns="0" anchor="t">
            <a:noAutofit/>
          </a:bodyPr>
          <a:lstStyle/>
          <a:p>
            <a:pPr algn="l">
              <a:spcAft>
                <a:spcPts val="1000"/>
              </a:spcAft>
            </a:pPr>
            <a:r>
              <a:rPr sz="2600" b="1" i="0">
                <a:solidFill>
                  <a:srgbClr val="D31145"/>
                </a:solidFill>
                <a:latin typeface="Arial"/>
              </a:rPr>
              <a:t>Riley is not the AI model.</a:t>
            </a:r>
          </a:p>
          <a:p>
            <a:pPr algn="l">
              <a:spcAft>
                <a:spcPts val="1400"/>
              </a:spcAft>
            </a:pPr>
            <a:r>
              <a:rPr sz="2200" b="1" i="0">
                <a:solidFill>
                  <a:srgbClr val="333D47"/>
                </a:solidFill>
                <a:latin typeface="Arial"/>
              </a:rPr>
              <a:t>Riley is the AIA layer that turns separate AI capabilities into one coworker employees can use.</a:t>
            </a:r>
          </a:p>
          <a:p>
            <a:pPr algn="l"/>
            <a:r>
              <a:rPr sz="1500" b="0" i="0">
                <a:solidFill>
                  <a:srgbClr val="5A6570"/>
                </a:solidFill>
                <a:latin typeface="Arial"/>
              </a:rPr>
              <a:t>Copilot Studio, another enterprise agent platform, or future technology could be the engine. That is a build decision, not the innovation.</a:t>
            </a:r>
          </a:p>
        </p:txBody>
      </p:sp>
      <p:sp>
        <p:nvSpPr>
          <p:cNvPr id="7" name="TextBox 6"/>
          <p:cNvSpPr txBox="1"/>
          <p:nvPr/>
        </p:nvSpPr>
        <p:spPr>
          <a:xfrm>
            <a:off x="457200" y="4983480"/>
            <a:ext cx="4023360" cy="640080"/>
          </a:xfrm>
          <a:prstGeom prst="rect">
            <a:avLst/>
          </a:prstGeom>
          <a:noFill/>
        </p:spPr>
        <p:txBody>
          <a:bodyPr wrap="square" lIns="0" rIns="0" tIns="0" bIns="0" anchor="t">
            <a:noAutofit/>
          </a:bodyPr>
          <a:lstStyle/>
          <a:p>
            <a:pPr algn="l"/>
            <a:r>
              <a:rPr sz="1500" b="1" i="1">
                <a:solidFill>
                  <a:srgbClr val="333D47"/>
                </a:solidFill>
                <a:latin typeface="Arial"/>
              </a:rPr>
              <a:t>The platform is the engine. Riley is the AIA coworker built on top of it.</a:t>
            </a:r>
          </a:p>
        </p:txBody>
      </p:sp>
      <p:sp>
        <p:nvSpPr>
          <p:cNvPr id="8" name="Rounded Rectangle 7"/>
          <p:cNvSpPr/>
          <p:nvPr/>
        </p:nvSpPr>
        <p:spPr>
          <a:xfrm>
            <a:off x="4846320" y="1691640"/>
            <a:ext cx="6903720" cy="731520"/>
          </a:xfrm>
          <a:prstGeom prst="roundRect">
            <a:avLst>
              <a:gd name="adj" fmla="val 10000"/>
            </a:avLst>
          </a:prstGeom>
          <a:solidFill>
            <a:srgbClr val="FFFFFF"/>
          </a:solidFill>
          <a:ln w="19050">
            <a:solidFill>
              <a:srgbClr val="333D47"/>
            </a:solidFill>
          </a:ln>
        </p:spPr>
        <p:txBody>
          <a:bodyPr rtlCol="0" anchor="ctr"/>
          <a:lstStyle/>
          <a:p/>
        </p:txBody>
      </p:sp>
      <p:pic>
        <p:nvPicPr>
          <p:cNvPr id="9" name="Picture 8" descr="LuMessagesSquare_c.png"/>
          <p:cNvPicPr>
            <a:picLocks noChangeAspect="1"/>
          </p:cNvPicPr>
          <p:nvPr/>
        </p:nvPicPr>
        <p:blipFill>
          <a:blip r:embed="rId3"/>
          <a:stretch>
            <a:fillRect/>
          </a:stretch>
        </p:blipFill>
        <p:spPr>
          <a:xfrm>
            <a:off x="5120640" y="1865376"/>
            <a:ext cx="384048" cy="384048"/>
          </a:xfrm>
          <a:prstGeom prst="rect">
            <a:avLst/>
          </a:prstGeom>
        </p:spPr>
      </p:pic>
      <p:sp>
        <p:nvSpPr>
          <p:cNvPr id="10" name="TextBox 9"/>
          <p:cNvSpPr txBox="1"/>
          <p:nvPr/>
        </p:nvSpPr>
        <p:spPr>
          <a:xfrm>
            <a:off x="5669280" y="1691640"/>
            <a:ext cx="4389120" cy="731520"/>
          </a:xfrm>
          <a:prstGeom prst="rect">
            <a:avLst/>
          </a:prstGeom>
          <a:noFill/>
        </p:spPr>
        <p:txBody>
          <a:bodyPr wrap="square" lIns="0" rIns="0" tIns="0" bIns="0" anchor="ctr">
            <a:noAutofit/>
          </a:bodyPr>
          <a:lstStyle/>
          <a:p>
            <a:pPr algn="l"/>
            <a:r>
              <a:rPr sz="1500" b="1" i="0">
                <a:solidFill>
                  <a:srgbClr val="333D47"/>
                </a:solidFill>
                <a:latin typeface="Arial"/>
              </a:rPr>
              <a:t>One employee experience in Microsoft Teams</a:t>
            </a:r>
          </a:p>
        </p:txBody>
      </p:sp>
      <p:sp>
        <p:nvSpPr>
          <p:cNvPr id="11" name="TextBox 10"/>
          <p:cNvSpPr txBox="1"/>
          <p:nvPr/>
        </p:nvSpPr>
        <p:spPr>
          <a:xfrm>
            <a:off x="9875520" y="1691640"/>
            <a:ext cx="1691640" cy="731520"/>
          </a:xfrm>
          <a:prstGeom prst="rect">
            <a:avLst/>
          </a:prstGeom>
          <a:noFill/>
        </p:spPr>
        <p:txBody>
          <a:bodyPr wrap="square" lIns="0" rIns="0" tIns="0" bIns="0" anchor="ctr">
            <a:noAutofit/>
          </a:bodyPr>
          <a:lstStyle/>
          <a:p>
            <a:pPr algn="r"/>
            <a:r>
              <a:rPr sz="1200" b="1" i="0">
                <a:solidFill>
                  <a:srgbClr val="5A6570"/>
                </a:solidFill>
                <a:latin typeface="Arial"/>
              </a:rPr>
              <a:t>WHAT EMPLOYEES SEE</a:t>
            </a:r>
          </a:p>
        </p:txBody>
      </p:sp>
      <p:sp>
        <p:nvSpPr>
          <p:cNvPr id="12" name="Rounded Rectangle 11"/>
          <p:cNvSpPr/>
          <p:nvPr/>
        </p:nvSpPr>
        <p:spPr>
          <a:xfrm>
            <a:off x="4846320" y="2560320"/>
            <a:ext cx="6903720" cy="2148840"/>
          </a:xfrm>
          <a:prstGeom prst="roundRect">
            <a:avLst>
              <a:gd name="adj" fmla="val 5000"/>
            </a:avLst>
          </a:prstGeom>
          <a:solidFill>
            <a:srgbClr val="D31145"/>
          </a:solidFill>
          <a:ln>
            <a:noFill/>
          </a:ln>
        </p:spPr>
        <p:txBody>
          <a:bodyPr rtlCol="0" anchor="ctr"/>
          <a:lstStyle/>
          <a:p/>
        </p:txBody>
      </p:sp>
      <p:sp>
        <p:nvSpPr>
          <p:cNvPr id="13" name="TextBox 12"/>
          <p:cNvSpPr txBox="1"/>
          <p:nvPr/>
        </p:nvSpPr>
        <p:spPr>
          <a:xfrm>
            <a:off x="5120640" y="2670048"/>
            <a:ext cx="3657600" cy="320040"/>
          </a:xfrm>
          <a:prstGeom prst="rect">
            <a:avLst/>
          </a:prstGeom>
          <a:noFill/>
        </p:spPr>
        <p:txBody>
          <a:bodyPr wrap="square" lIns="0" rIns="0" tIns="0" bIns="0" anchor="t">
            <a:noAutofit/>
          </a:bodyPr>
          <a:lstStyle/>
          <a:p>
            <a:pPr algn="l"/>
            <a:r>
              <a:rPr sz="1500" b="1" i="0">
                <a:solidFill>
                  <a:srgbClr val="FFFFFF"/>
                </a:solidFill>
                <a:latin typeface="Arial"/>
              </a:rPr>
              <a:t>RILEY  ·  THE AIA LAYER</a:t>
            </a:r>
          </a:p>
        </p:txBody>
      </p:sp>
      <p:sp>
        <p:nvSpPr>
          <p:cNvPr id="14" name="TextBox 13"/>
          <p:cNvSpPr txBox="1"/>
          <p:nvPr/>
        </p:nvSpPr>
        <p:spPr>
          <a:xfrm>
            <a:off x="9646920" y="2670048"/>
            <a:ext cx="1920240" cy="320040"/>
          </a:xfrm>
          <a:prstGeom prst="rect">
            <a:avLst/>
          </a:prstGeom>
          <a:noFill/>
        </p:spPr>
        <p:txBody>
          <a:bodyPr wrap="square" lIns="0" rIns="0" tIns="0" bIns="0" anchor="t">
            <a:noAutofit/>
          </a:bodyPr>
          <a:lstStyle/>
          <a:p>
            <a:pPr algn="r"/>
            <a:r>
              <a:rPr sz="1200" b="1" i="0">
                <a:solidFill>
                  <a:srgbClr val="FFFFFF"/>
                </a:solidFill>
                <a:latin typeface="Arial"/>
              </a:rPr>
              <a:t>THE INNOVATION</a:t>
            </a:r>
          </a:p>
        </p:txBody>
      </p:sp>
      <p:sp>
        <p:nvSpPr>
          <p:cNvPr id="15" name="Rounded Rectangle 14"/>
          <p:cNvSpPr/>
          <p:nvPr/>
        </p:nvSpPr>
        <p:spPr>
          <a:xfrm>
            <a:off x="4974336" y="3108960"/>
            <a:ext cx="1572768" cy="658368"/>
          </a:xfrm>
          <a:prstGeom prst="roundRect">
            <a:avLst>
              <a:gd name="adj" fmla="val 12000"/>
            </a:avLst>
          </a:prstGeom>
          <a:solidFill>
            <a:srgbClr val="FFFFFF"/>
          </a:solidFill>
          <a:ln>
            <a:noFill/>
          </a:ln>
        </p:spPr>
        <p:txBody>
          <a:bodyPr rtlCol="0" anchor="ctr" wrap="square" lIns="54864" rIns="54864" tIns="54864" bIns="54864">
            <a:noAutofit/>
          </a:bodyPr>
          <a:lstStyle/>
          <a:p>
            <a:pPr algn="ctr"/>
            <a:r>
              <a:rPr sz="1300" b="1" i="0">
                <a:solidFill>
                  <a:srgbClr val="D31145"/>
                </a:solidFill>
                <a:latin typeface="Arial"/>
              </a:rPr>
              <a:t>AIA data</a:t>
            </a:r>
          </a:p>
        </p:txBody>
      </p:sp>
      <p:sp>
        <p:nvSpPr>
          <p:cNvPr id="16" name="Rounded Rectangle 15"/>
          <p:cNvSpPr/>
          <p:nvPr/>
        </p:nvSpPr>
        <p:spPr>
          <a:xfrm>
            <a:off x="6665975" y="3108960"/>
            <a:ext cx="1572768" cy="658368"/>
          </a:xfrm>
          <a:prstGeom prst="roundRect">
            <a:avLst>
              <a:gd name="adj" fmla="val 12000"/>
            </a:avLst>
          </a:prstGeom>
          <a:solidFill>
            <a:srgbClr val="FFFFFF"/>
          </a:solidFill>
          <a:ln>
            <a:noFill/>
          </a:ln>
        </p:spPr>
        <p:txBody>
          <a:bodyPr rtlCol="0" anchor="ctr" wrap="square" lIns="54864" rIns="54864" tIns="54864" bIns="54864">
            <a:noAutofit/>
          </a:bodyPr>
          <a:lstStyle/>
          <a:p>
            <a:pPr algn="ctr"/>
            <a:r>
              <a:rPr sz="1300" b="1" i="0">
                <a:solidFill>
                  <a:srgbClr val="D31145"/>
                </a:solidFill>
                <a:latin typeface="Arial"/>
              </a:rPr>
              <a:t>AIA systems</a:t>
            </a:r>
          </a:p>
        </p:txBody>
      </p:sp>
      <p:sp>
        <p:nvSpPr>
          <p:cNvPr id="17" name="Rounded Rectangle 16"/>
          <p:cNvSpPr/>
          <p:nvPr/>
        </p:nvSpPr>
        <p:spPr>
          <a:xfrm>
            <a:off x="8357616" y="3108960"/>
            <a:ext cx="1572768" cy="658368"/>
          </a:xfrm>
          <a:prstGeom prst="roundRect">
            <a:avLst>
              <a:gd name="adj" fmla="val 12000"/>
            </a:avLst>
          </a:prstGeom>
          <a:solidFill>
            <a:srgbClr val="FFFFFF"/>
          </a:solidFill>
          <a:ln>
            <a:noFill/>
          </a:ln>
        </p:spPr>
        <p:txBody>
          <a:bodyPr rtlCol="0" anchor="ctr" wrap="square" lIns="54864" rIns="54864" tIns="54864" bIns="54864">
            <a:noAutofit/>
          </a:bodyPr>
          <a:lstStyle/>
          <a:p>
            <a:pPr algn="ctr"/>
            <a:r>
              <a:rPr sz="1300" b="1" i="0">
                <a:solidFill>
                  <a:srgbClr val="D31145"/>
                </a:solidFill>
                <a:latin typeface="Arial"/>
              </a:rPr>
              <a:t>AI capabilities from different teams</a:t>
            </a:r>
          </a:p>
        </p:txBody>
      </p:sp>
      <p:sp>
        <p:nvSpPr>
          <p:cNvPr id="18" name="Rounded Rectangle 17"/>
          <p:cNvSpPr/>
          <p:nvPr/>
        </p:nvSpPr>
        <p:spPr>
          <a:xfrm>
            <a:off x="10049256" y="3108960"/>
            <a:ext cx="1572768" cy="658368"/>
          </a:xfrm>
          <a:prstGeom prst="roundRect">
            <a:avLst>
              <a:gd name="adj" fmla="val 12000"/>
            </a:avLst>
          </a:prstGeom>
          <a:solidFill>
            <a:srgbClr val="FFFFFF"/>
          </a:solidFill>
          <a:ln>
            <a:noFill/>
          </a:ln>
        </p:spPr>
        <p:txBody>
          <a:bodyPr rtlCol="0" anchor="ctr" wrap="square" lIns="54864" rIns="54864" tIns="54864" bIns="54864">
            <a:noAutofit/>
          </a:bodyPr>
          <a:lstStyle/>
          <a:p>
            <a:pPr algn="ctr"/>
            <a:r>
              <a:rPr sz="1300" b="1" i="0">
                <a:solidFill>
                  <a:srgbClr val="D31145"/>
                </a:solidFill>
                <a:latin typeface="Arial"/>
              </a:rPr>
              <a:t>Business processes</a:t>
            </a:r>
          </a:p>
        </p:txBody>
      </p:sp>
      <p:sp>
        <p:nvSpPr>
          <p:cNvPr id="19" name="Rounded Rectangle 18"/>
          <p:cNvSpPr/>
          <p:nvPr/>
        </p:nvSpPr>
        <p:spPr>
          <a:xfrm>
            <a:off x="5820155" y="3886200"/>
            <a:ext cx="1572768" cy="658368"/>
          </a:xfrm>
          <a:prstGeom prst="roundRect">
            <a:avLst>
              <a:gd name="adj" fmla="val 12000"/>
            </a:avLst>
          </a:prstGeom>
          <a:solidFill>
            <a:srgbClr val="FFFFFF"/>
          </a:solidFill>
          <a:ln>
            <a:noFill/>
          </a:ln>
        </p:spPr>
        <p:txBody>
          <a:bodyPr rtlCol="0" anchor="ctr" wrap="square" lIns="54864" rIns="54864" tIns="54864" bIns="54864">
            <a:noAutofit/>
          </a:bodyPr>
          <a:lstStyle/>
          <a:p>
            <a:pPr algn="ctr"/>
            <a:r>
              <a:rPr sz="1300" b="1" i="0">
                <a:solidFill>
                  <a:srgbClr val="D31145"/>
                </a:solidFill>
                <a:latin typeface="Arial"/>
              </a:rPr>
              <a:t>Permissions and governance</a:t>
            </a:r>
          </a:p>
        </p:txBody>
      </p:sp>
      <p:sp>
        <p:nvSpPr>
          <p:cNvPr id="20" name="Rounded Rectangle 19"/>
          <p:cNvSpPr/>
          <p:nvPr/>
        </p:nvSpPr>
        <p:spPr>
          <a:xfrm>
            <a:off x="7511796" y="3886200"/>
            <a:ext cx="1572768" cy="658368"/>
          </a:xfrm>
          <a:prstGeom prst="roundRect">
            <a:avLst>
              <a:gd name="adj" fmla="val 12000"/>
            </a:avLst>
          </a:prstGeom>
          <a:solidFill>
            <a:srgbClr val="FFFFFF"/>
          </a:solidFill>
          <a:ln>
            <a:noFill/>
          </a:ln>
        </p:spPr>
        <p:txBody>
          <a:bodyPr rtlCol="0" anchor="ctr" wrap="square" lIns="54864" rIns="54864" tIns="54864" bIns="54864">
            <a:noAutofit/>
          </a:bodyPr>
          <a:lstStyle/>
          <a:p>
            <a:pPr algn="ctr"/>
            <a:r>
              <a:rPr sz="1300" b="1" i="0">
                <a:solidFill>
                  <a:srgbClr val="D31145"/>
                </a:solidFill>
                <a:latin typeface="Arial"/>
              </a:rPr>
              <a:t>Employee feedback</a:t>
            </a:r>
          </a:p>
        </p:txBody>
      </p:sp>
      <p:sp>
        <p:nvSpPr>
          <p:cNvPr id="21" name="Rounded Rectangle 20"/>
          <p:cNvSpPr/>
          <p:nvPr/>
        </p:nvSpPr>
        <p:spPr>
          <a:xfrm>
            <a:off x="9203436" y="3886200"/>
            <a:ext cx="1572768" cy="658368"/>
          </a:xfrm>
          <a:prstGeom prst="roundRect">
            <a:avLst>
              <a:gd name="adj" fmla="val 12000"/>
            </a:avLst>
          </a:prstGeom>
          <a:solidFill>
            <a:srgbClr val="FFFFFF"/>
          </a:solidFill>
          <a:ln>
            <a:noFill/>
          </a:ln>
        </p:spPr>
        <p:txBody>
          <a:bodyPr rtlCol="0" anchor="ctr" wrap="square" lIns="54864" rIns="54864" tIns="54864" bIns="54864">
            <a:noAutofit/>
          </a:bodyPr>
          <a:lstStyle/>
          <a:p>
            <a:pPr algn="ctr"/>
            <a:r>
              <a:rPr sz="1300" b="1" i="0">
                <a:solidFill>
                  <a:srgbClr val="D31145"/>
                </a:solidFill>
                <a:latin typeface="Arial"/>
              </a:rPr>
              <a:t>Auditability</a:t>
            </a:r>
          </a:p>
        </p:txBody>
      </p:sp>
      <p:sp>
        <p:nvSpPr>
          <p:cNvPr id="22" name="Rounded Rectangle 21"/>
          <p:cNvSpPr/>
          <p:nvPr/>
        </p:nvSpPr>
        <p:spPr>
          <a:xfrm>
            <a:off x="4846320" y="4846320"/>
            <a:ext cx="6903720" cy="749808"/>
          </a:xfrm>
          <a:prstGeom prst="roundRect">
            <a:avLst>
              <a:gd name="adj" fmla="val 10000"/>
            </a:avLst>
          </a:prstGeom>
          <a:solidFill>
            <a:srgbClr val="F0F1F2"/>
          </a:solidFill>
          <a:ln>
            <a:noFill/>
          </a:ln>
        </p:spPr>
        <p:txBody>
          <a:bodyPr rtlCol="0" anchor="ctr"/>
          <a:lstStyle/>
          <a:p/>
        </p:txBody>
      </p:sp>
      <p:pic>
        <p:nvPicPr>
          <p:cNvPr id="23" name="Picture 22" descr="LuCpu_g.png"/>
          <p:cNvPicPr>
            <a:picLocks noChangeAspect="1"/>
          </p:cNvPicPr>
          <p:nvPr/>
        </p:nvPicPr>
        <p:blipFill>
          <a:blip r:embed="rId4"/>
          <a:stretch>
            <a:fillRect/>
          </a:stretch>
        </p:blipFill>
        <p:spPr>
          <a:xfrm>
            <a:off x="5120640" y="5029200"/>
            <a:ext cx="384048" cy="384048"/>
          </a:xfrm>
          <a:prstGeom prst="rect">
            <a:avLst/>
          </a:prstGeom>
        </p:spPr>
      </p:pic>
      <p:sp>
        <p:nvSpPr>
          <p:cNvPr id="24" name="TextBox 23"/>
          <p:cNvSpPr txBox="1"/>
          <p:nvPr/>
        </p:nvSpPr>
        <p:spPr>
          <a:xfrm>
            <a:off x="5669280" y="4846320"/>
            <a:ext cx="4114800" cy="749808"/>
          </a:xfrm>
          <a:prstGeom prst="rect">
            <a:avLst/>
          </a:prstGeom>
          <a:noFill/>
        </p:spPr>
        <p:txBody>
          <a:bodyPr wrap="square" lIns="0" rIns="0" tIns="0" bIns="0" anchor="ctr">
            <a:noAutofit/>
          </a:bodyPr>
          <a:lstStyle/>
          <a:p>
            <a:pPr algn="l"/>
            <a:r>
              <a:rPr sz="1400" b="0" i="0">
                <a:solidFill>
                  <a:srgbClr val="333D47"/>
                </a:solidFill>
                <a:latin typeface="Arial"/>
              </a:rPr>
              <a:t>Engine: Copilot Studio, another enterprise agent platform, or future technology</a:t>
            </a:r>
          </a:p>
        </p:txBody>
      </p:sp>
      <p:sp>
        <p:nvSpPr>
          <p:cNvPr id="25" name="TextBox 24"/>
          <p:cNvSpPr txBox="1"/>
          <p:nvPr/>
        </p:nvSpPr>
        <p:spPr>
          <a:xfrm>
            <a:off x="9829800" y="4846320"/>
            <a:ext cx="1737360" cy="749808"/>
          </a:xfrm>
          <a:prstGeom prst="rect">
            <a:avLst/>
          </a:prstGeom>
          <a:noFill/>
        </p:spPr>
        <p:txBody>
          <a:bodyPr wrap="square" lIns="0" rIns="0" tIns="0" bIns="0" anchor="ctr">
            <a:noAutofit/>
          </a:bodyPr>
          <a:lstStyle/>
          <a:p>
            <a:pPr algn="r"/>
            <a:r>
              <a:rPr sz="1200" b="1" i="0">
                <a:solidFill>
                  <a:srgbClr val="5A6570"/>
                </a:solidFill>
                <a:latin typeface="Arial"/>
              </a:rPr>
              <a:t>BUILD DECISION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The multiplier: more AI, not more tools</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CREATIVITY  ·  THE MULTIPLIER</a:t>
            </a:r>
          </a:p>
        </p:txBody>
      </p:sp>
      <p:sp>
        <p:nvSpPr>
          <p:cNvPr id="6" name="TextBox 5"/>
          <p:cNvSpPr txBox="1"/>
          <p:nvPr/>
        </p:nvSpPr>
        <p:spPr>
          <a:xfrm>
            <a:off x="448056" y="1133856"/>
            <a:ext cx="11155680" cy="457200"/>
          </a:xfrm>
          <a:prstGeom prst="rect">
            <a:avLst/>
          </a:prstGeom>
          <a:noFill/>
        </p:spPr>
        <p:txBody>
          <a:bodyPr wrap="square" lIns="0" rIns="0" tIns="0" bIns="0" anchor="t">
            <a:noAutofit/>
          </a:bodyPr>
          <a:lstStyle/>
          <a:p>
            <a:pPr algn="l"/>
            <a:r>
              <a:rPr sz="1600" b="0" i="0">
                <a:solidFill>
                  <a:srgbClr val="5A6570"/>
                </a:solidFill>
                <a:latin typeface="Arial"/>
              </a:rPr>
              <a:t>As AIA creates or adopts new AI capabilities, what matters is how employees reach them.</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8</a:t>
            </a:fld>
            <a:endParaRPr lang="en-US" dirty="0"/>
          </a:p>
        </p:txBody>
      </p:sp>
      <p:sp>
        <p:nvSpPr>
          <p:cNvPr id="7" name="TextBox 6"/>
          <p:cNvSpPr txBox="1"/>
          <p:nvPr/>
        </p:nvSpPr>
        <p:spPr>
          <a:xfrm>
            <a:off x="2788920" y="1691640"/>
            <a:ext cx="2103120" cy="292608"/>
          </a:xfrm>
          <a:prstGeom prst="rect">
            <a:avLst/>
          </a:prstGeom>
          <a:noFill/>
        </p:spPr>
        <p:txBody>
          <a:bodyPr wrap="square" lIns="0" rIns="0" tIns="0" bIns="0" anchor="t">
            <a:noAutofit/>
          </a:bodyPr>
          <a:lstStyle/>
          <a:p>
            <a:pPr algn="ctr"/>
            <a:r>
              <a:rPr sz="1300" b="1" i="0">
                <a:solidFill>
                  <a:srgbClr val="5A6570"/>
                </a:solidFill>
                <a:latin typeface="Arial"/>
              </a:rPr>
              <a:t>Capability 1</a:t>
            </a:r>
          </a:p>
        </p:txBody>
      </p:sp>
      <p:sp>
        <p:nvSpPr>
          <p:cNvPr id="8" name="TextBox 7"/>
          <p:cNvSpPr txBox="1"/>
          <p:nvPr/>
        </p:nvSpPr>
        <p:spPr>
          <a:xfrm>
            <a:off x="5029200" y="1691640"/>
            <a:ext cx="2103120" cy="292608"/>
          </a:xfrm>
          <a:prstGeom prst="rect">
            <a:avLst/>
          </a:prstGeom>
          <a:noFill/>
        </p:spPr>
        <p:txBody>
          <a:bodyPr wrap="square" lIns="0" rIns="0" tIns="0" bIns="0" anchor="t">
            <a:noAutofit/>
          </a:bodyPr>
          <a:lstStyle/>
          <a:p>
            <a:pPr algn="ctr"/>
            <a:r>
              <a:rPr sz="1300" b="1" i="0">
                <a:solidFill>
                  <a:srgbClr val="5A6570"/>
                </a:solidFill>
                <a:latin typeface="Arial"/>
              </a:rPr>
              <a:t>+ Capability 2</a:t>
            </a:r>
          </a:p>
        </p:txBody>
      </p:sp>
      <p:sp>
        <p:nvSpPr>
          <p:cNvPr id="9" name="TextBox 8"/>
          <p:cNvSpPr txBox="1"/>
          <p:nvPr/>
        </p:nvSpPr>
        <p:spPr>
          <a:xfrm>
            <a:off x="7269480" y="1691640"/>
            <a:ext cx="2103120" cy="292608"/>
          </a:xfrm>
          <a:prstGeom prst="rect">
            <a:avLst/>
          </a:prstGeom>
          <a:noFill/>
        </p:spPr>
        <p:txBody>
          <a:bodyPr wrap="square" lIns="0" rIns="0" tIns="0" bIns="0" anchor="t">
            <a:noAutofit/>
          </a:bodyPr>
          <a:lstStyle/>
          <a:p>
            <a:pPr algn="ctr"/>
            <a:r>
              <a:rPr sz="1300" b="1" i="0">
                <a:solidFill>
                  <a:srgbClr val="5A6570"/>
                </a:solidFill>
                <a:latin typeface="Arial"/>
              </a:rPr>
              <a:t>+ Capability 3</a:t>
            </a:r>
          </a:p>
        </p:txBody>
      </p:sp>
      <p:sp>
        <p:nvSpPr>
          <p:cNvPr id="10" name="TextBox 9"/>
          <p:cNvSpPr txBox="1"/>
          <p:nvPr/>
        </p:nvSpPr>
        <p:spPr>
          <a:xfrm>
            <a:off x="9509760" y="1691640"/>
            <a:ext cx="2103120" cy="292608"/>
          </a:xfrm>
          <a:prstGeom prst="rect">
            <a:avLst/>
          </a:prstGeom>
          <a:noFill/>
        </p:spPr>
        <p:txBody>
          <a:bodyPr wrap="square" lIns="0" rIns="0" tIns="0" bIns="0" anchor="t">
            <a:noAutofit/>
          </a:bodyPr>
          <a:lstStyle/>
          <a:p>
            <a:pPr algn="ctr"/>
            <a:r>
              <a:rPr sz="1300" b="1" i="0">
                <a:solidFill>
                  <a:srgbClr val="5A6570"/>
                </a:solidFill>
                <a:latin typeface="Arial"/>
              </a:rPr>
              <a:t>+ Capability 4</a:t>
            </a:r>
          </a:p>
        </p:txBody>
      </p:sp>
      <p:sp>
        <p:nvSpPr>
          <p:cNvPr id="11" name="Rounded Rectangle 10"/>
          <p:cNvSpPr/>
          <p:nvPr/>
        </p:nvSpPr>
        <p:spPr>
          <a:xfrm>
            <a:off x="457200" y="2057400"/>
            <a:ext cx="11292840" cy="1298448"/>
          </a:xfrm>
          <a:prstGeom prst="roundRect">
            <a:avLst>
              <a:gd name="adj" fmla="val 5000"/>
            </a:avLst>
          </a:prstGeom>
          <a:solidFill>
            <a:srgbClr val="F4F2F0"/>
          </a:solidFill>
          <a:ln>
            <a:noFill/>
          </a:ln>
        </p:spPr>
        <p:txBody>
          <a:bodyPr rtlCol="0" anchor="ctr"/>
          <a:lstStyle/>
          <a:p/>
        </p:txBody>
      </p:sp>
      <p:sp>
        <p:nvSpPr>
          <p:cNvPr id="12" name="TextBox 11"/>
          <p:cNvSpPr txBox="1"/>
          <p:nvPr/>
        </p:nvSpPr>
        <p:spPr>
          <a:xfrm>
            <a:off x="685800" y="2286000"/>
            <a:ext cx="2103120" cy="274320"/>
          </a:xfrm>
          <a:prstGeom prst="rect">
            <a:avLst/>
          </a:prstGeom>
          <a:noFill/>
        </p:spPr>
        <p:txBody>
          <a:bodyPr wrap="square" lIns="0" rIns="0" tIns="0" bIns="0" anchor="t">
            <a:noAutofit/>
          </a:bodyPr>
          <a:lstStyle/>
          <a:p>
            <a:pPr algn="l"/>
            <a:r>
              <a:rPr sz="1300" b="1" i="0">
                <a:solidFill>
                  <a:srgbClr val="5A6570"/>
                </a:solidFill>
                <a:latin typeface="Arial"/>
              </a:rPr>
              <a:t>WITHOUT RILEY</a:t>
            </a:r>
          </a:p>
        </p:txBody>
      </p:sp>
      <p:sp>
        <p:nvSpPr>
          <p:cNvPr id="13" name="TextBox 12"/>
          <p:cNvSpPr txBox="1"/>
          <p:nvPr/>
        </p:nvSpPr>
        <p:spPr>
          <a:xfrm>
            <a:off x="685800" y="2560320"/>
            <a:ext cx="2011680" cy="731520"/>
          </a:xfrm>
          <a:prstGeom prst="rect">
            <a:avLst/>
          </a:prstGeom>
          <a:noFill/>
        </p:spPr>
        <p:txBody>
          <a:bodyPr wrap="square" lIns="0" rIns="0" tIns="0" bIns="0" anchor="t">
            <a:noAutofit/>
          </a:bodyPr>
          <a:lstStyle/>
          <a:p>
            <a:pPr algn="l"/>
            <a:r>
              <a:rPr sz="1400" b="0" i="0">
                <a:solidFill>
                  <a:srgbClr val="333D47"/>
                </a:solidFill>
                <a:latin typeface="Arial"/>
              </a:rPr>
              <a:t>Each one becomes another tool to find and learn</a:t>
            </a:r>
          </a:p>
        </p:txBody>
      </p:sp>
      <p:sp>
        <p:nvSpPr>
          <p:cNvPr id="14" name="Rounded Rectangle 13"/>
          <p:cNvSpPr/>
          <p:nvPr/>
        </p:nvSpPr>
        <p:spPr>
          <a:xfrm>
            <a:off x="3639311"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15" name="Picture 14" descr="LuAppWindow_c.png"/>
          <p:cNvPicPr>
            <a:picLocks noChangeAspect="1"/>
          </p:cNvPicPr>
          <p:nvPr/>
        </p:nvPicPr>
        <p:blipFill>
          <a:blip r:embed="rId3"/>
          <a:stretch>
            <a:fillRect/>
          </a:stretch>
        </p:blipFill>
        <p:spPr>
          <a:xfrm>
            <a:off x="3712463" y="2359152"/>
            <a:ext cx="256032" cy="256032"/>
          </a:xfrm>
          <a:prstGeom prst="rect">
            <a:avLst/>
          </a:prstGeom>
        </p:spPr>
      </p:pic>
      <p:sp>
        <p:nvSpPr>
          <p:cNvPr id="16" name="TextBox 15"/>
          <p:cNvSpPr txBox="1"/>
          <p:nvPr/>
        </p:nvSpPr>
        <p:spPr>
          <a:xfrm>
            <a:off x="2788919" y="2834640"/>
            <a:ext cx="2103120" cy="320040"/>
          </a:xfrm>
          <a:prstGeom prst="rect">
            <a:avLst/>
          </a:prstGeom>
          <a:noFill/>
        </p:spPr>
        <p:txBody>
          <a:bodyPr wrap="square" lIns="0" rIns="0" tIns="0" bIns="0" anchor="t">
            <a:noAutofit/>
          </a:bodyPr>
          <a:lstStyle/>
          <a:p>
            <a:pPr algn="ctr"/>
            <a:r>
              <a:rPr sz="1300" b="1" i="0">
                <a:solidFill>
                  <a:srgbClr val="333D47"/>
                </a:solidFill>
                <a:latin typeface="Arial"/>
              </a:rPr>
              <a:t>1 tool to learn</a:t>
            </a:r>
          </a:p>
        </p:txBody>
      </p:sp>
      <p:sp>
        <p:nvSpPr>
          <p:cNvPr id="17" name="Rounded Rectangle 16"/>
          <p:cNvSpPr/>
          <p:nvPr/>
        </p:nvSpPr>
        <p:spPr>
          <a:xfrm>
            <a:off x="5632704"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18" name="Picture 17" descr="LuAppWindow_c.png"/>
          <p:cNvPicPr>
            <a:picLocks noChangeAspect="1"/>
          </p:cNvPicPr>
          <p:nvPr/>
        </p:nvPicPr>
        <p:blipFill>
          <a:blip r:embed="rId3"/>
          <a:stretch>
            <a:fillRect/>
          </a:stretch>
        </p:blipFill>
        <p:spPr>
          <a:xfrm>
            <a:off x="5705856" y="2359152"/>
            <a:ext cx="256032" cy="256032"/>
          </a:xfrm>
          <a:prstGeom prst="rect">
            <a:avLst/>
          </a:prstGeom>
        </p:spPr>
      </p:pic>
      <p:sp>
        <p:nvSpPr>
          <p:cNvPr id="19" name="Rounded Rectangle 18"/>
          <p:cNvSpPr/>
          <p:nvPr/>
        </p:nvSpPr>
        <p:spPr>
          <a:xfrm>
            <a:off x="6126480"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20" name="Picture 19" descr="LuAppWindow_c.png"/>
          <p:cNvPicPr>
            <a:picLocks noChangeAspect="1"/>
          </p:cNvPicPr>
          <p:nvPr/>
        </p:nvPicPr>
        <p:blipFill>
          <a:blip r:embed="rId3"/>
          <a:stretch>
            <a:fillRect/>
          </a:stretch>
        </p:blipFill>
        <p:spPr>
          <a:xfrm>
            <a:off x="6199632" y="2359152"/>
            <a:ext cx="256032" cy="256032"/>
          </a:xfrm>
          <a:prstGeom prst="rect">
            <a:avLst/>
          </a:prstGeom>
        </p:spPr>
      </p:pic>
      <p:sp>
        <p:nvSpPr>
          <p:cNvPr id="21" name="TextBox 20"/>
          <p:cNvSpPr txBox="1"/>
          <p:nvPr/>
        </p:nvSpPr>
        <p:spPr>
          <a:xfrm>
            <a:off x="5029200" y="2834640"/>
            <a:ext cx="2103120" cy="320040"/>
          </a:xfrm>
          <a:prstGeom prst="rect">
            <a:avLst/>
          </a:prstGeom>
          <a:noFill/>
        </p:spPr>
        <p:txBody>
          <a:bodyPr wrap="square" lIns="0" rIns="0" tIns="0" bIns="0" anchor="t">
            <a:noAutofit/>
          </a:bodyPr>
          <a:lstStyle/>
          <a:p>
            <a:pPr algn="ctr"/>
            <a:r>
              <a:rPr sz="1300" b="1" i="0">
                <a:solidFill>
                  <a:srgbClr val="333D47"/>
                </a:solidFill>
                <a:latin typeface="Arial"/>
              </a:rPr>
              <a:t>2 tools to learn</a:t>
            </a:r>
          </a:p>
        </p:txBody>
      </p:sp>
      <p:sp>
        <p:nvSpPr>
          <p:cNvPr id="22" name="Rounded Rectangle 21"/>
          <p:cNvSpPr/>
          <p:nvPr/>
        </p:nvSpPr>
        <p:spPr>
          <a:xfrm>
            <a:off x="7626096"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23" name="Picture 22" descr="LuAppWindow_c.png"/>
          <p:cNvPicPr>
            <a:picLocks noChangeAspect="1"/>
          </p:cNvPicPr>
          <p:nvPr/>
        </p:nvPicPr>
        <p:blipFill>
          <a:blip r:embed="rId3"/>
          <a:stretch>
            <a:fillRect/>
          </a:stretch>
        </p:blipFill>
        <p:spPr>
          <a:xfrm>
            <a:off x="7699248" y="2359152"/>
            <a:ext cx="256032" cy="256032"/>
          </a:xfrm>
          <a:prstGeom prst="rect">
            <a:avLst/>
          </a:prstGeom>
        </p:spPr>
      </p:pic>
      <p:sp>
        <p:nvSpPr>
          <p:cNvPr id="24" name="Rounded Rectangle 23"/>
          <p:cNvSpPr/>
          <p:nvPr/>
        </p:nvSpPr>
        <p:spPr>
          <a:xfrm>
            <a:off x="8119871"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25" name="Picture 24" descr="LuAppWindow_c.png"/>
          <p:cNvPicPr>
            <a:picLocks noChangeAspect="1"/>
          </p:cNvPicPr>
          <p:nvPr/>
        </p:nvPicPr>
        <p:blipFill>
          <a:blip r:embed="rId3"/>
          <a:stretch>
            <a:fillRect/>
          </a:stretch>
        </p:blipFill>
        <p:spPr>
          <a:xfrm>
            <a:off x="8193023" y="2359152"/>
            <a:ext cx="256032" cy="256032"/>
          </a:xfrm>
          <a:prstGeom prst="rect">
            <a:avLst/>
          </a:prstGeom>
        </p:spPr>
      </p:pic>
      <p:sp>
        <p:nvSpPr>
          <p:cNvPr id="26" name="Rounded Rectangle 25"/>
          <p:cNvSpPr/>
          <p:nvPr/>
        </p:nvSpPr>
        <p:spPr>
          <a:xfrm>
            <a:off x="8613648"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27" name="Picture 26" descr="LuAppWindow_c.png"/>
          <p:cNvPicPr>
            <a:picLocks noChangeAspect="1"/>
          </p:cNvPicPr>
          <p:nvPr/>
        </p:nvPicPr>
        <p:blipFill>
          <a:blip r:embed="rId3"/>
          <a:stretch>
            <a:fillRect/>
          </a:stretch>
        </p:blipFill>
        <p:spPr>
          <a:xfrm>
            <a:off x="8686800" y="2359152"/>
            <a:ext cx="256032" cy="256032"/>
          </a:xfrm>
          <a:prstGeom prst="rect">
            <a:avLst/>
          </a:prstGeom>
        </p:spPr>
      </p:pic>
      <p:sp>
        <p:nvSpPr>
          <p:cNvPr id="28" name="TextBox 27"/>
          <p:cNvSpPr txBox="1"/>
          <p:nvPr/>
        </p:nvSpPr>
        <p:spPr>
          <a:xfrm>
            <a:off x="7269479" y="2834640"/>
            <a:ext cx="2103120" cy="320040"/>
          </a:xfrm>
          <a:prstGeom prst="rect">
            <a:avLst/>
          </a:prstGeom>
          <a:noFill/>
        </p:spPr>
        <p:txBody>
          <a:bodyPr wrap="square" lIns="0" rIns="0" tIns="0" bIns="0" anchor="t">
            <a:noAutofit/>
          </a:bodyPr>
          <a:lstStyle/>
          <a:p>
            <a:pPr algn="ctr"/>
            <a:r>
              <a:rPr sz="1300" b="1" i="0">
                <a:solidFill>
                  <a:srgbClr val="333D47"/>
                </a:solidFill>
                <a:latin typeface="Arial"/>
              </a:rPr>
              <a:t>3 tools to learn</a:t>
            </a:r>
          </a:p>
        </p:txBody>
      </p:sp>
      <p:sp>
        <p:nvSpPr>
          <p:cNvPr id="29" name="Rounded Rectangle 28"/>
          <p:cNvSpPr/>
          <p:nvPr/>
        </p:nvSpPr>
        <p:spPr>
          <a:xfrm>
            <a:off x="9619488"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30" name="Picture 29" descr="LuAppWindow_c.png"/>
          <p:cNvPicPr>
            <a:picLocks noChangeAspect="1"/>
          </p:cNvPicPr>
          <p:nvPr/>
        </p:nvPicPr>
        <p:blipFill>
          <a:blip r:embed="rId3"/>
          <a:stretch>
            <a:fillRect/>
          </a:stretch>
        </p:blipFill>
        <p:spPr>
          <a:xfrm>
            <a:off x="9692640" y="2359152"/>
            <a:ext cx="256032" cy="256032"/>
          </a:xfrm>
          <a:prstGeom prst="rect">
            <a:avLst/>
          </a:prstGeom>
        </p:spPr>
      </p:pic>
      <p:sp>
        <p:nvSpPr>
          <p:cNvPr id="31" name="Rounded Rectangle 30"/>
          <p:cNvSpPr/>
          <p:nvPr/>
        </p:nvSpPr>
        <p:spPr>
          <a:xfrm>
            <a:off x="10113264"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32" name="Picture 31" descr="LuAppWindow_c.png"/>
          <p:cNvPicPr>
            <a:picLocks noChangeAspect="1"/>
          </p:cNvPicPr>
          <p:nvPr/>
        </p:nvPicPr>
        <p:blipFill>
          <a:blip r:embed="rId3"/>
          <a:stretch>
            <a:fillRect/>
          </a:stretch>
        </p:blipFill>
        <p:spPr>
          <a:xfrm>
            <a:off x="10186416" y="2359152"/>
            <a:ext cx="256032" cy="256032"/>
          </a:xfrm>
          <a:prstGeom prst="rect">
            <a:avLst/>
          </a:prstGeom>
        </p:spPr>
      </p:pic>
      <p:sp>
        <p:nvSpPr>
          <p:cNvPr id="33" name="Rounded Rectangle 32"/>
          <p:cNvSpPr/>
          <p:nvPr/>
        </p:nvSpPr>
        <p:spPr>
          <a:xfrm>
            <a:off x="10607040"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34" name="Picture 33" descr="LuAppWindow_c.png"/>
          <p:cNvPicPr>
            <a:picLocks noChangeAspect="1"/>
          </p:cNvPicPr>
          <p:nvPr/>
        </p:nvPicPr>
        <p:blipFill>
          <a:blip r:embed="rId3"/>
          <a:stretch>
            <a:fillRect/>
          </a:stretch>
        </p:blipFill>
        <p:spPr>
          <a:xfrm>
            <a:off x="10680192" y="2359152"/>
            <a:ext cx="256032" cy="256032"/>
          </a:xfrm>
          <a:prstGeom prst="rect">
            <a:avLst/>
          </a:prstGeom>
        </p:spPr>
      </p:pic>
      <p:sp>
        <p:nvSpPr>
          <p:cNvPr id="35" name="Rounded Rectangle 34"/>
          <p:cNvSpPr/>
          <p:nvPr/>
        </p:nvSpPr>
        <p:spPr>
          <a:xfrm>
            <a:off x="11100816" y="2286000"/>
            <a:ext cx="402336" cy="402336"/>
          </a:xfrm>
          <a:prstGeom prst="roundRect">
            <a:avLst>
              <a:gd name="adj" fmla="val 18000"/>
            </a:avLst>
          </a:prstGeom>
          <a:solidFill>
            <a:srgbClr val="FFFFFF"/>
          </a:solidFill>
          <a:ln w="12700">
            <a:solidFill>
              <a:srgbClr val="8A939B"/>
            </a:solidFill>
          </a:ln>
        </p:spPr>
        <p:txBody>
          <a:bodyPr rtlCol="0" anchor="ctr"/>
          <a:lstStyle/>
          <a:p/>
        </p:txBody>
      </p:sp>
      <p:pic>
        <p:nvPicPr>
          <p:cNvPr id="36" name="Picture 35" descr="LuAppWindow_c.png"/>
          <p:cNvPicPr>
            <a:picLocks noChangeAspect="1"/>
          </p:cNvPicPr>
          <p:nvPr/>
        </p:nvPicPr>
        <p:blipFill>
          <a:blip r:embed="rId3"/>
          <a:stretch>
            <a:fillRect/>
          </a:stretch>
        </p:blipFill>
        <p:spPr>
          <a:xfrm>
            <a:off x="11173968" y="2359152"/>
            <a:ext cx="256032" cy="256032"/>
          </a:xfrm>
          <a:prstGeom prst="rect">
            <a:avLst/>
          </a:prstGeom>
        </p:spPr>
      </p:pic>
      <p:sp>
        <p:nvSpPr>
          <p:cNvPr id="37" name="TextBox 36"/>
          <p:cNvSpPr txBox="1"/>
          <p:nvPr/>
        </p:nvSpPr>
        <p:spPr>
          <a:xfrm>
            <a:off x="9509760" y="2834640"/>
            <a:ext cx="2103120" cy="320040"/>
          </a:xfrm>
          <a:prstGeom prst="rect">
            <a:avLst/>
          </a:prstGeom>
          <a:noFill/>
        </p:spPr>
        <p:txBody>
          <a:bodyPr wrap="square" lIns="0" rIns="0" tIns="0" bIns="0" anchor="t">
            <a:noAutofit/>
          </a:bodyPr>
          <a:lstStyle/>
          <a:p>
            <a:pPr algn="ctr"/>
            <a:r>
              <a:rPr sz="1300" b="1" i="0">
                <a:solidFill>
                  <a:srgbClr val="333D47"/>
                </a:solidFill>
                <a:latin typeface="Arial"/>
              </a:rPr>
              <a:t>4 tools to learn</a:t>
            </a:r>
          </a:p>
        </p:txBody>
      </p:sp>
      <p:sp>
        <p:nvSpPr>
          <p:cNvPr id="38" name="Rounded Rectangle 37"/>
          <p:cNvSpPr/>
          <p:nvPr/>
        </p:nvSpPr>
        <p:spPr>
          <a:xfrm>
            <a:off x="457200" y="3474720"/>
            <a:ext cx="11292840" cy="1298448"/>
          </a:xfrm>
          <a:prstGeom prst="roundRect">
            <a:avLst>
              <a:gd name="adj" fmla="val 5000"/>
            </a:avLst>
          </a:prstGeom>
          <a:solidFill>
            <a:srgbClr val="FBE7EC"/>
          </a:solidFill>
          <a:ln>
            <a:noFill/>
          </a:ln>
        </p:spPr>
        <p:txBody>
          <a:bodyPr rtlCol="0" anchor="ctr"/>
          <a:lstStyle/>
          <a:p/>
        </p:txBody>
      </p:sp>
      <p:sp>
        <p:nvSpPr>
          <p:cNvPr id="39" name="TextBox 38"/>
          <p:cNvSpPr txBox="1"/>
          <p:nvPr/>
        </p:nvSpPr>
        <p:spPr>
          <a:xfrm>
            <a:off x="685800" y="3703320"/>
            <a:ext cx="2103120" cy="274320"/>
          </a:xfrm>
          <a:prstGeom prst="rect">
            <a:avLst/>
          </a:prstGeom>
          <a:noFill/>
        </p:spPr>
        <p:txBody>
          <a:bodyPr wrap="square" lIns="0" rIns="0" tIns="0" bIns="0" anchor="t">
            <a:noAutofit/>
          </a:bodyPr>
          <a:lstStyle/>
          <a:p>
            <a:pPr algn="l"/>
            <a:r>
              <a:rPr sz="1300" b="1" i="0">
                <a:solidFill>
                  <a:srgbClr val="D31145"/>
                </a:solidFill>
                <a:latin typeface="Arial"/>
              </a:rPr>
              <a:t>WITH RILEY</a:t>
            </a:r>
          </a:p>
        </p:txBody>
      </p:sp>
      <p:sp>
        <p:nvSpPr>
          <p:cNvPr id="40" name="TextBox 39"/>
          <p:cNvSpPr txBox="1"/>
          <p:nvPr/>
        </p:nvSpPr>
        <p:spPr>
          <a:xfrm>
            <a:off x="685800" y="3977639"/>
            <a:ext cx="2011680" cy="731520"/>
          </a:xfrm>
          <a:prstGeom prst="rect">
            <a:avLst/>
          </a:prstGeom>
          <a:noFill/>
        </p:spPr>
        <p:txBody>
          <a:bodyPr wrap="square" lIns="0" rIns="0" tIns="0" bIns="0" anchor="t">
            <a:noAutofit/>
          </a:bodyPr>
          <a:lstStyle/>
          <a:p>
            <a:pPr algn="l"/>
            <a:r>
              <a:rPr sz="1400" b="0" i="0">
                <a:solidFill>
                  <a:srgbClr val="333D47"/>
                </a:solidFill>
                <a:latin typeface="Arial"/>
              </a:rPr>
              <a:t>Each one extends the same coworker</a:t>
            </a:r>
          </a:p>
        </p:txBody>
      </p:sp>
      <p:cxnSp>
        <p:nvCxnSpPr>
          <p:cNvPr id="41" name="Connector 40"/>
          <p:cNvCxnSpPr/>
          <p:nvPr/>
        </p:nvCxnSpPr>
        <p:spPr>
          <a:xfrm flipV="1">
            <a:off x="3840479" y="373989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2" name="Oval 41"/>
          <p:cNvSpPr/>
          <p:nvPr/>
        </p:nvSpPr>
        <p:spPr>
          <a:xfrm>
            <a:off x="4306823" y="3639312"/>
            <a:ext cx="201168" cy="201168"/>
          </a:xfrm>
          <a:prstGeom prst="ellipse">
            <a:avLst/>
          </a:prstGeom>
          <a:solidFill>
            <a:srgbClr val="F4C4D1"/>
          </a:solidFill>
          <a:ln w="12700">
            <a:solidFill>
              <a:srgbClr val="D31145"/>
            </a:solidFill>
          </a:ln>
        </p:spPr>
        <p:txBody>
          <a:bodyPr rtlCol="0" anchor="ctr"/>
          <a:lstStyle/>
          <a:p/>
        </p:txBody>
      </p:sp>
      <p:sp>
        <p:nvSpPr>
          <p:cNvPr id="43" name="Oval 42"/>
          <p:cNvSpPr/>
          <p:nvPr/>
        </p:nvSpPr>
        <p:spPr>
          <a:xfrm>
            <a:off x="3602735" y="3657600"/>
            <a:ext cx="475488" cy="475488"/>
          </a:xfrm>
          <a:prstGeom prst="ellipse">
            <a:avLst/>
          </a:prstGeom>
          <a:solidFill>
            <a:srgbClr val="D31145"/>
          </a:solidFill>
          <a:ln>
            <a:noFill/>
          </a:ln>
        </p:spPr>
        <p:txBody>
          <a:bodyPr rtlCol="0" anchor="ctr"/>
          <a:lstStyle/>
          <a:p/>
        </p:txBody>
      </p:sp>
      <p:sp>
        <p:nvSpPr>
          <p:cNvPr id="44" name="TextBox 43"/>
          <p:cNvSpPr txBox="1"/>
          <p:nvPr/>
        </p:nvSpPr>
        <p:spPr>
          <a:xfrm>
            <a:off x="3602735" y="3657600"/>
            <a:ext cx="475488" cy="475488"/>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45" name="TextBox 44"/>
          <p:cNvSpPr txBox="1"/>
          <p:nvPr/>
        </p:nvSpPr>
        <p:spPr>
          <a:xfrm>
            <a:off x="2788919" y="4224528"/>
            <a:ext cx="2103120" cy="457200"/>
          </a:xfrm>
          <a:prstGeom prst="rect">
            <a:avLst/>
          </a:prstGeom>
          <a:noFill/>
        </p:spPr>
        <p:txBody>
          <a:bodyPr wrap="square" lIns="0" rIns="0" tIns="0" bIns="0" anchor="t">
            <a:noAutofit/>
          </a:bodyPr>
          <a:lstStyle/>
          <a:p>
            <a:pPr algn="ctr"/>
            <a:r>
              <a:rPr sz="1300" b="1" i="0">
                <a:solidFill>
                  <a:srgbClr val="D31145"/>
                </a:solidFill>
                <a:latin typeface="Arial"/>
              </a:rPr>
              <a:t>1 interface</a:t>
            </a:r>
            <a:r>
              <a:rPr sz="1300" b="0" i="0">
                <a:solidFill>
                  <a:srgbClr val="D31145"/>
                </a:solidFill>
                <a:latin typeface="Arial"/>
              </a:rPr>
              <a:t>  ·  1 capability</a:t>
            </a:r>
          </a:p>
        </p:txBody>
      </p:sp>
      <p:cxnSp>
        <p:nvCxnSpPr>
          <p:cNvPr id="46" name="Connector 45"/>
          <p:cNvCxnSpPr/>
          <p:nvPr/>
        </p:nvCxnSpPr>
        <p:spPr>
          <a:xfrm flipV="1">
            <a:off x="6080760" y="373989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7" name="Oval 46"/>
          <p:cNvSpPr/>
          <p:nvPr/>
        </p:nvSpPr>
        <p:spPr>
          <a:xfrm>
            <a:off x="6547104" y="3639312"/>
            <a:ext cx="201168" cy="201168"/>
          </a:xfrm>
          <a:prstGeom prst="ellipse">
            <a:avLst/>
          </a:prstGeom>
          <a:solidFill>
            <a:srgbClr val="F4C4D1"/>
          </a:solidFill>
          <a:ln w="12700">
            <a:solidFill>
              <a:srgbClr val="D31145"/>
            </a:solidFill>
          </a:ln>
        </p:spPr>
        <p:txBody>
          <a:bodyPr rtlCol="0" anchor="ctr"/>
          <a:lstStyle/>
          <a:p/>
        </p:txBody>
      </p:sp>
      <p:cxnSp>
        <p:nvCxnSpPr>
          <p:cNvPr id="48" name="Connector 47"/>
          <p:cNvCxnSpPr/>
          <p:nvPr/>
        </p:nvCxnSpPr>
        <p:spPr>
          <a:xfrm>
            <a:off x="6080760" y="3895344"/>
            <a:ext cx="566928" cy="155447"/>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49" name="Oval 48"/>
          <p:cNvSpPr/>
          <p:nvPr/>
        </p:nvSpPr>
        <p:spPr>
          <a:xfrm>
            <a:off x="6547104" y="3950207"/>
            <a:ext cx="201168" cy="201168"/>
          </a:xfrm>
          <a:prstGeom prst="ellipse">
            <a:avLst/>
          </a:prstGeom>
          <a:solidFill>
            <a:srgbClr val="F4C4D1"/>
          </a:solidFill>
          <a:ln w="12700">
            <a:solidFill>
              <a:srgbClr val="D31145"/>
            </a:solidFill>
          </a:ln>
        </p:spPr>
        <p:txBody>
          <a:bodyPr rtlCol="0" anchor="ctr"/>
          <a:lstStyle/>
          <a:p/>
        </p:txBody>
      </p:sp>
      <p:sp>
        <p:nvSpPr>
          <p:cNvPr id="50" name="Oval 49"/>
          <p:cNvSpPr/>
          <p:nvPr/>
        </p:nvSpPr>
        <p:spPr>
          <a:xfrm>
            <a:off x="5843016" y="3657600"/>
            <a:ext cx="475488" cy="475488"/>
          </a:xfrm>
          <a:prstGeom prst="ellipse">
            <a:avLst/>
          </a:prstGeom>
          <a:solidFill>
            <a:srgbClr val="D31145"/>
          </a:solidFill>
          <a:ln>
            <a:noFill/>
          </a:ln>
        </p:spPr>
        <p:txBody>
          <a:bodyPr rtlCol="0" anchor="ctr"/>
          <a:lstStyle/>
          <a:p/>
        </p:txBody>
      </p:sp>
      <p:sp>
        <p:nvSpPr>
          <p:cNvPr id="51" name="TextBox 50"/>
          <p:cNvSpPr txBox="1"/>
          <p:nvPr/>
        </p:nvSpPr>
        <p:spPr>
          <a:xfrm>
            <a:off x="5843016" y="3657600"/>
            <a:ext cx="475488" cy="475488"/>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52" name="TextBox 51"/>
          <p:cNvSpPr txBox="1"/>
          <p:nvPr/>
        </p:nvSpPr>
        <p:spPr>
          <a:xfrm>
            <a:off x="5029200" y="4224528"/>
            <a:ext cx="2103120" cy="457200"/>
          </a:xfrm>
          <a:prstGeom prst="rect">
            <a:avLst/>
          </a:prstGeom>
          <a:noFill/>
        </p:spPr>
        <p:txBody>
          <a:bodyPr wrap="square" lIns="0" rIns="0" tIns="0" bIns="0" anchor="t">
            <a:noAutofit/>
          </a:bodyPr>
          <a:lstStyle/>
          <a:p>
            <a:pPr algn="ctr"/>
            <a:r>
              <a:rPr sz="1300" b="1" i="0">
                <a:solidFill>
                  <a:srgbClr val="D31145"/>
                </a:solidFill>
                <a:latin typeface="Arial"/>
              </a:rPr>
              <a:t>1 interface</a:t>
            </a:r>
            <a:r>
              <a:rPr sz="1300" b="0" i="0">
                <a:solidFill>
                  <a:srgbClr val="D31145"/>
                </a:solidFill>
                <a:latin typeface="Arial"/>
              </a:rPr>
              <a:t>  ·  2 capabilities</a:t>
            </a:r>
          </a:p>
        </p:txBody>
      </p:sp>
      <p:cxnSp>
        <p:nvCxnSpPr>
          <p:cNvPr id="53" name="Connector 52"/>
          <p:cNvCxnSpPr/>
          <p:nvPr/>
        </p:nvCxnSpPr>
        <p:spPr>
          <a:xfrm flipV="1">
            <a:off x="8321040" y="3739896"/>
            <a:ext cx="566927"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4" name="Oval 53"/>
          <p:cNvSpPr/>
          <p:nvPr/>
        </p:nvSpPr>
        <p:spPr>
          <a:xfrm>
            <a:off x="8787384" y="3639312"/>
            <a:ext cx="201168" cy="201168"/>
          </a:xfrm>
          <a:prstGeom prst="ellipse">
            <a:avLst/>
          </a:prstGeom>
          <a:solidFill>
            <a:srgbClr val="F4C4D1"/>
          </a:solidFill>
          <a:ln w="12700">
            <a:solidFill>
              <a:srgbClr val="D31145"/>
            </a:solidFill>
          </a:ln>
        </p:spPr>
        <p:txBody>
          <a:bodyPr rtlCol="0" anchor="ctr"/>
          <a:lstStyle/>
          <a:p/>
        </p:txBody>
      </p:sp>
      <p:cxnSp>
        <p:nvCxnSpPr>
          <p:cNvPr id="55" name="Connector 54"/>
          <p:cNvCxnSpPr/>
          <p:nvPr/>
        </p:nvCxnSpPr>
        <p:spPr>
          <a:xfrm>
            <a:off x="8321040" y="3895344"/>
            <a:ext cx="566927" cy="155447"/>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8787384" y="3950207"/>
            <a:ext cx="201168" cy="201168"/>
          </a:xfrm>
          <a:prstGeom prst="ellipse">
            <a:avLst/>
          </a:prstGeom>
          <a:solidFill>
            <a:srgbClr val="F4C4D1"/>
          </a:solidFill>
          <a:ln w="12700">
            <a:solidFill>
              <a:srgbClr val="D31145"/>
            </a:solidFill>
          </a:ln>
        </p:spPr>
        <p:txBody>
          <a:bodyPr rtlCol="0" anchor="ctr"/>
          <a:lstStyle/>
          <a:p/>
        </p:txBody>
      </p:sp>
      <p:cxnSp>
        <p:nvCxnSpPr>
          <p:cNvPr id="57" name="Connector 56"/>
          <p:cNvCxnSpPr/>
          <p:nvPr/>
        </p:nvCxnSpPr>
        <p:spPr>
          <a:xfrm flipH="1" flipV="1">
            <a:off x="7754112" y="373989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58" name="Oval 57"/>
          <p:cNvSpPr/>
          <p:nvPr/>
        </p:nvSpPr>
        <p:spPr>
          <a:xfrm>
            <a:off x="7653528" y="3639312"/>
            <a:ext cx="201168" cy="201168"/>
          </a:xfrm>
          <a:prstGeom prst="ellipse">
            <a:avLst/>
          </a:prstGeom>
          <a:solidFill>
            <a:srgbClr val="F4C4D1"/>
          </a:solidFill>
          <a:ln w="12700">
            <a:solidFill>
              <a:srgbClr val="D31145"/>
            </a:solidFill>
          </a:ln>
        </p:spPr>
        <p:txBody>
          <a:bodyPr rtlCol="0" anchor="ctr"/>
          <a:lstStyle/>
          <a:p/>
        </p:txBody>
      </p:sp>
      <p:sp>
        <p:nvSpPr>
          <p:cNvPr id="59" name="Oval 58"/>
          <p:cNvSpPr/>
          <p:nvPr/>
        </p:nvSpPr>
        <p:spPr>
          <a:xfrm>
            <a:off x="8083296" y="3657600"/>
            <a:ext cx="475488" cy="475488"/>
          </a:xfrm>
          <a:prstGeom prst="ellipse">
            <a:avLst/>
          </a:prstGeom>
          <a:solidFill>
            <a:srgbClr val="D31145"/>
          </a:solidFill>
          <a:ln>
            <a:noFill/>
          </a:ln>
        </p:spPr>
        <p:txBody>
          <a:bodyPr rtlCol="0" anchor="ctr"/>
          <a:lstStyle/>
          <a:p/>
        </p:txBody>
      </p:sp>
      <p:sp>
        <p:nvSpPr>
          <p:cNvPr id="60" name="TextBox 59"/>
          <p:cNvSpPr txBox="1"/>
          <p:nvPr/>
        </p:nvSpPr>
        <p:spPr>
          <a:xfrm>
            <a:off x="8083296" y="3657600"/>
            <a:ext cx="475488" cy="475488"/>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61" name="TextBox 60"/>
          <p:cNvSpPr txBox="1"/>
          <p:nvPr/>
        </p:nvSpPr>
        <p:spPr>
          <a:xfrm>
            <a:off x="7269479" y="4224528"/>
            <a:ext cx="2103120" cy="457200"/>
          </a:xfrm>
          <a:prstGeom prst="rect">
            <a:avLst/>
          </a:prstGeom>
          <a:noFill/>
        </p:spPr>
        <p:txBody>
          <a:bodyPr wrap="square" lIns="0" rIns="0" tIns="0" bIns="0" anchor="t">
            <a:noAutofit/>
          </a:bodyPr>
          <a:lstStyle/>
          <a:p>
            <a:pPr algn="ctr"/>
            <a:r>
              <a:rPr sz="1300" b="1" i="0">
                <a:solidFill>
                  <a:srgbClr val="D31145"/>
                </a:solidFill>
                <a:latin typeface="Arial"/>
              </a:rPr>
              <a:t>1 interface</a:t>
            </a:r>
            <a:r>
              <a:rPr sz="1300" b="0" i="0">
                <a:solidFill>
                  <a:srgbClr val="D31145"/>
                </a:solidFill>
                <a:latin typeface="Arial"/>
              </a:rPr>
              <a:t>  ·  3 capabilities</a:t>
            </a:r>
          </a:p>
        </p:txBody>
      </p:sp>
      <p:cxnSp>
        <p:nvCxnSpPr>
          <p:cNvPr id="62" name="Connector 61"/>
          <p:cNvCxnSpPr/>
          <p:nvPr/>
        </p:nvCxnSpPr>
        <p:spPr>
          <a:xfrm flipV="1">
            <a:off x="10561320" y="373989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3" name="Oval 62"/>
          <p:cNvSpPr/>
          <p:nvPr/>
        </p:nvSpPr>
        <p:spPr>
          <a:xfrm>
            <a:off x="11027664" y="3639312"/>
            <a:ext cx="201168" cy="201168"/>
          </a:xfrm>
          <a:prstGeom prst="ellipse">
            <a:avLst/>
          </a:prstGeom>
          <a:solidFill>
            <a:srgbClr val="F4C4D1"/>
          </a:solidFill>
          <a:ln w="12700">
            <a:solidFill>
              <a:srgbClr val="D31145"/>
            </a:solidFill>
          </a:ln>
        </p:spPr>
        <p:txBody>
          <a:bodyPr rtlCol="0" anchor="ctr"/>
          <a:lstStyle/>
          <a:p/>
        </p:txBody>
      </p:sp>
      <p:cxnSp>
        <p:nvCxnSpPr>
          <p:cNvPr id="64" name="Connector 63"/>
          <p:cNvCxnSpPr/>
          <p:nvPr/>
        </p:nvCxnSpPr>
        <p:spPr>
          <a:xfrm>
            <a:off x="10561320" y="3895344"/>
            <a:ext cx="566928" cy="155447"/>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11027664" y="3950207"/>
            <a:ext cx="201168" cy="201168"/>
          </a:xfrm>
          <a:prstGeom prst="ellipse">
            <a:avLst/>
          </a:prstGeom>
          <a:solidFill>
            <a:srgbClr val="F4C4D1"/>
          </a:solidFill>
          <a:ln w="12700">
            <a:solidFill>
              <a:srgbClr val="D31145"/>
            </a:solidFill>
          </a:ln>
        </p:spPr>
        <p:txBody>
          <a:bodyPr rtlCol="0" anchor="ctr"/>
          <a:lstStyle/>
          <a:p/>
        </p:txBody>
      </p:sp>
      <p:cxnSp>
        <p:nvCxnSpPr>
          <p:cNvPr id="66" name="Connector 65"/>
          <p:cNvCxnSpPr/>
          <p:nvPr/>
        </p:nvCxnSpPr>
        <p:spPr>
          <a:xfrm flipH="1" flipV="1">
            <a:off x="9994392" y="3739896"/>
            <a:ext cx="566928" cy="155448"/>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7" name="Oval 66"/>
          <p:cNvSpPr/>
          <p:nvPr/>
        </p:nvSpPr>
        <p:spPr>
          <a:xfrm>
            <a:off x="9893808" y="3639312"/>
            <a:ext cx="201168" cy="201168"/>
          </a:xfrm>
          <a:prstGeom prst="ellipse">
            <a:avLst/>
          </a:prstGeom>
          <a:solidFill>
            <a:srgbClr val="F4C4D1"/>
          </a:solidFill>
          <a:ln w="12700">
            <a:solidFill>
              <a:srgbClr val="D31145"/>
            </a:solidFill>
          </a:ln>
        </p:spPr>
        <p:txBody>
          <a:bodyPr rtlCol="0" anchor="ctr"/>
          <a:lstStyle/>
          <a:p/>
        </p:txBody>
      </p:sp>
      <p:cxnSp>
        <p:nvCxnSpPr>
          <p:cNvPr id="68" name="Connector 67"/>
          <p:cNvCxnSpPr/>
          <p:nvPr/>
        </p:nvCxnSpPr>
        <p:spPr>
          <a:xfrm flipH="1">
            <a:off x="9994392" y="3895344"/>
            <a:ext cx="566928" cy="155447"/>
          </a:xfrm>
          <a:prstGeom prst="line">
            <a:avLst/>
          </a:prstGeom>
          <a:ln w="15875">
            <a:solidFill>
              <a:srgbClr val="D31145"/>
            </a:solidFill>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9893808" y="3950207"/>
            <a:ext cx="201168" cy="201168"/>
          </a:xfrm>
          <a:prstGeom prst="ellipse">
            <a:avLst/>
          </a:prstGeom>
          <a:solidFill>
            <a:srgbClr val="F4C4D1"/>
          </a:solidFill>
          <a:ln w="12700">
            <a:solidFill>
              <a:srgbClr val="D31145"/>
            </a:solidFill>
          </a:ln>
        </p:spPr>
        <p:txBody>
          <a:bodyPr rtlCol="0" anchor="ctr"/>
          <a:lstStyle/>
          <a:p/>
        </p:txBody>
      </p:sp>
      <p:sp>
        <p:nvSpPr>
          <p:cNvPr id="70" name="Oval 69"/>
          <p:cNvSpPr/>
          <p:nvPr/>
        </p:nvSpPr>
        <p:spPr>
          <a:xfrm>
            <a:off x="10323576" y="3657600"/>
            <a:ext cx="475488" cy="475488"/>
          </a:xfrm>
          <a:prstGeom prst="ellipse">
            <a:avLst/>
          </a:prstGeom>
          <a:solidFill>
            <a:srgbClr val="D31145"/>
          </a:solidFill>
          <a:ln>
            <a:noFill/>
          </a:ln>
        </p:spPr>
        <p:txBody>
          <a:bodyPr rtlCol="0" anchor="ctr"/>
          <a:lstStyle/>
          <a:p/>
        </p:txBody>
      </p:sp>
      <p:sp>
        <p:nvSpPr>
          <p:cNvPr id="71" name="TextBox 70"/>
          <p:cNvSpPr txBox="1"/>
          <p:nvPr/>
        </p:nvSpPr>
        <p:spPr>
          <a:xfrm>
            <a:off x="10323576" y="3657600"/>
            <a:ext cx="475488" cy="475488"/>
          </a:xfrm>
          <a:prstGeom prst="rect">
            <a:avLst/>
          </a:prstGeom>
          <a:noFill/>
        </p:spPr>
        <p:txBody>
          <a:bodyPr wrap="square" lIns="0" rIns="0" tIns="0" bIns="0" anchor="ctr">
            <a:noAutofit/>
          </a:bodyPr>
          <a:lstStyle/>
          <a:p>
            <a:pPr algn="ctr"/>
            <a:r>
              <a:rPr sz="1600" b="1" i="0">
                <a:solidFill>
                  <a:srgbClr val="FFFFFF"/>
                </a:solidFill>
                <a:latin typeface="Arial"/>
              </a:rPr>
              <a:t>R</a:t>
            </a:r>
          </a:p>
        </p:txBody>
      </p:sp>
      <p:sp>
        <p:nvSpPr>
          <p:cNvPr id="72" name="TextBox 71"/>
          <p:cNvSpPr txBox="1"/>
          <p:nvPr/>
        </p:nvSpPr>
        <p:spPr>
          <a:xfrm>
            <a:off x="9509760" y="4224528"/>
            <a:ext cx="2103120" cy="457200"/>
          </a:xfrm>
          <a:prstGeom prst="rect">
            <a:avLst/>
          </a:prstGeom>
          <a:noFill/>
        </p:spPr>
        <p:txBody>
          <a:bodyPr wrap="square" lIns="0" rIns="0" tIns="0" bIns="0" anchor="t">
            <a:noAutofit/>
          </a:bodyPr>
          <a:lstStyle/>
          <a:p>
            <a:pPr algn="ctr"/>
            <a:r>
              <a:rPr sz="1300" b="1" i="0">
                <a:solidFill>
                  <a:srgbClr val="D31145"/>
                </a:solidFill>
                <a:latin typeface="Arial"/>
              </a:rPr>
              <a:t>1 interface</a:t>
            </a:r>
            <a:r>
              <a:rPr sz="1300" b="0" i="0">
                <a:solidFill>
                  <a:srgbClr val="D31145"/>
                </a:solidFill>
                <a:latin typeface="Arial"/>
              </a:rPr>
              <a:t>  ·  4 capabilities</a:t>
            </a:r>
          </a:p>
        </p:txBody>
      </p:sp>
      <p:sp>
        <p:nvSpPr>
          <p:cNvPr id="73" name="Rounded Rectangle 72"/>
          <p:cNvSpPr/>
          <p:nvPr/>
        </p:nvSpPr>
        <p:spPr>
          <a:xfrm>
            <a:off x="457200" y="4983480"/>
            <a:ext cx="5577840" cy="685800"/>
          </a:xfrm>
          <a:prstGeom prst="roundRect">
            <a:avLst>
              <a:gd name="adj" fmla="val 10000"/>
            </a:avLst>
          </a:prstGeom>
          <a:solidFill>
            <a:srgbClr val="FFFFFF"/>
          </a:solidFill>
          <a:ln w="15875">
            <a:solidFill>
              <a:srgbClr val="D9D6D3"/>
            </a:solidFill>
          </a:ln>
        </p:spPr>
        <p:txBody>
          <a:bodyPr rtlCol="0" anchor="ctr"/>
          <a:lstStyle/>
          <a:p/>
        </p:txBody>
      </p:sp>
      <p:pic>
        <p:nvPicPr>
          <p:cNvPr id="74" name="Picture 73" descr="LuPlug_c.png"/>
          <p:cNvPicPr>
            <a:picLocks noChangeAspect="1"/>
          </p:cNvPicPr>
          <p:nvPr/>
        </p:nvPicPr>
        <p:blipFill>
          <a:blip r:embed="rId4"/>
          <a:stretch>
            <a:fillRect/>
          </a:stretch>
        </p:blipFill>
        <p:spPr>
          <a:xfrm>
            <a:off x="658368" y="5138928"/>
            <a:ext cx="365760" cy="365760"/>
          </a:xfrm>
          <a:prstGeom prst="rect">
            <a:avLst/>
          </a:prstGeom>
        </p:spPr>
      </p:pic>
      <p:sp>
        <p:nvSpPr>
          <p:cNvPr id="75" name="TextBox 74"/>
          <p:cNvSpPr txBox="1"/>
          <p:nvPr/>
        </p:nvSpPr>
        <p:spPr>
          <a:xfrm>
            <a:off x="1188720" y="4983480"/>
            <a:ext cx="4709160" cy="685800"/>
          </a:xfrm>
          <a:prstGeom prst="rect">
            <a:avLst/>
          </a:prstGeom>
          <a:noFill/>
        </p:spPr>
        <p:txBody>
          <a:bodyPr wrap="square" lIns="0" rIns="0" tIns="0" bIns="0" anchor="ctr">
            <a:noAutofit/>
          </a:bodyPr>
          <a:lstStyle/>
          <a:p>
            <a:pPr algn="l"/>
            <a:r>
              <a:rPr sz="1300" b="1" i="0">
                <a:solidFill>
                  <a:srgbClr val="333D47"/>
                </a:solidFill>
                <a:latin typeface="Arial"/>
              </a:rPr>
              <a:t>Not free or automatic. </a:t>
            </a:r>
            <a:r>
              <a:rPr sz="1300" b="0" i="0">
                <a:solidFill>
                  <a:srgbClr val="333D47"/>
                </a:solidFill>
                <a:latin typeface="Arial"/>
              </a:rPr>
              <a:t>Each connection needs technical and governance work, done once per capability, then available to every authorized employee.</a:t>
            </a:r>
          </a:p>
        </p:txBody>
      </p:sp>
      <p:sp>
        <p:nvSpPr>
          <p:cNvPr id="76" name="Rounded Rectangle 75"/>
          <p:cNvSpPr/>
          <p:nvPr/>
        </p:nvSpPr>
        <p:spPr>
          <a:xfrm>
            <a:off x="6172200" y="4983480"/>
            <a:ext cx="5577840" cy="685800"/>
          </a:xfrm>
          <a:prstGeom prst="roundRect">
            <a:avLst>
              <a:gd name="adj" fmla="val 10000"/>
            </a:avLst>
          </a:prstGeom>
          <a:solidFill>
            <a:srgbClr val="FFFFFF"/>
          </a:solidFill>
          <a:ln w="15875">
            <a:solidFill>
              <a:srgbClr val="D31145"/>
            </a:solidFill>
          </a:ln>
        </p:spPr>
        <p:txBody>
          <a:bodyPr rtlCol="0" anchor="ctr"/>
          <a:lstStyle/>
          <a:p/>
        </p:txBody>
      </p:sp>
      <p:pic>
        <p:nvPicPr>
          <p:cNvPr id="77" name="Picture 76" descr="LuFlaskConical_r.png"/>
          <p:cNvPicPr>
            <a:picLocks noChangeAspect="1"/>
          </p:cNvPicPr>
          <p:nvPr/>
        </p:nvPicPr>
        <p:blipFill>
          <a:blip r:embed="rId5"/>
          <a:stretch>
            <a:fillRect/>
          </a:stretch>
        </p:blipFill>
        <p:spPr>
          <a:xfrm>
            <a:off x="6373368" y="5138928"/>
            <a:ext cx="365760" cy="365760"/>
          </a:xfrm>
          <a:prstGeom prst="rect">
            <a:avLst/>
          </a:prstGeom>
        </p:spPr>
      </p:pic>
      <p:sp>
        <p:nvSpPr>
          <p:cNvPr id="78" name="TextBox 77"/>
          <p:cNvSpPr txBox="1"/>
          <p:nvPr/>
        </p:nvSpPr>
        <p:spPr>
          <a:xfrm>
            <a:off x="6903720" y="4983480"/>
            <a:ext cx="4709160" cy="685800"/>
          </a:xfrm>
          <a:prstGeom prst="rect">
            <a:avLst/>
          </a:prstGeom>
          <a:noFill/>
        </p:spPr>
        <p:txBody>
          <a:bodyPr wrap="square" lIns="0" rIns="0" tIns="0" bIns="0" anchor="ctr">
            <a:noAutofit/>
          </a:bodyPr>
          <a:lstStyle/>
          <a:p>
            <a:pPr algn="l"/>
            <a:r>
              <a:rPr sz="1300" b="1" i="0">
                <a:solidFill>
                  <a:srgbClr val="D31145"/>
                </a:solidFill>
                <a:latin typeface="Arial"/>
              </a:rPr>
              <a:t>Phase 2 tests this. </a:t>
            </a:r>
            <a:r>
              <a:rPr sz="1300" b="0" i="0">
                <a:solidFill>
                  <a:srgbClr val="333D47"/>
                </a:solidFill>
                <a:latin typeface="Arial"/>
              </a:rPr>
              <a:t>Connect an AI tool built by a different AIA team into Riley, with no new tool for employees to learn.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Value that compounds over time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SCALABILITY  ·  INNOVATION FOR ENDURING VALUE</a:t>
            </a:r>
          </a:p>
        </p:txBody>
      </p:sp>
      <p:sp>
        <p:nvSpPr>
          <p:cNvPr id="6" name="TextBox 5"/>
          <p:cNvSpPr txBox="1"/>
          <p:nvPr/>
        </p:nvSpPr>
        <p:spPr>
          <a:xfrm>
            <a:off x="448056" y="1133856"/>
            <a:ext cx="11155680" cy="457200"/>
          </a:xfrm>
          <a:prstGeom prst="rect">
            <a:avLst/>
          </a:prstGeom>
          <a:noFill/>
        </p:spPr>
        <p:txBody>
          <a:bodyPr wrap="square" lIns="0" rIns="0" tIns="0" bIns="0" anchor="t">
            <a:noAutofit/>
          </a:bodyPr>
          <a:lstStyle/>
          <a:p>
            <a:pPr algn="l"/>
            <a:r>
              <a:rPr sz="1600" b="0" i="0">
                <a:solidFill>
                  <a:srgbClr val="5A6570"/>
                </a:solidFill>
                <a:latin typeface="Arial"/>
              </a:rPr>
              <a:t>Riley’s usefulness can grow as more capabilities, workflows and employee feedback are added, rather than delivering a one-time gain.</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9</a:t>
            </a:fld>
            <a:endParaRPr lang="en-US" dirty="0"/>
          </a:p>
        </p:txBody>
      </p:sp>
      <p:sp>
        <p:nvSpPr>
          <p:cNvPr id="7" name="Rounded Rectangle 6"/>
          <p:cNvSpPr/>
          <p:nvPr/>
        </p:nvSpPr>
        <p:spPr>
          <a:xfrm>
            <a:off x="457200" y="4069079"/>
            <a:ext cx="2148840" cy="1280160"/>
          </a:xfrm>
          <a:prstGeom prst="roundRect">
            <a:avLst>
              <a:gd name="adj" fmla="val 5000"/>
            </a:avLst>
          </a:prstGeom>
          <a:solidFill>
            <a:srgbClr val="E9E4E1"/>
          </a:solidFill>
          <a:ln>
            <a:noFill/>
          </a:ln>
        </p:spPr>
        <p:txBody>
          <a:bodyPr rtlCol="0" anchor="ctr"/>
          <a:lstStyle/>
          <a:p/>
        </p:txBody>
      </p:sp>
      <p:sp>
        <p:nvSpPr>
          <p:cNvPr id="8" name="TextBox 7"/>
          <p:cNvSpPr txBox="1"/>
          <p:nvPr/>
        </p:nvSpPr>
        <p:spPr>
          <a:xfrm>
            <a:off x="640080" y="4251959"/>
            <a:ext cx="1783080" cy="1005839"/>
          </a:xfrm>
          <a:prstGeom prst="rect">
            <a:avLst/>
          </a:prstGeom>
          <a:noFill/>
        </p:spPr>
        <p:txBody>
          <a:bodyPr wrap="square" lIns="0" rIns="0" tIns="0" bIns="0" anchor="t">
            <a:noAutofit/>
          </a:bodyPr>
          <a:lstStyle/>
          <a:p>
            <a:pPr algn="l">
              <a:spcAft>
                <a:spcPts val="600"/>
              </a:spcAft>
            </a:pPr>
            <a:r>
              <a:rPr sz="1800" b="1" i="0">
                <a:solidFill>
                  <a:srgbClr val="333D47"/>
                </a:solidFill>
                <a:latin typeface="Arial"/>
              </a:rPr>
              <a:t>Pilot</a:t>
            </a:r>
          </a:p>
          <a:p>
            <a:pPr algn="l">
              <a:spcAft>
                <a:spcPts val="600"/>
              </a:spcAft>
            </a:pPr>
            <a:r>
              <a:rPr sz="1300" b="0" i="0">
                <a:solidFill>
                  <a:srgbClr val="333D47"/>
                </a:solidFill>
                <a:latin typeface="Arial"/>
              </a:rPr>
              <a:t>One team, one workflow</a:t>
            </a:r>
          </a:p>
        </p:txBody>
      </p:sp>
      <p:sp>
        <p:nvSpPr>
          <p:cNvPr id="9" name="TextBox 8"/>
          <p:cNvSpPr txBox="1"/>
          <p:nvPr/>
        </p:nvSpPr>
        <p:spPr>
          <a:xfrm>
            <a:off x="457200" y="5422392"/>
            <a:ext cx="2148840" cy="274320"/>
          </a:xfrm>
          <a:prstGeom prst="rect">
            <a:avLst/>
          </a:prstGeom>
          <a:noFill/>
        </p:spPr>
        <p:txBody>
          <a:bodyPr wrap="square" lIns="0" rIns="0" tIns="0" bIns="0" anchor="t">
            <a:noAutofit/>
          </a:bodyPr>
          <a:lstStyle/>
          <a:p>
            <a:pPr algn="ctr"/>
            <a:r>
              <a:rPr sz="1200" b="1" i="0">
                <a:solidFill>
                  <a:srgbClr val="5A6570"/>
                </a:solidFill>
                <a:latin typeface="Arial"/>
              </a:rPr>
              <a:t>Phases 1–2</a:t>
            </a:r>
          </a:p>
        </p:txBody>
      </p:sp>
      <p:sp>
        <p:nvSpPr>
          <p:cNvPr id="10" name="Rounded Rectangle 9"/>
          <p:cNvSpPr/>
          <p:nvPr/>
        </p:nvSpPr>
        <p:spPr>
          <a:xfrm>
            <a:off x="2788920" y="3063239"/>
            <a:ext cx="2148840" cy="2286000"/>
          </a:xfrm>
          <a:prstGeom prst="roundRect">
            <a:avLst>
              <a:gd name="adj" fmla="val 5000"/>
            </a:avLst>
          </a:prstGeom>
          <a:solidFill>
            <a:srgbClr val="F4C4D1"/>
          </a:solidFill>
          <a:ln>
            <a:noFill/>
          </a:ln>
        </p:spPr>
        <p:txBody>
          <a:bodyPr rtlCol="0" anchor="ctr"/>
          <a:lstStyle/>
          <a:p/>
        </p:txBody>
      </p:sp>
      <p:sp>
        <p:nvSpPr>
          <p:cNvPr id="11" name="TextBox 10"/>
          <p:cNvSpPr txBox="1"/>
          <p:nvPr/>
        </p:nvSpPr>
        <p:spPr>
          <a:xfrm>
            <a:off x="2971800" y="3246120"/>
            <a:ext cx="1783080" cy="2011680"/>
          </a:xfrm>
          <a:prstGeom prst="rect">
            <a:avLst/>
          </a:prstGeom>
          <a:noFill/>
        </p:spPr>
        <p:txBody>
          <a:bodyPr wrap="square" lIns="0" rIns="0" tIns="0" bIns="0" anchor="t">
            <a:noAutofit/>
          </a:bodyPr>
          <a:lstStyle/>
          <a:p>
            <a:pPr algn="l">
              <a:spcAft>
                <a:spcPts val="600"/>
              </a:spcAft>
            </a:pPr>
            <a:r>
              <a:rPr sz="1800" b="1" i="0">
                <a:solidFill>
                  <a:srgbClr val="333D47"/>
                </a:solidFill>
                <a:latin typeface="Arial"/>
              </a:rPr>
              <a:t>Back office</a:t>
            </a:r>
          </a:p>
          <a:p>
            <a:pPr algn="l">
              <a:spcAft>
                <a:spcPts val="600"/>
              </a:spcAft>
            </a:pPr>
            <a:r>
              <a:rPr sz="1300" b="0" i="0">
                <a:solidFill>
                  <a:srgbClr val="333D47"/>
                </a:solidFill>
                <a:latin typeface="Arial"/>
              </a:rPr>
              <a:t>Teams across many functions</a:t>
            </a:r>
          </a:p>
        </p:txBody>
      </p:sp>
      <p:sp>
        <p:nvSpPr>
          <p:cNvPr id="12" name="TextBox 11"/>
          <p:cNvSpPr txBox="1"/>
          <p:nvPr/>
        </p:nvSpPr>
        <p:spPr>
          <a:xfrm>
            <a:off x="2788920" y="5422392"/>
            <a:ext cx="2148840" cy="274320"/>
          </a:xfrm>
          <a:prstGeom prst="rect">
            <a:avLst/>
          </a:prstGeom>
          <a:noFill/>
        </p:spPr>
        <p:txBody>
          <a:bodyPr wrap="square" lIns="0" rIns="0" tIns="0" bIns="0" anchor="t">
            <a:noAutofit/>
          </a:bodyPr>
          <a:lstStyle/>
          <a:p>
            <a:pPr algn="ctr"/>
            <a:r>
              <a:rPr sz="1200" b="1" i="0">
                <a:solidFill>
                  <a:srgbClr val="5A6570"/>
                </a:solidFill>
                <a:latin typeface="Arial"/>
              </a:rPr>
              <a:t>Phase 3</a:t>
            </a:r>
          </a:p>
        </p:txBody>
      </p:sp>
      <p:sp>
        <p:nvSpPr>
          <p:cNvPr id="13" name="Rounded Rectangle 12"/>
          <p:cNvSpPr/>
          <p:nvPr/>
        </p:nvSpPr>
        <p:spPr>
          <a:xfrm>
            <a:off x="5120640" y="1737359"/>
            <a:ext cx="2148840" cy="3611880"/>
          </a:xfrm>
          <a:prstGeom prst="roundRect">
            <a:avLst>
              <a:gd name="adj" fmla="val 5000"/>
            </a:avLst>
          </a:prstGeom>
          <a:solidFill>
            <a:srgbClr val="D31145"/>
          </a:solidFill>
          <a:ln>
            <a:noFill/>
          </a:ln>
        </p:spPr>
        <p:txBody>
          <a:bodyPr rtlCol="0" anchor="ctr"/>
          <a:lstStyle/>
          <a:p/>
        </p:txBody>
      </p:sp>
      <p:sp>
        <p:nvSpPr>
          <p:cNvPr id="14" name="TextBox 13"/>
          <p:cNvSpPr txBox="1"/>
          <p:nvPr/>
        </p:nvSpPr>
        <p:spPr>
          <a:xfrm>
            <a:off x="5303520" y="1920239"/>
            <a:ext cx="1783080" cy="3337560"/>
          </a:xfrm>
          <a:prstGeom prst="rect">
            <a:avLst/>
          </a:prstGeom>
          <a:noFill/>
        </p:spPr>
        <p:txBody>
          <a:bodyPr wrap="square" lIns="0" rIns="0" tIns="0" bIns="0" anchor="t">
            <a:noAutofit/>
          </a:bodyPr>
          <a:lstStyle/>
          <a:p>
            <a:pPr algn="l">
              <a:spcAft>
                <a:spcPts val="400"/>
              </a:spcAft>
            </a:pPr>
            <a:r>
              <a:rPr sz="1200" b="1" i="0">
                <a:solidFill>
                  <a:srgbClr val="FFFFFF"/>
                </a:solidFill>
                <a:latin typeface="Arial"/>
              </a:rPr>
              <a:t>THE VISION</a:t>
            </a:r>
          </a:p>
          <a:p>
            <a:pPr algn="l">
              <a:spcAft>
                <a:spcPts val="600"/>
              </a:spcAft>
            </a:pPr>
            <a:r>
              <a:rPr sz="2000" b="1" i="0">
                <a:solidFill>
                  <a:srgbClr val="FFFFFF"/>
                </a:solidFill>
                <a:latin typeface="Arial"/>
              </a:rPr>
              <a:t>Every AIA employee</a:t>
            </a:r>
          </a:p>
          <a:p>
            <a:pPr algn="l">
              <a:spcAft>
                <a:spcPts val="600"/>
              </a:spcAft>
            </a:pPr>
            <a:r>
              <a:rPr sz="1300" b="0" i="0">
                <a:solidFill>
                  <a:srgbClr val="FFFFFF"/>
                </a:solidFill>
                <a:latin typeface="Arial"/>
              </a:rPr>
              <a:t>A virtual coworker that understands the outcome they need and coordinates AIA’s capabilities to complete much of the work.</a:t>
            </a:r>
          </a:p>
          <a:p>
            <a:pPr algn="l">
              <a:spcAft>
                <a:spcPts val="600"/>
              </a:spcAft>
            </a:pPr>
            <a:r>
              <a:rPr sz="1300" b="0" i="0">
                <a:solidFill>
                  <a:srgbClr val="FFFFFF"/>
                </a:solidFill>
                <a:latin typeface="Arial"/>
              </a:rPr>
              <a:t>The employee stays accountable for every decision.</a:t>
            </a:r>
          </a:p>
        </p:txBody>
      </p:sp>
      <p:sp>
        <p:nvSpPr>
          <p:cNvPr id="15" name="TextBox 14"/>
          <p:cNvSpPr txBox="1"/>
          <p:nvPr/>
        </p:nvSpPr>
        <p:spPr>
          <a:xfrm>
            <a:off x="5120640" y="5422392"/>
            <a:ext cx="2148840" cy="274320"/>
          </a:xfrm>
          <a:prstGeom prst="rect">
            <a:avLst/>
          </a:prstGeom>
          <a:noFill/>
        </p:spPr>
        <p:txBody>
          <a:bodyPr wrap="square" lIns="0" rIns="0" tIns="0" bIns="0" anchor="t">
            <a:noAutofit/>
          </a:bodyPr>
          <a:lstStyle/>
          <a:p>
            <a:pPr algn="ctr"/>
            <a:r>
              <a:rPr sz="1200" b="1" i="0">
                <a:solidFill>
                  <a:srgbClr val="D31145"/>
                </a:solidFill>
                <a:latin typeface="Arial"/>
              </a:rPr>
              <a:t>Long-term vision</a:t>
            </a:r>
          </a:p>
        </p:txBody>
      </p:sp>
      <p:sp>
        <p:nvSpPr>
          <p:cNvPr id="16" name="Rounded Rectangle 15"/>
          <p:cNvSpPr/>
          <p:nvPr/>
        </p:nvSpPr>
        <p:spPr>
          <a:xfrm>
            <a:off x="7498079" y="1737360"/>
            <a:ext cx="4251960" cy="3886200"/>
          </a:xfrm>
          <a:prstGeom prst="roundRect">
            <a:avLst>
              <a:gd name="adj" fmla="val 4000"/>
            </a:avLst>
          </a:prstGeom>
          <a:solidFill>
            <a:srgbClr val="F4F2F0"/>
          </a:solidFill>
          <a:ln>
            <a:noFill/>
          </a:ln>
        </p:spPr>
        <p:txBody>
          <a:bodyPr rtlCol="0" anchor="ctr"/>
          <a:lstStyle/>
          <a:p/>
        </p:txBody>
      </p:sp>
      <p:sp>
        <p:nvSpPr>
          <p:cNvPr id="17" name="TextBox 16"/>
          <p:cNvSpPr txBox="1"/>
          <p:nvPr/>
        </p:nvSpPr>
        <p:spPr>
          <a:xfrm>
            <a:off x="7818119" y="1920240"/>
            <a:ext cx="3611880" cy="365760"/>
          </a:xfrm>
          <a:prstGeom prst="rect">
            <a:avLst/>
          </a:prstGeom>
          <a:noFill/>
        </p:spPr>
        <p:txBody>
          <a:bodyPr wrap="square" lIns="0" rIns="0" tIns="0" bIns="0" anchor="t">
            <a:noAutofit/>
          </a:bodyPr>
          <a:lstStyle/>
          <a:p>
            <a:pPr algn="l"/>
            <a:r>
              <a:rPr sz="2000" b="1" i="0">
                <a:solidFill>
                  <a:srgbClr val="333D47"/>
                </a:solidFill>
                <a:latin typeface="Arial"/>
              </a:rPr>
              <a:t>Why the value endures</a:t>
            </a:r>
          </a:p>
        </p:txBody>
      </p:sp>
      <p:sp>
        <p:nvSpPr>
          <p:cNvPr id="18" name="Oval 17"/>
          <p:cNvSpPr/>
          <p:nvPr/>
        </p:nvSpPr>
        <p:spPr>
          <a:xfrm>
            <a:off x="7818119" y="2514600"/>
            <a:ext cx="502920" cy="502920"/>
          </a:xfrm>
          <a:prstGeom prst="ellipse">
            <a:avLst/>
          </a:prstGeom>
          <a:solidFill>
            <a:srgbClr val="D31145"/>
          </a:solidFill>
          <a:ln>
            <a:noFill/>
          </a:ln>
        </p:spPr>
        <p:txBody>
          <a:bodyPr rtlCol="0" anchor="ctr"/>
          <a:lstStyle/>
          <a:p/>
        </p:txBody>
      </p:sp>
      <p:pic>
        <p:nvPicPr>
          <p:cNvPr id="19" name="Picture 18" descr="LuPlug_w.png"/>
          <p:cNvPicPr>
            <a:picLocks noChangeAspect="1"/>
          </p:cNvPicPr>
          <p:nvPr/>
        </p:nvPicPr>
        <p:blipFill>
          <a:blip r:embed="rId3"/>
          <a:stretch>
            <a:fillRect/>
          </a:stretch>
        </p:blipFill>
        <p:spPr>
          <a:xfrm>
            <a:off x="7938820" y="2635300"/>
            <a:ext cx="261518" cy="261518"/>
          </a:xfrm>
          <a:prstGeom prst="rect">
            <a:avLst/>
          </a:prstGeom>
        </p:spPr>
      </p:pic>
      <p:sp>
        <p:nvSpPr>
          <p:cNvPr id="20" name="TextBox 19"/>
          <p:cNvSpPr txBox="1"/>
          <p:nvPr/>
        </p:nvSpPr>
        <p:spPr>
          <a:xfrm>
            <a:off x="8485632" y="2478024"/>
            <a:ext cx="2971800" cy="274320"/>
          </a:xfrm>
          <a:prstGeom prst="rect">
            <a:avLst/>
          </a:prstGeom>
          <a:noFill/>
        </p:spPr>
        <p:txBody>
          <a:bodyPr wrap="square" lIns="0" rIns="0" tIns="0" bIns="0" anchor="t">
            <a:noAutofit/>
          </a:bodyPr>
          <a:lstStyle/>
          <a:p>
            <a:pPr algn="l"/>
            <a:r>
              <a:rPr sz="1500" b="1" i="0">
                <a:solidFill>
                  <a:srgbClr val="333D47"/>
                </a:solidFill>
                <a:latin typeface="Arial"/>
              </a:rPr>
              <a:t>More capabilities connected</a:t>
            </a:r>
          </a:p>
        </p:txBody>
      </p:sp>
      <p:sp>
        <p:nvSpPr>
          <p:cNvPr id="21" name="TextBox 20"/>
          <p:cNvSpPr txBox="1"/>
          <p:nvPr/>
        </p:nvSpPr>
        <p:spPr>
          <a:xfrm>
            <a:off x="8485632" y="2752344"/>
            <a:ext cx="2971800" cy="457200"/>
          </a:xfrm>
          <a:prstGeom prst="rect">
            <a:avLst/>
          </a:prstGeom>
          <a:noFill/>
        </p:spPr>
        <p:txBody>
          <a:bodyPr wrap="square" lIns="0" rIns="0" tIns="0" bIns="0" anchor="t">
            <a:noAutofit/>
          </a:bodyPr>
          <a:lstStyle/>
          <a:p>
            <a:pPr algn="l"/>
            <a:r>
              <a:rPr sz="1300" b="0" i="0">
                <a:solidFill>
                  <a:srgbClr val="5A6570"/>
                </a:solidFill>
                <a:latin typeface="Arial"/>
              </a:rPr>
              <a:t>Each AI capability AIA builds or adopts can extend Riley.</a:t>
            </a:r>
          </a:p>
        </p:txBody>
      </p:sp>
      <p:sp>
        <p:nvSpPr>
          <p:cNvPr id="22" name="Oval 21"/>
          <p:cNvSpPr/>
          <p:nvPr/>
        </p:nvSpPr>
        <p:spPr>
          <a:xfrm>
            <a:off x="7818119" y="3337560"/>
            <a:ext cx="502920" cy="502920"/>
          </a:xfrm>
          <a:prstGeom prst="ellipse">
            <a:avLst/>
          </a:prstGeom>
          <a:solidFill>
            <a:srgbClr val="D31145"/>
          </a:solidFill>
          <a:ln>
            <a:noFill/>
          </a:ln>
        </p:spPr>
        <p:txBody>
          <a:bodyPr rtlCol="0" anchor="ctr"/>
          <a:lstStyle/>
          <a:p/>
        </p:txBody>
      </p:sp>
      <p:pic>
        <p:nvPicPr>
          <p:cNvPr id="23" name="Picture 22" descr="LuWorkflow_w.png"/>
          <p:cNvPicPr>
            <a:picLocks noChangeAspect="1"/>
          </p:cNvPicPr>
          <p:nvPr/>
        </p:nvPicPr>
        <p:blipFill>
          <a:blip r:embed="rId4"/>
          <a:stretch>
            <a:fillRect/>
          </a:stretch>
        </p:blipFill>
        <p:spPr>
          <a:xfrm>
            <a:off x="7938820" y="3458260"/>
            <a:ext cx="261518" cy="261518"/>
          </a:xfrm>
          <a:prstGeom prst="rect">
            <a:avLst/>
          </a:prstGeom>
        </p:spPr>
      </p:pic>
      <p:sp>
        <p:nvSpPr>
          <p:cNvPr id="24" name="TextBox 23"/>
          <p:cNvSpPr txBox="1"/>
          <p:nvPr/>
        </p:nvSpPr>
        <p:spPr>
          <a:xfrm>
            <a:off x="8485632" y="3300984"/>
            <a:ext cx="2971800" cy="274320"/>
          </a:xfrm>
          <a:prstGeom prst="rect">
            <a:avLst/>
          </a:prstGeom>
          <a:noFill/>
        </p:spPr>
        <p:txBody>
          <a:bodyPr wrap="square" lIns="0" rIns="0" tIns="0" bIns="0" anchor="t">
            <a:noAutofit/>
          </a:bodyPr>
          <a:lstStyle/>
          <a:p>
            <a:pPr algn="l"/>
            <a:r>
              <a:rPr sz="1500" b="1" i="0">
                <a:solidFill>
                  <a:srgbClr val="333D47"/>
                </a:solidFill>
                <a:latin typeface="Arial"/>
              </a:rPr>
              <a:t>More workflows covered</a:t>
            </a:r>
          </a:p>
        </p:txBody>
      </p:sp>
      <p:sp>
        <p:nvSpPr>
          <p:cNvPr id="25" name="TextBox 24"/>
          <p:cNvSpPr txBox="1"/>
          <p:nvPr/>
        </p:nvSpPr>
        <p:spPr>
          <a:xfrm>
            <a:off x="8485632" y="3575304"/>
            <a:ext cx="2971800" cy="457200"/>
          </a:xfrm>
          <a:prstGeom prst="rect">
            <a:avLst/>
          </a:prstGeom>
          <a:noFill/>
        </p:spPr>
        <p:txBody>
          <a:bodyPr wrap="square" lIns="0" rIns="0" tIns="0" bIns="0" anchor="t">
            <a:noAutofit/>
          </a:bodyPr>
          <a:lstStyle/>
          <a:p>
            <a:pPr algn="l"/>
            <a:r>
              <a:rPr sz="1300" b="0" i="0">
                <a:solidFill>
                  <a:srgbClr val="5A6570"/>
                </a:solidFill>
                <a:latin typeface="Arial"/>
              </a:rPr>
              <a:t>The same layer expands to new teams, with no new tool.</a:t>
            </a:r>
          </a:p>
        </p:txBody>
      </p:sp>
      <p:sp>
        <p:nvSpPr>
          <p:cNvPr id="26" name="Oval 25"/>
          <p:cNvSpPr/>
          <p:nvPr/>
        </p:nvSpPr>
        <p:spPr>
          <a:xfrm>
            <a:off x="7818119" y="4160520"/>
            <a:ext cx="502920" cy="502920"/>
          </a:xfrm>
          <a:prstGeom prst="ellipse">
            <a:avLst/>
          </a:prstGeom>
          <a:solidFill>
            <a:srgbClr val="D31145"/>
          </a:solidFill>
          <a:ln>
            <a:noFill/>
          </a:ln>
        </p:spPr>
        <p:txBody>
          <a:bodyPr rtlCol="0" anchor="ctr"/>
          <a:lstStyle/>
          <a:p/>
        </p:txBody>
      </p:sp>
      <p:pic>
        <p:nvPicPr>
          <p:cNvPr id="27" name="Picture 26" descr="LuRefreshCw_w.png"/>
          <p:cNvPicPr>
            <a:picLocks noChangeAspect="1"/>
          </p:cNvPicPr>
          <p:nvPr/>
        </p:nvPicPr>
        <p:blipFill>
          <a:blip r:embed="rId5"/>
          <a:stretch>
            <a:fillRect/>
          </a:stretch>
        </p:blipFill>
        <p:spPr>
          <a:xfrm>
            <a:off x="7938820" y="4281220"/>
            <a:ext cx="261518" cy="261518"/>
          </a:xfrm>
          <a:prstGeom prst="rect">
            <a:avLst/>
          </a:prstGeom>
        </p:spPr>
      </p:pic>
      <p:sp>
        <p:nvSpPr>
          <p:cNvPr id="28" name="TextBox 27"/>
          <p:cNvSpPr txBox="1"/>
          <p:nvPr/>
        </p:nvSpPr>
        <p:spPr>
          <a:xfrm>
            <a:off x="8485632" y="4123944"/>
            <a:ext cx="2971800" cy="274320"/>
          </a:xfrm>
          <a:prstGeom prst="rect">
            <a:avLst/>
          </a:prstGeom>
          <a:noFill/>
        </p:spPr>
        <p:txBody>
          <a:bodyPr wrap="square" lIns="0" rIns="0" tIns="0" bIns="0" anchor="t">
            <a:noAutofit/>
          </a:bodyPr>
          <a:lstStyle/>
          <a:p>
            <a:pPr algn="l"/>
            <a:r>
              <a:rPr sz="1500" b="1" i="0">
                <a:solidFill>
                  <a:srgbClr val="333D47"/>
                </a:solidFill>
                <a:latin typeface="Arial"/>
              </a:rPr>
              <a:t>More feedback learned</a:t>
            </a:r>
          </a:p>
        </p:txBody>
      </p:sp>
      <p:sp>
        <p:nvSpPr>
          <p:cNvPr id="29" name="TextBox 28"/>
          <p:cNvSpPr txBox="1"/>
          <p:nvPr/>
        </p:nvSpPr>
        <p:spPr>
          <a:xfrm>
            <a:off x="8485632" y="4398264"/>
            <a:ext cx="2971800" cy="457200"/>
          </a:xfrm>
          <a:prstGeom prst="rect">
            <a:avLst/>
          </a:prstGeom>
          <a:noFill/>
        </p:spPr>
        <p:txBody>
          <a:bodyPr wrap="square" lIns="0" rIns="0" tIns="0" bIns="0" anchor="t">
            <a:noAutofit/>
          </a:bodyPr>
          <a:lstStyle/>
          <a:p>
            <a:pPr algn="l"/>
            <a:r>
              <a:rPr sz="1300" b="0" i="0">
                <a:solidFill>
                  <a:srgbClr val="5A6570"/>
                </a:solidFill>
                <a:latin typeface="Arial"/>
              </a:rPr>
              <a:t>Governed employee feedback improves how Riley handles AIA work.</a:t>
            </a:r>
          </a:p>
        </p:txBody>
      </p:sp>
      <p:sp>
        <p:nvSpPr>
          <p:cNvPr id="30" name="TextBox 29"/>
          <p:cNvSpPr txBox="1"/>
          <p:nvPr/>
        </p:nvSpPr>
        <p:spPr>
          <a:xfrm>
            <a:off x="7818119" y="5029200"/>
            <a:ext cx="3611880" cy="502920"/>
          </a:xfrm>
          <a:prstGeom prst="rect">
            <a:avLst/>
          </a:prstGeom>
          <a:noFill/>
        </p:spPr>
        <p:txBody>
          <a:bodyPr wrap="square" lIns="0" rIns="0" tIns="0" bIns="0" anchor="t">
            <a:noAutofit/>
          </a:bodyPr>
          <a:lstStyle/>
          <a:p>
            <a:pPr algn="l"/>
            <a:r>
              <a:rPr sz="1200" b="0" i="1">
                <a:solidFill>
                  <a:srgbClr val="5A6570"/>
                </a:solidFill>
                <a:latin typeface="Arial"/>
              </a:rPr>
              <a:t>Across markets: a reusable core, with each market adding its own integrations, data controls and governance.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Practical to build. Designed to be trusted.</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FEASIBILITY</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10</a:t>
            </a:fld>
            <a:endParaRPr lang="en-US" dirty="0"/>
          </a:p>
        </p:txBody>
      </p:sp>
      <p:sp>
        <p:nvSpPr>
          <p:cNvPr id="6" name="Rounded Rectangle 5"/>
          <p:cNvSpPr/>
          <p:nvPr/>
        </p:nvSpPr>
        <p:spPr>
          <a:xfrm>
            <a:off x="457200" y="1691640"/>
            <a:ext cx="1965960" cy="1481328"/>
          </a:xfrm>
          <a:prstGeom prst="roundRect">
            <a:avLst>
              <a:gd name="adj" fmla="val 8000"/>
            </a:avLst>
          </a:prstGeom>
          <a:solidFill>
            <a:srgbClr val="FFFFFF"/>
          </a:solidFill>
          <a:ln w="12700">
            <a:solidFill>
              <a:srgbClr val="C9C4C0"/>
            </a:solidFill>
          </a:ln>
        </p:spPr>
        <p:txBody>
          <a:bodyPr rtlCol="0" anchor="ctr"/>
          <a:lstStyle/>
          <a:p/>
        </p:txBody>
      </p:sp>
      <p:pic>
        <p:nvPicPr>
          <p:cNvPr id="7" name="Picture 6" descr="LuMessagesSquare_c.png"/>
          <p:cNvPicPr>
            <a:picLocks noChangeAspect="1"/>
          </p:cNvPicPr>
          <p:nvPr/>
        </p:nvPicPr>
        <p:blipFill>
          <a:blip r:embed="rId3"/>
          <a:stretch>
            <a:fillRect/>
          </a:stretch>
        </p:blipFill>
        <p:spPr>
          <a:xfrm>
            <a:off x="621792" y="1828800"/>
            <a:ext cx="347472" cy="347472"/>
          </a:xfrm>
          <a:prstGeom prst="rect">
            <a:avLst/>
          </a:prstGeom>
        </p:spPr>
      </p:pic>
      <p:sp>
        <p:nvSpPr>
          <p:cNvPr id="8" name="TextBox 7"/>
          <p:cNvSpPr txBox="1"/>
          <p:nvPr/>
        </p:nvSpPr>
        <p:spPr>
          <a:xfrm>
            <a:off x="621792" y="2212848"/>
            <a:ext cx="1691639" cy="274320"/>
          </a:xfrm>
          <a:prstGeom prst="rect">
            <a:avLst/>
          </a:prstGeom>
          <a:noFill/>
        </p:spPr>
        <p:txBody>
          <a:bodyPr wrap="square" lIns="0" rIns="0" tIns="0" bIns="0" anchor="t">
            <a:noAutofit/>
          </a:bodyPr>
          <a:lstStyle/>
          <a:p>
            <a:pPr algn="l"/>
            <a:r>
              <a:rPr sz="1500" b="1" i="0">
                <a:solidFill>
                  <a:srgbClr val="333D47"/>
                </a:solidFill>
                <a:latin typeface="Arial"/>
              </a:rPr>
              <a:t>Ask in Teams</a:t>
            </a:r>
          </a:p>
        </p:txBody>
      </p:sp>
      <p:sp>
        <p:nvSpPr>
          <p:cNvPr id="9" name="TextBox 8"/>
          <p:cNvSpPr txBox="1"/>
          <p:nvPr/>
        </p:nvSpPr>
        <p:spPr>
          <a:xfrm>
            <a:off x="621792" y="2496312"/>
            <a:ext cx="1691639" cy="603504"/>
          </a:xfrm>
          <a:prstGeom prst="rect">
            <a:avLst/>
          </a:prstGeom>
          <a:noFill/>
        </p:spPr>
        <p:txBody>
          <a:bodyPr wrap="square" lIns="0" rIns="0" tIns="0" bIns="0" anchor="t">
            <a:noAutofit/>
          </a:bodyPr>
          <a:lstStyle/>
          <a:p>
            <a:pPr algn="l"/>
            <a:r>
              <a:rPr sz="1200" b="0" i="0">
                <a:solidFill>
                  <a:srgbClr val="5A6570"/>
                </a:solidFill>
                <a:latin typeface="Arial"/>
              </a:rPr>
              <a:t>The tool employees already use</a:t>
            </a:r>
          </a:p>
        </p:txBody>
      </p:sp>
      <p:sp>
        <p:nvSpPr>
          <p:cNvPr id="10" name="Right Arrow 9"/>
          <p:cNvSpPr/>
          <p:nvPr/>
        </p:nvSpPr>
        <p:spPr>
          <a:xfrm>
            <a:off x="2496312" y="2313432"/>
            <a:ext cx="219456" cy="237744"/>
          </a:xfrm>
          <a:prstGeom prst="rightArrow">
            <a:avLst/>
          </a:prstGeom>
          <a:solidFill>
            <a:srgbClr val="8A939B"/>
          </a:solidFill>
          <a:ln>
            <a:noFill/>
          </a:ln>
        </p:spPr>
        <p:txBody>
          <a:bodyPr rtlCol="0" anchor="ctr"/>
          <a:lstStyle/>
          <a:p/>
        </p:txBody>
      </p:sp>
      <p:sp>
        <p:nvSpPr>
          <p:cNvPr id="11" name="Rounded Rectangle 10"/>
          <p:cNvSpPr/>
          <p:nvPr/>
        </p:nvSpPr>
        <p:spPr>
          <a:xfrm>
            <a:off x="2788920" y="1691640"/>
            <a:ext cx="1965960" cy="1481328"/>
          </a:xfrm>
          <a:prstGeom prst="roundRect">
            <a:avLst>
              <a:gd name="adj" fmla="val 8000"/>
            </a:avLst>
          </a:prstGeom>
          <a:solidFill>
            <a:srgbClr val="FFFFFF"/>
          </a:solidFill>
          <a:ln w="12700">
            <a:solidFill>
              <a:srgbClr val="C9C4C0"/>
            </a:solidFill>
          </a:ln>
        </p:spPr>
        <p:txBody>
          <a:bodyPr rtlCol="0" anchor="ctr"/>
          <a:lstStyle/>
          <a:p/>
        </p:txBody>
      </p:sp>
      <p:pic>
        <p:nvPicPr>
          <p:cNvPr id="12" name="Picture 11" descr="LuCpu_c.png"/>
          <p:cNvPicPr>
            <a:picLocks noChangeAspect="1"/>
          </p:cNvPicPr>
          <p:nvPr/>
        </p:nvPicPr>
        <p:blipFill>
          <a:blip r:embed="rId4"/>
          <a:stretch>
            <a:fillRect/>
          </a:stretch>
        </p:blipFill>
        <p:spPr>
          <a:xfrm>
            <a:off x="2953512" y="1828800"/>
            <a:ext cx="347472" cy="347472"/>
          </a:xfrm>
          <a:prstGeom prst="rect">
            <a:avLst/>
          </a:prstGeom>
        </p:spPr>
      </p:pic>
      <p:sp>
        <p:nvSpPr>
          <p:cNvPr id="13" name="TextBox 12"/>
          <p:cNvSpPr txBox="1"/>
          <p:nvPr/>
        </p:nvSpPr>
        <p:spPr>
          <a:xfrm>
            <a:off x="2953512" y="2212848"/>
            <a:ext cx="1691639" cy="274320"/>
          </a:xfrm>
          <a:prstGeom prst="rect">
            <a:avLst/>
          </a:prstGeom>
          <a:noFill/>
        </p:spPr>
        <p:txBody>
          <a:bodyPr wrap="square" lIns="0" rIns="0" tIns="0" bIns="0" anchor="t">
            <a:noAutofit/>
          </a:bodyPr>
          <a:lstStyle/>
          <a:p>
            <a:pPr algn="l"/>
            <a:r>
              <a:rPr sz="1500" b="1" i="0">
                <a:solidFill>
                  <a:srgbClr val="333D47"/>
                </a:solidFill>
                <a:latin typeface="Arial"/>
              </a:rPr>
              <a:t>Riley works</a:t>
            </a:r>
          </a:p>
        </p:txBody>
      </p:sp>
      <p:sp>
        <p:nvSpPr>
          <p:cNvPr id="14" name="TextBox 13"/>
          <p:cNvSpPr txBox="1"/>
          <p:nvPr/>
        </p:nvSpPr>
        <p:spPr>
          <a:xfrm>
            <a:off x="2953512" y="2496312"/>
            <a:ext cx="1691639" cy="603504"/>
          </a:xfrm>
          <a:prstGeom prst="rect">
            <a:avLst/>
          </a:prstGeom>
          <a:noFill/>
        </p:spPr>
        <p:txBody>
          <a:bodyPr wrap="square" lIns="0" rIns="0" tIns="0" bIns="0" anchor="t">
            <a:noAutofit/>
          </a:bodyPr>
          <a:lstStyle/>
          <a:p>
            <a:pPr algn="l"/>
            <a:r>
              <a:rPr sz="1200" b="0" i="0">
                <a:solidFill>
                  <a:srgbClr val="5A6570"/>
                </a:solidFill>
                <a:latin typeface="Arial"/>
              </a:rPr>
              <a:t>On an existing enterprise AI engine, not built from scratch</a:t>
            </a:r>
          </a:p>
        </p:txBody>
      </p:sp>
      <p:sp>
        <p:nvSpPr>
          <p:cNvPr id="15" name="Right Arrow 14"/>
          <p:cNvSpPr/>
          <p:nvPr/>
        </p:nvSpPr>
        <p:spPr>
          <a:xfrm>
            <a:off x="4828031" y="2313432"/>
            <a:ext cx="219456" cy="237744"/>
          </a:xfrm>
          <a:prstGeom prst="rightArrow">
            <a:avLst/>
          </a:prstGeom>
          <a:solidFill>
            <a:srgbClr val="8A939B"/>
          </a:solidFill>
          <a:ln>
            <a:noFill/>
          </a:ln>
        </p:spPr>
        <p:txBody>
          <a:bodyPr rtlCol="0" anchor="ctr"/>
          <a:lstStyle/>
          <a:p/>
        </p:txBody>
      </p:sp>
      <p:sp>
        <p:nvSpPr>
          <p:cNvPr id="16" name="Rounded Rectangle 15"/>
          <p:cNvSpPr/>
          <p:nvPr/>
        </p:nvSpPr>
        <p:spPr>
          <a:xfrm>
            <a:off x="5120640" y="1691640"/>
            <a:ext cx="1965960" cy="1481328"/>
          </a:xfrm>
          <a:prstGeom prst="roundRect">
            <a:avLst>
              <a:gd name="adj" fmla="val 8000"/>
            </a:avLst>
          </a:prstGeom>
          <a:solidFill>
            <a:srgbClr val="FFFFFF"/>
          </a:solidFill>
          <a:ln w="12700">
            <a:solidFill>
              <a:srgbClr val="C9C4C0"/>
            </a:solidFill>
          </a:ln>
        </p:spPr>
        <p:txBody>
          <a:bodyPr rtlCol="0" anchor="ctr"/>
          <a:lstStyle/>
          <a:p/>
        </p:txBody>
      </p:sp>
      <p:pic>
        <p:nvPicPr>
          <p:cNvPr id="17" name="Picture 16" descr="LuFileText_c.png"/>
          <p:cNvPicPr>
            <a:picLocks noChangeAspect="1"/>
          </p:cNvPicPr>
          <p:nvPr/>
        </p:nvPicPr>
        <p:blipFill>
          <a:blip r:embed="rId5"/>
          <a:stretch>
            <a:fillRect/>
          </a:stretch>
        </p:blipFill>
        <p:spPr>
          <a:xfrm>
            <a:off x="5285231" y="1828800"/>
            <a:ext cx="347472" cy="347472"/>
          </a:xfrm>
          <a:prstGeom prst="rect">
            <a:avLst/>
          </a:prstGeom>
        </p:spPr>
      </p:pic>
      <p:sp>
        <p:nvSpPr>
          <p:cNvPr id="18" name="TextBox 17"/>
          <p:cNvSpPr txBox="1"/>
          <p:nvPr/>
        </p:nvSpPr>
        <p:spPr>
          <a:xfrm>
            <a:off x="5285231" y="2212848"/>
            <a:ext cx="1691639" cy="274320"/>
          </a:xfrm>
          <a:prstGeom prst="rect">
            <a:avLst/>
          </a:prstGeom>
          <a:noFill/>
        </p:spPr>
        <p:txBody>
          <a:bodyPr wrap="square" lIns="0" rIns="0" tIns="0" bIns="0" anchor="t">
            <a:noAutofit/>
          </a:bodyPr>
          <a:lstStyle/>
          <a:p>
            <a:pPr algn="l"/>
            <a:r>
              <a:rPr sz="1500" b="1" i="0">
                <a:solidFill>
                  <a:srgbClr val="333D47"/>
                </a:solidFill>
                <a:latin typeface="Arial"/>
              </a:rPr>
              <a:t>Finished draft</a:t>
            </a:r>
          </a:p>
        </p:txBody>
      </p:sp>
      <p:sp>
        <p:nvSpPr>
          <p:cNvPr id="19" name="TextBox 18"/>
          <p:cNvSpPr txBox="1"/>
          <p:nvPr/>
        </p:nvSpPr>
        <p:spPr>
          <a:xfrm>
            <a:off x="5285231" y="2496312"/>
            <a:ext cx="1691639" cy="603504"/>
          </a:xfrm>
          <a:prstGeom prst="rect">
            <a:avLst/>
          </a:prstGeom>
          <a:noFill/>
        </p:spPr>
        <p:txBody>
          <a:bodyPr wrap="square" lIns="0" rIns="0" tIns="0" bIns="0" anchor="t">
            <a:noAutofit/>
          </a:bodyPr>
          <a:lstStyle/>
          <a:p>
            <a:pPr algn="l"/>
            <a:r>
              <a:rPr sz="1200" b="0" i="0">
                <a:solidFill>
                  <a:srgbClr val="5A6570"/>
                </a:solidFill>
                <a:latin typeface="Arial"/>
              </a:rPr>
              <a:t>Ready for review</a:t>
            </a:r>
          </a:p>
        </p:txBody>
      </p:sp>
      <p:sp>
        <p:nvSpPr>
          <p:cNvPr id="20" name="Right Arrow 19"/>
          <p:cNvSpPr/>
          <p:nvPr/>
        </p:nvSpPr>
        <p:spPr>
          <a:xfrm>
            <a:off x="7159752" y="2313432"/>
            <a:ext cx="219456" cy="237744"/>
          </a:xfrm>
          <a:prstGeom prst="rightArrow">
            <a:avLst/>
          </a:prstGeom>
          <a:solidFill>
            <a:srgbClr val="8A939B"/>
          </a:solidFill>
          <a:ln>
            <a:noFill/>
          </a:ln>
        </p:spPr>
        <p:txBody>
          <a:bodyPr rtlCol="0" anchor="ctr"/>
          <a:lstStyle/>
          <a:p/>
        </p:txBody>
      </p:sp>
      <p:sp>
        <p:nvSpPr>
          <p:cNvPr id="21" name="Rounded Rectangle 20"/>
          <p:cNvSpPr/>
          <p:nvPr/>
        </p:nvSpPr>
        <p:spPr>
          <a:xfrm>
            <a:off x="7452359" y="1691640"/>
            <a:ext cx="1965960" cy="1481328"/>
          </a:xfrm>
          <a:prstGeom prst="roundRect">
            <a:avLst>
              <a:gd name="adj" fmla="val 8000"/>
            </a:avLst>
          </a:prstGeom>
          <a:solidFill>
            <a:srgbClr val="D31145"/>
          </a:solidFill>
          <a:ln>
            <a:noFill/>
          </a:ln>
        </p:spPr>
        <p:txBody>
          <a:bodyPr rtlCol="0" anchor="ctr"/>
          <a:lstStyle/>
          <a:p/>
        </p:txBody>
      </p:sp>
      <p:pic>
        <p:nvPicPr>
          <p:cNvPr id="22" name="Picture 21" descr="LuUserCheck_w.png"/>
          <p:cNvPicPr>
            <a:picLocks noChangeAspect="1"/>
          </p:cNvPicPr>
          <p:nvPr/>
        </p:nvPicPr>
        <p:blipFill>
          <a:blip r:embed="rId6"/>
          <a:stretch>
            <a:fillRect/>
          </a:stretch>
        </p:blipFill>
        <p:spPr>
          <a:xfrm>
            <a:off x="7616951" y="1828800"/>
            <a:ext cx="347472" cy="347472"/>
          </a:xfrm>
          <a:prstGeom prst="rect">
            <a:avLst/>
          </a:prstGeom>
        </p:spPr>
      </p:pic>
      <p:sp>
        <p:nvSpPr>
          <p:cNvPr id="23" name="TextBox 22"/>
          <p:cNvSpPr txBox="1"/>
          <p:nvPr/>
        </p:nvSpPr>
        <p:spPr>
          <a:xfrm>
            <a:off x="7616951" y="2212848"/>
            <a:ext cx="1691639" cy="274320"/>
          </a:xfrm>
          <a:prstGeom prst="rect">
            <a:avLst/>
          </a:prstGeom>
          <a:noFill/>
        </p:spPr>
        <p:txBody>
          <a:bodyPr wrap="square" lIns="0" rIns="0" tIns="0" bIns="0" anchor="t">
            <a:noAutofit/>
          </a:bodyPr>
          <a:lstStyle/>
          <a:p>
            <a:pPr algn="l"/>
            <a:r>
              <a:rPr sz="1500" b="1" i="0">
                <a:solidFill>
                  <a:srgbClr val="FFFFFF"/>
                </a:solidFill>
                <a:latin typeface="Arial"/>
              </a:rPr>
              <a:t>Approval gate</a:t>
            </a:r>
          </a:p>
        </p:txBody>
      </p:sp>
      <p:sp>
        <p:nvSpPr>
          <p:cNvPr id="24" name="TextBox 23"/>
          <p:cNvSpPr txBox="1"/>
          <p:nvPr/>
        </p:nvSpPr>
        <p:spPr>
          <a:xfrm>
            <a:off x="7616951" y="2496312"/>
            <a:ext cx="1691639" cy="603504"/>
          </a:xfrm>
          <a:prstGeom prst="rect">
            <a:avLst/>
          </a:prstGeom>
          <a:noFill/>
        </p:spPr>
        <p:txBody>
          <a:bodyPr wrap="square" lIns="0" rIns="0" tIns="0" bIns="0" anchor="t">
            <a:noAutofit/>
          </a:bodyPr>
          <a:lstStyle/>
          <a:p>
            <a:pPr algn="l"/>
            <a:r>
              <a:rPr sz="1200" b="0" i="0">
                <a:solidFill>
                  <a:srgbClr val="FFFFFF"/>
                </a:solidFill>
                <a:latin typeface="Arial"/>
              </a:rPr>
              <a:t>The employee reviews and approves</a:t>
            </a:r>
          </a:p>
        </p:txBody>
      </p:sp>
      <p:sp>
        <p:nvSpPr>
          <p:cNvPr id="25" name="Right Arrow 24"/>
          <p:cNvSpPr/>
          <p:nvPr/>
        </p:nvSpPr>
        <p:spPr>
          <a:xfrm>
            <a:off x="9491472" y="2313432"/>
            <a:ext cx="219456" cy="237744"/>
          </a:xfrm>
          <a:prstGeom prst="rightArrow">
            <a:avLst/>
          </a:prstGeom>
          <a:solidFill>
            <a:srgbClr val="8A939B"/>
          </a:solidFill>
          <a:ln>
            <a:noFill/>
          </a:ln>
        </p:spPr>
        <p:txBody>
          <a:bodyPr rtlCol="0" anchor="ctr"/>
          <a:lstStyle/>
          <a:p/>
        </p:txBody>
      </p:sp>
      <p:sp>
        <p:nvSpPr>
          <p:cNvPr id="26" name="Rounded Rectangle 25"/>
          <p:cNvSpPr/>
          <p:nvPr/>
        </p:nvSpPr>
        <p:spPr>
          <a:xfrm>
            <a:off x="9784080" y="1691640"/>
            <a:ext cx="1965960" cy="1481328"/>
          </a:xfrm>
          <a:prstGeom prst="roundRect">
            <a:avLst>
              <a:gd name="adj" fmla="val 8000"/>
            </a:avLst>
          </a:prstGeom>
          <a:solidFill>
            <a:srgbClr val="FFFFFF"/>
          </a:solidFill>
          <a:ln w="12700">
            <a:solidFill>
              <a:srgbClr val="C9C4C0"/>
            </a:solidFill>
          </a:ln>
        </p:spPr>
        <p:txBody>
          <a:bodyPr rtlCol="0" anchor="ctr"/>
          <a:lstStyle/>
          <a:p/>
        </p:txBody>
      </p:sp>
      <p:pic>
        <p:nvPicPr>
          <p:cNvPr id="27" name="Picture 26" descr="LuSend_c.png"/>
          <p:cNvPicPr>
            <a:picLocks noChangeAspect="1"/>
          </p:cNvPicPr>
          <p:nvPr/>
        </p:nvPicPr>
        <p:blipFill>
          <a:blip r:embed="rId7"/>
          <a:stretch>
            <a:fillRect/>
          </a:stretch>
        </p:blipFill>
        <p:spPr>
          <a:xfrm>
            <a:off x="9948672" y="1828800"/>
            <a:ext cx="347472" cy="347472"/>
          </a:xfrm>
          <a:prstGeom prst="rect">
            <a:avLst/>
          </a:prstGeom>
        </p:spPr>
      </p:pic>
      <p:sp>
        <p:nvSpPr>
          <p:cNvPr id="28" name="TextBox 27"/>
          <p:cNvSpPr txBox="1"/>
          <p:nvPr/>
        </p:nvSpPr>
        <p:spPr>
          <a:xfrm>
            <a:off x="9948672" y="2212848"/>
            <a:ext cx="1691639" cy="274320"/>
          </a:xfrm>
          <a:prstGeom prst="rect">
            <a:avLst/>
          </a:prstGeom>
          <a:noFill/>
        </p:spPr>
        <p:txBody>
          <a:bodyPr wrap="square" lIns="0" rIns="0" tIns="0" bIns="0" anchor="t">
            <a:noAutofit/>
          </a:bodyPr>
          <a:lstStyle/>
          <a:p>
            <a:pPr algn="l"/>
            <a:r>
              <a:rPr sz="1500" b="1" i="0">
                <a:solidFill>
                  <a:srgbClr val="333D47"/>
                </a:solidFill>
                <a:latin typeface="Arial"/>
              </a:rPr>
              <a:t>Final action</a:t>
            </a:r>
          </a:p>
        </p:txBody>
      </p:sp>
      <p:sp>
        <p:nvSpPr>
          <p:cNvPr id="29" name="TextBox 28"/>
          <p:cNvSpPr txBox="1"/>
          <p:nvPr/>
        </p:nvSpPr>
        <p:spPr>
          <a:xfrm>
            <a:off x="9948672" y="2496312"/>
            <a:ext cx="1691639" cy="603504"/>
          </a:xfrm>
          <a:prstGeom prst="rect">
            <a:avLst/>
          </a:prstGeom>
          <a:noFill/>
        </p:spPr>
        <p:txBody>
          <a:bodyPr wrap="square" lIns="0" rIns="0" tIns="0" bIns="0" anchor="t">
            <a:noAutofit/>
          </a:bodyPr>
          <a:lstStyle/>
          <a:p>
            <a:pPr algn="l"/>
            <a:r>
              <a:rPr sz="1200" b="0" i="0">
                <a:solidFill>
                  <a:srgbClr val="5A6570"/>
                </a:solidFill>
                <a:latin typeface="Arial"/>
              </a:rPr>
              <a:t>Finalize, send to anyone, or enter into a system</a:t>
            </a:r>
          </a:p>
        </p:txBody>
      </p:sp>
      <p:sp>
        <p:nvSpPr>
          <p:cNvPr id="30" name="Rounded Rectangle 29"/>
          <p:cNvSpPr/>
          <p:nvPr/>
        </p:nvSpPr>
        <p:spPr>
          <a:xfrm>
            <a:off x="457200" y="3310128"/>
            <a:ext cx="11292840" cy="512064"/>
          </a:xfrm>
          <a:prstGeom prst="roundRect">
            <a:avLst>
              <a:gd name="adj" fmla="val 20000"/>
            </a:avLst>
          </a:prstGeom>
          <a:solidFill>
            <a:srgbClr val="F4F2F0"/>
          </a:solidFill>
          <a:ln>
            <a:noFill/>
          </a:ln>
        </p:spPr>
        <p:txBody>
          <a:bodyPr rtlCol="0" anchor="ctr"/>
          <a:lstStyle/>
          <a:p/>
        </p:txBody>
      </p:sp>
      <p:pic>
        <p:nvPicPr>
          <p:cNvPr id="31" name="Picture 30" descr="LuHistory_r.png"/>
          <p:cNvPicPr>
            <a:picLocks noChangeAspect="1"/>
          </p:cNvPicPr>
          <p:nvPr/>
        </p:nvPicPr>
        <p:blipFill>
          <a:blip r:embed="rId8"/>
          <a:stretch>
            <a:fillRect/>
          </a:stretch>
        </p:blipFill>
        <p:spPr>
          <a:xfrm>
            <a:off x="685800" y="3401568"/>
            <a:ext cx="329184" cy="329184"/>
          </a:xfrm>
          <a:prstGeom prst="rect">
            <a:avLst/>
          </a:prstGeom>
        </p:spPr>
      </p:pic>
      <p:sp>
        <p:nvSpPr>
          <p:cNvPr id="32" name="TextBox 31"/>
          <p:cNvSpPr txBox="1"/>
          <p:nvPr/>
        </p:nvSpPr>
        <p:spPr>
          <a:xfrm>
            <a:off x="1143000" y="3310128"/>
            <a:ext cx="10424160" cy="512064"/>
          </a:xfrm>
          <a:prstGeom prst="rect">
            <a:avLst/>
          </a:prstGeom>
          <a:noFill/>
        </p:spPr>
        <p:txBody>
          <a:bodyPr wrap="square" lIns="0" rIns="0" tIns="0" bIns="0" anchor="ctr">
            <a:noAutofit/>
          </a:bodyPr>
          <a:lstStyle/>
          <a:p>
            <a:pPr algn="l"/>
            <a:r>
              <a:rPr sz="1500" b="1" i="0">
                <a:solidFill>
                  <a:srgbClr val="D31145"/>
                </a:solidFill>
                <a:latin typeface="Arial"/>
              </a:rPr>
              <a:t>Traceable and reviewable.  </a:t>
            </a:r>
            <a:r>
              <a:rPr sz="1500" b="0" i="0">
                <a:solidFill>
                  <a:srgbClr val="333D47"/>
                </a:solidFill>
                <a:latin typeface="Arial"/>
              </a:rPr>
              <a:t>Riley records the request, capabilities used, output, approval and final action.</a:t>
            </a:r>
          </a:p>
        </p:txBody>
      </p:sp>
      <p:sp>
        <p:nvSpPr>
          <p:cNvPr id="33" name="Rounded Rectangle 32"/>
          <p:cNvSpPr/>
          <p:nvPr/>
        </p:nvSpPr>
        <p:spPr>
          <a:xfrm>
            <a:off x="457200" y="3986784"/>
            <a:ext cx="2697480" cy="1645920"/>
          </a:xfrm>
          <a:prstGeom prst="roundRect">
            <a:avLst>
              <a:gd name="adj" fmla="val 6000"/>
            </a:avLst>
          </a:prstGeom>
          <a:solidFill>
            <a:srgbClr val="FFFFFF"/>
          </a:solidFill>
          <a:ln w="12700">
            <a:solidFill>
              <a:srgbClr val="C9C4C0"/>
            </a:solidFill>
          </a:ln>
        </p:spPr>
        <p:txBody>
          <a:bodyPr rtlCol="0" anchor="ctr"/>
          <a:lstStyle/>
          <a:p/>
        </p:txBody>
      </p:sp>
      <p:sp>
        <p:nvSpPr>
          <p:cNvPr id="34" name="Oval 33"/>
          <p:cNvSpPr/>
          <p:nvPr/>
        </p:nvSpPr>
        <p:spPr>
          <a:xfrm>
            <a:off x="658368" y="4114800"/>
            <a:ext cx="457200" cy="457200"/>
          </a:xfrm>
          <a:prstGeom prst="ellipse">
            <a:avLst/>
          </a:prstGeom>
          <a:solidFill>
            <a:srgbClr val="333D47"/>
          </a:solidFill>
          <a:ln>
            <a:noFill/>
          </a:ln>
        </p:spPr>
        <p:txBody>
          <a:bodyPr rtlCol="0" anchor="ctr"/>
          <a:lstStyle/>
          <a:p/>
        </p:txBody>
      </p:sp>
      <p:pic>
        <p:nvPicPr>
          <p:cNvPr id="35" name="Picture 34" descr="LuKeyRound_w.png"/>
          <p:cNvPicPr>
            <a:picLocks noChangeAspect="1"/>
          </p:cNvPicPr>
          <p:nvPr/>
        </p:nvPicPr>
        <p:blipFill>
          <a:blip r:embed="rId9"/>
          <a:stretch>
            <a:fillRect/>
          </a:stretch>
        </p:blipFill>
        <p:spPr>
          <a:xfrm>
            <a:off x="768096" y="4224528"/>
            <a:ext cx="237744" cy="237744"/>
          </a:xfrm>
          <a:prstGeom prst="rect">
            <a:avLst/>
          </a:prstGeom>
        </p:spPr>
      </p:pic>
      <p:sp>
        <p:nvSpPr>
          <p:cNvPr id="36" name="TextBox 35"/>
          <p:cNvSpPr txBox="1"/>
          <p:nvPr/>
        </p:nvSpPr>
        <p:spPr>
          <a:xfrm>
            <a:off x="1234440" y="4114800"/>
            <a:ext cx="1783080" cy="457200"/>
          </a:xfrm>
          <a:prstGeom prst="rect">
            <a:avLst/>
          </a:prstGeom>
          <a:noFill/>
        </p:spPr>
        <p:txBody>
          <a:bodyPr wrap="square" lIns="0" rIns="0" tIns="0" bIns="0" anchor="ctr">
            <a:noAutofit/>
          </a:bodyPr>
          <a:lstStyle/>
          <a:p>
            <a:pPr algn="l"/>
            <a:r>
              <a:rPr sz="1500" b="1" i="0">
                <a:solidFill>
                  <a:srgbClr val="333D47"/>
                </a:solidFill>
                <a:latin typeface="Arial"/>
              </a:rPr>
              <a:t>Your permissions only</a:t>
            </a:r>
          </a:p>
        </p:txBody>
      </p:sp>
      <p:sp>
        <p:nvSpPr>
          <p:cNvPr id="37" name="TextBox 36"/>
          <p:cNvSpPr txBox="1"/>
          <p:nvPr/>
        </p:nvSpPr>
        <p:spPr>
          <a:xfrm>
            <a:off x="658368" y="4663440"/>
            <a:ext cx="2331720" cy="914400"/>
          </a:xfrm>
          <a:prstGeom prst="rect">
            <a:avLst/>
          </a:prstGeom>
          <a:noFill/>
        </p:spPr>
        <p:txBody>
          <a:bodyPr wrap="square" lIns="0" rIns="0" tIns="0" bIns="0" anchor="t">
            <a:noAutofit/>
          </a:bodyPr>
          <a:lstStyle/>
          <a:p>
            <a:pPr algn="l"/>
            <a:r>
              <a:rPr sz="1300" b="0" i="0">
                <a:solidFill>
                  <a:srgbClr val="5A6570"/>
                </a:solidFill>
                <a:latin typeface="Arial"/>
              </a:rPr>
              <a:t>Riley acts with the access the employee already has, and never bypasses existing permissions.</a:t>
            </a:r>
          </a:p>
        </p:txBody>
      </p:sp>
      <p:sp>
        <p:nvSpPr>
          <p:cNvPr id="38" name="Rounded Rectangle 37"/>
          <p:cNvSpPr/>
          <p:nvPr/>
        </p:nvSpPr>
        <p:spPr>
          <a:xfrm>
            <a:off x="3319272" y="3986784"/>
            <a:ext cx="2697480" cy="1645920"/>
          </a:xfrm>
          <a:prstGeom prst="roundRect">
            <a:avLst>
              <a:gd name="adj" fmla="val 6000"/>
            </a:avLst>
          </a:prstGeom>
          <a:solidFill>
            <a:srgbClr val="FFFFFF"/>
          </a:solidFill>
          <a:ln w="12700">
            <a:solidFill>
              <a:srgbClr val="C9C4C0"/>
            </a:solidFill>
          </a:ln>
        </p:spPr>
        <p:txBody>
          <a:bodyPr rtlCol="0" anchor="ctr"/>
          <a:lstStyle/>
          <a:p/>
        </p:txBody>
      </p:sp>
      <p:sp>
        <p:nvSpPr>
          <p:cNvPr id="39" name="Oval 38"/>
          <p:cNvSpPr/>
          <p:nvPr/>
        </p:nvSpPr>
        <p:spPr>
          <a:xfrm>
            <a:off x="3520440" y="4114800"/>
            <a:ext cx="457200" cy="457200"/>
          </a:xfrm>
          <a:prstGeom prst="ellipse">
            <a:avLst/>
          </a:prstGeom>
          <a:solidFill>
            <a:srgbClr val="333D47"/>
          </a:solidFill>
          <a:ln>
            <a:noFill/>
          </a:ln>
        </p:spPr>
        <p:txBody>
          <a:bodyPr rtlCol="0" anchor="ctr"/>
          <a:lstStyle/>
          <a:p/>
        </p:txBody>
      </p:sp>
      <p:pic>
        <p:nvPicPr>
          <p:cNvPr id="40" name="Picture 39" descr="LuShieldCheck_w.png"/>
          <p:cNvPicPr>
            <a:picLocks noChangeAspect="1"/>
          </p:cNvPicPr>
          <p:nvPr/>
        </p:nvPicPr>
        <p:blipFill>
          <a:blip r:embed="rId10"/>
          <a:stretch>
            <a:fillRect/>
          </a:stretch>
        </p:blipFill>
        <p:spPr>
          <a:xfrm>
            <a:off x="3630168" y="4224528"/>
            <a:ext cx="237744" cy="237744"/>
          </a:xfrm>
          <a:prstGeom prst="rect">
            <a:avLst/>
          </a:prstGeom>
        </p:spPr>
      </p:pic>
      <p:sp>
        <p:nvSpPr>
          <p:cNvPr id="41" name="TextBox 40"/>
          <p:cNvSpPr txBox="1"/>
          <p:nvPr/>
        </p:nvSpPr>
        <p:spPr>
          <a:xfrm>
            <a:off x="4096512" y="4114800"/>
            <a:ext cx="1783080" cy="457200"/>
          </a:xfrm>
          <a:prstGeom prst="rect">
            <a:avLst/>
          </a:prstGeom>
          <a:noFill/>
        </p:spPr>
        <p:txBody>
          <a:bodyPr wrap="square" lIns="0" rIns="0" tIns="0" bIns="0" anchor="ctr">
            <a:noAutofit/>
          </a:bodyPr>
          <a:lstStyle/>
          <a:p>
            <a:pPr algn="l"/>
            <a:r>
              <a:rPr sz="1500" b="1" i="0">
                <a:solidFill>
                  <a:srgbClr val="333D47"/>
                </a:solidFill>
                <a:latin typeface="Arial"/>
              </a:rPr>
              <a:t>AIA data controls</a:t>
            </a:r>
          </a:p>
        </p:txBody>
      </p:sp>
      <p:sp>
        <p:nvSpPr>
          <p:cNvPr id="42" name="TextBox 41"/>
          <p:cNvSpPr txBox="1"/>
          <p:nvPr/>
        </p:nvSpPr>
        <p:spPr>
          <a:xfrm>
            <a:off x="3520440" y="4663440"/>
            <a:ext cx="2331720" cy="914400"/>
          </a:xfrm>
          <a:prstGeom prst="rect">
            <a:avLst/>
          </a:prstGeom>
          <a:noFill/>
        </p:spPr>
        <p:txBody>
          <a:bodyPr wrap="square" lIns="0" rIns="0" tIns="0" bIns="0" anchor="t">
            <a:noAutofit/>
          </a:bodyPr>
          <a:lstStyle/>
          <a:p>
            <a:pPr algn="l"/>
            <a:r>
              <a:rPr sz="1300" b="0" i="0">
                <a:solidFill>
                  <a:srgbClr val="5A6570"/>
                </a:solidFill>
                <a:latin typeface="Arial"/>
              </a:rPr>
              <a:t>Sensitive and customer data stay under AIA’s existing controls. Approved external sources only.</a:t>
            </a:r>
          </a:p>
        </p:txBody>
      </p:sp>
      <p:sp>
        <p:nvSpPr>
          <p:cNvPr id="43" name="Rounded Rectangle 42"/>
          <p:cNvSpPr/>
          <p:nvPr/>
        </p:nvSpPr>
        <p:spPr>
          <a:xfrm>
            <a:off x="6181344" y="3986784"/>
            <a:ext cx="2697480" cy="1645920"/>
          </a:xfrm>
          <a:prstGeom prst="roundRect">
            <a:avLst>
              <a:gd name="adj" fmla="val 6000"/>
            </a:avLst>
          </a:prstGeom>
          <a:solidFill>
            <a:srgbClr val="FFFFFF"/>
          </a:solidFill>
          <a:ln w="12700">
            <a:solidFill>
              <a:srgbClr val="C9C4C0"/>
            </a:solidFill>
          </a:ln>
        </p:spPr>
        <p:txBody>
          <a:bodyPr rtlCol="0" anchor="ctr"/>
          <a:lstStyle/>
          <a:p/>
        </p:txBody>
      </p:sp>
      <p:sp>
        <p:nvSpPr>
          <p:cNvPr id="44" name="Oval 43"/>
          <p:cNvSpPr/>
          <p:nvPr/>
        </p:nvSpPr>
        <p:spPr>
          <a:xfrm>
            <a:off x="6382512" y="4114800"/>
            <a:ext cx="457200" cy="457200"/>
          </a:xfrm>
          <a:prstGeom prst="ellipse">
            <a:avLst/>
          </a:prstGeom>
          <a:solidFill>
            <a:srgbClr val="333D47"/>
          </a:solidFill>
          <a:ln>
            <a:noFill/>
          </a:ln>
        </p:spPr>
        <p:txBody>
          <a:bodyPr rtlCol="0" anchor="ctr"/>
          <a:lstStyle/>
          <a:p/>
        </p:txBody>
      </p:sp>
      <p:pic>
        <p:nvPicPr>
          <p:cNvPr id="45" name="Picture 44" descr="LuRefreshCw_w.png"/>
          <p:cNvPicPr>
            <a:picLocks noChangeAspect="1"/>
          </p:cNvPicPr>
          <p:nvPr/>
        </p:nvPicPr>
        <p:blipFill>
          <a:blip r:embed="rId11"/>
          <a:stretch>
            <a:fillRect/>
          </a:stretch>
        </p:blipFill>
        <p:spPr>
          <a:xfrm>
            <a:off x="6492240" y="4224528"/>
            <a:ext cx="237744" cy="237744"/>
          </a:xfrm>
          <a:prstGeom prst="rect">
            <a:avLst/>
          </a:prstGeom>
        </p:spPr>
      </p:pic>
      <p:sp>
        <p:nvSpPr>
          <p:cNvPr id="46" name="TextBox 45"/>
          <p:cNvSpPr txBox="1"/>
          <p:nvPr/>
        </p:nvSpPr>
        <p:spPr>
          <a:xfrm>
            <a:off x="6958584" y="4114800"/>
            <a:ext cx="1783080" cy="457200"/>
          </a:xfrm>
          <a:prstGeom prst="rect">
            <a:avLst/>
          </a:prstGeom>
          <a:noFill/>
        </p:spPr>
        <p:txBody>
          <a:bodyPr wrap="square" lIns="0" rIns="0" tIns="0" bIns="0" anchor="ctr">
            <a:noAutofit/>
          </a:bodyPr>
          <a:lstStyle/>
          <a:p>
            <a:pPr algn="l"/>
            <a:r>
              <a:rPr sz="1500" b="1" i="0">
                <a:solidFill>
                  <a:srgbClr val="333D47"/>
                </a:solidFill>
                <a:latin typeface="Arial"/>
              </a:rPr>
              <a:t>Governed learning</a:t>
            </a:r>
          </a:p>
        </p:txBody>
      </p:sp>
      <p:sp>
        <p:nvSpPr>
          <p:cNvPr id="47" name="TextBox 46"/>
          <p:cNvSpPr txBox="1"/>
          <p:nvPr/>
        </p:nvSpPr>
        <p:spPr>
          <a:xfrm>
            <a:off x="6382512" y="4663440"/>
            <a:ext cx="2331720" cy="914400"/>
          </a:xfrm>
          <a:prstGeom prst="rect">
            <a:avLst/>
          </a:prstGeom>
          <a:noFill/>
        </p:spPr>
        <p:txBody>
          <a:bodyPr wrap="square" lIns="0" rIns="0" tIns="0" bIns="0" anchor="t">
            <a:noAutofit/>
          </a:bodyPr>
          <a:lstStyle/>
          <a:p>
            <a:pPr algn="l"/>
            <a:r>
              <a:rPr sz="1300" b="0" i="0">
                <a:solidFill>
                  <a:srgbClr val="5A6570"/>
                </a:solidFill>
                <a:latin typeface="Arial"/>
              </a:rPr>
              <a:t>What feedback is captured, who sees it and how improvements are reviewed is agreed with risk and IT.</a:t>
            </a:r>
          </a:p>
        </p:txBody>
      </p:sp>
      <p:sp>
        <p:nvSpPr>
          <p:cNvPr id="48" name="Rounded Rectangle 47"/>
          <p:cNvSpPr/>
          <p:nvPr/>
        </p:nvSpPr>
        <p:spPr>
          <a:xfrm>
            <a:off x="9043416" y="3986784"/>
            <a:ext cx="2697480" cy="1645920"/>
          </a:xfrm>
          <a:prstGeom prst="roundRect">
            <a:avLst>
              <a:gd name="adj" fmla="val 6000"/>
            </a:avLst>
          </a:prstGeom>
          <a:solidFill>
            <a:srgbClr val="FFFFFF"/>
          </a:solidFill>
          <a:ln w="12700">
            <a:solidFill>
              <a:srgbClr val="C9C4C0"/>
            </a:solidFill>
          </a:ln>
        </p:spPr>
        <p:txBody>
          <a:bodyPr rtlCol="0" anchor="ctr"/>
          <a:lstStyle/>
          <a:p/>
        </p:txBody>
      </p:sp>
      <p:sp>
        <p:nvSpPr>
          <p:cNvPr id="49" name="Oval 48"/>
          <p:cNvSpPr/>
          <p:nvPr/>
        </p:nvSpPr>
        <p:spPr>
          <a:xfrm>
            <a:off x="9244584" y="4114800"/>
            <a:ext cx="457200" cy="457200"/>
          </a:xfrm>
          <a:prstGeom prst="ellipse">
            <a:avLst/>
          </a:prstGeom>
          <a:solidFill>
            <a:srgbClr val="333D47"/>
          </a:solidFill>
          <a:ln>
            <a:noFill/>
          </a:ln>
        </p:spPr>
        <p:txBody>
          <a:bodyPr rtlCol="0" anchor="ctr"/>
          <a:lstStyle/>
          <a:p/>
        </p:txBody>
      </p:sp>
      <p:pic>
        <p:nvPicPr>
          <p:cNvPr id="50" name="Picture 49" descr="LuUserCheck_w.png"/>
          <p:cNvPicPr>
            <a:picLocks noChangeAspect="1"/>
          </p:cNvPicPr>
          <p:nvPr/>
        </p:nvPicPr>
        <p:blipFill>
          <a:blip r:embed="rId6"/>
          <a:stretch>
            <a:fillRect/>
          </a:stretch>
        </p:blipFill>
        <p:spPr>
          <a:xfrm>
            <a:off x="9354312" y="4224528"/>
            <a:ext cx="237744" cy="237744"/>
          </a:xfrm>
          <a:prstGeom prst="rect">
            <a:avLst/>
          </a:prstGeom>
        </p:spPr>
      </p:pic>
      <p:sp>
        <p:nvSpPr>
          <p:cNvPr id="51" name="TextBox 50"/>
          <p:cNvSpPr txBox="1"/>
          <p:nvPr/>
        </p:nvSpPr>
        <p:spPr>
          <a:xfrm>
            <a:off x="9820656" y="4114800"/>
            <a:ext cx="1783080" cy="457200"/>
          </a:xfrm>
          <a:prstGeom prst="rect">
            <a:avLst/>
          </a:prstGeom>
          <a:noFill/>
        </p:spPr>
        <p:txBody>
          <a:bodyPr wrap="square" lIns="0" rIns="0" tIns="0" bIns="0" anchor="ctr">
            <a:noAutofit/>
          </a:bodyPr>
          <a:lstStyle/>
          <a:p>
            <a:pPr algn="l"/>
            <a:r>
              <a:rPr sz="1500" b="1" i="0">
                <a:solidFill>
                  <a:srgbClr val="333D47"/>
                </a:solidFill>
                <a:latin typeface="Arial"/>
              </a:rPr>
              <a:t>Independent quality review</a:t>
            </a:r>
          </a:p>
        </p:txBody>
      </p:sp>
      <p:sp>
        <p:nvSpPr>
          <p:cNvPr id="52" name="TextBox 51"/>
          <p:cNvSpPr txBox="1"/>
          <p:nvPr/>
        </p:nvSpPr>
        <p:spPr>
          <a:xfrm>
            <a:off x="9244584" y="4663440"/>
            <a:ext cx="2331720" cy="914400"/>
          </a:xfrm>
          <a:prstGeom prst="rect">
            <a:avLst/>
          </a:prstGeom>
          <a:noFill/>
        </p:spPr>
        <p:txBody>
          <a:bodyPr wrap="square" lIns="0" rIns="0" tIns="0" bIns="0" anchor="t">
            <a:noAutofit/>
          </a:bodyPr>
          <a:lstStyle/>
          <a:p>
            <a:pPr algn="l"/>
            <a:r>
              <a:rPr sz="1300" b="0" i="0">
                <a:solidFill>
                  <a:srgbClr val="5A6570"/>
                </a:solidFill>
                <a:latin typeface="Arial"/>
              </a:rPr>
              <a:t>Periodic sample reviews by a business reviewer or subject-matter expert.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 Placeholder 3"/>
          <p:cNvSpPr>
            <a:spLocks noGrp="1"/>
          </p:cNvSpPr>
          <p:nvPr>
            <p:ph type="body" idx="10" sz="quarter"/>
          </p:nvPr>
        </p:nvSpPr>
        <p:spPr>
          <a:xfrm>
            <a:off x="356616" y="566928"/>
            <a:ext cx="11155680" cy="566928"/>
          </a:xfrm>
        </p:spPr>
        <p:txBody>
          <a:bodyPr tIns="18288" bIns="18288"/>
          <a:lstStyle/>
          <a:p>
            <a:pPr>
              <a:lnSpc>
                <a:spcPct val="100000"/>
              </a:lnSpc>
            </a:pPr>
            <a:r>
              <a:rPr sz="3200" b="1">
                <a:solidFill>
                  <a:srgbClr val="333D47"/>
                </a:solidFill>
                <a:latin typeface="Arial"/>
              </a:rPr>
              <a:t>12 months, gated by evidence</a:t>
            </a:r>
          </a:p>
        </p:txBody>
      </p:sp>
      <p:sp>
        <p:nvSpPr>
          <p:cNvPr id="5" name="TextBox 4"/>
          <p:cNvSpPr txBox="1"/>
          <p:nvPr/>
        </p:nvSpPr>
        <p:spPr>
          <a:xfrm>
            <a:off x="448056" y="292608"/>
            <a:ext cx="7315200" cy="256032"/>
          </a:xfrm>
          <a:prstGeom prst="rect">
            <a:avLst/>
          </a:prstGeom>
          <a:noFill/>
        </p:spPr>
        <p:txBody>
          <a:bodyPr wrap="square" lIns="0" rIns="0" tIns="0" bIns="0" anchor="t">
            <a:noAutofit/>
          </a:bodyPr>
          <a:lstStyle/>
          <a:p>
            <a:pPr algn="l"/>
            <a:r>
              <a:rPr sz="1200" b="1" i="0">
                <a:solidFill>
                  <a:srgbClr val="D31145"/>
                </a:solidFill>
                <a:latin typeface="Arial"/>
              </a:rPr>
              <a:t>FEASIBILITY  ·  ROADMAP</a:t>
            </a:r>
          </a:p>
        </p:txBody>
      </p:sp>
      <p:sp>
        <p:nvSpPr>
          <p:cNvPr id="5" name="Slide Number Placeholder 4">
            <a:extLst>
              <a:ext uri="{FF2B5EF4-FFF2-40B4-BE49-F238E27FC236}">
                <a16:creationId xmlns:a16="http://schemas.microsoft.com/office/drawing/2014/main" id="{9BC448CE-9665-F274-B4A7-6CEB966934D3}"/>
              </a:ext>
            </a:extLst>
          </p:cNvPr>
          <p:cNvSpPr>
            <a:spLocks noGrp="1"/>
          </p:cNvSpPr>
          <p:nvPr>
            <p:ph type="sldNum" sz="quarter" idx="4"/>
          </p:nvPr>
        </p:nvSpPr>
        <p:spPr/>
        <p:txBody>
          <a:bodyPr/>
          <a:lstStyle/>
          <a:p>
            <a:fld id="{18A41853-EF22-D446-BDBC-A7CF3FE93503}" type="slidenum">
              <a:rPr lang="en-US" smtClean="0"/>
              <a:pPr/>
              <a:t>11</a:t>
            </a:fld>
            <a:endParaRPr lang="en-US" dirty="0"/>
          </a:p>
        </p:txBody>
      </p:sp>
      <p:sp>
        <p:nvSpPr>
          <p:cNvPr id="6" name="Rounded Rectangle 5"/>
          <p:cNvSpPr/>
          <p:nvPr/>
        </p:nvSpPr>
        <p:spPr>
          <a:xfrm>
            <a:off x="457200" y="1783080"/>
            <a:ext cx="2240280" cy="2468880"/>
          </a:xfrm>
          <a:prstGeom prst="roundRect">
            <a:avLst>
              <a:gd name="adj" fmla="val 5000"/>
            </a:avLst>
          </a:prstGeom>
          <a:solidFill>
            <a:srgbClr val="F4F2F0"/>
          </a:solidFill>
          <a:ln>
            <a:noFill/>
          </a:ln>
        </p:spPr>
        <p:txBody>
          <a:bodyPr rtlCol="0" anchor="ctr"/>
          <a:lstStyle/>
          <a:p/>
        </p:txBody>
      </p:sp>
      <p:sp>
        <p:nvSpPr>
          <p:cNvPr id="7" name="TextBox 6"/>
          <p:cNvSpPr txBox="1"/>
          <p:nvPr/>
        </p:nvSpPr>
        <p:spPr>
          <a:xfrm>
            <a:off x="658368" y="1965960"/>
            <a:ext cx="1874520" cy="256032"/>
          </a:xfrm>
          <a:prstGeom prst="rect">
            <a:avLst/>
          </a:prstGeom>
          <a:noFill/>
        </p:spPr>
        <p:txBody>
          <a:bodyPr wrap="square" lIns="0" rIns="0" tIns="0" bIns="0" anchor="t">
            <a:noAutofit/>
          </a:bodyPr>
          <a:lstStyle/>
          <a:p>
            <a:pPr algn="l"/>
            <a:r>
              <a:rPr sz="1200" b="1" i="0">
                <a:solidFill>
                  <a:srgbClr val="5A6570"/>
                </a:solidFill>
                <a:latin typeface="Arial"/>
              </a:rPr>
              <a:t>PHASE 0   </a:t>
            </a:r>
            <a:r>
              <a:rPr sz="1200" b="0" i="0">
                <a:solidFill>
                  <a:srgbClr val="5A6570"/>
                </a:solidFill>
                <a:latin typeface="Arial"/>
              </a:rPr>
              <a:t>Month 1</a:t>
            </a:r>
          </a:p>
        </p:txBody>
      </p:sp>
      <p:sp>
        <p:nvSpPr>
          <p:cNvPr id="8" name="TextBox 7"/>
          <p:cNvSpPr txBox="1"/>
          <p:nvPr/>
        </p:nvSpPr>
        <p:spPr>
          <a:xfrm>
            <a:off x="658368" y="2240279"/>
            <a:ext cx="1874520" cy="566928"/>
          </a:xfrm>
          <a:prstGeom prst="rect">
            <a:avLst/>
          </a:prstGeom>
          <a:noFill/>
        </p:spPr>
        <p:txBody>
          <a:bodyPr wrap="square" lIns="0" rIns="0" tIns="0" bIns="0" anchor="t">
            <a:noAutofit/>
          </a:bodyPr>
          <a:lstStyle/>
          <a:p>
            <a:pPr algn="l"/>
            <a:r>
              <a:rPr sz="1800" b="1" i="0">
                <a:solidFill>
                  <a:srgbClr val="333D47"/>
                </a:solidFill>
                <a:latin typeface="Arial"/>
              </a:rPr>
              <a:t>Select and baseline</a:t>
            </a:r>
          </a:p>
        </p:txBody>
      </p:sp>
      <p:sp>
        <p:nvSpPr>
          <p:cNvPr id="9" name="TextBox 8"/>
          <p:cNvSpPr txBox="1"/>
          <p:nvPr/>
        </p:nvSpPr>
        <p:spPr>
          <a:xfrm>
            <a:off x="658368" y="2862072"/>
            <a:ext cx="1874520" cy="1280160"/>
          </a:xfrm>
          <a:prstGeom prst="rect">
            <a:avLst/>
          </a:prstGeom>
          <a:noFill/>
        </p:spPr>
        <p:txBody>
          <a:bodyPr wrap="square" lIns="0" rIns="0" tIns="0" bIns="0" anchor="t">
            <a:noAutofit/>
          </a:bodyPr>
          <a:lstStyle/>
          <a:p>
            <a:pPr algn="l">
              <a:spcAft>
                <a:spcPts val="300"/>
              </a:spcAft>
            </a:pPr>
            <a:r>
              <a:rPr sz="900" b="0" i="0">
                <a:solidFill>
                  <a:srgbClr val="D31145"/>
                </a:solidFill>
                <a:latin typeface="Arial"/>
              </a:rPr>
              <a:t>●  </a:t>
            </a:r>
            <a:r>
              <a:rPr sz="1300" b="0" i="0">
                <a:solidFill>
                  <a:srgbClr val="333D47"/>
                </a:solidFill>
                <a:latin typeface="Arial"/>
              </a:rPr>
              <a:t>Pilot team and workflow</a:t>
            </a:r>
          </a:p>
          <a:p>
            <a:pPr algn="l">
              <a:spcAft>
                <a:spcPts val="300"/>
              </a:spcAft>
            </a:pPr>
            <a:r>
              <a:rPr sz="900" b="0" i="0">
                <a:solidFill>
                  <a:srgbClr val="D31145"/>
                </a:solidFill>
                <a:latin typeface="Arial"/>
              </a:rPr>
              <a:t>●  </a:t>
            </a:r>
            <a:r>
              <a:rPr sz="1300" b="0" i="0">
                <a:solidFill>
                  <a:srgbClr val="333D47"/>
                </a:solidFill>
                <a:latin typeface="Arial"/>
              </a:rPr>
              <a:t>Baseline effort, time, steps</a:t>
            </a:r>
          </a:p>
          <a:p>
            <a:pPr algn="l">
              <a:spcAft>
                <a:spcPts val="300"/>
              </a:spcAft>
            </a:pPr>
            <a:r>
              <a:rPr sz="900" b="0" i="0">
                <a:solidFill>
                  <a:srgbClr val="D31145"/>
                </a:solidFill>
                <a:latin typeface="Arial"/>
              </a:rPr>
              <a:t>●  </a:t>
            </a:r>
            <a:r>
              <a:rPr sz="1300" b="0" i="0">
                <a:solidFill>
                  <a:srgbClr val="333D47"/>
                </a:solidFill>
                <a:latin typeface="Arial"/>
              </a:rPr>
              <a:t>Confirm data, security, records, governance</a:t>
            </a:r>
          </a:p>
        </p:txBody>
      </p:sp>
      <p:sp>
        <p:nvSpPr>
          <p:cNvPr id="10" name="Rounded Rectangle 9"/>
          <p:cNvSpPr/>
          <p:nvPr/>
        </p:nvSpPr>
        <p:spPr>
          <a:xfrm>
            <a:off x="2898648" y="1783080"/>
            <a:ext cx="2697480" cy="2468880"/>
          </a:xfrm>
          <a:prstGeom prst="roundRect">
            <a:avLst>
              <a:gd name="adj" fmla="val 5000"/>
            </a:avLst>
          </a:prstGeom>
          <a:solidFill>
            <a:srgbClr val="F4F2F0"/>
          </a:solidFill>
          <a:ln>
            <a:noFill/>
          </a:ln>
        </p:spPr>
        <p:txBody>
          <a:bodyPr rtlCol="0" anchor="ctr"/>
          <a:lstStyle/>
          <a:p/>
        </p:txBody>
      </p:sp>
      <p:sp>
        <p:nvSpPr>
          <p:cNvPr id="11" name="TextBox 10"/>
          <p:cNvSpPr txBox="1"/>
          <p:nvPr/>
        </p:nvSpPr>
        <p:spPr>
          <a:xfrm>
            <a:off x="3099816" y="1965960"/>
            <a:ext cx="2331720" cy="256032"/>
          </a:xfrm>
          <a:prstGeom prst="rect">
            <a:avLst/>
          </a:prstGeom>
          <a:noFill/>
        </p:spPr>
        <p:txBody>
          <a:bodyPr wrap="square" lIns="0" rIns="0" tIns="0" bIns="0" anchor="t">
            <a:noAutofit/>
          </a:bodyPr>
          <a:lstStyle/>
          <a:p>
            <a:pPr algn="l"/>
            <a:r>
              <a:rPr sz="1200" b="1" i="0">
                <a:solidFill>
                  <a:srgbClr val="5A6570"/>
                </a:solidFill>
                <a:latin typeface="Arial"/>
              </a:rPr>
              <a:t>PHASE 1   </a:t>
            </a:r>
            <a:r>
              <a:rPr sz="1200" b="0" i="0">
                <a:solidFill>
                  <a:srgbClr val="5A6570"/>
                </a:solidFill>
                <a:latin typeface="Arial"/>
              </a:rPr>
              <a:t>Months 2–4</a:t>
            </a:r>
          </a:p>
        </p:txBody>
      </p:sp>
      <p:sp>
        <p:nvSpPr>
          <p:cNvPr id="12" name="TextBox 11"/>
          <p:cNvSpPr txBox="1"/>
          <p:nvPr/>
        </p:nvSpPr>
        <p:spPr>
          <a:xfrm>
            <a:off x="3099816" y="2240279"/>
            <a:ext cx="2331720" cy="566928"/>
          </a:xfrm>
          <a:prstGeom prst="rect">
            <a:avLst/>
          </a:prstGeom>
          <a:noFill/>
        </p:spPr>
        <p:txBody>
          <a:bodyPr wrap="square" lIns="0" rIns="0" tIns="0" bIns="0" anchor="t">
            <a:noAutofit/>
          </a:bodyPr>
          <a:lstStyle/>
          <a:p>
            <a:pPr algn="l"/>
            <a:r>
              <a:rPr sz="1800" b="1" i="0">
                <a:solidFill>
                  <a:srgbClr val="333D47"/>
                </a:solidFill>
                <a:latin typeface="Arial"/>
              </a:rPr>
              <a:t>MVP pilot</a:t>
            </a:r>
          </a:p>
        </p:txBody>
      </p:sp>
      <p:sp>
        <p:nvSpPr>
          <p:cNvPr id="13" name="TextBox 12"/>
          <p:cNvSpPr txBox="1"/>
          <p:nvPr/>
        </p:nvSpPr>
        <p:spPr>
          <a:xfrm>
            <a:off x="3099816" y="2862072"/>
            <a:ext cx="2331720" cy="1280160"/>
          </a:xfrm>
          <a:prstGeom prst="rect">
            <a:avLst/>
          </a:prstGeom>
          <a:noFill/>
        </p:spPr>
        <p:txBody>
          <a:bodyPr wrap="square" lIns="0" rIns="0" tIns="0" bIns="0" anchor="t">
            <a:noAutofit/>
          </a:bodyPr>
          <a:lstStyle/>
          <a:p>
            <a:pPr algn="l">
              <a:spcAft>
                <a:spcPts val="300"/>
              </a:spcAft>
            </a:pPr>
            <a:r>
              <a:rPr sz="900" b="0" i="0">
                <a:solidFill>
                  <a:srgbClr val="D31145"/>
                </a:solidFill>
                <a:latin typeface="Arial"/>
              </a:rPr>
              <a:t>●  </a:t>
            </a:r>
            <a:r>
              <a:rPr sz="1300" b="0" i="0">
                <a:solidFill>
                  <a:srgbClr val="333D47"/>
                </a:solidFill>
                <a:latin typeface="Arial"/>
              </a:rPr>
              <a:t>One workflow, one team</a:t>
            </a:r>
          </a:p>
          <a:p>
            <a:pPr algn="l">
              <a:spcAft>
                <a:spcPts val="300"/>
              </a:spcAft>
            </a:pPr>
            <a:r>
              <a:rPr sz="900" b="0" i="0">
                <a:solidFill>
                  <a:srgbClr val="D31145"/>
                </a:solidFill>
                <a:latin typeface="Arial"/>
              </a:rPr>
              <a:t>●  </a:t>
            </a:r>
            <a:r>
              <a:rPr sz="1300" b="0" i="0">
                <a:solidFill>
                  <a:srgbClr val="333D47"/>
                </a:solidFill>
                <a:latin typeface="Arial"/>
              </a:rPr>
              <a:t>Approval before final action</a:t>
            </a:r>
          </a:p>
          <a:p>
            <a:pPr algn="l">
              <a:spcAft>
                <a:spcPts val="300"/>
              </a:spcAft>
            </a:pPr>
            <a:r>
              <a:rPr sz="900" b="0" i="0">
                <a:solidFill>
                  <a:srgbClr val="D31145"/>
                </a:solidFill>
                <a:latin typeface="Arial"/>
              </a:rPr>
              <a:t>●  </a:t>
            </a:r>
            <a:r>
              <a:rPr sz="1300" b="0" i="0">
                <a:solidFill>
                  <a:srgbClr val="333D47"/>
                </a:solidFill>
                <a:latin typeface="Arial"/>
              </a:rPr>
              <a:t>Measure vs. baseline, incl. independent quality reviews</a:t>
            </a:r>
          </a:p>
        </p:txBody>
      </p:sp>
      <p:sp>
        <p:nvSpPr>
          <p:cNvPr id="14" name="Rounded Rectangle 13"/>
          <p:cNvSpPr/>
          <p:nvPr/>
        </p:nvSpPr>
        <p:spPr>
          <a:xfrm>
            <a:off x="5797296" y="1554480"/>
            <a:ext cx="3063240" cy="2697480"/>
          </a:xfrm>
          <a:prstGeom prst="roundRect">
            <a:avLst>
              <a:gd name="adj" fmla="val 5000"/>
            </a:avLst>
          </a:prstGeom>
          <a:solidFill>
            <a:srgbClr val="D31145"/>
          </a:solidFill>
          <a:ln>
            <a:noFill/>
          </a:ln>
        </p:spPr>
        <p:txBody>
          <a:bodyPr rtlCol="0" anchor="ctr"/>
          <a:lstStyle/>
          <a:p/>
        </p:txBody>
      </p:sp>
      <p:sp>
        <p:nvSpPr>
          <p:cNvPr id="15" name="TextBox 14"/>
          <p:cNvSpPr txBox="1"/>
          <p:nvPr/>
        </p:nvSpPr>
        <p:spPr>
          <a:xfrm>
            <a:off x="5998464" y="1691639"/>
            <a:ext cx="2697480" cy="256032"/>
          </a:xfrm>
          <a:prstGeom prst="rect">
            <a:avLst/>
          </a:prstGeom>
          <a:noFill/>
        </p:spPr>
        <p:txBody>
          <a:bodyPr wrap="square" lIns="0" rIns="0" tIns="0" bIns="0" anchor="t">
            <a:noAutofit/>
          </a:bodyPr>
          <a:lstStyle/>
          <a:p>
            <a:pPr algn="l"/>
            <a:r>
              <a:rPr sz="1200" b="1" i="0">
                <a:solidFill>
                  <a:srgbClr val="FFFFFF"/>
                </a:solidFill>
                <a:latin typeface="Arial"/>
              </a:rPr>
              <a:t>THE CORE TEST OF THE IDEA</a:t>
            </a:r>
          </a:p>
        </p:txBody>
      </p:sp>
      <p:sp>
        <p:nvSpPr>
          <p:cNvPr id="16" name="TextBox 15"/>
          <p:cNvSpPr txBox="1"/>
          <p:nvPr/>
        </p:nvSpPr>
        <p:spPr>
          <a:xfrm>
            <a:off x="5998464" y="2011680"/>
            <a:ext cx="2697480" cy="256032"/>
          </a:xfrm>
          <a:prstGeom prst="rect">
            <a:avLst/>
          </a:prstGeom>
          <a:noFill/>
        </p:spPr>
        <p:txBody>
          <a:bodyPr wrap="square" lIns="0" rIns="0" tIns="0" bIns="0" anchor="t">
            <a:noAutofit/>
          </a:bodyPr>
          <a:lstStyle/>
          <a:p>
            <a:pPr algn="l"/>
            <a:r>
              <a:rPr sz="1200" b="1" i="0">
                <a:solidFill>
                  <a:srgbClr val="FFFFFF"/>
                </a:solidFill>
                <a:latin typeface="Arial"/>
              </a:rPr>
              <a:t>PHASE 2   </a:t>
            </a:r>
            <a:r>
              <a:rPr sz="1200" b="0" i="0">
                <a:solidFill>
                  <a:srgbClr val="FFFFFF"/>
                </a:solidFill>
                <a:latin typeface="Arial"/>
              </a:rPr>
              <a:t>Months 5–7</a:t>
            </a:r>
          </a:p>
        </p:txBody>
      </p:sp>
      <p:sp>
        <p:nvSpPr>
          <p:cNvPr id="17" name="TextBox 16"/>
          <p:cNvSpPr txBox="1"/>
          <p:nvPr/>
        </p:nvSpPr>
        <p:spPr>
          <a:xfrm>
            <a:off x="5998464" y="2286000"/>
            <a:ext cx="2697480" cy="566928"/>
          </a:xfrm>
          <a:prstGeom prst="rect">
            <a:avLst/>
          </a:prstGeom>
          <a:noFill/>
        </p:spPr>
        <p:txBody>
          <a:bodyPr wrap="square" lIns="0" rIns="0" tIns="0" bIns="0" anchor="t">
            <a:noAutofit/>
          </a:bodyPr>
          <a:lstStyle/>
          <a:p>
            <a:pPr algn="l"/>
            <a:r>
              <a:rPr sz="1800" b="1" i="0">
                <a:solidFill>
                  <a:srgbClr val="FFFFFF"/>
                </a:solidFill>
                <a:latin typeface="Arial"/>
              </a:rPr>
              <a:t>Prove the multiplier</a:t>
            </a:r>
          </a:p>
        </p:txBody>
      </p:sp>
      <p:sp>
        <p:nvSpPr>
          <p:cNvPr id="18" name="TextBox 17"/>
          <p:cNvSpPr txBox="1"/>
          <p:nvPr/>
        </p:nvSpPr>
        <p:spPr>
          <a:xfrm>
            <a:off x="5998464" y="2907792"/>
            <a:ext cx="2697480" cy="1280160"/>
          </a:xfrm>
          <a:prstGeom prst="rect">
            <a:avLst/>
          </a:prstGeom>
          <a:noFill/>
        </p:spPr>
        <p:txBody>
          <a:bodyPr wrap="square" lIns="0" rIns="0" tIns="0" bIns="0" anchor="t">
            <a:noAutofit/>
          </a:bodyPr>
          <a:lstStyle/>
          <a:p>
            <a:pPr algn="l">
              <a:spcAft>
                <a:spcPts val="300"/>
              </a:spcAft>
            </a:pPr>
            <a:r>
              <a:rPr sz="900" b="0" i="0">
                <a:solidFill>
                  <a:srgbClr val="FFFFFF"/>
                </a:solidFill>
                <a:latin typeface="Arial"/>
              </a:rPr>
              <a:t>●  </a:t>
            </a:r>
            <a:r>
              <a:rPr sz="1300" b="0" i="0">
                <a:solidFill>
                  <a:srgbClr val="FFFFFF"/>
                </a:solidFill>
                <a:latin typeface="Arial"/>
              </a:rPr>
              <a:t>Connect an AI tool built by a different AIA team</a:t>
            </a:r>
          </a:p>
          <a:p>
            <a:pPr algn="l">
              <a:spcAft>
                <a:spcPts val="300"/>
              </a:spcAft>
            </a:pPr>
            <a:r>
              <a:rPr sz="900" b="0" i="0">
                <a:solidFill>
                  <a:srgbClr val="FFFFFF"/>
                </a:solidFill>
                <a:latin typeface="Arial"/>
              </a:rPr>
              <a:t>●  </a:t>
            </a:r>
            <a:r>
              <a:rPr sz="1300" b="0" i="0">
                <a:solidFill>
                  <a:srgbClr val="FFFFFF"/>
                </a:solidFill>
                <a:latin typeface="Arial"/>
              </a:rPr>
              <a:t>Extend to a second workflow or team</a:t>
            </a:r>
          </a:p>
        </p:txBody>
      </p:sp>
      <p:sp>
        <p:nvSpPr>
          <p:cNvPr id="19" name="Rounded Rectangle 18"/>
          <p:cNvSpPr/>
          <p:nvPr/>
        </p:nvSpPr>
        <p:spPr>
          <a:xfrm>
            <a:off x="9061704" y="1783080"/>
            <a:ext cx="2697480" cy="2468880"/>
          </a:xfrm>
          <a:prstGeom prst="roundRect">
            <a:avLst>
              <a:gd name="adj" fmla="val 5000"/>
            </a:avLst>
          </a:prstGeom>
          <a:solidFill>
            <a:srgbClr val="F4F2F0"/>
          </a:solidFill>
          <a:ln>
            <a:noFill/>
          </a:ln>
        </p:spPr>
        <p:txBody>
          <a:bodyPr rtlCol="0" anchor="ctr"/>
          <a:lstStyle/>
          <a:p/>
        </p:txBody>
      </p:sp>
      <p:sp>
        <p:nvSpPr>
          <p:cNvPr id="20" name="TextBox 19"/>
          <p:cNvSpPr txBox="1"/>
          <p:nvPr/>
        </p:nvSpPr>
        <p:spPr>
          <a:xfrm>
            <a:off x="9262872" y="1965960"/>
            <a:ext cx="2331720" cy="256032"/>
          </a:xfrm>
          <a:prstGeom prst="rect">
            <a:avLst/>
          </a:prstGeom>
          <a:noFill/>
        </p:spPr>
        <p:txBody>
          <a:bodyPr wrap="square" lIns="0" rIns="0" tIns="0" bIns="0" anchor="t">
            <a:noAutofit/>
          </a:bodyPr>
          <a:lstStyle/>
          <a:p>
            <a:pPr algn="l"/>
            <a:r>
              <a:rPr sz="1200" b="1" i="0">
                <a:solidFill>
                  <a:srgbClr val="5A6570"/>
                </a:solidFill>
                <a:latin typeface="Arial"/>
              </a:rPr>
              <a:t>PHASE 3   </a:t>
            </a:r>
            <a:r>
              <a:rPr sz="1200" b="0" i="0">
                <a:solidFill>
                  <a:srgbClr val="5A6570"/>
                </a:solidFill>
                <a:latin typeface="Arial"/>
              </a:rPr>
              <a:t>Months 8–12</a:t>
            </a:r>
          </a:p>
        </p:txBody>
      </p:sp>
      <p:sp>
        <p:nvSpPr>
          <p:cNvPr id="21" name="TextBox 20"/>
          <p:cNvSpPr txBox="1"/>
          <p:nvPr/>
        </p:nvSpPr>
        <p:spPr>
          <a:xfrm>
            <a:off x="9262872" y="2240279"/>
            <a:ext cx="2331720" cy="566928"/>
          </a:xfrm>
          <a:prstGeom prst="rect">
            <a:avLst/>
          </a:prstGeom>
          <a:noFill/>
        </p:spPr>
        <p:txBody>
          <a:bodyPr wrap="square" lIns="0" rIns="0" tIns="0" bIns="0" anchor="t">
            <a:noAutofit/>
          </a:bodyPr>
          <a:lstStyle/>
          <a:p>
            <a:pPr algn="l"/>
            <a:r>
              <a:rPr sz="1800" b="1" i="0">
                <a:solidFill>
                  <a:srgbClr val="333D47"/>
                </a:solidFill>
                <a:latin typeface="Arial"/>
              </a:rPr>
              <a:t>Scale toward the vision</a:t>
            </a:r>
          </a:p>
        </p:txBody>
      </p:sp>
      <p:sp>
        <p:nvSpPr>
          <p:cNvPr id="22" name="TextBox 21"/>
          <p:cNvSpPr txBox="1"/>
          <p:nvPr/>
        </p:nvSpPr>
        <p:spPr>
          <a:xfrm>
            <a:off x="9262872" y="2862072"/>
            <a:ext cx="2331720" cy="1280160"/>
          </a:xfrm>
          <a:prstGeom prst="rect">
            <a:avLst/>
          </a:prstGeom>
          <a:noFill/>
        </p:spPr>
        <p:txBody>
          <a:bodyPr wrap="square" lIns="0" rIns="0" tIns="0" bIns="0" anchor="t">
            <a:noAutofit/>
          </a:bodyPr>
          <a:lstStyle/>
          <a:p>
            <a:pPr algn="l">
              <a:spcAft>
                <a:spcPts val="300"/>
              </a:spcAft>
            </a:pPr>
            <a:r>
              <a:rPr sz="900" b="0" i="0">
                <a:solidFill>
                  <a:srgbClr val="D31145"/>
                </a:solidFill>
                <a:latin typeface="Arial"/>
              </a:rPr>
              <a:t>●  </a:t>
            </a:r>
            <a:r>
              <a:rPr sz="1300" b="0" i="0">
                <a:solidFill>
                  <a:srgbClr val="333D47"/>
                </a:solidFill>
                <a:latin typeface="Arial"/>
              </a:rPr>
              <a:t>More teams and connected capabilities</a:t>
            </a:r>
          </a:p>
          <a:p>
            <a:pPr algn="l">
              <a:spcAft>
                <a:spcPts val="300"/>
              </a:spcAft>
            </a:pPr>
            <a:r>
              <a:rPr sz="900" b="0" i="0">
                <a:solidFill>
                  <a:srgbClr val="D31145"/>
                </a:solidFill>
                <a:latin typeface="Arial"/>
              </a:rPr>
              <a:t>●  </a:t>
            </a:r>
            <a:r>
              <a:rPr sz="1300" b="0" i="0">
                <a:solidFill>
                  <a:srgbClr val="333D47"/>
                </a:solidFill>
                <a:latin typeface="Arial"/>
              </a:rPr>
              <a:t>Replace the scenario with measured projections</a:t>
            </a:r>
          </a:p>
        </p:txBody>
      </p:sp>
      <p:cxnSp>
        <p:nvCxnSpPr>
          <p:cNvPr id="23" name="Connector 22"/>
          <p:cNvCxnSpPr/>
          <p:nvPr/>
        </p:nvCxnSpPr>
        <p:spPr>
          <a:xfrm>
            <a:off x="457200" y="4507992"/>
            <a:ext cx="11292840" cy="0"/>
          </a:xfrm>
          <a:prstGeom prst="line">
            <a:avLst/>
          </a:prstGeom>
          <a:ln w="15875">
            <a:solidFill>
              <a:srgbClr val="8A939B"/>
            </a:solidFill>
          </a:ln>
        </p:spPr>
        <p:style>
          <a:lnRef idx="2">
            <a:schemeClr val="accent1"/>
          </a:lnRef>
          <a:fillRef idx="0">
            <a:schemeClr val="accent1"/>
          </a:fillRef>
          <a:effectRef idx="1">
            <a:schemeClr val="accent1"/>
          </a:effectRef>
          <a:fontRef idx="minor">
            <a:schemeClr val="tx1"/>
          </a:fontRef>
        </p:style>
      </p:cxnSp>
      <p:sp>
        <p:nvSpPr>
          <p:cNvPr id="24" name="Diamond 23"/>
          <p:cNvSpPr/>
          <p:nvPr/>
        </p:nvSpPr>
        <p:spPr>
          <a:xfrm>
            <a:off x="5513832" y="4325112"/>
            <a:ext cx="365760" cy="365760"/>
          </a:xfrm>
          <a:prstGeom prst="diamond">
            <a:avLst/>
          </a:prstGeom>
          <a:solidFill>
            <a:srgbClr val="D31145"/>
          </a:solidFill>
          <a:ln w="25400">
            <a:solidFill>
              <a:srgbClr val="FFFFFF"/>
            </a:solidFill>
          </a:ln>
        </p:spPr>
        <p:txBody>
          <a:bodyPr rtlCol="0" anchor="ctr"/>
          <a:lstStyle/>
          <a:p/>
        </p:txBody>
      </p:sp>
      <p:sp>
        <p:nvSpPr>
          <p:cNvPr id="25" name="TextBox 24"/>
          <p:cNvSpPr txBox="1"/>
          <p:nvPr/>
        </p:nvSpPr>
        <p:spPr>
          <a:xfrm>
            <a:off x="4187952" y="4754880"/>
            <a:ext cx="3017520" cy="960120"/>
          </a:xfrm>
          <a:prstGeom prst="rect">
            <a:avLst/>
          </a:prstGeom>
          <a:noFill/>
        </p:spPr>
        <p:txBody>
          <a:bodyPr wrap="square" lIns="0" rIns="0" tIns="0" bIns="0" anchor="t">
            <a:noAutofit/>
          </a:bodyPr>
          <a:lstStyle/>
          <a:p>
            <a:pPr algn="ctr">
              <a:spcAft>
                <a:spcPts val="200"/>
              </a:spcAft>
            </a:pPr>
            <a:r>
              <a:rPr sz="1300" b="1" i="0">
                <a:solidFill>
                  <a:srgbClr val="D31145"/>
                </a:solidFill>
                <a:latin typeface="Arial"/>
              </a:rPr>
              <a:t>GO / NO-GO 1</a:t>
            </a:r>
          </a:p>
          <a:p>
            <a:pPr algn="ctr"/>
            <a:r>
              <a:rPr sz="1300" b="0" i="0">
                <a:solidFill>
                  <a:srgbClr val="333D47"/>
                </a:solidFill>
                <a:latin typeface="Arial"/>
              </a:rPr>
              <a:t>Proceed only if employee effort is reduced, quality is maintained or improved, and usage is sustained.</a:t>
            </a:r>
          </a:p>
        </p:txBody>
      </p:sp>
      <p:sp>
        <p:nvSpPr>
          <p:cNvPr id="26" name="Diamond 25"/>
          <p:cNvSpPr/>
          <p:nvPr/>
        </p:nvSpPr>
        <p:spPr>
          <a:xfrm>
            <a:off x="8778240" y="4325112"/>
            <a:ext cx="365760" cy="365760"/>
          </a:xfrm>
          <a:prstGeom prst="diamond">
            <a:avLst/>
          </a:prstGeom>
          <a:solidFill>
            <a:srgbClr val="D31145"/>
          </a:solidFill>
          <a:ln w="25400">
            <a:solidFill>
              <a:srgbClr val="FFFFFF"/>
            </a:solidFill>
          </a:ln>
        </p:spPr>
        <p:txBody>
          <a:bodyPr rtlCol="0" anchor="ctr"/>
          <a:lstStyle/>
          <a:p/>
        </p:txBody>
      </p:sp>
      <p:sp>
        <p:nvSpPr>
          <p:cNvPr id="27" name="TextBox 26"/>
          <p:cNvSpPr txBox="1"/>
          <p:nvPr/>
        </p:nvSpPr>
        <p:spPr>
          <a:xfrm>
            <a:off x="7452360" y="4754880"/>
            <a:ext cx="3017520" cy="960120"/>
          </a:xfrm>
          <a:prstGeom prst="rect">
            <a:avLst/>
          </a:prstGeom>
          <a:noFill/>
        </p:spPr>
        <p:txBody>
          <a:bodyPr wrap="square" lIns="0" rIns="0" tIns="0" bIns="0" anchor="t">
            <a:noAutofit/>
          </a:bodyPr>
          <a:lstStyle/>
          <a:p>
            <a:pPr algn="ctr">
              <a:spcAft>
                <a:spcPts val="200"/>
              </a:spcAft>
            </a:pPr>
            <a:r>
              <a:rPr sz="1300" b="1" i="0">
                <a:solidFill>
                  <a:srgbClr val="D31145"/>
                </a:solidFill>
                <a:latin typeface="Arial"/>
              </a:rPr>
              <a:t>GO / NO-GO 2</a:t>
            </a:r>
          </a:p>
          <a:p>
            <a:pPr algn="ctr"/>
            <a:r>
              <a:rPr sz="1300" b="0" i="0">
                <a:solidFill>
                  <a:srgbClr val="333D47"/>
                </a:solidFill>
                <a:latin typeface="Arial"/>
              </a:rPr>
              <a:t>Proceed only if the new capability works through Riley with no new tool, and results hold across both workflows.</a:t>
            </a:r>
          </a:p>
        </p:txBody>
      </p:sp>
      <p:sp>
        <p:nvSpPr>
          <p:cNvPr id="28" name="TextBox 27"/>
          <p:cNvSpPr txBox="1"/>
          <p:nvPr/>
        </p:nvSpPr>
        <p:spPr>
          <a:xfrm>
            <a:off x="457200" y="4754880"/>
            <a:ext cx="3566160" cy="960120"/>
          </a:xfrm>
          <a:prstGeom prst="rect">
            <a:avLst/>
          </a:prstGeom>
          <a:noFill/>
        </p:spPr>
        <p:txBody>
          <a:bodyPr wrap="square" lIns="0" rIns="0" tIns="0" bIns="0" anchor="t">
            <a:noAutofit/>
          </a:bodyPr>
          <a:lstStyle/>
          <a:p>
            <a:pPr algn="l">
              <a:spcAft>
                <a:spcPts val="400"/>
              </a:spcAft>
            </a:pPr>
            <a:r>
              <a:rPr sz="1700" b="1" i="0">
                <a:solidFill>
                  <a:srgbClr val="333D47"/>
                </a:solidFill>
                <a:latin typeface="Arial"/>
              </a:rPr>
              <a:t>Evidence decides every step.</a:t>
            </a:r>
          </a:p>
          <a:p>
            <a:pPr algn="l"/>
            <a:r>
              <a:rPr sz="1300" b="0" i="0">
                <a:solidFill>
                  <a:srgbClr val="5A6570"/>
                </a:solidFill>
                <a:latin typeface="Arial"/>
              </a:rPr>
              <a:t>Each phase must show results before the next begins.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1" sz="quarter"/>
          </p:nvPr>
        </p:nvSpPr>
        <p:spPr>
          <a:xfrm>
            <a:off x="356616" y="1188720"/>
            <a:ext cx="5943600" cy="731520"/>
          </a:xfrm>
        </p:spPr>
        <p:txBody>
          <a:bodyPr wrap="square" tIns="91440" bIns="91440" anchor="t">
            <a:noAutofit/>
          </a:bodyPr>
          <a:lstStyle/>
          <a:p>
            <a:pPr algn="l"/>
            <a:r>
              <a:rPr sz="4800" b="1" i="0">
                <a:solidFill>
                  <a:srgbClr val="FFFFFF"/>
                </a:solidFill>
                <a:latin typeface="Arial"/>
              </a:rPr>
              <a:t>The ask</a:t>
            </a:r>
          </a:p>
        </p:txBody>
      </p:sp>
      <p:sp>
        <p:nvSpPr>
          <p:cNvPr id="4" name="TextBox 3"/>
          <p:cNvSpPr txBox="1"/>
          <p:nvPr/>
        </p:nvSpPr>
        <p:spPr>
          <a:xfrm>
            <a:off x="448056" y="1938528"/>
            <a:ext cx="5760720" cy="777240"/>
          </a:xfrm>
          <a:prstGeom prst="rect">
            <a:avLst/>
          </a:prstGeom>
          <a:noFill/>
        </p:spPr>
        <p:txBody>
          <a:bodyPr wrap="square" lIns="0" rIns="0" tIns="0" bIns="0" anchor="t">
            <a:noAutofit/>
          </a:bodyPr>
          <a:lstStyle/>
          <a:p>
            <a:pPr algn="l"/>
            <a:r>
              <a:rPr sz="2200" b="1" i="0">
                <a:solidFill>
                  <a:srgbClr val="FFFFFF"/>
                </a:solidFill>
                <a:latin typeface="Arial"/>
              </a:rPr>
              <a:t>Seed funding for Phase 1, and one pilot team to prove Riley works.</a:t>
            </a:r>
          </a:p>
        </p:txBody>
      </p:sp>
      <p:sp>
        <p:nvSpPr>
          <p:cNvPr id="5" name="Oval 4"/>
          <p:cNvSpPr/>
          <p:nvPr/>
        </p:nvSpPr>
        <p:spPr>
          <a:xfrm>
            <a:off x="448056" y="2880360"/>
            <a:ext cx="347472" cy="347472"/>
          </a:xfrm>
          <a:prstGeom prst="ellipse">
            <a:avLst/>
          </a:prstGeom>
          <a:solidFill>
            <a:srgbClr val="FFFFFF"/>
          </a:solidFill>
          <a:ln>
            <a:noFill/>
          </a:ln>
        </p:spPr>
        <p:txBody>
          <a:bodyPr rtlCol="0" anchor="ctr"/>
          <a:lstStyle/>
          <a:p/>
        </p:txBody>
      </p:sp>
      <p:sp>
        <p:nvSpPr>
          <p:cNvPr id="6" name="TextBox 5"/>
          <p:cNvSpPr txBox="1"/>
          <p:nvPr/>
        </p:nvSpPr>
        <p:spPr>
          <a:xfrm>
            <a:off x="448056" y="2880360"/>
            <a:ext cx="347472" cy="347472"/>
          </a:xfrm>
          <a:prstGeom prst="rect">
            <a:avLst/>
          </a:prstGeom>
          <a:noFill/>
        </p:spPr>
        <p:txBody>
          <a:bodyPr wrap="square" lIns="0" rIns="0" tIns="0" bIns="0" anchor="ctr">
            <a:noAutofit/>
          </a:bodyPr>
          <a:lstStyle/>
          <a:p>
            <a:pPr algn="ctr"/>
            <a:r>
              <a:rPr sz="1400" b="1" i="0">
                <a:solidFill>
                  <a:srgbClr val="D31145"/>
                </a:solidFill>
                <a:latin typeface="Arial"/>
              </a:rPr>
              <a:t>1</a:t>
            </a:r>
          </a:p>
        </p:txBody>
      </p:sp>
      <p:sp>
        <p:nvSpPr>
          <p:cNvPr id="7" name="TextBox 6"/>
          <p:cNvSpPr txBox="1"/>
          <p:nvPr/>
        </p:nvSpPr>
        <p:spPr>
          <a:xfrm>
            <a:off x="960120" y="2862072"/>
            <a:ext cx="5303520" cy="384048"/>
          </a:xfrm>
          <a:prstGeom prst="rect">
            <a:avLst/>
          </a:prstGeom>
          <a:noFill/>
        </p:spPr>
        <p:txBody>
          <a:bodyPr wrap="square" lIns="0" rIns="0" tIns="0" bIns="0" anchor="ctr">
            <a:noAutofit/>
          </a:bodyPr>
          <a:lstStyle/>
          <a:p>
            <a:pPr algn="l"/>
            <a:r>
              <a:rPr sz="1700" b="1" i="0">
                <a:solidFill>
                  <a:srgbClr val="FFFFFF"/>
                </a:solidFill>
                <a:latin typeface="Arial"/>
              </a:rPr>
              <a:t>Select a pilot team and first workflow</a:t>
            </a:r>
          </a:p>
        </p:txBody>
      </p:sp>
      <p:sp>
        <p:nvSpPr>
          <p:cNvPr id="8" name="Oval 7"/>
          <p:cNvSpPr/>
          <p:nvPr/>
        </p:nvSpPr>
        <p:spPr>
          <a:xfrm>
            <a:off x="448056" y="3337560"/>
            <a:ext cx="347472" cy="347472"/>
          </a:xfrm>
          <a:prstGeom prst="ellipse">
            <a:avLst/>
          </a:prstGeom>
          <a:solidFill>
            <a:srgbClr val="FFFFFF"/>
          </a:solidFill>
          <a:ln>
            <a:noFill/>
          </a:ln>
        </p:spPr>
        <p:txBody>
          <a:bodyPr rtlCol="0" anchor="ctr"/>
          <a:lstStyle/>
          <a:p/>
        </p:txBody>
      </p:sp>
      <p:sp>
        <p:nvSpPr>
          <p:cNvPr id="9" name="TextBox 8"/>
          <p:cNvSpPr txBox="1"/>
          <p:nvPr/>
        </p:nvSpPr>
        <p:spPr>
          <a:xfrm>
            <a:off x="448056" y="3337560"/>
            <a:ext cx="347472" cy="347472"/>
          </a:xfrm>
          <a:prstGeom prst="rect">
            <a:avLst/>
          </a:prstGeom>
          <a:noFill/>
        </p:spPr>
        <p:txBody>
          <a:bodyPr wrap="square" lIns="0" rIns="0" tIns="0" bIns="0" anchor="ctr">
            <a:noAutofit/>
          </a:bodyPr>
          <a:lstStyle/>
          <a:p>
            <a:pPr algn="ctr"/>
            <a:r>
              <a:rPr sz="1400" b="1" i="0">
                <a:solidFill>
                  <a:srgbClr val="D31145"/>
                </a:solidFill>
                <a:latin typeface="Arial"/>
              </a:rPr>
              <a:t>2</a:t>
            </a:r>
          </a:p>
        </p:txBody>
      </p:sp>
      <p:sp>
        <p:nvSpPr>
          <p:cNvPr id="10" name="TextBox 9"/>
          <p:cNvSpPr txBox="1"/>
          <p:nvPr/>
        </p:nvSpPr>
        <p:spPr>
          <a:xfrm>
            <a:off x="960120" y="3319272"/>
            <a:ext cx="5303520" cy="384048"/>
          </a:xfrm>
          <a:prstGeom prst="rect">
            <a:avLst/>
          </a:prstGeom>
          <a:noFill/>
        </p:spPr>
        <p:txBody>
          <a:bodyPr wrap="square" lIns="0" rIns="0" tIns="0" bIns="0" anchor="ctr">
            <a:noAutofit/>
          </a:bodyPr>
          <a:lstStyle/>
          <a:p>
            <a:pPr algn="l"/>
            <a:r>
              <a:rPr sz="1700" b="1" i="0">
                <a:solidFill>
                  <a:srgbClr val="FFFFFF"/>
                </a:solidFill>
                <a:latin typeface="Arial"/>
              </a:rPr>
              <a:t>Fund Phase 1</a:t>
            </a:r>
          </a:p>
        </p:txBody>
      </p:sp>
      <p:sp>
        <p:nvSpPr>
          <p:cNvPr id="11" name="Oval 10"/>
          <p:cNvSpPr/>
          <p:nvPr/>
        </p:nvSpPr>
        <p:spPr>
          <a:xfrm>
            <a:off x="448056" y="3794760"/>
            <a:ext cx="347472" cy="347472"/>
          </a:xfrm>
          <a:prstGeom prst="ellipse">
            <a:avLst/>
          </a:prstGeom>
          <a:solidFill>
            <a:srgbClr val="FFFFFF"/>
          </a:solidFill>
          <a:ln>
            <a:noFill/>
          </a:ln>
        </p:spPr>
        <p:txBody>
          <a:bodyPr rtlCol="0" anchor="ctr"/>
          <a:lstStyle/>
          <a:p/>
        </p:txBody>
      </p:sp>
      <p:sp>
        <p:nvSpPr>
          <p:cNvPr id="12" name="TextBox 11"/>
          <p:cNvSpPr txBox="1"/>
          <p:nvPr/>
        </p:nvSpPr>
        <p:spPr>
          <a:xfrm>
            <a:off x="448056" y="3794760"/>
            <a:ext cx="347472" cy="347472"/>
          </a:xfrm>
          <a:prstGeom prst="rect">
            <a:avLst/>
          </a:prstGeom>
          <a:noFill/>
        </p:spPr>
        <p:txBody>
          <a:bodyPr wrap="square" lIns="0" rIns="0" tIns="0" bIns="0" anchor="ctr">
            <a:noAutofit/>
          </a:bodyPr>
          <a:lstStyle/>
          <a:p>
            <a:pPr algn="ctr"/>
            <a:r>
              <a:rPr sz="1400" b="1" i="0">
                <a:solidFill>
                  <a:srgbClr val="D31145"/>
                </a:solidFill>
                <a:latin typeface="Arial"/>
              </a:rPr>
              <a:t>3</a:t>
            </a:r>
          </a:p>
        </p:txBody>
      </p:sp>
      <p:sp>
        <p:nvSpPr>
          <p:cNvPr id="13" name="TextBox 12"/>
          <p:cNvSpPr txBox="1"/>
          <p:nvPr/>
        </p:nvSpPr>
        <p:spPr>
          <a:xfrm>
            <a:off x="960120" y="3776472"/>
            <a:ext cx="5303520" cy="384048"/>
          </a:xfrm>
          <a:prstGeom prst="rect">
            <a:avLst/>
          </a:prstGeom>
          <a:noFill/>
        </p:spPr>
        <p:txBody>
          <a:bodyPr wrap="square" lIns="0" rIns="0" tIns="0" bIns="0" anchor="ctr">
            <a:noAutofit/>
          </a:bodyPr>
          <a:lstStyle/>
          <a:p>
            <a:pPr algn="l"/>
            <a:r>
              <a:rPr sz="1700" b="1" i="0">
                <a:solidFill>
                  <a:srgbClr val="FFFFFF"/>
                </a:solidFill>
                <a:latin typeface="Arial"/>
              </a:rPr>
              <a:t>Build and test the first workflow</a:t>
            </a:r>
          </a:p>
        </p:txBody>
      </p:sp>
      <p:sp>
        <p:nvSpPr>
          <p:cNvPr id="14" name="Oval 13"/>
          <p:cNvSpPr/>
          <p:nvPr/>
        </p:nvSpPr>
        <p:spPr>
          <a:xfrm>
            <a:off x="448056" y="4251960"/>
            <a:ext cx="347472" cy="347472"/>
          </a:xfrm>
          <a:prstGeom prst="ellipse">
            <a:avLst/>
          </a:prstGeom>
          <a:solidFill>
            <a:srgbClr val="FFFFFF"/>
          </a:solidFill>
          <a:ln>
            <a:noFill/>
          </a:ln>
        </p:spPr>
        <p:txBody>
          <a:bodyPr rtlCol="0" anchor="ctr"/>
          <a:lstStyle/>
          <a:p/>
        </p:txBody>
      </p:sp>
      <p:sp>
        <p:nvSpPr>
          <p:cNvPr id="15" name="TextBox 14"/>
          <p:cNvSpPr txBox="1"/>
          <p:nvPr/>
        </p:nvSpPr>
        <p:spPr>
          <a:xfrm>
            <a:off x="448056" y="4251960"/>
            <a:ext cx="347472" cy="347472"/>
          </a:xfrm>
          <a:prstGeom prst="rect">
            <a:avLst/>
          </a:prstGeom>
          <a:noFill/>
        </p:spPr>
        <p:txBody>
          <a:bodyPr wrap="square" lIns="0" rIns="0" tIns="0" bIns="0" anchor="ctr">
            <a:noAutofit/>
          </a:bodyPr>
          <a:lstStyle/>
          <a:p>
            <a:pPr algn="ctr"/>
            <a:r>
              <a:rPr sz="1400" b="1" i="0">
                <a:solidFill>
                  <a:srgbClr val="D31145"/>
                </a:solidFill>
                <a:latin typeface="Arial"/>
              </a:rPr>
              <a:t>4</a:t>
            </a:r>
          </a:p>
        </p:txBody>
      </p:sp>
      <p:sp>
        <p:nvSpPr>
          <p:cNvPr id="16" name="TextBox 15"/>
          <p:cNvSpPr txBox="1"/>
          <p:nvPr/>
        </p:nvSpPr>
        <p:spPr>
          <a:xfrm>
            <a:off x="960120" y="4233672"/>
            <a:ext cx="5303520" cy="384048"/>
          </a:xfrm>
          <a:prstGeom prst="rect">
            <a:avLst/>
          </a:prstGeom>
          <a:noFill/>
        </p:spPr>
        <p:txBody>
          <a:bodyPr wrap="square" lIns="0" rIns="0" tIns="0" bIns="0" anchor="ctr">
            <a:noAutofit/>
          </a:bodyPr>
          <a:lstStyle/>
          <a:p>
            <a:pPr algn="l"/>
            <a:r>
              <a:rPr sz="1700" b="1" i="0">
                <a:solidFill>
                  <a:srgbClr val="FFFFFF"/>
                </a:solidFill>
                <a:latin typeface="Arial"/>
              </a:rPr>
              <a:t>Measure the result against the baseline</a:t>
            </a:r>
          </a:p>
        </p:txBody>
      </p:sp>
      <p:sp>
        <p:nvSpPr>
          <p:cNvPr id="17" name="Oval 16"/>
          <p:cNvSpPr/>
          <p:nvPr/>
        </p:nvSpPr>
        <p:spPr>
          <a:xfrm>
            <a:off x="448056" y="4709160"/>
            <a:ext cx="347472" cy="347472"/>
          </a:xfrm>
          <a:prstGeom prst="ellipse">
            <a:avLst/>
          </a:prstGeom>
          <a:solidFill>
            <a:srgbClr val="FFFFFF"/>
          </a:solidFill>
          <a:ln>
            <a:noFill/>
          </a:ln>
        </p:spPr>
        <p:txBody>
          <a:bodyPr rtlCol="0" anchor="ctr"/>
          <a:lstStyle/>
          <a:p/>
        </p:txBody>
      </p:sp>
      <p:sp>
        <p:nvSpPr>
          <p:cNvPr id="18" name="TextBox 17"/>
          <p:cNvSpPr txBox="1"/>
          <p:nvPr/>
        </p:nvSpPr>
        <p:spPr>
          <a:xfrm>
            <a:off x="448056" y="4709160"/>
            <a:ext cx="347472" cy="347472"/>
          </a:xfrm>
          <a:prstGeom prst="rect">
            <a:avLst/>
          </a:prstGeom>
          <a:noFill/>
        </p:spPr>
        <p:txBody>
          <a:bodyPr wrap="square" lIns="0" rIns="0" tIns="0" bIns="0" anchor="ctr">
            <a:noAutofit/>
          </a:bodyPr>
          <a:lstStyle/>
          <a:p>
            <a:pPr algn="ctr"/>
            <a:r>
              <a:rPr sz="1400" b="1" i="0">
                <a:solidFill>
                  <a:srgbClr val="D31145"/>
                </a:solidFill>
                <a:latin typeface="Arial"/>
              </a:rPr>
              <a:t>5</a:t>
            </a:r>
          </a:p>
        </p:txBody>
      </p:sp>
      <p:sp>
        <p:nvSpPr>
          <p:cNvPr id="19" name="TextBox 18"/>
          <p:cNvSpPr txBox="1"/>
          <p:nvPr/>
        </p:nvSpPr>
        <p:spPr>
          <a:xfrm>
            <a:off x="960120" y="4690872"/>
            <a:ext cx="5303520" cy="384048"/>
          </a:xfrm>
          <a:prstGeom prst="rect">
            <a:avLst/>
          </a:prstGeom>
          <a:noFill/>
        </p:spPr>
        <p:txBody>
          <a:bodyPr wrap="square" lIns="0" rIns="0" tIns="0" bIns="0" anchor="ctr">
            <a:noAutofit/>
          </a:bodyPr>
          <a:lstStyle/>
          <a:p>
            <a:pPr algn="l"/>
            <a:r>
              <a:rPr sz="1700" b="1" i="0">
                <a:solidFill>
                  <a:srgbClr val="FFFFFF"/>
                </a:solidFill>
                <a:latin typeface="Arial"/>
              </a:rPr>
              <a:t>Prove the multiplier in Phase 2</a:t>
            </a:r>
          </a:p>
        </p:txBody>
      </p:sp>
      <p:sp>
        <p:nvSpPr>
          <p:cNvPr id="20" name="TextBox 19"/>
          <p:cNvSpPr txBox="1"/>
          <p:nvPr/>
        </p:nvSpPr>
        <p:spPr>
          <a:xfrm>
            <a:off x="448056" y="5230368"/>
            <a:ext cx="5760720" cy="502920"/>
          </a:xfrm>
          <a:prstGeom prst="rect">
            <a:avLst/>
          </a:prstGeom>
          <a:noFill/>
        </p:spPr>
        <p:txBody>
          <a:bodyPr wrap="square" lIns="0" rIns="0" tIns="0" bIns="0" anchor="t">
            <a:noAutofit/>
          </a:bodyPr>
          <a:lstStyle/>
          <a:p>
            <a:pPr algn="l"/>
            <a:r>
              <a:rPr sz="1200" b="0" i="0">
                <a:solidFill>
                  <a:srgbClr val="FFFFFF"/>
                </a:solidFill>
                <a:latin typeface="Arial"/>
              </a:rPr>
              <a:t>Phase 1 estimate: ~US$20,000–60,000 incremental. A preliminary planning figure, to be scoped with IT and Finance in Phase 0.</a:t>
            </a:r>
          </a:p>
        </p:txBody>
      </p:sp>
    </p:spTree>
  </p:cSld>
  <p:clrMapOvr>
    <a:masterClrMapping/>
  </p:clrMapOvr>
</p:sld>
</file>

<file path=ppt/theme/theme1.xml><?xml version="1.0" encoding="utf-8"?>
<a:theme xmlns:a="http://schemas.openxmlformats.org/drawingml/2006/main" name="AIA_2020">
  <a:themeElements>
    <a:clrScheme name="AIA_2020">
      <a:dk1>
        <a:srgbClr val="303D48"/>
      </a:dk1>
      <a:lt1>
        <a:srgbClr val="FFFFFF"/>
      </a:lt1>
      <a:dk2>
        <a:srgbClr val="1F78AD"/>
      </a:dk2>
      <a:lt2>
        <a:srgbClr val="D3CAC3"/>
      </a:lt2>
      <a:accent1>
        <a:srgbClr val="D31145"/>
      </a:accent1>
      <a:accent2>
        <a:srgbClr val="BA0361"/>
      </a:accent2>
      <a:accent3>
        <a:srgbClr val="FF754D"/>
      </a:accent3>
      <a:accent4>
        <a:srgbClr val="F7C926"/>
      </a:accent4>
      <a:accent5>
        <a:srgbClr val="A199BA"/>
      </a:accent5>
      <a:accent6>
        <a:srgbClr val="4C4793"/>
      </a:accent6>
      <a:hlink>
        <a:srgbClr val="4C4793"/>
      </a:hlink>
      <a:folHlink>
        <a:srgbClr val="084563"/>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defRPr dirty="0" err="1" smtClean="0">
            <a:latin typeface="Arial" panose="020B0604020202020204" pitchFamily="34" charset="0"/>
            <a:cs typeface="Arial" panose="020B0604020202020204" pitchFamily="34" charset="0"/>
          </a:defRPr>
        </a:defPPr>
      </a:lstStyle>
    </a:txDef>
  </a:objectDefaults>
  <a:extraClrSchemeLst/>
  <a:extLst>
    <a:ext uri="{05A4C25C-085E-4340-85A3-A5531E510DB2}">
      <thm15:themeFamily xmlns:thm15="http://schemas.microsoft.com/office/thememl/2012/main" name="AIA_PPT_Template_2018_16x9_V3.1" id="{C24C495E-28EC-4C06-8757-BE4D80E4F71D}" vid="{3469129E-3778-43A8-9BE1-B54836CD943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1521</TotalTime>
  <Words>1</Words>
  <Application>Microsoft Office PowerPoint</Application>
  <PresentationFormat>Widescreen</PresentationFormat>
  <Paragraphs>1</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Arial</vt:lpstr>
      <vt:lpstr>Calibri</vt:lpstr>
      <vt:lpstr>AIA_2020</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Wang, Harry-CC</dc:creator>
  <cp:lastModifiedBy>Wang, Harry-CC</cp:lastModifiedBy>
  <cp:revision>4</cp:revision>
  <cp:lastPrinted>2020-05-18T12:18:52Z</cp:lastPrinted>
  <dcterms:created xsi:type="dcterms:W3CDTF">2026-09-21T01:03:41Z</dcterms:created>
  <dcterms:modified xsi:type="dcterms:W3CDTF">2026-09-23T02:34:05Z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1b32ef-ed69-48a4-80a7-c96eee60b7ed_Enabled">
    <vt:lpwstr>true</vt:lpwstr>
  </property>
  <property fmtid="{D5CDD505-2E9C-101B-9397-08002B2CF9AE}" pid="3" name="MSIP_Label_891b32ef-ed69-48a4-80a7-c96eee60b7ed_SetDate">
    <vt:lpwstr>2026-09-21T01:43:46Z</vt:lpwstr>
  </property>
  <property fmtid="{D5CDD505-2E9C-101B-9397-08002B2CF9AE}" pid="4" name="MSIP_Label_891b32ef-ed69-48a4-80a7-c96eee60b7ed_Method">
    <vt:lpwstr>Privileged</vt:lpwstr>
  </property>
  <property fmtid="{D5CDD505-2E9C-101B-9397-08002B2CF9AE}" pid="5" name="MSIP_Label_891b32ef-ed69-48a4-80a7-c96eee60b7ed_Name">
    <vt:lpwstr>891b32ef-ed69-48a4-80a7-c96eee60b7ed</vt:lpwstr>
  </property>
  <property fmtid="{D5CDD505-2E9C-101B-9397-08002B2CF9AE}" pid="6" name="MSIP_Label_891b32ef-ed69-48a4-80a7-c96eee60b7ed_SiteId">
    <vt:lpwstr>7f2c1900-9fd4-4b89-91d3-79a649996f0a</vt:lpwstr>
  </property>
  <property fmtid="{D5CDD505-2E9C-101B-9397-08002B2CF9AE}" pid="7" name="MSIP_Label_891b32ef-ed69-48a4-80a7-c96eee60b7ed_ActionId">
    <vt:lpwstr>90345cdd-399e-49a9-970c-b0d82dbcf4a1</vt:lpwstr>
  </property>
  <property fmtid="{D5CDD505-2E9C-101B-9397-08002B2CF9AE}" pid="8" name="MSIP_Label_891b32ef-ed69-48a4-80a7-c96eee60b7ed_ContentBits">
    <vt:lpwstr>2</vt:lpwstr>
  </property>
  <property fmtid="{D5CDD505-2E9C-101B-9397-08002B2CF9AE}" pid="9" name="MSIP_Label_891b32ef-ed69-48a4-80a7-c96eee60b7ed_Tag">
    <vt:lpwstr>10, 0, 1, 1</vt:lpwstr>
  </property>
  <property fmtid="{D5CDD505-2E9C-101B-9397-08002B2CF9AE}" pid="10" name="ClassificationContentMarkingFooterLocations">
    <vt:lpwstr>AIA_2020:2</vt:lpwstr>
  </property>
  <property fmtid="{D5CDD505-2E9C-101B-9397-08002B2CF9AE}" pid="11" name="ClassificationContentMarkingFooterText">
    <vt:lpwstr>[AIA – PUBLIC]</vt:lpwstr>
  </property>
</Properties>
</file>