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AIA's virtual coworker in Microsoft Teams. Employees describe the outcome they need; Riley coordinates AIA's data, systems and AI capabilities to complete much of the work; the employee reviews and approves. The whole pitch is one idea: today the employee is the connector - Riley becomes the connector.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logic: AIA will keep building and adopting AI capabilities. Without a common layer, every new tool is one more thing for employees to find, learn and stitch together. So AIA needs one employee-facing coworker layer. Riley is that layer. The fragmentation point is an observation from inside AIA, not a measured count.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 each tool is valuable, but the employee has to find, learn, switch and combine them. Right: Riley becomes the one connector; every capability is reached through one conversation. Context if asked: McKinsey Global Institute (2012) found interaction workers spend nearly 20% of the workweek looking for internal information or tracking down colleagues.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conversation in Microsoft Teams. The complaints workflow is a candidate first pilot, not the definition of Riley. Riley may plan and carry out intermediate steps itself, but the employee reviews and approves before anything is finalized, sent to anyone, or entered into a business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forecast. 1,000 is a scenario size - not a pilot population and not an AIA employee count. 1 hour is not yet proven; the pilot exists to test whether it is achievable. Why 1 hour is modest: it is 2.5% of a 40-hour week, about one-eighth of the nearly 20% of the week McKinsey (2012) found knowledge workers spend looking for internal information or tracking down colleagues. The value is released capacity for higher-value work - Double Employee Value. The annual figure (about 50,000 hours) is the same scenario over 50 working weeks, not a forecast.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measures on the real Phase 1 team against a Phase 0 baseline: active employee effort per task, end-to-end completion time, output quality (rated by the employee and confirmed by periodic independent sample reviews from a business reviewer or subject-matter expert), rework rate, manual steps and systems touched, and adoption and repeat use. Phase 2 is the core test: connect another AIA team's AI capability or add a second workflow, with no new tool for employees. In Phase 3 the illustrative scenario is replaced with a measured projection.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does not compete with Copilot. Copilot Studio, another enterprise agent platform, or future technology could be the engine - a build decision, not the innovation. A generic platform does not arrive knowing AIA. Riley is the AIA-specific coworker layer connecting AIA data, systems, AI capabilities from different teams, business processes, permissions and governance, employee feedback and auditability through one experience. If Copilot or another platform later offers native agent routing, AIA still needs this layer - so a more capable platform makes Riley more capable, not irrelevant. Riley does not need its own AI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Riley, each new AI capability can become another separate tool to discover and learn. With Riley, a newly connected capability increases what Riley can do while employees keep using the same interface. Integration is not free or automatic: each connection needs technical and governance work, done once per capability, then available to every authorized employee. Phase 2 proves this with an AI tool built by a different AIA team.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grows from one pilot team, to back-office teams across many functions, to the long-term vision: every AIA employee with a virtual coworker that understands the outcome they need and coordinates AIA's capabilities to complete much of the work, with the employee accountable for every decision. Value compounds rather than being a one-time gain: more capabilities, more workflows and more governed feedback. Across markets the core experience can be reused, while each market adds its own integrations, data controls, governance and process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on existing or emerging enterprise AI technology, not a from-scratch engine, and delivered in Microsoft Teams. Riley acts only with the access the employee already has and never bypasses permissions. Sensitive and customer data stay under AIA's existing controls; approved external sources only. The employee approves before anything is finalized, sent to anyone, or entered into a business system. Riley records the request, capabilities used, output, approval and final action. Feedback-driven learning is governed with risk and IT; quality gets periodic independent sample reviews. No specific logging, memory or training architecture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(Month 1): select the pilot team and workflow, baseline effort, time and steps, confirm data, security, record-keeping and governance, nominate the independent quality reviewer. Phase 1 (Months 2-4): one workflow, one team, approval before final action, measured against baseline. Phase 2 (Months 5-7): connect an AI tool built by a different AIA team and extend to a second workflow - the core test. Phase 3 (Months 8-12): more teams and capabilities; replace the scenario with a measured projection. Gate 1: employee effort reduced, quality maintained or improved, usage sustained. Gate 2: the new capability works through Riley with no new tool, and effort, quality and usage hold across both workflows.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select a pilot team, fund Phase 1 with the award's seed funding, build and test the first workflow, measure the result, then prove the multiplier in Phase 2. The budget is a preliminary planning estimate, not AIA-costed or benchmarked, and excludes existing staff time. Close on the idea: today the employee is the connector; Riley becomes the connector.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5257800"/>
            <a:ext cx="5852160" cy="365760"/>
          </a:xfrm>
        </p:spPr>
        <p:txBody>
          <a:bodyPr wrap="square" tIns="91440" bIns="91440" anchor="t">
            <a:noAutofit/>
          </a:bodyPr>
          <a:lstStyle/>
          <a:p>
            <a:pPr algn="l"/>
            <a:r>
              <a:rPr sz="1400" b="0" i="0">
                <a:solidFill>
                  <a:srgbClr val="FFFFFF"/>
                </a:solidFill>
                <a:latin typeface="Arial"/>
              </a:rPr>
              <a:t>Innovation Idea Awards 2026  ·  Employee Value  ·  Hong Kong</a:t>
            </a:r>
          </a:p>
        </p:txBody>
      </p:sp>
      <p:sp>
        <p:nvSpPr>
          <p:cNvPr id="3" name="Text Placeholder 2"/>
          <p:cNvSpPr>
            <a:spLocks noGrp="1"/>
          </p:cNvSpPr>
          <p:nvPr>
            <p:ph type="body" idx="10" sz="quarter"/>
          </p:nvPr>
        </p:nvSpPr>
        <p:spPr>
          <a:xfrm>
            <a:off x="356616" y="1600200"/>
            <a:ext cx="5852160" cy="1828800"/>
          </a:xfrm>
        </p:spPr>
        <p:txBody>
          <a:bodyPr wrap="square" tIns="91440" bIns="91440" anchor="t">
            <a:noAutofit/>
          </a:bodyPr>
          <a:lstStyle/>
          <a:p>
            <a:pPr algn="l"/>
            <a:r>
              <a:rPr sz="7200" b="1" i="0">
                <a:solidFill>
                  <a:srgbClr val="FFFFFF"/>
                </a:solidFill>
                <a:latin typeface="Arial"/>
              </a:rPr>
              <a:t>Riley</a:t>
            </a:r>
          </a:p>
          <a:p>
            <a:pPr algn="l">
              <a:spcBef>
                <a:spcPts val="600"/>
              </a:spcBef>
            </a:pPr>
            <a:r>
              <a:rPr sz="2600" b="0" i="0">
                <a:solidFill>
                  <a:srgbClr val="FFFFFF"/>
                </a:solidFill>
                <a:latin typeface="Arial"/>
              </a:rPr>
              <a:t>AIA’s AI coworker in Microsoft Teams</a:t>
            </a:r>
          </a:p>
        </p:txBody>
      </p:sp>
      <p:sp>
        <p:nvSpPr>
          <p:cNvPr id="4" name="TextBox 3"/>
          <p:cNvSpPr txBox="1"/>
          <p:nvPr/>
        </p:nvSpPr>
        <p:spPr>
          <a:xfrm>
            <a:off x="448056" y="3703320"/>
            <a:ext cx="5760720" cy="1097280"/>
          </a:xfrm>
          <a:prstGeom prst="rect">
            <a:avLst/>
          </a:prstGeom>
          <a:noFill/>
        </p:spPr>
        <p:txBody>
          <a:bodyPr wrap="square" lIns="0" rIns="0" tIns="0" bIns="0" anchor="t">
            <a:noAutofit/>
          </a:bodyPr>
          <a:lstStyle/>
          <a:p>
            <a:pPr algn="l">
              <a:spcAft>
                <a:spcPts val="600"/>
              </a:spcAft>
            </a:pPr>
            <a:r>
              <a:rPr sz="2200" b="1" i="0">
                <a:solidFill>
                  <a:srgbClr val="FFFFFF"/>
                </a:solidFill>
                <a:latin typeface="Arial"/>
              </a:rPr>
              <a:t>Today, the employee is the connector.</a:t>
            </a:r>
          </a:p>
          <a:p>
            <a:pPr algn="l"/>
            <a:r>
              <a:rPr sz="2200" b="1" i="0">
                <a:solidFill>
                  <a:srgbClr val="FFFFFF"/>
                </a:solidFill>
                <a:latin typeface="Arial"/>
              </a:rPr>
              <a:t>Riley becomes the connector.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More AI is coming. Someone has to connect it.</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WHY RILEY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2</a:t>
            </a:fld>
            <a:endParaRPr lang="en-US" dirty="0"/>
          </a:p>
        </p:txBody>
      </p:sp>
      <p:sp>
        <p:nvSpPr>
          <p:cNvPr id="6" name="Rounded Rectangle 5"/>
          <p:cNvSpPr/>
          <p:nvPr/>
        </p:nvSpPr>
        <p:spPr>
          <a:xfrm>
            <a:off x="457200" y="1828800"/>
            <a:ext cx="3291840" cy="3291840"/>
          </a:xfrm>
          <a:prstGeom prst="roundRect">
            <a:avLst>
              <a:gd name="adj" fmla="val 5000"/>
            </a:avLst>
          </a:prstGeom>
          <a:solidFill>
            <a:srgbClr val="F4F2F0"/>
          </a:solidFill>
          <a:ln>
            <a:noFill/>
          </a:ln>
        </p:spPr>
        <p:txBody>
          <a:bodyPr rtlCol="0" anchor="ctr"/>
          <a:lstStyle/>
          <a:p/>
        </p:txBody>
      </p:sp>
      <p:sp>
        <p:nvSpPr>
          <p:cNvPr id="7" name="Oval 6"/>
          <p:cNvSpPr/>
          <p:nvPr/>
        </p:nvSpPr>
        <p:spPr>
          <a:xfrm>
            <a:off x="822960" y="2194560"/>
            <a:ext cx="777240" cy="777240"/>
          </a:xfrm>
          <a:prstGeom prst="ellipse">
            <a:avLst/>
          </a:prstGeom>
          <a:solidFill>
            <a:srgbClr val="D31145"/>
          </a:solidFill>
          <a:ln>
            <a:noFill/>
          </a:ln>
        </p:spPr>
        <p:txBody>
          <a:bodyPr rtlCol="0" anchor="ctr"/>
          <a:lstStyle/>
          <a:p/>
        </p:txBody>
      </p:sp>
      <p:pic>
        <p:nvPicPr>
          <p:cNvPr id="8" name="Picture 7" descr="LuTrendingUp_w.png"/>
          <p:cNvPicPr>
            <a:picLocks noChangeAspect="1"/>
          </p:cNvPicPr>
          <p:nvPr/>
        </p:nvPicPr>
        <p:blipFill>
          <a:blip r:embed="rId3"/>
          <a:stretch>
            <a:fillRect/>
          </a:stretch>
        </p:blipFill>
        <p:spPr>
          <a:xfrm>
            <a:off x="1009497" y="2381097"/>
            <a:ext cx="404164" cy="404164"/>
          </a:xfrm>
          <a:prstGeom prst="rect">
            <a:avLst/>
          </a:prstGeom>
        </p:spPr>
      </p:pic>
      <p:sp>
        <p:nvSpPr>
          <p:cNvPr id="9" name="TextBox 8"/>
          <p:cNvSpPr txBox="1"/>
          <p:nvPr/>
        </p:nvSpPr>
        <p:spPr>
          <a:xfrm>
            <a:off x="822960" y="3200400"/>
            <a:ext cx="2651760" cy="868680"/>
          </a:xfrm>
          <a:prstGeom prst="rect">
            <a:avLst/>
          </a:prstGeom>
          <a:noFill/>
        </p:spPr>
        <p:txBody>
          <a:bodyPr wrap="square" lIns="0" rIns="0" tIns="0" bIns="0" anchor="t">
            <a:noAutofit/>
          </a:bodyPr>
          <a:lstStyle/>
          <a:p>
            <a:pPr algn="l"/>
            <a:r>
              <a:rPr sz="2400" b="1" i="0">
                <a:solidFill>
                  <a:srgbClr val="333D47"/>
                </a:solidFill>
                <a:latin typeface="Arial"/>
              </a:rPr>
              <a:t>As AIA builds and adopts more AI</a:t>
            </a:r>
          </a:p>
        </p:txBody>
      </p:sp>
      <p:sp>
        <p:nvSpPr>
          <p:cNvPr id="10" name="TextBox 9"/>
          <p:cNvSpPr txBox="1"/>
          <p:nvPr/>
        </p:nvSpPr>
        <p:spPr>
          <a:xfrm>
            <a:off x="822960" y="4114800"/>
            <a:ext cx="2560320" cy="914400"/>
          </a:xfrm>
          <a:prstGeom prst="rect">
            <a:avLst/>
          </a:prstGeom>
          <a:noFill/>
        </p:spPr>
        <p:txBody>
          <a:bodyPr wrap="square" lIns="0" rIns="0" tIns="0" bIns="0" anchor="t">
            <a:noAutofit/>
          </a:bodyPr>
          <a:lstStyle/>
          <a:p>
            <a:pPr algn="l"/>
            <a:r>
              <a:rPr sz="1700" b="0" i="0">
                <a:solidFill>
                  <a:srgbClr val="5A6570"/>
                </a:solidFill>
                <a:latin typeface="Arial"/>
              </a:rPr>
              <a:t>Each team can add new capabilities</a:t>
            </a:r>
          </a:p>
        </p:txBody>
      </p:sp>
      <p:sp>
        <p:nvSpPr>
          <p:cNvPr id="11" name="Right Arrow 10"/>
          <p:cNvSpPr/>
          <p:nvPr/>
        </p:nvSpPr>
        <p:spPr>
          <a:xfrm>
            <a:off x="3931920" y="3291840"/>
            <a:ext cx="347472" cy="365760"/>
          </a:xfrm>
          <a:prstGeom prst="rightArrow">
            <a:avLst/>
          </a:prstGeom>
          <a:solidFill>
            <a:srgbClr val="8A939B"/>
          </a:solidFill>
          <a:ln>
            <a:noFill/>
          </a:ln>
        </p:spPr>
        <p:txBody>
          <a:bodyPr rtlCol="0" anchor="ctr"/>
          <a:lstStyle/>
          <a:p/>
        </p:txBody>
      </p:sp>
      <p:sp>
        <p:nvSpPr>
          <p:cNvPr id="12" name="Rounded Rectangle 11"/>
          <p:cNvSpPr/>
          <p:nvPr/>
        </p:nvSpPr>
        <p:spPr>
          <a:xfrm>
            <a:off x="4457700" y="1828800"/>
            <a:ext cx="3291840" cy="3291840"/>
          </a:xfrm>
          <a:prstGeom prst="roundRect">
            <a:avLst>
              <a:gd name="adj" fmla="val 5000"/>
            </a:avLst>
          </a:prstGeom>
          <a:solidFill>
            <a:srgbClr val="F4F2F0"/>
          </a:solidFill>
          <a:ln>
            <a:noFill/>
          </a:ln>
        </p:spPr>
        <p:txBody>
          <a:bodyPr rtlCol="0" anchor="ctr"/>
          <a:lstStyle/>
          <a:p/>
        </p:txBody>
      </p:sp>
      <p:sp>
        <p:nvSpPr>
          <p:cNvPr id="13" name="Oval 12"/>
          <p:cNvSpPr/>
          <p:nvPr/>
        </p:nvSpPr>
        <p:spPr>
          <a:xfrm>
            <a:off x="4823460" y="2194560"/>
            <a:ext cx="777240" cy="777240"/>
          </a:xfrm>
          <a:prstGeom prst="ellipse">
            <a:avLst/>
          </a:prstGeom>
          <a:solidFill>
            <a:srgbClr val="D31145"/>
          </a:solidFill>
          <a:ln>
            <a:noFill/>
          </a:ln>
        </p:spPr>
        <p:txBody>
          <a:bodyPr rtlCol="0" anchor="ctr"/>
          <a:lstStyle/>
          <a:p/>
        </p:txBody>
      </p:sp>
      <p:pic>
        <p:nvPicPr>
          <p:cNvPr id="14" name="Picture 13" descr="LuShuffle_w.png"/>
          <p:cNvPicPr>
            <a:picLocks noChangeAspect="1"/>
          </p:cNvPicPr>
          <p:nvPr/>
        </p:nvPicPr>
        <p:blipFill>
          <a:blip r:embed="rId4"/>
          <a:stretch>
            <a:fillRect/>
          </a:stretch>
        </p:blipFill>
        <p:spPr>
          <a:xfrm>
            <a:off x="5009997" y="2381097"/>
            <a:ext cx="404164" cy="404164"/>
          </a:xfrm>
          <a:prstGeom prst="rect">
            <a:avLst/>
          </a:prstGeom>
        </p:spPr>
      </p:pic>
      <p:sp>
        <p:nvSpPr>
          <p:cNvPr id="15" name="TextBox 14"/>
          <p:cNvSpPr txBox="1"/>
          <p:nvPr/>
        </p:nvSpPr>
        <p:spPr>
          <a:xfrm>
            <a:off x="4823460" y="3200400"/>
            <a:ext cx="2651760" cy="868680"/>
          </a:xfrm>
          <a:prstGeom prst="rect">
            <a:avLst/>
          </a:prstGeom>
          <a:noFill/>
        </p:spPr>
        <p:txBody>
          <a:bodyPr wrap="square" lIns="0" rIns="0" tIns="0" bIns="0" anchor="t">
            <a:noAutofit/>
          </a:bodyPr>
          <a:lstStyle/>
          <a:p>
            <a:pPr algn="l"/>
            <a:r>
              <a:rPr sz="2400" b="1" i="0">
                <a:solidFill>
                  <a:srgbClr val="333D47"/>
                </a:solidFill>
                <a:latin typeface="Arial"/>
              </a:rPr>
              <a:t>Without a common layer</a:t>
            </a:r>
          </a:p>
        </p:txBody>
      </p:sp>
      <p:sp>
        <p:nvSpPr>
          <p:cNvPr id="16" name="TextBox 15"/>
          <p:cNvSpPr txBox="1"/>
          <p:nvPr/>
        </p:nvSpPr>
        <p:spPr>
          <a:xfrm>
            <a:off x="4823460" y="4114800"/>
            <a:ext cx="2560320" cy="914400"/>
          </a:xfrm>
          <a:prstGeom prst="rect">
            <a:avLst/>
          </a:prstGeom>
          <a:noFill/>
        </p:spPr>
        <p:txBody>
          <a:bodyPr wrap="square" lIns="0" rIns="0" tIns="0" bIns="0" anchor="t">
            <a:noAutofit/>
          </a:bodyPr>
          <a:lstStyle/>
          <a:p>
            <a:pPr algn="l"/>
            <a:r>
              <a:rPr sz="1700" b="0" i="0">
                <a:solidFill>
                  <a:srgbClr val="5A6570"/>
                </a:solidFill>
                <a:latin typeface="Arial"/>
              </a:rPr>
              <a:t>Every new tool is one more to find, learn and stitch together</a:t>
            </a:r>
          </a:p>
        </p:txBody>
      </p:sp>
      <p:sp>
        <p:nvSpPr>
          <p:cNvPr id="17" name="Right Arrow 16"/>
          <p:cNvSpPr/>
          <p:nvPr/>
        </p:nvSpPr>
        <p:spPr>
          <a:xfrm>
            <a:off x="7932419" y="3291840"/>
            <a:ext cx="347472" cy="365760"/>
          </a:xfrm>
          <a:prstGeom prst="rightArrow">
            <a:avLst/>
          </a:prstGeom>
          <a:solidFill>
            <a:srgbClr val="8A939B"/>
          </a:solidFill>
          <a:ln>
            <a:noFill/>
          </a:ln>
        </p:spPr>
        <p:txBody>
          <a:bodyPr rtlCol="0" anchor="ctr"/>
          <a:lstStyle/>
          <a:p/>
        </p:txBody>
      </p:sp>
      <p:sp>
        <p:nvSpPr>
          <p:cNvPr id="18" name="Rounded Rectangle 17"/>
          <p:cNvSpPr/>
          <p:nvPr/>
        </p:nvSpPr>
        <p:spPr>
          <a:xfrm>
            <a:off x="8458200" y="1828800"/>
            <a:ext cx="3291840" cy="3291840"/>
          </a:xfrm>
          <a:prstGeom prst="roundRect">
            <a:avLst>
              <a:gd name="adj" fmla="val 5000"/>
            </a:avLst>
          </a:prstGeom>
          <a:solidFill>
            <a:srgbClr val="D31145"/>
          </a:solidFill>
          <a:ln>
            <a:noFill/>
          </a:ln>
        </p:spPr>
        <p:txBody>
          <a:bodyPr rtlCol="0" anchor="ctr"/>
          <a:lstStyle/>
          <a:p/>
        </p:txBody>
      </p:sp>
      <p:sp>
        <p:nvSpPr>
          <p:cNvPr id="19" name="Oval 18"/>
          <p:cNvSpPr/>
          <p:nvPr/>
        </p:nvSpPr>
        <p:spPr>
          <a:xfrm>
            <a:off x="8823960" y="2194560"/>
            <a:ext cx="777240" cy="777240"/>
          </a:xfrm>
          <a:prstGeom prst="ellipse">
            <a:avLst/>
          </a:prstGeom>
          <a:solidFill>
            <a:srgbClr val="FFFFFF"/>
          </a:solidFill>
          <a:ln>
            <a:noFill/>
          </a:ln>
        </p:spPr>
        <p:txBody>
          <a:bodyPr rtlCol="0" anchor="ctr"/>
          <a:lstStyle/>
          <a:p/>
        </p:txBody>
      </p:sp>
      <p:pic>
        <p:nvPicPr>
          <p:cNvPr id="20" name="Picture 19" descr="LuMessagesSquare_r.png"/>
          <p:cNvPicPr>
            <a:picLocks noChangeAspect="1"/>
          </p:cNvPicPr>
          <p:nvPr/>
        </p:nvPicPr>
        <p:blipFill>
          <a:blip r:embed="rId5"/>
          <a:stretch>
            <a:fillRect/>
          </a:stretch>
        </p:blipFill>
        <p:spPr>
          <a:xfrm>
            <a:off x="9010497" y="2381097"/>
            <a:ext cx="404164" cy="404164"/>
          </a:xfrm>
          <a:prstGeom prst="rect">
            <a:avLst/>
          </a:prstGeom>
        </p:spPr>
      </p:pic>
      <p:sp>
        <p:nvSpPr>
          <p:cNvPr id="21" name="TextBox 20"/>
          <p:cNvSpPr txBox="1"/>
          <p:nvPr/>
        </p:nvSpPr>
        <p:spPr>
          <a:xfrm>
            <a:off x="8823960" y="3200400"/>
            <a:ext cx="2651760" cy="868680"/>
          </a:xfrm>
          <a:prstGeom prst="rect">
            <a:avLst/>
          </a:prstGeom>
          <a:noFill/>
        </p:spPr>
        <p:txBody>
          <a:bodyPr wrap="square" lIns="0" rIns="0" tIns="0" bIns="0" anchor="t">
            <a:noAutofit/>
          </a:bodyPr>
          <a:lstStyle/>
          <a:p>
            <a:pPr algn="l"/>
            <a:r>
              <a:rPr sz="2400" b="1" i="0">
                <a:solidFill>
                  <a:srgbClr val="FFFFFF"/>
                </a:solidFill>
                <a:latin typeface="Arial"/>
              </a:rPr>
              <a:t>AIA needs one coworker layer</a:t>
            </a:r>
          </a:p>
        </p:txBody>
      </p:sp>
      <p:sp>
        <p:nvSpPr>
          <p:cNvPr id="22" name="TextBox 21"/>
          <p:cNvSpPr txBox="1"/>
          <p:nvPr/>
        </p:nvSpPr>
        <p:spPr>
          <a:xfrm>
            <a:off x="8823960" y="4114800"/>
            <a:ext cx="2560320" cy="914400"/>
          </a:xfrm>
          <a:prstGeom prst="rect">
            <a:avLst/>
          </a:prstGeom>
          <a:noFill/>
        </p:spPr>
        <p:txBody>
          <a:bodyPr wrap="square" lIns="0" rIns="0" tIns="0" bIns="0" anchor="t">
            <a:noAutofit/>
          </a:bodyPr>
          <a:lstStyle/>
          <a:p>
            <a:pPr algn="l"/>
            <a:r>
              <a:rPr sz="1800" b="1" i="0">
                <a:solidFill>
                  <a:srgbClr val="FFFFFF"/>
                </a:solidFill>
                <a:latin typeface="Arial"/>
              </a:rPr>
              <a:t>Riley is that layer: one AI coworker that uses the tools for you.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Who connects AIA’s AI?</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THE PROBLEM  ·  THE IDEA</a:t>
            </a:r>
          </a:p>
        </p:txBody>
      </p:sp>
      <p:sp>
        <p:nvSpPr>
          <p:cNvPr id="6" name="TextBox 5"/>
          <p:cNvSpPr txBox="1"/>
          <p:nvPr/>
        </p:nvSpPr>
        <p:spPr>
          <a:xfrm>
            <a:off x="448056" y="1133856"/>
            <a:ext cx="11155680" cy="457200"/>
          </a:xfrm>
          <a:prstGeom prst="rect">
            <a:avLst/>
          </a:prstGeom>
          <a:noFill/>
        </p:spPr>
        <p:txBody>
          <a:bodyPr wrap="square" lIns="0" rIns="0" tIns="0" bIns="0" anchor="t">
            <a:noAutofit/>
          </a:bodyPr>
          <a:lstStyle/>
          <a:p>
            <a:pPr algn="l"/>
            <a:r>
              <a:rPr sz="1600" b="0" i="0">
                <a:solidFill>
                  <a:srgbClr val="5A6570"/>
                </a:solidFill>
                <a:latin typeface="Arial"/>
              </a:rPr>
              <a:t>From what I observe: valuable AI tools, built separately across AIA.</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3</a:t>
            </a:fld>
            <a:endParaRPr lang="en-US" dirty="0"/>
          </a:p>
        </p:txBody>
      </p:sp>
      <p:sp>
        <p:nvSpPr>
          <p:cNvPr id="7" name="Rounded Rectangle 6"/>
          <p:cNvSpPr/>
          <p:nvPr/>
        </p:nvSpPr>
        <p:spPr>
          <a:xfrm>
            <a:off x="457200" y="1691640"/>
            <a:ext cx="5440680" cy="3886200"/>
          </a:xfrm>
          <a:prstGeom prst="roundRect">
            <a:avLst>
              <a:gd name="adj" fmla="val 4000"/>
            </a:avLst>
          </a:prstGeom>
          <a:solidFill>
            <a:srgbClr val="F4F2F0"/>
          </a:solidFill>
          <a:ln>
            <a:noFill/>
          </a:ln>
        </p:spPr>
        <p:txBody>
          <a:bodyPr rtlCol="0" anchor="ctr"/>
          <a:lstStyle/>
          <a:p/>
        </p:txBody>
      </p:sp>
      <p:sp>
        <p:nvSpPr>
          <p:cNvPr id="8" name="TextBox 7"/>
          <p:cNvSpPr txBox="1"/>
          <p:nvPr/>
        </p:nvSpPr>
        <p:spPr>
          <a:xfrm>
            <a:off x="731520" y="1920240"/>
            <a:ext cx="4892040" cy="411480"/>
          </a:xfrm>
          <a:prstGeom prst="rect">
            <a:avLst/>
          </a:prstGeom>
          <a:noFill/>
        </p:spPr>
        <p:txBody>
          <a:bodyPr wrap="square" lIns="0" rIns="0" tIns="0" bIns="0" anchor="t">
            <a:noAutofit/>
          </a:bodyPr>
          <a:lstStyle/>
          <a:p>
            <a:pPr algn="l"/>
            <a:r>
              <a:rPr sz="2000" b="1" i="0">
                <a:solidFill>
                  <a:srgbClr val="333D47"/>
                </a:solidFill>
                <a:latin typeface="Arial"/>
              </a:rPr>
              <a:t>Today, the employee is the connector</a:t>
            </a:r>
          </a:p>
        </p:txBody>
      </p:sp>
      <p:sp>
        <p:nvSpPr>
          <p:cNvPr id="9" name="Oval 8"/>
          <p:cNvSpPr/>
          <p:nvPr/>
        </p:nvSpPr>
        <p:spPr>
          <a:xfrm>
            <a:off x="2830068" y="2560320"/>
            <a:ext cx="694944" cy="694944"/>
          </a:xfrm>
          <a:prstGeom prst="ellipse">
            <a:avLst/>
          </a:prstGeom>
          <a:solidFill>
            <a:srgbClr val="333D47"/>
          </a:solidFill>
          <a:ln>
            <a:noFill/>
          </a:ln>
        </p:spPr>
        <p:txBody>
          <a:bodyPr rtlCol="0" anchor="ctr"/>
          <a:lstStyle/>
          <a:p/>
        </p:txBody>
      </p:sp>
      <p:pic>
        <p:nvPicPr>
          <p:cNvPr id="10" name="Picture 9" descr="LuUser_w.png"/>
          <p:cNvPicPr>
            <a:picLocks noChangeAspect="1"/>
          </p:cNvPicPr>
          <p:nvPr/>
        </p:nvPicPr>
        <p:blipFill>
          <a:blip r:embed="rId3"/>
          <a:stretch>
            <a:fillRect/>
          </a:stretch>
        </p:blipFill>
        <p:spPr>
          <a:xfrm>
            <a:off x="2985516" y="2715768"/>
            <a:ext cx="384048" cy="384048"/>
          </a:xfrm>
          <a:prstGeom prst="rect">
            <a:avLst/>
          </a:prstGeom>
        </p:spPr>
      </p:pic>
      <p:sp>
        <p:nvSpPr>
          <p:cNvPr id="11" name="Rounded Rectangle 10"/>
          <p:cNvSpPr/>
          <p:nvPr/>
        </p:nvSpPr>
        <p:spPr>
          <a:xfrm>
            <a:off x="58978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12" name="Picture 11" descr="LuBrainCircuit_c.png"/>
          <p:cNvPicPr>
            <a:picLocks noChangeAspect="1"/>
          </p:cNvPicPr>
          <p:nvPr/>
        </p:nvPicPr>
        <p:blipFill>
          <a:blip r:embed="rId4"/>
          <a:stretch>
            <a:fillRect/>
          </a:stretch>
        </p:blipFill>
        <p:spPr>
          <a:xfrm>
            <a:off x="827531" y="4526279"/>
            <a:ext cx="310896" cy="310896"/>
          </a:xfrm>
          <a:prstGeom prst="rect">
            <a:avLst/>
          </a:prstGeom>
        </p:spPr>
      </p:pic>
      <p:sp>
        <p:nvSpPr>
          <p:cNvPr id="13" name="TextBox 12"/>
          <p:cNvSpPr txBox="1"/>
          <p:nvPr/>
        </p:nvSpPr>
        <p:spPr>
          <a:xfrm>
            <a:off x="58978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A</a:t>
            </a:r>
          </a:p>
        </p:txBody>
      </p:sp>
      <p:cxnSp>
        <p:nvCxnSpPr>
          <p:cNvPr id="14" name="Connector 13"/>
          <p:cNvCxnSpPr/>
          <p:nvPr/>
        </p:nvCxnSpPr>
        <p:spPr>
          <a:xfrm flipH="1">
            <a:off x="982980" y="3255263"/>
            <a:ext cx="2194560"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467612"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16" name="Picture 15" descr="LuBrainCircuit_c.png"/>
          <p:cNvPicPr>
            <a:picLocks noChangeAspect="1"/>
          </p:cNvPicPr>
          <p:nvPr/>
        </p:nvPicPr>
        <p:blipFill>
          <a:blip r:embed="rId4"/>
          <a:stretch>
            <a:fillRect/>
          </a:stretch>
        </p:blipFill>
        <p:spPr>
          <a:xfrm>
            <a:off x="1705356" y="4526279"/>
            <a:ext cx="310896" cy="310896"/>
          </a:xfrm>
          <a:prstGeom prst="rect">
            <a:avLst/>
          </a:prstGeom>
        </p:spPr>
      </p:pic>
      <p:sp>
        <p:nvSpPr>
          <p:cNvPr id="17" name="TextBox 16"/>
          <p:cNvSpPr txBox="1"/>
          <p:nvPr/>
        </p:nvSpPr>
        <p:spPr>
          <a:xfrm>
            <a:off x="1467612"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B</a:t>
            </a:r>
          </a:p>
        </p:txBody>
      </p:sp>
      <p:cxnSp>
        <p:nvCxnSpPr>
          <p:cNvPr id="18" name="Connector 17"/>
          <p:cNvCxnSpPr/>
          <p:nvPr/>
        </p:nvCxnSpPr>
        <p:spPr>
          <a:xfrm flipH="1">
            <a:off x="1860804" y="3255263"/>
            <a:ext cx="1316736"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345436"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0" name="Picture 19" descr="LuBrainCircuit_c.png"/>
          <p:cNvPicPr>
            <a:picLocks noChangeAspect="1"/>
          </p:cNvPicPr>
          <p:nvPr/>
        </p:nvPicPr>
        <p:blipFill>
          <a:blip r:embed="rId4"/>
          <a:stretch>
            <a:fillRect/>
          </a:stretch>
        </p:blipFill>
        <p:spPr>
          <a:xfrm>
            <a:off x="2583180" y="4526279"/>
            <a:ext cx="310896" cy="310896"/>
          </a:xfrm>
          <a:prstGeom prst="rect">
            <a:avLst/>
          </a:prstGeom>
        </p:spPr>
      </p:pic>
      <p:sp>
        <p:nvSpPr>
          <p:cNvPr id="21" name="TextBox 20"/>
          <p:cNvSpPr txBox="1"/>
          <p:nvPr/>
        </p:nvSpPr>
        <p:spPr>
          <a:xfrm>
            <a:off x="2345436"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C</a:t>
            </a:r>
          </a:p>
        </p:txBody>
      </p:sp>
      <p:cxnSp>
        <p:nvCxnSpPr>
          <p:cNvPr id="22" name="Connector 21"/>
          <p:cNvCxnSpPr/>
          <p:nvPr/>
        </p:nvCxnSpPr>
        <p:spPr>
          <a:xfrm flipH="1">
            <a:off x="2738628" y="3255263"/>
            <a:ext cx="438912"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23260"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4" name="Picture 23" descr="LuServer_c.png"/>
          <p:cNvPicPr>
            <a:picLocks noChangeAspect="1"/>
          </p:cNvPicPr>
          <p:nvPr/>
        </p:nvPicPr>
        <p:blipFill>
          <a:blip r:embed="rId5"/>
          <a:stretch>
            <a:fillRect/>
          </a:stretch>
        </p:blipFill>
        <p:spPr>
          <a:xfrm>
            <a:off x="3461004" y="4526279"/>
            <a:ext cx="310896" cy="310896"/>
          </a:xfrm>
          <a:prstGeom prst="rect">
            <a:avLst/>
          </a:prstGeom>
        </p:spPr>
      </p:pic>
      <p:sp>
        <p:nvSpPr>
          <p:cNvPr id="25" name="TextBox 24"/>
          <p:cNvSpPr txBox="1"/>
          <p:nvPr/>
        </p:nvSpPr>
        <p:spPr>
          <a:xfrm>
            <a:off x="3223260"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Core</a:t>
            </a:r>
          </a:p>
          <a:p>
            <a:pPr algn="ctr"/>
            <a:r>
              <a:rPr sz="1200" b="0" i="0">
                <a:solidFill>
                  <a:srgbClr val="333D47"/>
                </a:solidFill>
                <a:latin typeface="Arial"/>
              </a:rPr>
              <a:t>systems</a:t>
            </a:r>
          </a:p>
        </p:txBody>
      </p:sp>
      <p:cxnSp>
        <p:nvCxnSpPr>
          <p:cNvPr id="26" name="Connector 25"/>
          <p:cNvCxnSpPr/>
          <p:nvPr/>
        </p:nvCxnSpPr>
        <p:spPr>
          <a:xfrm>
            <a:off x="3177540" y="3255263"/>
            <a:ext cx="438912"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01083"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28" name="Picture 27" descr="LuDatabase_c.png"/>
          <p:cNvPicPr>
            <a:picLocks noChangeAspect="1"/>
          </p:cNvPicPr>
          <p:nvPr/>
        </p:nvPicPr>
        <p:blipFill>
          <a:blip r:embed="rId6"/>
          <a:stretch>
            <a:fillRect/>
          </a:stretch>
        </p:blipFill>
        <p:spPr>
          <a:xfrm>
            <a:off x="4338827" y="4526279"/>
            <a:ext cx="310896" cy="310896"/>
          </a:xfrm>
          <a:prstGeom prst="rect">
            <a:avLst/>
          </a:prstGeom>
        </p:spPr>
      </p:pic>
      <p:sp>
        <p:nvSpPr>
          <p:cNvPr id="29" name="TextBox 28"/>
          <p:cNvSpPr txBox="1"/>
          <p:nvPr/>
        </p:nvSpPr>
        <p:spPr>
          <a:xfrm>
            <a:off x="4101083"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Data &amp;</a:t>
            </a:r>
          </a:p>
          <a:p>
            <a:pPr algn="ctr"/>
            <a:r>
              <a:rPr sz="1200" b="0" i="0">
                <a:solidFill>
                  <a:srgbClr val="333D47"/>
                </a:solidFill>
                <a:latin typeface="Arial"/>
              </a:rPr>
              <a:t>documents</a:t>
            </a:r>
          </a:p>
        </p:txBody>
      </p:sp>
      <p:cxnSp>
        <p:nvCxnSpPr>
          <p:cNvPr id="30" name="Connector 29"/>
          <p:cNvCxnSpPr/>
          <p:nvPr/>
        </p:nvCxnSpPr>
        <p:spPr>
          <a:xfrm>
            <a:off x="3177540" y="3255263"/>
            <a:ext cx="1316735"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97890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32" name="Picture 31" descr="LuGlobe_c.png"/>
          <p:cNvPicPr>
            <a:picLocks noChangeAspect="1"/>
          </p:cNvPicPr>
          <p:nvPr/>
        </p:nvPicPr>
        <p:blipFill>
          <a:blip r:embed="rId7"/>
          <a:stretch>
            <a:fillRect/>
          </a:stretch>
        </p:blipFill>
        <p:spPr>
          <a:xfrm>
            <a:off x="5216652" y="4526279"/>
            <a:ext cx="310896" cy="310896"/>
          </a:xfrm>
          <a:prstGeom prst="rect">
            <a:avLst/>
          </a:prstGeom>
        </p:spPr>
      </p:pic>
      <p:sp>
        <p:nvSpPr>
          <p:cNvPr id="33" name="TextBox 32"/>
          <p:cNvSpPr txBox="1"/>
          <p:nvPr/>
        </p:nvSpPr>
        <p:spPr>
          <a:xfrm>
            <a:off x="497890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External</a:t>
            </a:r>
          </a:p>
          <a:p>
            <a:pPr algn="ctr"/>
            <a:r>
              <a:rPr sz="1200" b="0" i="0">
                <a:solidFill>
                  <a:srgbClr val="333D47"/>
                </a:solidFill>
                <a:latin typeface="Arial"/>
              </a:rPr>
              <a:t>info</a:t>
            </a:r>
          </a:p>
        </p:txBody>
      </p:sp>
      <p:cxnSp>
        <p:nvCxnSpPr>
          <p:cNvPr id="34" name="Connector 33"/>
          <p:cNvCxnSpPr/>
          <p:nvPr/>
        </p:nvCxnSpPr>
        <p:spPr>
          <a:xfrm>
            <a:off x="3177540" y="3255263"/>
            <a:ext cx="2194560" cy="1179577"/>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634740" y="2761488"/>
            <a:ext cx="2240280" cy="365760"/>
          </a:xfrm>
          <a:prstGeom prst="rect">
            <a:avLst/>
          </a:prstGeom>
          <a:noFill/>
        </p:spPr>
        <p:txBody>
          <a:bodyPr wrap="square" lIns="0" rIns="0" tIns="0" bIns="0" anchor="t">
            <a:noAutofit/>
          </a:bodyPr>
          <a:lstStyle/>
          <a:p>
            <a:pPr algn="l"/>
            <a:r>
              <a:rPr sz="1300" b="0" i="1">
                <a:solidFill>
                  <a:srgbClr val="5A6570"/>
                </a:solidFill>
                <a:latin typeface="Arial"/>
              </a:rPr>
              <a:t>find · learn · switch · combine</a:t>
            </a:r>
          </a:p>
        </p:txBody>
      </p:sp>
      <p:sp>
        <p:nvSpPr>
          <p:cNvPr id="36" name="Rounded Rectangle 35"/>
          <p:cNvSpPr/>
          <p:nvPr/>
        </p:nvSpPr>
        <p:spPr>
          <a:xfrm>
            <a:off x="6309360" y="1691640"/>
            <a:ext cx="5440680" cy="3886200"/>
          </a:xfrm>
          <a:prstGeom prst="roundRect">
            <a:avLst>
              <a:gd name="adj" fmla="val 4000"/>
            </a:avLst>
          </a:prstGeom>
          <a:solidFill>
            <a:srgbClr val="FBE7EC"/>
          </a:solidFill>
          <a:ln>
            <a:noFill/>
          </a:ln>
        </p:spPr>
        <p:txBody>
          <a:bodyPr rtlCol="0" anchor="ctr"/>
          <a:lstStyle/>
          <a:p/>
        </p:txBody>
      </p:sp>
      <p:sp>
        <p:nvSpPr>
          <p:cNvPr id="37" name="TextBox 36"/>
          <p:cNvSpPr txBox="1"/>
          <p:nvPr/>
        </p:nvSpPr>
        <p:spPr>
          <a:xfrm>
            <a:off x="6583680" y="1920240"/>
            <a:ext cx="4892040" cy="411480"/>
          </a:xfrm>
          <a:prstGeom prst="rect">
            <a:avLst/>
          </a:prstGeom>
          <a:noFill/>
        </p:spPr>
        <p:txBody>
          <a:bodyPr wrap="square" lIns="0" rIns="0" tIns="0" bIns="0" anchor="t">
            <a:noAutofit/>
          </a:bodyPr>
          <a:lstStyle/>
          <a:p>
            <a:pPr algn="l"/>
            <a:r>
              <a:rPr sz="2000" b="1" i="0">
                <a:solidFill>
                  <a:srgbClr val="D31145"/>
                </a:solidFill>
                <a:latin typeface="Arial"/>
              </a:rPr>
              <a:t>Riley becomes the connector</a:t>
            </a:r>
          </a:p>
        </p:txBody>
      </p:sp>
      <p:sp>
        <p:nvSpPr>
          <p:cNvPr id="38" name="Oval 37"/>
          <p:cNvSpPr/>
          <p:nvPr/>
        </p:nvSpPr>
        <p:spPr>
          <a:xfrm>
            <a:off x="8682228" y="2560320"/>
            <a:ext cx="694944" cy="694944"/>
          </a:xfrm>
          <a:prstGeom prst="ellipse">
            <a:avLst/>
          </a:prstGeom>
          <a:solidFill>
            <a:srgbClr val="333D47"/>
          </a:solidFill>
          <a:ln>
            <a:noFill/>
          </a:ln>
        </p:spPr>
        <p:txBody>
          <a:bodyPr rtlCol="0" anchor="ctr"/>
          <a:lstStyle/>
          <a:p/>
        </p:txBody>
      </p:sp>
      <p:pic>
        <p:nvPicPr>
          <p:cNvPr id="39" name="Picture 38" descr="LuUser_w.png"/>
          <p:cNvPicPr>
            <a:picLocks noChangeAspect="1"/>
          </p:cNvPicPr>
          <p:nvPr/>
        </p:nvPicPr>
        <p:blipFill>
          <a:blip r:embed="rId3"/>
          <a:stretch>
            <a:fillRect/>
          </a:stretch>
        </p:blipFill>
        <p:spPr>
          <a:xfrm>
            <a:off x="8837676" y="2715768"/>
            <a:ext cx="384048" cy="384048"/>
          </a:xfrm>
          <a:prstGeom prst="rect">
            <a:avLst/>
          </a:prstGeom>
        </p:spPr>
      </p:pic>
      <p:sp>
        <p:nvSpPr>
          <p:cNvPr id="40" name="Rounded Rectangle 39"/>
          <p:cNvSpPr/>
          <p:nvPr/>
        </p:nvSpPr>
        <p:spPr>
          <a:xfrm>
            <a:off x="6441948"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1" name="Picture 40" descr="LuBrainCircuit_r.png"/>
          <p:cNvPicPr>
            <a:picLocks noChangeAspect="1"/>
          </p:cNvPicPr>
          <p:nvPr/>
        </p:nvPicPr>
        <p:blipFill>
          <a:blip r:embed="rId8"/>
          <a:stretch>
            <a:fillRect/>
          </a:stretch>
        </p:blipFill>
        <p:spPr>
          <a:xfrm>
            <a:off x="6679692" y="4526279"/>
            <a:ext cx="310896" cy="310896"/>
          </a:xfrm>
          <a:prstGeom prst="rect">
            <a:avLst/>
          </a:prstGeom>
        </p:spPr>
      </p:pic>
      <p:sp>
        <p:nvSpPr>
          <p:cNvPr id="42" name="TextBox 41"/>
          <p:cNvSpPr txBox="1"/>
          <p:nvPr/>
        </p:nvSpPr>
        <p:spPr>
          <a:xfrm>
            <a:off x="6441948"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A</a:t>
            </a:r>
          </a:p>
        </p:txBody>
      </p:sp>
      <p:cxnSp>
        <p:nvCxnSpPr>
          <p:cNvPr id="43" name="Connector 42"/>
          <p:cNvCxnSpPr/>
          <p:nvPr/>
        </p:nvCxnSpPr>
        <p:spPr>
          <a:xfrm>
            <a:off x="6835140"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7319771"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5" name="Picture 44" descr="LuBrainCircuit_r.png"/>
          <p:cNvPicPr>
            <a:picLocks noChangeAspect="1"/>
          </p:cNvPicPr>
          <p:nvPr/>
        </p:nvPicPr>
        <p:blipFill>
          <a:blip r:embed="rId8"/>
          <a:stretch>
            <a:fillRect/>
          </a:stretch>
        </p:blipFill>
        <p:spPr>
          <a:xfrm>
            <a:off x="7557515" y="4526279"/>
            <a:ext cx="310896" cy="310896"/>
          </a:xfrm>
          <a:prstGeom prst="rect">
            <a:avLst/>
          </a:prstGeom>
        </p:spPr>
      </p:pic>
      <p:sp>
        <p:nvSpPr>
          <p:cNvPr id="46" name="TextBox 45"/>
          <p:cNvSpPr txBox="1"/>
          <p:nvPr/>
        </p:nvSpPr>
        <p:spPr>
          <a:xfrm>
            <a:off x="7319771"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B</a:t>
            </a:r>
          </a:p>
        </p:txBody>
      </p:sp>
      <p:cxnSp>
        <p:nvCxnSpPr>
          <p:cNvPr id="47" name="Connector 46"/>
          <p:cNvCxnSpPr/>
          <p:nvPr/>
        </p:nvCxnSpPr>
        <p:spPr>
          <a:xfrm>
            <a:off x="7712963"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8197596"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49" name="Picture 48" descr="LuBrainCircuit_r.png"/>
          <p:cNvPicPr>
            <a:picLocks noChangeAspect="1"/>
          </p:cNvPicPr>
          <p:nvPr/>
        </p:nvPicPr>
        <p:blipFill>
          <a:blip r:embed="rId8"/>
          <a:stretch>
            <a:fillRect/>
          </a:stretch>
        </p:blipFill>
        <p:spPr>
          <a:xfrm>
            <a:off x="8435340" y="4526279"/>
            <a:ext cx="310896" cy="310896"/>
          </a:xfrm>
          <a:prstGeom prst="rect">
            <a:avLst/>
          </a:prstGeom>
        </p:spPr>
      </p:pic>
      <p:sp>
        <p:nvSpPr>
          <p:cNvPr id="50" name="TextBox 49"/>
          <p:cNvSpPr txBox="1"/>
          <p:nvPr/>
        </p:nvSpPr>
        <p:spPr>
          <a:xfrm>
            <a:off x="8197596"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AI tool</a:t>
            </a:r>
          </a:p>
          <a:p>
            <a:pPr algn="ctr"/>
            <a:r>
              <a:rPr sz="1200" b="0" i="0">
                <a:solidFill>
                  <a:srgbClr val="333D47"/>
                </a:solidFill>
                <a:latin typeface="Arial"/>
              </a:rPr>
              <a:t>team C</a:t>
            </a:r>
          </a:p>
        </p:txBody>
      </p:sp>
      <p:cxnSp>
        <p:nvCxnSpPr>
          <p:cNvPr id="51" name="Connector 50"/>
          <p:cNvCxnSpPr/>
          <p:nvPr/>
        </p:nvCxnSpPr>
        <p:spPr>
          <a:xfrm>
            <a:off x="8590788"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9075420"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53" name="Picture 52" descr="LuServer_r.png"/>
          <p:cNvPicPr>
            <a:picLocks noChangeAspect="1"/>
          </p:cNvPicPr>
          <p:nvPr/>
        </p:nvPicPr>
        <p:blipFill>
          <a:blip r:embed="rId9"/>
          <a:stretch>
            <a:fillRect/>
          </a:stretch>
        </p:blipFill>
        <p:spPr>
          <a:xfrm>
            <a:off x="9313164" y="4526279"/>
            <a:ext cx="310896" cy="310896"/>
          </a:xfrm>
          <a:prstGeom prst="rect">
            <a:avLst/>
          </a:prstGeom>
        </p:spPr>
      </p:pic>
      <p:sp>
        <p:nvSpPr>
          <p:cNvPr id="54" name="TextBox 53"/>
          <p:cNvSpPr txBox="1"/>
          <p:nvPr/>
        </p:nvSpPr>
        <p:spPr>
          <a:xfrm>
            <a:off x="9075420"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Core</a:t>
            </a:r>
          </a:p>
          <a:p>
            <a:pPr algn="ctr"/>
            <a:r>
              <a:rPr sz="1200" b="0" i="0">
                <a:solidFill>
                  <a:srgbClr val="333D47"/>
                </a:solidFill>
                <a:latin typeface="Arial"/>
              </a:rPr>
              <a:t>systems</a:t>
            </a:r>
          </a:p>
        </p:txBody>
      </p:sp>
      <p:cxnSp>
        <p:nvCxnSpPr>
          <p:cNvPr id="55" name="Connector 54"/>
          <p:cNvCxnSpPr/>
          <p:nvPr/>
        </p:nvCxnSpPr>
        <p:spPr>
          <a:xfrm>
            <a:off x="9468612"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9953244"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57" name="Picture 56" descr="LuDatabase_r.png"/>
          <p:cNvPicPr>
            <a:picLocks noChangeAspect="1"/>
          </p:cNvPicPr>
          <p:nvPr/>
        </p:nvPicPr>
        <p:blipFill>
          <a:blip r:embed="rId10"/>
          <a:stretch>
            <a:fillRect/>
          </a:stretch>
        </p:blipFill>
        <p:spPr>
          <a:xfrm>
            <a:off x="10190988" y="4526279"/>
            <a:ext cx="310896" cy="310896"/>
          </a:xfrm>
          <a:prstGeom prst="rect">
            <a:avLst/>
          </a:prstGeom>
        </p:spPr>
      </p:pic>
      <p:sp>
        <p:nvSpPr>
          <p:cNvPr id="58" name="TextBox 57"/>
          <p:cNvSpPr txBox="1"/>
          <p:nvPr/>
        </p:nvSpPr>
        <p:spPr>
          <a:xfrm>
            <a:off x="9953244"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Data &amp;</a:t>
            </a:r>
          </a:p>
          <a:p>
            <a:pPr algn="ctr"/>
            <a:r>
              <a:rPr sz="1200" b="0" i="0">
                <a:solidFill>
                  <a:srgbClr val="333D47"/>
                </a:solidFill>
                <a:latin typeface="Arial"/>
              </a:rPr>
              <a:t>documents</a:t>
            </a:r>
          </a:p>
        </p:txBody>
      </p:sp>
      <p:cxnSp>
        <p:nvCxnSpPr>
          <p:cNvPr id="59" name="Connector 58"/>
          <p:cNvCxnSpPr/>
          <p:nvPr/>
        </p:nvCxnSpPr>
        <p:spPr>
          <a:xfrm>
            <a:off x="10346436"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10831067" y="4434840"/>
            <a:ext cx="786384" cy="960120"/>
          </a:xfrm>
          <a:prstGeom prst="roundRect">
            <a:avLst>
              <a:gd name="adj" fmla="val 10000"/>
            </a:avLst>
          </a:prstGeom>
          <a:solidFill>
            <a:srgbClr val="FFFFFF"/>
          </a:solidFill>
          <a:ln w="9525">
            <a:solidFill>
              <a:srgbClr val="D9D6D3"/>
            </a:solidFill>
          </a:ln>
        </p:spPr>
        <p:txBody>
          <a:bodyPr rtlCol="0" anchor="ctr"/>
          <a:lstStyle/>
          <a:p/>
        </p:txBody>
      </p:sp>
      <p:pic>
        <p:nvPicPr>
          <p:cNvPr id="61" name="Picture 60" descr="LuGlobe_r.png"/>
          <p:cNvPicPr>
            <a:picLocks noChangeAspect="1"/>
          </p:cNvPicPr>
          <p:nvPr/>
        </p:nvPicPr>
        <p:blipFill>
          <a:blip r:embed="rId11"/>
          <a:stretch>
            <a:fillRect/>
          </a:stretch>
        </p:blipFill>
        <p:spPr>
          <a:xfrm>
            <a:off x="11068811" y="4526279"/>
            <a:ext cx="310896" cy="310896"/>
          </a:xfrm>
          <a:prstGeom prst="rect">
            <a:avLst/>
          </a:prstGeom>
        </p:spPr>
      </p:pic>
      <p:sp>
        <p:nvSpPr>
          <p:cNvPr id="62" name="TextBox 61"/>
          <p:cNvSpPr txBox="1"/>
          <p:nvPr/>
        </p:nvSpPr>
        <p:spPr>
          <a:xfrm>
            <a:off x="10831067" y="4892040"/>
            <a:ext cx="786384" cy="457200"/>
          </a:xfrm>
          <a:prstGeom prst="rect">
            <a:avLst/>
          </a:prstGeom>
          <a:noFill/>
        </p:spPr>
        <p:txBody>
          <a:bodyPr wrap="square" lIns="0" rIns="0" tIns="0" bIns="0" anchor="t">
            <a:noAutofit/>
          </a:bodyPr>
          <a:lstStyle/>
          <a:p>
            <a:pPr algn="ctr"/>
            <a:r>
              <a:rPr sz="1200" b="0" i="0">
                <a:solidFill>
                  <a:srgbClr val="333D47"/>
                </a:solidFill>
                <a:latin typeface="Arial"/>
              </a:rPr>
              <a:t>External</a:t>
            </a:r>
          </a:p>
          <a:p>
            <a:pPr algn="ctr"/>
            <a:r>
              <a:rPr sz="1200" b="0" i="0">
                <a:solidFill>
                  <a:srgbClr val="333D47"/>
                </a:solidFill>
                <a:latin typeface="Arial"/>
              </a:rPr>
              <a:t>info</a:t>
            </a:r>
          </a:p>
        </p:txBody>
      </p:sp>
      <p:cxnSp>
        <p:nvCxnSpPr>
          <p:cNvPr id="63" name="Connector 62"/>
          <p:cNvCxnSpPr/>
          <p:nvPr/>
        </p:nvCxnSpPr>
        <p:spPr>
          <a:xfrm>
            <a:off x="11224259" y="4069080"/>
            <a:ext cx="0" cy="365760"/>
          </a:xfrm>
          <a:prstGeom prst="line">
            <a:avLst/>
          </a:prstGeom>
          <a:ln w="19050">
            <a:solidFill>
              <a:srgbClr val="D3114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029700" y="3255263"/>
            <a:ext cx="0" cy="219457"/>
          </a:xfrm>
          <a:prstGeom prst="line">
            <a:avLst/>
          </a:prstGeom>
          <a:ln w="25400">
            <a:solidFill>
              <a:srgbClr val="D31145"/>
            </a:solidFill>
          </a:ln>
        </p:spPr>
        <p:style>
          <a:lnRef idx="2">
            <a:schemeClr val="accent1"/>
          </a:lnRef>
          <a:fillRef idx="0">
            <a:schemeClr val="accent1"/>
          </a:fillRef>
          <a:effectRef idx="1">
            <a:schemeClr val="accent1"/>
          </a:effectRef>
          <a:fontRef idx="minor">
            <a:schemeClr val="tx1"/>
          </a:fontRef>
        </p:style>
      </p:cxnSp>
      <p:sp>
        <p:nvSpPr>
          <p:cNvPr id="65" name="Rounded Rectangle 64"/>
          <p:cNvSpPr/>
          <p:nvPr/>
        </p:nvSpPr>
        <p:spPr>
          <a:xfrm>
            <a:off x="6441948" y="3474720"/>
            <a:ext cx="5175504" cy="594360"/>
          </a:xfrm>
          <a:prstGeom prst="roundRect">
            <a:avLst>
              <a:gd name="adj" fmla="val 15000"/>
            </a:avLst>
          </a:prstGeom>
          <a:solidFill>
            <a:srgbClr val="D31145"/>
          </a:solidFill>
          <a:ln>
            <a:noFill/>
          </a:ln>
        </p:spPr>
        <p:txBody>
          <a:bodyPr rtlCol="0" anchor="ctr" wrap="square" lIns="0" rIns="0" tIns="0" bIns="0">
            <a:noAutofit/>
          </a:bodyPr>
          <a:lstStyle/>
          <a:p>
            <a:pPr algn="ctr"/>
            <a:r>
              <a:rPr sz="2000" b="1" i="0">
                <a:solidFill>
                  <a:srgbClr val="FFFFFF"/>
                </a:solidFill>
                <a:latin typeface="Arial"/>
              </a:rPr>
              <a:t>Riley</a:t>
            </a:r>
          </a:p>
        </p:txBody>
      </p:sp>
      <p:sp>
        <p:nvSpPr>
          <p:cNvPr id="66" name="TextBox 65"/>
          <p:cNvSpPr txBox="1"/>
          <p:nvPr/>
        </p:nvSpPr>
        <p:spPr>
          <a:xfrm>
            <a:off x="9486900" y="2761488"/>
            <a:ext cx="2240280" cy="365760"/>
          </a:xfrm>
          <a:prstGeom prst="rect">
            <a:avLst/>
          </a:prstGeom>
          <a:noFill/>
        </p:spPr>
        <p:txBody>
          <a:bodyPr wrap="square" lIns="0" rIns="0" tIns="0" bIns="0" anchor="t">
            <a:noAutofit/>
          </a:bodyPr>
          <a:lstStyle/>
          <a:p>
            <a:pPr algn="l"/>
            <a:r>
              <a:rPr sz="1300" b="0" i="1">
                <a:solidFill>
                  <a:srgbClr val="D31145"/>
                </a:solidFill>
                <a:latin typeface="Arial"/>
              </a:rPr>
              <a:t>one conversation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Ask for an outcome. Approve finished work.</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HOW IT WORKS</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4</a:t>
            </a:fld>
            <a:endParaRPr lang="en-US" dirty="0"/>
          </a:p>
        </p:txBody>
      </p:sp>
      <p:sp>
        <p:nvSpPr>
          <p:cNvPr id="6" name="Rounded Rectangle 5"/>
          <p:cNvSpPr/>
          <p:nvPr/>
        </p:nvSpPr>
        <p:spPr>
          <a:xfrm>
            <a:off x="457200" y="1572768"/>
            <a:ext cx="6355080" cy="4023360"/>
          </a:xfrm>
          <a:prstGeom prst="roundRect">
            <a:avLst>
              <a:gd name="adj" fmla="val 3000"/>
            </a:avLst>
          </a:prstGeom>
          <a:solidFill>
            <a:srgbClr val="FFFFFF"/>
          </a:solidFill>
          <a:ln w="12700">
            <a:solidFill>
              <a:srgbClr val="C9C4C0"/>
            </a:solidFill>
          </a:ln>
        </p:spPr>
        <p:txBody>
          <a:bodyPr rtlCol="0" anchor="ctr"/>
          <a:lstStyle/>
          <a:p/>
        </p:txBody>
      </p:sp>
      <p:sp>
        <p:nvSpPr>
          <p:cNvPr id="7" name="Rectangle 6"/>
          <p:cNvSpPr/>
          <p:nvPr/>
        </p:nvSpPr>
        <p:spPr>
          <a:xfrm>
            <a:off x="475488" y="1591056"/>
            <a:ext cx="6318504" cy="475488"/>
          </a:xfrm>
          <a:prstGeom prst="rect">
            <a:avLst/>
          </a:prstGeom>
          <a:solidFill>
            <a:srgbClr val="F3F2F1"/>
          </a:solidFill>
          <a:ln>
            <a:noFill/>
          </a:ln>
        </p:spPr>
        <p:txBody>
          <a:bodyPr rtlCol="0" anchor="ctr"/>
          <a:lstStyle/>
          <a:p/>
        </p:txBody>
      </p:sp>
      <p:sp>
        <p:nvSpPr>
          <p:cNvPr id="8" name="Oval 7"/>
          <p:cNvSpPr/>
          <p:nvPr/>
        </p:nvSpPr>
        <p:spPr>
          <a:xfrm>
            <a:off x="640080" y="1664208"/>
            <a:ext cx="329184" cy="329184"/>
          </a:xfrm>
          <a:prstGeom prst="ellipse">
            <a:avLst/>
          </a:prstGeom>
          <a:solidFill>
            <a:srgbClr val="D31145"/>
          </a:solidFill>
          <a:ln>
            <a:noFill/>
          </a:ln>
        </p:spPr>
        <p:txBody>
          <a:bodyPr rtlCol="0" anchor="ctr"/>
          <a:lstStyle/>
          <a:p/>
        </p:txBody>
      </p:sp>
      <p:sp>
        <p:nvSpPr>
          <p:cNvPr id="9" name="TextBox 8"/>
          <p:cNvSpPr txBox="1"/>
          <p:nvPr/>
        </p:nvSpPr>
        <p:spPr>
          <a:xfrm>
            <a:off x="640080" y="1664208"/>
            <a:ext cx="329184" cy="329184"/>
          </a:xfrm>
          <a:prstGeom prst="rect">
            <a:avLst/>
          </a:prstGeom>
          <a:noFill/>
        </p:spPr>
        <p:txBody>
          <a:bodyPr wrap="square" lIns="0" rIns="0" tIns="0" bIns="0" anchor="ctr">
            <a:noAutofit/>
          </a:bodyPr>
          <a:lstStyle/>
          <a:p>
            <a:pPr algn="ctr"/>
            <a:r>
              <a:rPr sz="1400" b="1" i="0">
                <a:solidFill>
                  <a:srgbClr val="FFFFFF"/>
                </a:solidFill>
                <a:latin typeface="Arial"/>
              </a:rPr>
              <a:t>R</a:t>
            </a:r>
          </a:p>
        </p:txBody>
      </p:sp>
      <p:sp>
        <p:nvSpPr>
          <p:cNvPr id="10" name="TextBox 9"/>
          <p:cNvSpPr txBox="1"/>
          <p:nvPr/>
        </p:nvSpPr>
        <p:spPr>
          <a:xfrm>
            <a:off x="1078992" y="1645920"/>
            <a:ext cx="2743200" cy="365760"/>
          </a:xfrm>
          <a:prstGeom prst="rect">
            <a:avLst/>
          </a:prstGeom>
          <a:noFill/>
        </p:spPr>
        <p:txBody>
          <a:bodyPr wrap="square" lIns="0" rIns="0" tIns="0" bIns="0" anchor="ctr">
            <a:noAutofit/>
          </a:bodyPr>
          <a:lstStyle/>
          <a:p>
            <a:pPr algn="l"/>
            <a:r>
              <a:rPr sz="1400" b="1" i="0">
                <a:solidFill>
                  <a:srgbClr val="333D47"/>
                </a:solidFill>
                <a:latin typeface="Arial"/>
              </a:rPr>
              <a:t>Riley</a:t>
            </a:r>
            <a:r>
              <a:rPr sz="1200" b="0" i="0">
                <a:solidFill>
                  <a:srgbClr val="5A6570"/>
                </a:solidFill>
                <a:latin typeface="Arial"/>
              </a:rPr>
              <a:t>   AIA virtual coworker</a:t>
            </a:r>
          </a:p>
        </p:txBody>
      </p:sp>
      <p:sp>
        <p:nvSpPr>
          <p:cNvPr id="11" name="TextBox 10"/>
          <p:cNvSpPr txBox="1"/>
          <p:nvPr/>
        </p:nvSpPr>
        <p:spPr>
          <a:xfrm>
            <a:off x="4160520" y="1645920"/>
            <a:ext cx="2468880" cy="365760"/>
          </a:xfrm>
          <a:prstGeom prst="rect">
            <a:avLst/>
          </a:prstGeom>
          <a:noFill/>
        </p:spPr>
        <p:txBody>
          <a:bodyPr wrap="square" lIns="0" rIns="0" tIns="0" bIns="0" anchor="ctr">
            <a:noAutofit/>
          </a:bodyPr>
          <a:lstStyle/>
          <a:p>
            <a:pPr algn="r"/>
            <a:r>
              <a:rPr sz="1200" b="0" i="0">
                <a:solidFill>
                  <a:srgbClr val="5A6570"/>
                </a:solidFill>
                <a:latin typeface="Arial"/>
              </a:rPr>
              <a:t>Microsoft Teams (illustrative)</a:t>
            </a:r>
          </a:p>
        </p:txBody>
      </p:sp>
      <p:sp>
        <p:nvSpPr>
          <p:cNvPr id="12" name="Rounded Rectangle 11"/>
          <p:cNvSpPr/>
          <p:nvPr/>
        </p:nvSpPr>
        <p:spPr>
          <a:xfrm>
            <a:off x="1783080" y="2194560"/>
            <a:ext cx="4846320" cy="1005840"/>
          </a:xfrm>
          <a:prstGeom prst="roundRect">
            <a:avLst>
              <a:gd name="adj" fmla="val 8000"/>
            </a:avLst>
          </a:prstGeom>
          <a:solidFill>
            <a:srgbClr val="E9E4E1"/>
          </a:solidFill>
          <a:ln>
            <a:noFill/>
          </a:ln>
        </p:spPr>
        <p:txBody>
          <a:bodyPr rtlCol="0" anchor="ctr" wrap="square" lIns="109728" rIns="109728" tIns="109728" bIns="109728">
            <a:noAutofit/>
          </a:bodyPr>
          <a:lstStyle/>
          <a:p>
            <a:pPr algn="l"/>
            <a:r>
              <a:rPr sz="1300" b="0" i="0">
                <a:solidFill>
                  <a:srgbClr val="333D47"/>
                </a:solidFill>
                <a:latin typeface="Arial"/>
              </a:rPr>
              <a:t>“Review the latest customer complaints, identify the most common issues, compare them with the previous quarter, research relevant external information, prepare a management summary and draft a presentation.”</a:t>
            </a:r>
          </a:p>
        </p:txBody>
      </p:sp>
      <p:sp>
        <p:nvSpPr>
          <p:cNvPr id="13" name="Oval 12"/>
          <p:cNvSpPr/>
          <p:nvPr/>
        </p:nvSpPr>
        <p:spPr>
          <a:xfrm>
            <a:off x="576072" y="2560320"/>
            <a:ext cx="274320" cy="274320"/>
          </a:xfrm>
          <a:prstGeom prst="ellipse">
            <a:avLst/>
          </a:prstGeom>
          <a:solidFill>
            <a:srgbClr val="333D47"/>
          </a:solidFill>
          <a:ln>
            <a:noFill/>
          </a:ln>
        </p:spPr>
        <p:txBody>
          <a:bodyPr rtlCol="0" anchor="ctr"/>
          <a:lstStyle/>
          <a:p/>
        </p:txBody>
      </p:sp>
      <p:sp>
        <p:nvSpPr>
          <p:cNvPr id="14" name="TextBox 13"/>
          <p:cNvSpPr txBox="1"/>
          <p:nvPr/>
        </p:nvSpPr>
        <p:spPr>
          <a:xfrm>
            <a:off x="576072" y="2560320"/>
            <a:ext cx="274320" cy="274320"/>
          </a:xfrm>
          <a:prstGeom prst="rect">
            <a:avLst/>
          </a:prstGeom>
          <a:noFill/>
        </p:spPr>
        <p:txBody>
          <a:bodyPr wrap="square" lIns="0" rIns="0" tIns="0" bIns="0" anchor="ctr">
            <a:noAutofit/>
          </a:bodyPr>
          <a:lstStyle/>
          <a:p>
            <a:pPr algn="ctr"/>
            <a:r>
              <a:rPr sz="1200" b="1" i="0">
                <a:solidFill>
                  <a:srgbClr val="FFFFFF"/>
                </a:solidFill>
                <a:latin typeface="Arial"/>
              </a:rPr>
              <a:t>1</a:t>
            </a:r>
          </a:p>
        </p:txBody>
      </p:sp>
      <p:sp>
        <p:nvSpPr>
          <p:cNvPr id="15" name="Rounded Rectangle 14"/>
          <p:cNvSpPr/>
          <p:nvPr/>
        </p:nvSpPr>
        <p:spPr>
          <a:xfrm>
            <a:off x="1005840" y="3337560"/>
            <a:ext cx="5623560" cy="1389888"/>
          </a:xfrm>
          <a:prstGeom prst="roundRect">
            <a:avLst>
              <a:gd name="adj" fmla="val 6000"/>
            </a:avLst>
          </a:prstGeom>
          <a:solidFill>
            <a:srgbClr val="FBE7EC"/>
          </a:solidFill>
          <a:ln>
            <a:noFill/>
          </a:ln>
        </p:spPr>
        <p:txBody>
          <a:bodyPr rtlCol="0" anchor="ctr"/>
          <a:lstStyle/>
          <a:p/>
        </p:txBody>
      </p:sp>
      <p:sp>
        <p:nvSpPr>
          <p:cNvPr id="16" name="TextBox 15"/>
          <p:cNvSpPr txBox="1"/>
          <p:nvPr/>
        </p:nvSpPr>
        <p:spPr>
          <a:xfrm>
            <a:off x="1143000" y="3401568"/>
            <a:ext cx="5349240" cy="274320"/>
          </a:xfrm>
          <a:prstGeom prst="rect">
            <a:avLst/>
          </a:prstGeom>
          <a:noFill/>
        </p:spPr>
        <p:txBody>
          <a:bodyPr wrap="square" lIns="0" rIns="0" tIns="0" bIns="0" anchor="t">
            <a:noAutofit/>
          </a:bodyPr>
          <a:lstStyle/>
          <a:p>
            <a:pPr algn="l"/>
            <a:r>
              <a:rPr sz="1300" b="1" i="0">
                <a:solidFill>
                  <a:srgbClr val="333D47"/>
                </a:solidFill>
                <a:latin typeface="Arial"/>
              </a:rPr>
              <a:t>Here’s my plan, using only what you’re authorized to access:</a:t>
            </a:r>
          </a:p>
        </p:txBody>
      </p:sp>
      <p:pic>
        <p:nvPicPr>
          <p:cNvPr id="17" name="Picture 16" descr="LuCircleCheck_r.png"/>
          <p:cNvPicPr>
            <a:picLocks noChangeAspect="1"/>
          </p:cNvPicPr>
          <p:nvPr/>
        </p:nvPicPr>
        <p:blipFill>
          <a:blip r:embed="rId3"/>
          <a:stretch>
            <a:fillRect/>
          </a:stretch>
        </p:blipFill>
        <p:spPr>
          <a:xfrm>
            <a:off x="1170432" y="3749039"/>
            <a:ext cx="182880" cy="182880"/>
          </a:xfrm>
          <a:prstGeom prst="rect">
            <a:avLst/>
          </a:prstGeom>
        </p:spPr>
      </p:pic>
      <p:sp>
        <p:nvSpPr>
          <p:cNvPr id="18" name="TextBox 17"/>
          <p:cNvSpPr txBox="1"/>
          <p:nvPr/>
        </p:nvSpPr>
        <p:spPr>
          <a:xfrm>
            <a:off x="1426464" y="3730752"/>
            <a:ext cx="3291840" cy="237744"/>
          </a:xfrm>
          <a:prstGeom prst="rect">
            <a:avLst/>
          </a:prstGeom>
          <a:noFill/>
        </p:spPr>
        <p:txBody>
          <a:bodyPr wrap="square" lIns="0" rIns="0" tIns="0" bIns="0" anchor="t">
            <a:noAutofit/>
          </a:bodyPr>
          <a:lstStyle/>
          <a:p>
            <a:pPr algn="l"/>
            <a:r>
              <a:rPr sz="1250" b="0" i="0">
                <a:solidFill>
                  <a:srgbClr val="333D47"/>
                </a:solidFill>
                <a:latin typeface="Arial"/>
              </a:rPr>
              <a:t>Complaint records, this quarter and last</a:t>
            </a:r>
          </a:p>
        </p:txBody>
      </p:sp>
      <p:sp>
        <p:nvSpPr>
          <p:cNvPr id="19" name="TextBox 18"/>
          <p:cNvSpPr txBox="1"/>
          <p:nvPr/>
        </p:nvSpPr>
        <p:spPr>
          <a:xfrm>
            <a:off x="4526280" y="3730752"/>
            <a:ext cx="1920240" cy="237744"/>
          </a:xfrm>
          <a:prstGeom prst="rect">
            <a:avLst/>
          </a:prstGeom>
          <a:noFill/>
        </p:spPr>
        <p:txBody>
          <a:bodyPr wrap="square" lIns="0" rIns="0" tIns="0" bIns="0" anchor="t">
            <a:noAutofit/>
          </a:bodyPr>
          <a:lstStyle/>
          <a:p>
            <a:pPr algn="r"/>
            <a:r>
              <a:rPr sz="1200" b="1" i="0">
                <a:solidFill>
                  <a:srgbClr val="D31145"/>
                </a:solidFill>
                <a:latin typeface="Arial"/>
              </a:rPr>
              <a:t>AIA data</a:t>
            </a:r>
          </a:p>
        </p:txBody>
      </p:sp>
      <p:pic>
        <p:nvPicPr>
          <p:cNvPr id="20" name="Picture 19" descr="LuCircleCheck_r.png"/>
          <p:cNvPicPr>
            <a:picLocks noChangeAspect="1"/>
          </p:cNvPicPr>
          <p:nvPr/>
        </p:nvPicPr>
        <p:blipFill>
          <a:blip r:embed="rId3"/>
          <a:stretch>
            <a:fillRect/>
          </a:stretch>
        </p:blipFill>
        <p:spPr>
          <a:xfrm>
            <a:off x="1170432" y="3991355"/>
            <a:ext cx="182880" cy="182880"/>
          </a:xfrm>
          <a:prstGeom prst="rect">
            <a:avLst/>
          </a:prstGeom>
        </p:spPr>
      </p:pic>
      <p:sp>
        <p:nvSpPr>
          <p:cNvPr id="21" name="TextBox 20"/>
          <p:cNvSpPr txBox="1"/>
          <p:nvPr/>
        </p:nvSpPr>
        <p:spPr>
          <a:xfrm>
            <a:off x="1426464" y="3973068"/>
            <a:ext cx="3291840" cy="237744"/>
          </a:xfrm>
          <a:prstGeom prst="rect">
            <a:avLst/>
          </a:prstGeom>
          <a:noFill/>
        </p:spPr>
        <p:txBody>
          <a:bodyPr wrap="square" lIns="0" rIns="0" tIns="0" bIns="0" anchor="t">
            <a:noAutofit/>
          </a:bodyPr>
          <a:lstStyle/>
          <a:p>
            <a:pPr algn="l"/>
            <a:r>
              <a:rPr sz="1250" b="0" i="0">
                <a:solidFill>
                  <a:srgbClr val="333D47"/>
                </a:solidFill>
                <a:latin typeface="Arial"/>
              </a:rPr>
              <a:t>Issues grouped and compared by theme</a:t>
            </a:r>
          </a:p>
        </p:txBody>
      </p:sp>
      <p:sp>
        <p:nvSpPr>
          <p:cNvPr id="22" name="TextBox 21"/>
          <p:cNvSpPr txBox="1"/>
          <p:nvPr/>
        </p:nvSpPr>
        <p:spPr>
          <a:xfrm>
            <a:off x="4526280" y="3973068"/>
            <a:ext cx="1920240" cy="237744"/>
          </a:xfrm>
          <a:prstGeom prst="rect">
            <a:avLst/>
          </a:prstGeom>
          <a:noFill/>
        </p:spPr>
        <p:txBody>
          <a:bodyPr wrap="square" lIns="0" rIns="0" tIns="0" bIns="0" anchor="t">
            <a:noAutofit/>
          </a:bodyPr>
          <a:lstStyle/>
          <a:p>
            <a:pPr algn="r"/>
            <a:r>
              <a:rPr sz="1200" b="1" i="0">
                <a:solidFill>
                  <a:srgbClr val="D31145"/>
                </a:solidFill>
                <a:latin typeface="Arial"/>
              </a:rPr>
              <a:t>Another team’s AI tool</a:t>
            </a:r>
          </a:p>
        </p:txBody>
      </p:sp>
      <p:pic>
        <p:nvPicPr>
          <p:cNvPr id="23" name="Picture 22" descr="LuCircleCheck_r.png"/>
          <p:cNvPicPr>
            <a:picLocks noChangeAspect="1"/>
          </p:cNvPicPr>
          <p:nvPr/>
        </p:nvPicPr>
        <p:blipFill>
          <a:blip r:embed="rId3"/>
          <a:stretch>
            <a:fillRect/>
          </a:stretch>
        </p:blipFill>
        <p:spPr>
          <a:xfrm>
            <a:off x="1170432" y="4233672"/>
            <a:ext cx="182880" cy="182880"/>
          </a:xfrm>
          <a:prstGeom prst="rect">
            <a:avLst/>
          </a:prstGeom>
        </p:spPr>
      </p:pic>
      <p:sp>
        <p:nvSpPr>
          <p:cNvPr id="24" name="TextBox 23"/>
          <p:cNvSpPr txBox="1"/>
          <p:nvPr/>
        </p:nvSpPr>
        <p:spPr>
          <a:xfrm>
            <a:off x="1426464" y="4215384"/>
            <a:ext cx="3291840" cy="237744"/>
          </a:xfrm>
          <a:prstGeom prst="rect">
            <a:avLst/>
          </a:prstGeom>
          <a:noFill/>
        </p:spPr>
        <p:txBody>
          <a:bodyPr wrap="square" lIns="0" rIns="0" tIns="0" bIns="0" anchor="t">
            <a:noAutofit/>
          </a:bodyPr>
          <a:lstStyle/>
          <a:p>
            <a:pPr algn="l"/>
            <a:r>
              <a:rPr sz="1250" b="0" i="0">
                <a:solidFill>
                  <a:srgbClr val="333D47"/>
                </a:solidFill>
                <a:latin typeface="Arial"/>
              </a:rPr>
              <a:t>Relevant external information</a:t>
            </a:r>
          </a:p>
        </p:txBody>
      </p:sp>
      <p:sp>
        <p:nvSpPr>
          <p:cNvPr id="25" name="TextBox 24"/>
          <p:cNvSpPr txBox="1"/>
          <p:nvPr/>
        </p:nvSpPr>
        <p:spPr>
          <a:xfrm>
            <a:off x="4526280" y="4215384"/>
            <a:ext cx="1920240" cy="237744"/>
          </a:xfrm>
          <a:prstGeom prst="rect">
            <a:avLst/>
          </a:prstGeom>
          <a:noFill/>
        </p:spPr>
        <p:txBody>
          <a:bodyPr wrap="square" lIns="0" rIns="0" tIns="0" bIns="0" anchor="t">
            <a:noAutofit/>
          </a:bodyPr>
          <a:lstStyle/>
          <a:p>
            <a:pPr algn="r"/>
            <a:r>
              <a:rPr sz="1200" b="1" i="0">
                <a:solidFill>
                  <a:srgbClr val="D31145"/>
                </a:solidFill>
                <a:latin typeface="Arial"/>
              </a:rPr>
              <a:t>Approved sources</a:t>
            </a:r>
          </a:p>
        </p:txBody>
      </p:sp>
      <p:pic>
        <p:nvPicPr>
          <p:cNvPr id="26" name="Picture 25" descr="LuCircleCheck_r.png"/>
          <p:cNvPicPr>
            <a:picLocks noChangeAspect="1"/>
          </p:cNvPicPr>
          <p:nvPr/>
        </p:nvPicPr>
        <p:blipFill>
          <a:blip r:embed="rId3"/>
          <a:stretch>
            <a:fillRect/>
          </a:stretch>
        </p:blipFill>
        <p:spPr>
          <a:xfrm>
            <a:off x="1170432" y="4475988"/>
            <a:ext cx="182880" cy="182880"/>
          </a:xfrm>
          <a:prstGeom prst="rect">
            <a:avLst/>
          </a:prstGeom>
        </p:spPr>
      </p:pic>
      <p:sp>
        <p:nvSpPr>
          <p:cNvPr id="27" name="TextBox 26"/>
          <p:cNvSpPr txBox="1"/>
          <p:nvPr/>
        </p:nvSpPr>
        <p:spPr>
          <a:xfrm>
            <a:off x="1426464" y="4457700"/>
            <a:ext cx="3291840" cy="237744"/>
          </a:xfrm>
          <a:prstGeom prst="rect">
            <a:avLst/>
          </a:prstGeom>
          <a:noFill/>
        </p:spPr>
        <p:txBody>
          <a:bodyPr wrap="square" lIns="0" rIns="0" tIns="0" bIns="0" anchor="t">
            <a:noAutofit/>
          </a:bodyPr>
          <a:lstStyle/>
          <a:p>
            <a:pPr algn="l"/>
            <a:r>
              <a:rPr sz="1250" b="0" i="0">
                <a:solidFill>
                  <a:srgbClr val="333D47"/>
                </a:solidFill>
                <a:latin typeface="Arial"/>
              </a:rPr>
              <a:t>Management summary and draft presentation</a:t>
            </a:r>
          </a:p>
        </p:txBody>
      </p:sp>
      <p:sp>
        <p:nvSpPr>
          <p:cNvPr id="28" name="TextBox 27"/>
          <p:cNvSpPr txBox="1"/>
          <p:nvPr/>
        </p:nvSpPr>
        <p:spPr>
          <a:xfrm>
            <a:off x="4526280" y="4457700"/>
            <a:ext cx="1920240" cy="237744"/>
          </a:xfrm>
          <a:prstGeom prst="rect">
            <a:avLst/>
          </a:prstGeom>
          <a:noFill/>
        </p:spPr>
        <p:txBody>
          <a:bodyPr wrap="square" lIns="0" rIns="0" tIns="0" bIns="0" anchor="t">
            <a:noAutofit/>
          </a:bodyPr>
          <a:lstStyle/>
          <a:p>
            <a:pPr algn="r"/>
            <a:r>
              <a:rPr sz="1200" b="1" i="0">
                <a:solidFill>
                  <a:srgbClr val="D31145"/>
                </a:solidFill>
                <a:latin typeface="Arial"/>
              </a:rPr>
              <a:t>Finished work</a:t>
            </a:r>
          </a:p>
        </p:txBody>
      </p:sp>
      <p:sp>
        <p:nvSpPr>
          <p:cNvPr id="29" name="Oval 28"/>
          <p:cNvSpPr/>
          <p:nvPr/>
        </p:nvSpPr>
        <p:spPr>
          <a:xfrm>
            <a:off x="576072" y="3401568"/>
            <a:ext cx="274320" cy="274320"/>
          </a:xfrm>
          <a:prstGeom prst="ellipse">
            <a:avLst/>
          </a:prstGeom>
          <a:solidFill>
            <a:srgbClr val="D31145"/>
          </a:solidFill>
          <a:ln>
            <a:noFill/>
          </a:ln>
        </p:spPr>
        <p:txBody>
          <a:bodyPr rtlCol="0" anchor="ctr"/>
          <a:lstStyle/>
          <a:p/>
        </p:txBody>
      </p:sp>
      <p:sp>
        <p:nvSpPr>
          <p:cNvPr id="30" name="TextBox 29"/>
          <p:cNvSpPr txBox="1"/>
          <p:nvPr/>
        </p:nvSpPr>
        <p:spPr>
          <a:xfrm>
            <a:off x="576072" y="3401568"/>
            <a:ext cx="274320" cy="274320"/>
          </a:xfrm>
          <a:prstGeom prst="rect">
            <a:avLst/>
          </a:prstGeom>
          <a:noFill/>
        </p:spPr>
        <p:txBody>
          <a:bodyPr wrap="square" lIns="0" rIns="0" tIns="0" bIns="0" anchor="ctr">
            <a:noAutofit/>
          </a:bodyPr>
          <a:lstStyle/>
          <a:p>
            <a:pPr algn="ctr"/>
            <a:r>
              <a:rPr sz="1200" b="1" i="0">
                <a:solidFill>
                  <a:srgbClr val="FFFFFF"/>
                </a:solidFill>
                <a:latin typeface="Arial"/>
              </a:rPr>
              <a:t>2</a:t>
            </a:r>
          </a:p>
        </p:txBody>
      </p:sp>
      <p:sp>
        <p:nvSpPr>
          <p:cNvPr id="31" name="Oval 30"/>
          <p:cNvSpPr/>
          <p:nvPr/>
        </p:nvSpPr>
        <p:spPr>
          <a:xfrm>
            <a:off x="576072" y="4087368"/>
            <a:ext cx="274320" cy="274320"/>
          </a:xfrm>
          <a:prstGeom prst="ellipse">
            <a:avLst/>
          </a:prstGeom>
          <a:solidFill>
            <a:srgbClr val="D31145"/>
          </a:solidFill>
          <a:ln>
            <a:noFill/>
          </a:ln>
        </p:spPr>
        <p:txBody>
          <a:bodyPr rtlCol="0" anchor="ctr"/>
          <a:lstStyle/>
          <a:p/>
        </p:txBody>
      </p:sp>
      <p:sp>
        <p:nvSpPr>
          <p:cNvPr id="32" name="TextBox 31"/>
          <p:cNvSpPr txBox="1"/>
          <p:nvPr/>
        </p:nvSpPr>
        <p:spPr>
          <a:xfrm>
            <a:off x="576072" y="4087368"/>
            <a:ext cx="274320" cy="274320"/>
          </a:xfrm>
          <a:prstGeom prst="rect">
            <a:avLst/>
          </a:prstGeom>
          <a:noFill/>
        </p:spPr>
        <p:txBody>
          <a:bodyPr wrap="square" lIns="0" rIns="0" tIns="0" bIns="0" anchor="ctr">
            <a:noAutofit/>
          </a:bodyPr>
          <a:lstStyle/>
          <a:p>
            <a:pPr algn="ctr"/>
            <a:r>
              <a:rPr sz="1200" b="1" i="0">
                <a:solidFill>
                  <a:srgbClr val="FFFFFF"/>
                </a:solidFill>
                <a:latin typeface="Arial"/>
              </a:rPr>
              <a:t>3</a:t>
            </a:r>
          </a:p>
        </p:txBody>
      </p:sp>
      <p:sp>
        <p:nvSpPr>
          <p:cNvPr id="33" name="Rounded Rectangle 32"/>
          <p:cNvSpPr/>
          <p:nvPr/>
        </p:nvSpPr>
        <p:spPr>
          <a:xfrm>
            <a:off x="1005840" y="4818888"/>
            <a:ext cx="3611880" cy="329184"/>
          </a:xfrm>
          <a:prstGeom prst="roundRect">
            <a:avLst>
              <a:gd name="adj" fmla="val 20000"/>
            </a:avLst>
          </a:prstGeom>
          <a:solidFill>
            <a:srgbClr val="FFFFFF"/>
          </a:solidFill>
          <a:ln w="9525">
            <a:solidFill>
              <a:srgbClr val="D9D6D3"/>
            </a:solidFill>
          </a:ln>
        </p:spPr>
        <p:txBody>
          <a:bodyPr rtlCol="0" anchor="ctr"/>
          <a:lstStyle/>
          <a:p/>
        </p:txBody>
      </p:sp>
      <p:pic>
        <p:nvPicPr>
          <p:cNvPr id="34" name="Picture 33" descr="LuPaperclip_c.png"/>
          <p:cNvPicPr>
            <a:picLocks noChangeAspect="1"/>
          </p:cNvPicPr>
          <p:nvPr/>
        </p:nvPicPr>
        <p:blipFill>
          <a:blip r:embed="rId4"/>
          <a:stretch>
            <a:fillRect/>
          </a:stretch>
        </p:blipFill>
        <p:spPr>
          <a:xfrm>
            <a:off x="1115568" y="4882896"/>
            <a:ext cx="201168" cy="201168"/>
          </a:xfrm>
          <a:prstGeom prst="rect">
            <a:avLst/>
          </a:prstGeom>
        </p:spPr>
      </p:pic>
      <p:sp>
        <p:nvSpPr>
          <p:cNvPr id="35" name="TextBox 34"/>
          <p:cNvSpPr txBox="1"/>
          <p:nvPr/>
        </p:nvSpPr>
        <p:spPr>
          <a:xfrm>
            <a:off x="1371600" y="4818888"/>
            <a:ext cx="3200400" cy="329184"/>
          </a:xfrm>
          <a:prstGeom prst="rect">
            <a:avLst/>
          </a:prstGeom>
          <a:noFill/>
        </p:spPr>
        <p:txBody>
          <a:bodyPr wrap="square" lIns="0" rIns="0" tIns="0" bIns="0" anchor="ctr">
            <a:noAutofit/>
          </a:bodyPr>
          <a:lstStyle/>
          <a:p>
            <a:pPr algn="l"/>
            <a:r>
              <a:rPr sz="1200" b="0" i="0">
                <a:solidFill>
                  <a:srgbClr val="333D47"/>
                </a:solidFill>
                <a:latin typeface="Arial"/>
              </a:rPr>
              <a:t>Management summary  ·  Draft presentation</a:t>
            </a:r>
          </a:p>
        </p:txBody>
      </p:sp>
      <p:sp>
        <p:nvSpPr>
          <p:cNvPr id="36" name="Oval 35"/>
          <p:cNvSpPr/>
          <p:nvPr/>
        </p:nvSpPr>
        <p:spPr>
          <a:xfrm>
            <a:off x="576072" y="4846320"/>
            <a:ext cx="274320" cy="274320"/>
          </a:xfrm>
          <a:prstGeom prst="ellipse">
            <a:avLst/>
          </a:prstGeom>
          <a:solidFill>
            <a:srgbClr val="D31145"/>
          </a:solidFill>
          <a:ln>
            <a:noFill/>
          </a:ln>
        </p:spPr>
        <p:txBody>
          <a:bodyPr rtlCol="0" anchor="ctr"/>
          <a:lstStyle/>
          <a:p/>
        </p:txBody>
      </p:sp>
      <p:sp>
        <p:nvSpPr>
          <p:cNvPr id="37" name="TextBox 36"/>
          <p:cNvSpPr txBox="1"/>
          <p:nvPr/>
        </p:nvSpPr>
        <p:spPr>
          <a:xfrm>
            <a:off x="576072" y="4846320"/>
            <a:ext cx="274320" cy="274320"/>
          </a:xfrm>
          <a:prstGeom prst="rect">
            <a:avLst/>
          </a:prstGeom>
          <a:noFill/>
        </p:spPr>
        <p:txBody>
          <a:bodyPr wrap="square" lIns="0" rIns="0" tIns="0" bIns="0" anchor="ctr">
            <a:noAutofit/>
          </a:bodyPr>
          <a:lstStyle/>
          <a:p>
            <a:pPr algn="ctr"/>
            <a:r>
              <a:rPr sz="1200" b="1" i="0">
                <a:solidFill>
                  <a:srgbClr val="FFFFFF"/>
                </a:solidFill>
                <a:latin typeface="Arial"/>
              </a:rPr>
              <a:t>4</a:t>
            </a:r>
          </a:p>
        </p:txBody>
      </p:sp>
      <p:sp>
        <p:nvSpPr>
          <p:cNvPr id="38" name="Rounded Rectangle 37"/>
          <p:cNvSpPr/>
          <p:nvPr/>
        </p:nvSpPr>
        <p:spPr>
          <a:xfrm>
            <a:off x="1005840" y="5212080"/>
            <a:ext cx="1783080" cy="329184"/>
          </a:xfrm>
          <a:prstGeom prst="roundRect">
            <a:avLst>
              <a:gd name="adj" fmla="val 30000"/>
            </a:avLst>
          </a:prstGeom>
          <a:solidFill>
            <a:srgbClr val="FFFFFF"/>
          </a:solidFill>
          <a:ln w="12700">
            <a:solidFill>
              <a:srgbClr val="333D47"/>
            </a:solidFill>
          </a:ln>
        </p:spPr>
        <p:txBody>
          <a:bodyPr rtlCol="0" anchor="ctr"/>
          <a:lstStyle/>
          <a:p/>
        </p:txBody>
      </p:sp>
      <p:sp>
        <p:nvSpPr>
          <p:cNvPr id="39" name="TextBox 38"/>
          <p:cNvSpPr txBox="1"/>
          <p:nvPr/>
        </p:nvSpPr>
        <p:spPr>
          <a:xfrm>
            <a:off x="1005840" y="5212080"/>
            <a:ext cx="1783080" cy="329184"/>
          </a:xfrm>
          <a:prstGeom prst="rect">
            <a:avLst/>
          </a:prstGeom>
          <a:noFill/>
        </p:spPr>
        <p:txBody>
          <a:bodyPr wrap="square" lIns="0" rIns="0" tIns="0" bIns="0" anchor="ctr">
            <a:noAutofit/>
          </a:bodyPr>
          <a:lstStyle/>
          <a:p>
            <a:pPr algn="ctr"/>
            <a:r>
              <a:rPr sz="1200" b="1" i="0">
                <a:solidFill>
                  <a:srgbClr val="333D47"/>
                </a:solidFill>
                <a:latin typeface="Arial"/>
              </a:rPr>
              <a:t>Request changes</a:t>
            </a:r>
          </a:p>
        </p:txBody>
      </p:sp>
      <p:sp>
        <p:nvSpPr>
          <p:cNvPr id="40" name="Rounded Rectangle 39"/>
          <p:cNvSpPr/>
          <p:nvPr/>
        </p:nvSpPr>
        <p:spPr>
          <a:xfrm>
            <a:off x="2880360" y="5212080"/>
            <a:ext cx="1143000" cy="329184"/>
          </a:xfrm>
          <a:prstGeom prst="roundRect">
            <a:avLst>
              <a:gd name="adj" fmla="val 30000"/>
            </a:avLst>
          </a:prstGeom>
          <a:solidFill>
            <a:srgbClr val="D31145"/>
          </a:solidFill>
          <a:ln>
            <a:noFill/>
          </a:ln>
        </p:spPr>
        <p:txBody>
          <a:bodyPr rtlCol="0" anchor="ctr"/>
          <a:lstStyle/>
          <a:p/>
        </p:txBody>
      </p:sp>
      <p:sp>
        <p:nvSpPr>
          <p:cNvPr id="41" name="TextBox 40"/>
          <p:cNvSpPr txBox="1"/>
          <p:nvPr/>
        </p:nvSpPr>
        <p:spPr>
          <a:xfrm>
            <a:off x="2880360" y="5212080"/>
            <a:ext cx="1143000" cy="329184"/>
          </a:xfrm>
          <a:prstGeom prst="rect">
            <a:avLst/>
          </a:prstGeom>
          <a:noFill/>
        </p:spPr>
        <p:txBody>
          <a:bodyPr wrap="square" lIns="0" rIns="0" tIns="0" bIns="0" anchor="ctr">
            <a:noAutofit/>
          </a:bodyPr>
          <a:lstStyle/>
          <a:p>
            <a:pPr algn="ctr"/>
            <a:r>
              <a:rPr sz="1200" b="1" i="0">
                <a:solidFill>
                  <a:srgbClr val="FFFFFF"/>
                </a:solidFill>
                <a:latin typeface="Arial"/>
              </a:rPr>
              <a:t>Approve</a:t>
            </a:r>
          </a:p>
        </p:txBody>
      </p:sp>
      <p:sp>
        <p:nvSpPr>
          <p:cNvPr id="42" name="Oval 41"/>
          <p:cNvSpPr/>
          <p:nvPr/>
        </p:nvSpPr>
        <p:spPr>
          <a:xfrm>
            <a:off x="576072" y="5239512"/>
            <a:ext cx="274320" cy="274320"/>
          </a:xfrm>
          <a:prstGeom prst="ellipse">
            <a:avLst/>
          </a:prstGeom>
          <a:solidFill>
            <a:srgbClr val="333D47"/>
          </a:solidFill>
          <a:ln>
            <a:noFill/>
          </a:ln>
        </p:spPr>
        <p:txBody>
          <a:bodyPr rtlCol="0" anchor="ctr"/>
          <a:lstStyle/>
          <a:p/>
        </p:txBody>
      </p:sp>
      <p:sp>
        <p:nvSpPr>
          <p:cNvPr id="43" name="TextBox 42"/>
          <p:cNvSpPr txBox="1"/>
          <p:nvPr/>
        </p:nvSpPr>
        <p:spPr>
          <a:xfrm>
            <a:off x="576072" y="5239512"/>
            <a:ext cx="274320" cy="274320"/>
          </a:xfrm>
          <a:prstGeom prst="rect">
            <a:avLst/>
          </a:prstGeom>
          <a:noFill/>
        </p:spPr>
        <p:txBody>
          <a:bodyPr wrap="square" lIns="0" rIns="0" tIns="0" bIns="0" anchor="ctr">
            <a:noAutofit/>
          </a:bodyPr>
          <a:lstStyle/>
          <a:p>
            <a:pPr algn="ctr"/>
            <a:r>
              <a:rPr sz="1200" b="1" i="0">
                <a:solidFill>
                  <a:srgbClr val="FFFFFF"/>
                </a:solidFill>
                <a:latin typeface="Arial"/>
              </a:rPr>
              <a:t>5</a:t>
            </a:r>
          </a:p>
        </p:txBody>
      </p:sp>
      <p:sp>
        <p:nvSpPr>
          <p:cNvPr id="44" name="Rounded Rectangle 43"/>
          <p:cNvSpPr/>
          <p:nvPr/>
        </p:nvSpPr>
        <p:spPr>
          <a:xfrm>
            <a:off x="7178040" y="1600200"/>
            <a:ext cx="4572000" cy="749808"/>
          </a:xfrm>
          <a:prstGeom prst="roundRect">
            <a:avLst>
              <a:gd name="adj" fmla="val 6000"/>
            </a:avLst>
          </a:prstGeom>
          <a:solidFill>
            <a:srgbClr val="F4F2F0"/>
          </a:solidFill>
          <a:ln>
            <a:noFill/>
          </a:ln>
        </p:spPr>
        <p:txBody>
          <a:bodyPr rtlCol="0" anchor="ctr"/>
          <a:lstStyle/>
          <a:p/>
        </p:txBody>
      </p:sp>
      <p:sp>
        <p:nvSpPr>
          <p:cNvPr id="45" name="Rounded Rectangle 44"/>
          <p:cNvSpPr/>
          <p:nvPr/>
        </p:nvSpPr>
        <p:spPr>
          <a:xfrm>
            <a:off x="10424160" y="1709928"/>
            <a:ext cx="1188720" cy="310896"/>
          </a:xfrm>
          <a:prstGeom prst="roundRect">
            <a:avLst>
              <a:gd name="adj" fmla="val 50000"/>
            </a:avLst>
          </a:prstGeom>
          <a:solidFill>
            <a:srgbClr val="333D47"/>
          </a:solidFill>
          <a:ln>
            <a:noFill/>
          </a:ln>
        </p:spPr>
        <p:txBody>
          <a:bodyPr rtlCol="0" anchor="ctr" wrap="square" lIns="0" rIns="0" tIns="0" bIns="0">
            <a:noAutofit/>
          </a:bodyPr>
          <a:lstStyle/>
          <a:p>
            <a:pPr algn="ctr"/>
            <a:r>
              <a:rPr sz="1200" b="1" i="0">
                <a:solidFill>
                  <a:srgbClr val="FFFFFF"/>
                </a:solidFill>
                <a:latin typeface="Arial"/>
              </a:rPr>
              <a:t>EMPLOYEE</a:t>
            </a:r>
          </a:p>
        </p:txBody>
      </p:sp>
      <p:sp>
        <p:nvSpPr>
          <p:cNvPr id="46" name="Oval 45"/>
          <p:cNvSpPr/>
          <p:nvPr/>
        </p:nvSpPr>
        <p:spPr>
          <a:xfrm>
            <a:off x="7342631" y="1709928"/>
            <a:ext cx="402336" cy="402336"/>
          </a:xfrm>
          <a:prstGeom prst="ellipse">
            <a:avLst/>
          </a:prstGeom>
          <a:solidFill>
            <a:srgbClr val="333D47"/>
          </a:solidFill>
          <a:ln>
            <a:noFill/>
          </a:ln>
        </p:spPr>
        <p:txBody>
          <a:bodyPr rtlCol="0" anchor="ctr"/>
          <a:lstStyle/>
          <a:p/>
        </p:txBody>
      </p:sp>
      <p:sp>
        <p:nvSpPr>
          <p:cNvPr id="47" name="TextBox 46"/>
          <p:cNvSpPr txBox="1"/>
          <p:nvPr/>
        </p:nvSpPr>
        <p:spPr>
          <a:xfrm>
            <a:off x="7342631" y="1709928"/>
            <a:ext cx="402336" cy="402336"/>
          </a:xfrm>
          <a:prstGeom prst="rect">
            <a:avLst/>
          </a:prstGeom>
          <a:noFill/>
        </p:spPr>
        <p:txBody>
          <a:bodyPr wrap="square" lIns="0" rIns="0" tIns="0" bIns="0" anchor="ctr">
            <a:noAutofit/>
          </a:bodyPr>
          <a:lstStyle/>
          <a:p>
            <a:pPr algn="ctr"/>
            <a:r>
              <a:rPr sz="1600" b="1" i="0">
                <a:solidFill>
                  <a:srgbClr val="FFFFFF"/>
                </a:solidFill>
                <a:latin typeface="Arial"/>
              </a:rPr>
              <a:t>1</a:t>
            </a:r>
          </a:p>
        </p:txBody>
      </p:sp>
      <p:sp>
        <p:nvSpPr>
          <p:cNvPr id="48" name="TextBox 47"/>
          <p:cNvSpPr txBox="1"/>
          <p:nvPr/>
        </p:nvSpPr>
        <p:spPr>
          <a:xfrm>
            <a:off x="7909560" y="1691640"/>
            <a:ext cx="2377440" cy="310896"/>
          </a:xfrm>
          <a:prstGeom prst="rect">
            <a:avLst/>
          </a:prstGeom>
          <a:noFill/>
        </p:spPr>
        <p:txBody>
          <a:bodyPr wrap="square" lIns="0" rIns="0" tIns="0" bIns="0" anchor="t">
            <a:noAutofit/>
          </a:bodyPr>
          <a:lstStyle/>
          <a:p>
            <a:pPr algn="l"/>
            <a:r>
              <a:rPr sz="1800" b="1" i="0">
                <a:solidFill>
                  <a:srgbClr val="333D47"/>
                </a:solidFill>
                <a:latin typeface="Arial"/>
              </a:rPr>
              <a:t>Ask</a:t>
            </a:r>
          </a:p>
        </p:txBody>
      </p:sp>
      <p:sp>
        <p:nvSpPr>
          <p:cNvPr id="49" name="TextBox 48"/>
          <p:cNvSpPr txBox="1"/>
          <p:nvPr/>
        </p:nvSpPr>
        <p:spPr>
          <a:xfrm>
            <a:off x="7909560" y="2020824"/>
            <a:ext cx="3794760" cy="274320"/>
          </a:xfrm>
          <a:prstGeom prst="rect">
            <a:avLst/>
          </a:prstGeom>
          <a:noFill/>
        </p:spPr>
        <p:txBody>
          <a:bodyPr wrap="square" lIns="0" rIns="0" tIns="0" bIns="0" anchor="t">
            <a:noAutofit/>
          </a:bodyPr>
          <a:lstStyle/>
          <a:p>
            <a:pPr algn="l"/>
            <a:r>
              <a:rPr sz="1300" b="0" i="0">
                <a:solidFill>
                  <a:srgbClr val="5A6570"/>
                </a:solidFill>
                <a:latin typeface="Arial"/>
              </a:rPr>
              <a:t>The outcome, in Teams</a:t>
            </a:r>
          </a:p>
        </p:txBody>
      </p:sp>
      <p:sp>
        <p:nvSpPr>
          <p:cNvPr id="50" name="Rounded Rectangle 49"/>
          <p:cNvSpPr/>
          <p:nvPr/>
        </p:nvSpPr>
        <p:spPr>
          <a:xfrm>
            <a:off x="7178040" y="2459736"/>
            <a:ext cx="4572000" cy="2103120"/>
          </a:xfrm>
          <a:prstGeom prst="roundRect">
            <a:avLst>
              <a:gd name="adj" fmla="val 6000"/>
            </a:avLst>
          </a:prstGeom>
          <a:solidFill>
            <a:srgbClr val="FBE7EC"/>
          </a:solidFill>
          <a:ln>
            <a:noFill/>
          </a:ln>
        </p:spPr>
        <p:txBody>
          <a:bodyPr rtlCol="0" anchor="ctr"/>
          <a:lstStyle/>
          <a:p/>
        </p:txBody>
      </p:sp>
      <p:sp>
        <p:nvSpPr>
          <p:cNvPr id="51" name="Rounded Rectangle 50"/>
          <p:cNvSpPr/>
          <p:nvPr/>
        </p:nvSpPr>
        <p:spPr>
          <a:xfrm>
            <a:off x="10424160" y="2569464"/>
            <a:ext cx="1188720" cy="310896"/>
          </a:xfrm>
          <a:prstGeom prst="roundRect">
            <a:avLst>
              <a:gd name="adj" fmla="val 50000"/>
            </a:avLst>
          </a:prstGeom>
          <a:solidFill>
            <a:srgbClr val="D31145"/>
          </a:solidFill>
          <a:ln>
            <a:noFill/>
          </a:ln>
        </p:spPr>
        <p:txBody>
          <a:bodyPr rtlCol="0" anchor="ctr" wrap="square" lIns="0" rIns="0" tIns="0" bIns="0">
            <a:noAutofit/>
          </a:bodyPr>
          <a:lstStyle/>
          <a:p>
            <a:pPr algn="ctr"/>
            <a:r>
              <a:rPr sz="1200" b="1" i="0">
                <a:solidFill>
                  <a:srgbClr val="FFFFFF"/>
                </a:solidFill>
                <a:latin typeface="Arial"/>
              </a:rPr>
              <a:t>RILEY</a:t>
            </a:r>
          </a:p>
        </p:txBody>
      </p:sp>
      <p:sp>
        <p:nvSpPr>
          <p:cNvPr id="52" name="Oval 51"/>
          <p:cNvSpPr/>
          <p:nvPr/>
        </p:nvSpPr>
        <p:spPr>
          <a:xfrm>
            <a:off x="7342631" y="2569464"/>
            <a:ext cx="402336" cy="402336"/>
          </a:xfrm>
          <a:prstGeom prst="ellipse">
            <a:avLst/>
          </a:prstGeom>
          <a:solidFill>
            <a:srgbClr val="D31145"/>
          </a:solidFill>
          <a:ln>
            <a:noFill/>
          </a:ln>
        </p:spPr>
        <p:txBody>
          <a:bodyPr rtlCol="0" anchor="ctr"/>
          <a:lstStyle/>
          <a:p/>
        </p:txBody>
      </p:sp>
      <p:sp>
        <p:nvSpPr>
          <p:cNvPr id="53" name="TextBox 52"/>
          <p:cNvSpPr txBox="1"/>
          <p:nvPr/>
        </p:nvSpPr>
        <p:spPr>
          <a:xfrm>
            <a:off x="7342631" y="2569464"/>
            <a:ext cx="402336" cy="402336"/>
          </a:xfrm>
          <a:prstGeom prst="rect">
            <a:avLst/>
          </a:prstGeom>
          <a:noFill/>
        </p:spPr>
        <p:txBody>
          <a:bodyPr wrap="square" lIns="0" rIns="0" tIns="0" bIns="0" anchor="ctr">
            <a:noAutofit/>
          </a:bodyPr>
          <a:lstStyle/>
          <a:p>
            <a:pPr algn="ctr"/>
            <a:r>
              <a:rPr sz="1600" b="1" i="0">
                <a:solidFill>
                  <a:srgbClr val="FFFFFF"/>
                </a:solidFill>
                <a:latin typeface="Arial"/>
              </a:rPr>
              <a:t>2</a:t>
            </a:r>
          </a:p>
        </p:txBody>
      </p:sp>
      <p:sp>
        <p:nvSpPr>
          <p:cNvPr id="54" name="TextBox 53"/>
          <p:cNvSpPr txBox="1"/>
          <p:nvPr/>
        </p:nvSpPr>
        <p:spPr>
          <a:xfrm>
            <a:off x="7909560" y="2551176"/>
            <a:ext cx="2377440" cy="310896"/>
          </a:xfrm>
          <a:prstGeom prst="rect">
            <a:avLst/>
          </a:prstGeom>
          <a:noFill/>
        </p:spPr>
        <p:txBody>
          <a:bodyPr wrap="square" lIns="0" rIns="0" tIns="0" bIns="0" anchor="t">
            <a:noAutofit/>
          </a:bodyPr>
          <a:lstStyle/>
          <a:p>
            <a:pPr algn="l"/>
            <a:r>
              <a:rPr sz="1800" b="1" i="0">
                <a:solidFill>
                  <a:srgbClr val="D31145"/>
                </a:solidFill>
                <a:latin typeface="Arial"/>
              </a:rPr>
              <a:t>Plan</a:t>
            </a:r>
          </a:p>
        </p:txBody>
      </p:sp>
      <p:sp>
        <p:nvSpPr>
          <p:cNvPr id="55" name="TextBox 54"/>
          <p:cNvSpPr txBox="1"/>
          <p:nvPr/>
        </p:nvSpPr>
        <p:spPr>
          <a:xfrm>
            <a:off x="7909560" y="2880360"/>
            <a:ext cx="3794760" cy="274320"/>
          </a:xfrm>
          <a:prstGeom prst="rect">
            <a:avLst/>
          </a:prstGeom>
          <a:noFill/>
        </p:spPr>
        <p:txBody>
          <a:bodyPr wrap="square" lIns="0" rIns="0" tIns="0" bIns="0" anchor="t">
            <a:noAutofit/>
          </a:bodyPr>
          <a:lstStyle/>
          <a:p>
            <a:pPr algn="l"/>
            <a:r>
              <a:rPr sz="1300" b="0" i="0">
                <a:solidFill>
                  <a:srgbClr val="5A6570"/>
                </a:solidFill>
                <a:latin typeface="Arial"/>
              </a:rPr>
              <a:t>Decides which data, systems and AI tools to use</a:t>
            </a:r>
          </a:p>
        </p:txBody>
      </p:sp>
      <p:sp>
        <p:nvSpPr>
          <p:cNvPr id="56" name="Oval 55"/>
          <p:cNvSpPr/>
          <p:nvPr/>
        </p:nvSpPr>
        <p:spPr>
          <a:xfrm>
            <a:off x="7342631" y="3227832"/>
            <a:ext cx="402336" cy="402336"/>
          </a:xfrm>
          <a:prstGeom prst="ellipse">
            <a:avLst/>
          </a:prstGeom>
          <a:solidFill>
            <a:srgbClr val="D31145"/>
          </a:solidFill>
          <a:ln>
            <a:noFill/>
          </a:ln>
        </p:spPr>
        <p:txBody>
          <a:bodyPr rtlCol="0" anchor="ctr"/>
          <a:lstStyle/>
          <a:p/>
        </p:txBody>
      </p:sp>
      <p:sp>
        <p:nvSpPr>
          <p:cNvPr id="57" name="TextBox 56"/>
          <p:cNvSpPr txBox="1"/>
          <p:nvPr/>
        </p:nvSpPr>
        <p:spPr>
          <a:xfrm>
            <a:off x="7342631" y="3227832"/>
            <a:ext cx="402336" cy="402336"/>
          </a:xfrm>
          <a:prstGeom prst="rect">
            <a:avLst/>
          </a:prstGeom>
          <a:noFill/>
        </p:spPr>
        <p:txBody>
          <a:bodyPr wrap="square" lIns="0" rIns="0" tIns="0" bIns="0" anchor="ctr">
            <a:noAutofit/>
          </a:bodyPr>
          <a:lstStyle/>
          <a:p>
            <a:pPr algn="ctr"/>
            <a:r>
              <a:rPr sz="1600" b="1" i="0">
                <a:solidFill>
                  <a:srgbClr val="FFFFFF"/>
                </a:solidFill>
                <a:latin typeface="Arial"/>
              </a:rPr>
              <a:t>3</a:t>
            </a:r>
          </a:p>
        </p:txBody>
      </p:sp>
      <p:sp>
        <p:nvSpPr>
          <p:cNvPr id="58" name="TextBox 57"/>
          <p:cNvSpPr txBox="1"/>
          <p:nvPr/>
        </p:nvSpPr>
        <p:spPr>
          <a:xfrm>
            <a:off x="7909560" y="3209544"/>
            <a:ext cx="2377440" cy="310896"/>
          </a:xfrm>
          <a:prstGeom prst="rect">
            <a:avLst/>
          </a:prstGeom>
          <a:noFill/>
        </p:spPr>
        <p:txBody>
          <a:bodyPr wrap="square" lIns="0" rIns="0" tIns="0" bIns="0" anchor="t">
            <a:noAutofit/>
          </a:bodyPr>
          <a:lstStyle/>
          <a:p>
            <a:pPr algn="l"/>
            <a:r>
              <a:rPr sz="1800" b="1" i="0">
                <a:solidFill>
                  <a:srgbClr val="D31145"/>
                </a:solidFill>
                <a:latin typeface="Arial"/>
              </a:rPr>
              <a:t>Do</a:t>
            </a:r>
          </a:p>
        </p:txBody>
      </p:sp>
      <p:sp>
        <p:nvSpPr>
          <p:cNvPr id="59" name="TextBox 58"/>
          <p:cNvSpPr txBox="1"/>
          <p:nvPr/>
        </p:nvSpPr>
        <p:spPr>
          <a:xfrm>
            <a:off x="7909560" y="3538727"/>
            <a:ext cx="3794760" cy="274320"/>
          </a:xfrm>
          <a:prstGeom prst="rect">
            <a:avLst/>
          </a:prstGeom>
          <a:noFill/>
        </p:spPr>
        <p:txBody>
          <a:bodyPr wrap="square" lIns="0" rIns="0" tIns="0" bIns="0" anchor="t">
            <a:noAutofit/>
          </a:bodyPr>
          <a:lstStyle/>
          <a:p>
            <a:pPr algn="l"/>
            <a:r>
              <a:rPr sz="1300" b="0" i="0">
                <a:solidFill>
                  <a:srgbClr val="5A6570"/>
                </a:solidFill>
                <a:latin typeface="Arial"/>
              </a:rPr>
              <a:t>Uses AIA data, systems and AI</a:t>
            </a:r>
          </a:p>
        </p:txBody>
      </p:sp>
      <p:sp>
        <p:nvSpPr>
          <p:cNvPr id="60" name="Oval 59"/>
          <p:cNvSpPr/>
          <p:nvPr/>
        </p:nvSpPr>
        <p:spPr>
          <a:xfrm>
            <a:off x="7342631" y="3886199"/>
            <a:ext cx="402336" cy="402336"/>
          </a:xfrm>
          <a:prstGeom prst="ellipse">
            <a:avLst/>
          </a:prstGeom>
          <a:solidFill>
            <a:srgbClr val="D31145"/>
          </a:solidFill>
          <a:ln>
            <a:noFill/>
          </a:ln>
        </p:spPr>
        <p:txBody>
          <a:bodyPr rtlCol="0" anchor="ctr"/>
          <a:lstStyle/>
          <a:p/>
        </p:txBody>
      </p:sp>
      <p:sp>
        <p:nvSpPr>
          <p:cNvPr id="61" name="TextBox 60"/>
          <p:cNvSpPr txBox="1"/>
          <p:nvPr/>
        </p:nvSpPr>
        <p:spPr>
          <a:xfrm>
            <a:off x="7342631" y="3886199"/>
            <a:ext cx="402336" cy="402336"/>
          </a:xfrm>
          <a:prstGeom prst="rect">
            <a:avLst/>
          </a:prstGeom>
          <a:noFill/>
        </p:spPr>
        <p:txBody>
          <a:bodyPr wrap="square" lIns="0" rIns="0" tIns="0" bIns="0" anchor="ctr">
            <a:noAutofit/>
          </a:bodyPr>
          <a:lstStyle/>
          <a:p>
            <a:pPr algn="ctr"/>
            <a:r>
              <a:rPr sz="1600" b="1" i="0">
                <a:solidFill>
                  <a:srgbClr val="FFFFFF"/>
                </a:solidFill>
                <a:latin typeface="Arial"/>
              </a:rPr>
              <a:t>4</a:t>
            </a:r>
          </a:p>
        </p:txBody>
      </p:sp>
      <p:sp>
        <p:nvSpPr>
          <p:cNvPr id="62" name="TextBox 61"/>
          <p:cNvSpPr txBox="1"/>
          <p:nvPr/>
        </p:nvSpPr>
        <p:spPr>
          <a:xfrm>
            <a:off x="7909560" y="3867911"/>
            <a:ext cx="2377440" cy="310896"/>
          </a:xfrm>
          <a:prstGeom prst="rect">
            <a:avLst/>
          </a:prstGeom>
          <a:noFill/>
        </p:spPr>
        <p:txBody>
          <a:bodyPr wrap="square" lIns="0" rIns="0" tIns="0" bIns="0" anchor="t">
            <a:noAutofit/>
          </a:bodyPr>
          <a:lstStyle/>
          <a:p>
            <a:pPr algn="l"/>
            <a:r>
              <a:rPr sz="1800" b="1" i="0">
                <a:solidFill>
                  <a:srgbClr val="D31145"/>
                </a:solidFill>
                <a:latin typeface="Arial"/>
              </a:rPr>
              <a:t>Deliver</a:t>
            </a:r>
          </a:p>
        </p:txBody>
      </p:sp>
      <p:sp>
        <p:nvSpPr>
          <p:cNvPr id="63" name="TextBox 62"/>
          <p:cNvSpPr txBox="1"/>
          <p:nvPr/>
        </p:nvSpPr>
        <p:spPr>
          <a:xfrm>
            <a:off x="7909560" y="4197096"/>
            <a:ext cx="3794760" cy="274320"/>
          </a:xfrm>
          <a:prstGeom prst="rect">
            <a:avLst/>
          </a:prstGeom>
          <a:noFill/>
        </p:spPr>
        <p:txBody>
          <a:bodyPr wrap="square" lIns="0" rIns="0" tIns="0" bIns="0" anchor="t">
            <a:noAutofit/>
          </a:bodyPr>
          <a:lstStyle/>
          <a:p>
            <a:pPr algn="l"/>
            <a:r>
              <a:rPr sz="1300" b="0" i="0">
                <a:solidFill>
                  <a:srgbClr val="5A6570"/>
                </a:solidFill>
                <a:latin typeface="Arial"/>
              </a:rPr>
              <a:t>Finished work, ready to review</a:t>
            </a:r>
          </a:p>
        </p:txBody>
      </p:sp>
      <p:sp>
        <p:nvSpPr>
          <p:cNvPr id="64" name="Rounded Rectangle 63"/>
          <p:cNvSpPr/>
          <p:nvPr/>
        </p:nvSpPr>
        <p:spPr>
          <a:xfrm>
            <a:off x="7178040" y="4672584"/>
            <a:ext cx="4572000" cy="960120"/>
          </a:xfrm>
          <a:prstGeom prst="roundRect">
            <a:avLst>
              <a:gd name="adj" fmla="val 6000"/>
            </a:avLst>
          </a:prstGeom>
          <a:solidFill>
            <a:srgbClr val="F4F2F0"/>
          </a:solidFill>
          <a:ln>
            <a:noFill/>
          </a:ln>
        </p:spPr>
        <p:txBody>
          <a:bodyPr rtlCol="0" anchor="ctr"/>
          <a:lstStyle/>
          <a:p/>
        </p:txBody>
      </p:sp>
      <p:sp>
        <p:nvSpPr>
          <p:cNvPr id="65" name="Rounded Rectangle 64"/>
          <p:cNvSpPr/>
          <p:nvPr/>
        </p:nvSpPr>
        <p:spPr>
          <a:xfrm>
            <a:off x="10424160" y="4782312"/>
            <a:ext cx="1188720" cy="310896"/>
          </a:xfrm>
          <a:prstGeom prst="roundRect">
            <a:avLst>
              <a:gd name="adj" fmla="val 50000"/>
            </a:avLst>
          </a:prstGeom>
          <a:solidFill>
            <a:srgbClr val="333D47"/>
          </a:solidFill>
          <a:ln>
            <a:noFill/>
          </a:ln>
        </p:spPr>
        <p:txBody>
          <a:bodyPr rtlCol="0" anchor="ctr" wrap="square" lIns="0" rIns="0" tIns="0" bIns="0">
            <a:noAutofit/>
          </a:bodyPr>
          <a:lstStyle/>
          <a:p>
            <a:pPr algn="ctr"/>
            <a:r>
              <a:rPr sz="1200" b="1" i="0">
                <a:solidFill>
                  <a:srgbClr val="FFFFFF"/>
                </a:solidFill>
                <a:latin typeface="Arial"/>
              </a:rPr>
              <a:t>EMPLOYEE</a:t>
            </a:r>
          </a:p>
        </p:txBody>
      </p:sp>
      <p:sp>
        <p:nvSpPr>
          <p:cNvPr id="66" name="Oval 65"/>
          <p:cNvSpPr/>
          <p:nvPr/>
        </p:nvSpPr>
        <p:spPr>
          <a:xfrm>
            <a:off x="7342631" y="4782312"/>
            <a:ext cx="402336" cy="402336"/>
          </a:xfrm>
          <a:prstGeom prst="ellipse">
            <a:avLst/>
          </a:prstGeom>
          <a:solidFill>
            <a:srgbClr val="333D47"/>
          </a:solidFill>
          <a:ln>
            <a:noFill/>
          </a:ln>
        </p:spPr>
        <p:txBody>
          <a:bodyPr rtlCol="0" anchor="ctr"/>
          <a:lstStyle/>
          <a:p/>
        </p:txBody>
      </p:sp>
      <p:sp>
        <p:nvSpPr>
          <p:cNvPr id="67" name="TextBox 66"/>
          <p:cNvSpPr txBox="1"/>
          <p:nvPr/>
        </p:nvSpPr>
        <p:spPr>
          <a:xfrm>
            <a:off x="7342631" y="4782312"/>
            <a:ext cx="402336" cy="402336"/>
          </a:xfrm>
          <a:prstGeom prst="rect">
            <a:avLst/>
          </a:prstGeom>
          <a:noFill/>
        </p:spPr>
        <p:txBody>
          <a:bodyPr wrap="square" lIns="0" rIns="0" tIns="0" bIns="0" anchor="ctr">
            <a:noAutofit/>
          </a:bodyPr>
          <a:lstStyle/>
          <a:p>
            <a:pPr algn="ctr"/>
            <a:r>
              <a:rPr sz="1600" b="1" i="0">
                <a:solidFill>
                  <a:srgbClr val="FFFFFF"/>
                </a:solidFill>
                <a:latin typeface="Arial"/>
              </a:rPr>
              <a:t>5</a:t>
            </a:r>
          </a:p>
        </p:txBody>
      </p:sp>
      <p:sp>
        <p:nvSpPr>
          <p:cNvPr id="68" name="TextBox 67"/>
          <p:cNvSpPr txBox="1"/>
          <p:nvPr/>
        </p:nvSpPr>
        <p:spPr>
          <a:xfrm>
            <a:off x="7909560" y="4764024"/>
            <a:ext cx="2377440" cy="310896"/>
          </a:xfrm>
          <a:prstGeom prst="rect">
            <a:avLst/>
          </a:prstGeom>
          <a:noFill/>
        </p:spPr>
        <p:txBody>
          <a:bodyPr wrap="square" lIns="0" rIns="0" tIns="0" bIns="0" anchor="t">
            <a:noAutofit/>
          </a:bodyPr>
          <a:lstStyle/>
          <a:p>
            <a:pPr algn="l"/>
            <a:r>
              <a:rPr sz="1800" b="1" i="0">
                <a:solidFill>
                  <a:srgbClr val="333D47"/>
                </a:solidFill>
                <a:latin typeface="Arial"/>
              </a:rPr>
              <a:t>Approve</a:t>
            </a:r>
          </a:p>
        </p:txBody>
      </p:sp>
      <p:sp>
        <p:nvSpPr>
          <p:cNvPr id="69" name="TextBox 68"/>
          <p:cNvSpPr txBox="1"/>
          <p:nvPr/>
        </p:nvSpPr>
        <p:spPr>
          <a:xfrm>
            <a:off x="7909560" y="5093208"/>
            <a:ext cx="3794760" cy="502920"/>
          </a:xfrm>
          <a:prstGeom prst="rect">
            <a:avLst/>
          </a:prstGeom>
          <a:noFill/>
        </p:spPr>
        <p:txBody>
          <a:bodyPr wrap="square" lIns="0" rIns="0" tIns="0" bIns="0" anchor="t">
            <a:noAutofit/>
          </a:bodyPr>
          <a:lstStyle/>
          <a:p>
            <a:pPr algn="l"/>
            <a:r>
              <a:rPr sz="1300" b="0" i="0">
                <a:solidFill>
                  <a:srgbClr val="5A6570"/>
                </a:solidFill>
                <a:latin typeface="Arial"/>
              </a:rPr>
              <a:t>Nothing is finalized, sent or entered into a system until you approve</a:t>
            </a:r>
          </a:p>
        </p:txBody>
      </p:sp>
      <p:sp>
        <p:nvSpPr>
          <p:cNvPr id="70" name="TextBox 69"/>
          <p:cNvSpPr txBox="1"/>
          <p:nvPr/>
        </p:nvSpPr>
        <p:spPr>
          <a:xfrm>
            <a:off x="457200" y="5669280"/>
            <a:ext cx="8229600" cy="274320"/>
          </a:xfrm>
          <a:prstGeom prst="rect">
            <a:avLst/>
          </a:prstGeom>
          <a:noFill/>
        </p:spPr>
        <p:txBody>
          <a:bodyPr wrap="square" lIns="0" rIns="0" tIns="0" bIns="0" anchor="t">
            <a:noAutofit/>
          </a:bodyPr>
          <a:lstStyle/>
          <a:p>
            <a:pPr algn="l"/>
            <a:r>
              <a:rPr sz="1200" b="0" i="1">
                <a:solidFill>
                  <a:srgbClr val="5A6570"/>
                </a:solidFill>
                <a:latin typeface="Arial"/>
              </a:rPr>
              <a:t>Illustrative example. The first pilot workflow is chosen in Phase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What 1 hour a week could mean at scale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IMPACT</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5</a:t>
            </a:fld>
            <a:endParaRPr lang="en-US" dirty="0"/>
          </a:p>
        </p:txBody>
      </p:sp>
      <p:sp>
        <p:nvSpPr>
          <p:cNvPr id="6" name="Rounded Rectangle 5"/>
          <p:cNvSpPr/>
          <p:nvPr/>
        </p:nvSpPr>
        <p:spPr>
          <a:xfrm>
            <a:off x="3995928" y="1536192"/>
            <a:ext cx="4206240" cy="347472"/>
          </a:xfrm>
          <a:prstGeom prst="roundRect">
            <a:avLst>
              <a:gd name="adj" fmla="val 50000"/>
            </a:avLst>
          </a:prstGeom>
          <a:solidFill>
            <a:srgbClr val="FFFFFF"/>
          </a:solidFill>
          <a:ln w="15875">
            <a:solidFill>
              <a:srgbClr val="D31145"/>
            </a:solidFill>
          </a:ln>
        </p:spPr>
        <p:txBody>
          <a:bodyPr rtlCol="0" anchor="ctr" wrap="square" lIns="0" rIns="0" tIns="0" bIns="0">
            <a:noAutofit/>
          </a:bodyPr>
          <a:lstStyle/>
          <a:p>
            <a:pPr algn="ctr"/>
            <a:r>
              <a:rPr sz="1200" b="1" i="0">
                <a:solidFill>
                  <a:srgbClr val="D31145"/>
                </a:solidFill>
                <a:latin typeface="Arial"/>
              </a:rPr>
              <a:t>ILLUSTRATIVE SCENARIO  ·  NOT A FORECAST</a:t>
            </a:r>
          </a:p>
        </p:txBody>
      </p:sp>
      <p:sp>
        <p:nvSpPr>
          <p:cNvPr id="7" name="TextBox 6"/>
          <p:cNvSpPr txBox="1"/>
          <p:nvPr/>
        </p:nvSpPr>
        <p:spPr>
          <a:xfrm>
            <a:off x="612648" y="1993392"/>
            <a:ext cx="10972800" cy="411480"/>
          </a:xfrm>
          <a:prstGeom prst="rect">
            <a:avLst/>
          </a:prstGeom>
          <a:noFill/>
        </p:spPr>
        <p:txBody>
          <a:bodyPr wrap="square" lIns="0" rIns="0" tIns="0" bIns="0" anchor="t">
            <a:noAutofit/>
          </a:bodyPr>
          <a:lstStyle/>
          <a:p>
            <a:pPr algn="ctr"/>
            <a:r>
              <a:rPr sz="1800" b="0" i="0">
                <a:solidFill>
                  <a:srgbClr val="5A6570"/>
                </a:solidFill>
                <a:latin typeface="Arial"/>
              </a:rPr>
              <a:t>If Riley eventually served 1,000 employees and saved each an average of 1 hour a week…</a:t>
            </a:r>
          </a:p>
        </p:txBody>
      </p:sp>
      <p:sp>
        <p:nvSpPr>
          <p:cNvPr id="8" name="TextBox 7"/>
          <p:cNvSpPr txBox="1"/>
          <p:nvPr/>
        </p:nvSpPr>
        <p:spPr>
          <a:xfrm>
            <a:off x="1158087" y="2450592"/>
            <a:ext cx="2103120" cy="868680"/>
          </a:xfrm>
          <a:prstGeom prst="rect">
            <a:avLst/>
          </a:prstGeom>
          <a:noFill/>
        </p:spPr>
        <p:txBody>
          <a:bodyPr wrap="square" lIns="0" rIns="0" tIns="0" bIns="0" anchor="ctr">
            <a:noAutofit/>
          </a:bodyPr>
          <a:lstStyle/>
          <a:p>
            <a:pPr algn="ctr"/>
            <a:r>
              <a:rPr sz="5400" b="1" i="0">
                <a:solidFill>
                  <a:srgbClr val="333D47"/>
                </a:solidFill>
                <a:latin typeface="Arial"/>
              </a:rPr>
              <a:t>1,000</a:t>
            </a:r>
          </a:p>
        </p:txBody>
      </p:sp>
      <p:sp>
        <p:nvSpPr>
          <p:cNvPr id="9" name="TextBox 8"/>
          <p:cNvSpPr txBox="1"/>
          <p:nvPr/>
        </p:nvSpPr>
        <p:spPr>
          <a:xfrm>
            <a:off x="1158087" y="3319272"/>
            <a:ext cx="2103120" cy="320040"/>
          </a:xfrm>
          <a:prstGeom prst="rect">
            <a:avLst/>
          </a:prstGeom>
          <a:noFill/>
        </p:spPr>
        <p:txBody>
          <a:bodyPr wrap="square" lIns="0" rIns="0" tIns="0" bIns="0" anchor="t">
            <a:noAutofit/>
          </a:bodyPr>
          <a:lstStyle/>
          <a:p>
            <a:pPr algn="ctr"/>
            <a:r>
              <a:rPr sz="1600" b="0" i="0">
                <a:solidFill>
                  <a:srgbClr val="5A6570"/>
                </a:solidFill>
                <a:latin typeface="Arial"/>
              </a:rPr>
              <a:t>employees</a:t>
            </a:r>
          </a:p>
        </p:txBody>
      </p:sp>
      <p:sp>
        <p:nvSpPr>
          <p:cNvPr id="10" name="TextBox 9"/>
          <p:cNvSpPr txBox="1"/>
          <p:nvPr/>
        </p:nvSpPr>
        <p:spPr>
          <a:xfrm>
            <a:off x="3261207" y="2450592"/>
            <a:ext cx="548640" cy="868680"/>
          </a:xfrm>
          <a:prstGeom prst="rect">
            <a:avLst/>
          </a:prstGeom>
          <a:noFill/>
        </p:spPr>
        <p:txBody>
          <a:bodyPr wrap="square" lIns="0" rIns="0" tIns="0" bIns="0" anchor="ctr">
            <a:noAutofit/>
          </a:bodyPr>
          <a:lstStyle/>
          <a:p>
            <a:pPr algn="ctr"/>
            <a:r>
              <a:rPr sz="4400" b="0" i="0">
                <a:solidFill>
                  <a:srgbClr val="8A939B"/>
                </a:solidFill>
                <a:latin typeface="Arial"/>
              </a:rPr>
              <a:t>×</a:t>
            </a:r>
          </a:p>
        </p:txBody>
      </p:sp>
      <p:sp>
        <p:nvSpPr>
          <p:cNvPr id="11" name="TextBox 10"/>
          <p:cNvSpPr txBox="1"/>
          <p:nvPr/>
        </p:nvSpPr>
        <p:spPr>
          <a:xfrm>
            <a:off x="3809847" y="2450592"/>
            <a:ext cx="2377440" cy="868680"/>
          </a:xfrm>
          <a:prstGeom prst="rect">
            <a:avLst/>
          </a:prstGeom>
          <a:noFill/>
        </p:spPr>
        <p:txBody>
          <a:bodyPr wrap="square" lIns="0" rIns="0" tIns="0" bIns="0" anchor="ctr">
            <a:noAutofit/>
          </a:bodyPr>
          <a:lstStyle/>
          <a:p>
            <a:pPr algn="ctr"/>
            <a:r>
              <a:rPr sz="5400" b="1" i="0">
                <a:solidFill>
                  <a:srgbClr val="333D47"/>
                </a:solidFill>
                <a:latin typeface="Arial"/>
              </a:rPr>
              <a:t>1 hour</a:t>
            </a:r>
          </a:p>
        </p:txBody>
      </p:sp>
      <p:sp>
        <p:nvSpPr>
          <p:cNvPr id="12" name="TextBox 11"/>
          <p:cNvSpPr txBox="1"/>
          <p:nvPr/>
        </p:nvSpPr>
        <p:spPr>
          <a:xfrm>
            <a:off x="3809847" y="3319272"/>
            <a:ext cx="2377440" cy="320040"/>
          </a:xfrm>
          <a:prstGeom prst="rect">
            <a:avLst/>
          </a:prstGeom>
          <a:noFill/>
        </p:spPr>
        <p:txBody>
          <a:bodyPr wrap="square" lIns="0" rIns="0" tIns="0" bIns="0" anchor="t">
            <a:noAutofit/>
          </a:bodyPr>
          <a:lstStyle/>
          <a:p>
            <a:pPr algn="ctr"/>
            <a:r>
              <a:rPr sz="1600" b="0" i="0">
                <a:solidFill>
                  <a:srgbClr val="5A6570"/>
                </a:solidFill>
                <a:latin typeface="Arial"/>
              </a:rPr>
              <a:t>per employee, per week</a:t>
            </a:r>
          </a:p>
        </p:txBody>
      </p:sp>
      <p:sp>
        <p:nvSpPr>
          <p:cNvPr id="13" name="TextBox 12"/>
          <p:cNvSpPr txBox="1"/>
          <p:nvPr/>
        </p:nvSpPr>
        <p:spPr>
          <a:xfrm>
            <a:off x="6187287" y="2450592"/>
            <a:ext cx="548640" cy="868680"/>
          </a:xfrm>
          <a:prstGeom prst="rect">
            <a:avLst/>
          </a:prstGeom>
          <a:noFill/>
        </p:spPr>
        <p:txBody>
          <a:bodyPr wrap="square" lIns="0" rIns="0" tIns="0" bIns="0" anchor="ctr">
            <a:noAutofit/>
          </a:bodyPr>
          <a:lstStyle/>
          <a:p>
            <a:pPr algn="ctr"/>
            <a:r>
              <a:rPr sz="4400" b="0" i="0">
                <a:solidFill>
                  <a:srgbClr val="8A939B"/>
                </a:solidFill>
                <a:latin typeface="Arial"/>
              </a:rPr>
              <a:t>=</a:t>
            </a:r>
          </a:p>
        </p:txBody>
      </p:sp>
      <p:sp>
        <p:nvSpPr>
          <p:cNvPr id="14" name="TextBox 13"/>
          <p:cNvSpPr txBox="1"/>
          <p:nvPr/>
        </p:nvSpPr>
        <p:spPr>
          <a:xfrm>
            <a:off x="6735927" y="2450592"/>
            <a:ext cx="4297680" cy="868680"/>
          </a:xfrm>
          <a:prstGeom prst="rect">
            <a:avLst/>
          </a:prstGeom>
          <a:noFill/>
        </p:spPr>
        <p:txBody>
          <a:bodyPr wrap="square" lIns="0" rIns="0" tIns="0" bIns="0" anchor="ctr">
            <a:noAutofit/>
          </a:bodyPr>
          <a:lstStyle/>
          <a:p>
            <a:pPr algn="ctr"/>
            <a:r>
              <a:rPr sz="5400" b="1" i="0">
                <a:solidFill>
                  <a:srgbClr val="D31145"/>
                </a:solidFill>
                <a:latin typeface="Arial"/>
              </a:rPr>
              <a:t>1,000 hours</a:t>
            </a:r>
          </a:p>
        </p:txBody>
      </p:sp>
      <p:sp>
        <p:nvSpPr>
          <p:cNvPr id="15" name="TextBox 14"/>
          <p:cNvSpPr txBox="1"/>
          <p:nvPr/>
        </p:nvSpPr>
        <p:spPr>
          <a:xfrm>
            <a:off x="6735927" y="3319272"/>
            <a:ext cx="4297680" cy="566928"/>
          </a:xfrm>
          <a:prstGeom prst="rect">
            <a:avLst/>
          </a:prstGeom>
          <a:noFill/>
        </p:spPr>
        <p:txBody>
          <a:bodyPr wrap="square" lIns="0" rIns="0" tIns="0" bIns="0" anchor="t">
            <a:noAutofit/>
          </a:bodyPr>
          <a:lstStyle/>
          <a:p>
            <a:pPr algn="ctr"/>
            <a:r>
              <a:rPr sz="1600" b="1" i="0">
                <a:solidFill>
                  <a:srgbClr val="D31145"/>
                </a:solidFill>
                <a:latin typeface="Arial"/>
              </a:rPr>
              <a:t>released every week</a:t>
            </a:r>
          </a:p>
          <a:p>
            <a:pPr algn="ctr"/>
            <a:r>
              <a:rPr sz="1500" b="1" i="0">
                <a:solidFill>
                  <a:srgbClr val="333D47"/>
                </a:solidFill>
                <a:latin typeface="Arial"/>
              </a:rPr>
              <a:t>≈ 50,000 hours a year</a:t>
            </a:r>
          </a:p>
        </p:txBody>
      </p:sp>
      <p:sp>
        <p:nvSpPr>
          <p:cNvPr id="16" name="Rectangle 15"/>
          <p:cNvSpPr/>
          <p:nvPr/>
        </p:nvSpPr>
        <p:spPr>
          <a:xfrm>
            <a:off x="1984248" y="4114800"/>
            <a:ext cx="8229600" cy="310896"/>
          </a:xfrm>
          <a:prstGeom prst="rect">
            <a:avLst/>
          </a:prstGeom>
          <a:solidFill>
            <a:srgbClr val="F0F1F2"/>
          </a:solidFill>
          <a:ln>
            <a:noFill/>
          </a:ln>
        </p:spPr>
        <p:txBody>
          <a:bodyPr rtlCol="0" anchor="ctr"/>
          <a:lstStyle/>
          <a:p/>
        </p:txBody>
      </p:sp>
      <p:sp>
        <p:nvSpPr>
          <p:cNvPr id="17" name="Rectangle 16"/>
          <p:cNvSpPr/>
          <p:nvPr/>
        </p:nvSpPr>
        <p:spPr>
          <a:xfrm>
            <a:off x="1984248" y="4114800"/>
            <a:ext cx="1645920" cy="310896"/>
          </a:xfrm>
          <a:prstGeom prst="rect">
            <a:avLst/>
          </a:prstGeom>
          <a:solidFill>
            <a:srgbClr val="D3CAC3"/>
          </a:solidFill>
          <a:ln>
            <a:noFill/>
          </a:ln>
        </p:spPr>
        <p:txBody>
          <a:bodyPr rtlCol="0" anchor="ctr"/>
          <a:lstStyle/>
          <a:p/>
        </p:txBody>
      </p:sp>
      <p:sp>
        <p:nvSpPr>
          <p:cNvPr id="18" name="Rectangle 17"/>
          <p:cNvSpPr/>
          <p:nvPr/>
        </p:nvSpPr>
        <p:spPr>
          <a:xfrm>
            <a:off x="1984248" y="4114800"/>
            <a:ext cx="205740" cy="310896"/>
          </a:xfrm>
          <a:prstGeom prst="rect">
            <a:avLst/>
          </a:prstGeom>
          <a:solidFill>
            <a:srgbClr val="D31145"/>
          </a:solidFill>
          <a:ln>
            <a:noFill/>
          </a:ln>
        </p:spPr>
        <p:txBody>
          <a:bodyPr rtlCol="0" anchor="ctr"/>
          <a:lstStyle/>
          <a:p/>
        </p:txBody>
      </p:sp>
      <p:cxnSp>
        <p:nvCxnSpPr>
          <p:cNvPr id="19" name="Connector 18"/>
          <p:cNvCxnSpPr/>
          <p:nvPr/>
        </p:nvCxnSpPr>
        <p:spPr>
          <a:xfrm>
            <a:off x="2189988" y="4114800"/>
            <a:ext cx="0" cy="457200"/>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630168" y="4114800"/>
            <a:ext cx="0" cy="457200"/>
          </a:xfrm>
          <a:prstGeom prst="line">
            <a:avLst/>
          </a:prstGeom>
          <a:ln w="15875">
            <a:solidFill>
              <a:srgbClr val="333D4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213848" y="4114800"/>
            <a:ext cx="0" cy="457200"/>
          </a:xfrm>
          <a:prstGeom prst="line">
            <a:avLst/>
          </a:prstGeom>
          <a:ln w="15875">
            <a:solidFill>
              <a:srgbClr val="333D4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984248" y="4590288"/>
            <a:ext cx="1554480" cy="457200"/>
          </a:xfrm>
          <a:prstGeom prst="rect">
            <a:avLst/>
          </a:prstGeom>
          <a:noFill/>
        </p:spPr>
        <p:txBody>
          <a:bodyPr wrap="square" lIns="0" rIns="0" tIns="0" bIns="0" anchor="t">
            <a:noAutofit/>
          </a:bodyPr>
          <a:lstStyle/>
          <a:p>
            <a:pPr algn="l"/>
            <a:r>
              <a:rPr sz="1500" b="1" i="0">
                <a:solidFill>
                  <a:srgbClr val="D31145"/>
                </a:solidFill>
                <a:latin typeface="Arial"/>
              </a:rPr>
              <a:t>1 hour</a:t>
            </a:r>
          </a:p>
          <a:p>
            <a:pPr algn="l"/>
            <a:r>
              <a:rPr sz="1200" b="0" i="0">
                <a:solidFill>
                  <a:srgbClr val="5A6570"/>
                </a:solidFill>
                <a:latin typeface="Arial"/>
              </a:rPr>
              <a:t>the scenario</a:t>
            </a:r>
          </a:p>
        </p:txBody>
      </p:sp>
      <p:sp>
        <p:nvSpPr>
          <p:cNvPr id="23" name="TextBox 22"/>
          <p:cNvSpPr txBox="1"/>
          <p:nvPr/>
        </p:nvSpPr>
        <p:spPr>
          <a:xfrm>
            <a:off x="3703320" y="4590288"/>
            <a:ext cx="4206240" cy="457200"/>
          </a:xfrm>
          <a:prstGeom prst="rect">
            <a:avLst/>
          </a:prstGeom>
          <a:noFill/>
        </p:spPr>
        <p:txBody>
          <a:bodyPr wrap="square" lIns="0" rIns="0" tIns="0" bIns="0" anchor="t">
            <a:noAutofit/>
          </a:bodyPr>
          <a:lstStyle/>
          <a:p>
            <a:pPr algn="l"/>
            <a:r>
              <a:rPr sz="1500" b="1" i="0">
                <a:solidFill>
                  <a:srgbClr val="333D47"/>
                </a:solidFill>
                <a:latin typeface="Arial"/>
              </a:rPr>
              <a:t>~8 hours</a:t>
            </a:r>
          </a:p>
          <a:p>
            <a:pPr algn="l"/>
            <a:r>
              <a:rPr sz="1200" b="0" i="0">
                <a:solidFill>
                  <a:srgbClr val="5A6570"/>
                </a:solidFill>
                <a:latin typeface="Arial"/>
              </a:rPr>
              <a:t>looking for information or colleagues (McKinsey, 2012)</a:t>
            </a:r>
          </a:p>
        </p:txBody>
      </p:sp>
      <p:sp>
        <p:nvSpPr>
          <p:cNvPr id="24" name="TextBox 23"/>
          <p:cNvSpPr txBox="1"/>
          <p:nvPr/>
        </p:nvSpPr>
        <p:spPr>
          <a:xfrm>
            <a:off x="8202167" y="4590288"/>
            <a:ext cx="2011680" cy="457200"/>
          </a:xfrm>
          <a:prstGeom prst="rect">
            <a:avLst/>
          </a:prstGeom>
          <a:noFill/>
        </p:spPr>
        <p:txBody>
          <a:bodyPr wrap="square" lIns="0" rIns="0" tIns="0" bIns="0" anchor="t">
            <a:noAutofit/>
          </a:bodyPr>
          <a:lstStyle/>
          <a:p>
            <a:pPr algn="r"/>
            <a:r>
              <a:rPr sz="1500" b="1" i="0">
                <a:solidFill>
                  <a:srgbClr val="333D47"/>
                </a:solidFill>
                <a:latin typeface="Arial"/>
              </a:rPr>
              <a:t>40 hours</a:t>
            </a:r>
          </a:p>
          <a:p>
            <a:pPr algn="r"/>
            <a:r>
              <a:rPr sz="1200" b="0" i="0">
                <a:solidFill>
                  <a:srgbClr val="5A6570"/>
                </a:solidFill>
                <a:latin typeface="Arial"/>
              </a:rPr>
              <a:t>a working week</a:t>
            </a:r>
          </a:p>
        </p:txBody>
      </p:sp>
      <p:sp>
        <p:nvSpPr>
          <p:cNvPr id="25" name="Rounded Rectangle 24"/>
          <p:cNvSpPr/>
          <p:nvPr/>
        </p:nvSpPr>
        <p:spPr>
          <a:xfrm>
            <a:off x="1463040" y="5102352"/>
            <a:ext cx="9262872" cy="512064"/>
          </a:xfrm>
          <a:prstGeom prst="roundRect">
            <a:avLst>
              <a:gd name="adj" fmla="val 30000"/>
            </a:avLst>
          </a:prstGeom>
          <a:solidFill>
            <a:srgbClr val="F4F2F0"/>
          </a:solidFill>
          <a:ln>
            <a:noFill/>
          </a:ln>
        </p:spPr>
        <p:txBody>
          <a:bodyPr rtlCol="0" anchor="ctr"/>
          <a:lstStyle/>
          <a:p/>
        </p:txBody>
      </p:sp>
      <p:sp>
        <p:nvSpPr>
          <p:cNvPr id="26" name="TextBox 25"/>
          <p:cNvSpPr txBox="1"/>
          <p:nvPr/>
        </p:nvSpPr>
        <p:spPr>
          <a:xfrm>
            <a:off x="1463040" y="5102352"/>
            <a:ext cx="9262872" cy="512064"/>
          </a:xfrm>
          <a:prstGeom prst="rect">
            <a:avLst/>
          </a:prstGeom>
          <a:noFill/>
        </p:spPr>
        <p:txBody>
          <a:bodyPr wrap="square" lIns="0" rIns="0" tIns="0" bIns="0" anchor="ctr">
            <a:noAutofit/>
          </a:bodyPr>
          <a:lstStyle/>
          <a:p>
            <a:pPr algn="ctr"/>
            <a:r>
              <a:rPr sz="1200" b="1" i="0">
                <a:solidFill>
                  <a:srgbClr val="D31145"/>
                </a:solidFill>
                <a:latin typeface="Arial"/>
              </a:rPr>
              <a:t>DOUBLE EMPLOYEE VALUE     </a:t>
            </a:r>
            <a:r>
              <a:rPr sz="1600" b="0" i="0">
                <a:solidFill>
                  <a:srgbClr val="5A6570"/>
                </a:solidFill>
                <a:latin typeface="Arial"/>
              </a:rPr>
              <a:t>Less searching and switching  </a:t>
            </a:r>
            <a:r>
              <a:rPr sz="1600" b="1" i="0">
                <a:solidFill>
                  <a:srgbClr val="D31145"/>
                </a:solidFill>
                <a:latin typeface="Arial"/>
              </a:rPr>
              <a:t>→  </a:t>
            </a:r>
            <a:r>
              <a:rPr sz="1600" b="1" i="0">
                <a:solidFill>
                  <a:srgbClr val="333D47"/>
                </a:solidFill>
                <a:latin typeface="Arial"/>
              </a:rPr>
              <a:t>more time for customers and judgment</a:t>
            </a:r>
          </a:p>
        </p:txBody>
      </p:sp>
      <p:sp>
        <p:nvSpPr>
          <p:cNvPr id="27" name="TextBox 26"/>
          <p:cNvSpPr txBox="1"/>
          <p:nvPr/>
        </p:nvSpPr>
        <p:spPr>
          <a:xfrm>
            <a:off x="822960" y="5669280"/>
            <a:ext cx="10561320" cy="274320"/>
          </a:xfrm>
          <a:prstGeom prst="rect">
            <a:avLst/>
          </a:prstGeom>
          <a:noFill/>
        </p:spPr>
        <p:txBody>
          <a:bodyPr wrap="square" lIns="0" rIns="0" tIns="0" bIns="0" anchor="t">
            <a:noAutofit/>
          </a:bodyPr>
          <a:lstStyle/>
          <a:p>
            <a:pPr algn="ctr"/>
            <a:r>
              <a:rPr sz="1200" b="0" i="1">
                <a:solidFill>
                  <a:srgbClr val="5A6570"/>
                </a:solidFill>
                <a:latin typeface="Arial"/>
              </a:rPr>
              <a:t>Illustrative, assuming 50 working weeks. 1,000 is not a pilot size or an AIA employee count. The pilot tests whether 1 hour is achievable.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The pilot turns the scenario into evidence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IMPACT  ·  HOW WE PROVE IT</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6</a:t>
            </a:fld>
            <a:endParaRPr lang="en-US" dirty="0"/>
          </a:p>
        </p:txBody>
      </p:sp>
      <p:sp>
        <p:nvSpPr>
          <p:cNvPr id="6" name="Oval 5"/>
          <p:cNvSpPr/>
          <p:nvPr/>
        </p:nvSpPr>
        <p:spPr>
          <a:xfrm>
            <a:off x="457200" y="1627632"/>
            <a:ext cx="658368" cy="658368"/>
          </a:xfrm>
          <a:prstGeom prst="ellipse">
            <a:avLst/>
          </a:prstGeom>
          <a:solidFill>
            <a:srgbClr val="D31145"/>
          </a:solidFill>
          <a:ln>
            <a:noFill/>
          </a:ln>
        </p:spPr>
        <p:txBody>
          <a:bodyPr rtlCol="0" anchor="ctr"/>
          <a:lstStyle/>
          <a:p/>
        </p:txBody>
      </p:sp>
      <p:pic>
        <p:nvPicPr>
          <p:cNvPr id="7" name="Picture 6" descr="LuTimer_w.png"/>
          <p:cNvPicPr>
            <a:picLocks noChangeAspect="1"/>
          </p:cNvPicPr>
          <p:nvPr/>
        </p:nvPicPr>
        <p:blipFill>
          <a:blip r:embed="rId3"/>
          <a:stretch>
            <a:fillRect/>
          </a:stretch>
        </p:blipFill>
        <p:spPr>
          <a:xfrm>
            <a:off x="615208" y="1785640"/>
            <a:ext cx="342351" cy="342351"/>
          </a:xfrm>
          <a:prstGeom prst="rect">
            <a:avLst/>
          </a:prstGeom>
        </p:spPr>
      </p:pic>
      <p:sp>
        <p:nvSpPr>
          <p:cNvPr id="8" name="TextBox 7"/>
          <p:cNvSpPr txBox="1"/>
          <p:nvPr/>
        </p:nvSpPr>
        <p:spPr>
          <a:xfrm>
            <a:off x="1280160"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Faster?</a:t>
            </a:r>
          </a:p>
        </p:txBody>
      </p:sp>
      <p:cxnSp>
        <p:nvCxnSpPr>
          <p:cNvPr id="9" name="Connector 8"/>
          <p:cNvCxnSpPr/>
          <p:nvPr/>
        </p:nvCxnSpPr>
        <p:spPr>
          <a:xfrm>
            <a:off x="457200" y="2432303"/>
            <a:ext cx="3566160"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Employee time per task</a:t>
            </a:r>
          </a:p>
        </p:txBody>
      </p:sp>
      <p:sp>
        <p:nvSpPr>
          <p:cNvPr id="11" name="TextBox 10"/>
          <p:cNvSpPr txBox="1"/>
          <p:nvPr/>
        </p:nvSpPr>
        <p:spPr>
          <a:xfrm>
            <a:off x="457200"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Hands-on employee effort before vs. after Riley</a:t>
            </a:r>
          </a:p>
        </p:txBody>
      </p:sp>
      <p:cxnSp>
        <p:nvCxnSpPr>
          <p:cNvPr id="12" name="Connector 11"/>
          <p:cNvCxnSpPr/>
          <p:nvPr/>
        </p:nvCxnSpPr>
        <p:spPr>
          <a:xfrm>
            <a:off x="457200" y="3328415"/>
            <a:ext cx="3566160"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Time to finished work</a:t>
            </a:r>
          </a:p>
        </p:txBody>
      </p:sp>
      <p:sp>
        <p:nvSpPr>
          <p:cNvPr id="14" name="TextBox 13"/>
          <p:cNvSpPr txBox="1"/>
          <p:nvPr/>
        </p:nvSpPr>
        <p:spPr>
          <a:xfrm>
            <a:off x="457200"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Elapsed time from request to approved output</a:t>
            </a:r>
          </a:p>
        </p:txBody>
      </p:sp>
      <p:sp>
        <p:nvSpPr>
          <p:cNvPr id="15" name="Oval 14"/>
          <p:cNvSpPr/>
          <p:nvPr/>
        </p:nvSpPr>
        <p:spPr>
          <a:xfrm>
            <a:off x="4325112" y="1627632"/>
            <a:ext cx="658368" cy="658368"/>
          </a:xfrm>
          <a:prstGeom prst="ellipse">
            <a:avLst/>
          </a:prstGeom>
          <a:solidFill>
            <a:srgbClr val="D31145"/>
          </a:solidFill>
          <a:ln>
            <a:noFill/>
          </a:ln>
        </p:spPr>
        <p:txBody>
          <a:bodyPr rtlCol="0" anchor="ctr"/>
          <a:lstStyle/>
          <a:p/>
        </p:txBody>
      </p:sp>
      <p:pic>
        <p:nvPicPr>
          <p:cNvPr id="16" name="Picture 15" descr="LuBadgeCheck_w.png"/>
          <p:cNvPicPr>
            <a:picLocks noChangeAspect="1"/>
          </p:cNvPicPr>
          <p:nvPr/>
        </p:nvPicPr>
        <p:blipFill>
          <a:blip r:embed="rId4"/>
          <a:stretch>
            <a:fillRect/>
          </a:stretch>
        </p:blipFill>
        <p:spPr>
          <a:xfrm>
            <a:off x="4483120" y="1785640"/>
            <a:ext cx="342351" cy="342351"/>
          </a:xfrm>
          <a:prstGeom prst="rect">
            <a:avLst/>
          </a:prstGeom>
        </p:spPr>
      </p:pic>
      <p:sp>
        <p:nvSpPr>
          <p:cNvPr id="17" name="TextBox 16"/>
          <p:cNvSpPr txBox="1"/>
          <p:nvPr/>
        </p:nvSpPr>
        <p:spPr>
          <a:xfrm>
            <a:off x="5148072"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Better?</a:t>
            </a:r>
          </a:p>
        </p:txBody>
      </p:sp>
      <p:cxnSp>
        <p:nvCxnSpPr>
          <p:cNvPr id="18" name="Connector 17"/>
          <p:cNvCxnSpPr/>
          <p:nvPr/>
        </p:nvCxnSpPr>
        <p:spPr>
          <a:xfrm>
            <a:off x="4325112" y="2432303"/>
            <a:ext cx="3566159"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325112"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Quality</a:t>
            </a:r>
          </a:p>
        </p:txBody>
      </p:sp>
      <p:sp>
        <p:nvSpPr>
          <p:cNvPr id="20" name="TextBox 19"/>
          <p:cNvSpPr txBox="1"/>
          <p:nvPr/>
        </p:nvSpPr>
        <p:spPr>
          <a:xfrm>
            <a:off x="4325112"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Accuracy and completeness vs. a human-only baseline, with independent spot-checks</a:t>
            </a:r>
          </a:p>
        </p:txBody>
      </p:sp>
      <p:cxnSp>
        <p:nvCxnSpPr>
          <p:cNvPr id="21" name="Connector 20"/>
          <p:cNvCxnSpPr/>
          <p:nvPr/>
        </p:nvCxnSpPr>
        <p:spPr>
          <a:xfrm>
            <a:off x="4325112" y="3328415"/>
            <a:ext cx="3566159"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25112"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Rework rate</a:t>
            </a:r>
          </a:p>
        </p:txBody>
      </p:sp>
      <p:sp>
        <p:nvSpPr>
          <p:cNvPr id="23" name="TextBox 22"/>
          <p:cNvSpPr txBox="1"/>
          <p:nvPr/>
        </p:nvSpPr>
        <p:spPr>
          <a:xfrm>
            <a:off x="4325112"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How often Riley’s output needs significant correction</a:t>
            </a:r>
          </a:p>
        </p:txBody>
      </p:sp>
      <p:sp>
        <p:nvSpPr>
          <p:cNvPr id="24" name="Oval 23"/>
          <p:cNvSpPr/>
          <p:nvPr/>
        </p:nvSpPr>
        <p:spPr>
          <a:xfrm>
            <a:off x="8193023" y="1627632"/>
            <a:ext cx="658368" cy="658368"/>
          </a:xfrm>
          <a:prstGeom prst="ellipse">
            <a:avLst/>
          </a:prstGeom>
          <a:solidFill>
            <a:srgbClr val="D31145"/>
          </a:solidFill>
          <a:ln>
            <a:noFill/>
          </a:ln>
        </p:spPr>
        <p:txBody>
          <a:bodyPr rtlCol="0" anchor="ctr"/>
          <a:lstStyle/>
          <a:p/>
        </p:txBody>
      </p:sp>
      <p:pic>
        <p:nvPicPr>
          <p:cNvPr id="25" name="Picture 24" descr="LuLayers_w.png"/>
          <p:cNvPicPr>
            <a:picLocks noChangeAspect="1"/>
          </p:cNvPicPr>
          <p:nvPr/>
        </p:nvPicPr>
        <p:blipFill>
          <a:blip r:embed="rId5"/>
          <a:stretch>
            <a:fillRect/>
          </a:stretch>
        </p:blipFill>
        <p:spPr>
          <a:xfrm>
            <a:off x="8351032" y="1785640"/>
            <a:ext cx="342351" cy="342351"/>
          </a:xfrm>
          <a:prstGeom prst="rect">
            <a:avLst/>
          </a:prstGeom>
        </p:spPr>
      </p:pic>
      <p:sp>
        <p:nvSpPr>
          <p:cNvPr id="26" name="TextBox 25"/>
          <p:cNvSpPr txBox="1"/>
          <p:nvPr/>
        </p:nvSpPr>
        <p:spPr>
          <a:xfrm>
            <a:off x="9015984" y="1627632"/>
            <a:ext cx="2743200" cy="658368"/>
          </a:xfrm>
          <a:prstGeom prst="rect">
            <a:avLst/>
          </a:prstGeom>
          <a:noFill/>
        </p:spPr>
        <p:txBody>
          <a:bodyPr wrap="square" lIns="0" rIns="0" tIns="0" bIns="0" anchor="ctr">
            <a:noAutofit/>
          </a:bodyPr>
          <a:lstStyle/>
          <a:p>
            <a:pPr algn="l"/>
            <a:r>
              <a:rPr sz="2200" b="1" i="0">
                <a:solidFill>
                  <a:srgbClr val="333D47"/>
                </a:solidFill>
                <a:latin typeface="Arial"/>
              </a:rPr>
              <a:t>Simpler and adopted?</a:t>
            </a:r>
          </a:p>
        </p:txBody>
      </p:sp>
      <p:cxnSp>
        <p:nvCxnSpPr>
          <p:cNvPr id="27" name="Connector 26"/>
          <p:cNvCxnSpPr/>
          <p:nvPr/>
        </p:nvCxnSpPr>
        <p:spPr>
          <a:xfrm>
            <a:off x="8193023" y="2432303"/>
            <a:ext cx="3566161"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193023" y="2542032"/>
            <a:ext cx="3566160" cy="274320"/>
          </a:xfrm>
          <a:prstGeom prst="rect">
            <a:avLst/>
          </a:prstGeom>
          <a:noFill/>
        </p:spPr>
        <p:txBody>
          <a:bodyPr wrap="square" lIns="0" rIns="0" tIns="0" bIns="0" anchor="t">
            <a:noAutofit/>
          </a:bodyPr>
          <a:lstStyle/>
          <a:p>
            <a:pPr algn="l"/>
            <a:r>
              <a:rPr sz="1700" b="1" i="0">
                <a:solidFill>
                  <a:srgbClr val="333D47"/>
                </a:solidFill>
                <a:latin typeface="Arial"/>
              </a:rPr>
              <a:t>Manual steps and systems</a:t>
            </a:r>
          </a:p>
        </p:txBody>
      </p:sp>
      <p:sp>
        <p:nvSpPr>
          <p:cNvPr id="29" name="TextBox 28"/>
          <p:cNvSpPr txBox="1"/>
          <p:nvPr/>
        </p:nvSpPr>
        <p:spPr>
          <a:xfrm>
            <a:off x="8193023" y="2843784"/>
            <a:ext cx="3566160" cy="457200"/>
          </a:xfrm>
          <a:prstGeom prst="rect">
            <a:avLst/>
          </a:prstGeom>
          <a:noFill/>
        </p:spPr>
        <p:txBody>
          <a:bodyPr wrap="square" lIns="0" rIns="0" tIns="0" bIns="0" anchor="t">
            <a:noAutofit/>
          </a:bodyPr>
          <a:lstStyle/>
          <a:p>
            <a:pPr algn="l"/>
            <a:r>
              <a:rPr sz="1300" b="0" i="0">
                <a:solidFill>
                  <a:srgbClr val="5A6570"/>
                </a:solidFill>
                <a:latin typeface="Arial"/>
              </a:rPr>
              <a:t>How many tools or systems still need manual employee work</a:t>
            </a:r>
          </a:p>
        </p:txBody>
      </p:sp>
      <p:cxnSp>
        <p:nvCxnSpPr>
          <p:cNvPr id="30" name="Connector 29"/>
          <p:cNvCxnSpPr/>
          <p:nvPr/>
        </p:nvCxnSpPr>
        <p:spPr>
          <a:xfrm>
            <a:off x="8193023" y="3328415"/>
            <a:ext cx="3566161" cy="0"/>
          </a:xfrm>
          <a:prstGeom prst="line">
            <a:avLst/>
          </a:prstGeom>
          <a:ln w="12700">
            <a:solidFill>
              <a:srgbClr val="D9D6D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93023" y="3438144"/>
            <a:ext cx="3566160" cy="274320"/>
          </a:xfrm>
          <a:prstGeom prst="rect">
            <a:avLst/>
          </a:prstGeom>
          <a:noFill/>
        </p:spPr>
        <p:txBody>
          <a:bodyPr wrap="square" lIns="0" rIns="0" tIns="0" bIns="0" anchor="t">
            <a:noAutofit/>
          </a:bodyPr>
          <a:lstStyle/>
          <a:p>
            <a:pPr algn="l"/>
            <a:r>
              <a:rPr sz="1700" b="1" i="0">
                <a:solidFill>
                  <a:srgbClr val="333D47"/>
                </a:solidFill>
                <a:latin typeface="Arial"/>
              </a:rPr>
              <a:t>Adoption and repeat use</a:t>
            </a:r>
          </a:p>
        </p:txBody>
      </p:sp>
      <p:sp>
        <p:nvSpPr>
          <p:cNvPr id="32" name="TextBox 31"/>
          <p:cNvSpPr txBox="1"/>
          <p:nvPr/>
        </p:nvSpPr>
        <p:spPr>
          <a:xfrm>
            <a:off x="8193023" y="3739896"/>
            <a:ext cx="3566160" cy="457200"/>
          </a:xfrm>
          <a:prstGeom prst="rect">
            <a:avLst/>
          </a:prstGeom>
          <a:noFill/>
        </p:spPr>
        <p:txBody>
          <a:bodyPr wrap="square" lIns="0" rIns="0" tIns="0" bIns="0" anchor="t">
            <a:noAutofit/>
          </a:bodyPr>
          <a:lstStyle/>
          <a:p>
            <a:pPr algn="l"/>
            <a:r>
              <a:rPr sz="1300" b="0" i="0">
                <a:solidFill>
                  <a:srgbClr val="5A6570"/>
                </a:solidFill>
                <a:latin typeface="Arial"/>
              </a:rPr>
              <a:t>Whether employees choose to keep using Riley</a:t>
            </a:r>
          </a:p>
        </p:txBody>
      </p:sp>
      <p:sp>
        <p:nvSpPr>
          <p:cNvPr id="33" name="Pentagon 32"/>
          <p:cNvSpPr/>
          <p:nvPr/>
        </p:nvSpPr>
        <p:spPr>
          <a:xfrm>
            <a:off x="457200" y="4617720"/>
            <a:ext cx="2916936" cy="1024128"/>
          </a:xfrm>
          <a:prstGeom prst="homePlate">
            <a:avLst>
              <a:gd name="adj" fmla="val 30000"/>
            </a:avLst>
          </a:prstGeom>
          <a:solidFill>
            <a:srgbClr val="E9E4E1"/>
          </a:solidFill>
          <a:ln>
            <a:noFill/>
          </a:ln>
        </p:spPr>
        <p:txBody>
          <a:bodyPr rtlCol="0" anchor="ctr" wrap="square" lIns="137160" rIns="292608" tIns="36576" bIns="36576">
            <a:noAutofit/>
          </a:bodyPr>
          <a:lstStyle/>
          <a:p>
            <a:pPr algn="ctr"/>
            <a:r>
              <a:rPr sz="1400" b="1" i="0">
                <a:solidFill>
                  <a:srgbClr val="333D47"/>
                </a:solidFill>
                <a:latin typeface="Arial"/>
              </a:rPr>
              <a:t>Phase 0</a:t>
            </a:r>
          </a:p>
          <a:p>
            <a:pPr algn="ctr"/>
            <a:r>
              <a:rPr sz="1300" b="0" i="0">
                <a:solidFill>
                  <a:srgbClr val="333D47"/>
                </a:solidFill>
                <a:latin typeface="Arial"/>
              </a:rPr>
              <a:t>Set the baseline</a:t>
            </a:r>
          </a:p>
        </p:txBody>
      </p:sp>
      <p:sp>
        <p:nvSpPr>
          <p:cNvPr id="34" name="Chevron 33"/>
          <p:cNvSpPr/>
          <p:nvPr/>
        </p:nvSpPr>
        <p:spPr>
          <a:xfrm>
            <a:off x="3282696" y="4617720"/>
            <a:ext cx="2916936" cy="1024128"/>
          </a:xfrm>
          <a:prstGeom prst="chevron">
            <a:avLst>
              <a:gd name="adj" fmla="val 30000"/>
            </a:avLst>
          </a:prstGeom>
          <a:solidFill>
            <a:srgbClr val="F4C4D1"/>
          </a:solidFill>
          <a:ln>
            <a:noFill/>
          </a:ln>
        </p:spPr>
        <p:txBody>
          <a:bodyPr rtlCol="0" anchor="ctr" wrap="square" lIns="384048" rIns="292608" tIns="36576" bIns="36576">
            <a:noAutofit/>
          </a:bodyPr>
          <a:lstStyle/>
          <a:p>
            <a:pPr algn="ctr"/>
            <a:r>
              <a:rPr sz="1400" b="1" i="0">
                <a:solidFill>
                  <a:srgbClr val="333D47"/>
                </a:solidFill>
                <a:latin typeface="Arial"/>
              </a:rPr>
              <a:t>Phase 1</a:t>
            </a:r>
          </a:p>
          <a:p>
            <a:pPr algn="ctr"/>
            <a:r>
              <a:rPr sz="1300" b="0" i="0">
                <a:solidFill>
                  <a:srgbClr val="333D47"/>
                </a:solidFill>
                <a:latin typeface="Arial"/>
              </a:rPr>
              <a:t>Test the first workflow</a:t>
            </a:r>
          </a:p>
        </p:txBody>
      </p:sp>
      <p:sp>
        <p:nvSpPr>
          <p:cNvPr id="35" name="Chevron 34"/>
          <p:cNvSpPr/>
          <p:nvPr/>
        </p:nvSpPr>
        <p:spPr>
          <a:xfrm>
            <a:off x="6108192" y="4617720"/>
            <a:ext cx="2916936" cy="1024128"/>
          </a:xfrm>
          <a:prstGeom prst="chevron">
            <a:avLst>
              <a:gd name="adj" fmla="val 30000"/>
            </a:avLst>
          </a:prstGeom>
          <a:solidFill>
            <a:srgbClr val="D31145"/>
          </a:solidFill>
          <a:ln>
            <a:noFill/>
          </a:ln>
        </p:spPr>
        <p:txBody>
          <a:bodyPr rtlCol="0" anchor="ctr" wrap="square" lIns="384048" rIns="292608" tIns="36576" bIns="36576">
            <a:noAutofit/>
          </a:bodyPr>
          <a:lstStyle/>
          <a:p>
            <a:pPr algn="ctr"/>
            <a:r>
              <a:rPr sz="1400" b="1" i="0">
                <a:solidFill>
                  <a:srgbClr val="FFFFFF"/>
                </a:solidFill>
                <a:latin typeface="Arial"/>
              </a:rPr>
              <a:t>Phase 2</a:t>
            </a:r>
          </a:p>
          <a:p>
            <a:pPr algn="ctr"/>
            <a:r>
              <a:rPr sz="1300" b="0" i="0">
                <a:solidFill>
                  <a:srgbClr val="FFFFFF"/>
                </a:solidFill>
                <a:latin typeface="Arial"/>
              </a:rPr>
              <a:t>Add another team’s AI tool or a second workflow</a:t>
            </a:r>
          </a:p>
        </p:txBody>
      </p:sp>
      <p:sp>
        <p:nvSpPr>
          <p:cNvPr id="36" name="Chevron 35"/>
          <p:cNvSpPr/>
          <p:nvPr/>
        </p:nvSpPr>
        <p:spPr>
          <a:xfrm>
            <a:off x="8933688" y="4617720"/>
            <a:ext cx="2916936" cy="1024128"/>
          </a:xfrm>
          <a:prstGeom prst="chevron">
            <a:avLst>
              <a:gd name="adj" fmla="val 30000"/>
            </a:avLst>
          </a:prstGeom>
          <a:solidFill>
            <a:srgbClr val="F4C4D1"/>
          </a:solidFill>
          <a:ln>
            <a:noFill/>
          </a:ln>
        </p:spPr>
        <p:txBody>
          <a:bodyPr rtlCol="0" anchor="ctr" wrap="square" lIns="384048" rIns="292608" tIns="36576" bIns="36576">
            <a:noAutofit/>
          </a:bodyPr>
          <a:lstStyle/>
          <a:p>
            <a:pPr algn="ctr"/>
            <a:r>
              <a:rPr sz="1400" b="1" i="0">
                <a:solidFill>
                  <a:srgbClr val="333D47"/>
                </a:solidFill>
                <a:latin typeface="Arial"/>
              </a:rPr>
              <a:t>Phase 3</a:t>
            </a:r>
          </a:p>
          <a:p>
            <a:pPr algn="ctr"/>
            <a:r>
              <a:rPr sz="1300" b="0" i="0">
                <a:solidFill>
                  <a:srgbClr val="333D47"/>
                </a:solidFill>
                <a:latin typeface="Arial"/>
              </a:rPr>
              <a:t>Use measured results to project wider impact</a:t>
            </a:r>
          </a:p>
        </p:txBody>
      </p:sp>
      <p:sp>
        <p:nvSpPr>
          <p:cNvPr id="37" name="TextBox 36"/>
          <p:cNvSpPr txBox="1"/>
          <p:nvPr/>
        </p:nvSpPr>
        <p:spPr>
          <a:xfrm>
            <a:off x="6108192" y="4315968"/>
            <a:ext cx="2807208" cy="274320"/>
          </a:xfrm>
          <a:prstGeom prst="rect">
            <a:avLst/>
          </a:prstGeom>
          <a:noFill/>
        </p:spPr>
        <p:txBody>
          <a:bodyPr wrap="square" lIns="0" rIns="0" tIns="0" bIns="0" anchor="t">
            <a:noAutofit/>
          </a:bodyPr>
          <a:lstStyle/>
          <a:p>
            <a:pPr algn="ctr"/>
            <a:r>
              <a:rPr sz="1200" b="1" i="0">
                <a:solidFill>
                  <a:srgbClr val="D31145"/>
                </a:solidFill>
                <a:latin typeface="Arial"/>
              </a:rPr>
              <a:t>THE CORE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Isn’t this just Copilot?</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CREATIVITY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7</a:t>
            </a:fld>
            <a:endParaRPr lang="en-US" dirty="0"/>
          </a:p>
        </p:txBody>
      </p:sp>
      <p:sp>
        <p:nvSpPr>
          <p:cNvPr id="6" name="TextBox 5"/>
          <p:cNvSpPr txBox="1"/>
          <p:nvPr/>
        </p:nvSpPr>
        <p:spPr>
          <a:xfrm>
            <a:off x="457200" y="1828800"/>
            <a:ext cx="4023360" cy="3291840"/>
          </a:xfrm>
          <a:prstGeom prst="rect">
            <a:avLst/>
          </a:prstGeom>
          <a:noFill/>
        </p:spPr>
        <p:txBody>
          <a:bodyPr wrap="square" lIns="0" rIns="0" tIns="0" bIns="0" anchor="t">
            <a:noAutofit/>
          </a:bodyPr>
          <a:lstStyle/>
          <a:p>
            <a:pPr algn="l">
              <a:spcAft>
                <a:spcPts val="1400"/>
              </a:spcAft>
            </a:pPr>
            <a:r>
              <a:rPr sz="3000" b="1" i="0">
                <a:solidFill>
                  <a:srgbClr val="D31145"/>
                </a:solidFill>
                <a:latin typeface="Arial"/>
              </a:rPr>
              <a:t>Copilot could be the engine.</a:t>
            </a:r>
          </a:p>
          <a:p>
            <a:pPr algn="l"/>
            <a:r>
              <a:rPr sz="1800" b="1" i="0">
                <a:solidFill>
                  <a:srgbClr val="333D47"/>
                </a:solidFill>
                <a:latin typeface="Arial"/>
              </a:rPr>
              <a:t>Riley is not the AI model. It is the AIA layer that turns separate AI capabilities into one coworker employees can use.</a:t>
            </a:r>
          </a:p>
        </p:txBody>
      </p:sp>
      <p:sp>
        <p:nvSpPr>
          <p:cNvPr id="7" name="TextBox 6"/>
          <p:cNvSpPr txBox="1"/>
          <p:nvPr/>
        </p:nvSpPr>
        <p:spPr>
          <a:xfrm>
            <a:off x="457200" y="4315968"/>
            <a:ext cx="4023360" cy="1325880"/>
          </a:xfrm>
          <a:prstGeom prst="rect">
            <a:avLst/>
          </a:prstGeom>
          <a:noFill/>
        </p:spPr>
        <p:txBody>
          <a:bodyPr wrap="square" lIns="0" rIns="0" tIns="0" bIns="0" anchor="t">
            <a:noAutofit/>
          </a:bodyPr>
          <a:lstStyle/>
          <a:p>
            <a:pPr algn="l">
              <a:spcAft>
                <a:spcPts val="400"/>
              </a:spcAft>
            </a:pPr>
            <a:r>
              <a:rPr sz="1500" b="1" i="0">
                <a:solidFill>
                  <a:srgbClr val="D31145"/>
                </a:solidFill>
                <a:latin typeface="Arial"/>
              </a:rPr>
              <a:t>A smarter platform makes Riley more capable, not irrelevant.</a:t>
            </a:r>
          </a:p>
          <a:p>
            <a:pPr algn="l"/>
            <a:r>
              <a:rPr sz="1300" b="0" i="0">
                <a:solidFill>
                  <a:srgbClr val="5A6570"/>
                </a:solidFill>
                <a:latin typeface="Arial"/>
              </a:rPr>
              <a:t>AIA still decides which data, systems and AI tools are used, and how permissions, workflows, approvals, records and learning work. That is Riley.</a:t>
            </a:r>
          </a:p>
        </p:txBody>
      </p:sp>
      <p:sp>
        <p:nvSpPr>
          <p:cNvPr id="8" name="Rounded Rectangle 7"/>
          <p:cNvSpPr/>
          <p:nvPr/>
        </p:nvSpPr>
        <p:spPr>
          <a:xfrm>
            <a:off x="4846320" y="1691640"/>
            <a:ext cx="6903720" cy="731520"/>
          </a:xfrm>
          <a:prstGeom prst="roundRect">
            <a:avLst>
              <a:gd name="adj" fmla="val 10000"/>
            </a:avLst>
          </a:prstGeom>
          <a:solidFill>
            <a:srgbClr val="FFFFFF"/>
          </a:solidFill>
          <a:ln w="19050">
            <a:solidFill>
              <a:srgbClr val="333D47"/>
            </a:solidFill>
          </a:ln>
        </p:spPr>
        <p:txBody>
          <a:bodyPr rtlCol="0" anchor="ctr"/>
          <a:lstStyle/>
          <a:p/>
        </p:txBody>
      </p:sp>
      <p:pic>
        <p:nvPicPr>
          <p:cNvPr id="9" name="Picture 8" descr="LuMessagesSquare_c.png"/>
          <p:cNvPicPr>
            <a:picLocks noChangeAspect="1"/>
          </p:cNvPicPr>
          <p:nvPr/>
        </p:nvPicPr>
        <p:blipFill>
          <a:blip r:embed="rId3"/>
          <a:stretch>
            <a:fillRect/>
          </a:stretch>
        </p:blipFill>
        <p:spPr>
          <a:xfrm>
            <a:off x="5120640" y="1865376"/>
            <a:ext cx="384048" cy="384048"/>
          </a:xfrm>
          <a:prstGeom prst="rect">
            <a:avLst/>
          </a:prstGeom>
        </p:spPr>
      </p:pic>
      <p:sp>
        <p:nvSpPr>
          <p:cNvPr id="10" name="TextBox 9"/>
          <p:cNvSpPr txBox="1"/>
          <p:nvPr/>
        </p:nvSpPr>
        <p:spPr>
          <a:xfrm>
            <a:off x="5669280" y="1691640"/>
            <a:ext cx="5852160" cy="731520"/>
          </a:xfrm>
          <a:prstGeom prst="rect">
            <a:avLst/>
          </a:prstGeom>
          <a:noFill/>
        </p:spPr>
        <p:txBody>
          <a:bodyPr wrap="square" lIns="0" rIns="0" tIns="0" bIns="0" anchor="ctr">
            <a:noAutofit/>
          </a:bodyPr>
          <a:lstStyle/>
          <a:p>
            <a:pPr algn="l"/>
            <a:r>
              <a:rPr sz="1700" b="1" i="0">
                <a:solidFill>
                  <a:srgbClr val="333D47"/>
                </a:solidFill>
                <a:latin typeface="Arial"/>
              </a:rPr>
              <a:t>One employee experience in Microsoft Teams</a:t>
            </a:r>
          </a:p>
        </p:txBody>
      </p:sp>
      <p:sp>
        <p:nvSpPr>
          <p:cNvPr id="11" name="Rounded Rectangle 10"/>
          <p:cNvSpPr/>
          <p:nvPr/>
        </p:nvSpPr>
        <p:spPr>
          <a:xfrm>
            <a:off x="4846320" y="2560320"/>
            <a:ext cx="6903720" cy="2194560"/>
          </a:xfrm>
          <a:prstGeom prst="roundRect">
            <a:avLst>
              <a:gd name="adj" fmla="val 5000"/>
            </a:avLst>
          </a:prstGeom>
          <a:solidFill>
            <a:srgbClr val="D31145"/>
          </a:solidFill>
          <a:ln>
            <a:noFill/>
          </a:ln>
        </p:spPr>
        <p:txBody>
          <a:bodyPr rtlCol="0" anchor="ctr"/>
          <a:lstStyle/>
          <a:p/>
        </p:txBody>
      </p:sp>
      <p:sp>
        <p:nvSpPr>
          <p:cNvPr id="12" name="TextBox 11"/>
          <p:cNvSpPr txBox="1"/>
          <p:nvPr/>
        </p:nvSpPr>
        <p:spPr>
          <a:xfrm>
            <a:off x="5120640" y="2670048"/>
            <a:ext cx="4572000" cy="365760"/>
          </a:xfrm>
          <a:prstGeom prst="rect">
            <a:avLst/>
          </a:prstGeom>
          <a:noFill/>
        </p:spPr>
        <p:txBody>
          <a:bodyPr wrap="square" lIns="0" rIns="0" tIns="0" bIns="0" anchor="t">
            <a:noAutofit/>
          </a:bodyPr>
          <a:lstStyle/>
          <a:p>
            <a:pPr algn="l"/>
            <a:r>
              <a:rPr sz="1600" b="1" i="0">
                <a:solidFill>
                  <a:srgbClr val="FFFFFF"/>
                </a:solidFill>
                <a:latin typeface="Arial"/>
              </a:rPr>
              <a:t>RILEY  ·  THE AIA LAYER</a:t>
            </a:r>
          </a:p>
        </p:txBody>
      </p:sp>
      <p:sp>
        <p:nvSpPr>
          <p:cNvPr id="13" name="Rounded Rectangle 12"/>
          <p:cNvSpPr/>
          <p:nvPr/>
        </p:nvSpPr>
        <p:spPr>
          <a:xfrm>
            <a:off x="5052059" y="3127248"/>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AIA data, systems and processes</a:t>
            </a:r>
          </a:p>
        </p:txBody>
      </p:sp>
      <p:sp>
        <p:nvSpPr>
          <p:cNvPr id="14" name="Rounded Rectangle 13"/>
          <p:cNvSpPr/>
          <p:nvPr/>
        </p:nvSpPr>
        <p:spPr>
          <a:xfrm>
            <a:off x="8389620" y="3127248"/>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AI capabilities from AIA teams</a:t>
            </a:r>
          </a:p>
        </p:txBody>
      </p:sp>
      <p:sp>
        <p:nvSpPr>
          <p:cNvPr id="15" name="Rounded Rectangle 14"/>
          <p:cNvSpPr/>
          <p:nvPr/>
        </p:nvSpPr>
        <p:spPr>
          <a:xfrm>
            <a:off x="5052059" y="3904487"/>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Permissions, governance and audit</a:t>
            </a:r>
          </a:p>
        </p:txBody>
      </p:sp>
      <p:sp>
        <p:nvSpPr>
          <p:cNvPr id="16" name="Rounded Rectangle 15"/>
          <p:cNvSpPr/>
          <p:nvPr/>
        </p:nvSpPr>
        <p:spPr>
          <a:xfrm>
            <a:off x="8389620" y="3904487"/>
            <a:ext cx="3154680" cy="640080"/>
          </a:xfrm>
          <a:prstGeom prst="roundRect">
            <a:avLst>
              <a:gd name="adj" fmla="val 12000"/>
            </a:avLst>
          </a:prstGeom>
          <a:solidFill>
            <a:srgbClr val="FFFFFF"/>
          </a:solidFill>
          <a:ln>
            <a:noFill/>
          </a:ln>
        </p:spPr>
        <p:txBody>
          <a:bodyPr rtlCol="0" anchor="ctr" wrap="square" lIns="73152" rIns="73152" tIns="73152" bIns="73152">
            <a:noAutofit/>
          </a:bodyPr>
          <a:lstStyle/>
          <a:p>
            <a:pPr algn="ctr"/>
            <a:r>
              <a:rPr sz="1500" b="1" i="0">
                <a:solidFill>
                  <a:srgbClr val="D31145"/>
                </a:solidFill>
                <a:latin typeface="Arial"/>
              </a:rPr>
              <a:t>Learning from employee feedback</a:t>
            </a:r>
          </a:p>
        </p:txBody>
      </p:sp>
      <p:sp>
        <p:nvSpPr>
          <p:cNvPr id="17" name="Rounded Rectangle 16"/>
          <p:cNvSpPr/>
          <p:nvPr/>
        </p:nvSpPr>
        <p:spPr>
          <a:xfrm>
            <a:off x="4846320" y="4892040"/>
            <a:ext cx="6903720" cy="731520"/>
          </a:xfrm>
          <a:prstGeom prst="roundRect">
            <a:avLst>
              <a:gd name="adj" fmla="val 10000"/>
            </a:avLst>
          </a:prstGeom>
          <a:solidFill>
            <a:srgbClr val="F0F1F2"/>
          </a:solidFill>
          <a:ln>
            <a:noFill/>
          </a:ln>
        </p:spPr>
        <p:txBody>
          <a:bodyPr rtlCol="0" anchor="ctr"/>
          <a:lstStyle/>
          <a:p/>
        </p:txBody>
      </p:sp>
      <p:pic>
        <p:nvPicPr>
          <p:cNvPr id="18" name="Picture 17" descr="LuCpu_g.png"/>
          <p:cNvPicPr>
            <a:picLocks noChangeAspect="1"/>
          </p:cNvPicPr>
          <p:nvPr/>
        </p:nvPicPr>
        <p:blipFill>
          <a:blip r:embed="rId4"/>
          <a:stretch>
            <a:fillRect/>
          </a:stretch>
        </p:blipFill>
        <p:spPr>
          <a:xfrm>
            <a:off x="5120640" y="5065776"/>
            <a:ext cx="384048" cy="384048"/>
          </a:xfrm>
          <a:prstGeom prst="rect">
            <a:avLst/>
          </a:prstGeom>
        </p:spPr>
      </p:pic>
      <p:sp>
        <p:nvSpPr>
          <p:cNvPr id="19" name="TextBox 18"/>
          <p:cNvSpPr txBox="1"/>
          <p:nvPr/>
        </p:nvSpPr>
        <p:spPr>
          <a:xfrm>
            <a:off x="5669280" y="4892040"/>
            <a:ext cx="4297680" cy="731520"/>
          </a:xfrm>
          <a:prstGeom prst="rect">
            <a:avLst/>
          </a:prstGeom>
          <a:noFill/>
        </p:spPr>
        <p:txBody>
          <a:bodyPr wrap="square" lIns="0" rIns="0" tIns="0" bIns="0" anchor="ctr">
            <a:noAutofit/>
          </a:bodyPr>
          <a:lstStyle/>
          <a:p>
            <a:pPr algn="l"/>
            <a:r>
              <a:rPr sz="1600" b="0" i="0">
                <a:solidFill>
                  <a:srgbClr val="333D47"/>
                </a:solidFill>
                <a:latin typeface="Arial"/>
              </a:rPr>
              <a:t>Engine: Copilot Studio or another platform</a:t>
            </a:r>
          </a:p>
        </p:txBody>
      </p:sp>
      <p:sp>
        <p:nvSpPr>
          <p:cNvPr id="20" name="TextBox 19"/>
          <p:cNvSpPr txBox="1"/>
          <p:nvPr/>
        </p:nvSpPr>
        <p:spPr>
          <a:xfrm>
            <a:off x="9829800" y="4892040"/>
            <a:ext cx="1737360" cy="731520"/>
          </a:xfrm>
          <a:prstGeom prst="rect">
            <a:avLst/>
          </a:prstGeom>
          <a:noFill/>
        </p:spPr>
        <p:txBody>
          <a:bodyPr wrap="square" lIns="0" rIns="0" tIns="0" bIns="0" anchor="ctr">
            <a:noAutofit/>
          </a:bodyPr>
          <a:lstStyle/>
          <a:p>
            <a:pPr algn="r"/>
            <a:r>
              <a:rPr sz="1200" b="1" i="0">
                <a:solidFill>
                  <a:srgbClr val="5A6570"/>
                </a:solidFill>
                <a:latin typeface="Arial"/>
              </a:rPr>
              <a:t>CHOSEN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More AI, a stronger Riley. Not more tools.</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CREATIVITY  ·  THE MULTIPLIER</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8</a:t>
            </a:fld>
            <a:endParaRPr lang="en-US" dirty="0"/>
          </a:p>
        </p:txBody>
      </p:sp>
      <p:sp>
        <p:nvSpPr>
          <p:cNvPr id="6" name="TextBox 5"/>
          <p:cNvSpPr txBox="1"/>
          <p:nvPr/>
        </p:nvSpPr>
        <p:spPr>
          <a:xfrm>
            <a:off x="2788920" y="1261872"/>
            <a:ext cx="8823960" cy="310896"/>
          </a:xfrm>
          <a:prstGeom prst="rect">
            <a:avLst/>
          </a:prstGeom>
          <a:noFill/>
        </p:spPr>
        <p:txBody>
          <a:bodyPr wrap="square" lIns="0" rIns="0" tIns="0" bIns="0" anchor="t">
            <a:noAutofit/>
          </a:bodyPr>
          <a:lstStyle/>
          <a:p>
            <a:pPr algn="ctr"/>
            <a:r>
              <a:rPr sz="1500" b="1" i="0">
                <a:solidFill>
                  <a:srgbClr val="D31145"/>
                </a:solidFill>
                <a:latin typeface="Arial"/>
              </a:rPr>
              <a:t>AI capabilities AIA adds  →</a:t>
            </a:r>
          </a:p>
        </p:txBody>
      </p:sp>
      <p:sp>
        <p:nvSpPr>
          <p:cNvPr id="7" name="TextBox 6"/>
          <p:cNvSpPr txBox="1"/>
          <p:nvPr/>
        </p:nvSpPr>
        <p:spPr>
          <a:xfrm>
            <a:off x="278892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1 capability</a:t>
            </a:r>
          </a:p>
        </p:txBody>
      </p:sp>
      <p:sp>
        <p:nvSpPr>
          <p:cNvPr id="8" name="TextBox 7"/>
          <p:cNvSpPr txBox="1"/>
          <p:nvPr/>
        </p:nvSpPr>
        <p:spPr>
          <a:xfrm>
            <a:off x="502920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2 capabilities</a:t>
            </a:r>
          </a:p>
        </p:txBody>
      </p:sp>
      <p:sp>
        <p:nvSpPr>
          <p:cNvPr id="9" name="TextBox 8"/>
          <p:cNvSpPr txBox="1"/>
          <p:nvPr/>
        </p:nvSpPr>
        <p:spPr>
          <a:xfrm>
            <a:off x="726948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3 capabilities</a:t>
            </a:r>
          </a:p>
        </p:txBody>
      </p:sp>
      <p:sp>
        <p:nvSpPr>
          <p:cNvPr id="10" name="TextBox 9"/>
          <p:cNvSpPr txBox="1"/>
          <p:nvPr/>
        </p:nvSpPr>
        <p:spPr>
          <a:xfrm>
            <a:off x="9509760" y="1645920"/>
            <a:ext cx="2103120" cy="292608"/>
          </a:xfrm>
          <a:prstGeom prst="rect">
            <a:avLst/>
          </a:prstGeom>
          <a:noFill/>
        </p:spPr>
        <p:txBody>
          <a:bodyPr wrap="square" lIns="0" rIns="0" tIns="0" bIns="0" anchor="t">
            <a:noAutofit/>
          </a:bodyPr>
          <a:lstStyle/>
          <a:p>
            <a:pPr algn="ctr"/>
            <a:r>
              <a:rPr sz="1400" b="1" i="0">
                <a:solidFill>
                  <a:srgbClr val="5A6570"/>
                </a:solidFill>
                <a:latin typeface="Arial"/>
              </a:rPr>
              <a:t>4 capabilities</a:t>
            </a:r>
          </a:p>
        </p:txBody>
      </p:sp>
      <p:sp>
        <p:nvSpPr>
          <p:cNvPr id="11" name="Rounded Rectangle 10"/>
          <p:cNvSpPr/>
          <p:nvPr/>
        </p:nvSpPr>
        <p:spPr>
          <a:xfrm>
            <a:off x="457200" y="2011680"/>
            <a:ext cx="11292840" cy="1325880"/>
          </a:xfrm>
          <a:prstGeom prst="roundRect">
            <a:avLst>
              <a:gd name="adj" fmla="val 5000"/>
            </a:avLst>
          </a:prstGeom>
          <a:solidFill>
            <a:srgbClr val="F4F2F0"/>
          </a:solidFill>
          <a:ln>
            <a:noFill/>
          </a:ln>
        </p:spPr>
        <p:txBody>
          <a:bodyPr rtlCol="0" anchor="ctr"/>
          <a:lstStyle/>
          <a:p/>
        </p:txBody>
      </p:sp>
      <p:sp>
        <p:nvSpPr>
          <p:cNvPr id="12" name="TextBox 11"/>
          <p:cNvSpPr txBox="1"/>
          <p:nvPr/>
        </p:nvSpPr>
        <p:spPr>
          <a:xfrm>
            <a:off x="685800" y="2267712"/>
            <a:ext cx="2103120" cy="274320"/>
          </a:xfrm>
          <a:prstGeom prst="rect">
            <a:avLst/>
          </a:prstGeom>
          <a:noFill/>
        </p:spPr>
        <p:txBody>
          <a:bodyPr wrap="square" lIns="0" rIns="0" tIns="0" bIns="0" anchor="t">
            <a:noAutofit/>
          </a:bodyPr>
          <a:lstStyle/>
          <a:p>
            <a:pPr algn="l"/>
            <a:r>
              <a:rPr sz="1200" b="1" i="0">
                <a:solidFill>
                  <a:srgbClr val="5A6570"/>
                </a:solidFill>
                <a:latin typeface="Arial"/>
              </a:rPr>
              <a:t>WITHOUT RILEY</a:t>
            </a:r>
          </a:p>
        </p:txBody>
      </p:sp>
      <p:sp>
        <p:nvSpPr>
          <p:cNvPr id="13" name="TextBox 12"/>
          <p:cNvSpPr txBox="1"/>
          <p:nvPr/>
        </p:nvSpPr>
        <p:spPr>
          <a:xfrm>
            <a:off x="685800" y="2542032"/>
            <a:ext cx="2103120" cy="685800"/>
          </a:xfrm>
          <a:prstGeom prst="rect">
            <a:avLst/>
          </a:prstGeom>
          <a:noFill/>
        </p:spPr>
        <p:txBody>
          <a:bodyPr wrap="square" lIns="0" rIns="0" tIns="0" bIns="0" anchor="t">
            <a:noAutofit/>
          </a:bodyPr>
          <a:lstStyle/>
          <a:p>
            <a:pPr algn="l"/>
            <a:r>
              <a:rPr sz="1900" b="1" i="0">
                <a:solidFill>
                  <a:srgbClr val="333D47"/>
                </a:solidFill>
                <a:latin typeface="Arial"/>
              </a:rPr>
              <a:t>More tools to learn</a:t>
            </a:r>
          </a:p>
        </p:txBody>
      </p:sp>
      <p:sp>
        <p:nvSpPr>
          <p:cNvPr id="14" name="Rounded Rectangle 13"/>
          <p:cNvSpPr/>
          <p:nvPr/>
        </p:nvSpPr>
        <p:spPr>
          <a:xfrm>
            <a:off x="3630167"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15" name="Picture 14" descr="LuAppWindow_c.png"/>
          <p:cNvPicPr>
            <a:picLocks noChangeAspect="1"/>
          </p:cNvPicPr>
          <p:nvPr/>
        </p:nvPicPr>
        <p:blipFill>
          <a:blip r:embed="rId3"/>
          <a:stretch>
            <a:fillRect/>
          </a:stretch>
        </p:blipFill>
        <p:spPr>
          <a:xfrm>
            <a:off x="3703319" y="2331720"/>
            <a:ext cx="274320" cy="274320"/>
          </a:xfrm>
          <a:prstGeom prst="rect">
            <a:avLst/>
          </a:prstGeom>
        </p:spPr>
      </p:pic>
      <p:sp>
        <p:nvSpPr>
          <p:cNvPr id="16" name="TextBox 15"/>
          <p:cNvSpPr txBox="1"/>
          <p:nvPr/>
        </p:nvSpPr>
        <p:spPr>
          <a:xfrm>
            <a:off x="2788919"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1 tool</a:t>
            </a:r>
          </a:p>
        </p:txBody>
      </p:sp>
      <p:sp>
        <p:nvSpPr>
          <p:cNvPr id="17" name="Rounded Rectangle 16"/>
          <p:cNvSpPr/>
          <p:nvPr/>
        </p:nvSpPr>
        <p:spPr>
          <a:xfrm>
            <a:off x="5614416"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18" name="Picture 17" descr="LuAppWindow_c.png"/>
          <p:cNvPicPr>
            <a:picLocks noChangeAspect="1"/>
          </p:cNvPicPr>
          <p:nvPr/>
        </p:nvPicPr>
        <p:blipFill>
          <a:blip r:embed="rId3"/>
          <a:stretch>
            <a:fillRect/>
          </a:stretch>
        </p:blipFill>
        <p:spPr>
          <a:xfrm>
            <a:off x="5687568" y="2331720"/>
            <a:ext cx="274320" cy="274320"/>
          </a:xfrm>
          <a:prstGeom prst="rect">
            <a:avLst/>
          </a:prstGeom>
        </p:spPr>
      </p:pic>
      <p:sp>
        <p:nvSpPr>
          <p:cNvPr id="19" name="Rounded Rectangle 18"/>
          <p:cNvSpPr/>
          <p:nvPr/>
        </p:nvSpPr>
        <p:spPr>
          <a:xfrm>
            <a:off x="6126480"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0" name="Picture 19" descr="LuAppWindow_c.png"/>
          <p:cNvPicPr>
            <a:picLocks noChangeAspect="1"/>
          </p:cNvPicPr>
          <p:nvPr/>
        </p:nvPicPr>
        <p:blipFill>
          <a:blip r:embed="rId3"/>
          <a:stretch>
            <a:fillRect/>
          </a:stretch>
        </p:blipFill>
        <p:spPr>
          <a:xfrm>
            <a:off x="6199632" y="2331720"/>
            <a:ext cx="274320" cy="274320"/>
          </a:xfrm>
          <a:prstGeom prst="rect">
            <a:avLst/>
          </a:prstGeom>
        </p:spPr>
      </p:pic>
      <p:sp>
        <p:nvSpPr>
          <p:cNvPr id="21" name="TextBox 20"/>
          <p:cNvSpPr txBox="1"/>
          <p:nvPr/>
        </p:nvSpPr>
        <p:spPr>
          <a:xfrm>
            <a:off x="5029200"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2 tools</a:t>
            </a:r>
          </a:p>
        </p:txBody>
      </p:sp>
      <p:sp>
        <p:nvSpPr>
          <p:cNvPr id="22" name="Rounded Rectangle 21"/>
          <p:cNvSpPr/>
          <p:nvPr/>
        </p:nvSpPr>
        <p:spPr>
          <a:xfrm>
            <a:off x="7598663"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3" name="Picture 22" descr="LuAppWindow_c.png"/>
          <p:cNvPicPr>
            <a:picLocks noChangeAspect="1"/>
          </p:cNvPicPr>
          <p:nvPr/>
        </p:nvPicPr>
        <p:blipFill>
          <a:blip r:embed="rId3"/>
          <a:stretch>
            <a:fillRect/>
          </a:stretch>
        </p:blipFill>
        <p:spPr>
          <a:xfrm>
            <a:off x="7671815" y="2331720"/>
            <a:ext cx="274320" cy="274320"/>
          </a:xfrm>
          <a:prstGeom prst="rect">
            <a:avLst/>
          </a:prstGeom>
        </p:spPr>
      </p:pic>
      <p:sp>
        <p:nvSpPr>
          <p:cNvPr id="24" name="Rounded Rectangle 23"/>
          <p:cNvSpPr/>
          <p:nvPr/>
        </p:nvSpPr>
        <p:spPr>
          <a:xfrm>
            <a:off x="8110727"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5" name="Picture 24" descr="LuAppWindow_c.png"/>
          <p:cNvPicPr>
            <a:picLocks noChangeAspect="1"/>
          </p:cNvPicPr>
          <p:nvPr/>
        </p:nvPicPr>
        <p:blipFill>
          <a:blip r:embed="rId3"/>
          <a:stretch>
            <a:fillRect/>
          </a:stretch>
        </p:blipFill>
        <p:spPr>
          <a:xfrm>
            <a:off x="8183879" y="2331720"/>
            <a:ext cx="274320" cy="274320"/>
          </a:xfrm>
          <a:prstGeom prst="rect">
            <a:avLst/>
          </a:prstGeom>
        </p:spPr>
      </p:pic>
      <p:sp>
        <p:nvSpPr>
          <p:cNvPr id="26" name="Rounded Rectangle 25"/>
          <p:cNvSpPr/>
          <p:nvPr/>
        </p:nvSpPr>
        <p:spPr>
          <a:xfrm>
            <a:off x="8622792"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27" name="Picture 26" descr="LuAppWindow_c.png"/>
          <p:cNvPicPr>
            <a:picLocks noChangeAspect="1"/>
          </p:cNvPicPr>
          <p:nvPr/>
        </p:nvPicPr>
        <p:blipFill>
          <a:blip r:embed="rId3"/>
          <a:stretch>
            <a:fillRect/>
          </a:stretch>
        </p:blipFill>
        <p:spPr>
          <a:xfrm>
            <a:off x="8695944" y="2331720"/>
            <a:ext cx="274320" cy="274320"/>
          </a:xfrm>
          <a:prstGeom prst="rect">
            <a:avLst/>
          </a:prstGeom>
        </p:spPr>
      </p:pic>
      <p:sp>
        <p:nvSpPr>
          <p:cNvPr id="28" name="TextBox 27"/>
          <p:cNvSpPr txBox="1"/>
          <p:nvPr/>
        </p:nvSpPr>
        <p:spPr>
          <a:xfrm>
            <a:off x="7269479"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3 tools</a:t>
            </a:r>
          </a:p>
        </p:txBody>
      </p:sp>
      <p:sp>
        <p:nvSpPr>
          <p:cNvPr id="29" name="Rounded Rectangle 28"/>
          <p:cNvSpPr/>
          <p:nvPr/>
        </p:nvSpPr>
        <p:spPr>
          <a:xfrm>
            <a:off x="9582912"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0" name="Picture 29" descr="LuAppWindow_c.png"/>
          <p:cNvPicPr>
            <a:picLocks noChangeAspect="1"/>
          </p:cNvPicPr>
          <p:nvPr/>
        </p:nvPicPr>
        <p:blipFill>
          <a:blip r:embed="rId3"/>
          <a:stretch>
            <a:fillRect/>
          </a:stretch>
        </p:blipFill>
        <p:spPr>
          <a:xfrm>
            <a:off x="9656064" y="2331720"/>
            <a:ext cx="274320" cy="274320"/>
          </a:xfrm>
          <a:prstGeom prst="rect">
            <a:avLst/>
          </a:prstGeom>
        </p:spPr>
      </p:pic>
      <p:sp>
        <p:nvSpPr>
          <p:cNvPr id="31" name="Rounded Rectangle 30"/>
          <p:cNvSpPr/>
          <p:nvPr/>
        </p:nvSpPr>
        <p:spPr>
          <a:xfrm>
            <a:off x="10094976"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2" name="Picture 31" descr="LuAppWindow_c.png"/>
          <p:cNvPicPr>
            <a:picLocks noChangeAspect="1"/>
          </p:cNvPicPr>
          <p:nvPr/>
        </p:nvPicPr>
        <p:blipFill>
          <a:blip r:embed="rId3"/>
          <a:stretch>
            <a:fillRect/>
          </a:stretch>
        </p:blipFill>
        <p:spPr>
          <a:xfrm>
            <a:off x="10168128" y="2331720"/>
            <a:ext cx="274320" cy="274320"/>
          </a:xfrm>
          <a:prstGeom prst="rect">
            <a:avLst/>
          </a:prstGeom>
        </p:spPr>
      </p:pic>
      <p:sp>
        <p:nvSpPr>
          <p:cNvPr id="33" name="Rounded Rectangle 32"/>
          <p:cNvSpPr/>
          <p:nvPr/>
        </p:nvSpPr>
        <p:spPr>
          <a:xfrm>
            <a:off x="10607040"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4" name="Picture 33" descr="LuAppWindow_c.png"/>
          <p:cNvPicPr>
            <a:picLocks noChangeAspect="1"/>
          </p:cNvPicPr>
          <p:nvPr/>
        </p:nvPicPr>
        <p:blipFill>
          <a:blip r:embed="rId3"/>
          <a:stretch>
            <a:fillRect/>
          </a:stretch>
        </p:blipFill>
        <p:spPr>
          <a:xfrm>
            <a:off x="10680192" y="2331720"/>
            <a:ext cx="274320" cy="274320"/>
          </a:xfrm>
          <a:prstGeom prst="rect">
            <a:avLst/>
          </a:prstGeom>
        </p:spPr>
      </p:pic>
      <p:sp>
        <p:nvSpPr>
          <p:cNvPr id="35" name="Rounded Rectangle 34"/>
          <p:cNvSpPr/>
          <p:nvPr/>
        </p:nvSpPr>
        <p:spPr>
          <a:xfrm>
            <a:off x="11119104" y="2258568"/>
            <a:ext cx="420624" cy="420624"/>
          </a:xfrm>
          <a:prstGeom prst="roundRect">
            <a:avLst>
              <a:gd name="adj" fmla="val 18000"/>
            </a:avLst>
          </a:prstGeom>
          <a:solidFill>
            <a:srgbClr val="FFFFFF"/>
          </a:solidFill>
          <a:ln w="12700">
            <a:solidFill>
              <a:srgbClr val="8A939B"/>
            </a:solidFill>
          </a:ln>
        </p:spPr>
        <p:txBody>
          <a:bodyPr rtlCol="0" anchor="ctr"/>
          <a:lstStyle/>
          <a:p/>
        </p:txBody>
      </p:sp>
      <p:pic>
        <p:nvPicPr>
          <p:cNvPr id="36" name="Picture 35" descr="LuAppWindow_c.png"/>
          <p:cNvPicPr>
            <a:picLocks noChangeAspect="1"/>
          </p:cNvPicPr>
          <p:nvPr/>
        </p:nvPicPr>
        <p:blipFill>
          <a:blip r:embed="rId3"/>
          <a:stretch>
            <a:fillRect/>
          </a:stretch>
        </p:blipFill>
        <p:spPr>
          <a:xfrm>
            <a:off x="11192256" y="2331720"/>
            <a:ext cx="274320" cy="274320"/>
          </a:xfrm>
          <a:prstGeom prst="rect">
            <a:avLst/>
          </a:prstGeom>
        </p:spPr>
      </p:pic>
      <p:sp>
        <p:nvSpPr>
          <p:cNvPr id="37" name="TextBox 36"/>
          <p:cNvSpPr txBox="1"/>
          <p:nvPr/>
        </p:nvSpPr>
        <p:spPr>
          <a:xfrm>
            <a:off x="9509760" y="2852928"/>
            <a:ext cx="2103120" cy="320040"/>
          </a:xfrm>
          <a:prstGeom prst="rect">
            <a:avLst/>
          </a:prstGeom>
          <a:noFill/>
        </p:spPr>
        <p:txBody>
          <a:bodyPr wrap="square" lIns="0" rIns="0" tIns="0" bIns="0" anchor="t">
            <a:noAutofit/>
          </a:bodyPr>
          <a:lstStyle/>
          <a:p>
            <a:pPr algn="ctr"/>
            <a:r>
              <a:rPr sz="1500" b="1" i="0">
                <a:solidFill>
                  <a:srgbClr val="333D47"/>
                </a:solidFill>
                <a:latin typeface="Arial"/>
              </a:rPr>
              <a:t>4 tools</a:t>
            </a:r>
          </a:p>
        </p:txBody>
      </p:sp>
      <p:sp>
        <p:nvSpPr>
          <p:cNvPr id="38" name="Rounded Rectangle 37"/>
          <p:cNvSpPr/>
          <p:nvPr/>
        </p:nvSpPr>
        <p:spPr>
          <a:xfrm>
            <a:off x="457200" y="3474720"/>
            <a:ext cx="11292840" cy="1325880"/>
          </a:xfrm>
          <a:prstGeom prst="roundRect">
            <a:avLst>
              <a:gd name="adj" fmla="val 5000"/>
            </a:avLst>
          </a:prstGeom>
          <a:solidFill>
            <a:srgbClr val="FBE7EC"/>
          </a:solidFill>
          <a:ln>
            <a:noFill/>
          </a:ln>
        </p:spPr>
        <p:txBody>
          <a:bodyPr rtlCol="0" anchor="ctr"/>
          <a:lstStyle/>
          <a:p/>
        </p:txBody>
      </p:sp>
      <p:sp>
        <p:nvSpPr>
          <p:cNvPr id="39" name="TextBox 38"/>
          <p:cNvSpPr txBox="1"/>
          <p:nvPr/>
        </p:nvSpPr>
        <p:spPr>
          <a:xfrm>
            <a:off x="685800" y="3730752"/>
            <a:ext cx="2103120" cy="274320"/>
          </a:xfrm>
          <a:prstGeom prst="rect">
            <a:avLst/>
          </a:prstGeom>
          <a:noFill/>
        </p:spPr>
        <p:txBody>
          <a:bodyPr wrap="square" lIns="0" rIns="0" tIns="0" bIns="0" anchor="t">
            <a:noAutofit/>
          </a:bodyPr>
          <a:lstStyle/>
          <a:p>
            <a:pPr algn="l"/>
            <a:r>
              <a:rPr sz="1200" b="1" i="0">
                <a:solidFill>
                  <a:srgbClr val="D31145"/>
                </a:solidFill>
                <a:latin typeface="Arial"/>
              </a:rPr>
              <a:t>WITH RILEY</a:t>
            </a:r>
          </a:p>
        </p:txBody>
      </p:sp>
      <p:sp>
        <p:nvSpPr>
          <p:cNvPr id="40" name="TextBox 39"/>
          <p:cNvSpPr txBox="1"/>
          <p:nvPr/>
        </p:nvSpPr>
        <p:spPr>
          <a:xfrm>
            <a:off x="685800" y="4005072"/>
            <a:ext cx="2103120" cy="685800"/>
          </a:xfrm>
          <a:prstGeom prst="rect">
            <a:avLst/>
          </a:prstGeom>
          <a:noFill/>
        </p:spPr>
        <p:txBody>
          <a:bodyPr wrap="square" lIns="0" rIns="0" tIns="0" bIns="0" anchor="t">
            <a:noAutofit/>
          </a:bodyPr>
          <a:lstStyle/>
          <a:p>
            <a:pPr algn="l"/>
            <a:r>
              <a:rPr sz="1900" b="1" i="0">
                <a:solidFill>
                  <a:srgbClr val="D31145"/>
                </a:solidFill>
                <a:latin typeface="Arial"/>
              </a:rPr>
              <a:t>A more capable Riley</a:t>
            </a:r>
          </a:p>
        </p:txBody>
      </p:sp>
      <p:cxnSp>
        <p:nvCxnSpPr>
          <p:cNvPr id="41" name="Connector 40"/>
          <p:cNvCxnSpPr/>
          <p:nvPr/>
        </p:nvCxnSpPr>
        <p:spPr>
          <a:xfrm flipV="1">
            <a:off x="3840479"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4306823" y="3666744"/>
            <a:ext cx="201168" cy="201168"/>
          </a:xfrm>
          <a:prstGeom prst="ellipse">
            <a:avLst/>
          </a:prstGeom>
          <a:solidFill>
            <a:srgbClr val="F4C4D1"/>
          </a:solidFill>
          <a:ln w="12700">
            <a:solidFill>
              <a:srgbClr val="D31145"/>
            </a:solidFill>
          </a:ln>
        </p:spPr>
        <p:txBody>
          <a:bodyPr rtlCol="0" anchor="ctr"/>
          <a:lstStyle/>
          <a:p/>
        </p:txBody>
      </p:sp>
      <p:sp>
        <p:nvSpPr>
          <p:cNvPr id="43" name="Oval 42"/>
          <p:cNvSpPr/>
          <p:nvPr/>
        </p:nvSpPr>
        <p:spPr>
          <a:xfrm>
            <a:off x="3593591" y="3675888"/>
            <a:ext cx="493776" cy="493776"/>
          </a:xfrm>
          <a:prstGeom prst="ellipse">
            <a:avLst/>
          </a:prstGeom>
          <a:solidFill>
            <a:srgbClr val="D31145"/>
          </a:solidFill>
          <a:ln>
            <a:noFill/>
          </a:ln>
        </p:spPr>
        <p:txBody>
          <a:bodyPr rtlCol="0" anchor="ctr"/>
          <a:lstStyle/>
          <a:p/>
        </p:txBody>
      </p:sp>
      <p:sp>
        <p:nvSpPr>
          <p:cNvPr id="44" name="TextBox 43"/>
          <p:cNvSpPr txBox="1"/>
          <p:nvPr/>
        </p:nvSpPr>
        <p:spPr>
          <a:xfrm>
            <a:off x="3593591"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45" name="TextBox 44"/>
          <p:cNvSpPr txBox="1"/>
          <p:nvPr/>
        </p:nvSpPr>
        <p:spPr>
          <a:xfrm>
            <a:off x="2788919"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46" name="Connector 45"/>
          <p:cNvCxnSpPr/>
          <p:nvPr/>
        </p:nvCxnSpPr>
        <p:spPr>
          <a:xfrm flipV="1">
            <a:off x="6080760"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6547104" y="3666744"/>
            <a:ext cx="201168" cy="201168"/>
          </a:xfrm>
          <a:prstGeom prst="ellipse">
            <a:avLst/>
          </a:prstGeom>
          <a:solidFill>
            <a:srgbClr val="F4C4D1"/>
          </a:solidFill>
          <a:ln w="12700">
            <a:solidFill>
              <a:srgbClr val="D31145"/>
            </a:solidFill>
          </a:ln>
        </p:spPr>
        <p:txBody>
          <a:bodyPr rtlCol="0" anchor="ctr"/>
          <a:lstStyle/>
          <a:p/>
        </p:txBody>
      </p:sp>
      <p:cxnSp>
        <p:nvCxnSpPr>
          <p:cNvPr id="48" name="Connector 47"/>
          <p:cNvCxnSpPr/>
          <p:nvPr/>
        </p:nvCxnSpPr>
        <p:spPr>
          <a:xfrm>
            <a:off x="6080760"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6547104" y="3977640"/>
            <a:ext cx="201168" cy="201168"/>
          </a:xfrm>
          <a:prstGeom prst="ellipse">
            <a:avLst/>
          </a:prstGeom>
          <a:solidFill>
            <a:srgbClr val="F4C4D1"/>
          </a:solidFill>
          <a:ln w="12700">
            <a:solidFill>
              <a:srgbClr val="D31145"/>
            </a:solidFill>
          </a:ln>
        </p:spPr>
        <p:txBody>
          <a:bodyPr rtlCol="0" anchor="ctr"/>
          <a:lstStyle/>
          <a:p/>
        </p:txBody>
      </p:sp>
      <p:sp>
        <p:nvSpPr>
          <p:cNvPr id="50" name="Oval 49"/>
          <p:cNvSpPr/>
          <p:nvPr/>
        </p:nvSpPr>
        <p:spPr>
          <a:xfrm>
            <a:off x="5833872" y="3675888"/>
            <a:ext cx="493776" cy="493776"/>
          </a:xfrm>
          <a:prstGeom prst="ellipse">
            <a:avLst/>
          </a:prstGeom>
          <a:solidFill>
            <a:srgbClr val="D31145"/>
          </a:solidFill>
          <a:ln>
            <a:noFill/>
          </a:ln>
        </p:spPr>
        <p:txBody>
          <a:bodyPr rtlCol="0" anchor="ctr"/>
          <a:lstStyle/>
          <a:p/>
        </p:txBody>
      </p:sp>
      <p:sp>
        <p:nvSpPr>
          <p:cNvPr id="51" name="TextBox 50"/>
          <p:cNvSpPr txBox="1"/>
          <p:nvPr/>
        </p:nvSpPr>
        <p:spPr>
          <a:xfrm>
            <a:off x="583387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52" name="TextBox 51"/>
          <p:cNvSpPr txBox="1"/>
          <p:nvPr/>
        </p:nvSpPr>
        <p:spPr>
          <a:xfrm>
            <a:off x="5029200"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53" name="Connector 52"/>
          <p:cNvCxnSpPr/>
          <p:nvPr/>
        </p:nvCxnSpPr>
        <p:spPr>
          <a:xfrm flipV="1">
            <a:off x="8321040" y="3767328"/>
            <a:ext cx="566927"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8787384" y="3666744"/>
            <a:ext cx="201168" cy="201168"/>
          </a:xfrm>
          <a:prstGeom prst="ellipse">
            <a:avLst/>
          </a:prstGeom>
          <a:solidFill>
            <a:srgbClr val="F4C4D1"/>
          </a:solidFill>
          <a:ln w="12700">
            <a:solidFill>
              <a:srgbClr val="D31145"/>
            </a:solidFill>
          </a:ln>
        </p:spPr>
        <p:txBody>
          <a:bodyPr rtlCol="0" anchor="ctr"/>
          <a:lstStyle/>
          <a:p/>
        </p:txBody>
      </p:sp>
      <p:cxnSp>
        <p:nvCxnSpPr>
          <p:cNvPr id="55" name="Connector 54"/>
          <p:cNvCxnSpPr/>
          <p:nvPr/>
        </p:nvCxnSpPr>
        <p:spPr>
          <a:xfrm>
            <a:off x="8321040" y="3922776"/>
            <a:ext cx="566927"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8787384" y="3977640"/>
            <a:ext cx="201168" cy="201168"/>
          </a:xfrm>
          <a:prstGeom prst="ellipse">
            <a:avLst/>
          </a:prstGeom>
          <a:solidFill>
            <a:srgbClr val="F4C4D1"/>
          </a:solidFill>
          <a:ln w="12700">
            <a:solidFill>
              <a:srgbClr val="D31145"/>
            </a:solidFill>
          </a:ln>
        </p:spPr>
        <p:txBody>
          <a:bodyPr rtlCol="0" anchor="ctr"/>
          <a:lstStyle/>
          <a:p/>
        </p:txBody>
      </p:sp>
      <p:cxnSp>
        <p:nvCxnSpPr>
          <p:cNvPr id="57" name="Connector 56"/>
          <p:cNvCxnSpPr/>
          <p:nvPr/>
        </p:nvCxnSpPr>
        <p:spPr>
          <a:xfrm flipH="1" flipV="1">
            <a:off x="7754112"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7653528" y="3666744"/>
            <a:ext cx="201168" cy="201168"/>
          </a:xfrm>
          <a:prstGeom prst="ellipse">
            <a:avLst/>
          </a:prstGeom>
          <a:solidFill>
            <a:srgbClr val="F4C4D1"/>
          </a:solidFill>
          <a:ln w="12700">
            <a:solidFill>
              <a:srgbClr val="D31145"/>
            </a:solidFill>
          </a:ln>
        </p:spPr>
        <p:txBody>
          <a:bodyPr rtlCol="0" anchor="ctr"/>
          <a:lstStyle/>
          <a:p/>
        </p:txBody>
      </p:sp>
      <p:sp>
        <p:nvSpPr>
          <p:cNvPr id="59" name="Oval 58"/>
          <p:cNvSpPr/>
          <p:nvPr/>
        </p:nvSpPr>
        <p:spPr>
          <a:xfrm>
            <a:off x="8074152" y="3675888"/>
            <a:ext cx="493776" cy="493776"/>
          </a:xfrm>
          <a:prstGeom prst="ellipse">
            <a:avLst/>
          </a:prstGeom>
          <a:solidFill>
            <a:srgbClr val="D31145"/>
          </a:solidFill>
          <a:ln>
            <a:noFill/>
          </a:ln>
        </p:spPr>
        <p:txBody>
          <a:bodyPr rtlCol="0" anchor="ctr"/>
          <a:lstStyle/>
          <a:p/>
        </p:txBody>
      </p:sp>
      <p:sp>
        <p:nvSpPr>
          <p:cNvPr id="60" name="TextBox 59"/>
          <p:cNvSpPr txBox="1"/>
          <p:nvPr/>
        </p:nvSpPr>
        <p:spPr>
          <a:xfrm>
            <a:off x="807415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61" name="TextBox 60"/>
          <p:cNvSpPr txBox="1"/>
          <p:nvPr/>
        </p:nvSpPr>
        <p:spPr>
          <a:xfrm>
            <a:off x="7269479"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cxnSp>
        <p:nvCxnSpPr>
          <p:cNvPr id="62" name="Connector 61"/>
          <p:cNvCxnSpPr/>
          <p:nvPr/>
        </p:nvCxnSpPr>
        <p:spPr>
          <a:xfrm flipV="1">
            <a:off x="10561320"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11027664" y="3666744"/>
            <a:ext cx="201168" cy="201168"/>
          </a:xfrm>
          <a:prstGeom prst="ellipse">
            <a:avLst/>
          </a:prstGeom>
          <a:solidFill>
            <a:srgbClr val="F4C4D1"/>
          </a:solidFill>
          <a:ln w="12700">
            <a:solidFill>
              <a:srgbClr val="D31145"/>
            </a:solidFill>
          </a:ln>
        </p:spPr>
        <p:txBody>
          <a:bodyPr rtlCol="0" anchor="ctr"/>
          <a:lstStyle/>
          <a:p/>
        </p:txBody>
      </p:sp>
      <p:cxnSp>
        <p:nvCxnSpPr>
          <p:cNvPr id="64" name="Connector 63"/>
          <p:cNvCxnSpPr/>
          <p:nvPr/>
        </p:nvCxnSpPr>
        <p:spPr>
          <a:xfrm>
            <a:off x="10561320"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1027664" y="3977640"/>
            <a:ext cx="201168" cy="201168"/>
          </a:xfrm>
          <a:prstGeom prst="ellipse">
            <a:avLst/>
          </a:prstGeom>
          <a:solidFill>
            <a:srgbClr val="F4C4D1"/>
          </a:solidFill>
          <a:ln w="12700">
            <a:solidFill>
              <a:srgbClr val="D31145"/>
            </a:solidFill>
          </a:ln>
        </p:spPr>
        <p:txBody>
          <a:bodyPr rtlCol="0" anchor="ctr"/>
          <a:lstStyle/>
          <a:p/>
        </p:txBody>
      </p:sp>
      <p:cxnSp>
        <p:nvCxnSpPr>
          <p:cNvPr id="66" name="Connector 65"/>
          <p:cNvCxnSpPr/>
          <p:nvPr/>
        </p:nvCxnSpPr>
        <p:spPr>
          <a:xfrm flipH="1" flipV="1">
            <a:off x="9994392" y="3767328"/>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9893808" y="3666744"/>
            <a:ext cx="201168" cy="201168"/>
          </a:xfrm>
          <a:prstGeom prst="ellipse">
            <a:avLst/>
          </a:prstGeom>
          <a:solidFill>
            <a:srgbClr val="F4C4D1"/>
          </a:solidFill>
          <a:ln w="12700">
            <a:solidFill>
              <a:srgbClr val="D31145"/>
            </a:solidFill>
          </a:ln>
        </p:spPr>
        <p:txBody>
          <a:bodyPr rtlCol="0" anchor="ctr"/>
          <a:lstStyle/>
          <a:p/>
        </p:txBody>
      </p:sp>
      <p:cxnSp>
        <p:nvCxnSpPr>
          <p:cNvPr id="68" name="Connector 67"/>
          <p:cNvCxnSpPr/>
          <p:nvPr/>
        </p:nvCxnSpPr>
        <p:spPr>
          <a:xfrm flipH="1">
            <a:off x="9994392" y="3922776"/>
            <a:ext cx="566928" cy="155448"/>
          </a:xfrm>
          <a:prstGeom prst="line">
            <a:avLst/>
          </a:prstGeom>
          <a:ln w="15875">
            <a:solidFill>
              <a:srgbClr val="D31145"/>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9893808" y="3977640"/>
            <a:ext cx="201168" cy="201168"/>
          </a:xfrm>
          <a:prstGeom prst="ellipse">
            <a:avLst/>
          </a:prstGeom>
          <a:solidFill>
            <a:srgbClr val="F4C4D1"/>
          </a:solidFill>
          <a:ln w="12700">
            <a:solidFill>
              <a:srgbClr val="D31145"/>
            </a:solidFill>
          </a:ln>
        </p:spPr>
        <p:txBody>
          <a:bodyPr rtlCol="0" anchor="ctr"/>
          <a:lstStyle/>
          <a:p/>
        </p:txBody>
      </p:sp>
      <p:sp>
        <p:nvSpPr>
          <p:cNvPr id="70" name="Oval 69"/>
          <p:cNvSpPr/>
          <p:nvPr/>
        </p:nvSpPr>
        <p:spPr>
          <a:xfrm>
            <a:off x="10314432" y="3675888"/>
            <a:ext cx="493776" cy="493776"/>
          </a:xfrm>
          <a:prstGeom prst="ellipse">
            <a:avLst/>
          </a:prstGeom>
          <a:solidFill>
            <a:srgbClr val="D31145"/>
          </a:solidFill>
          <a:ln>
            <a:noFill/>
          </a:ln>
        </p:spPr>
        <p:txBody>
          <a:bodyPr rtlCol="0" anchor="ctr"/>
          <a:lstStyle/>
          <a:p/>
        </p:txBody>
      </p:sp>
      <p:sp>
        <p:nvSpPr>
          <p:cNvPr id="71" name="TextBox 70"/>
          <p:cNvSpPr txBox="1"/>
          <p:nvPr/>
        </p:nvSpPr>
        <p:spPr>
          <a:xfrm>
            <a:off x="10314432" y="3675888"/>
            <a:ext cx="493776" cy="493776"/>
          </a:xfrm>
          <a:prstGeom prst="rect">
            <a:avLst/>
          </a:prstGeom>
          <a:noFill/>
        </p:spPr>
        <p:txBody>
          <a:bodyPr wrap="square" lIns="0" rIns="0" tIns="0" bIns="0" anchor="ctr">
            <a:noAutofit/>
          </a:bodyPr>
          <a:lstStyle/>
          <a:p>
            <a:pPr algn="ctr"/>
            <a:r>
              <a:rPr sz="1600" b="1" i="0">
                <a:solidFill>
                  <a:srgbClr val="FFFFFF"/>
                </a:solidFill>
                <a:latin typeface="Arial"/>
              </a:rPr>
              <a:t>R</a:t>
            </a:r>
          </a:p>
        </p:txBody>
      </p:sp>
      <p:sp>
        <p:nvSpPr>
          <p:cNvPr id="72" name="TextBox 71"/>
          <p:cNvSpPr txBox="1"/>
          <p:nvPr/>
        </p:nvSpPr>
        <p:spPr>
          <a:xfrm>
            <a:off x="9509760" y="4315968"/>
            <a:ext cx="2103120" cy="320040"/>
          </a:xfrm>
          <a:prstGeom prst="rect">
            <a:avLst/>
          </a:prstGeom>
          <a:noFill/>
        </p:spPr>
        <p:txBody>
          <a:bodyPr wrap="square" lIns="0" rIns="0" tIns="0" bIns="0" anchor="t">
            <a:noAutofit/>
          </a:bodyPr>
          <a:lstStyle/>
          <a:p>
            <a:pPr algn="ctr"/>
            <a:r>
              <a:rPr sz="1500" b="1" i="0">
                <a:solidFill>
                  <a:srgbClr val="D31145"/>
                </a:solidFill>
                <a:latin typeface="Arial"/>
              </a:rPr>
              <a:t>1 interface</a:t>
            </a:r>
          </a:p>
        </p:txBody>
      </p:sp>
      <p:pic>
        <p:nvPicPr>
          <p:cNvPr id="73" name="Picture 72" descr="LuPlug_g.png"/>
          <p:cNvPicPr>
            <a:picLocks noChangeAspect="1"/>
          </p:cNvPicPr>
          <p:nvPr/>
        </p:nvPicPr>
        <p:blipFill>
          <a:blip r:embed="rId4"/>
          <a:stretch>
            <a:fillRect/>
          </a:stretch>
        </p:blipFill>
        <p:spPr>
          <a:xfrm>
            <a:off x="502920" y="5047488"/>
            <a:ext cx="310896" cy="310896"/>
          </a:xfrm>
          <a:prstGeom prst="rect">
            <a:avLst/>
          </a:prstGeom>
        </p:spPr>
      </p:pic>
      <p:sp>
        <p:nvSpPr>
          <p:cNvPr id="74" name="TextBox 73"/>
          <p:cNvSpPr txBox="1"/>
          <p:nvPr/>
        </p:nvSpPr>
        <p:spPr>
          <a:xfrm>
            <a:off x="932688" y="4983480"/>
            <a:ext cx="10607040" cy="457200"/>
          </a:xfrm>
          <a:prstGeom prst="rect">
            <a:avLst/>
          </a:prstGeom>
          <a:noFill/>
        </p:spPr>
        <p:txBody>
          <a:bodyPr wrap="square" lIns="0" rIns="0" tIns="0" bIns="0" anchor="ctr">
            <a:noAutofit/>
          </a:bodyPr>
          <a:lstStyle/>
          <a:p>
            <a:pPr algn="l"/>
            <a:r>
              <a:rPr sz="1500" b="0" i="0">
                <a:solidFill>
                  <a:srgbClr val="5A6570"/>
                </a:solidFill>
                <a:latin typeface="Arial"/>
              </a:rPr>
              <a:t>Each connection still needs technical and governance work.  </a:t>
            </a:r>
            <a:r>
              <a:rPr sz="1500" b="1" i="0">
                <a:solidFill>
                  <a:srgbClr val="D31145"/>
                </a:solidFill>
                <a:latin typeface="Arial"/>
              </a:rPr>
              <a:t>Phase 2 proves the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From one team to every AIA employee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SCALABILITY  ·  INNOVATION FOR ENDURING VALUE</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9</a:t>
            </a:fld>
            <a:endParaRPr lang="en-US" dirty="0"/>
          </a:p>
        </p:txBody>
      </p:sp>
      <p:sp>
        <p:nvSpPr>
          <p:cNvPr id="6" name="Rounded Rectangle 5"/>
          <p:cNvSpPr/>
          <p:nvPr/>
        </p:nvSpPr>
        <p:spPr>
          <a:xfrm>
            <a:off x="457200" y="4069080"/>
            <a:ext cx="2148840" cy="1371600"/>
          </a:xfrm>
          <a:prstGeom prst="roundRect">
            <a:avLst>
              <a:gd name="adj" fmla="val 5000"/>
            </a:avLst>
          </a:prstGeom>
          <a:solidFill>
            <a:srgbClr val="E9E4E1"/>
          </a:solidFill>
          <a:ln>
            <a:noFill/>
          </a:ln>
        </p:spPr>
        <p:txBody>
          <a:bodyPr rtlCol="0" anchor="ctr"/>
          <a:lstStyle/>
          <a:p/>
        </p:txBody>
      </p:sp>
      <p:sp>
        <p:nvSpPr>
          <p:cNvPr id="7" name="TextBox 6"/>
          <p:cNvSpPr txBox="1"/>
          <p:nvPr/>
        </p:nvSpPr>
        <p:spPr>
          <a:xfrm>
            <a:off x="658368" y="4270248"/>
            <a:ext cx="1746504" cy="1097280"/>
          </a:xfrm>
          <a:prstGeom prst="rect">
            <a:avLst/>
          </a:prstGeom>
          <a:noFill/>
        </p:spPr>
        <p:txBody>
          <a:bodyPr wrap="square" lIns="0" rIns="0" tIns="0" bIns="0" anchor="t">
            <a:noAutofit/>
          </a:bodyPr>
          <a:lstStyle/>
          <a:p>
            <a:pPr algn="l">
              <a:spcAft>
                <a:spcPts val="600"/>
              </a:spcAft>
            </a:pPr>
            <a:r>
              <a:rPr sz="1900" b="1" i="0">
                <a:solidFill>
                  <a:srgbClr val="333D47"/>
                </a:solidFill>
                <a:latin typeface="Arial"/>
              </a:rPr>
              <a:t>Pilot</a:t>
            </a:r>
          </a:p>
          <a:p>
            <a:pPr algn="l"/>
            <a:r>
              <a:rPr sz="1500" b="0" i="0">
                <a:solidFill>
                  <a:srgbClr val="333D47"/>
                </a:solidFill>
                <a:latin typeface="Arial"/>
              </a:rPr>
              <a:t>One team</a:t>
            </a:r>
          </a:p>
        </p:txBody>
      </p:sp>
      <p:sp>
        <p:nvSpPr>
          <p:cNvPr id="8" name="TextBox 7"/>
          <p:cNvSpPr txBox="1"/>
          <p:nvPr/>
        </p:nvSpPr>
        <p:spPr>
          <a:xfrm>
            <a:off x="457200" y="5513832"/>
            <a:ext cx="2148840" cy="274320"/>
          </a:xfrm>
          <a:prstGeom prst="rect">
            <a:avLst/>
          </a:prstGeom>
          <a:noFill/>
        </p:spPr>
        <p:txBody>
          <a:bodyPr wrap="square" lIns="0" rIns="0" tIns="0" bIns="0" anchor="t">
            <a:noAutofit/>
          </a:bodyPr>
          <a:lstStyle/>
          <a:p>
            <a:pPr algn="ctr"/>
            <a:r>
              <a:rPr sz="1300" b="1" i="0">
                <a:solidFill>
                  <a:srgbClr val="5A6570"/>
                </a:solidFill>
                <a:latin typeface="Arial"/>
              </a:rPr>
              <a:t>Phases 1–2</a:t>
            </a:r>
          </a:p>
        </p:txBody>
      </p:sp>
      <p:sp>
        <p:nvSpPr>
          <p:cNvPr id="9" name="Rounded Rectangle 8"/>
          <p:cNvSpPr/>
          <p:nvPr/>
        </p:nvSpPr>
        <p:spPr>
          <a:xfrm>
            <a:off x="2788920" y="3017520"/>
            <a:ext cx="2148840" cy="2423160"/>
          </a:xfrm>
          <a:prstGeom prst="roundRect">
            <a:avLst>
              <a:gd name="adj" fmla="val 5000"/>
            </a:avLst>
          </a:prstGeom>
          <a:solidFill>
            <a:srgbClr val="F4C4D1"/>
          </a:solidFill>
          <a:ln>
            <a:noFill/>
          </a:ln>
        </p:spPr>
        <p:txBody>
          <a:bodyPr rtlCol="0" anchor="ctr"/>
          <a:lstStyle/>
          <a:p/>
        </p:txBody>
      </p:sp>
      <p:sp>
        <p:nvSpPr>
          <p:cNvPr id="10" name="TextBox 9"/>
          <p:cNvSpPr txBox="1"/>
          <p:nvPr/>
        </p:nvSpPr>
        <p:spPr>
          <a:xfrm>
            <a:off x="2990088" y="3218688"/>
            <a:ext cx="1746504" cy="2148840"/>
          </a:xfrm>
          <a:prstGeom prst="rect">
            <a:avLst/>
          </a:prstGeom>
          <a:noFill/>
        </p:spPr>
        <p:txBody>
          <a:bodyPr wrap="square" lIns="0" rIns="0" tIns="0" bIns="0" anchor="t">
            <a:noAutofit/>
          </a:bodyPr>
          <a:lstStyle/>
          <a:p>
            <a:pPr algn="l">
              <a:spcAft>
                <a:spcPts val="600"/>
              </a:spcAft>
            </a:pPr>
            <a:r>
              <a:rPr sz="1900" b="1" i="0">
                <a:solidFill>
                  <a:srgbClr val="333D47"/>
                </a:solidFill>
                <a:latin typeface="Arial"/>
              </a:rPr>
              <a:t>Back office</a:t>
            </a:r>
          </a:p>
          <a:p>
            <a:pPr algn="l"/>
            <a:r>
              <a:rPr sz="1500" b="0" i="0">
                <a:solidFill>
                  <a:srgbClr val="333D47"/>
                </a:solidFill>
                <a:latin typeface="Arial"/>
              </a:rPr>
              <a:t>Many functions</a:t>
            </a:r>
          </a:p>
        </p:txBody>
      </p:sp>
      <p:sp>
        <p:nvSpPr>
          <p:cNvPr id="11" name="TextBox 10"/>
          <p:cNvSpPr txBox="1"/>
          <p:nvPr/>
        </p:nvSpPr>
        <p:spPr>
          <a:xfrm>
            <a:off x="2788920" y="5513832"/>
            <a:ext cx="2148840" cy="274320"/>
          </a:xfrm>
          <a:prstGeom prst="rect">
            <a:avLst/>
          </a:prstGeom>
          <a:noFill/>
        </p:spPr>
        <p:txBody>
          <a:bodyPr wrap="square" lIns="0" rIns="0" tIns="0" bIns="0" anchor="t">
            <a:noAutofit/>
          </a:bodyPr>
          <a:lstStyle/>
          <a:p>
            <a:pPr algn="ctr"/>
            <a:r>
              <a:rPr sz="1300" b="1" i="0">
                <a:solidFill>
                  <a:srgbClr val="5A6570"/>
                </a:solidFill>
                <a:latin typeface="Arial"/>
              </a:rPr>
              <a:t>Phase 3</a:t>
            </a:r>
          </a:p>
        </p:txBody>
      </p:sp>
      <p:sp>
        <p:nvSpPr>
          <p:cNvPr id="12" name="Rounded Rectangle 11"/>
          <p:cNvSpPr/>
          <p:nvPr/>
        </p:nvSpPr>
        <p:spPr>
          <a:xfrm>
            <a:off x="5120640" y="1737360"/>
            <a:ext cx="2148840" cy="3703320"/>
          </a:xfrm>
          <a:prstGeom prst="roundRect">
            <a:avLst>
              <a:gd name="adj" fmla="val 5000"/>
            </a:avLst>
          </a:prstGeom>
          <a:solidFill>
            <a:srgbClr val="D31145"/>
          </a:solidFill>
          <a:ln>
            <a:noFill/>
          </a:ln>
        </p:spPr>
        <p:txBody>
          <a:bodyPr rtlCol="0" anchor="ctr"/>
          <a:lstStyle/>
          <a:p/>
        </p:txBody>
      </p:sp>
      <p:sp>
        <p:nvSpPr>
          <p:cNvPr id="13" name="TextBox 12"/>
          <p:cNvSpPr txBox="1"/>
          <p:nvPr/>
        </p:nvSpPr>
        <p:spPr>
          <a:xfrm>
            <a:off x="5321808" y="1938528"/>
            <a:ext cx="1746504" cy="3429000"/>
          </a:xfrm>
          <a:prstGeom prst="rect">
            <a:avLst/>
          </a:prstGeom>
          <a:noFill/>
        </p:spPr>
        <p:txBody>
          <a:bodyPr wrap="square" lIns="0" rIns="0" tIns="0" bIns="0" anchor="t">
            <a:noAutofit/>
          </a:bodyPr>
          <a:lstStyle/>
          <a:p>
            <a:pPr algn="l">
              <a:spcAft>
                <a:spcPts val="600"/>
              </a:spcAft>
            </a:pPr>
            <a:r>
              <a:rPr sz="2200" b="1" i="0">
                <a:solidFill>
                  <a:srgbClr val="FFFFFF"/>
                </a:solidFill>
                <a:latin typeface="Arial"/>
              </a:rPr>
              <a:t>Every AIA employee</a:t>
            </a:r>
          </a:p>
          <a:p>
            <a:pPr algn="l"/>
            <a:r>
              <a:rPr sz="1500" b="0" i="0">
                <a:solidFill>
                  <a:srgbClr val="FFFFFF"/>
                </a:solidFill>
                <a:latin typeface="Arial"/>
              </a:rPr>
              <a:t>A virtual coworker on demand. The employee stays accountable.</a:t>
            </a:r>
          </a:p>
        </p:txBody>
      </p:sp>
      <p:sp>
        <p:nvSpPr>
          <p:cNvPr id="14" name="TextBox 13"/>
          <p:cNvSpPr txBox="1"/>
          <p:nvPr/>
        </p:nvSpPr>
        <p:spPr>
          <a:xfrm>
            <a:off x="5120640" y="5513832"/>
            <a:ext cx="2148840" cy="274320"/>
          </a:xfrm>
          <a:prstGeom prst="rect">
            <a:avLst/>
          </a:prstGeom>
          <a:noFill/>
        </p:spPr>
        <p:txBody>
          <a:bodyPr wrap="square" lIns="0" rIns="0" tIns="0" bIns="0" anchor="t">
            <a:noAutofit/>
          </a:bodyPr>
          <a:lstStyle/>
          <a:p>
            <a:pPr algn="ctr"/>
            <a:r>
              <a:rPr sz="1300" b="1" i="0">
                <a:solidFill>
                  <a:srgbClr val="D31145"/>
                </a:solidFill>
                <a:latin typeface="Arial"/>
              </a:rPr>
              <a:t>The vision</a:t>
            </a:r>
          </a:p>
        </p:txBody>
      </p:sp>
      <p:sp>
        <p:nvSpPr>
          <p:cNvPr id="15" name="Rounded Rectangle 14"/>
          <p:cNvSpPr/>
          <p:nvPr/>
        </p:nvSpPr>
        <p:spPr>
          <a:xfrm>
            <a:off x="7498079" y="1737360"/>
            <a:ext cx="4251960" cy="3703320"/>
          </a:xfrm>
          <a:prstGeom prst="roundRect">
            <a:avLst>
              <a:gd name="adj" fmla="val 4000"/>
            </a:avLst>
          </a:prstGeom>
          <a:solidFill>
            <a:srgbClr val="F4F2F0"/>
          </a:solidFill>
          <a:ln>
            <a:noFill/>
          </a:ln>
        </p:spPr>
        <p:txBody>
          <a:bodyPr rtlCol="0" anchor="ctr"/>
          <a:lstStyle/>
          <a:p/>
        </p:txBody>
      </p:sp>
      <p:sp>
        <p:nvSpPr>
          <p:cNvPr id="16" name="TextBox 15"/>
          <p:cNvSpPr txBox="1"/>
          <p:nvPr/>
        </p:nvSpPr>
        <p:spPr>
          <a:xfrm>
            <a:off x="7818119" y="1920240"/>
            <a:ext cx="3611880" cy="411480"/>
          </a:xfrm>
          <a:prstGeom prst="rect">
            <a:avLst/>
          </a:prstGeom>
          <a:noFill/>
        </p:spPr>
        <p:txBody>
          <a:bodyPr wrap="square" lIns="0" rIns="0" tIns="0" bIns="0" anchor="t">
            <a:noAutofit/>
          </a:bodyPr>
          <a:lstStyle/>
          <a:p>
            <a:pPr algn="l"/>
            <a:r>
              <a:rPr sz="2200" b="1" i="0">
                <a:solidFill>
                  <a:srgbClr val="333D47"/>
                </a:solidFill>
                <a:latin typeface="Arial"/>
              </a:rPr>
              <a:t>Value that compounds</a:t>
            </a:r>
          </a:p>
        </p:txBody>
      </p:sp>
      <p:sp>
        <p:nvSpPr>
          <p:cNvPr id="17" name="Oval 16"/>
          <p:cNvSpPr/>
          <p:nvPr/>
        </p:nvSpPr>
        <p:spPr>
          <a:xfrm>
            <a:off x="7818119" y="2606040"/>
            <a:ext cx="548640" cy="548640"/>
          </a:xfrm>
          <a:prstGeom prst="ellipse">
            <a:avLst/>
          </a:prstGeom>
          <a:solidFill>
            <a:srgbClr val="D31145"/>
          </a:solidFill>
          <a:ln>
            <a:noFill/>
          </a:ln>
        </p:spPr>
        <p:txBody>
          <a:bodyPr rtlCol="0" anchor="ctr"/>
          <a:lstStyle/>
          <a:p/>
        </p:txBody>
      </p:sp>
      <p:pic>
        <p:nvPicPr>
          <p:cNvPr id="18" name="Picture 17" descr="LuPlug_w.png"/>
          <p:cNvPicPr>
            <a:picLocks noChangeAspect="1"/>
          </p:cNvPicPr>
          <p:nvPr/>
        </p:nvPicPr>
        <p:blipFill>
          <a:blip r:embed="rId3"/>
          <a:stretch>
            <a:fillRect/>
          </a:stretch>
        </p:blipFill>
        <p:spPr>
          <a:xfrm>
            <a:off x="7949793" y="2737713"/>
            <a:ext cx="285292" cy="285292"/>
          </a:xfrm>
          <a:prstGeom prst="rect">
            <a:avLst/>
          </a:prstGeom>
        </p:spPr>
      </p:pic>
      <p:sp>
        <p:nvSpPr>
          <p:cNvPr id="19" name="TextBox 18"/>
          <p:cNvSpPr txBox="1"/>
          <p:nvPr/>
        </p:nvSpPr>
        <p:spPr>
          <a:xfrm>
            <a:off x="8549640" y="260604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capabilities connected</a:t>
            </a:r>
          </a:p>
        </p:txBody>
      </p:sp>
      <p:sp>
        <p:nvSpPr>
          <p:cNvPr id="20" name="Oval 19"/>
          <p:cNvSpPr/>
          <p:nvPr/>
        </p:nvSpPr>
        <p:spPr>
          <a:xfrm>
            <a:off x="7818119" y="3383280"/>
            <a:ext cx="548640" cy="548640"/>
          </a:xfrm>
          <a:prstGeom prst="ellipse">
            <a:avLst/>
          </a:prstGeom>
          <a:solidFill>
            <a:srgbClr val="D31145"/>
          </a:solidFill>
          <a:ln>
            <a:noFill/>
          </a:ln>
        </p:spPr>
        <p:txBody>
          <a:bodyPr rtlCol="0" anchor="ctr"/>
          <a:lstStyle/>
          <a:p/>
        </p:txBody>
      </p:sp>
      <p:pic>
        <p:nvPicPr>
          <p:cNvPr id="21" name="Picture 20" descr="LuWorkflow_w.png"/>
          <p:cNvPicPr>
            <a:picLocks noChangeAspect="1"/>
          </p:cNvPicPr>
          <p:nvPr/>
        </p:nvPicPr>
        <p:blipFill>
          <a:blip r:embed="rId4"/>
          <a:stretch>
            <a:fillRect/>
          </a:stretch>
        </p:blipFill>
        <p:spPr>
          <a:xfrm>
            <a:off x="7949793" y="3514953"/>
            <a:ext cx="285292" cy="285292"/>
          </a:xfrm>
          <a:prstGeom prst="rect">
            <a:avLst/>
          </a:prstGeom>
        </p:spPr>
      </p:pic>
      <p:sp>
        <p:nvSpPr>
          <p:cNvPr id="22" name="TextBox 21"/>
          <p:cNvSpPr txBox="1"/>
          <p:nvPr/>
        </p:nvSpPr>
        <p:spPr>
          <a:xfrm>
            <a:off x="8549640" y="338328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workflows covered</a:t>
            </a:r>
          </a:p>
        </p:txBody>
      </p:sp>
      <p:sp>
        <p:nvSpPr>
          <p:cNvPr id="23" name="Oval 22"/>
          <p:cNvSpPr/>
          <p:nvPr/>
        </p:nvSpPr>
        <p:spPr>
          <a:xfrm>
            <a:off x="7818119" y="4160520"/>
            <a:ext cx="548640" cy="548640"/>
          </a:xfrm>
          <a:prstGeom prst="ellipse">
            <a:avLst/>
          </a:prstGeom>
          <a:solidFill>
            <a:srgbClr val="D31145"/>
          </a:solidFill>
          <a:ln>
            <a:noFill/>
          </a:ln>
        </p:spPr>
        <p:txBody>
          <a:bodyPr rtlCol="0" anchor="ctr"/>
          <a:lstStyle/>
          <a:p/>
        </p:txBody>
      </p:sp>
      <p:pic>
        <p:nvPicPr>
          <p:cNvPr id="24" name="Picture 23" descr="LuRefreshCw_w.png"/>
          <p:cNvPicPr>
            <a:picLocks noChangeAspect="1"/>
          </p:cNvPicPr>
          <p:nvPr/>
        </p:nvPicPr>
        <p:blipFill>
          <a:blip r:embed="rId5"/>
          <a:stretch>
            <a:fillRect/>
          </a:stretch>
        </p:blipFill>
        <p:spPr>
          <a:xfrm>
            <a:off x="7949793" y="4292193"/>
            <a:ext cx="285292" cy="285292"/>
          </a:xfrm>
          <a:prstGeom prst="rect">
            <a:avLst/>
          </a:prstGeom>
        </p:spPr>
      </p:pic>
      <p:sp>
        <p:nvSpPr>
          <p:cNvPr id="25" name="TextBox 24"/>
          <p:cNvSpPr txBox="1"/>
          <p:nvPr/>
        </p:nvSpPr>
        <p:spPr>
          <a:xfrm>
            <a:off x="8549640" y="4160520"/>
            <a:ext cx="2971800" cy="548640"/>
          </a:xfrm>
          <a:prstGeom prst="rect">
            <a:avLst/>
          </a:prstGeom>
          <a:noFill/>
        </p:spPr>
        <p:txBody>
          <a:bodyPr wrap="square" lIns="0" rIns="0" tIns="0" bIns="0" anchor="ctr">
            <a:noAutofit/>
          </a:bodyPr>
          <a:lstStyle/>
          <a:p>
            <a:pPr algn="l"/>
            <a:r>
              <a:rPr sz="1700" b="1" i="0">
                <a:solidFill>
                  <a:srgbClr val="333D47"/>
                </a:solidFill>
                <a:latin typeface="Arial"/>
              </a:rPr>
              <a:t>More feedback learned</a:t>
            </a:r>
          </a:p>
        </p:txBody>
      </p:sp>
      <p:sp>
        <p:nvSpPr>
          <p:cNvPr id="26" name="TextBox 25"/>
          <p:cNvSpPr txBox="1"/>
          <p:nvPr/>
        </p:nvSpPr>
        <p:spPr>
          <a:xfrm>
            <a:off x="7818119" y="4892040"/>
            <a:ext cx="3611880" cy="411480"/>
          </a:xfrm>
          <a:prstGeom prst="rect">
            <a:avLst/>
          </a:prstGeom>
          <a:noFill/>
        </p:spPr>
        <p:txBody>
          <a:bodyPr wrap="square" lIns="0" rIns="0" tIns="0" bIns="0" anchor="t">
            <a:noAutofit/>
          </a:bodyPr>
          <a:lstStyle/>
          <a:p>
            <a:pPr algn="l"/>
            <a:r>
              <a:rPr sz="1300" b="0" i="1">
                <a:solidFill>
                  <a:srgbClr val="5A6570"/>
                </a:solidFill>
                <a:latin typeface="Arial"/>
              </a:rPr>
              <a:t>Reusable across markets, with local integrations and controls.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Practical to build. Designed to be trusted.</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FEASIBILITY</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10</a:t>
            </a:fld>
            <a:endParaRPr lang="en-US" dirty="0"/>
          </a:p>
        </p:txBody>
      </p:sp>
      <p:sp>
        <p:nvSpPr>
          <p:cNvPr id="6" name="Rounded Rectangle 5"/>
          <p:cNvSpPr/>
          <p:nvPr/>
        </p:nvSpPr>
        <p:spPr>
          <a:xfrm>
            <a:off x="45720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7" name="Picture 6" descr="LuMessagesSquare_c.png"/>
          <p:cNvPicPr>
            <a:picLocks noChangeAspect="1"/>
          </p:cNvPicPr>
          <p:nvPr/>
        </p:nvPicPr>
        <p:blipFill>
          <a:blip r:embed="rId3"/>
          <a:stretch>
            <a:fillRect/>
          </a:stretch>
        </p:blipFill>
        <p:spPr>
          <a:xfrm>
            <a:off x="685800" y="2139696"/>
            <a:ext cx="457200" cy="457200"/>
          </a:xfrm>
          <a:prstGeom prst="rect">
            <a:avLst/>
          </a:prstGeom>
        </p:spPr>
      </p:pic>
      <p:sp>
        <p:nvSpPr>
          <p:cNvPr id="8" name="TextBox 7"/>
          <p:cNvSpPr txBox="1"/>
          <p:nvPr/>
        </p:nvSpPr>
        <p:spPr>
          <a:xfrm>
            <a:off x="68580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Ask in Teams</a:t>
            </a:r>
          </a:p>
        </p:txBody>
      </p:sp>
      <p:sp>
        <p:nvSpPr>
          <p:cNvPr id="9" name="TextBox 8"/>
          <p:cNvSpPr txBox="1"/>
          <p:nvPr/>
        </p:nvSpPr>
        <p:spPr>
          <a:xfrm>
            <a:off x="68580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Where employees already work</a:t>
            </a:r>
          </a:p>
        </p:txBody>
      </p:sp>
      <p:sp>
        <p:nvSpPr>
          <p:cNvPr id="10" name="Right Arrow 9"/>
          <p:cNvSpPr/>
          <p:nvPr/>
        </p:nvSpPr>
        <p:spPr>
          <a:xfrm>
            <a:off x="3063240" y="2770632"/>
            <a:ext cx="237744" cy="274320"/>
          </a:xfrm>
          <a:prstGeom prst="rightArrow">
            <a:avLst/>
          </a:prstGeom>
          <a:solidFill>
            <a:srgbClr val="8A939B"/>
          </a:solidFill>
          <a:ln>
            <a:noFill/>
          </a:ln>
        </p:spPr>
        <p:txBody>
          <a:bodyPr rtlCol="0" anchor="ctr"/>
          <a:lstStyle/>
          <a:p/>
        </p:txBody>
      </p:sp>
      <p:sp>
        <p:nvSpPr>
          <p:cNvPr id="11" name="Rounded Rectangle 10"/>
          <p:cNvSpPr/>
          <p:nvPr/>
        </p:nvSpPr>
        <p:spPr>
          <a:xfrm>
            <a:off x="338328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12" name="Picture 11" descr="LuCpu_c.png"/>
          <p:cNvPicPr>
            <a:picLocks noChangeAspect="1"/>
          </p:cNvPicPr>
          <p:nvPr/>
        </p:nvPicPr>
        <p:blipFill>
          <a:blip r:embed="rId4"/>
          <a:stretch>
            <a:fillRect/>
          </a:stretch>
        </p:blipFill>
        <p:spPr>
          <a:xfrm>
            <a:off x="3611880" y="2139696"/>
            <a:ext cx="457200" cy="457200"/>
          </a:xfrm>
          <a:prstGeom prst="rect">
            <a:avLst/>
          </a:prstGeom>
        </p:spPr>
      </p:pic>
      <p:sp>
        <p:nvSpPr>
          <p:cNvPr id="13" name="TextBox 12"/>
          <p:cNvSpPr txBox="1"/>
          <p:nvPr/>
        </p:nvSpPr>
        <p:spPr>
          <a:xfrm>
            <a:off x="361188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Riley works</a:t>
            </a:r>
          </a:p>
        </p:txBody>
      </p:sp>
      <p:sp>
        <p:nvSpPr>
          <p:cNvPr id="14" name="TextBox 13"/>
          <p:cNvSpPr txBox="1"/>
          <p:nvPr/>
        </p:nvSpPr>
        <p:spPr>
          <a:xfrm>
            <a:off x="361188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Built on an existing AI platform, not from scratch</a:t>
            </a:r>
          </a:p>
        </p:txBody>
      </p:sp>
      <p:sp>
        <p:nvSpPr>
          <p:cNvPr id="15" name="Right Arrow 14"/>
          <p:cNvSpPr/>
          <p:nvPr/>
        </p:nvSpPr>
        <p:spPr>
          <a:xfrm>
            <a:off x="5989320" y="2770632"/>
            <a:ext cx="237744" cy="274320"/>
          </a:xfrm>
          <a:prstGeom prst="rightArrow">
            <a:avLst/>
          </a:prstGeom>
          <a:solidFill>
            <a:srgbClr val="8A939B"/>
          </a:solidFill>
          <a:ln>
            <a:noFill/>
          </a:ln>
        </p:spPr>
        <p:txBody>
          <a:bodyPr rtlCol="0" anchor="ctr"/>
          <a:lstStyle/>
          <a:p/>
        </p:txBody>
      </p:sp>
      <p:sp>
        <p:nvSpPr>
          <p:cNvPr id="16" name="Rounded Rectangle 15"/>
          <p:cNvSpPr/>
          <p:nvPr/>
        </p:nvSpPr>
        <p:spPr>
          <a:xfrm>
            <a:off x="6309360" y="2011680"/>
            <a:ext cx="2514600" cy="1938528"/>
          </a:xfrm>
          <a:prstGeom prst="roundRect">
            <a:avLst>
              <a:gd name="adj" fmla="val 8000"/>
            </a:avLst>
          </a:prstGeom>
          <a:solidFill>
            <a:srgbClr val="D31145"/>
          </a:solidFill>
          <a:ln>
            <a:noFill/>
          </a:ln>
        </p:spPr>
        <p:txBody>
          <a:bodyPr rtlCol="0" anchor="ctr"/>
          <a:lstStyle/>
          <a:p/>
        </p:txBody>
      </p:sp>
      <p:pic>
        <p:nvPicPr>
          <p:cNvPr id="17" name="Picture 16" descr="LuUserCheck_w.png"/>
          <p:cNvPicPr>
            <a:picLocks noChangeAspect="1"/>
          </p:cNvPicPr>
          <p:nvPr/>
        </p:nvPicPr>
        <p:blipFill>
          <a:blip r:embed="rId5"/>
          <a:stretch>
            <a:fillRect/>
          </a:stretch>
        </p:blipFill>
        <p:spPr>
          <a:xfrm>
            <a:off x="6537960" y="2139696"/>
            <a:ext cx="457200" cy="457200"/>
          </a:xfrm>
          <a:prstGeom prst="rect">
            <a:avLst/>
          </a:prstGeom>
        </p:spPr>
      </p:pic>
      <p:sp>
        <p:nvSpPr>
          <p:cNvPr id="18" name="TextBox 17"/>
          <p:cNvSpPr txBox="1"/>
          <p:nvPr/>
        </p:nvSpPr>
        <p:spPr>
          <a:xfrm>
            <a:off x="6537960" y="2679192"/>
            <a:ext cx="2103120" cy="347472"/>
          </a:xfrm>
          <a:prstGeom prst="rect">
            <a:avLst/>
          </a:prstGeom>
          <a:noFill/>
        </p:spPr>
        <p:txBody>
          <a:bodyPr wrap="square" lIns="0" rIns="0" tIns="0" bIns="0" anchor="t">
            <a:noAutofit/>
          </a:bodyPr>
          <a:lstStyle/>
          <a:p>
            <a:pPr algn="l"/>
            <a:r>
              <a:rPr sz="1900" b="1" i="0">
                <a:solidFill>
                  <a:srgbClr val="FFFFFF"/>
                </a:solidFill>
                <a:latin typeface="Arial"/>
              </a:rPr>
              <a:t>Approval gate</a:t>
            </a:r>
          </a:p>
        </p:txBody>
      </p:sp>
      <p:sp>
        <p:nvSpPr>
          <p:cNvPr id="19" name="TextBox 18"/>
          <p:cNvSpPr txBox="1"/>
          <p:nvPr/>
        </p:nvSpPr>
        <p:spPr>
          <a:xfrm>
            <a:off x="6537960" y="3063240"/>
            <a:ext cx="2103120" cy="777240"/>
          </a:xfrm>
          <a:prstGeom prst="rect">
            <a:avLst/>
          </a:prstGeom>
          <a:noFill/>
        </p:spPr>
        <p:txBody>
          <a:bodyPr wrap="square" lIns="0" rIns="0" tIns="0" bIns="0" anchor="t">
            <a:noAutofit/>
          </a:bodyPr>
          <a:lstStyle/>
          <a:p>
            <a:pPr algn="l"/>
            <a:r>
              <a:rPr sz="1500" b="0" i="0">
                <a:solidFill>
                  <a:srgbClr val="FFFFFF"/>
                </a:solidFill>
                <a:latin typeface="Arial"/>
              </a:rPr>
              <a:t>The employee signs off before any final action</a:t>
            </a:r>
          </a:p>
        </p:txBody>
      </p:sp>
      <p:sp>
        <p:nvSpPr>
          <p:cNvPr id="20" name="Right Arrow 19"/>
          <p:cNvSpPr/>
          <p:nvPr/>
        </p:nvSpPr>
        <p:spPr>
          <a:xfrm>
            <a:off x="8915400" y="2770632"/>
            <a:ext cx="237744" cy="274320"/>
          </a:xfrm>
          <a:prstGeom prst="rightArrow">
            <a:avLst/>
          </a:prstGeom>
          <a:solidFill>
            <a:srgbClr val="8A939B"/>
          </a:solidFill>
          <a:ln>
            <a:noFill/>
          </a:ln>
        </p:spPr>
        <p:txBody>
          <a:bodyPr rtlCol="0" anchor="ctr"/>
          <a:lstStyle/>
          <a:p/>
        </p:txBody>
      </p:sp>
      <p:sp>
        <p:nvSpPr>
          <p:cNvPr id="21" name="Rounded Rectangle 20"/>
          <p:cNvSpPr/>
          <p:nvPr/>
        </p:nvSpPr>
        <p:spPr>
          <a:xfrm>
            <a:off x="9235440" y="2011680"/>
            <a:ext cx="2514600" cy="1938528"/>
          </a:xfrm>
          <a:prstGeom prst="roundRect">
            <a:avLst>
              <a:gd name="adj" fmla="val 8000"/>
            </a:avLst>
          </a:prstGeom>
          <a:solidFill>
            <a:srgbClr val="FFFFFF"/>
          </a:solidFill>
          <a:ln w="12700">
            <a:solidFill>
              <a:srgbClr val="C9C4C0"/>
            </a:solidFill>
          </a:ln>
        </p:spPr>
        <p:txBody>
          <a:bodyPr rtlCol="0" anchor="ctr"/>
          <a:lstStyle/>
          <a:p/>
        </p:txBody>
      </p:sp>
      <p:pic>
        <p:nvPicPr>
          <p:cNvPr id="22" name="Picture 21" descr="LuSend_c.png"/>
          <p:cNvPicPr>
            <a:picLocks noChangeAspect="1"/>
          </p:cNvPicPr>
          <p:nvPr/>
        </p:nvPicPr>
        <p:blipFill>
          <a:blip r:embed="rId6"/>
          <a:stretch>
            <a:fillRect/>
          </a:stretch>
        </p:blipFill>
        <p:spPr>
          <a:xfrm>
            <a:off x="9464040" y="2139696"/>
            <a:ext cx="457200" cy="457200"/>
          </a:xfrm>
          <a:prstGeom prst="rect">
            <a:avLst/>
          </a:prstGeom>
        </p:spPr>
      </p:pic>
      <p:sp>
        <p:nvSpPr>
          <p:cNvPr id="23" name="TextBox 22"/>
          <p:cNvSpPr txBox="1"/>
          <p:nvPr/>
        </p:nvSpPr>
        <p:spPr>
          <a:xfrm>
            <a:off x="9464040" y="2679192"/>
            <a:ext cx="2103120" cy="347472"/>
          </a:xfrm>
          <a:prstGeom prst="rect">
            <a:avLst/>
          </a:prstGeom>
          <a:noFill/>
        </p:spPr>
        <p:txBody>
          <a:bodyPr wrap="square" lIns="0" rIns="0" tIns="0" bIns="0" anchor="t">
            <a:noAutofit/>
          </a:bodyPr>
          <a:lstStyle/>
          <a:p>
            <a:pPr algn="l"/>
            <a:r>
              <a:rPr sz="1900" b="1" i="0">
                <a:solidFill>
                  <a:srgbClr val="333D47"/>
                </a:solidFill>
                <a:latin typeface="Arial"/>
              </a:rPr>
              <a:t>Action taken</a:t>
            </a:r>
          </a:p>
        </p:txBody>
      </p:sp>
      <p:sp>
        <p:nvSpPr>
          <p:cNvPr id="24" name="TextBox 23"/>
          <p:cNvSpPr txBox="1"/>
          <p:nvPr/>
        </p:nvSpPr>
        <p:spPr>
          <a:xfrm>
            <a:off x="9464040" y="3063240"/>
            <a:ext cx="2103120" cy="777240"/>
          </a:xfrm>
          <a:prstGeom prst="rect">
            <a:avLst/>
          </a:prstGeom>
          <a:noFill/>
        </p:spPr>
        <p:txBody>
          <a:bodyPr wrap="square" lIns="0" rIns="0" tIns="0" bIns="0" anchor="t">
            <a:noAutofit/>
          </a:bodyPr>
          <a:lstStyle/>
          <a:p>
            <a:pPr algn="l"/>
            <a:r>
              <a:rPr sz="1500" b="0" i="0">
                <a:solidFill>
                  <a:srgbClr val="5A6570"/>
                </a:solidFill>
                <a:latin typeface="Arial"/>
              </a:rPr>
              <a:t>Recorded and traceable</a:t>
            </a:r>
          </a:p>
        </p:txBody>
      </p:sp>
      <p:sp>
        <p:nvSpPr>
          <p:cNvPr id="25" name="Rounded Rectangle 24"/>
          <p:cNvSpPr/>
          <p:nvPr/>
        </p:nvSpPr>
        <p:spPr>
          <a:xfrm>
            <a:off x="457200" y="4114800"/>
            <a:ext cx="2697480" cy="1600200"/>
          </a:xfrm>
          <a:prstGeom prst="roundRect">
            <a:avLst>
              <a:gd name="adj" fmla="val 8000"/>
            </a:avLst>
          </a:prstGeom>
          <a:solidFill>
            <a:srgbClr val="F4F2F0"/>
          </a:solidFill>
          <a:ln>
            <a:noFill/>
          </a:ln>
        </p:spPr>
        <p:txBody>
          <a:bodyPr rtlCol="0" anchor="ctr"/>
          <a:lstStyle/>
          <a:p/>
        </p:txBody>
      </p:sp>
      <p:sp>
        <p:nvSpPr>
          <p:cNvPr id="26" name="Oval 25"/>
          <p:cNvSpPr/>
          <p:nvPr/>
        </p:nvSpPr>
        <p:spPr>
          <a:xfrm>
            <a:off x="640080" y="4261104"/>
            <a:ext cx="512064" cy="512064"/>
          </a:xfrm>
          <a:prstGeom prst="ellipse">
            <a:avLst/>
          </a:prstGeom>
          <a:solidFill>
            <a:srgbClr val="333D47"/>
          </a:solidFill>
          <a:ln>
            <a:noFill/>
          </a:ln>
        </p:spPr>
        <p:txBody>
          <a:bodyPr rtlCol="0" anchor="ctr"/>
          <a:lstStyle/>
          <a:p/>
        </p:txBody>
      </p:sp>
      <p:pic>
        <p:nvPicPr>
          <p:cNvPr id="27" name="Picture 26" descr="LuKeyRound_w.png"/>
          <p:cNvPicPr>
            <a:picLocks noChangeAspect="1"/>
          </p:cNvPicPr>
          <p:nvPr/>
        </p:nvPicPr>
        <p:blipFill>
          <a:blip r:embed="rId7"/>
          <a:stretch>
            <a:fillRect/>
          </a:stretch>
        </p:blipFill>
        <p:spPr>
          <a:xfrm>
            <a:off x="762975" y="4383999"/>
            <a:ext cx="266273" cy="266273"/>
          </a:xfrm>
          <a:prstGeom prst="rect">
            <a:avLst/>
          </a:prstGeom>
        </p:spPr>
      </p:pic>
      <p:sp>
        <p:nvSpPr>
          <p:cNvPr id="28" name="TextBox 27"/>
          <p:cNvSpPr txBox="1"/>
          <p:nvPr/>
        </p:nvSpPr>
        <p:spPr>
          <a:xfrm>
            <a:off x="1280160"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Your permissions only</a:t>
            </a:r>
          </a:p>
        </p:txBody>
      </p:sp>
      <p:sp>
        <p:nvSpPr>
          <p:cNvPr id="29" name="TextBox 28"/>
          <p:cNvSpPr txBox="1"/>
          <p:nvPr/>
        </p:nvSpPr>
        <p:spPr>
          <a:xfrm>
            <a:off x="640080"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Riley can only use the data, systems and tools you are already authorized to access.</a:t>
            </a:r>
          </a:p>
        </p:txBody>
      </p:sp>
      <p:sp>
        <p:nvSpPr>
          <p:cNvPr id="30" name="Rounded Rectangle 29"/>
          <p:cNvSpPr/>
          <p:nvPr/>
        </p:nvSpPr>
        <p:spPr>
          <a:xfrm>
            <a:off x="3319272" y="4114800"/>
            <a:ext cx="2697480" cy="1600200"/>
          </a:xfrm>
          <a:prstGeom prst="roundRect">
            <a:avLst>
              <a:gd name="adj" fmla="val 8000"/>
            </a:avLst>
          </a:prstGeom>
          <a:solidFill>
            <a:srgbClr val="F4F2F0"/>
          </a:solidFill>
          <a:ln>
            <a:noFill/>
          </a:ln>
        </p:spPr>
        <p:txBody>
          <a:bodyPr rtlCol="0" anchor="ctr"/>
          <a:lstStyle/>
          <a:p/>
        </p:txBody>
      </p:sp>
      <p:sp>
        <p:nvSpPr>
          <p:cNvPr id="31" name="Oval 30"/>
          <p:cNvSpPr/>
          <p:nvPr/>
        </p:nvSpPr>
        <p:spPr>
          <a:xfrm>
            <a:off x="3502152" y="4261104"/>
            <a:ext cx="512064" cy="512064"/>
          </a:xfrm>
          <a:prstGeom prst="ellipse">
            <a:avLst/>
          </a:prstGeom>
          <a:solidFill>
            <a:srgbClr val="333D47"/>
          </a:solidFill>
          <a:ln>
            <a:noFill/>
          </a:ln>
        </p:spPr>
        <p:txBody>
          <a:bodyPr rtlCol="0" anchor="ctr"/>
          <a:lstStyle/>
          <a:p/>
        </p:txBody>
      </p:sp>
      <p:pic>
        <p:nvPicPr>
          <p:cNvPr id="32" name="Picture 31" descr="LuShieldCheck_w.png"/>
          <p:cNvPicPr>
            <a:picLocks noChangeAspect="1"/>
          </p:cNvPicPr>
          <p:nvPr/>
        </p:nvPicPr>
        <p:blipFill>
          <a:blip r:embed="rId8"/>
          <a:stretch>
            <a:fillRect/>
          </a:stretch>
        </p:blipFill>
        <p:spPr>
          <a:xfrm>
            <a:off x="3625047" y="4383999"/>
            <a:ext cx="266273" cy="266273"/>
          </a:xfrm>
          <a:prstGeom prst="rect">
            <a:avLst/>
          </a:prstGeom>
        </p:spPr>
      </p:pic>
      <p:sp>
        <p:nvSpPr>
          <p:cNvPr id="33" name="TextBox 32"/>
          <p:cNvSpPr txBox="1"/>
          <p:nvPr/>
        </p:nvSpPr>
        <p:spPr>
          <a:xfrm>
            <a:off x="4142232"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Data stays under AIA controls</a:t>
            </a:r>
          </a:p>
        </p:txBody>
      </p:sp>
      <p:sp>
        <p:nvSpPr>
          <p:cNvPr id="34" name="TextBox 33"/>
          <p:cNvSpPr txBox="1"/>
          <p:nvPr/>
        </p:nvSpPr>
        <p:spPr>
          <a:xfrm>
            <a:off x="3502152"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Sensitive and customer data remain subject to AIA’s existing privacy and security controls.</a:t>
            </a:r>
          </a:p>
        </p:txBody>
      </p:sp>
      <p:sp>
        <p:nvSpPr>
          <p:cNvPr id="35" name="Rounded Rectangle 34"/>
          <p:cNvSpPr/>
          <p:nvPr/>
        </p:nvSpPr>
        <p:spPr>
          <a:xfrm>
            <a:off x="6181344" y="4114800"/>
            <a:ext cx="2697480" cy="1600200"/>
          </a:xfrm>
          <a:prstGeom prst="roundRect">
            <a:avLst>
              <a:gd name="adj" fmla="val 8000"/>
            </a:avLst>
          </a:prstGeom>
          <a:solidFill>
            <a:srgbClr val="F4F2F0"/>
          </a:solidFill>
          <a:ln>
            <a:noFill/>
          </a:ln>
        </p:spPr>
        <p:txBody>
          <a:bodyPr rtlCol="0" anchor="ctr"/>
          <a:lstStyle/>
          <a:p/>
        </p:txBody>
      </p:sp>
      <p:sp>
        <p:nvSpPr>
          <p:cNvPr id="36" name="Oval 35"/>
          <p:cNvSpPr/>
          <p:nvPr/>
        </p:nvSpPr>
        <p:spPr>
          <a:xfrm>
            <a:off x="6364224" y="4261104"/>
            <a:ext cx="512064" cy="512064"/>
          </a:xfrm>
          <a:prstGeom prst="ellipse">
            <a:avLst/>
          </a:prstGeom>
          <a:solidFill>
            <a:srgbClr val="333D47"/>
          </a:solidFill>
          <a:ln>
            <a:noFill/>
          </a:ln>
        </p:spPr>
        <p:txBody>
          <a:bodyPr rtlCol="0" anchor="ctr"/>
          <a:lstStyle/>
          <a:p/>
        </p:txBody>
      </p:sp>
      <p:pic>
        <p:nvPicPr>
          <p:cNvPr id="37" name="Picture 36" descr="LuRefreshCw_w.png"/>
          <p:cNvPicPr>
            <a:picLocks noChangeAspect="1"/>
          </p:cNvPicPr>
          <p:nvPr/>
        </p:nvPicPr>
        <p:blipFill>
          <a:blip r:embed="rId9"/>
          <a:stretch>
            <a:fillRect/>
          </a:stretch>
        </p:blipFill>
        <p:spPr>
          <a:xfrm>
            <a:off x="6487119" y="4383999"/>
            <a:ext cx="266273" cy="266273"/>
          </a:xfrm>
          <a:prstGeom prst="rect">
            <a:avLst/>
          </a:prstGeom>
        </p:spPr>
      </p:pic>
      <p:sp>
        <p:nvSpPr>
          <p:cNvPr id="38" name="TextBox 37"/>
          <p:cNvSpPr txBox="1"/>
          <p:nvPr/>
        </p:nvSpPr>
        <p:spPr>
          <a:xfrm>
            <a:off x="7004304"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Learning rules</a:t>
            </a:r>
          </a:p>
          <a:p>
            <a:pPr algn="l"/>
            <a:r>
              <a:rPr sz="1400" b="1" i="0">
                <a:solidFill>
                  <a:srgbClr val="333D47"/>
                </a:solidFill>
                <a:latin typeface="Arial"/>
              </a:rPr>
              <a:t>agreed with</a:t>
            </a:r>
          </a:p>
          <a:p>
            <a:pPr algn="l"/>
            <a:r>
              <a:rPr sz="1400" b="1" i="0">
                <a:solidFill>
                  <a:srgbClr val="333D47"/>
                </a:solidFill>
                <a:latin typeface="Arial"/>
              </a:rPr>
              <a:t>risk and IT</a:t>
            </a:r>
          </a:p>
        </p:txBody>
      </p:sp>
      <p:sp>
        <p:nvSpPr>
          <p:cNvPr id="39" name="TextBox 38"/>
          <p:cNvSpPr txBox="1"/>
          <p:nvPr/>
        </p:nvSpPr>
        <p:spPr>
          <a:xfrm>
            <a:off x="6364224"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Feedback is reviewed under agreed governance before it changes Riley’s behaviour.</a:t>
            </a:r>
          </a:p>
        </p:txBody>
      </p:sp>
      <p:sp>
        <p:nvSpPr>
          <p:cNvPr id="40" name="Rounded Rectangle 39"/>
          <p:cNvSpPr/>
          <p:nvPr/>
        </p:nvSpPr>
        <p:spPr>
          <a:xfrm>
            <a:off x="9043416" y="4114800"/>
            <a:ext cx="2697480" cy="1600200"/>
          </a:xfrm>
          <a:prstGeom prst="roundRect">
            <a:avLst>
              <a:gd name="adj" fmla="val 8000"/>
            </a:avLst>
          </a:prstGeom>
          <a:solidFill>
            <a:srgbClr val="F4F2F0"/>
          </a:solidFill>
          <a:ln>
            <a:noFill/>
          </a:ln>
        </p:spPr>
        <p:txBody>
          <a:bodyPr rtlCol="0" anchor="ctr"/>
          <a:lstStyle/>
          <a:p/>
        </p:txBody>
      </p:sp>
      <p:sp>
        <p:nvSpPr>
          <p:cNvPr id="41" name="Oval 40"/>
          <p:cNvSpPr/>
          <p:nvPr/>
        </p:nvSpPr>
        <p:spPr>
          <a:xfrm>
            <a:off x="9226296" y="4261104"/>
            <a:ext cx="512064" cy="512064"/>
          </a:xfrm>
          <a:prstGeom prst="ellipse">
            <a:avLst/>
          </a:prstGeom>
          <a:solidFill>
            <a:srgbClr val="333D47"/>
          </a:solidFill>
          <a:ln>
            <a:noFill/>
          </a:ln>
        </p:spPr>
        <p:txBody>
          <a:bodyPr rtlCol="0" anchor="ctr"/>
          <a:lstStyle/>
          <a:p/>
        </p:txBody>
      </p:sp>
      <p:pic>
        <p:nvPicPr>
          <p:cNvPr id="42" name="Picture 41" descr="LuUserCheck_w.png"/>
          <p:cNvPicPr>
            <a:picLocks noChangeAspect="1"/>
          </p:cNvPicPr>
          <p:nvPr/>
        </p:nvPicPr>
        <p:blipFill>
          <a:blip r:embed="rId5"/>
          <a:stretch>
            <a:fillRect/>
          </a:stretch>
        </p:blipFill>
        <p:spPr>
          <a:xfrm>
            <a:off x="9349191" y="4383999"/>
            <a:ext cx="266273" cy="266273"/>
          </a:xfrm>
          <a:prstGeom prst="rect">
            <a:avLst/>
          </a:prstGeom>
        </p:spPr>
      </p:pic>
      <p:sp>
        <p:nvSpPr>
          <p:cNvPr id="43" name="TextBox 42"/>
          <p:cNvSpPr txBox="1"/>
          <p:nvPr/>
        </p:nvSpPr>
        <p:spPr>
          <a:xfrm>
            <a:off x="9866376" y="4187952"/>
            <a:ext cx="1764792" cy="658368"/>
          </a:xfrm>
          <a:prstGeom prst="rect">
            <a:avLst/>
          </a:prstGeom>
          <a:noFill/>
        </p:spPr>
        <p:txBody>
          <a:bodyPr wrap="square" lIns="0" rIns="0" tIns="0" bIns="0" anchor="ctr">
            <a:noAutofit/>
          </a:bodyPr>
          <a:lstStyle/>
          <a:p>
            <a:pPr algn="l"/>
            <a:r>
              <a:rPr sz="1400" b="1" i="0">
                <a:solidFill>
                  <a:srgbClr val="333D47"/>
                </a:solidFill>
                <a:latin typeface="Arial"/>
              </a:rPr>
              <a:t>Independent quality spot-checks</a:t>
            </a:r>
          </a:p>
        </p:txBody>
      </p:sp>
      <p:sp>
        <p:nvSpPr>
          <p:cNvPr id="44" name="TextBox 43"/>
          <p:cNvSpPr txBox="1"/>
          <p:nvPr/>
        </p:nvSpPr>
        <p:spPr>
          <a:xfrm>
            <a:off x="9226296" y="4919472"/>
            <a:ext cx="2386584" cy="768096"/>
          </a:xfrm>
          <a:prstGeom prst="rect">
            <a:avLst/>
          </a:prstGeom>
          <a:noFill/>
        </p:spPr>
        <p:txBody>
          <a:bodyPr wrap="square" lIns="0" rIns="0" tIns="0" bIns="0" anchor="t">
            <a:noAutofit/>
          </a:bodyPr>
          <a:lstStyle/>
          <a:p>
            <a:pPr algn="l"/>
            <a:r>
              <a:rPr sz="1300" b="0" i="0">
                <a:solidFill>
                  <a:srgbClr val="5A6570"/>
                </a:solidFill>
                <a:latin typeface="Arial"/>
              </a:rPr>
              <a:t>A business reviewer regularly checks samples of Riley’s work against a human-only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566928"/>
          </a:xfrm>
        </p:spPr>
        <p:txBody>
          <a:bodyPr tIns="18288" bIns="18288"/>
          <a:lstStyle/>
          <a:p>
            <a:pPr>
              <a:lnSpc>
                <a:spcPct val="100000"/>
              </a:lnSpc>
            </a:pPr>
            <a:r>
              <a:rPr sz="3200" b="1">
                <a:solidFill>
                  <a:srgbClr val="333D47"/>
                </a:solidFill>
                <a:latin typeface="Arial"/>
              </a:rPr>
              <a:t>12 months, gated by evidence</a:t>
            </a:r>
          </a:p>
        </p:txBody>
      </p:sp>
      <p:sp>
        <p:nvSpPr>
          <p:cNvPr id="5" name="TextBox 4"/>
          <p:cNvSpPr txBox="1"/>
          <p:nvPr/>
        </p:nvSpPr>
        <p:spPr>
          <a:xfrm>
            <a:off x="448056" y="292608"/>
            <a:ext cx="7315200" cy="256032"/>
          </a:xfrm>
          <a:prstGeom prst="rect">
            <a:avLst/>
          </a:prstGeom>
          <a:noFill/>
        </p:spPr>
        <p:txBody>
          <a:bodyPr wrap="square" lIns="0" rIns="0" tIns="0" bIns="0" anchor="t">
            <a:noAutofit/>
          </a:bodyPr>
          <a:lstStyle/>
          <a:p>
            <a:pPr algn="l"/>
            <a:r>
              <a:rPr sz="1200" b="1" i="0">
                <a:solidFill>
                  <a:srgbClr val="D31145"/>
                </a:solidFill>
                <a:latin typeface="Arial"/>
              </a:rPr>
              <a:t>FEASIBILITY  ·  ROADMAP</a:t>
            </a:r>
          </a:p>
        </p:txBody>
      </p:sp>
      <p:sp>
        <p:nvSpPr>
          <p:cNvPr id="5" name="Slide Number Placeholder 4">
            <a:extLst>
              <a:ext uri="{FF2B5EF4-FFF2-40B4-BE49-F238E27FC236}">
                <a16:creationId xmlns:a16="http://schemas.microsoft.com/office/drawing/2014/main" id="{9BC448CE-9665-F274-B4A7-6CEB966934D3}"/>
              </a:ext>
            </a:extLst>
          </p:cNvPr>
          <p:cNvSpPr>
            <a:spLocks noGrp="1"/>
          </p:cNvSpPr>
          <p:nvPr>
            <p:ph type="sldNum" sz="quarter" idx="4"/>
          </p:nvPr>
        </p:nvSpPr>
        <p:spPr/>
        <p:txBody>
          <a:bodyPr/>
          <a:lstStyle/>
          <a:p>
            <a:fld id="{18A41853-EF22-D446-BDBC-A7CF3FE93503}" type="slidenum">
              <a:rPr lang="en-US" smtClean="0"/>
              <a:pPr/>
              <a:t>11</a:t>
            </a:fld>
            <a:endParaRPr lang="en-US" dirty="0"/>
          </a:p>
        </p:txBody>
      </p:sp>
      <p:sp>
        <p:nvSpPr>
          <p:cNvPr id="6" name="Rounded Rectangle 5"/>
          <p:cNvSpPr/>
          <p:nvPr/>
        </p:nvSpPr>
        <p:spPr>
          <a:xfrm>
            <a:off x="457200" y="1783080"/>
            <a:ext cx="2240280" cy="2468880"/>
          </a:xfrm>
          <a:prstGeom prst="roundRect">
            <a:avLst>
              <a:gd name="adj" fmla="val 5000"/>
            </a:avLst>
          </a:prstGeom>
          <a:solidFill>
            <a:srgbClr val="F4F2F0"/>
          </a:solidFill>
          <a:ln>
            <a:noFill/>
          </a:ln>
        </p:spPr>
        <p:txBody>
          <a:bodyPr rtlCol="0" anchor="ctr"/>
          <a:lstStyle/>
          <a:p/>
        </p:txBody>
      </p:sp>
      <p:sp>
        <p:nvSpPr>
          <p:cNvPr id="7" name="TextBox 6"/>
          <p:cNvSpPr txBox="1"/>
          <p:nvPr/>
        </p:nvSpPr>
        <p:spPr>
          <a:xfrm>
            <a:off x="658368" y="1965960"/>
            <a:ext cx="1874520" cy="256032"/>
          </a:xfrm>
          <a:prstGeom prst="rect">
            <a:avLst/>
          </a:prstGeom>
          <a:noFill/>
        </p:spPr>
        <p:txBody>
          <a:bodyPr wrap="square" lIns="0" rIns="0" tIns="0" bIns="0" anchor="t">
            <a:noAutofit/>
          </a:bodyPr>
          <a:lstStyle/>
          <a:p>
            <a:pPr algn="l"/>
            <a:r>
              <a:rPr sz="1200" b="1" i="0">
                <a:solidFill>
                  <a:srgbClr val="5A6570"/>
                </a:solidFill>
                <a:latin typeface="Arial"/>
              </a:rPr>
              <a:t>PHASE 0   </a:t>
            </a:r>
            <a:r>
              <a:rPr sz="1200" b="0" i="0">
                <a:solidFill>
                  <a:srgbClr val="5A6570"/>
                </a:solidFill>
                <a:latin typeface="Arial"/>
              </a:rPr>
              <a:t>Month 1</a:t>
            </a:r>
          </a:p>
        </p:txBody>
      </p:sp>
      <p:sp>
        <p:nvSpPr>
          <p:cNvPr id="8" name="TextBox 7"/>
          <p:cNvSpPr txBox="1"/>
          <p:nvPr/>
        </p:nvSpPr>
        <p:spPr>
          <a:xfrm>
            <a:off x="658368" y="2240279"/>
            <a:ext cx="1874520" cy="603504"/>
          </a:xfrm>
          <a:prstGeom prst="rect">
            <a:avLst/>
          </a:prstGeom>
          <a:noFill/>
        </p:spPr>
        <p:txBody>
          <a:bodyPr wrap="square" lIns="0" rIns="0" tIns="0" bIns="0" anchor="t">
            <a:noAutofit/>
          </a:bodyPr>
          <a:lstStyle/>
          <a:p>
            <a:pPr algn="l"/>
            <a:r>
              <a:rPr sz="1900" b="1" i="0">
                <a:solidFill>
                  <a:srgbClr val="333D47"/>
                </a:solidFill>
                <a:latin typeface="Arial"/>
              </a:rPr>
              <a:t>Select and baseline</a:t>
            </a:r>
          </a:p>
        </p:txBody>
      </p:sp>
      <p:sp>
        <p:nvSpPr>
          <p:cNvPr id="9" name="TextBox 8"/>
          <p:cNvSpPr txBox="1"/>
          <p:nvPr/>
        </p:nvSpPr>
        <p:spPr>
          <a:xfrm>
            <a:off x="658368" y="2926080"/>
            <a:ext cx="18745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Pick workflow by value, readiness, risk</a:t>
            </a:r>
          </a:p>
          <a:p>
            <a:pPr algn="l">
              <a:spcAft>
                <a:spcPts val="400"/>
              </a:spcAft>
            </a:pPr>
            <a:r>
              <a:rPr sz="1000" b="0" i="0">
                <a:solidFill>
                  <a:srgbClr val="D31145"/>
                </a:solidFill>
                <a:latin typeface="Arial"/>
              </a:rPr>
              <a:t>●  </a:t>
            </a:r>
            <a:r>
              <a:rPr sz="1400" b="0" i="0">
                <a:solidFill>
                  <a:srgbClr val="333D47"/>
                </a:solidFill>
                <a:latin typeface="Arial"/>
              </a:rPr>
              <a:t>Baseline today’s effort</a:t>
            </a:r>
          </a:p>
        </p:txBody>
      </p:sp>
      <p:sp>
        <p:nvSpPr>
          <p:cNvPr id="10" name="Rounded Rectangle 9"/>
          <p:cNvSpPr/>
          <p:nvPr/>
        </p:nvSpPr>
        <p:spPr>
          <a:xfrm>
            <a:off x="2898648" y="1783080"/>
            <a:ext cx="2697480" cy="2468880"/>
          </a:xfrm>
          <a:prstGeom prst="roundRect">
            <a:avLst>
              <a:gd name="adj" fmla="val 5000"/>
            </a:avLst>
          </a:prstGeom>
          <a:solidFill>
            <a:srgbClr val="F4F2F0"/>
          </a:solidFill>
          <a:ln>
            <a:noFill/>
          </a:ln>
        </p:spPr>
        <p:txBody>
          <a:bodyPr rtlCol="0" anchor="ctr"/>
          <a:lstStyle/>
          <a:p/>
        </p:txBody>
      </p:sp>
      <p:sp>
        <p:nvSpPr>
          <p:cNvPr id="11" name="TextBox 10"/>
          <p:cNvSpPr txBox="1"/>
          <p:nvPr/>
        </p:nvSpPr>
        <p:spPr>
          <a:xfrm>
            <a:off x="3099816" y="1965960"/>
            <a:ext cx="2331720" cy="256032"/>
          </a:xfrm>
          <a:prstGeom prst="rect">
            <a:avLst/>
          </a:prstGeom>
          <a:noFill/>
        </p:spPr>
        <p:txBody>
          <a:bodyPr wrap="square" lIns="0" rIns="0" tIns="0" bIns="0" anchor="t">
            <a:noAutofit/>
          </a:bodyPr>
          <a:lstStyle/>
          <a:p>
            <a:pPr algn="l"/>
            <a:r>
              <a:rPr sz="1200" b="1" i="0">
                <a:solidFill>
                  <a:srgbClr val="5A6570"/>
                </a:solidFill>
                <a:latin typeface="Arial"/>
              </a:rPr>
              <a:t>PHASE 1   </a:t>
            </a:r>
            <a:r>
              <a:rPr sz="1200" b="0" i="0">
                <a:solidFill>
                  <a:srgbClr val="5A6570"/>
                </a:solidFill>
                <a:latin typeface="Arial"/>
              </a:rPr>
              <a:t>Months 2–4</a:t>
            </a:r>
          </a:p>
        </p:txBody>
      </p:sp>
      <p:sp>
        <p:nvSpPr>
          <p:cNvPr id="12" name="TextBox 11"/>
          <p:cNvSpPr txBox="1"/>
          <p:nvPr/>
        </p:nvSpPr>
        <p:spPr>
          <a:xfrm>
            <a:off x="3099816" y="2240279"/>
            <a:ext cx="2331720" cy="603504"/>
          </a:xfrm>
          <a:prstGeom prst="rect">
            <a:avLst/>
          </a:prstGeom>
          <a:noFill/>
        </p:spPr>
        <p:txBody>
          <a:bodyPr wrap="square" lIns="0" rIns="0" tIns="0" bIns="0" anchor="t">
            <a:noAutofit/>
          </a:bodyPr>
          <a:lstStyle/>
          <a:p>
            <a:pPr algn="l"/>
            <a:r>
              <a:rPr sz="1900" b="1" i="0">
                <a:solidFill>
                  <a:srgbClr val="333D47"/>
                </a:solidFill>
                <a:latin typeface="Arial"/>
              </a:rPr>
              <a:t>MVP pilot</a:t>
            </a:r>
          </a:p>
        </p:txBody>
      </p:sp>
      <p:sp>
        <p:nvSpPr>
          <p:cNvPr id="13" name="TextBox 12"/>
          <p:cNvSpPr txBox="1"/>
          <p:nvPr/>
        </p:nvSpPr>
        <p:spPr>
          <a:xfrm>
            <a:off x="3099816" y="2926080"/>
            <a:ext cx="23317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One workflow, one team</a:t>
            </a:r>
          </a:p>
          <a:p>
            <a:pPr algn="l">
              <a:spcAft>
                <a:spcPts val="400"/>
              </a:spcAft>
            </a:pPr>
            <a:r>
              <a:rPr sz="1000" b="0" i="0">
                <a:solidFill>
                  <a:srgbClr val="D31145"/>
                </a:solidFill>
                <a:latin typeface="Arial"/>
              </a:rPr>
              <a:t>●  </a:t>
            </a:r>
            <a:r>
              <a:rPr sz="1400" b="0" i="0">
                <a:solidFill>
                  <a:srgbClr val="333D47"/>
                </a:solidFill>
                <a:latin typeface="Arial"/>
              </a:rPr>
              <a:t>Measure against baseline</a:t>
            </a:r>
          </a:p>
        </p:txBody>
      </p:sp>
      <p:sp>
        <p:nvSpPr>
          <p:cNvPr id="14" name="Rounded Rectangle 13"/>
          <p:cNvSpPr/>
          <p:nvPr/>
        </p:nvSpPr>
        <p:spPr>
          <a:xfrm>
            <a:off x="5797296" y="1554480"/>
            <a:ext cx="3063240" cy="2697480"/>
          </a:xfrm>
          <a:prstGeom prst="roundRect">
            <a:avLst>
              <a:gd name="adj" fmla="val 5000"/>
            </a:avLst>
          </a:prstGeom>
          <a:solidFill>
            <a:srgbClr val="D31145"/>
          </a:solidFill>
          <a:ln>
            <a:noFill/>
          </a:ln>
        </p:spPr>
        <p:txBody>
          <a:bodyPr rtlCol="0" anchor="ctr"/>
          <a:lstStyle/>
          <a:p/>
        </p:txBody>
      </p:sp>
      <p:sp>
        <p:nvSpPr>
          <p:cNvPr id="15" name="TextBox 14"/>
          <p:cNvSpPr txBox="1"/>
          <p:nvPr/>
        </p:nvSpPr>
        <p:spPr>
          <a:xfrm>
            <a:off x="5998464" y="1691639"/>
            <a:ext cx="2697480" cy="256032"/>
          </a:xfrm>
          <a:prstGeom prst="rect">
            <a:avLst/>
          </a:prstGeom>
          <a:noFill/>
        </p:spPr>
        <p:txBody>
          <a:bodyPr wrap="square" lIns="0" rIns="0" tIns="0" bIns="0" anchor="t">
            <a:noAutofit/>
          </a:bodyPr>
          <a:lstStyle/>
          <a:p>
            <a:pPr algn="l"/>
            <a:r>
              <a:rPr sz="1200" b="1" i="0">
                <a:solidFill>
                  <a:srgbClr val="FFFFFF"/>
                </a:solidFill>
                <a:latin typeface="Arial"/>
              </a:rPr>
              <a:t>THE CORE TEST</a:t>
            </a:r>
          </a:p>
        </p:txBody>
      </p:sp>
      <p:sp>
        <p:nvSpPr>
          <p:cNvPr id="16" name="TextBox 15"/>
          <p:cNvSpPr txBox="1"/>
          <p:nvPr/>
        </p:nvSpPr>
        <p:spPr>
          <a:xfrm>
            <a:off x="5998464" y="2011680"/>
            <a:ext cx="2697480" cy="256032"/>
          </a:xfrm>
          <a:prstGeom prst="rect">
            <a:avLst/>
          </a:prstGeom>
          <a:noFill/>
        </p:spPr>
        <p:txBody>
          <a:bodyPr wrap="square" lIns="0" rIns="0" tIns="0" bIns="0" anchor="t">
            <a:noAutofit/>
          </a:bodyPr>
          <a:lstStyle/>
          <a:p>
            <a:pPr algn="l"/>
            <a:r>
              <a:rPr sz="1200" b="1" i="0">
                <a:solidFill>
                  <a:srgbClr val="FFFFFF"/>
                </a:solidFill>
                <a:latin typeface="Arial"/>
              </a:rPr>
              <a:t>PHASE 2   </a:t>
            </a:r>
            <a:r>
              <a:rPr sz="1200" b="0" i="0">
                <a:solidFill>
                  <a:srgbClr val="FFFFFF"/>
                </a:solidFill>
                <a:latin typeface="Arial"/>
              </a:rPr>
              <a:t>Months 5–7</a:t>
            </a:r>
          </a:p>
        </p:txBody>
      </p:sp>
      <p:sp>
        <p:nvSpPr>
          <p:cNvPr id="17" name="TextBox 16"/>
          <p:cNvSpPr txBox="1"/>
          <p:nvPr/>
        </p:nvSpPr>
        <p:spPr>
          <a:xfrm>
            <a:off x="5998464" y="2286000"/>
            <a:ext cx="2697480" cy="603504"/>
          </a:xfrm>
          <a:prstGeom prst="rect">
            <a:avLst/>
          </a:prstGeom>
          <a:noFill/>
        </p:spPr>
        <p:txBody>
          <a:bodyPr wrap="square" lIns="0" rIns="0" tIns="0" bIns="0" anchor="t">
            <a:noAutofit/>
          </a:bodyPr>
          <a:lstStyle/>
          <a:p>
            <a:pPr algn="l"/>
            <a:r>
              <a:rPr sz="1900" b="1" i="0">
                <a:solidFill>
                  <a:srgbClr val="FFFFFF"/>
                </a:solidFill>
                <a:latin typeface="Arial"/>
              </a:rPr>
              <a:t>Prove the multiplier</a:t>
            </a:r>
          </a:p>
        </p:txBody>
      </p:sp>
      <p:sp>
        <p:nvSpPr>
          <p:cNvPr id="18" name="TextBox 17"/>
          <p:cNvSpPr txBox="1"/>
          <p:nvPr/>
        </p:nvSpPr>
        <p:spPr>
          <a:xfrm>
            <a:off x="5998464" y="2971800"/>
            <a:ext cx="2697480" cy="1188720"/>
          </a:xfrm>
          <a:prstGeom prst="rect">
            <a:avLst/>
          </a:prstGeom>
          <a:noFill/>
        </p:spPr>
        <p:txBody>
          <a:bodyPr wrap="square" lIns="0" rIns="0" tIns="0" bIns="0" anchor="t">
            <a:noAutofit/>
          </a:bodyPr>
          <a:lstStyle/>
          <a:p>
            <a:pPr algn="l">
              <a:spcAft>
                <a:spcPts val="400"/>
              </a:spcAft>
            </a:pPr>
            <a:r>
              <a:rPr sz="1000" b="0" i="0">
                <a:solidFill>
                  <a:srgbClr val="FFFFFF"/>
                </a:solidFill>
                <a:latin typeface="Arial"/>
              </a:rPr>
              <a:t>●  </a:t>
            </a:r>
            <a:r>
              <a:rPr sz="1400" b="0" i="0">
                <a:solidFill>
                  <a:srgbClr val="FFFFFF"/>
                </a:solidFill>
                <a:latin typeface="Arial"/>
              </a:rPr>
              <a:t>Connect another AIA team’s AI tool</a:t>
            </a:r>
          </a:p>
          <a:p>
            <a:pPr algn="l">
              <a:spcAft>
                <a:spcPts val="400"/>
              </a:spcAft>
            </a:pPr>
            <a:r>
              <a:rPr sz="1000" b="0" i="0">
                <a:solidFill>
                  <a:srgbClr val="FFFFFF"/>
                </a:solidFill>
                <a:latin typeface="Arial"/>
              </a:rPr>
              <a:t>●  </a:t>
            </a:r>
            <a:r>
              <a:rPr sz="1400" b="0" i="0">
                <a:solidFill>
                  <a:srgbClr val="FFFFFF"/>
                </a:solidFill>
                <a:latin typeface="Arial"/>
              </a:rPr>
              <a:t>Add a second workflow</a:t>
            </a:r>
          </a:p>
        </p:txBody>
      </p:sp>
      <p:sp>
        <p:nvSpPr>
          <p:cNvPr id="19" name="Rounded Rectangle 18"/>
          <p:cNvSpPr/>
          <p:nvPr/>
        </p:nvSpPr>
        <p:spPr>
          <a:xfrm>
            <a:off x="9061704" y="1783080"/>
            <a:ext cx="2697480" cy="2468880"/>
          </a:xfrm>
          <a:prstGeom prst="roundRect">
            <a:avLst>
              <a:gd name="adj" fmla="val 5000"/>
            </a:avLst>
          </a:prstGeom>
          <a:solidFill>
            <a:srgbClr val="F4F2F0"/>
          </a:solidFill>
          <a:ln>
            <a:noFill/>
          </a:ln>
        </p:spPr>
        <p:txBody>
          <a:bodyPr rtlCol="0" anchor="ctr"/>
          <a:lstStyle/>
          <a:p/>
        </p:txBody>
      </p:sp>
      <p:sp>
        <p:nvSpPr>
          <p:cNvPr id="20" name="TextBox 19"/>
          <p:cNvSpPr txBox="1"/>
          <p:nvPr/>
        </p:nvSpPr>
        <p:spPr>
          <a:xfrm>
            <a:off x="9262872" y="1965960"/>
            <a:ext cx="2331720" cy="256032"/>
          </a:xfrm>
          <a:prstGeom prst="rect">
            <a:avLst/>
          </a:prstGeom>
          <a:noFill/>
        </p:spPr>
        <p:txBody>
          <a:bodyPr wrap="square" lIns="0" rIns="0" tIns="0" bIns="0" anchor="t">
            <a:noAutofit/>
          </a:bodyPr>
          <a:lstStyle/>
          <a:p>
            <a:pPr algn="l"/>
            <a:r>
              <a:rPr sz="1200" b="1" i="0">
                <a:solidFill>
                  <a:srgbClr val="5A6570"/>
                </a:solidFill>
                <a:latin typeface="Arial"/>
              </a:rPr>
              <a:t>PHASE 3   </a:t>
            </a:r>
            <a:r>
              <a:rPr sz="1200" b="0" i="0">
                <a:solidFill>
                  <a:srgbClr val="5A6570"/>
                </a:solidFill>
                <a:latin typeface="Arial"/>
              </a:rPr>
              <a:t>Months 8–12</a:t>
            </a:r>
          </a:p>
        </p:txBody>
      </p:sp>
      <p:sp>
        <p:nvSpPr>
          <p:cNvPr id="21" name="TextBox 20"/>
          <p:cNvSpPr txBox="1"/>
          <p:nvPr/>
        </p:nvSpPr>
        <p:spPr>
          <a:xfrm>
            <a:off x="9262872" y="2240279"/>
            <a:ext cx="2331720" cy="603504"/>
          </a:xfrm>
          <a:prstGeom prst="rect">
            <a:avLst/>
          </a:prstGeom>
          <a:noFill/>
        </p:spPr>
        <p:txBody>
          <a:bodyPr wrap="square" lIns="0" rIns="0" tIns="0" bIns="0" anchor="t">
            <a:noAutofit/>
          </a:bodyPr>
          <a:lstStyle/>
          <a:p>
            <a:pPr algn="l"/>
            <a:r>
              <a:rPr sz="1900" b="1" i="0">
                <a:solidFill>
                  <a:srgbClr val="333D47"/>
                </a:solidFill>
                <a:latin typeface="Arial"/>
              </a:rPr>
              <a:t>Scale toward the vision</a:t>
            </a:r>
          </a:p>
        </p:txBody>
      </p:sp>
      <p:sp>
        <p:nvSpPr>
          <p:cNvPr id="22" name="TextBox 21"/>
          <p:cNvSpPr txBox="1"/>
          <p:nvPr/>
        </p:nvSpPr>
        <p:spPr>
          <a:xfrm>
            <a:off x="9262872" y="2926080"/>
            <a:ext cx="2331720" cy="1188720"/>
          </a:xfrm>
          <a:prstGeom prst="rect">
            <a:avLst/>
          </a:prstGeom>
          <a:noFill/>
        </p:spPr>
        <p:txBody>
          <a:bodyPr wrap="square" lIns="0" rIns="0" tIns="0" bIns="0" anchor="t">
            <a:noAutofit/>
          </a:bodyPr>
          <a:lstStyle/>
          <a:p>
            <a:pPr algn="l">
              <a:spcAft>
                <a:spcPts val="400"/>
              </a:spcAft>
            </a:pPr>
            <a:r>
              <a:rPr sz="1000" b="0" i="0">
                <a:solidFill>
                  <a:srgbClr val="D31145"/>
                </a:solidFill>
                <a:latin typeface="Arial"/>
              </a:rPr>
              <a:t>●  </a:t>
            </a:r>
            <a:r>
              <a:rPr sz="1400" b="0" i="0">
                <a:solidFill>
                  <a:srgbClr val="333D47"/>
                </a:solidFill>
                <a:latin typeface="Arial"/>
              </a:rPr>
              <a:t>More teams, more capabilities</a:t>
            </a:r>
          </a:p>
          <a:p>
            <a:pPr algn="l">
              <a:spcAft>
                <a:spcPts val="400"/>
              </a:spcAft>
            </a:pPr>
            <a:r>
              <a:rPr sz="1000" b="0" i="0">
                <a:solidFill>
                  <a:srgbClr val="D31145"/>
                </a:solidFill>
                <a:latin typeface="Arial"/>
              </a:rPr>
              <a:t>●  </a:t>
            </a:r>
            <a:r>
              <a:rPr sz="1400" b="0" i="0">
                <a:solidFill>
                  <a:srgbClr val="333D47"/>
                </a:solidFill>
                <a:latin typeface="Arial"/>
              </a:rPr>
              <a:t>Real data replaces the scenario</a:t>
            </a:r>
          </a:p>
        </p:txBody>
      </p:sp>
      <p:cxnSp>
        <p:nvCxnSpPr>
          <p:cNvPr id="23" name="Connector 22"/>
          <p:cNvCxnSpPr/>
          <p:nvPr/>
        </p:nvCxnSpPr>
        <p:spPr>
          <a:xfrm>
            <a:off x="457200" y="4507992"/>
            <a:ext cx="11292840" cy="0"/>
          </a:xfrm>
          <a:prstGeom prst="line">
            <a:avLst/>
          </a:prstGeom>
          <a:ln w="15875">
            <a:solidFill>
              <a:srgbClr val="8A939B"/>
            </a:solidFill>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5513832" y="4325112"/>
            <a:ext cx="365760" cy="365760"/>
          </a:xfrm>
          <a:prstGeom prst="diamond">
            <a:avLst/>
          </a:prstGeom>
          <a:solidFill>
            <a:srgbClr val="D31145"/>
          </a:solidFill>
          <a:ln w="25400">
            <a:solidFill>
              <a:srgbClr val="FFFFFF"/>
            </a:solidFill>
          </a:ln>
        </p:spPr>
        <p:txBody>
          <a:bodyPr rtlCol="0" anchor="ctr"/>
          <a:lstStyle/>
          <a:p/>
        </p:txBody>
      </p:sp>
      <p:sp>
        <p:nvSpPr>
          <p:cNvPr id="25" name="TextBox 24"/>
          <p:cNvSpPr txBox="1"/>
          <p:nvPr/>
        </p:nvSpPr>
        <p:spPr>
          <a:xfrm>
            <a:off x="4187952" y="4800600"/>
            <a:ext cx="3017520" cy="822960"/>
          </a:xfrm>
          <a:prstGeom prst="rect">
            <a:avLst/>
          </a:prstGeom>
          <a:noFill/>
        </p:spPr>
        <p:txBody>
          <a:bodyPr wrap="square" lIns="0" rIns="0" tIns="0" bIns="0" anchor="t">
            <a:noAutofit/>
          </a:bodyPr>
          <a:lstStyle/>
          <a:p>
            <a:pPr algn="ctr">
              <a:spcAft>
                <a:spcPts val="200"/>
              </a:spcAft>
            </a:pPr>
            <a:r>
              <a:rPr sz="1300" b="1" i="0">
                <a:solidFill>
                  <a:srgbClr val="D31145"/>
                </a:solidFill>
                <a:latin typeface="Arial"/>
              </a:rPr>
              <a:t>GO / NO-GO</a:t>
            </a:r>
          </a:p>
          <a:p>
            <a:pPr algn="ctr"/>
            <a:r>
              <a:rPr sz="1500" b="1" i="0">
                <a:solidFill>
                  <a:srgbClr val="333D47"/>
                </a:solidFill>
                <a:latin typeface="Arial"/>
              </a:rPr>
              <a:t>Effort down, quality held, usage sustained</a:t>
            </a:r>
          </a:p>
        </p:txBody>
      </p:sp>
      <p:sp>
        <p:nvSpPr>
          <p:cNvPr id="26" name="Diamond 25"/>
          <p:cNvSpPr/>
          <p:nvPr/>
        </p:nvSpPr>
        <p:spPr>
          <a:xfrm>
            <a:off x="8778240" y="4325112"/>
            <a:ext cx="365760" cy="365760"/>
          </a:xfrm>
          <a:prstGeom prst="diamond">
            <a:avLst/>
          </a:prstGeom>
          <a:solidFill>
            <a:srgbClr val="D31145"/>
          </a:solidFill>
          <a:ln w="25400">
            <a:solidFill>
              <a:srgbClr val="FFFFFF"/>
            </a:solidFill>
          </a:ln>
        </p:spPr>
        <p:txBody>
          <a:bodyPr rtlCol="0" anchor="ctr"/>
          <a:lstStyle/>
          <a:p/>
        </p:txBody>
      </p:sp>
      <p:sp>
        <p:nvSpPr>
          <p:cNvPr id="27" name="TextBox 26"/>
          <p:cNvSpPr txBox="1"/>
          <p:nvPr/>
        </p:nvSpPr>
        <p:spPr>
          <a:xfrm>
            <a:off x="7452360" y="4800600"/>
            <a:ext cx="3017520" cy="822960"/>
          </a:xfrm>
          <a:prstGeom prst="rect">
            <a:avLst/>
          </a:prstGeom>
          <a:noFill/>
        </p:spPr>
        <p:txBody>
          <a:bodyPr wrap="square" lIns="0" rIns="0" tIns="0" bIns="0" anchor="t">
            <a:noAutofit/>
          </a:bodyPr>
          <a:lstStyle/>
          <a:p>
            <a:pPr algn="ctr">
              <a:spcAft>
                <a:spcPts val="200"/>
              </a:spcAft>
            </a:pPr>
            <a:r>
              <a:rPr sz="1300" b="1" i="0">
                <a:solidFill>
                  <a:srgbClr val="D31145"/>
                </a:solidFill>
                <a:latin typeface="Arial"/>
              </a:rPr>
              <a:t>GO / NO-GO</a:t>
            </a:r>
          </a:p>
          <a:p>
            <a:pPr algn="ctr"/>
            <a:r>
              <a:rPr sz="1500" b="1" i="0">
                <a:solidFill>
                  <a:srgbClr val="333D47"/>
                </a:solidFill>
                <a:latin typeface="Arial"/>
              </a:rPr>
              <a:t>New capability works through Riley, with no new tool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88720"/>
            <a:ext cx="5943600" cy="731520"/>
          </a:xfrm>
        </p:spPr>
        <p:txBody>
          <a:bodyPr wrap="square" tIns="91440" bIns="91440" anchor="t">
            <a:noAutofit/>
          </a:bodyPr>
          <a:lstStyle/>
          <a:p>
            <a:pPr algn="l"/>
            <a:r>
              <a:rPr sz="4800" b="1" i="0">
                <a:solidFill>
                  <a:srgbClr val="FFFFFF"/>
                </a:solidFill>
                <a:latin typeface="Arial"/>
              </a:rPr>
              <a:t>The ask</a:t>
            </a:r>
          </a:p>
        </p:txBody>
      </p:sp>
      <p:sp>
        <p:nvSpPr>
          <p:cNvPr id="4" name="TextBox 3"/>
          <p:cNvSpPr txBox="1"/>
          <p:nvPr/>
        </p:nvSpPr>
        <p:spPr>
          <a:xfrm>
            <a:off x="448056" y="1938528"/>
            <a:ext cx="5760720" cy="822960"/>
          </a:xfrm>
          <a:prstGeom prst="rect">
            <a:avLst/>
          </a:prstGeom>
          <a:noFill/>
        </p:spPr>
        <p:txBody>
          <a:bodyPr wrap="square" lIns="0" rIns="0" tIns="0" bIns="0" anchor="t">
            <a:noAutofit/>
          </a:bodyPr>
          <a:lstStyle/>
          <a:p>
            <a:pPr algn="l"/>
            <a:r>
              <a:rPr sz="2400" b="1" i="0">
                <a:solidFill>
                  <a:srgbClr val="FFFFFF"/>
                </a:solidFill>
                <a:latin typeface="Arial"/>
              </a:rPr>
              <a:t>Seed funding for Phase 1.</a:t>
            </a:r>
          </a:p>
          <a:p>
            <a:pPr algn="l"/>
            <a:r>
              <a:rPr sz="2400" b="1" i="0">
                <a:solidFill>
                  <a:srgbClr val="FFFFFF"/>
                </a:solidFill>
                <a:latin typeface="Arial"/>
              </a:rPr>
              <a:t>One pilot team.</a:t>
            </a:r>
          </a:p>
        </p:txBody>
      </p:sp>
      <p:sp>
        <p:nvSpPr>
          <p:cNvPr id="5" name="Oval 4"/>
          <p:cNvSpPr/>
          <p:nvPr/>
        </p:nvSpPr>
        <p:spPr>
          <a:xfrm>
            <a:off x="448056" y="3017520"/>
            <a:ext cx="365760" cy="365760"/>
          </a:xfrm>
          <a:prstGeom prst="ellipse">
            <a:avLst/>
          </a:prstGeom>
          <a:solidFill>
            <a:srgbClr val="FFFFFF"/>
          </a:solidFill>
          <a:ln>
            <a:noFill/>
          </a:ln>
        </p:spPr>
        <p:txBody>
          <a:bodyPr rtlCol="0" anchor="ctr"/>
          <a:lstStyle/>
          <a:p/>
        </p:txBody>
      </p:sp>
      <p:sp>
        <p:nvSpPr>
          <p:cNvPr id="6" name="TextBox 5"/>
          <p:cNvSpPr txBox="1"/>
          <p:nvPr/>
        </p:nvSpPr>
        <p:spPr>
          <a:xfrm>
            <a:off x="448056" y="3017520"/>
            <a:ext cx="365760" cy="365760"/>
          </a:xfrm>
          <a:prstGeom prst="rect">
            <a:avLst/>
          </a:prstGeom>
          <a:noFill/>
        </p:spPr>
        <p:txBody>
          <a:bodyPr wrap="square" lIns="0" rIns="0" tIns="0" bIns="0" anchor="ctr">
            <a:noAutofit/>
          </a:bodyPr>
          <a:lstStyle/>
          <a:p>
            <a:pPr algn="ctr"/>
            <a:r>
              <a:rPr sz="1500" b="1" i="0">
                <a:solidFill>
                  <a:srgbClr val="D31145"/>
                </a:solidFill>
                <a:latin typeface="Arial"/>
              </a:rPr>
              <a:t>1</a:t>
            </a:r>
          </a:p>
        </p:txBody>
      </p:sp>
      <p:sp>
        <p:nvSpPr>
          <p:cNvPr id="7" name="TextBox 6"/>
          <p:cNvSpPr txBox="1"/>
          <p:nvPr/>
        </p:nvSpPr>
        <p:spPr>
          <a:xfrm>
            <a:off x="978408" y="2999232"/>
            <a:ext cx="5303520" cy="402336"/>
          </a:xfrm>
          <a:prstGeom prst="rect">
            <a:avLst/>
          </a:prstGeom>
          <a:noFill/>
        </p:spPr>
        <p:txBody>
          <a:bodyPr wrap="square" lIns="0" rIns="0" tIns="0" bIns="0" anchor="ctr">
            <a:noAutofit/>
          </a:bodyPr>
          <a:lstStyle/>
          <a:p>
            <a:pPr algn="l"/>
            <a:r>
              <a:rPr sz="1800" b="1" i="0">
                <a:solidFill>
                  <a:srgbClr val="FFFFFF"/>
                </a:solidFill>
                <a:latin typeface="Arial"/>
              </a:rPr>
              <a:t>Select a pilot team and workflow</a:t>
            </a:r>
          </a:p>
        </p:txBody>
      </p:sp>
      <p:sp>
        <p:nvSpPr>
          <p:cNvPr id="8" name="Oval 7"/>
          <p:cNvSpPr/>
          <p:nvPr/>
        </p:nvSpPr>
        <p:spPr>
          <a:xfrm>
            <a:off x="448056" y="3493008"/>
            <a:ext cx="365760" cy="365760"/>
          </a:xfrm>
          <a:prstGeom prst="ellipse">
            <a:avLst/>
          </a:prstGeom>
          <a:solidFill>
            <a:srgbClr val="FFFFFF"/>
          </a:solidFill>
          <a:ln>
            <a:noFill/>
          </a:ln>
        </p:spPr>
        <p:txBody>
          <a:bodyPr rtlCol="0" anchor="ctr"/>
          <a:lstStyle/>
          <a:p/>
        </p:txBody>
      </p:sp>
      <p:sp>
        <p:nvSpPr>
          <p:cNvPr id="9" name="TextBox 8"/>
          <p:cNvSpPr txBox="1"/>
          <p:nvPr/>
        </p:nvSpPr>
        <p:spPr>
          <a:xfrm>
            <a:off x="448056" y="3493008"/>
            <a:ext cx="365760" cy="365760"/>
          </a:xfrm>
          <a:prstGeom prst="rect">
            <a:avLst/>
          </a:prstGeom>
          <a:noFill/>
        </p:spPr>
        <p:txBody>
          <a:bodyPr wrap="square" lIns="0" rIns="0" tIns="0" bIns="0" anchor="ctr">
            <a:noAutofit/>
          </a:bodyPr>
          <a:lstStyle/>
          <a:p>
            <a:pPr algn="ctr"/>
            <a:r>
              <a:rPr sz="1500" b="1" i="0">
                <a:solidFill>
                  <a:srgbClr val="D31145"/>
                </a:solidFill>
                <a:latin typeface="Arial"/>
              </a:rPr>
              <a:t>2</a:t>
            </a:r>
          </a:p>
        </p:txBody>
      </p:sp>
      <p:sp>
        <p:nvSpPr>
          <p:cNvPr id="10" name="TextBox 9"/>
          <p:cNvSpPr txBox="1"/>
          <p:nvPr/>
        </p:nvSpPr>
        <p:spPr>
          <a:xfrm>
            <a:off x="978408" y="3474720"/>
            <a:ext cx="5303520" cy="402336"/>
          </a:xfrm>
          <a:prstGeom prst="rect">
            <a:avLst/>
          </a:prstGeom>
          <a:noFill/>
        </p:spPr>
        <p:txBody>
          <a:bodyPr wrap="square" lIns="0" rIns="0" tIns="0" bIns="0" anchor="ctr">
            <a:noAutofit/>
          </a:bodyPr>
          <a:lstStyle/>
          <a:p>
            <a:pPr algn="l"/>
            <a:r>
              <a:rPr sz="1800" b="1" i="0">
                <a:solidFill>
                  <a:srgbClr val="FFFFFF"/>
                </a:solidFill>
                <a:latin typeface="Arial"/>
              </a:rPr>
              <a:t>Fund Phase 1</a:t>
            </a:r>
          </a:p>
        </p:txBody>
      </p:sp>
      <p:sp>
        <p:nvSpPr>
          <p:cNvPr id="11" name="Oval 10"/>
          <p:cNvSpPr/>
          <p:nvPr/>
        </p:nvSpPr>
        <p:spPr>
          <a:xfrm>
            <a:off x="448056" y="3968496"/>
            <a:ext cx="365760" cy="365760"/>
          </a:xfrm>
          <a:prstGeom prst="ellipse">
            <a:avLst/>
          </a:prstGeom>
          <a:solidFill>
            <a:srgbClr val="FFFFFF"/>
          </a:solidFill>
          <a:ln>
            <a:noFill/>
          </a:ln>
        </p:spPr>
        <p:txBody>
          <a:bodyPr rtlCol="0" anchor="ctr"/>
          <a:lstStyle/>
          <a:p/>
        </p:txBody>
      </p:sp>
      <p:sp>
        <p:nvSpPr>
          <p:cNvPr id="12" name="TextBox 11"/>
          <p:cNvSpPr txBox="1"/>
          <p:nvPr/>
        </p:nvSpPr>
        <p:spPr>
          <a:xfrm>
            <a:off x="448056" y="3968496"/>
            <a:ext cx="365760" cy="365760"/>
          </a:xfrm>
          <a:prstGeom prst="rect">
            <a:avLst/>
          </a:prstGeom>
          <a:noFill/>
        </p:spPr>
        <p:txBody>
          <a:bodyPr wrap="square" lIns="0" rIns="0" tIns="0" bIns="0" anchor="ctr">
            <a:noAutofit/>
          </a:bodyPr>
          <a:lstStyle/>
          <a:p>
            <a:pPr algn="ctr"/>
            <a:r>
              <a:rPr sz="1500" b="1" i="0">
                <a:solidFill>
                  <a:srgbClr val="D31145"/>
                </a:solidFill>
                <a:latin typeface="Arial"/>
              </a:rPr>
              <a:t>3</a:t>
            </a:r>
          </a:p>
        </p:txBody>
      </p:sp>
      <p:sp>
        <p:nvSpPr>
          <p:cNvPr id="13" name="TextBox 12"/>
          <p:cNvSpPr txBox="1"/>
          <p:nvPr/>
        </p:nvSpPr>
        <p:spPr>
          <a:xfrm>
            <a:off x="978408" y="3950208"/>
            <a:ext cx="5303520" cy="402336"/>
          </a:xfrm>
          <a:prstGeom prst="rect">
            <a:avLst/>
          </a:prstGeom>
          <a:noFill/>
        </p:spPr>
        <p:txBody>
          <a:bodyPr wrap="square" lIns="0" rIns="0" tIns="0" bIns="0" anchor="ctr">
            <a:noAutofit/>
          </a:bodyPr>
          <a:lstStyle/>
          <a:p>
            <a:pPr algn="l"/>
            <a:r>
              <a:rPr sz="1800" b="1" i="0">
                <a:solidFill>
                  <a:srgbClr val="FFFFFF"/>
                </a:solidFill>
                <a:latin typeface="Arial"/>
              </a:rPr>
              <a:t>Build and test the first workflow</a:t>
            </a:r>
          </a:p>
        </p:txBody>
      </p:sp>
      <p:sp>
        <p:nvSpPr>
          <p:cNvPr id="14" name="Oval 13"/>
          <p:cNvSpPr/>
          <p:nvPr/>
        </p:nvSpPr>
        <p:spPr>
          <a:xfrm>
            <a:off x="448056" y="4443983"/>
            <a:ext cx="365760" cy="365760"/>
          </a:xfrm>
          <a:prstGeom prst="ellipse">
            <a:avLst/>
          </a:prstGeom>
          <a:solidFill>
            <a:srgbClr val="FFFFFF"/>
          </a:solidFill>
          <a:ln>
            <a:noFill/>
          </a:ln>
        </p:spPr>
        <p:txBody>
          <a:bodyPr rtlCol="0" anchor="ctr"/>
          <a:lstStyle/>
          <a:p/>
        </p:txBody>
      </p:sp>
      <p:sp>
        <p:nvSpPr>
          <p:cNvPr id="15" name="TextBox 14"/>
          <p:cNvSpPr txBox="1"/>
          <p:nvPr/>
        </p:nvSpPr>
        <p:spPr>
          <a:xfrm>
            <a:off x="448056" y="4443983"/>
            <a:ext cx="365760" cy="365760"/>
          </a:xfrm>
          <a:prstGeom prst="rect">
            <a:avLst/>
          </a:prstGeom>
          <a:noFill/>
        </p:spPr>
        <p:txBody>
          <a:bodyPr wrap="square" lIns="0" rIns="0" tIns="0" bIns="0" anchor="ctr">
            <a:noAutofit/>
          </a:bodyPr>
          <a:lstStyle/>
          <a:p>
            <a:pPr algn="ctr"/>
            <a:r>
              <a:rPr sz="1500" b="1" i="0">
                <a:solidFill>
                  <a:srgbClr val="D31145"/>
                </a:solidFill>
                <a:latin typeface="Arial"/>
              </a:rPr>
              <a:t>4</a:t>
            </a:r>
          </a:p>
        </p:txBody>
      </p:sp>
      <p:sp>
        <p:nvSpPr>
          <p:cNvPr id="16" name="TextBox 15"/>
          <p:cNvSpPr txBox="1"/>
          <p:nvPr/>
        </p:nvSpPr>
        <p:spPr>
          <a:xfrm>
            <a:off x="978408" y="4425696"/>
            <a:ext cx="5303520" cy="402336"/>
          </a:xfrm>
          <a:prstGeom prst="rect">
            <a:avLst/>
          </a:prstGeom>
          <a:noFill/>
        </p:spPr>
        <p:txBody>
          <a:bodyPr wrap="square" lIns="0" rIns="0" tIns="0" bIns="0" anchor="ctr">
            <a:noAutofit/>
          </a:bodyPr>
          <a:lstStyle/>
          <a:p>
            <a:pPr algn="l"/>
            <a:r>
              <a:rPr sz="1800" b="1" i="0">
                <a:solidFill>
                  <a:srgbClr val="FFFFFF"/>
                </a:solidFill>
                <a:latin typeface="Arial"/>
              </a:rPr>
              <a:t>Measure the result</a:t>
            </a:r>
          </a:p>
        </p:txBody>
      </p:sp>
      <p:sp>
        <p:nvSpPr>
          <p:cNvPr id="17" name="Oval 16"/>
          <p:cNvSpPr/>
          <p:nvPr/>
        </p:nvSpPr>
        <p:spPr>
          <a:xfrm>
            <a:off x="448056" y="4919472"/>
            <a:ext cx="365760" cy="365760"/>
          </a:xfrm>
          <a:prstGeom prst="ellipse">
            <a:avLst/>
          </a:prstGeom>
          <a:solidFill>
            <a:srgbClr val="FFFFFF"/>
          </a:solidFill>
          <a:ln>
            <a:noFill/>
          </a:ln>
        </p:spPr>
        <p:txBody>
          <a:bodyPr rtlCol="0" anchor="ctr"/>
          <a:lstStyle/>
          <a:p/>
        </p:txBody>
      </p:sp>
      <p:sp>
        <p:nvSpPr>
          <p:cNvPr id="18" name="TextBox 17"/>
          <p:cNvSpPr txBox="1"/>
          <p:nvPr/>
        </p:nvSpPr>
        <p:spPr>
          <a:xfrm>
            <a:off x="448056" y="4919472"/>
            <a:ext cx="365760" cy="365760"/>
          </a:xfrm>
          <a:prstGeom prst="rect">
            <a:avLst/>
          </a:prstGeom>
          <a:noFill/>
        </p:spPr>
        <p:txBody>
          <a:bodyPr wrap="square" lIns="0" rIns="0" tIns="0" bIns="0" anchor="ctr">
            <a:noAutofit/>
          </a:bodyPr>
          <a:lstStyle/>
          <a:p>
            <a:pPr algn="ctr"/>
            <a:r>
              <a:rPr sz="1500" b="1" i="0">
                <a:solidFill>
                  <a:srgbClr val="D31145"/>
                </a:solidFill>
                <a:latin typeface="Arial"/>
              </a:rPr>
              <a:t>5</a:t>
            </a:r>
          </a:p>
        </p:txBody>
      </p:sp>
      <p:sp>
        <p:nvSpPr>
          <p:cNvPr id="19" name="TextBox 18"/>
          <p:cNvSpPr txBox="1"/>
          <p:nvPr/>
        </p:nvSpPr>
        <p:spPr>
          <a:xfrm>
            <a:off x="978408" y="4901184"/>
            <a:ext cx="5303520" cy="402336"/>
          </a:xfrm>
          <a:prstGeom prst="rect">
            <a:avLst/>
          </a:prstGeom>
          <a:noFill/>
        </p:spPr>
        <p:txBody>
          <a:bodyPr wrap="square" lIns="0" rIns="0" tIns="0" bIns="0" anchor="ctr">
            <a:noAutofit/>
          </a:bodyPr>
          <a:lstStyle/>
          <a:p>
            <a:pPr algn="l"/>
            <a:r>
              <a:rPr sz="1800" b="1" i="0">
                <a:solidFill>
                  <a:srgbClr val="FFFFFF"/>
                </a:solidFill>
                <a:latin typeface="Arial"/>
              </a:rPr>
              <a:t>Prove the multiplier in Phase 2</a:t>
            </a:r>
          </a:p>
        </p:txBody>
      </p:sp>
      <p:sp>
        <p:nvSpPr>
          <p:cNvPr id="20" name="TextBox 19"/>
          <p:cNvSpPr txBox="1"/>
          <p:nvPr/>
        </p:nvSpPr>
        <p:spPr>
          <a:xfrm>
            <a:off x="448056" y="5440680"/>
            <a:ext cx="5760720" cy="457200"/>
          </a:xfrm>
          <a:prstGeom prst="rect">
            <a:avLst/>
          </a:prstGeom>
          <a:noFill/>
        </p:spPr>
        <p:txBody>
          <a:bodyPr wrap="square" lIns="0" rIns="0" tIns="0" bIns="0" anchor="t">
            <a:noAutofit/>
          </a:bodyPr>
          <a:lstStyle/>
          <a:p>
            <a:pPr algn="l"/>
            <a:r>
              <a:rPr sz="1200" b="0" i="0">
                <a:solidFill>
                  <a:srgbClr val="FFFFFF"/>
                </a:solidFill>
                <a:latin typeface="Arial"/>
              </a:rPr>
              <a:t>Phase 1 estimate: ~US$20,000–60,000 incremental (preliminary; scoped with IT and Finance in Phase 0).</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