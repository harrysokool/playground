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AIA's AI coworker: you give it an outcome, and it uses the same approved data, systems and tools you would use to do the work in between, then brings back finished work for you to approve. You own the outcome; Riley does the digital legwork. Categories: Employee Value (primary) and Operations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what I observe across AIA, much of an employee's effort goes into the digital work around the actual outcome: finding data, opening systems, reading documents, searching emails and chats, checking external information, analysing, combining outputs and drafting the result. AI tools can help with individual steps, such as a summary or a draft, but the employee can still be left coordinating the whole chain. As AIA adds more systems and AI capabilities, employees may still be left coordinating across them by hand. This is an observation, not a measured finding; no counts or timings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Riley is AIA's AI coworker. You give it an outcome, and it uses the same approved data, systems and tools you would use to do the work in between, then brings back finished work for you to approve. Brain: enterprise AI - Copilot or another approved platform - understands requests, reasons, plans and drafts. Copilot could be the engine; Riley needs no model of its own and does not compete with Copilot. Hands: everything Riley is approved to use. AIA data and documents, AIA systems and AIA's internal AI tools are what a general assistant does not arrive with; Microsoft 365 and approved external information are standard equipment. AIA's rules sit around it: permissions, approval before final action, an appropriate record and governed learning. What makes Riley different is the combination: AIA-specific hands, whole-outcome execution, and AIA's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example, not the committed pilot; a lower-sensitivity internal workflow may be chosen first. No internal system names, tool names or data sources are implied. The employee asks in Teams for the quarterly complaints review. Riley shows its plan using only what that employee is permitted to access; pulls complaint records for this quarter and last; uses an internal AI capability to group complaints into themes; checks internal documents such as the previous review and procedures; checks relevant Outlook and Teams updates available to that employee; checks approved external sources for industry or regulatory context; then analyses, compares, drafts the management summary and prepares the presentation. The employee reviews, edits and approves. Nothing is finalized, sent or entered into a business system before approval. Without Riley the employee does every step by hand across several tools; with Riley the employee sets the outcome and approves the result. The step count is part of the illustration, not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aims to increase how much useful, finished work an employee can complete by absorbing more of the digital execution around it. Employees put more of their effort into judgment, decision-making, review, customer understanding, problem-solving and innovation: Double Employee Value in practice. Long term, one employee can supervise significantly more digital work because Riley performs much more of the execution, and Riley can absorb more of that work as more capabilities are connected. This is a vision and a hypothesis to test, not a forecast. No productivity multiple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pilot impact is measured on the real Phase 1 team against a baseline: active employee effort per completed task, end-to-end completion time, manual steps and systems touched, rework rate, quality versus a human-only baseline (rated by the employee and confirmed by periodic independent sample reviews), adoption and repeat use, and - new in Revision 7 - completed outputs per employee, which tests whether Riley increases execution capacity, not only saves time. The conservative floor is an illustrative scenario, not a forecast: even at a deliberately cautious one hour a week, 1,000 employees would release around 1,000 hours every week, or around 50,000 hours a year assuming 50 working weeks. 1,000 is a scenario size, not a pilot population or an AIA employee count. One hour is 2.5% of a 40-hour week. Operations Value and any VONB/ANP link are hypotheses to validate with AIA's TDA methodology; no financial figure is claimed.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multiplier is not the definition of Riley; it is why Riley's value can compound. Every useful capability AIA connects - a system, a data source, an internal AI tool or another approved enterprise service - can expand what Riley can do through the same coworker experience, for employees permitted to use it. Without a common coworker, each new capability risks becoming another separate thing for employees to find, learn and coordinate by hand. Connections are not free or automatic: each needs technical integration and governance review, and adds value only if it is genuinely useful. Value does not grow by a formula. The pilot tests this by extending Riley with another approved capability, such as an AI tool built by another AIA team.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run in sequence and each proceeds only if the previous one shows results. Phase 1 is deliberately narrow: one team, one workflow and only the minimum capabilities that workflow needs, which protects feasibility, speed, governance and the budget assumption. Phase 0 (Month 1): select the workflow on business value, implementation readiness, data sensitivity and governance complexity; define its minimum capabilities; baseline effort, completion time, manual steps and completed outputs; confirm data access (including any Microsoft 365 access), security, privacy, record-keeping and governance. Phase 1 (Months 2-4) gate: effort reduced, quality maintained or improved, usage sustained. Phase 2 (Months 5-7): extend Riley with another approved capability - an AI tool built by another AIA team is the strongest example - and a second workflow or team. Gate: usable through Riley without a new tool for employees, with effort, quality and usage holding up. Fallback: if the chosen capability cannot be connected, select another approved capability and record why. Phase 3 (Months 8-12): more teams and capabilities; measured data replaces the illustrative scenario.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scales in three directions: more employees, more workflows and more connected capabilities (systems, data sources, internal AI tools and other approved services). A large back-office population across many functions is in scope before any cross-market expansion. The long-term vision, not a forecast, is a digital execution partner for every AIA employee, with the employee accountable for every decision. That each approved capability can serve employees permitted to use it is a hypothesis tested in Phase 2. Across markets, the core experience can be reused while each market adds its own integrations, data controls, governance and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built on an enterprise AI/agent platform AIA already has, is evaluating or chooses to adopt; starts with one team, one workflow and the minimum capabilities it needs, gated on measured results. Governance: Riley acts only with the access the requesting employee already has, and only accesses Outlook, Teams or file content available to that employee through approved enterprise controls; sensitive and customer data stay under AIA's existing controls, with external information only from approved sources; the employee approves before anything is finalized, sent or entered into a business system; Riley keeps an appropriate record of its work under AIA policy; feedback-driven learning is governed with risk and IT; a business reviewer periodically samples quality.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but the ambition is not: Phase 1 exists to establish whether Riley deserves to scale toward a digital execution partner for every AIA employee. Seed funding covers one team, one workflow and only the minimum capabilities that workflow needs, over about three months. US$20,000-60,000 is a preliminary planning estimate, not AIA-costed or benchmarked; it assumes an enterprise agent platform AIA already has or adopts, excludes existing staff time, depends on keeping Phase 1 narrow, and will be replaced with a scoped figure from IT and Finance. Phases 2-3 costs will be scoped from Phase 1 results. Resources: pilot sponsor; small build pod (product/business owner, AI/automation engineer or implementation partner, part-time security, privacy and compliance support); business reviewer for independent quality reviews; system and data owners and the owner of one other approved capability; Group Innovation Office mentorship.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34.png"/><Relationship Id="rId11" Type="http://schemas.openxmlformats.org/officeDocument/2006/relationships/image" Target="../media/image45.png"/><Relationship Id="rId12"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89204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pic>
        <p:nvPicPr>
          <p:cNvPr id="4" name="Picture 3" descr="cover_waves_right.png"/>
          <p:cNvPicPr>
            <a:picLocks noChangeAspect="1"/>
          </p:cNvPicPr>
          <p:nvPr/>
        </p:nvPicPr>
        <p:blipFill>
          <a:blip r:embed="rId2"/>
          <a:stretch>
            <a:fillRect/>
          </a:stretch>
        </p:blipFill>
        <p:spPr>
          <a:xfrm>
            <a:off x="6217920" y="0"/>
            <a:ext cx="5973775" cy="6858000"/>
          </a:xfrm>
          <a:prstGeom prst="rect">
            <a:avLst/>
          </a:prstGeom>
        </p:spPr>
      </p:pic>
      <p:sp>
        <p:nvSpPr>
          <p:cNvPr id="5" name="TextBox 4"/>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800" b="0" i="0">
                <a:solidFill>
                  <a:srgbClr val="FFFFFF"/>
                </a:solidFill>
                <a:latin typeface="Arial"/>
              </a:rPr>
              <a:t>AIA’s AI coworker</a:t>
            </a:r>
          </a:p>
        </p:txBody>
      </p:sp>
      <p:sp>
        <p:nvSpPr>
          <p:cNvPr id="6" name="TextBox 5"/>
          <p:cNvSpPr txBox="1"/>
          <p:nvPr/>
        </p:nvSpPr>
        <p:spPr>
          <a:xfrm>
            <a:off x="356616" y="3611880"/>
            <a:ext cx="5760720" cy="822960"/>
          </a:xfrm>
          <a:prstGeom prst="rect">
            <a:avLst/>
          </a:prstGeom>
          <a:noFill/>
        </p:spPr>
        <p:txBody>
          <a:bodyPr wrap="square" lIns="0" tIns="0" rIns="0" bIns="0" anchor="t">
            <a:noAutofit/>
          </a:bodyPr>
          <a:lstStyle/>
          <a:p>
            <a:pPr algn="l">
              <a:spcAft>
                <a:spcPts val="400"/>
              </a:spcAft>
            </a:pPr>
            <a:r>
              <a:rPr sz="2400" b="1" i="0">
                <a:solidFill>
                  <a:srgbClr val="FFFFFF"/>
                </a:solidFill>
                <a:latin typeface="Arial"/>
              </a:rPr>
              <a:t>You own the outcome.</a:t>
            </a:r>
          </a:p>
          <a:p>
            <a:pPr algn="l">
              <a:spcAft>
                <a:spcPts val="400"/>
              </a:spcAft>
            </a:pPr>
            <a:r>
              <a:rPr sz="2400" b="1" i="0">
                <a:solidFill>
                  <a:srgbClr val="FFFFFF"/>
                </a:solidFill>
                <a:latin typeface="Arial"/>
              </a:rPr>
              <a:t>Riley does the digital legwork.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Employees still do the digital legwork</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a:t>
            </a:r>
          </a:p>
        </p:txBody>
      </p:sp>
      <p:sp>
        <p:nvSpPr>
          <p:cNvPr id="6" name="TextBox 5"/>
          <p:cNvSpPr txBox="1"/>
          <p:nvPr/>
        </p:nvSpPr>
        <p:spPr>
          <a:xfrm>
            <a:off x="356616" y="1042416"/>
            <a:ext cx="1051560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AI can help with single steps. The employee still runs the whole chain.</a:t>
            </a:r>
          </a:p>
        </p:txBody>
      </p:sp>
      <p:sp>
        <p:nvSpPr>
          <p:cNvPr id="7" name="Rounded Rectangle 6"/>
          <p:cNvSpPr/>
          <p:nvPr/>
        </p:nvSpPr>
        <p:spPr>
          <a:xfrm>
            <a:off x="356616" y="1828800"/>
            <a:ext cx="2057400" cy="2395728"/>
          </a:xfrm>
          <a:prstGeom prst="roundRect">
            <a:avLst>
              <a:gd name="adj" fmla="val 4444"/>
            </a:avLst>
          </a:prstGeom>
          <a:solidFill>
            <a:srgbClr val="FFFFFF"/>
          </a:solidFill>
          <a:ln w="19050">
            <a:solidFill>
              <a:srgbClr val="D31145"/>
            </a:solidFill>
          </a:ln>
        </p:spPr>
        <p:txBody>
          <a:bodyPr rtlCol="0" anchor="ctr"/>
          <a:lstStyle/>
          <a:p>
            <a:pPr algn="ctr"/>
          </a:p>
        </p:txBody>
      </p:sp>
      <p:sp>
        <p:nvSpPr>
          <p:cNvPr id="8" name="Oval 7"/>
          <p:cNvSpPr/>
          <p:nvPr/>
        </p:nvSpPr>
        <p:spPr>
          <a:xfrm>
            <a:off x="557784" y="2057400"/>
            <a:ext cx="457200" cy="457200"/>
          </a:xfrm>
          <a:prstGeom prst="ellipse">
            <a:avLst/>
          </a:prstGeom>
          <a:solidFill>
            <a:srgbClr val="D31145"/>
          </a:solidFill>
          <a:ln>
            <a:noFill/>
          </a:ln>
        </p:spPr>
        <p:txBody>
          <a:bodyPr rtlCol="0" anchor="ctr"/>
          <a:lstStyle/>
          <a:p>
            <a:pPr algn="ctr"/>
          </a:p>
        </p:txBody>
      </p:sp>
      <p:pic>
        <p:nvPicPr>
          <p:cNvPr id="9" name="Picture 8" descr="LuTarget_w.png"/>
          <p:cNvPicPr>
            <a:picLocks noChangeAspect="1"/>
          </p:cNvPicPr>
          <p:nvPr/>
        </p:nvPicPr>
        <p:blipFill>
          <a:blip r:embed="rId3"/>
          <a:stretch>
            <a:fillRect/>
          </a:stretch>
        </p:blipFill>
        <p:spPr>
          <a:xfrm>
            <a:off x="662940" y="2162556"/>
            <a:ext cx="246888" cy="246888"/>
          </a:xfrm>
          <a:prstGeom prst="rect">
            <a:avLst/>
          </a:prstGeom>
        </p:spPr>
      </p:pic>
      <p:sp>
        <p:nvSpPr>
          <p:cNvPr id="10" name="TextBox 9"/>
          <p:cNvSpPr txBox="1"/>
          <p:nvPr/>
        </p:nvSpPr>
        <p:spPr>
          <a:xfrm>
            <a:off x="557784" y="2651760"/>
            <a:ext cx="1691640" cy="237744"/>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THE OUTCOME</a:t>
            </a:r>
          </a:p>
        </p:txBody>
      </p:sp>
      <p:sp>
        <p:nvSpPr>
          <p:cNvPr id="11" name="TextBox 10"/>
          <p:cNvSpPr txBox="1"/>
          <p:nvPr/>
        </p:nvSpPr>
        <p:spPr>
          <a:xfrm>
            <a:off x="557784" y="2907792"/>
            <a:ext cx="1691640" cy="731520"/>
          </a:xfrm>
          <a:prstGeom prst="rect">
            <a:avLst/>
          </a:prstGeom>
          <a:noFill/>
        </p:spPr>
        <p:txBody>
          <a:bodyPr wrap="square" lIns="0" tIns="0" rIns="0" bIns="0" anchor="t">
            <a:noAutofit/>
          </a:bodyPr>
          <a:lstStyle/>
          <a:p>
            <a:pPr algn="l">
              <a:lnSpc>
                <a:spcPct val="95000"/>
              </a:lnSpc>
              <a:spcAft>
                <a:spcPts val="0"/>
              </a:spcAft>
            </a:pPr>
            <a:r>
              <a:rPr sz="1500" b="1" i="0">
                <a:solidFill>
                  <a:srgbClr val="333D47"/>
                </a:solidFill>
                <a:latin typeface="Arial"/>
              </a:rPr>
              <a:t>What someone actually needs</a:t>
            </a:r>
          </a:p>
        </p:txBody>
      </p:sp>
      <p:sp>
        <p:nvSpPr>
          <p:cNvPr id="12" name="TextBox 11"/>
          <p:cNvSpPr txBox="1"/>
          <p:nvPr/>
        </p:nvSpPr>
        <p:spPr>
          <a:xfrm>
            <a:off x="557784" y="3520440"/>
            <a:ext cx="1691640" cy="640080"/>
          </a:xfrm>
          <a:prstGeom prst="rect">
            <a:avLst/>
          </a:prstGeom>
          <a:noFill/>
        </p:spPr>
        <p:txBody>
          <a:bodyPr wrap="square" lIns="0" tIns="0" rIns="0" bIns="0" anchor="t">
            <a:noAutofit/>
          </a:bodyPr>
          <a:lstStyle/>
          <a:p>
            <a:pPr algn="l">
              <a:spcAft>
                <a:spcPts val="0"/>
              </a:spcAft>
            </a:pPr>
            <a:r>
              <a:rPr sz="1150" b="0" i="1">
                <a:solidFill>
                  <a:srgbClr val="5F6770"/>
                </a:solidFill>
                <a:latin typeface="Arial"/>
              </a:rPr>
              <a:t>e.g. a management review, due Thursday</a:t>
            </a:r>
          </a:p>
        </p:txBody>
      </p:sp>
      <p:sp>
        <p:nvSpPr>
          <p:cNvPr id="13" name="Rounded Rectangle 12"/>
          <p:cNvSpPr/>
          <p:nvPr/>
        </p:nvSpPr>
        <p:spPr>
          <a:xfrm>
            <a:off x="2788920" y="1828800"/>
            <a:ext cx="1417320" cy="896112"/>
          </a:xfrm>
          <a:prstGeom prst="roundRect">
            <a:avLst>
              <a:gd name="adj" fmla="val 8163"/>
            </a:avLst>
          </a:prstGeom>
          <a:solidFill>
            <a:srgbClr val="F4F1EF"/>
          </a:solidFill>
          <a:ln>
            <a:noFill/>
          </a:ln>
        </p:spPr>
        <p:txBody>
          <a:bodyPr rtlCol="0" anchor="ctr"/>
          <a:lstStyle/>
          <a:p>
            <a:pPr algn="ctr"/>
          </a:p>
        </p:txBody>
      </p:sp>
      <p:pic>
        <p:nvPicPr>
          <p:cNvPr id="14" name="Picture 13" descr="LuDatabase_c.png"/>
          <p:cNvPicPr>
            <a:picLocks noChangeAspect="1"/>
          </p:cNvPicPr>
          <p:nvPr/>
        </p:nvPicPr>
        <p:blipFill>
          <a:blip r:embed="rId4"/>
          <a:stretch>
            <a:fillRect/>
          </a:stretch>
        </p:blipFill>
        <p:spPr>
          <a:xfrm>
            <a:off x="2926080" y="1956816"/>
            <a:ext cx="274320" cy="274320"/>
          </a:xfrm>
          <a:prstGeom prst="rect">
            <a:avLst/>
          </a:prstGeom>
        </p:spPr>
      </p:pic>
      <p:sp>
        <p:nvSpPr>
          <p:cNvPr id="15" name="TextBox 14"/>
          <p:cNvSpPr txBox="1"/>
          <p:nvPr/>
        </p:nvSpPr>
        <p:spPr>
          <a:xfrm>
            <a:off x="292608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Find the data</a:t>
            </a:r>
          </a:p>
        </p:txBody>
      </p:sp>
      <p:sp>
        <p:nvSpPr>
          <p:cNvPr id="16" name="Rounded Rectangle 15"/>
          <p:cNvSpPr/>
          <p:nvPr/>
        </p:nvSpPr>
        <p:spPr>
          <a:xfrm>
            <a:off x="4572000" y="1828800"/>
            <a:ext cx="1417320" cy="896112"/>
          </a:xfrm>
          <a:prstGeom prst="roundRect">
            <a:avLst>
              <a:gd name="adj" fmla="val 8163"/>
            </a:avLst>
          </a:prstGeom>
          <a:solidFill>
            <a:srgbClr val="F4F1EF"/>
          </a:solidFill>
          <a:ln>
            <a:noFill/>
          </a:ln>
        </p:spPr>
        <p:txBody>
          <a:bodyPr rtlCol="0" anchor="ctr"/>
          <a:lstStyle/>
          <a:p>
            <a:pPr algn="ctr"/>
          </a:p>
        </p:txBody>
      </p:sp>
      <p:pic>
        <p:nvPicPr>
          <p:cNvPr id="17" name="Picture 16" descr="LuServer_c.png"/>
          <p:cNvPicPr>
            <a:picLocks noChangeAspect="1"/>
          </p:cNvPicPr>
          <p:nvPr/>
        </p:nvPicPr>
        <p:blipFill>
          <a:blip r:embed="rId5"/>
          <a:stretch>
            <a:fillRect/>
          </a:stretch>
        </p:blipFill>
        <p:spPr>
          <a:xfrm>
            <a:off x="4709160" y="1956816"/>
            <a:ext cx="274320" cy="274320"/>
          </a:xfrm>
          <a:prstGeom prst="rect">
            <a:avLst/>
          </a:prstGeom>
        </p:spPr>
      </p:pic>
      <p:sp>
        <p:nvSpPr>
          <p:cNvPr id="18" name="TextBox 17"/>
          <p:cNvSpPr txBox="1"/>
          <p:nvPr/>
        </p:nvSpPr>
        <p:spPr>
          <a:xfrm>
            <a:off x="470916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Open the systems</a:t>
            </a:r>
          </a:p>
        </p:txBody>
      </p:sp>
      <p:sp>
        <p:nvSpPr>
          <p:cNvPr id="19" name="Rounded Rectangle 18"/>
          <p:cNvSpPr/>
          <p:nvPr/>
        </p:nvSpPr>
        <p:spPr>
          <a:xfrm>
            <a:off x="6355080" y="1828800"/>
            <a:ext cx="1417320" cy="896112"/>
          </a:xfrm>
          <a:prstGeom prst="roundRect">
            <a:avLst>
              <a:gd name="adj" fmla="val 8163"/>
            </a:avLst>
          </a:prstGeom>
          <a:solidFill>
            <a:srgbClr val="F4F1EF"/>
          </a:solidFill>
          <a:ln>
            <a:noFill/>
          </a:ln>
        </p:spPr>
        <p:txBody>
          <a:bodyPr rtlCol="0" anchor="ctr"/>
          <a:lstStyle/>
          <a:p>
            <a:pPr algn="ctr"/>
          </a:p>
        </p:txBody>
      </p:sp>
      <p:pic>
        <p:nvPicPr>
          <p:cNvPr id="20" name="Picture 19" descr="LuFileText_c.png"/>
          <p:cNvPicPr>
            <a:picLocks noChangeAspect="1"/>
          </p:cNvPicPr>
          <p:nvPr/>
        </p:nvPicPr>
        <p:blipFill>
          <a:blip r:embed="rId6"/>
          <a:stretch>
            <a:fillRect/>
          </a:stretch>
        </p:blipFill>
        <p:spPr>
          <a:xfrm>
            <a:off x="6492240" y="1956816"/>
            <a:ext cx="274320" cy="274320"/>
          </a:xfrm>
          <a:prstGeom prst="rect">
            <a:avLst/>
          </a:prstGeom>
        </p:spPr>
      </p:pic>
      <p:sp>
        <p:nvSpPr>
          <p:cNvPr id="21" name="TextBox 20"/>
          <p:cNvSpPr txBox="1"/>
          <p:nvPr/>
        </p:nvSpPr>
        <p:spPr>
          <a:xfrm>
            <a:off x="649224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Read documents</a:t>
            </a:r>
          </a:p>
        </p:txBody>
      </p:sp>
      <p:sp>
        <p:nvSpPr>
          <p:cNvPr id="22" name="Rounded Rectangle 21"/>
          <p:cNvSpPr/>
          <p:nvPr/>
        </p:nvSpPr>
        <p:spPr>
          <a:xfrm>
            <a:off x="8138160" y="1828800"/>
            <a:ext cx="1417320" cy="896112"/>
          </a:xfrm>
          <a:prstGeom prst="roundRect">
            <a:avLst>
              <a:gd name="adj" fmla="val 8163"/>
            </a:avLst>
          </a:prstGeom>
          <a:solidFill>
            <a:srgbClr val="F4F1EF"/>
          </a:solidFill>
          <a:ln>
            <a:noFill/>
          </a:ln>
        </p:spPr>
        <p:txBody>
          <a:bodyPr rtlCol="0" anchor="ctr"/>
          <a:lstStyle/>
          <a:p>
            <a:pPr algn="ctr"/>
          </a:p>
        </p:txBody>
      </p:sp>
      <p:pic>
        <p:nvPicPr>
          <p:cNvPr id="23" name="Picture 22" descr="LuMail_c.png"/>
          <p:cNvPicPr>
            <a:picLocks noChangeAspect="1"/>
          </p:cNvPicPr>
          <p:nvPr/>
        </p:nvPicPr>
        <p:blipFill>
          <a:blip r:embed="rId7"/>
          <a:stretch>
            <a:fillRect/>
          </a:stretch>
        </p:blipFill>
        <p:spPr>
          <a:xfrm>
            <a:off x="8275320" y="1956816"/>
            <a:ext cx="274320" cy="274320"/>
          </a:xfrm>
          <a:prstGeom prst="rect">
            <a:avLst/>
          </a:prstGeom>
        </p:spPr>
      </p:pic>
      <p:sp>
        <p:nvSpPr>
          <p:cNvPr id="24" name="TextBox 23"/>
          <p:cNvSpPr txBox="1"/>
          <p:nvPr/>
        </p:nvSpPr>
        <p:spPr>
          <a:xfrm>
            <a:off x="8275320" y="2286000"/>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Search emails and chats</a:t>
            </a:r>
          </a:p>
        </p:txBody>
      </p:sp>
      <p:sp>
        <p:nvSpPr>
          <p:cNvPr id="25" name="Rounded Rectangle 24"/>
          <p:cNvSpPr/>
          <p:nvPr/>
        </p:nvSpPr>
        <p:spPr>
          <a:xfrm>
            <a:off x="8138160" y="3328416"/>
            <a:ext cx="1417320" cy="896112"/>
          </a:xfrm>
          <a:prstGeom prst="roundRect">
            <a:avLst>
              <a:gd name="adj" fmla="val 8163"/>
            </a:avLst>
          </a:prstGeom>
          <a:solidFill>
            <a:srgbClr val="F4F1EF"/>
          </a:solidFill>
          <a:ln>
            <a:noFill/>
          </a:ln>
        </p:spPr>
        <p:txBody>
          <a:bodyPr rtlCol="0" anchor="ctr"/>
          <a:lstStyle/>
          <a:p>
            <a:pPr algn="ctr"/>
          </a:p>
        </p:txBody>
      </p:sp>
      <p:pic>
        <p:nvPicPr>
          <p:cNvPr id="26" name="Picture 25" descr="LuGlobe_c.png"/>
          <p:cNvPicPr>
            <a:picLocks noChangeAspect="1"/>
          </p:cNvPicPr>
          <p:nvPr/>
        </p:nvPicPr>
        <p:blipFill>
          <a:blip r:embed="rId8"/>
          <a:stretch>
            <a:fillRect/>
          </a:stretch>
        </p:blipFill>
        <p:spPr>
          <a:xfrm>
            <a:off x="8275320" y="3456432"/>
            <a:ext cx="274320" cy="274320"/>
          </a:xfrm>
          <a:prstGeom prst="rect">
            <a:avLst/>
          </a:prstGeom>
        </p:spPr>
      </p:pic>
      <p:sp>
        <p:nvSpPr>
          <p:cNvPr id="27" name="TextBox 26"/>
          <p:cNvSpPr txBox="1"/>
          <p:nvPr/>
        </p:nvSpPr>
        <p:spPr>
          <a:xfrm>
            <a:off x="827532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Check external information</a:t>
            </a:r>
          </a:p>
        </p:txBody>
      </p:sp>
      <p:sp>
        <p:nvSpPr>
          <p:cNvPr id="28" name="Rounded Rectangle 27"/>
          <p:cNvSpPr/>
          <p:nvPr/>
        </p:nvSpPr>
        <p:spPr>
          <a:xfrm>
            <a:off x="6355080" y="3328416"/>
            <a:ext cx="1417320" cy="896112"/>
          </a:xfrm>
          <a:prstGeom prst="roundRect">
            <a:avLst>
              <a:gd name="adj" fmla="val 8163"/>
            </a:avLst>
          </a:prstGeom>
          <a:solidFill>
            <a:srgbClr val="F4F1EF"/>
          </a:solidFill>
          <a:ln>
            <a:noFill/>
          </a:ln>
        </p:spPr>
        <p:txBody>
          <a:bodyPr rtlCol="0" anchor="ctr"/>
          <a:lstStyle/>
          <a:p>
            <a:pPr algn="ctr"/>
          </a:p>
        </p:txBody>
      </p:sp>
      <p:pic>
        <p:nvPicPr>
          <p:cNvPr id="29" name="Picture 28" descr="LuChartColumn_c.png"/>
          <p:cNvPicPr>
            <a:picLocks noChangeAspect="1"/>
          </p:cNvPicPr>
          <p:nvPr/>
        </p:nvPicPr>
        <p:blipFill>
          <a:blip r:embed="rId9"/>
          <a:stretch>
            <a:fillRect/>
          </a:stretch>
        </p:blipFill>
        <p:spPr>
          <a:xfrm>
            <a:off x="6492240" y="3456432"/>
            <a:ext cx="274320" cy="274320"/>
          </a:xfrm>
          <a:prstGeom prst="rect">
            <a:avLst/>
          </a:prstGeom>
        </p:spPr>
      </p:pic>
      <p:sp>
        <p:nvSpPr>
          <p:cNvPr id="30" name="TextBox 29"/>
          <p:cNvSpPr txBox="1"/>
          <p:nvPr/>
        </p:nvSpPr>
        <p:spPr>
          <a:xfrm>
            <a:off x="649224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Analyse</a:t>
            </a:r>
          </a:p>
        </p:txBody>
      </p:sp>
      <p:sp>
        <p:nvSpPr>
          <p:cNvPr id="31" name="Rounded Rectangle 30"/>
          <p:cNvSpPr/>
          <p:nvPr/>
        </p:nvSpPr>
        <p:spPr>
          <a:xfrm>
            <a:off x="6903720" y="3182112"/>
            <a:ext cx="822960" cy="256032"/>
          </a:xfrm>
          <a:prstGeom prst="roundRect">
            <a:avLst>
              <a:gd name="adj" fmla="val 50000"/>
            </a:avLst>
          </a:prstGeom>
          <a:solidFill>
            <a:srgbClr val="FBE8ED"/>
          </a:solidFill>
          <a:ln w="12700">
            <a:solidFill>
              <a:srgbClr val="F2B6C6"/>
            </a:solidFill>
          </a:ln>
        </p:spPr>
        <p:txBody>
          <a:bodyPr rtlCol="0" anchor="ctr" wrap="square" lIns="36576" tIns="36576" rIns="36576" bIns="36576">
            <a:noAutofit/>
          </a:bodyPr>
          <a:lstStyle/>
          <a:p>
            <a:pPr algn="ctr">
              <a:spcAft>
                <a:spcPts val="0"/>
              </a:spcAft>
            </a:pPr>
            <a:r>
              <a:rPr sz="900" b="1" i="0" spc="0">
                <a:solidFill>
                  <a:srgbClr val="D31145"/>
                </a:solidFill>
                <a:latin typeface="Arial"/>
              </a:rPr>
              <a:t>AI can help</a:t>
            </a:r>
          </a:p>
        </p:txBody>
      </p:sp>
      <p:sp>
        <p:nvSpPr>
          <p:cNvPr id="32" name="Rounded Rectangle 31"/>
          <p:cNvSpPr/>
          <p:nvPr/>
        </p:nvSpPr>
        <p:spPr>
          <a:xfrm>
            <a:off x="4572000" y="3328416"/>
            <a:ext cx="1417320" cy="896112"/>
          </a:xfrm>
          <a:prstGeom prst="roundRect">
            <a:avLst>
              <a:gd name="adj" fmla="val 8163"/>
            </a:avLst>
          </a:prstGeom>
          <a:solidFill>
            <a:srgbClr val="F4F1EF"/>
          </a:solidFill>
          <a:ln>
            <a:noFill/>
          </a:ln>
        </p:spPr>
        <p:txBody>
          <a:bodyPr rtlCol="0" anchor="ctr"/>
          <a:lstStyle/>
          <a:p>
            <a:pPr algn="ctr"/>
          </a:p>
        </p:txBody>
      </p:sp>
      <p:pic>
        <p:nvPicPr>
          <p:cNvPr id="33" name="Picture 32" descr="LuCopy_c.png"/>
          <p:cNvPicPr>
            <a:picLocks noChangeAspect="1"/>
          </p:cNvPicPr>
          <p:nvPr/>
        </p:nvPicPr>
        <p:blipFill>
          <a:blip r:embed="rId10"/>
          <a:stretch>
            <a:fillRect/>
          </a:stretch>
        </p:blipFill>
        <p:spPr>
          <a:xfrm>
            <a:off x="4709160" y="3456432"/>
            <a:ext cx="274320" cy="274320"/>
          </a:xfrm>
          <a:prstGeom prst="rect">
            <a:avLst/>
          </a:prstGeom>
        </p:spPr>
      </p:pic>
      <p:sp>
        <p:nvSpPr>
          <p:cNvPr id="34" name="TextBox 33"/>
          <p:cNvSpPr txBox="1"/>
          <p:nvPr/>
        </p:nvSpPr>
        <p:spPr>
          <a:xfrm>
            <a:off x="470916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Combine outputs</a:t>
            </a:r>
          </a:p>
        </p:txBody>
      </p:sp>
      <p:sp>
        <p:nvSpPr>
          <p:cNvPr id="35" name="Rounded Rectangle 34"/>
          <p:cNvSpPr/>
          <p:nvPr/>
        </p:nvSpPr>
        <p:spPr>
          <a:xfrm>
            <a:off x="2788920" y="3328416"/>
            <a:ext cx="1417320" cy="896112"/>
          </a:xfrm>
          <a:prstGeom prst="roundRect">
            <a:avLst>
              <a:gd name="adj" fmla="val 8163"/>
            </a:avLst>
          </a:prstGeom>
          <a:solidFill>
            <a:srgbClr val="F4F1EF"/>
          </a:solidFill>
          <a:ln>
            <a:noFill/>
          </a:ln>
        </p:spPr>
        <p:txBody>
          <a:bodyPr rtlCol="0" anchor="ctr"/>
          <a:lstStyle/>
          <a:p>
            <a:pPr algn="ctr"/>
          </a:p>
        </p:txBody>
      </p:sp>
      <p:pic>
        <p:nvPicPr>
          <p:cNvPr id="36" name="Picture 35" descr="LuFilePen_c.png"/>
          <p:cNvPicPr>
            <a:picLocks noChangeAspect="1"/>
          </p:cNvPicPr>
          <p:nvPr/>
        </p:nvPicPr>
        <p:blipFill>
          <a:blip r:embed="rId11"/>
          <a:stretch>
            <a:fillRect/>
          </a:stretch>
        </p:blipFill>
        <p:spPr>
          <a:xfrm>
            <a:off x="2926080" y="3456432"/>
            <a:ext cx="274320" cy="274320"/>
          </a:xfrm>
          <a:prstGeom prst="rect">
            <a:avLst/>
          </a:prstGeom>
        </p:spPr>
      </p:pic>
      <p:sp>
        <p:nvSpPr>
          <p:cNvPr id="37" name="TextBox 36"/>
          <p:cNvSpPr txBox="1"/>
          <p:nvPr/>
        </p:nvSpPr>
        <p:spPr>
          <a:xfrm>
            <a:off x="2926080" y="3785616"/>
            <a:ext cx="1188720" cy="420624"/>
          </a:xfrm>
          <a:prstGeom prst="rect">
            <a:avLst/>
          </a:prstGeom>
          <a:noFill/>
        </p:spPr>
        <p:txBody>
          <a:bodyPr wrap="square" lIns="0" tIns="0" rIns="0" bIns="0" anchor="t">
            <a:noAutofit/>
          </a:bodyPr>
          <a:lstStyle/>
          <a:p>
            <a:pPr algn="l">
              <a:lnSpc>
                <a:spcPct val="92000"/>
              </a:lnSpc>
              <a:spcAft>
                <a:spcPts val="0"/>
              </a:spcAft>
            </a:pPr>
            <a:r>
              <a:rPr sz="1200" b="1" i="0">
                <a:solidFill>
                  <a:srgbClr val="333D47"/>
                </a:solidFill>
                <a:latin typeface="Arial"/>
              </a:rPr>
              <a:t>Draft the result</a:t>
            </a:r>
          </a:p>
        </p:txBody>
      </p:sp>
      <p:sp>
        <p:nvSpPr>
          <p:cNvPr id="38" name="Rounded Rectangle 37"/>
          <p:cNvSpPr/>
          <p:nvPr/>
        </p:nvSpPr>
        <p:spPr>
          <a:xfrm>
            <a:off x="3337560" y="3182112"/>
            <a:ext cx="822960" cy="256032"/>
          </a:xfrm>
          <a:prstGeom prst="roundRect">
            <a:avLst>
              <a:gd name="adj" fmla="val 50000"/>
            </a:avLst>
          </a:prstGeom>
          <a:solidFill>
            <a:srgbClr val="FBE8ED"/>
          </a:solidFill>
          <a:ln w="12700">
            <a:solidFill>
              <a:srgbClr val="F2B6C6"/>
            </a:solidFill>
          </a:ln>
        </p:spPr>
        <p:txBody>
          <a:bodyPr rtlCol="0" anchor="ctr" wrap="square" lIns="36576" tIns="36576" rIns="36576" bIns="36576">
            <a:noAutofit/>
          </a:bodyPr>
          <a:lstStyle/>
          <a:p>
            <a:pPr algn="ctr">
              <a:spcAft>
                <a:spcPts val="0"/>
              </a:spcAft>
            </a:pPr>
            <a:r>
              <a:rPr sz="900" b="1" i="0" spc="0">
                <a:solidFill>
                  <a:srgbClr val="D31145"/>
                </a:solidFill>
                <a:latin typeface="Arial"/>
              </a:rPr>
              <a:t>AI can help</a:t>
            </a:r>
          </a:p>
        </p:txBody>
      </p:sp>
      <p:cxnSp>
        <p:nvCxnSpPr>
          <p:cNvPr id="39" name="Connector 38"/>
          <p:cNvCxnSpPr/>
          <p:nvPr/>
        </p:nvCxnSpPr>
        <p:spPr>
          <a:xfrm>
            <a:off x="4251960" y="2276856"/>
            <a:ext cx="274320" cy="0"/>
          </a:xfrm>
          <a:prstGeom prst="line">
            <a:avLst/>
          </a:prstGeom>
          <a:ln w="19050">
            <a:solidFill>
              <a:srgbClr val="9B928B"/>
            </a:solidFill>
            <a:tailEnd type="triangle" w="med" len="med"/>
          </a:ln>
        </p:spPr>
      </p:cxnSp>
      <p:cxnSp>
        <p:nvCxnSpPr>
          <p:cNvPr id="40" name="Connector 39"/>
          <p:cNvCxnSpPr/>
          <p:nvPr/>
        </p:nvCxnSpPr>
        <p:spPr>
          <a:xfrm>
            <a:off x="6035040" y="2276856"/>
            <a:ext cx="274320" cy="0"/>
          </a:xfrm>
          <a:prstGeom prst="line">
            <a:avLst/>
          </a:prstGeom>
          <a:ln w="19050">
            <a:solidFill>
              <a:srgbClr val="9B928B"/>
            </a:solidFill>
            <a:tailEnd type="triangle" w="med" len="med"/>
          </a:ln>
        </p:spPr>
      </p:cxnSp>
      <p:cxnSp>
        <p:nvCxnSpPr>
          <p:cNvPr id="41" name="Connector 40"/>
          <p:cNvCxnSpPr/>
          <p:nvPr/>
        </p:nvCxnSpPr>
        <p:spPr>
          <a:xfrm>
            <a:off x="7818120" y="2276856"/>
            <a:ext cx="274320" cy="0"/>
          </a:xfrm>
          <a:prstGeom prst="line">
            <a:avLst/>
          </a:prstGeom>
          <a:ln w="19050">
            <a:solidFill>
              <a:srgbClr val="9B928B"/>
            </a:solidFill>
            <a:tailEnd type="triangle" w="med" len="med"/>
          </a:ln>
        </p:spPr>
      </p:cxnSp>
      <p:cxnSp>
        <p:nvCxnSpPr>
          <p:cNvPr id="42" name="Connector 41"/>
          <p:cNvCxnSpPr/>
          <p:nvPr/>
        </p:nvCxnSpPr>
        <p:spPr>
          <a:xfrm>
            <a:off x="8846820" y="2761488"/>
            <a:ext cx="0" cy="530352"/>
          </a:xfrm>
          <a:prstGeom prst="line">
            <a:avLst/>
          </a:prstGeom>
          <a:ln w="19050">
            <a:solidFill>
              <a:srgbClr val="9B928B"/>
            </a:solidFill>
            <a:tailEnd type="triangle" w="med" len="med"/>
          </a:ln>
        </p:spPr>
      </p:cxnSp>
      <p:cxnSp>
        <p:nvCxnSpPr>
          <p:cNvPr id="43" name="Connector 42"/>
          <p:cNvCxnSpPr/>
          <p:nvPr/>
        </p:nvCxnSpPr>
        <p:spPr>
          <a:xfrm flipH="1">
            <a:off x="7818120" y="3776472"/>
            <a:ext cx="274320" cy="0"/>
          </a:xfrm>
          <a:prstGeom prst="line">
            <a:avLst/>
          </a:prstGeom>
          <a:ln w="19050">
            <a:solidFill>
              <a:srgbClr val="9B928B"/>
            </a:solidFill>
            <a:tailEnd type="triangle" w="med" len="med"/>
          </a:ln>
        </p:spPr>
      </p:cxnSp>
      <p:cxnSp>
        <p:nvCxnSpPr>
          <p:cNvPr id="44" name="Connector 43"/>
          <p:cNvCxnSpPr/>
          <p:nvPr/>
        </p:nvCxnSpPr>
        <p:spPr>
          <a:xfrm flipH="1">
            <a:off x="6035040" y="3776472"/>
            <a:ext cx="274320" cy="0"/>
          </a:xfrm>
          <a:prstGeom prst="line">
            <a:avLst/>
          </a:prstGeom>
          <a:ln w="19050">
            <a:solidFill>
              <a:srgbClr val="9B928B"/>
            </a:solidFill>
            <a:tailEnd type="triangle" w="med" len="med"/>
          </a:ln>
        </p:spPr>
      </p:cxnSp>
      <p:cxnSp>
        <p:nvCxnSpPr>
          <p:cNvPr id="45" name="Connector 44"/>
          <p:cNvCxnSpPr/>
          <p:nvPr/>
        </p:nvCxnSpPr>
        <p:spPr>
          <a:xfrm flipH="1">
            <a:off x="4251960" y="3776472"/>
            <a:ext cx="274320" cy="0"/>
          </a:xfrm>
          <a:prstGeom prst="line">
            <a:avLst/>
          </a:prstGeom>
          <a:ln w="19050">
            <a:solidFill>
              <a:srgbClr val="9B928B"/>
            </a:solidFill>
            <a:tailEnd type="triangle" w="med" len="med"/>
          </a:ln>
        </p:spPr>
      </p:cxnSp>
      <p:cxnSp>
        <p:nvCxnSpPr>
          <p:cNvPr id="46" name="Connector 45"/>
          <p:cNvCxnSpPr/>
          <p:nvPr/>
        </p:nvCxnSpPr>
        <p:spPr>
          <a:xfrm>
            <a:off x="2441448" y="2276856"/>
            <a:ext cx="301752" cy="0"/>
          </a:xfrm>
          <a:prstGeom prst="line">
            <a:avLst/>
          </a:prstGeom>
          <a:ln w="19050">
            <a:solidFill>
              <a:srgbClr val="9B928B"/>
            </a:solidFill>
            <a:tailEnd type="triangle" w="med" len="med"/>
          </a:ln>
        </p:spPr>
      </p:cxnSp>
      <p:cxnSp>
        <p:nvCxnSpPr>
          <p:cNvPr id="47" name="Connector 46"/>
          <p:cNvCxnSpPr/>
          <p:nvPr/>
        </p:nvCxnSpPr>
        <p:spPr>
          <a:xfrm flipH="1">
            <a:off x="2441448" y="3776472"/>
            <a:ext cx="301752" cy="0"/>
          </a:xfrm>
          <a:prstGeom prst="line">
            <a:avLst/>
          </a:prstGeom>
          <a:ln w="19050">
            <a:solidFill>
              <a:srgbClr val="D31145"/>
            </a:solidFill>
            <a:tailEnd type="triangle" w="med" len="med"/>
          </a:ln>
        </p:spPr>
      </p:cxnSp>
      <p:sp>
        <p:nvSpPr>
          <p:cNvPr id="48" name="Rounded Rectangle 47"/>
          <p:cNvSpPr/>
          <p:nvPr/>
        </p:nvSpPr>
        <p:spPr>
          <a:xfrm>
            <a:off x="2788920" y="4434840"/>
            <a:ext cx="6766560" cy="475488"/>
          </a:xfrm>
          <a:prstGeom prst="roundRect">
            <a:avLst>
              <a:gd name="adj" fmla="val 15384"/>
            </a:avLst>
          </a:prstGeom>
          <a:solidFill>
            <a:srgbClr val="333D47"/>
          </a:solidFill>
          <a:ln>
            <a:noFill/>
          </a:ln>
        </p:spPr>
        <p:txBody>
          <a:bodyPr rtlCol="0" anchor="ctr"/>
          <a:lstStyle/>
          <a:p>
            <a:pPr algn="ctr"/>
          </a:p>
        </p:txBody>
      </p:sp>
      <p:pic>
        <p:nvPicPr>
          <p:cNvPr id="49" name="Picture 48" descr="LuUser_w.png"/>
          <p:cNvPicPr>
            <a:picLocks noChangeAspect="1"/>
          </p:cNvPicPr>
          <p:nvPr/>
        </p:nvPicPr>
        <p:blipFill>
          <a:blip r:embed="rId12"/>
          <a:stretch>
            <a:fillRect/>
          </a:stretch>
        </p:blipFill>
        <p:spPr>
          <a:xfrm>
            <a:off x="2953512" y="4535424"/>
            <a:ext cx="274320" cy="274320"/>
          </a:xfrm>
          <a:prstGeom prst="rect">
            <a:avLst/>
          </a:prstGeom>
        </p:spPr>
      </p:pic>
      <p:sp>
        <p:nvSpPr>
          <p:cNvPr id="50" name="TextBox 49"/>
          <p:cNvSpPr txBox="1"/>
          <p:nvPr/>
        </p:nvSpPr>
        <p:spPr>
          <a:xfrm>
            <a:off x="3355848" y="4434840"/>
            <a:ext cx="6217920" cy="475488"/>
          </a:xfrm>
          <a:prstGeom prst="rect">
            <a:avLst/>
          </a:prstGeom>
          <a:noFill/>
        </p:spPr>
        <p:txBody>
          <a:bodyPr wrap="square" lIns="0" tIns="0" rIns="0" bIns="0" anchor="ctr">
            <a:noAutofit/>
          </a:bodyPr>
          <a:lstStyle/>
          <a:p>
            <a:pPr algn="l">
              <a:spcAft>
                <a:spcPts val="0"/>
              </a:spcAft>
            </a:pPr>
            <a:r>
              <a:rPr sz="1350" b="1" i="0">
                <a:solidFill>
                  <a:srgbClr val="FFFFFF"/>
                </a:solidFill>
                <a:latin typeface="Arial"/>
              </a:rPr>
              <a:t>The employee does, checks and joins every step, by hand.</a:t>
            </a:r>
          </a:p>
        </p:txBody>
      </p:sp>
      <p:sp>
        <p:nvSpPr>
          <p:cNvPr id="51" name="TextBox 50"/>
          <p:cNvSpPr txBox="1"/>
          <p:nvPr/>
        </p:nvSpPr>
        <p:spPr>
          <a:xfrm>
            <a:off x="9875520" y="1828800"/>
            <a:ext cx="1956816" cy="1188720"/>
          </a:xfrm>
          <a:prstGeom prst="rect">
            <a:avLst/>
          </a:prstGeom>
          <a:noFill/>
        </p:spPr>
        <p:txBody>
          <a:bodyPr wrap="square" lIns="0" tIns="0" rIns="0" bIns="0" anchor="t">
            <a:noAutofit/>
          </a:bodyPr>
          <a:lstStyle/>
          <a:p>
            <a:pPr algn="l">
              <a:lnSpc>
                <a:spcPct val="100000"/>
              </a:lnSpc>
              <a:spcAft>
                <a:spcPts val="0"/>
              </a:spcAft>
            </a:pPr>
            <a:r>
              <a:rPr sz="1900" b="1" i="0">
                <a:solidFill>
                  <a:srgbClr val="D31145"/>
                </a:solidFill>
                <a:latin typeface="Arial"/>
              </a:rPr>
              <a:t>Today, the employee is the connector.</a:t>
            </a:r>
          </a:p>
        </p:txBody>
      </p:sp>
      <p:sp>
        <p:nvSpPr>
          <p:cNvPr id="52" name="TextBox 51"/>
          <p:cNvSpPr txBox="1"/>
          <p:nvPr/>
        </p:nvSpPr>
        <p:spPr>
          <a:xfrm>
            <a:off x="9875520" y="3017520"/>
            <a:ext cx="1956816" cy="16459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As AIA adds more systems and AI capabilities, employees may still be left coordinating work across them by hand.</a:t>
            </a:r>
          </a:p>
        </p:txBody>
      </p:sp>
      <p:sp>
        <p:nvSpPr>
          <p:cNvPr id="53" name="Rounded Rectangle 52"/>
          <p:cNvSpPr/>
          <p:nvPr/>
        </p:nvSpPr>
        <p:spPr>
          <a:xfrm>
            <a:off x="356616" y="5440680"/>
            <a:ext cx="13258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OBSERVATION</a:t>
            </a:r>
          </a:p>
        </p:txBody>
      </p:sp>
      <p:sp>
        <p:nvSpPr>
          <p:cNvPr id="54" name="TextBox 53"/>
          <p:cNvSpPr txBox="1"/>
          <p:nvPr/>
        </p:nvSpPr>
        <p:spPr>
          <a:xfrm>
            <a:off x="1810512" y="5422392"/>
            <a:ext cx="9144000" cy="329184"/>
          </a:xfrm>
          <a:prstGeom prst="rect">
            <a:avLst/>
          </a:prstGeom>
          <a:noFill/>
        </p:spPr>
        <p:txBody>
          <a:bodyPr wrap="square" lIns="0" tIns="0" rIns="0" bIns="0" anchor="ctr">
            <a:noAutofit/>
          </a:bodyPr>
          <a:lstStyle/>
          <a:p>
            <a:pPr algn="l">
              <a:spcAft>
                <a:spcPts val="0"/>
              </a:spcAft>
            </a:pPr>
            <a:r>
              <a:rPr sz="1250" b="0" i="0">
                <a:solidFill>
                  <a:srgbClr val="5F6770"/>
                </a:solidFill>
                <a:latin typeface="Arial"/>
              </a:rPr>
              <a:t>From what I observe across AIA. An observation, not yet a measured finding.</a:t>
            </a:r>
          </a:p>
        </p:txBody>
      </p:sp>
      <p:sp>
        <p:nvSpPr>
          <p:cNvPr id="55" name="Slide Number Placeholder"/>
          <p:cNvSpPr>
            <a:spLocks noGrp="1"/>
          </p:cNvSpPr>
          <p:nvPr>
            <p:ph type="sldNum" sz="quarter" idx="4"/>
          </p:nvPr>
        </p:nvSpPr>
        <p:spPr/>
        <p:txBody>
          <a:bodyPr/>
          <a:lstStyle/>
          <a:p>
            <a:fld id="{18A41853-EF22-D446-BDBC-A7CF3FE93503}" type="slidenum">
              <a:rPr lang="en-US"/>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Riley is AIA’s AI coworker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WHAT RILEY IS</a:t>
            </a:r>
          </a:p>
        </p:txBody>
      </p:sp>
      <p:sp>
        <p:nvSpPr>
          <p:cNvPr id="6" name="TextBox 5"/>
          <p:cNvSpPr txBox="1"/>
          <p:nvPr/>
        </p:nvSpPr>
        <p:spPr>
          <a:xfrm>
            <a:off x="356616" y="1024128"/>
            <a:ext cx="11155680" cy="566928"/>
          </a:xfrm>
          <a:prstGeom prst="rect">
            <a:avLst/>
          </a:prstGeom>
          <a:noFill/>
        </p:spPr>
        <p:txBody>
          <a:bodyPr wrap="square" lIns="0" tIns="0" rIns="0" bIns="0" anchor="t">
            <a:noAutofit/>
          </a:bodyPr>
          <a:lstStyle/>
          <a:p>
            <a:pPr algn="l">
              <a:lnSpc>
                <a:spcPct val="100000"/>
              </a:lnSpc>
              <a:spcAft>
                <a:spcPts val="0"/>
              </a:spcAft>
            </a:pPr>
            <a:r>
              <a:rPr sz="1500" b="0" i="0">
                <a:solidFill>
                  <a:srgbClr val="5F6770"/>
                </a:solidFill>
                <a:latin typeface="Arial"/>
              </a:rPr>
              <a:t>You give it an outcome. It uses the same approved data, systems and tools you would use to do the work in between, then brings back finished work for you to approve.</a:t>
            </a:r>
          </a:p>
        </p:txBody>
      </p:sp>
      <p:sp>
        <p:nvSpPr>
          <p:cNvPr id="7" name="Rounded Rectangle 6"/>
          <p:cNvSpPr/>
          <p:nvPr/>
        </p:nvSpPr>
        <p:spPr>
          <a:xfrm>
            <a:off x="356616" y="1755648"/>
            <a:ext cx="7498080" cy="420624"/>
          </a:xfrm>
          <a:prstGeom prst="roundRect">
            <a:avLst>
              <a:gd name="adj" fmla="val 17391"/>
            </a:avLst>
          </a:prstGeom>
          <a:solidFill>
            <a:srgbClr val="FFFFFF"/>
          </a:solidFill>
          <a:ln w="12700">
            <a:solidFill>
              <a:srgbClr val="DDD6D0"/>
            </a:solidFill>
          </a:ln>
        </p:spPr>
        <p:txBody>
          <a:bodyPr rtlCol="0" anchor="ctr"/>
          <a:lstStyle/>
          <a:p>
            <a:pPr algn="ctr"/>
          </a:p>
        </p:txBody>
      </p:sp>
      <p:pic>
        <p:nvPicPr>
          <p:cNvPr id="8" name="Picture 7" descr="LuUser_c.png"/>
          <p:cNvPicPr>
            <a:picLocks noChangeAspect="1"/>
          </p:cNvPicPr>
          <p:nvPr/>
        </p:nvPicPr>
        <p:blipFill>
          <a:blip r:embed="rId3"/>
          <a:stretch>
            <a:fillRect/>
          </a:stretch>
        </p:blipFill>
        <p:spPr>
          <a:xfrm>
            <a:off x="539496" y="1819656"/>
            <a:ext cx="274320" cy="274320"/>
          </a:xfrm>
          <a:prstGeom prst="rect">
            <a:avLst/>
          </a:prstGeom>
        </p:spPr>
      </p:pic>
      <p:sp>
        <p:nvSpPr>
          <p:cNvPr id="9" name="TextBox 8"/>
          <p:cNvSpPr txBox="1"/>
          <p:nvPr/>
        </p:nvSpPr>
        <p:spPr>
          <a:xfrm>
            <a:off x="950976" y="1755648"/>
            <a:ext cx="6766560" cy="420624"/>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a:t>
            </a:r>
            <a:r>
              <a:rPr sz="1350" b="0" i="0">
                <a:solidFill>
                  <a:srgbClr val="333D47"/>
                </a:solidFill>
                <a:latin typeface="Arial"/>
              </a:rPr>
              <a:t>   gives the outcome in Teams, reviews and approves</a:t>
            </a:r>
          </a:p>
        </p:txBody>
      </p:sp>
      <p:cxnSp>
        <p:nvCxnSpPr>
          <p:cNvPr id="10" name="Connector 9"/>
          <p:cNvCxnSpPr/>
          <p:nvPr/>
        </p:nvCxnSpPr>
        <p:spPr>
          <a:xfrm>
            <a:off x="4105656" y="2176272"/>
            <a:ext cx="0" cy="109728"/>
          </a:xfrm>
          <a:prstGeom prst="line">
            <a:avLst/>
          </a:prstGeom>
          <a:ln w="25400">
            <a:solidFill>
              <a:srgbClr val="D31145"/>
            </a:solidFill>
          </a:ln>
        </p:spPr>
      </p:cxnSp>
      <p:sp>
        <p:nvSpPr>
          <p:cNvPr id="11" name="Rounded Rectangle 10"/>
          <p:cNvSpPr/>
          <p:nvPr/>
        </p:nvSpPr>
        <p:spPr>
          <a:xfrm>
            <a:off x="356616" y="2286000"/>
            <a:ext cx="7498080" cy="2432304"/>
          </a:xfrm>
          <a:prstGeom prst="roundRect">
            <a:avLst>
              <a:gd name="adj" fmla="val 4511"/>
            </a:avLst>
          </a:prstGeom>
          <a:solidFill>
            <a:srgbClr val="FBE8ED"/>
          </a:solidFill>
          <a:ln w="25400">
            <a:solidFill>
              <a:srgbClr val="D31145"/>
            </a:solidFill>
          </a:ln>
        </p:spPr>
        <p:txBody>
          <a:bodyPr rtlCol="0" anchor="ctr"/>
          <a:lstStyle/>
          <a:p>
            <a:pPr algn="ctr"/>
          </a:p>
        </p:txBody>
      </p:sp>
      <p:sp>
        <p:nvSpPr>
          <p:cNvPr id="12" name="Oval 11"/>
          <p:cNvSpPr/>
          <p:nvPr/>
        </p:nvSpPr>
        <p:spPr>
          <a:xfrm>
            <a:off x="557784" y="2414016"/>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13" name="TextBox 12"/>
          <p:cNvSpPr txBox="1"/>
          <p:nvPr/>
        </p:nvSpPr>
        <p:spPr>
          <a:xfrm>
            <a:off x="996696" y="2414016"/>
            <a:ext cx="5486400" cy="329184"/>
          </a:xfrm>
          <a:prstGeom prst="rect">
            <a:avLst/>
          </a:prstGeom>
          <a:noFill/>
        </p:spPr>
        <p:txBody>
          <a:bodyPr wrap="square" lIns="0" tIns="0" rIns="0" bIns="0" anchor="ctr">
            <a:noAutofit/>
          </a:bodyPr>
          <a:lstStyle/>
          <a:p>
            <a:pPr algn="l">
              <a:spcAft>
                <a:spcPts val="0"/>
              </a:spcAft>
            </a:pPr>
            <a:r>
              <a:rPr sz="1350" b="1" i="0" spc="100">
                <a:solidFill>
                  <a:srgbClr val="D31145"/>
                </a:solidFill>
                <a:latin typeface="Arial"/>
              </a:rPr>
              <a:t>RILEY</a:t>
            </a:r>
            <a:r>
              <a:rPr sz="1350" b="1" i="0">
                <a:solidFill>
                  <a:srgbClr val="D31145"/>
                </a:solidFill>
                <a:latin typeface="Arial"/>
              </a:rPr>
              <a:t>   AIA’s AI coworker</a:t>
            </a:r>
          </a:p>
        </p:txBody>
      </p:sp>
      <p:sp>
        <p:nvSpPr>
          <p:cNvPr id="14" name="Rounded Rectangle 13"/>
          <p:cNvSpPr/>
          <p:nvPr/>
        </p:nvSpPr>
        <p:spPr>
          <a:xfrm>
            <a:off x="557784" y="2871216"/>
            <a:ext cx="2331720" cy="1682496"/>
          </a:xfrm>
          <a:prstGeom prst="roundRect">
            <a:avLst>
              <a:gd name="adj" fmla="val 4347"/>
            </a:avLst>
          </a:prstGeom>
          <a:solidFill>
            <a:srgbClr val="FFFFFF"/>
          </a:solidFill>
          <a:ln w="9525">
            <a:solidFill>
              <a:srgbClr val="DDD6D0"/>
            </a:solidFill>
          </a:ln>
        </p:spPr>
        <p:txBody>
          <a:bodyPr rtlCol="0" anchor="ctr"/>
          <a:lstStyle/>
          <a:p>
            <a:pPr algn="ctr"/>
          </a:p>
        </p:txBody>
      </p:sp>
      <p:pic>
        <p:nvPicPr>
          <p:cNvPr id="15" name="Picture 14" descr="LuBrainCircuit_c.png"/>
          <p:cNvPicPr>
            <a:picLocks noChangeAspect="1"/>
          </p:cNvPicPr>
          <p:nvPr/>
        </p:nvPicPr>
        <p:blipFill>
          <a:blip r:embed="rId4"/>
          <a:stretch>
            <a:fillRect/>
          </a:stretch>
        </p:blipFill>
        <p:spPr>
          <a:xfrm>
            <a:off x="722376" y="3017520"/>
            <a:ext cx="365760" cy="365760"/>
          </a:xfrm>
          <a:prstGeom prst="rect">
            <a:avLst/>
          </a:prstGeom>
        </p:spPr>
      </p:pic>
      <p:sp>
        <p:nvSpPr>
          <p:cNvPr id="16" name="TextBox 15"/>
          <p:cNvSpPr txBox="1"/>
          <p:nvPr/>
        </p:nvSpPr>
        <p:spPr>
          <a:xfrm>
            <a:off x="1197864" y="2980944"/>
            <a:ext cx="1600200" cy="219456"/>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THE BRAIN</a:t>
            </a:r>
          </a:p>
        </p:txBody>
      </p:sp>
      <p:sp>
        <p:nvSpPr>
          <p:cNvPr id="17" name="TextBox 16"/>
          <p:cNvSpPr txBox="1"/>
          <p:nvPr/>
        </p:nvSpPr>
        <p:spPr>
          <a:xfrm>
            <a:off x="1197864" y="3200400"/>
            <a:ext cx="160020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Enterprise AI</a:t>
            </a:r>
          </a:p>
        </p:txBody>
      </p:sp>
      <p:sp>
        <p:nvSpPr>
          <p:cNvPr id="18" name="TextBox 17"/>
          <p:cNvSpPr txBox="1"/>
          <p:nvPr/>
        </p:nvSpPr>
        <p:spPr>
          <a:xfrm>
            <a:off x="722376" y="3602736"/>
            <a:ext cx="2057400" cy="91440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Copilot or another approved platform. Understands, reasons, plans and drafts.</a:t>
            </a:r>
          </a:p>
        </p:txBody>
      </p:sp>
      <p:sp>
        <p:nvSpPr>
          <p:cNvPr id="19" name="TextBox 18"/>
          <p:cNvSpPr txBox="1"/>
          <p:nvPr/>
        </p:nvSpPr>
        <p:spPr>
          <a:xfrm>
            <a:off x="2889504" y="3419856"/>
            <a:ext cx="274320" cy="457200"/>
          </a:xfrm>
          <a:prstGeom prst="rect">
            <a:avLst/>
          </a:prstGeom>
          <a:noFill/>
        </p:spPr>
        <p:txBody>
          <a:bodyPr wrap="square" lIns="0" tIns="0" rIns="0" bIns="0" anchor="ctr">
            <a:noAutofit/>
          </a:bodyPr>
          <a:lstStyle/>
          <a:p>
            <a:pPr algn="ctr">
              <a:spcAft>
                <a:spcPts val="0"/>
              </a:spcAft>
            </a:pPr>
            <a:r>
              <a:rPr sz="2200" b="1" i="0">
                <a:solidFill>
                  <a:srgbClr val="D31145"/>
                </a:solidFill>
                <a:latin typeface="Arial"/>
              </a:rPr>
              <a:t>+</a:t>
            </a:r>
          </a:p>
        </p:txBody>
      </p:sp>
      <p:sp>
        <p:nvSpPr>
          <p:cNvPr id="20" name="Rounded Rectangle 19"/>
          <p:cNvSpPr/>
          <p:nvPr/>
        </p:nvSpPr>
        <p:spPr>
          <a:xfrm>
            <a:off x="3163824" y="2871216"/>
            <a:ext cx="4489704" cy="1682496"/>
          </a:xfrm>
          <a:prstGeom prst="roundRect">
            <a:avLst>
              <a:gd name="adj" fmla="val 4347"/>
            </a:avLst>
          </a:prstGeom>
          <a:solidFill>
            <a:srgbClr val="FFFFFF"/>
          </a:solidFill>
          <a:ln w="9525">
            <a:solidFill>
              <a:srgbClr val="F2B6C6"/>
            </a:solidFill>
          </a:ln>
        </p:spPr>
        <p:txBody>
          <a:bodyPr rtlCol="0" anchor="ctr"/>
          <a:lstStyle/>
          <a:p>
            <a:pPr algn="ctr"/>
          </a:p>
        </p:txBody>
      </p:sp>
      <p:pic>
        <p:nvPicPr>
          <p:cNvPr id="21" name="Picture 20" descr="LuHand_r.png"/>
          <p:cNvPicPr>
            <a:picLocks noChangeAspect="1"/>
          </p:cNvPicPr>
          <p:nvPr/>
        </p:nvPicPr>
        <p:blipFill>
          <a:blip r:embed="rId5"/>
          <a:stretch>
            <a:fillRect/>
          </a:stretch>
        </p:blipFill>
        <p:spPr>
          <a:xfrm>
            <a:off x="3328416" y="3017520"/>
            <a:ext cx="365760" cy="365760"/>
          </a:xfrm>
          <a:prstGeom prst="rect">
            <a:avLst/>
          </a:prstGeom>
        </p:spPr>
      </p:pic>
      <p:sp>
        <p:nvSpPr>
          <p:cNvPr id="22" name="TextBox 21"/>
          <p:cNvSpPr txBox="1"/>
          <p:nvPr/>
        </p:nvSpPr>
        <p:spPr>
          <a:xfrm>
            <a:off x="3803904" y="2980944"/>
            <a:ext cx="3758184" cy="219456"/>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THE HANDS</a:t>
            </a:r>
          </a:p>
        </p:txBody>
      </p:sp>
      <p:sp>
        <p:nvSpPr>
          <p:cNvPr id="23" name="TextBox 22"/>
          <p:cNvSpPr txBox="1"/>
          <p:nvPr/>
        </p:nvSpPr>
        <p:spPr>
          <a:xfrm>
            <a:off x="3803904" y="3200400"/>
            <a:ext cx="3758184"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Everything Riley is approved to use</a:t>
            </a:r>
          </a:p>
        </p:txBody>
      </p:sp>
      <p:sp>
        <p:nvSpPr>
          <p:cNvPr id="24" name="TextBox 23"/>
          <p:cNvSpPr txBox="1"/>
          <p:nvPr/>
        </p:nvSpPr>
        <p:spPr>
          <a:xfrm>
            <a:off x="3328416" y="3584448"/>
            <a:ext cx="1828800" cy="182880"/>
          </a:xfrm>
          <a:prstGeom prst="rect">
            <a:avLst/>
          </a:prstGeom>
          <a:noFill/>
        </p:spPr>
        <p:txBody>
          <a:bodyPr wrap="square" lIns="0" tIns="0" rIns="0" bIns="0" anchor="t">
            <a:noAutofit/>
          </a:bodyPr>
          <a:lstStyle/>
          <a:p>
            <a:pPr algn="l">
              <a:spcAft>
                <a:spcPts val="0"/>
              </a:spcAft>
            </a:pPr>
            <a:r>
              <a:rPr sz="900" b="1" i="0" spc="80">
                <a:solidFill>
                  <a:srgbClr val="D31145"/>
                </a:solidFill>
                <a:latin typeface="Arial"/>
              </a:rPr>
              <a:t>UNIQUE TO AIA</a:t>
            </a:r>
          </a:p>
        </p:txBody>
      </p:sp>
      <p:sp>
        <p:nvSpPr>
          <p:cNvPr id="25" name="Rounded Rectangle 24"/>
          <p:cNvSpPr/>
          <p:nvPr/>
        </p:nvSpPr>
        <p:spPr>
          <a:xfrm>
            <a:off x="3328416" y="3767328"/>
            <a:ext cx="1338072" cy="402336"/>
          </a:xfrm>
          <a:prstGeom prst="roundRect">
            <a:avLst>
              <a:gd name="adj" fmla="val 13636"/>
            </a:avLst>
          </a:prstGeom>
          <a:solidFill>
            <a:srgbClr val="D31145"/>
          </a:solidFill>
          <a:ln>
            <a:noFill/>
          </a:ln>
        </p:spPr>
        <p:txBody>
          <a:bodyPr rtlCol="0" anchor="ctr" wrap="square" lIns="27432" tIns="27432" rIns="27432" bIns="27432">
            <a:noAutofit/>
          </a:bodyPr>
          <a:lstStyle/>
          <a:p>
            <a:pPr algn="ctr">
              <a:lnSpc>
                <a:spcPct val="90000"/>
              </a:lnSpc>
              <a:spcAft>
                <a:spcPts val="0"/>
              </a:spcAft>
            </a:pPr>
            <a:r>
              <a:rPr sz="1050" b="1" i="0">
                <a:solidFill>
                  <a:srgbClr val="FFFFFF"/>
                </a:solidFill>
                <a:latin typeface="Arial"/>
              </a:rPr>
              <a:t>AIA data and documents</a:t>
            </a:r>
          </a:p>
        </p:txBody>
      </p:sp>
      <p:sp>
        <p:nvSpPr>
          <p:cNvPr id="26" name="Rounded Rectangle 25"/>
          <p:cNvSpPr/>
          <p:nvPr/>
        </p:nvSpPr>
        <p:spPr>
          <a:xfrm>
            <a:off x="4739640" y="3767328"/>
            <a:ext cx="1338072" cy="402336"/>
          </a:xfrm>
          <a:prstGeom prst="roundRect">
            <a:avLst>
              <a:gd name="adj" fmla="val 13636"/>
            </a:avLst>
          </a:prstGeom>
          <a:solidFill>
            <a:srgbClr val="D31145"/>
          </a:solidFill>
          <a:ln>
            <a:noFill/>
          </a:ln>
        </p:spPr>
        <p:txBody>
          <a:bodyPr rtlCol="0" anchor="ctr" wrap="square" lIns="27432" tIns="27432" rIns="27432" bIns="27432">
            <a:noAutofit/>
          </a:bodyPr>
          <a:lstStyle/>
          <a:p>
            <a:pPr algn="ctr">
              <a:lnSpc>
                <a:spcPct val="90000"/>
              </a:lnSpc>
              <a:spcAft>
                <a:spcPts val="0"/>
              </a:spcAft>
            </a:pPr>
            <a:r>
              <a:rPr sz="1050" b="1" i="0">
                <a:solidFill>
                  <a:srgbClr val="FFFFFF"/>
                </a:solidFill>
                <a:latin typeface="Arial"/>
              </a:rPr>
              <a:t>AIA systems</a:t>
            </a:r>
          </a:p>
        </p:txBody>
      </p:sp>
      <p:sp>
        <p:nvSpPr>
          <p:cNvPr id="27" name="Rounded Rectangle 26"/>
          <p:cNvSpPr/>
          <p:nvPr/>
        </p:nvSpPr>
        <p:spPr>
          <a:xfrm>
            <a:off x="6150864" y="3767328"/>
            <a:ext cx="1338072" cy="402336"/>
          </a:xfrm>
          <a:prstGeom prst="roundRect">
            <a:avLst>
              <a:gd name="adj" fmla="val 13636"/>
            </a:avLst>
          </a:prstGeom>
          <a:solidFill>
            <a:srgbClr val="D31145"/>
          </a:solidFill>
          <a:ln>
            <a:noFill/>
          </a:ln>
        </p:spPr>
        <p:txBody>
          <a:bodyPr rtlCol="0" anchor="ctr" wrap="square" lIns="27432" tIns="27432" rIns="27432" bIns="27432">
            <a:noAutofit/>
          </a:bodyPr>
          <a:lstStyle/>
          <a:p>
            <a:pPr algn="ctr">
              <a:lnSpc>
                <a:spcPct val="90000"/>
              </a:lnSpc>
              <a:spcAft>
                <a:spcPts val="0"/>
              </a:spcAft>
            </a:pPr>
            <a:r>
              <a:rPr sz="1050" b="1" i="0">
                <a:solidFill>
                  <a:srgbClr val="FFFFFF"/>
                </a:solidFill>
                <a:latin typeface="Arial"/>
              </a:rPr>
              <a:t>AIA’s internal AI tools</a:t>
            </a:r>
          </a:p>
        </p:txBody>
      </p:sp>
      <p:sp>
        <p:nvSpPr>
          <p:cNvPr id="28" name="TextBox 27"/>
          <p:cNvSpPr txBox="1"/>
          <p:nvPr/>
        </p:nvSpPr>
        <p:spPr>
          <a:xfrm>
            <a:off x="3328416" y="4215384"/>
            <a:ext cx="2011680" cy="182880"/>
          </a:xfrm>
          <a:prstGeom prst="rect">
            <a:avLst/>
          </a:prstGeom>
          <a:noFill/>
        </p:spPr>
        <p:txBody>
          <a:bodyPr wrap="square" lIns="0" tIns="0" rIns="0" bIns="0" anchor="t">
            <a:noAutofit/>
          </a:bodyPr>
          <a:lstStyle/>
          <a:p>
            <a:pPr algn="l">
              <a:spcAft>
                <a:spcPts val="0"/>
              </a:spcAft>
            </a:pPr>
            <a:r>
              <a:rPr sz="900" b="1" i="0" spc="80">
                <a:solidFill>
                  <a:srgbClr val="5F6770"/>
                </a:solidFill>
                <a:latin typeface="Arial"/>
              </a:rPr>
              <a:t>STANDARD EQUIPMENT</a:t>
            </a:r>
          </a:p>
        </p:txBody>
      </p:sp>
      <p:sp>
        <p:nvSpPr>
          <p:cNvPr id="29" name="Rounded Rectangle 28"/>
          <p:cNvSpPr/>
          <p:nvPr/>
        </p:nvSpPr>
        <p:spPr>
          <a:xfrm>
            <a:off x="3328416" y="4233672"/>
            <a:ext cx="2043684" cy="274320"/>
          </a:xfrm>
          <a:prstGeom prst="roundRect">
            <a:avLst>
              <a:gd name="adj" fmla="val 2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950" b="0" i="0">
                <a:solidFill>
                  <a:srgbClr val="5F6770"/>
                </a:solidFill>
                <a:latin typeface="Arial"/>
              </a:rPr>
              <a:t>Microsoft 365: Outlook, Teams, files</a:t>
            </a:r>
          </a:p>
        </p:txBody>
      </p:sp>
      <p:sp>
        <p:nvSpPr>
          <p:cNvPr id="30" name="Rounded Rectangle 29"/>
          <p:cNvSpPr/>
          <p:nvPr/>
        </p:nvSpPr>
        <p:spPr>
          <a:xfrm>
            <a:off x="5445252" y="4233672"/>
            <a:ext cx="2043684" cy="274320"/>
          </a:xfrm>
          <a:prstGeom prst="roundRect">
            <a:avLst>
              <a:gd name="adj" fmla="val 2000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950" b="0" i="0">
                <a:solidFill>
                  <a:srgbClr val="5F6770"/>
                </a:solidFill>
                <a:latin typeface="Arial"/>
              </a:rPr>
              <a:t>Approved external information</a:t>
            </a:r>
          </a:p>
        </p:txBody>
      </p:sp>
      <p:sp>
        <p:nvSpPr>
          <p:cNvPr id="31" name="Rounded Rectangle 30"/>
          <p:cNvSpPr/>
          <p:nvPr/>
        </p:nvSpPr>
        <p:spPr>
          <a:xfrm>
            <a:off x="356616" y="4846320"/>
            <a:ext cx="7498080" cy="804672"/>
          </a:xfrm>
          <a:prstGeom prst="roundRect">
            <a:avLst>
              <a:gd name="adj" fmla="val 11363"/>
            </a:avLst>
          </a:prstGeom>
          <a:solidFill>
            <a:srgbClr val="F4F1EF"/>
          </a:solidFill>
          <a:ln w="9525">
            <a:solidFill>
              <a:srgbClr val="DDD6D0"/>
            </a:solidFill>
          </a:ln>
        </p:spPr>
        <p:txBody>
          <a:bodyPr rtlCol="0" anchor="ctr"/>
          <a:lstStyle/>
          <a:p>
            <a:pPr algn="ctr"/>
          </a:p>
        </p:txBody>
      </p:sp>
      <p:pic>
        <p:nvPicPr>
          <p:cNvPr id="32" name="Picture 31" descr="LuShieldCheck_c.png"/>
          <p:cNvPicPr>
            <a:picLocks noChangeAspect="1"/>
          </p:cNvPicPr>
          <p:nvPr/>
        </p:nvPicPr>
        <p:blipFill>
          <a:blip r:embed="rId6"/>
          <a:stretch>
            <a:fillRect/>
          </a:stretch>
        </p:blipFill>
        <p:spPr>
          <a:xfrm>
            <a:off x="539496" y="4937760"/>
            <a:ext cx="237744" cy="237744"/>
          </a:xfrm>
          <a:prstGeom prst="rect">
            <a:avLst/>
          </a:prstGeom>
        </p:spPr>
      </p:pic>
      <p:sp>
        <p:nvSpPr>
          <p:cNvPr id="33" name="TextBox 32"/>
          <p:cNvSpPr txBox="1"/>
          <p:nvPr/>
        </p:nvSpPr>
        <p:spPr>
          <a:xfrm>
            <a:off x="859536" y="4919472"/>
            <a:ext cx="5486400" cy="274320"/>
          </a:xfrm>
          <a:prstGeom prst="rect">
            <a:avLst/>
          </a:prstGeom>
          <a:noFill/>
        </p:spPr>
        <p:txBody>
          <a:bodyPr wrap="square" lIns="0" tIns="0" rIns="0" bIns="0" anchor="ctr">
            <a:noAutofit/>
          </a:bodyPr>
          <a:lstStyle/>
          <a:p>
            <a:pPr algn="l">
              <a:spcAft>
                <a:spcPts val="0"/>
              </a:spcAft>
            </a:pPr>
            <a:r>
              <a:rPr sz="1050" b="1" i="0" spc="100">
                <a:solidFill>
                  <a:srgbClr val="5F6770"/>
                </a:solidFill>
                <a:latin typeface="Arial"/>
              </a:rPr>
              <a:t>AROUND IT: AIA’S RULES</a:t>
            </a:r>
          </a:p>
        </p:txBody>
      </p:sp>
      <p:sp>
        <p:nvSpPr>
          <p:cNvPr id="34" name="Rounded Rectangle 33"/>
          <p:cNvSpPr/>
          <p:nvPr/>
        </p:nvSpPr>
        <p:spPr>
          <a:xfrm>
            <a:off x="539496" y="5257800"/>
            <a:ext cx="1794605" cy="292608"/>
          </a:xfrm>
          <a:prstGeom prst="roundRect">
            <a:avLst>
              <a:gd name="adj" fmla="val 1875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Employee permissions</a:t>
            </a:r>
          </a:p>
        </p:txBody>
      </p:sp>
      <p:sp>
        <p:nvSpPr>
          <p:cNvPr id="35" name="Rounded Rectangle 34"/>
          <p:cNvSpPr/>
          <p:nvPr/>
        </p:nvSpPr>
        <p:spPr>
          <a:xfrm>
            <a:off x="2324439" y="5257800"/>
            <a:ext cx="2119408" cy="292608"/>
          </a:xfrm>
          <a:prstGeom prst="roundRect">
            <a:avLst>
              <a:gd name="adj" fmla="val 1875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Approval before final action</a:t>
            </a:r>
          </a:p>
        </p:txBody>
      </p:sp>
      <p:sp>
        <p:nvSpPr>
          <p:cNvPr id="36" name="Rounded Rectangle 35"/>
          <p:cNvSpPr/>
          <p:nvPr/>
        </p:nvSpPr>
        <p:spPr>
          <a:xfrm>
            <a:off x="4434184" y="5257800"/>
            <a:ext cx="1740122" cy="292608"/>
          </a:xfrm>
          <a:prstGeom prst="roundRect">
            <a:avLst>
              <a:gd name="adj" fmla="val 1875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An appropriate record</a:t>
            </a:r>
          </a:p>
        </p:txBody>
      </p:sp>
      <p:sp>
        <p:nvSpPr>
          <p:cNvPr id="37" name="Rounded Rectangle 36"/>
          <p:cNvSpPr/>
          <p:nvPr/>
        </p:nvSpPr>
        <p:spPr>
          <a:xfrm>
            <a:off x="6164644" y="5257800"/>
            <a:ext cx="1507172" cy="292608"/>
          </a:xfrm>
          <a:prstGeom prst="roundRect">
            <a:avLst>
              <a:gd name="adj" fmla="val 18750"/>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Governed learning</a:t>
            </a:r>
          </a:p>
        </p:txBody>
      </p:sp>
      <p:sp>
        <p:nvSpPr>
          <p:cNvPr id="38" name="TextBox 37"/>
          <p:cNvSpPr txBox="1"/>
          <p:nvPr/>
        </p:nvSpPr>
        <p:spPr>
          <a:xfrm>
            <a:off x="8183880" y="1737360"/>
            <a:ext cx="3648456" cy="365760"/>
          </a:xfrm>
          <a:prstGeom prst="rect">
            <a:avLst/>
          </a:prstGeom>
          <a:noFill/>
        </p:spPr>
        <p:txBody>
          <a:bodyPr wrap="square" lIns="0" tIns="0" rIns="0" bIns="0" anchor="t">
            <a:noAutofit/>
          </a:bodyPr>
          <a:lstStyle/>
          <a:p>
            <a:pPr algn="l">
              <a:spcAft>
                <a:spcPts val="0"/>
              </a:spcAft>
            </a:pPr>
            <a:r>
              <a:rPr sz="1700" b="1" i="0">
                <a:solidFill>
                  <a:srgbClr val="D31145"/>
                </a:solidFill>
                <a:latin typeface="Arial"/>
              </a:rPr>
              <a:t>Copilot could be the engine.</a:t>
            </a:r>
          </a:p>
        </p:txBody>
      </p:sp>
      <p:sp>
        <p:nvSpPr>
          <p:cNvPr id="39" name="TextBox 38"/>
          <p:cNvSpPr txBox="1"/>
          <p:nvPr/>
        </p:nvSpPr>
        <p:spPr>
          <a:xfrm>
            <a:off x="8183880" y="2121408"/>
            <a:ext cx="3648456" cy="5029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Riley needs no model of its own, and does not compete with Copilot.</a:t>
            </a:r>
          </a:p>
        </p:txBody>
      </p:sp>
      <p:sp>
        <p:nvSpPr>
          <p:cNvPr id="40" name="TextBox 39"/>
          <p:cNvSpPr txBox="1"/>
          <p:nvPr/>
        </p:nvSpPr>
        <p:spPr>
          <a:xfrm>
            <a:off x="8183880" y="2743200"/>
            <a:ext cx="3648456"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WHAT MAKES RILEY DIFFERENT</a:t>
            </a:r>
          </a:p>
        </p:txBody>
      </p:sp>
      <p:sp>
        <p:nvSpPr>
          <p:cNvPr id="41" name="Oval 40"/>
          <p:cNvSpPr/>
          <p:nvPr/>
        </p:nvSpPr>
        <p:spPr>
          <a:xfrm>
            <a:off x="8183880" y="3081528"/>
            <a:ext cx="292608" cy="292608"/>
          </a:xfrm>
          <a:prstGeom prst="ellipse">
            <a:avLst/>
          </a:prstGeom>
          <a:solidFill>
            <a:srgbClr val="D31145"/>
          </a:solidFill>
          <a:ln>
            <a:noFill/>
          </a:ln>
        </p:spPr>
        <p:txBody>
          <a:bodyPr rtlCol="0" anchor="ctr" wrap="square" lIns="0" tIns="0" rIns="0" bIns="0">
            <a:noAutofit/>
          </a:bodyPr>
          <a:lstStyle/>
          <a:p>
            <a:pPr algn="ctr">
              <a:spcAft>
                <a:spcPts val="0"/>
              </a:spcAft>
            </a:pPr>
            <a:r>
              <a:rPr sz="1100" b="1" i="0">
                <a:solidFill>
                  <a:srgbClr val="FFFFFF"/>
                </a:solidFill>
                <a:latin typeface="Arial"/>
              </a:rPr>
              <a:t>1</a:t>
            </a:r>
          </a:p>
        </p:txBody>
      </p:sp>
      <p:sp>
        <p:nvSpPr>
          <p:cNvPr id="42" name="TextBox 41"/>
          <p:cNvSpPr txBox="1"/>
          <p:nvPr/>
        </p:nvSpPr>
        <p:spPr>
          <a:xfrm>
            <a:off x="8595360" y="3063240"/>
            <a:ext cx="3236976"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AIA-specific hands</a:t>
            </a:r>
          </a:p>
        </p:txBody>
      </p:sp>
      <p:sp>
        <p:nvSpPr>
          <p:cNvPr id="43" name="TextBox 42"/>
          <p:cNvSpPr txBox="1"/>
          <p:nvPr/>
        </p:nvSpPr>
        <p:spPr>
          <a:xfrm>
            <a:off x="8595360" y="3337560"/>
            <a:ext cx="3236976" cy="54864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AIA data, systems and AI tools a general assistant doesn’t arrive with.</a:t>
            </a:r>
          </a:p>
        </p:txBody>
      </p:sp>
      <p:sp>
        <p:nvSpPr>
          <p:cNvPr id="44" name="Oval 43"/>
          <p:cNvSpPr/>
          <p:nvPr/>
        </p:nvSpPr>
        <p:spPr>
          <a:xfrm>
            <a:off x="8183880" y="3950208"/>
            <a:ext cx="292608" cy="292608"/>
          </a:xfrm>
          <a:prstGeom prst="ellipse">
            <a:avLst/>
          </a:prstGeom>
          <a:solidFill>
            <a:srgbClr val="D31145"/>
          </a:solidFill>
          <a:ln>
            <a:noFill/>
          </a:ln>
        </p:spPr>
        <p:txBody>
          <a:bodyPr rtlCol="0" anchor="ctr" wrap="square" lIns="0" tIns="0" rIns="0" bIns="0">
            <a:noAutofit/>
          </a:bodyPr>
          <a:lstStyle/>
          <a:p>
            <a:pPr algn="ctr">
              <a:spcAft>
                <a:spcPts val="0"/>
              </a:spcAft>
            </a:pPr>
            <a:r>
              <a:rPr sz="1100" b="1" i="0">
                <a:solidFill>
                  <a:srgbClr val="FFFFFF"/>
                </a:solidFill>
                <a:latin typeface="Arial"/>
              </a:rPr>
              <a:t>2</a:t>
            </a:r>
          </a:p>
        </p:txBody>
      </p:sp>
      <p:sp>
        <p:nvSpPr>
          <p:cNvPr id="45" name="TextBox 44"/>
          <p:cNvSpPr txBox="1"/>
          <p:nvPr/>
        </p:nvSpPr>
        <p:spPr>
          <a:xfrm>
            <a:off x="8595360" y="3931920"/>
            <a:ext cx="3236976"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Whole-outcome execution</a:t>
            </a:r>
          </a:p>
        </p:txBody>
      </p:sp>
      <p:sp>
        <p:nvSpPr>
          <p:cNvPr id="46" name="TextBox 45"/>
          <p:cNvSpPr txBox="1"/>
          <p:nvPr/>
        </p:nvSpPr>
        <p:spPr>
          <a:xfrm>
            <a:off x="8595360" y="4206240"/>
            <a:ext cx="3236976" cy="54864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The whole chain of work, not one summary or draft.</a:t>
            </a:r>
          </a:p>
        </p:txBody>
      </p:sp>
      <p:sp>
        <p:nvSpPr>
          <p:cNvPr id="47" name="Oval 46"/>
          <p:cNvSpPr/>
          <p:nvPr/>
        </p:nvSpPr>
        <p:spPr>
          <a:xfrm>
            <a:off x="8183880" y="4818888"/>
            <a:ext cx="292608" cy="292608"/>
          </a:xfrm>
          <a:prstGeom prst="ellipse">
            <a:avLst/>
          </a:prstGeom>
          <a:solidFill>
            <a:srgbClr val="D31145"/>
          </a:solidFill>
          <a:ln>
            <a:noFill/>
          </a:ln>
        </p:spPr>
        <p:txBody>
          <a:bodyPr rtlCol="0" anchor="ctr" wrap="square" lIns="0" tIns="0" rIns="0" bIns="0">
            <a:noAutofit/>
          </a:bodyPr>
          <a:lstStyle/>
          <a:p>
            <a:pPr algn="ctr">
              <a:spcAft>
                <a:spcPts val="0"/>
              </a:spcAft>
            </a:pPr>
            <a:r>
              <a:rPr sz="1100" b="1" i="0">
                <a:solidFill>
                  <a:srgbClr val="FFFFFF"/>
                </a:solidFill>
                <a:latin typeface="Arial"/>
              </a:rPr>
              <a:t>3</a:t>
            </a:r>
          </a:p>
        </p:txBody>
      </p:sp>
      <p:sp>
        <p:nvSpPr>
          <p:cNvPr id="48" name="TextBox 47"/>
          <p:cNvSpPr txBox="1"/>
          <p:nvPr/>
        </p:nvSpPr>
        <p:spPr>
          <a:xfrm>
            <a:off x="8595360" y="4800600"/>
            <a:ext cx="3236976"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AIA’s rules</a:t>
            </a:r>
          </a:p>
        </p:txBody>
      </p:sp>
      <p:sp>
        <p:nvSpPr>
          <p:cNvPr id="49" name="TextBox 48"/>
          <p:cNvSpPr txBox="1"/>
          <p:nvPr/>
        </p:nvSpPr>
        <p:spPr>
          <a:xfrm>
            <a:off x="8595360" y="5074920"/>
            <a:ext cx="3236976" cy="548640"/>
          </a:xfrm>
          <a:prstGeom prst="rect">
            <a:avLst/>
          </a:prstGeom>
          <a:noFill/>
        </p:spPr>
        <p:txBody>
          <a:bodyPr wrap="square" lIns="0" tIns="0" rIns="0" bIns="0" anchor="t">
            <a:noAutofit/>
          </a:bodyPr>
          <a:lstStyle/>
          <a:p>
            <a:pPr algn="l">
              <a:spcAft>
                <a:spcPts val="0"/>
              </a:spcAft>
            </a:pPr>
            <a:r>
              <a:rPr sz="1150" b="0" i="0">
                <a:solidFill>
                  <a:srgbClr val="5F6770"/>
                </a:solidFill>
                <a:latin typeface="Arial"/>
              </a:rPr>
              <a:t>Permissions, approval, records and governed learning on every piece of work.</a:t>
            </a:r>
          </a:p>
        </p:txBody>
      </p:sp>
      <p:sp>
        <p:nvSpPr>
          <p:cNvPr id="50" name="Slide Number Placeholder"/>
          <p:cNvSpPr>
            <a:spLocks noGrp="1"/>
          </p:cNvSpPr>
          <p:nvPr>
            <p:ph type="sldNum" sz="quarter" idx="4"/>
          </p:nvPr>
        </p:nvSpPr>
        <p:spPr/>
        <p:txBody>
          <a:bodyPr/>
          <a:lstStyle/>
          <a:p>
            <a:fld id="{18A41853-EF22-D446-BDBC-A7CF3FE93503}" type="slidenum">
              <a:rPr lang="en-US"/>
              <a:t>3</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request. Riley does the chain. You approve.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HOW RILEY WORKS  ·  ILLUSTRATIVE EXAMPLE</a:t>
            </a:r>
          </a:p>
        </p:txBody>
      </p:sp>
      <p:sp>
        <p:nvSpPr>
          <p:cNvPr id="6" name="Rounded Rectangle 5"/>
          <p:cNvSpPr/>
          <p:nvPr/>
        </p:nvSpPr>
        <p:spPr>
          <a:xfrm>
            <a:off x="356616" y="1298448"/>
            <a:ext cx="11475720" cy="658368"/>
          </a:xfrm>
          <a:prstGeom prst="roundRect">
            <a:avLst>
              <a:gd name="adj" fmla="val 13888"/>
            </a:avLst>
          </a:prstGeom>
          <a:solidFill>
            <a:srgbClr val="F4F1EF"/>
          </a:solidFill>
          <a:ln>
            <a:noFill/>
          </a:ln>
        </p:spPr>
        <p:txBody>
          <a:bodyPr rtlCol="0" anchor="ctr"/>
          <a:lstStyle/>
          <a:p>
            <a:pPr algn="ctr"/>
          </a:p>
        </p:txBody>
      </p:sp>
      <p:pic>
        <p:nvPicPr>
          <p:cNvPr id="7" name="Picture 6" descr="LuMessagesSquare_c.png"/>
          <p:cNvPicPr>
            <a:picLocks noChangeAspect="1"/>
          </p:cNvPicPr>
          <p:nvPr/>
        </p:nvPicPr>
        <p:blipFill>
          <a:blip r:embed="rId3"/>
          <a:stretch>
            <a:fillRect/>
          </a:stretch>
        </p:blipFill>
        <p:spPr>
          <a:xfrm>
            <a:off x="548640" y="1481328"/>
            <a:ext cx="292608" cy="292608"/>
          </a:xfrm>
          <a:prstGeom prst="rect">
            <a:avLst/>
          </a:prstGeom>
        </p:spPr>
      </p:pic>
      <p:sp>
        <p:nvSpPr>
          <p:cNvPr id="8" name="TextBox 7"/>
          <p:cNvSpPr txBox="1"/>
          <p:nvPr/>
        </p:nvSpPr>
        <p:spPr>
          <a:xfrm>
            <a:off x="1005840" y="1298448"/>
            <a:ext cx="8412480" cy="658368"/>
          </a:xfrm>
          <a:prstGeom prst="rect">
            <a:avLst/>
          </a:prstGeom>
          <a:noFill/>
        </p:spPr>
        <p:txBody>
          <a:bodyPr wrap="square" lIns="0" tIns="0" rIns="0" bIns="0" anchor="ctr">
            <a:noAutofit/>
          </a:bodyPr>
          <a:lstStyle/>
          <a:p>
            <a:pPr algn="l">
              <a:lnSpc>
                <a:spcPct val="98000"/>
              </a:lnSpc>
              <a:spcAft>
                <a:spcPts val="0"/>
              </a:spcAft>
            </a:pPr>
            <a:r>
              <a:rPr sz="1300" b="0" i="1">
                <a:solidFill>
                  <a:srgbClr val="333D47"/>
                </a:solidFill>
                <a:latin typeface="Arial"/>
              </a:rPr>
              <a:t>“Prepare the quarterly complaints review for Thursday’s management meeting: top issues versus last quarter, likely drivers, what is already being done, and draft slides.”</a:t>
            </a:r>
          </a:p>
        </p:txBody>
      </p:sp>
      <p:sp>
        <p:nvSpPr>
          <p:cNvPr id="9" name="Rounded Rectangle 8"/>
          <p:cNvSpPr/>
          <p:nvPr/>
        </p:nvSpPr>
        <p:spPr>
          <a:xfrm>
            <a:off x="9646920" y="1490472"/>
            <a:ext cx="20116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950" b="1" i="0" spc="50">
                <a:solidFill>
                  <a:srgbClr val="D31145"/>
                </a:solidFill>
                <a:latin typeface="Arial"/>
              </a:rPr>
              <a:t>ILLUSTRATIVE EXAMPLE</a:t>
            </a:r>
          </a:p>
        </p:txBody>
      </p:sp>
      <p:sp>
        <p:nvSpPr>
          <p:cNvPr id="10" name="Rounded Rectangle 9"/>
          <p:cNvSpPr/>
          <p:nvPr/>
        </p:nvSpPr>
        <p:spPr>
          <a:xfrm>
            <a:off x="356616" y="2157984"/>
            <a:ext cx="5614416" cy="548640"/>
          </a:xfrm>
          <a:prstGeom prst="roundRect">
            <a:avLst>
              <a:gd name="adj" fmla="val 13333"/>
            </a:avLst>
          </a:prstGeom>
          <a:solidFill>
            <a:srgbClr val="F4F1EF"/>
          </a:solidFill>
          <a:ln w="12700">
            <a:solidFill>
              <a:srgbClr val="333D47"/>
            </a:solidFill>
          </a:ln>
        </p:spPr>
        <p:txBody>
          <a:bodyPr rtlCol="0" anchor="ctr"/>
          <a:lstStyle/>
          <a:p>
            <a:pPr algn="ctr"/>
          </a:p>
        </p:txBody>
      </p:sp>
      <p:sp>
        <p:nvSpPr>
          <p:cNvPr id="11" name="Oval 10"/>
          <p:cNvSpPr/>
          <p:nvPr/>
        </p:nvSpPr>
        <p:spPr>
          <a:xfrm>
            <a:off x="484632" y="2276856"/>
            <a:ext cx="310896" cy="310896"/>
          </a:xfrm>
          <a:prstGeom prst="ellipse">
            <a:avLst/>
          </a:prstGeom>
          <a:solidFill>
            <a:srgbClr val="333D47"/>
          </a:solidFill>
          <a:ln>
            <a:noFill/>
          </a:ln>
        </p:spPr>
        <p:txBody>
          <a:bodyPr rtlCol="0" anchor="ctr" wrap="square" lIns="0" tIns="0" rIns="0" bIns="0">
            <a:noAutofit/>
          </a:bodyPr>
          <a:lstStyle/>
          <a:p>
            <a:pPr algn="ctr">
              <a:spcAft>
                <a:spcPts val="0"/>
              </a:spcAft>
            </a:pPr>
            <a:r>
              <a:rPr sz="1150" b="1" i="0">
                <a:solidFill>
                  <a:srgbClr val="FFFFFF"/>
                </a:solidFill>
                <a:latin typeface="Arial"/>
              </a:rPr>
              <a:t>1</a:t>
            </a:r>
          </a:p>
        </p:txBody>
      </p:sp>
      <p:sp>
        <p:nvSpPr>
          <p:cNvPr id="12" name="TextBox 11"/>
          <p:cNvSpPr txBox="1"/>
          <p:nvPr/>
        </p:nvSpPr>
        <p:spPr>
          <a:xfrm>
            <a:off x="905256" y="2157984"/>
            <a:ext cx="658368" cy="548640"/>
          </a:xfrm>
          <a:prstGeom prst="rect">
            <a:avLst/>
          </a:prstGeom>
          <a:noFill/>
        </p:spPr>
        <p:txBody>
          <a:bodyPr wrap="square" lIns="0" tIns="0" rIns="0" bIns="0" anchor="ctr">
            <a:noAutofit/>
          </a:bodyPr>
          <a:lstStyle/>
          <a:p>
            <a:pPr algn="l">
              <a:spcAft>
                <a:spcPts val="0"/>
              </a:spcAft>
            </a:pPr>
            <a:r>
              <a:rPr sz="950" b="1" i="0" spc="80">
                <a:solidFill>
                  <a:srgbClr val="333D47"/>
                </a:solidFill>
                <a:latin typeface="Arial"/>
              </a:rPr>
              <a:t>YOU</a:t>
            </a:r>
          </a:p>
        </p:txBody>
      </p:sp>
      <p:sp>
        <p:nvSpPr>
          <p:cNvPr id="13" name="TextBox 12"/>
          <p:cNvSpPr txBox="1"/>
          <p:nvPr/>
        </p:nvSpPr>
        <p:spPr>
          <a:xfrm>
            <a:off x="1545336" y="2157984"/>
            <a:ext cx="4297680" cy="548640"/>
          </a:xfrm>
          <a:prstGeom prst="rect">
            <a:avLst/>
          </a:prstGeom>
          <a:noFill/>
        </p:spPr>
        <p:txBody>
          <a:bodyPr wrap="square" lIns="0" tIns="0" rIns="0" bIns="0" anchor="ctr">
            <a:noAutofit/>
          </a:bodyPr>
          <a:lstStyle/>
          <a:p>
            <a:pPr algn="l">
              <a:lnSpc>
                <a:spcPct val="92000"/>
              </a:lnSpc>
              <a:spcAft>
                <a:spcPts val="0"/>
              </a:spcAft>
            </a:pPr>
            <a:r>
              <a:rPr sz="1250" b="1" i="0">
                <a:solidFill>
                  <a:srgbClr val="333D47"/>
                </a:solidFill>
                <a:latin typeface="Arial"/>
              </a:rPr>
              <a:t>Ask for the outcome in Teams</a:t>
            </a:r>
          </a:p>
        </p:txBody>
      </p:sp>
      <p:sp>
        <p:nvSpPr>
          <p:cNvPr id="14" name="Rounded Rectangle 13"/>
          <p:cNvSpPr/>
          <p:nvPr/>
        </p:nvSpPr>
        <p:spPr>
          <a:xfrm>
            <a:off x="356616" y="2779776"/>
            <a:ext cx="5614416" cy="548640"/>
          </a:xfrm>
          <a:prstGeom prst="roundRect">
            <a:avLst>
              <a:gd name="adj" fmla="val 13333"/>
            </a:avLst>
          </a:prstGeom>
          <a:solidFill>
            <a:srgbClr val="FBE8ED"/>
          </a:solidFill>
          <a:ln>
            <a:noFill/>
          </a:ln>
        </p:spPr>
        <p:txBody>
          <a:bodyPr rtlCol="0" anchor="ctr"/>
          <a:lstStyle/>
          <a:p>
            <a:pPr algn="ctr"/>
          </a:p>
        </p:txBody>
      </p:sp>
      <p:sp>
        <p:nvSpPr>
          <p:cNvPr id="15" name="Oval 14"/>
          <p:cNvSpPr/>
          <p:nvPr/>
        </p:nvSpPr>
        <p:spPr>
          <a:xfrm>
            <a:off x="484632" y="2898648"/>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2</a:t>
            </a:r>
          </a:p>
        </p:txBody>
      </p:sp>
      <p:sp>
        <p:nvSpPr>
          <p:cNvPr id="16" name="TextBox 15"/>
          <p:cNvSpPr txBox="1"/>
          <p:nvPr/>
        </p:nvSpPr>
        <p:spPr>
          <a:xfrm>
            <a:off x="905256" y="2779776"/>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17" name="TextBox 16"/>
          <p:cNvSpPr txBox="1"/>
          <p:nvPr/>
        </p:nvSpPr>
        <p:spPr>
          <a:xfrm>
            <a:off x="1545336" y="2779776"/>
            <a:ext cx="429768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Shows its plan, using only what you can access</a:t>
            </a:r>
          </a:p>
        </p:txBody>
      </p:sp>
      <p:sp>
        <p:nvSpPr>
          <p:cNvPr id="18" name="Rounded Rectangle 17"/>
          <p:cNvSpPr/>
          <p:nvPr/>
        </p:nvSpPr>
        <p:spPr>
          <a:xfrm>
            <a:off x="356616" y="3401568"/>
            <a:ext cx="5614416" cy="548640"/>
          </a:xfrm>
          <a:prstGeom prst="roundRect">
            <a:avLst>
              <a:gd name="adj" fmla="val 13333"/>
            </a:avLst>
          </a:prstGeom>
          <a:solidFill>
            <a:srgbClr val="FBE8ED"/>
          </a:solidFill>
          <a:ln>
            <a:noFill/>
          </a:ln>
        </p:spPr>
        <p:txBody>
          <a:bodyPr rtlCol="0" anchor="ctr"/>
          <a:lstStyle/>
          <a:p>
            <a:pPr algn="ctr"/>
          </a:p>
        </p:txBody>
      </p:sp>
      <p:sp>
        <p:nvSpPr>
          <p:cNvPr id="19" name="Oval 18"/>
          <p:cNvSpPr/>
          <p:nvPr/>
        </p:nvSpPr>
        <p:spPr>
          <a:xfrm>
            <a:off x="484632" y="3520440"/>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3</a:t>
            </a:r>
          </a:p>
        </p:txBody>
      </p:sp>
      <p:sp>
        <p:nvSpPr>
          <p:cNvPr id="20" name="TextBox 19"/>
          <p:cNvSpPr txBox="1"/>
          <p:nvPr/>
        </p:nvSpPr>
        <p:spPr>
          <a:xfrm>
            <a:off x="905256" y="3401568"/>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21" name="TextBox 20"/>
          <p:cNvSpPr txBox="1"/>
          <p:nvPr/>
        </p:nvSpPr>
        <p:spPr>
          <a:xfrm>
            <a:off x="1545336" y="3401568"/>
            <a:ext cx="306324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Pulls complaint records, this quarter and last</a:t>
            </a:r>
          </a:p>
        </p:txBody>
      </p:sp>
      <p:sp>
        <p:nvSpPr>
          <p:cNvPr id="22" name="TextBox 21"/>
          <p:cNvSpPr txBox="1"/>
          <p:nvPr/>
        </p:nvSpPr>
        <p:spPr>
          <a:xfrm>
            <a:off x="4517136" y="3401568"/>
            <a:ext cx="1316736" cy="54864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AIA data</a:t>
            </a:r>
          </a:p>
        </p:txBody>
      </p:sp>
      <p:sp>
        <p:nvSpPr>
          <p:cNvPr id="23" name="Rounded Rectangle 22"/>
          <p:cNvSpPr/>
          <p:nvPr/>
        </p:nvSpPr>
        <p:spPr>
          <a:xfrm>
            <a:off x="356616" y="4023360"/>
            <a:ext cx="5614416" cy="548640"/>
          </a:xfrm>
          <a:prstGeom prst="roundRect">
            <a:avLst>
              <a:gd name="adj" fmla="val 13333"/>
            </a:avLst>
          </a:prstGeom>
          <a:solidFill>
            <a:srgbClr val="FBE8ED"/>
          </a:solidFill>
          <a:ln>
            <a:noFill/>
          </a:ln>
        </p:spPr>
        <p:txBody>
          <a:bodyPr rtlCol="0" anchor="ctr"/>
          <a:lstStyle/>
          <a:p>
            <a:pPr algn="ctr"/>
          </a:p>
        </p:txBody>
      </p:sp>
      <p:sp>
        <p:nvSpPr>
          <p:cNvPr id="24" name="Oval 23"/>
          <p:cNvSpPr/>
          <p:nvPr/>
        </p:nvSpPr>
        <p:spPr>
          <a:xfrm>
            <a:off x="484632" y="4142232"/>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4</a:t>
            </a:r>
          </a:p>
        </p:txBody>
      </p:sp>
      <p:sp>
        <p:nvSpPr>
          <p:cNvPr id="25" name="TextBox 24"/>
          <p:cNvSpPr txBox="1"/>
          <p:nvPr/>
        </p:nvSpPr>
        <p:spPr>
          <a:xfrm>
            <a:off x="905256" y="4023360"/>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26" name="TextBox 25"/>
          <p:cNvSpPr txBox="1"/>
          <p:nvPr/>
        </p:nvSpPr>
        <p:spPr>
          <a:xfrm>
            <a:off x="1545336" y="4023360"/>
            <a:ext cx="306324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Groups the complaints into themes</a:t>
            </a:r>
          </a:p>
        </p:txBody>
      </p:sp>
      <p:sp>
        <p:nvSpPr>
          <p:cNvPr id="27" name="TextBox 26"/>
          <p:cNvSpPr txBox="1"/>
          <p:nvPr/>
        </p:nvSpPr>
        <p:spPr>
          <a:xfrm>
            <a:off x="4517136" y="4023360"/>
            <a:ext cx="1316736" cy="54864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Internal AI tool</a:t>
            </a:r>
          </a:p>
        </p:txBody>
      </p:sp>
      <p:sp>
        <p:nvSpPr>
          <p:cNvPr id="28" name="Rounded Rectangle 27"/>
          <p:cNvSpPr/>
          <p:nvPr/>
        </p:nvSpPr>
        <p:spPr>
          <a:xfrm>
            <a:off x="356616" y="4645152"/>
            <a:ext cx="5614416" cy="548640"/>
          </a:xfrm>
          <a:prstGeom prst="roundRect">
            <a:avLst>
              <a:gd name="adj" fmla="val 13333"/>
            </a:avLst>
          </a:prstGeom>
          <a:solidFill>
            <a:srgbClr val="FBE8ED"/>
          </a:solidFill>
          <a:ln>
            <a:noFill/>
          </a:ln>
        </p:spPr>
        <p:txBody>
          <a:bodyPr rtlCol="0" anchor="ctr"/>
          <a:lstStyle/>
          <a:p>
            <a:pPr algn="ctr"/>
          </a:p>
        </p:txBody>
      </p:sp>
      <p:sp>
        <p:nvSpPr>
          <p:cNvPr id="29" name="Oval 28"/>
          <p:cNvSpPr/>
          <p:nvPr/>
        </p:nvSpPr>
        <p:spPr>
          <a:xfrm>
            <a:off x="484632" y="4764024"/>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5</a:t>
            </a:r>
          </a:p>
        </p:txBody>
      </p:sp>
      <p:sp>
        <p:nvSpPr>
          <p:cNvPr id="30" name="TextBox 29"/>
          <p:cNvSpPr txBox="1"/>
          <p:nvPr/>
        </p:nvSpPr>
        <p:spPr>
          <a:xfrm>
            <a:off x="905256" y="4645152"/>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31" name="TextBox 30"/>
          <p:cNvSpPr txBox="1"/>
          <p:nvPr/>
        </p:nvSpPr>
        <p:spPr>
          <a:xfrm>
            <a:off x="1545336" y="4645152"/>
            <a:ext cx="306324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Checks the previous review and procedures</a:t>
            </a:r>
          </a:p>
        </p:txBody>
      </p:sp>
      <p:sp>
        <p:nvSpPr>
          <p:cNvPr id="32" name="TextBox 31"/>
          <p:cNvSpPr txBox="1"/>
          <p:nvPr/>
        </p:nvSpPr>
        <p:spPr>
          <a:xfrm>
            <a:off x="4517136" y="4645152"/>
            <a:ext cx="1316736" cy="54864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AIA documents</a:t>
            </a:r>
          </a:p>
        </p:txBody>
      </p:sp>
      <p:sp>
        <p:nvSpPr>
          <p:cNvPr id="33" name="Rounded Rectangle 32"/>
          <p:cNvSpPr/>
          <p:nvPr/>
        </p:nvSpPr>
        <p:spPr>
          <a:xfrm>
            <a:off x="6217920" y="2157984"/>
            <a:ext cx="5614416" cy="548640"/>
          </a:xfrm>
          <a:prstGeom prst="roundRect">
            <a:avLst>
              <a:gd name="adj" fmla="val 13333"/>
            </a:avLst>
          </a:prstGeom>
          <a:solidFill>
            <a:srgbClr val="FBE8ED"/>
          </a:solidFill>
          <a:ln>
            <a:noFill/>
          </a:ln>
        </p:spPr>
        <p:txBody>
          <a:bodyPr rtlCol="0" anchor="ctr"/>
          <a:lstStyle/>
          <a:p>
            <a:pPr algn="ctr"/>
          </a:p>
        </p:txBody>
      </p:sp>
      <p:sp>
        <p:nvSpPr>
          <p:cNvPr id="34" name="Oval 33"/>
          <p:cNvSpPr/>
          <p:nvPr/>
        </p:nvSpPr>
        <p:spPr>
          <a:xfrm>
            <a:off x="6345936" y="2276856"/>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6</a:t>
            </a:r>
          </a:p>
        </p:txBody>
      </p:sp>
      <p:sp>
        <p:nvSpPr>
          <p:cNvPr id="35" name="TextBox 34"/>
          <p:cNvSpPr txBox="1"/>
          <p:nvPr/>
        </p:nvSpPr>
        <p:spPr>
          <a:xfrm>
            <a:off x="6766560" y="2157984"/>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36" name="TextBox 35"/>
          <p:cNvSpPr txBox="1"/>
          <p:nvPr/>
        </p:nvSpPr>
        <p:spPr>
          <a:xfrm>
            <a:off x="7406640" y="2157984"/>
            <a:ext cx="306324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Checks relevant Outlook and Teams updates</a:t>
            </a:r>
          </a:p>
        </p:txBody>
      </p:sp>
      <p:sp>
        <p:nvSpPr>
          <p:cNvPr id="37" name="TextBox 36"/>
          <p:cNvSpPr txBox="1"/>
          <p:nvPr/>
        </p:nvSpPr>
        <p:spPr>
          <a:xfrm>
            <a:off x="10378440" y="2157984"/>
            <a:ext cx="1316736" cy="54864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Microsoft 365</a:t>
            </a:r>
          </a:p>
        </p:txBody>
      </p:sp>
      <p:sp>
        <p:nvSpPr>
          <p:cNvPr id="38" name="Rounded Rectangle 37"/>
          <p:cNvSpPr/>
          <p:nvPr/>
        </p:nvSpPr>
        <p:spPr>
          <a:xfrm>
            <a:off x="6217920" y="2779776"/>
            <a:ext cx="5614416" cy="548640"/>
          </a:xfrm>
          <a:prstGeom prst="roundRect">
            <a:avLst>
              <a:gd name="adj" fmla="val 13333"/>
            </a:avLst>
          </a:prstGeom>
          <a:solidFill>
            <a:srgbClr val="FBE8ED"/>
          </a:solidFill>
          <a:ln>
            <a:noFill/>
          </a:ln>
        </p:spPr>
        <p:txBody>
          <a:bodyPr rtlCol="0" anchor="ctr"/>
          <a:lstStyle/>
          <a:p>
            <a:pPr algn="ctr"/>
          </a:p>
        </p:txBody>
      </p:sp>
      <p:sp>
        <p:nvSpPr>
          <p:cNvPr id="39" name="Oval 38"/>
          <p:cNvSpPr/>
          <p:nvPr/>
        </p:nvSpPr>
        <p:spPr>
          <a:xfrm>
            <a:off x="6345936" y="2898648"/>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7</a:t>
            </a:r>
          </a:p>
        </p:txBody>
      </p:sp>
      <p:sp>
        <p:nvSpPr>
          <p:cNvPr id="40" name="TextBox 39"/>
          <p:cNvSpPr txBox="1"/>
          <p:nvPr/>
        </p:nvSpPr>
        <p:spPr>
          <a:xfrm>
            <a:off x="6766560" y="2779776"/>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41" name="TextBox 40"/>
          <p:cNvSpPr txBox="1"/>
          <p:nvPr/>
        </p:nvSpPr>
        <p:spPr>
          <a:xfrm>
            <a:off x="7406640" y="2779776"/>
            <a:ext cx="306324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Checks industry and regulatory context</a:t>
            </a:r>
          </a:p>
        </p:txBody>
      </p:sp>
      <p:sp>
        <p:nvSpPr>
          <p:cNvPr id="42" name="TextBox 41"/>
          <p:cNvSpPr txBox="1"/>
          <p:nvPr/>
        </p:nvSpPr>
        <p:spPr>
          <a:xfrm>
            <a:off x="10378440" y="2779776"/>
            <a:ext cx="1316736" cy="548640"/>
          </a:xfrm>
          <a:prstGeom prst="rect">
            <a:avLst/>
          </a:prstGeom>
          <a:noFill/>
        </p:spPr>
        <p:txBody>
          <a:bodyPr wrap="square" lIns="0" tIns="0" rIns="0" bIns="0" anchor="ctr">
            <a:noAutofit/>
          </a:bodyPr>
          <a:lstStyle/>
          <a:p>
            <a:pPr algn="r">
              <a:spcAft>
                <a:spcPts val="0"/>
              </a:spcAft>
            </a:pPr>
            <a:r>
              <a:rPr sz="1050" b="1" i="0">
                <a:solidFill>
                  <a:srgbClr val="D31145"/>
                </a:solidFill>
                <a:latin typeface="Arial"/>
              </a:rPr>
              <a:t>Approved sources</a:t>
            </a:r>
          </a:p>
        </p:txBody>
      </p:sp>
      <p:sp>
        <p:nvSpPr>
          <p:cNvPr id="43" name="Rounded Rectangle 42"/>
          <p:cNvSpPr/>
          <p:nvPr/>
        </p:nvSpPr>
        <p:spPr>
          <a:xfrm>
            <a:off x="6217920" y="3401568"/>
            <a:ext cx="5614416" cy="548640"/>
          </a:xfrm>
          <a:prstGeom prst="roundRect">
            <a:avLst>
              <a:gd name="adj" fmla="val 13333"/>
            </a:avLst>
          </a:prstGeom>
          <a:solidFill>
            <a:srgbClr val="FBE8ED"/>
          </a:solidFill>
          <a:ln>
            <a:noFill/>
          </a:ln>
        </p:spPr>
        <p:txBody>
          <a:bodyPr rtlCol="0" anchor="ctr"/>
          <a:lstStyle/>
          <a:p>
            <a:pPr algn="ctr"/>
          </a:p>
        </p:txBody>
      </p:sp>
      <p:sp>
        <p:nvSpPr>
          <p:cNvPr id="44" name="Oval 43"/>
          <p:cNvSpPr/>
          <p:nvPr/>
        </p:nvSpPr>
        <p:spPr>
          <a:xfrm>
            <a:off x="6345936" y="3520440"/>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150" b="1" i="0">
                <a:solidFill>
                  <a:srgbClr val="FFFFFF"/>
                </a:solidFill>
                <a:latin typeface="Arial"/>
              </a:rPr>
              <a:t>8</a:t>
            </a:r>
          </a:p>
        </p:txBody>
      </p:sp>
      <p:sp>
        <p:nvSpPr>
          <p:cNvPr id="45" name="TextBox 44"/>
          <p:cNvSpPr txBox="1"/>
          <p:nvPr/>
        </p:nvSpPr>
        <p:spPr>
          <a:xfrm>
            <a:off x="6766560" y="3401568"/>
            <a:ext cx="658368" cy="548640"/>
          </a:xfrm>
          <a:prstGeom prst="rect">
            <a:avLst/>
          </a:prstGeom>
          <a:noFill/>
        </p:spPr>
        <p:txBody>
          <a:bodyPr wrap="square" lIns="0" tIns="0" rIns="0" bIns="0" anchor="ctr">
            <a:noAutofit/>
          </a:bodyPr>
          <a:lstStyle/>
          <a:p>
            <a:pPr algn="l">
              <a:spcAft>
                <a:spcPts val="0"/>
              </a:spcAft>
            </a:pPr>
            <a:r>
              <a:rPr sz="950" b="1" i="0" spc="80">
                <a:solidFill>
                  <a:srgbClr val="D31145"/>
                </a:solidFill>
                <a:latin typeface="Arial"/>
              </a:rPr>
              <a:t>RILEY</a:t>
            </a:r>
          </a:p>
        </p:txBody>
      </p:sp>
      <p:sp>
        <p:nvSpPr>
          <p:cNvPr id="46" name="TextBox 45"/>
          <p:cNvSpPr txBox="1"/>
          <p:nvPr/>
        </p:nvSpPr>
        <p:spPr>
          <a:xfrm>
            <a:off x="7406640" y="3401568"/>
            <a:ext cx="4297680" cy="548640"/>
          </a:xfrm>
          <a:prstGeom prst="rect">
            <a:avLst/>
          </a:prstGeom>
          <a:noFill/>
        </p:spPr>
        <p:txBody>
          <a:bodyPr wrap="square" lIns="0" tIns="0" rIns="0" bIns="0" anchor="ctr">
            <a:noAutofit/>
          </a:bodyPr>
          <a:lstStyle/>
          <a:p>
            <a:pPr algn="l">
              <a:lnSpc>
                <a:spcPct val="92000"/>
              </a:lnSpc>
              <a:spcAft>
                <a:spcPts val="0"/>
              </a:spcAft>
            </a:pPr>
            <a:r>
              <a:rPr sz="1250" b="0" i="0">
                <a:solidFill>
                  <a:srgbClr val="333D47"/>
                </a:solidFill>
                <a:latin typeface="Arial"/>
              </a:rPr>
              <a:t>Analyses, compares, drafts summary and slides</a:t>
            </a:r>
          </a:p>
        </p:txBody>
      </p:sp>
      <p:sp>
        <p:nvSpPr>
          <p:cNvPr id="47" name="Rounded Rectangle 46"/>
          <p:cNvSpPr/>
          <p:nvPr/>
        </p:nvSpPr>
        <p:spPr>
          <a:xfrm>
            <a:off x="6217920" y="4023360"/>
            <a:ext cx="5614416" cy="548640"/>
          </a:xfrm>
          <a:prstGeom prst="roundRect">
            <a:avLst>
              <a:gd name="adj" fmla="val 13333"/>
            </a:avLst>
          </a:prstGeom>
          <a:solidFill>
            <a:srgbClr val="F4F1EF"/>
          </a:solidFill>
          <a:ln w="12700">
            <a:solidFill>
              <a:srgbClr val="333D47"/>
            </a:solidFill>
          </a:ln>
        </p:spPr>
        <p:txBody>
          <a:bodyPr rtlCol="0" anchor="ctr"/>
          <a:lstStyle/>
          <a:p>
            <a:pPr algn="ctr"/>
          </a:p>
        </p:txBody>
      </p:sp>
      <p:sp>
        <p:nvSpPr>
          <p:cNvPr id="48" name="Oval 47"/>
          <p:cNvSpPr/>
          <p:nvPr/>
        </p:nvSpPr>
        <p:spPr>
          <a:xfrm>
            <a:off x="6345936" y="4142232"/>
            <a:ext cx="310896" cy="310896"/>
          </a:xfrm>
          <a:prstGeom prst="ellipse">
            <a:avLst/>
          </a:prstGeom>
          <a:solidFill>
            <a:srgbClr val="333D47"/>
          </a:solidFill>
          <a:ln>
            <a:noFill/>
          </a:ln>
        </p:spPr>
        <p:txBody>
          <a:bodyPr rtlCol="0" anchor="ctr" wrap="square" lIns="0" tIns="0" rIns="0" bIns="0">
            <a:noAutofit/>
          </a:bodyPr>
          <a:lstStyle/>
          <a:p>
            <a:pPr algn="ctr">
              <a:spcAft>
                <a:spcPts val="0"/>
              </a:spcAft>
            </a:pPr>
            <a:r>
              <a:rPr sz="1150" b="1" i="0">
                <a:solidFill>
                  <a:srgbClr val="FFFFFF"/>
                </a:solidFill>
                <a:latin typeface="Arial"/>
              </a:rPr>
              <a:t>9</a:t>
            </a:r>
          </a:p>
        </p:txBody>
      </p:sp>
      <p:sp>
        <p:nvSpPr>
          <p:cNvPr id="49" name="TextBox 48"/>
          <p:cNvSpPr txBox="1"/>
          <p:nvPr/>
        </p:nvSpPr>
        <p:spPr>
          <a:xfrm>
            <a:off x="6766560" y="4023360"/>
            <a:ext cx="658368" cy="548640"/>
          </a:xfrm>
          <a:prstGeom prst="rect">
            <a:avLst/>
          </a:prstGeom>
          <a:noFill/>
        </p:spPr>
        <p:txBody>
          <a:bodyPr wrap="square" lIns="0" tIns="0" rIns="0" bIns="0" anchor="ctr">
            <a:noAutofit/>
          </a:bodyPr>
          <a:lstStyle/>
          <a:p>
            <a:pPr algn="l">
              <a:spcAft>
                <a:spcPts val="0"/>
              </a:spcAft>
            </a:pPr>
            <a:r>
              <a:rPr sz="950" b="1" i="0" spc="80">
                <a:solidFill>
                  <a:srgbClr val="333D47"/>
                </a:solidFill>
                <a:latin typeface="Arial"/>
              </a:rPr>
              <a:t>YOU</a:t>
            </a:r>
          </a:p>
        </p:txBody>
      </p:sp>
      <p:sp>
        <p:nvSpPr>
          <p:cNvPr id="50" name="TextBox 49"/>
          <p:cNvSpPr txBox="1"/>
          <p:nvPr/>
        </p:nvSpPr>
        <p:spPr>
          <a:xfrm>
            <a:off x="7406640" y="4023360"/>
            <a:ext cx="3063240" cy="548640"/>
          </a:xfrm>
          <a:prstGeom prst="rect">
            <a:avLst/>
          </a:prstGeom>
          <a:noFill/>
        </p:spPr>
        <p:txBody>
          <a:bodyPr wrap="square" lIns="0" tIns="0" rIns="0" bIns="0" anchor="ctr">
            <a:noAutofit/>
          </a:bodyPr>
          <a:lstStyle/>
          <a:p>
            <a:pPr algn="l">
              <a:lnSpc>
                <a:spcPct val="92000"/>
              </a:lnSpc>
              <a:spcAft>
                <a:spcPts val="0"/>
              </a:spcAft>
            </a:pPr>
            <a:r>
              <a:rPr sz="1250" b="1" i="0">
                <a:solidFill>
                  <a:srgbClr val="333D47"/>
                </a:solidFill>
                <a:latin typeface="Arial"/>
              </a:rPr>
              <a:t>Review, edit and approve</a:t>
            </a:r>
          </a:p>
        </p:txBody>
      </p:sp>
      <p:sp>
        <p:nvSpPr>
          <p:cNvPr id="51" name="TextBox 50"/>
          <p:cNvSpPr txBox="1"/>
          <p:nvPr/>
        </p:nvSpPr>
        <p:spPr>
          <a:xfrm>
            <a:off x="10378440" y="4023360"/>
            <a:ext cx="1316736" cy="548640"/>
          </a:xfrm>
          <a:prstGeom prst="rect">
            <a:avLst/>
          </a:prstGeom>
          <a:noFill/>
        </p:spPr>
        <p:txBody>
          <a:bodyPr wrap="square" lIns="0" tIns="0" rIns="0" bIns="0" anchor="ctr">
            <a:noAutofit/>
          </a:bodyPr>
          <a:lstStyle/>
          <a:p>
            <a:pPr algn="r">
              <a:spcAft>
                <a:spcPts val="0"/>
              </a:spcAft>
            </a:pPr>
            <a:r>
              <a:rPr sz="1050" b="1" i="0">
                <a:solidFill>
                  <a:srgbClr val="333D47"/>
                </a:solidFill>
                <a:latin typeface="Arial"/>
              </a:rPr>
              <a:t>Final sign-off</a:t>
            </a:r>
          </a:p>
        </p:txBody>
      </p:sp>
      <p:sp>
        <p:nvSpPr>
          <p:cNvPr id="52" name="Rounded Rectangle 51"/>
          <p:cNvSpPr/>
          <p:nvPr/>
        </p:nvSpPr>
        <p:spPr>
          <a:xfrm>
            <a:off x="6217920" y="4645152"/>
            <a:ext cx="5614416" cy="548640"/>
          </a:xfrm>
          <a:prstGeom prst="roundRect">
            <a:avLst>
              <a:gd name="adj" fmla="val 13333"/>
            </a:avLst>
          </a:prstGeom>
          <a:solidFill>
            <a:srgbClr val="333D47"/>
          </a:solidFill>
          <a:ln>
            <a:noFill/>
          </a:ln>
        </p:spPr>
        <p:txBody>
          <a:bodyPr rtlCol="0" anchor="ctr"/>
          <a:lstStyle/>
          <a:p>
            <a:pPr algn="ctr"/>
          </a:p>
        </p:txBody>
      </p:sp>
      <p:sp>
        <p:nvSpPr>
          <p:cNvPr id="53" name="TextBox 52"/>
          <p:cNvSpPr txBox="1"/>
          <p:nvPr/>
        </p:nvSpPr>
        <p:spPr>
          <a:xfrm>
            <a:off x="6382512" y="4645152"/>
            <a:ext cx="5340096" cy="548640"/>
          </a:xfrm>
          <a:prstGeom prst="rect">
            <a:avLst/>
          </a:prstGeom>
          <a:noFill/>
        </p:spPr>
        <p:txBody>
          <a:bodyPr wrap="square" lIns="0" tIns="0" rIns="0" bIns="0" anchor="ctr">
            <a:noAutofit/>
          </a:bodyPr>
          <a:lstStyle/>
          <a:p>
            <a:pPr algn="l">
              <a:spcAft>
                <a:spcPts val="0"/>
              </a:spcAft>
            </a:pPr>
            <a:r>
              <a:rPr sz="1200" b="1" i="0">
                <a:solidFill>
                  <a:srgbClr val="FFFFFF"/>
                </a:solidFill>
                <a:latin typeface="Arial"/>
              </a:rPr>
              <a:t>Without Riley: </a:t>
            </a:r>
            <a:r>
              <a:rPr sz="1200" b="0" i="0">
                <a:solidFill>
                  <a:srgbClr val="FFFFFF"/>
                </a:solidFill>
                <a:latin typeface="Arial"/>
              </a:rPr>
              <a:t>you do all nine steps.  </a:t>
            </a:r>
            <a:r>
              <a:rPr sz="1200" b="1" i="0">
                <a:solidFill>
                  <a:srgbClr val="FFFFFF"/>
                </a:solidFill>
                <a:latin typeface="Arial"/>
              </a:rPr>
              <a:t>With Riley: </a:t>
            </a:r>
            <a:r>
              <a:rPr sz="1200" b="0" i="0">
                <a:solidFill>
                  <a:srgbClr val="FFFFFF"/>
                </a:solidFill>
                <a:latin typeface="Arial"/>
              </a:rPr>
              <a:t>you do 1 and 9.</a:t>
            </a:r>
          </a:p>
        </p:txBody>
      </p:sp>
      <p:sp>
        <p:nvSpPr>
          <p:cNvPr id="54" name="TextBox 53"/>
          <p:cNvSpPr txBox="1"/>
          <p:nvPr/>
        </p:nvSpPr>
        <p:spPr>
          <a:xfrm>
            <a:off x="356616" y="5340096"/>
            <a:ext cx="11338560" cy="274320"/>
          </a:xfrm>
          <a:prstGeom prst="rect">
            <a:avLst/>
          </a:prstGeom>
          <a:noFill/>
        </p:spPr>
        <p:txBody>
          <a:bodyPr wrap="square" lIns="0" tIns="0" rIns="0" bIns="0" anchor="t">
            <a:noAutofit/>
          </a:bodyPr>
          <a:lstStyle/>
          <a:p>
            <a:pPr algn="l">
              <a:spcAft>
                <a:spcPts val="0"/>
              </a:spcAft>
            </a:pPr>
            <a:r>
              <a:rPr sz="1100" b="0" i="1">
                <a:solidFill>
                  <a:srgbClr val="5F6770"/>
                </a:solidFill>
                <a:latin typeface="Arial"/>
              </a:rPr>
              <a:t>Illustrative example, not the committed pilot. A lower-sensitivity internal workflow may be chosen for the first pilot.</a:t>
            </a:r>
          </a:p>
        </p:txBody>
      </p:sp>
      <p:sp>
        <p:nvSpPr>
          <p:cNvPr id="55" name="Slide Number Placeholder"/>
          <p:cNvSpPr>
            <a:spLocks noGrp="1"/>
          </p:cNvSpPr>
          <p:nvPr>
            <p:ph type="sldNum" sz="quarter" idx="4"/>
          </p:nvPr>
        </p:nvSpPr>
        <p:spPr/>
        <p:txBody>
          <a:bodyPr/>
          <a:lstStyle/>
          <a:p>
            <a:fld id="{18A41853-EF22-D446-BDBC-A7CF3FE93503}" type="slidenum">
              <a:rPr lang="en-US"/>
              <a:t>4</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The prize isn’t an hour saved. It’s a digital execution partner for every employee.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THE AMBITION</a:t>
            </a:r>
          </a:p>
        </p:txBody>
      </p:sp>
      <p:sp>
        <p:nvSpPr>
          <p:cNvPr id="6" name="Rounded Rectangle 5"/>
          <p:cNvSpPr/>
          <p:nvPr/>
        </p:nvSpPr>
        <p:spPr>
          <a:xfrm>
            <a:off x="356616" y="1828800"/>
            <a:ext cx="4343400" cy="2148840"/>
          </a:xfrm>
          <a:prstGeom prst="roundRect">
            <a:avLst>
              <a:gd name="adj" fmla="val 4255"/>
            </a:avLst>
          </a:prstGeom>
          <a:solidFill>
            <a:srgbClr val="F4F1EF"/>
          </a:solidFill>
          <a:ln>
            <a:noFill/>
          </a:ln>
        </p:spPr>
        <p:txBody>
          <a:bodyPr rtlCol="0" anchor="ctr"/>
          <a:lstStyle/>
          <a:p>
            <a:pPr algn="ctr"/>
          </a:p>
        </p:txBody>
      </p:sp>
      <p:sp>
        <p:nvSpPr>
          <p:cNvPr id="7" name="TextBox 6"/>
          <p:cNvSpPr txBox="1"/>
          <p:nvPr/>
        </p:nvSpPr>
        <p:spPr>
          <a:xfrm>
            <a:off x="630936" y="2011680"/>
            <a:ext cx="3840480" cy="256032"/>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TODAY, EFFORT GOES INTO</a:t>
            </a:r>
          </a:p>
        </p:txBody>
      </p:sp>
      <p:sp>
        <p:nvSpPr>
          <p:cNvPr id="8" name="Oval 7"/>
          <p:cNvSpPr/>
          <p:nvPr/>
        </p:nvSpPr>
        <p:spPr>
          <a:xfrm>
            <a:off x="667512" y="2505456"/>
            <a:ext cx="91440" cy="91440"/>
          </a:xfrm>
          <a:prstGeom prst="ellipse">
            <a:avLst/>
          </a:prstGeom>
          <a:solidFill>
            <a:srgbClr val="9B928B"/>
          </a:solidFill>
          <a:ln>
            <a:noFill/>
          </a:ln>
        </p:spPr>
        <p:txBody>
          <a:bodyPr rtlCol="0" anchor="ctr"/>
          <a:lstStyle/>
          <a:p>
            <a:pPr algn="ctr"/>
          </a:p>
        </p:txBody>
      </p:sp>
      <p:sp>
        <p:nvSpPr>
          <p:cNvPr id="9" name="TextBox 8"/>
          <p:cNvSpPr txBox="1"/>
          <p:nvPr/>
        </p:nvSpPr>
        <p:spPr>
          <a:xfrm>
            <a:off x="905256" y="2395728"/>
            <a:ext cx="3657600" cy="310896"/>
          </a:xfrm>
          <a:prstGeom prst="rect">
            <a:avLst/>
          </a:prstGeom>
          <a:noFill/>
        </p:spPr>
        <p:txBody>
          <a:bodyPr wrap="square" lIns="0" tIns="0" rIns="0" bIns="0" anchor="ctr">
            <a:noAutofit/>
          </a:bodyPr>
          <a:lstStyle/>
          <a:p>
            <a:pPr algn="l">
              <a:spcAft>
                <a:spcPts val="0"/>
              </a:spcAft>
            </a:pPr>
            <a:r>
              <a:rPr sz="1500" b="0" i="0">
                <a:solidFill>
                  <a:srgbClr val="333D47"/>
                </a:solidFill>
                <a:latin typeface="Arial"/>
              </a:rPr>
              <a:t>Searching and switching</a:t>
            </a:r>
          </a:p>
        </p:txBody>
      </p:sp>
      <p:sp>
        <p:nvSpPr>
          <p:cNvPr id="10" name="Oval 9"/>
          <p:cNvSpPr/>
          <p:nvPr/>
        </p:nvSpPr>
        <p:spPr>
          <a:xfrm>
            <a:off x="667512" y="2871216"/>
            <a:ext cx="91440" cy="91440"/>
          </a:xfrm>
          <a:prstGeom prst="ellipse">
            <a:avLst/>
          </a:prstGeom>
          <a:solidFill>
            <a:srgbClr val="9B928B"/>
          </a:solidFill>
          <a:ln>
            <a:noFill/>
          </a:ln>
        </p:spPr>
        <p:txBody>
          <a:bodyPr rtlCol="0" anchor="ctr"/>
          <a:lstStyle/>
          <a:p>
            <a:pPr algn="ctr"/>
          </a:p>
        </p:txBody>
      </p:sp>
      <p:sp>
        <p:nvSpPr>
          <p:cNvPr id="11" name="TextBox 10"/>
          <p:cNvSpPr txBox="1"/>
          <p:nvPr/>
        </p:nvSpPr>
        <p:spPr>
          <a:xfrm>
            <a:off x="905256" y="2761488"/>
            <a:ext cx="3657600" cy="310896"/>
          </a:xfrm>
          <a:prstGeom prst="rect">
            <a:avLst/>
          </a:prstGeom>
          <a:noFill/>
        </p:spPr>
        <p:txBody>
          <a:bodyPr wrap="square" lIns="0" tIns="0" rIns="0" bIns="0" anchor="ctr">
            <a:noAutofit/>
          </a:bodyPr>
          <a:lstStyle/>
          <a:p>
            <a:pPr algn="l">
              <a:spcAft>
                <a:spcPts val="0"/>
              </a:spcAft>
            </a:pPr>
            <a:r>
              <a:rPr sz="1500" b="0" i="0">
                <a:solidFill>
                  <a:srgbClr val="333D47"/>
                </a:solidFill>
                <a:latin typeface="Arial"/>
              </a:rPr>
              <a:t>Copying and combining</a:t>
            </a:r>
          </a:p>
        </p:txBody>
      </p:sp>
      <p:sp>
        <p:nvSpPr>
          <p:cNvPr id="12" name="Oval 11"/>
          <p:cNvSpPr/>
          <p:nvPr/>
        </p:nvSpPr>
        <p:spPr>
          <a:xfrm>
            <a:off x="667512" y="3236976"/>
            <a:ext cx="91440" cy="91440"/>
          </a:xfrm>
          <a:prstGeom prst="ellipse">
            <a:avLst/>
          </a:prstGeom>
          <a:solidFill>
            <a:srgbClr val="9B928B"/>
          </a:solidFill>
          <a:ln>
            <a:noFill/>
          </a:ln>
        </p:spPr>
        <p:txBody>
          <a:bodyPr rtlCol="0" anchor="ctr"/>
          <a:lstStyle/>
          <a:p>
            <a:pPr algn="ctr"/>
          </a:p>
        </p:txBody>
      </p:sp>
      <p:sp>
        <p:nvSpPr>
          <p:cNvPr id="13" name="TextBox 12"/>
          <p:cNvSpPr txBox="1"/>
          <p:nvPr/>
        </p:nvSpPr>
        <p:spPr>
          <a:xfrm>
            <a:off x="905256" y="3127248"/>
            <a:ext cx="3657600" cy="310896"/>
          </a:xfrm>
          <a:prstGeom prst="rect">
            <a:avLst/>
          </a:prstGeom>
          <a:noFill/>
        </p:spPr>
        <p:txBody>
          <a:bodyPr wrap="square" lIns="0" tIns="0" rIns="0" bIns="0" anchor="ctr">
            <a:noAutofit/>
          </a:bodyPr>
          <a:lstStyle/>
          <a:p>
            <a:pPr algn="l">
              <a:spcAft>
                <a:spcPts val="0"/>
              </a:spcAft>
            </a:pPr>
            <a:r>
              <a:rPr sz="1500" b="0" i="0">
                <a:solidFill>
                  <a:srgbClr val="333D47"/>
                </a:solidFill>
                <a:latin typeface="Arial"/>
              </a:rPr>
              <a:t>Coordinating systems</a:t>
            </a:r>
          </a:p>
        </p:txBody>
      </p:sp>
      <p:sp>
        <p:nvSpPr>
          <p:cNvPr id="14" name="Oval 13"/>
          <p:cNvSpPr/>
          <p:nvPr/>
        </p:nvSpPr>
        <p:spPr>
          <a:xfrm>
            <a:off x="667512" y="3602736"/>
            <a:ext cx="91440" cy="91440"/>
          </a:xfrm>
          <a:prstGeom prst="ellipse">
            <a:avLst/>
          </a:prstGeom>
          <a:solidFill>
            <a:srgbClr val="9B928B"/>
          </a:solidFill>
          <a:ln>
            <a:noFill/>
          </a:ln>
        </p:spPr>
        <p:txBody>
          <a:bodyPr rtlCol="0" anchor="ctr"/>
          <a:lstStyle/>
          <a:p>
            <a:pPr algn="ctr"/>
          </a:p>
        </p:txBody>
      </p:sp>
      <p:sp>
        <p:nvSpPr>
          <p:cNvPr id="15" name="TextBox 14"/>
          <p:cNvSpPr txBox="1"/>
          <p:nvPr/>
        </p:nvSpPr>
        <p:spPr>
          <a:xfrm>
            <a:off x="905256" y="3493008"/>
            <a:ext cx="3657600" cy="310896"/>
          </a:xfrm>
          <a:prstGeom prst="rect">
            <a:avLst/>
          </a:prstGeom>
          <a:noFill/>
        </p:spPr>
        <p:txBody>
          <a:bodyPr wrap="square" lIns="0" tIns="0" rIns="0" bIns="0" anchor="ctr">
            <a:noAutofit/>
          </a:bodyPr>
          <a:lstStyle/>
          <a:p>
            <a:pPr algn="l">
              <a:spcAft>
                <a:spcPts val="0"/>
              </a:spcAft>
            </a:pPr>
            <a:r>
              <a:rPr sz="1500" b="0" i="0">
                <a:solidFill>
                  <a:srgbClr val="333D47"/>
                </a:solidFill>
                <a:latin typeface="Arial"/>
              </a:rPr>
              <a:t>Analysing and drafting everything</a:t>
            </a:r>
          </a:p>
        </p:txBody>
      </p:sp>
      <p:sp>
        <p:nvSpPr>
          <p:cNvPr id="16" name="Rounded Rectangle 15"/>
          <p:cNvSpPr/>
          <p:nvPr/>
        </p:nvSpPr>
        <p:spPr>
          <a:xfrm>
            <a:off x="7488936" y="1828800"/>
            <a:ext cx="4343400" cy="2148840"/>
          </a:xfrm>
          <a:prstGeom prst="roundRect">
            <a:avLst>
              <a:gd name="adj" fmla="val 4255"/>
            </a:avLst>
          </a:prstGeom>
          <a:solidFill>
            <a:srgbClr val="FBE8ED"/>
          </a:solidFill>
          <a:ln>
            <a:noFill/>
          </a:ln>
        </p:spPr>
        <p:txBody>
          <a:bodyPr rtlCol="0" anchor="ctr"/>
          <a:lstStyle/>
          <a:p>
            <a:pPr algn="ctr"/>
          </a:p>
        </p:txBody>
      </p:sp>
      <p:sp>
        <p:nvSpPr>
          <p:cNvPr id="17" name="TextBox 16"/>
          <p:cNvSpPr txBox="1"/>
          <p:nvPr/>
        </p:nvSpPr>
        <p:spPr>
          <a:xfrm>
            <a:off x="7763256" y="2011680"/>
            <a:ext cx="3840480" cy="256032"/>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WITH RILEY, MORE OF IT GOES INTO</a:t>
            </a:r>
          </a:p>
        </p:txBody>
      </p:sp>
      <p:sp>
        <p:nvSpPr>
          <p:cNvPr id="18" name="Oval 17"/>
          <p:cNvSpPr/>
          <p:nvPr/>
        </p:nvSpPr>
        <p:spPr>
          <a:xfrm>
            <a:off x="7799832" y="2505456"/>
            <a:ext cx="91440" cy="91440"/>
          </a:xfrm>
          <a:prstGeom prst="ellipse">
            <a:avLst/>
          </a:prstGeom>
          <a:solidFill>
            <a:srgbClr val="D31145"/>
          </a:solidFill>
          <a:ln>
            <a:noFill/>
          </a:ln>
        </p:spPr>
        <p:txBody>
          <a:bodyPr rtlCol="0" anchor="ctr"/>
          <a:lstStyle/>
          <a:p>
            <a:pPr algn="ctr"/>
          </a:p>
        </p:txBody>
      </p:sp>
      <p:sp>
        <p:nvSpPr>
          <p:cNvPr id="19" name="TextBox 18"/>
          <p:cNvSpPr txBox="1"/>
          <p:nvPr/>
        </p:nvSpPr>
        <p:spPr>
          <a:xfrm>
            <a:off x="8037576" y="2395728"/>
            <a:ext cx="3657600" cy="310896"/>
          </a:xfrm>
          <a:prstGeom prst="rect">
            <a:avLst/>
          </a:prstGeom>
          <a:noFill/>
        </p:spPr>
        <p:txBody>
          <a:bodyPr wrap="square" lIns="0" tIns="0" rIns="0" bIns="0" anchor="ctr">
            <a:noAutofit/>
          </a:bodyPr>
          <a:lstStyle/>
          <a:p>
            <a:pPr algn="l">
              <a:spcAft>
                <a:spcPts val="0"/>
              </a:spcAft>
            </a:pPr>
            <a:r>
              <a:rPr sz="1500" b="1" i="0">
                <a:solidFill>
                  <a:srgbClr val="333D47"/>
                </a:solidFill>
                <a:latin typeface="Arial"/>
              </a:rPr>
              <a:t>Judgment and decisions</a:t>
            </a:r>
          </a:p>
        </p:txBody>
      </p:sp>
      <p:sp>
        <p:nvSpPr>
          <p:cNvPr id="20" name="Oval 19"/>
          <p:cNvSpPr/>
          <p:nvPr/>
        </p:nvSpPr>
        <p:spPr>
          <a:xfrm>
            <a:off x="7799832" y="2871216"/>
            <a:ext cx="91440" cy="91440"/>
          </a:xfrm>
          <a:prstGeom prst="ellipse">
            <a:avLst/>
          </a:prstGeom>
          <a:solidFill>
            <a:srgbClr val="D31145"/>
          </a:solidFill>
          <a:ln>
            <a:noFill/>
          </a:ln>
        </p:spPr>
        <p:txBody>
          <a:bodyPr rtlCol="0" anchor="ctr"/>
          <a:lstStyle/>
          <a:p>
            <a:pPr algn="ctr"/>
          </a:p>
        </p:txBody>
      </p:sp>
      <p:sp>
        <p:nvSpPr>
          <p:cNvPr id="21" name="TextBox 20"/>
          <p:cNvSpPr txBox="1"/>
          <p:nvPr/>
        </p:nvSpPr>
        <p:spPr>
          <a:xfrm>
            <a:off x="8037576" y="2761488"/>
            <a:ext cx="3657600" cy="310896"/>
          </a:xfrm>
          <a:prstGeom prst="rect">
            <a:avLst/>
          </a:prstGeom>
          <a:noFill/>
        </p:spPr>
        <p:txBody>
          <a:bodyPr wrap="square" lIns="0" tIns="0" rIns="0" bIns="0" anchor="ctr">
            <a:noAutofit/>
          </a:bodyPr>
          <a:lstStyle/>
          <a:p>
            <a:pPr algn="l">
              <a:spcAft>
                <a:spcPts val="0"/>
              </a:spcAft>
            </a:pPr>
            <a:r>
              <a:rPr sz="1500" b="1" i="0">
                <a:solidFill>
                  <a:srgbClr val="333D47"/>
                </a:solidFill>
                <a:latin typeface="Arial"/>
              </a:rPr>
              <a:t>Review and approval</a:t>
            </a:r>
          </a:p>
        </p:txBody>
      </p:sp>
      <p:sp>
        <p:nvSpPr>
          <p:cNvPr id="22" name="Oval 21"/>
          <p:cNvSpPr/>
          <p:nvPr/>
        </p:nvSpPr>
        <p:spPr>
          <a:xfrm>
            <a:off x="7799832" y="3236976"/>
            <a:ext cx="91440" cy="91440"/>
          </a:xfrm>
          <a:prstGeom prst="ellipse">
            <a:avLst/>
          </a:prstGeom>
          <a:solidFill>
            <a:srgbClr val="D31145"/>
          </a:solidFill>
          <a:ln>
            <a:noFill/>
          </a:ln>
        </p:spPr>
        <p:txBody>
          <a:bodyPr rtlCol="0" anchor="ctr"/>
          <a:lstStyle/>
          <a:p>
            <a:pPr algn="ctr"/>
          </a:p>
        </p:txBody>
      </p:sp>
      <p:sp>
        <p:nvSpPr>
          <p:cNvPr id="23" name="TextBox 22"/>
          <p:cNvSpPr txBox="1"/>
          <p:nvPr/>
        </p:nvSpPr>
        <p:spPr>
          <a:xfrm>
            <a:off x="8037576" y="3127248"/>
            <a:ext cx="3657600" cy="310896"/>
          </a:xfrm>
          <a:prstGeom prst="rect">
            <a:avLst/>
          </a:prstGeom>
          <a:noFill/>
        </p:spPr>
        <p:txBody>
          <a:bodyPr wrap="square" lIns="0" tIns="0" rIns="0" bIns="0" anchor="ctr">
            <a:noAutofit/>
          </a:bodyPr>
          <a:lstStyle/>
          <a:p>
            <a:pPr algn="l">
              <a:spcAft>
                <a:spcPts val="0"/>
              </a:spcAft>
            </a:pPr>
            <a:r>
              <a:rPr sz="1500" b="1" i="0">
                <a:solidFill>
                  <a:srgbClr val="333D47"/>
                </a:solidFill>
                <a:latin typeface="Arial"/>
              </a:rPr>
              <a:t>Customer understanding</a:t>
            </a:r>
          </a:p>
        </p:txBody>
      </p:sp>
      <p:sp>
        <p:nvSpPr>
          <p:cNvPr id="24" name="Oval 23"/>
          <p:cNvSpPr/>
          <p:nvPr/>
        </p:nvSpPr>
        <p:spPr>
          <a:xfrm>
            <a:off x="7799832" y="3602736"/>
            <a:ext cx="91440" cy="91440"/>
          </a:xfrm>
          <a:prstGeom prst="ellipse">
            <a:avLst/>
          </a:prstGeom>
          <a:solidFill>
            <a:srgbClr val="D31145"/>
          </a:solidFill>
          <a:ln>
            <a:noFill/>
          </a:ln>
        </p:spPr>
        <p:txBody>
          <a:bodyPr rtlCol="0" anchor="ctr"/>
          <a:lstStyle/>
          <a:p>
            <a:pPr algn="ctr"/>
          </a:p>
        </p:txBody>
      </p:sp>
      <p:sp>
        <p:nvSpPr>
          <p:cNvPr id="25" name="TextBox 24"/>
          <p:cNvSpPr txBox="1"/>
          <p:nvPr/>
        </p:nvSpPr>
        <p:spPr>
          <a:xfrm>
            <a:off x="8037576" y="3493008"/>
            <a:ext cx="3657600" cy="310896"/>
          </a:xfrm>
          <a:prstGeom prst="rect">
            <a:avLst/>
          </a:prstGeom>
          <a:noFill/>
        </p:spPr>
        <p:txBody>
          <a:bodyPr wrap="square" lIns="0" tIns="0" rIns="0" bIns="0" anchor="ctr">
            <a:noAutofit/>
          </a:bodyPr>
          <a:lstStyle/>
          <a:p>
            <a:pPr algn="l">
              <a:spcAft>
                <a:spcPts val="0"/>
              </a:spcAft>
            </a:pPr>
            <a:r>
              <a:rPr sz="1500" b="1" i="0">
                <a:solidFill>
                  <a:srgbClr val="333D47"/>
                </a:solidFill>
                <a:latin typeface="Arial"/>
              </a:rPr>
              <a:t>Problem-solving and innovation</a:t>
            </a:r>
          </a:p>
        </p:txBody>
      </p:sp>
      <p:cxnSp>
        <p:nvCxnSpPr>
          <p:cNvPr id="26" name="Connector 25"/>
          <p:cNvCxnSpPr/>
          <p:nvPr/>
        </p:nvCxnSpPr>
        <p:spPr>
          <a:xfrm>
            <a:off x="4791456" y="2903220"/>
            <a:ext cx="800100" cy="0"/>
          </a:xfrm>
          <a:prstGeom prst="line">
            <a:avLst/>
          </a:prstGeom>
          <a:ln w="22225">
            <a:solidFill>
              <a:srgbClr val="9B928B"/>
            </a:solidFill>
            <a:tailEnd type="triangle" w="med" len="med"/>
          </a:ln>
        </p:spPr>
      </p:cxnSp>
      <p:cxnSp>
        <p:nvCxnSpPr>
          <p:cNvPr id="27" name="Connector 26"/>
          <p:cNvCxnSpPr/>
          <p:nvPr/>
        </p:nvCxnSpPr>
        <p:spPr>
          <a:xfrm>
            <a:off x="6597396" y="2903220"/>
            <a:ext cx="800100" cy="0"/>
          </a:xfrm>
          <a:prstGeom prst="line">
            <a:avLst/>
          </a:prstGeom>
          <a:ln w="22225">
            <a:solidFill>
              <a:srgbClr val="D31145"/>
            </a:solidFill>
            <a:tailEnd type="triangle" w="med" len="med"/>
          </a:ln>
        </p:spPr>
      </p:cxnSp>
      <p:sp>
        <p:nvSpPr>
          <p:cNvPr id="28" name="Oval 27"/>
          <p:cNvSpPr/>
          <p:nvPr/>
        </p:nvSpPr>
        <p:spPr>
          <a:xfrm>
            <a:off x="5682996" y="2491740"/>
            <a:ext cx="822960" cy="822960"/>
          </a:xfrm>
          <a:prstGeom prst="ellipse">
            <a:avLst/>
          </a:prstGeom>
          <a:solidFill>
            <a:srgbClr val="D31145"/>
          </a:solidFill>
          <a:ln>
            <a:noFill/>
          </a:ln>
        </p:spPr>
        <p:txBody>
          <a:bodyPr rtlCol="0" anchor="ctr" wrap="square" lIns="0" tIns="0" rIns="0" bIns="0">
            <a:noAutofit/>
          </a:bodyPr>
          <a:lstStyle/>
          <a:p>
            <a:pPr algn="ctr">
              <a:spcAft>
                <a:spcPts val="0"/>
              </a:spcAft>
            </a:pPr>
            <a:r>
              <a:rPr sz="2600" b="1" i="0">
                <a:solidFill>
                  <a:srgbClr val="FFFFFF"/>
                </a:solidFill>
                <a:latin typeface="Arial"/>
              </a:rPr>
              <a:t>R</a:t>
            </a:r>
          </a:p>
        </p:txBody>
      </p:sp>
      <p:sp>
        <p:nvSpPr>
          <p:cNvPr id="29" name="TextBox 28"/>
          <p:cNvSpPr txBox="1"/>
          <p:nvPr/>
        </p:nvSpPr>
        <p:spPr>
          <a:xfrm>
            <a:off x="4791456" y="3406140"/>
            <a:ext cx="2606040" cy="548640"/>
          </a:xfrm>
          <a:prstGeom prst="rect">
            <a:avLst/>
          </a:prstGeom>
          <a:noFill/>
        </p:spPr>
        <p:txBody>
          <a:bodyPr wrap="square" lIns="0" tIns="0" rIns="0" bIns="0" anchor="t">
            <a:noAutofit/>
          </a:bodyPr>
          <a:lstStyle/>
          <a:p>
            <a:pPr algn="ctr">
              <a:spcAft>
                <a:spcPts val="0"/>
              </a:spcAft>
            </a:pPr>
            <a:r>
              <a:rPr sz="1200" b="0" i="0">
                <a:solidFill>
                  <a:srgbClr val="5F6770"/>
                </a:solidFill>
                <a:latin typeface="Arial"/>
              </a:rPr>
              <a:t>Riley absorbs more of the digital execution</a:t>
            </a:r>
          </a:p>
        </p:txBody>
      </p:sp>
      <p:sp>
        <p:nvSpPr>
          <p:cNvPr id="30" name="Rounded Rectangle 29"/>
          <p:cNvSpPr/>
          <p:nvPr/>
        </p:nvSpPr>
        <p:spPr>
          <a:xfrm>
            <a:off x="356616" y="4160520"/>
            <a:ext cx="11475720" cy="1536192"/>
          </a:xfrm>
          <a:prstGeom prst="roundRect">
            <a:avLst>
              <a:gd name="adj" fmla="val 7142"/>
            </a:avLst>
          </a:prstGeom>
          <a:solidFill>
            <a:srgbClr val="D31145"/>
          </a:solidFill>
          <a:ln>
            <a:noFill/>
          </a:ln>
        </p:spPr>
        <p:txBody>
          <a:bodyPr rtlCol="0" anchor="ctr"/>
          <a:lstStyle/>
          <a:p>
            <a:pPr algn="ctr"/>
          </a:p>
        </p:txBody>
      </p:sp>
      <p:sp>
        <p:nvSpPr>
          <p:cNvPr id="31" name="Rounded Rectangle 30"/>
          <p:cNvSpPr/>
          <p:nvPr/>
        </p:nvSpPr>
        <p:spPr>
          <a:xfrm>
            <a:off x="594360" y="4361688"/>
            <a:ext cx="356616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LONG-TERM AMBITION  ·  A HYPOTHESIS TO TEST</a:t>
            </a:r>
          </a:p>
        </p:txBody>
      </p:sp>
      <p:sp>
        <p:nvSpPr>
          <p:cNvPr id="32" name="TextBox 31"/>
          <p:cNvSpPr txBox="1"/>
          <p:nvPr/>
        </p:nvSpPr>
        <p:spPr>
          <a:xfrm>
            <a:off x="594360" y="4709160"/>
            <a:ext cx="10972800" cy="530352"/>
          </a:xfrm>
          <a:prstGeom prst="rect">
            <a:avLst/>
          </a:prstGeom>
          <a:noFill/>
        </p:spPr>
        <p:txBody>
          <a:bodyPr wrap="square" lIns="0" tIns="0" rIns="0" bIns="0" anchor="t">
            <a:noAutofit/>
          </a:bodyPr>
          <a:lstStyle/>
          <a:p>
            <a:pPr algn="l">
              <a:lnSpc>
                <a:spcPct val="100000"/>
              </a:lnSpc>
              <a:spcAft>
                <a:spcPts val="0"/>
              </a:spcAft>
            </a:pPr>
            <a:r>
              <a:rPr sz="1700" b="1" i="0">
                <a:solidFill>
                  <a:srgbClr val="FFFFFF"/>
                </a:solidFill>
                <a:latin typeface="Arial"/>
              </a:rPr>
              <a:t>Can one employee, supported by Riley, complete substantially more finished work than manual digital execution allows?</a:t>
            </a:r>
          </a:p>
        </p:txBody>
      </p:sp>
      <p:sp>
        <p:nvSpPr>
          <p:cNvPr id="33" name="TextBox 32"/>
          <p:cNvSpPr txBox="1"/>
          <p:nvPr/>
        </p:nvSpPr>
        <p:spPr>
          <a:xfrm>
            <a:off x="594360" y="5349240"/>
            <a:ext cx="10972800" cy="274320"/>
          </a:xfrm>
          <a:prstGeom prst="rect">
            <a:avLst/>
          </a:prstGeom>
          <a:noFill/>
        </p:spPr>
        <p:txBody>
          <a:bodyPr wrap="square" lIns="0" tIns="0" rIns="0" bIns="0" anchor="t">
            <a:noAutofit/>
          </a:bodyPr>
          <a:lstStyle/>
          <a:p>
            <a:pPr algn="l">
              <a:spcAft>
                <a:spcPts val="0"/>
              </a:spcAft>
            </a:pPr>
            <a:r>
              <a:rPr sz="1200" b="0" i="0">
                <a:solidFill>
                  <a:srgbClr val="FFFFFF"/>
                </a:solidFill>
                <a:latin typeface="Arial"/>
              </a:rPr>
              <a:t>As more capabilities connect, Riley can absorb more of the work. No productivity multiple is claimed.</a:t>
            </a:r>
          </a:p>
        </p:txBody>
      </p:sp>
      <p:sp>
        <p:nvSpPr>
          <p:cNvPr id="34" name="Slide Number Placeholder"/>
          <p:cNvSpPr>
            <a:spLocks noGrp="1"/>
          </p:cNvSpPr>
          <p:nvPr>
            <p:ph type="sldNum" sz="quarter" idx="4"/>
          </p:nvPr>
        </p:nvSpPr>
        <p:spPr/>
        <p:txBody>
          <a:bodyPr/>
          <a:lstStyle/>
          <a:p>
            <a:fld id="{18A41853-EF22-D446-BDBC-A7CF3FE93503}" type="slidenum">
              <a:rPr lang="en-US"/>
              <a:t>5</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Measured, not assumed. One hour is only the floor.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  ·  HOW IT IS MEASURED</a:t>
            </a:r>
          </a:p>
        </p:txBody>
      </p:sp>
      <p:sp>
        <p:nvSpPr>
          <p:cNvPr id="6" name="TextBox 5"/>
          <p:cNvSpPr txBox="1"/>
          <p:nvPr/>
        </p:nvSpPr>
        <p:spPr>
          <a:xfrm>
            <a:off x="356616" y="1325880"/>
            <a:ext cx="676656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NEAR-TERM PILOT IMPACT  ·  MEASURED AGAINST A BASELINE</a:t>
            </a:r>
          </a:p>
        </p:txBody>
      </p:sp>
      <p:pic>
        <p:nvPicPr>
          <p:cNvPr id="7" name="Picture 6" descr="LuTimer_r.png"/>
          <p:cNvPicPr>
            <a:picLocks noChangeAspect="1"/>
          </p:cNvPicPr>
          <p:nvPr/>
        </p:nvPicPr>
        <p:blipFill>
          <a:blip r:embed="rId3"/>
          <a:stretch>
            <a:fillRect/>
          </a:stretch>
        </p:blipFill>
        <p:spPr>
          <a:xfrm>
            <a:off x="356616" y="1728216"/>
            <a:ext cx="292608" cy="292608"/>
          </a:xfrm>
          <a:prstGeom prst="rect">
            <a:avLst/>
          </a:prstGeom>
        </p:spPr>
      </p:pic>
      <p:sp>
        <p:nvSpPr>
          <p:cNvPr id="8" name="TextBox 7"/>
          <p:cNvSpPr txBox="1"/>
          <p:nvPr/>
        </p:nvSpPr>
        <p:spPr>
          <a:xfrm>
            <a:off x="76809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Employee effort per task</a:t>
            </a:r>
          </a:p>
        </p:txBody>
      </p:sp>
      <p:sp>
        <p:nvSpPr>
          <p:cNvPr id="9" name="TextBox 8"/>
          <p:cNvSpPr txBox="1"/>
          <p:nvPr/>
        </p:nvSpPr>
        <p:spPr>
          <a:xfrm>
            <a:off x="76809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Hands-on time, before vs. after Riley</a:t>
            </a:r>
          </a:p>
        </p:txBody>
      </p:sp>
      <p:pic>
        <p:nvPicPr>
          <p:cNvPr id="10" name="Picture 9" descr="LuGauge_r.png"/>
          <p:cNvPicPr>
            <a:picLocks noChangeAspect="1"/>
          </p:cNvPicPr>
          <p:nvPr/>
        </p:nvPicPr>
        <p:blipFill>
          <a:blip r:embed="rId4"/>
          <a:stretch>
            <a:fillRect/>
          </a:stretch>
        </p:blipFill>
        <p:spPr>
          <a:xfrm>
            <a:off x="3831336" y="1728216"/>
            <a:ext cx="292608" cy="292608"/>
          </a:xfrm>
          <a:prstGeom prst="rect">
            <a:avLst/>
          </a:prstGeom>
        </p:spPr>
      </p:pic>
      <p:sp>
        <p:nvSpPr>
          <p:cNvPr id="11" name="TextBox 10"/>
          <p:cNvSpPr txBox="1"/>
          <p:nvPr/>
        </p:nvSpPr>
        <p:spPr>
          <a:xfrm>
            <a:off x="4242816" y="169164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End-to-end completion time</a:t>
            </a:r>
          </a:p>
        </p:txBody>
      </p:sp>
      <p:sp>
        <p:nvSpPr>
          <p:cNvPr id="12" name="TextBox 11"/>
          <p:cNvSpPr txBox="1"/>
          <p:nvPr/>
        </p:nvSpPr>
        <p:spPr>
          <a:xfrm>
            <a:off x="4242816" y="196596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From request to approved output</a:t>
            </a:r>
          </a:p>
        </p:txBody>
      </p:sp>
      <p:pic>
        <p:nvPicPr>
          <p:cNvPr id="13" name="Picture 12" descr="LuLayers_r.png"/>
          <p:cNvPicPr>
            <a:picLocks noChangeAspect="1"/>
          </p:cNvPicPr>
          <p:nvPr/>
        </p:nvPicPr>
        <p:blipFill>
          <a:blip r:embed="rId5"/>
          <a:stretch>
            <a:fillRect/>
          </a:stretch>
        </p:blipFill>
        <p:spPr>
          <a:xfrm>
            <a:off x="356616" y="2551176"/>
            <a:ext cx="292608" cy="292608"/>
          </a:xfrm>
          <a:prstGeom prst="rect">
            <a:avLst/>
          </a:prstGeom>
        </p:spPr>
      </p:pic>
      <p:sp>
        <p:nvSpPr>
          <p:cNvPr id="14" name="TextBox 13"/>
          <p:cNvSpPr txBox="1"/>
          <p:nvPr/>
        </p:nvSpPr>
        <p:spPr>
          <a:xfrm>
            <a:off x="76809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Manual steps and systems touched</a:t>
            </a:r>
          </a:p>
        </p:txBody>
      </p:sp>
      <p:sp>
        <p:nvSpPr>
          <p:cNvPr id="15" name="TextBox 14"/>
          <p:cNvSpPr txBox="1"/>
          <p:nvPr/>
        </p:nvSpPr>
        <p:spPr>
          <a:xfrm>
            <a:off x="76809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much legwork is left to the employee</a:t>
            </a:r>
          </a:p>
        </p:txBody>
      </p:sp>
      <p:pic>
        <p:nvPicPr>
          <p:cNvPr id="16" name="Picture 15" descr="LuRepeat_r.png"/>
          <p:cNvPicPr>
            <a:picLocks noChangeAspect="1"/>
          </p:cNvPicPr>
          <p:nvPr/>
        </p:nvPicPr>
        <p:blipFill>
          <a:blip r:embed="rId6"/>
          <a:stretch>
            <a:fillRect/>
          </a:stretch>
        </p:blipFill>
        <p:spPr>
          <a:xfrm>
            <a:off x="3831336" y="2551176"/>
            <a:ext cx="292608" cy="292608"/>
          </a:xfrm>
          <a:prstGeom prst="rect">
            <a:avLst/>
          </a:prstGeom>
        </p:spPr>
      </p:pic>
      <p:sp>
        <p:nvSpPr>
          <p:cNvPr id="17" name="TextBox 16"/>
          <p:cNvSpPr txBox="1"/>
          <p:nvPr/>
        </p:nvSpPr>
        <p:spPr>
          <a:xfrm>
            <a:off x="4242816" y="251460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Rework rate</a:t>
            </a:r>
          </a:p>
        </p:txBody>
      </p:sp>
      <p:sp>
        <p:nvSpPr>
          <p:cNvPr id="18" name="TextBox 17"/>
          <p:cNvSpPr txBox="1"/>
          <p:nvPr/>
        </p:nvSpPr>
        <p:spPr>
          <a:xfrm>
            <a:off x="4242816" y="278892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How often outputs need significant correction</a:t>
            </a:r>
          </a:p>
        </p:txBody>
      </p:sp>
      <p:pic>
        <p:nvPicPr>
          <p:cNvPr id="19" name="Picture 18" descr="LuBadgeCheck_r.png"/>
          <p:cNvPicPr>
            <a:picLocks noChangeAspect="1"/>
          </p:cNvPicPr>
          <p:nvPr/>
        </p:nvPicPr>
        <p:blipFill>
          <a:blip r:embed="rId7"/>
          <a:stretch>
            <a:fillRect/>
          </a:stretch>
        </p:blipFill>
        <p:spPr>
          <a:xfrm>
            <a:off x="356616" y="3374136"/>
            <a:ext cx="292608" cy="292608"/>
          </a:xfrm>
          <a:prstGeom prst="rect">
            <a:avLst/>
          </a:prstGeom>
        </p:spPr>
      </p:pic>
      <p:sp>
        <p:nvSpPr>
          <p:cNvPr id="20" name="TextBox 19"/>
          <p:cNvSpPr txBox="1"/>
          <p:nvPr/>
        </p:nvSpPr>
        <p:spPr>
          <a:xfrm>
            <a:off x="76809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Quality, with independent reviews</a:t>
            </a:r>
          </a:p>
        </p:txBody>
      </p:sp>
      <p:sp>
        <p:nvSpPr>
          <p:cNvPr id="21" name="TextBox 20"/>
          <p:cNvSpPr txBox="1"/>
          <p:nvPr/>
        </p:nvSpPr>
        <p:spPr>
          <a:xfrm>
            <a:off x="76809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Against a human-only baseline</a:t>
            </a:r>
          </a:p>
        </p:txBody>
      </p:sp>
      <p:pic>
        <p:nvPicPr>
          <p:cNvPr id="22" name="Picture 21" descr="LuUsers_r.png"/>
          <p:cNvPicPr>
            <a:picLocks noChangeAspect="1"/>
          </p:cNvPicPr>
          <p:nvPr/>
        </p:nvPicPr>
        <p:blipFill>
          <a:blip r:embed="rId8"/>
          <a:stretch>
            <a:fillRect/>
          </a:stretch>
        </p:blipFill>
        <p:spPr>
          <a:xfrm>
            <a:off x="3831336" y="3374136"/>
            <a:ext cx="292608" cy="292608"/>
          </a:xfrm>
          <a:prstGeom prst="rect">
            <a:avLst/>
          </a:prstGeom>
        </p:spPr>
      </p:pic>
      <p:sp>
        <p:nvSpPr>
          <p:cNvPr id="23" name="TextBox 22"/>
          <p:cNvSpPr txBox="1"/>
          <p:nvPr/>
        </p:nvSpPr>
        <p:spPr>
          <a:xfrm>
            <a:off x="4242816" y="3337560"/>
            <a:ext cx="2971800" cy="274320"/>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Adoption and repeat use</a:t>
            </a:r>
          </a:p>
        </p:txBody>
      </p:sp>
      <p:sp>
        <p:nvSpPr>
          <p:cNvPr id="24" name="TextBox 23"/>
          <p:cNvSpPr txBox="1"/>
          <p:nvPr/>
        </p:nvSpPr>
        <p:spPr>
          <a:xfrm>
            <a:off x="4242816" y="3611880"/>
            <a:ext cx="2971800" cy="457200"/>
          </a:xfrm>
          <a:prstGeom prst="rect">
            <a:avLst/>
          </a:prstGeom>
          <a:noFill/>
        </p:spPr>
        <p:txBody>
          <a:bodyPr wrap="square" lIns="0" tIns="0" rIns="0" bIns="0" anchor="t">
            <a:noAutofit/>
          </a:bodyPr>
          <a:lstStyle/>
          <a:p>
            <a:pPr algn="l">
              <a:spcAft>
                <a:spcPts val="0"/>
              </a:spcAft>
            </a:pPr>
            <a:r>
              <a:rPr sz="1100" b="0" i="0">
                <a:solidFill>
                  <a:srgbClr val="5F6770"/>
                </a:solidFill>
                <a:latin typeface="Arial"/>
              </a:rPr>
              <a:t>Whether employees choose to keep using it</a:t>
            </a:r>
          </a:p>
        </p:txBody>
      </p:sp>
      <p:sp>
        <p:nvSpPr>
          <p:cNvPr id="25" name="Rounded Rectangle 24"/>
          <p:cNvSpPr/>
          <p:nvPr/>
        </p:nvSpPr>
        <p:spPr>
          <a:xfrm>
            <a:off x="356616" y="4224528"/>
            <a:ext cx="6812280" cy="804672"/>
          </a:xfrm>
          <a:prstGeom prst="roundRect">
            <a:avLst>
              <a:gd name="adj" fmla="val 9090"/>
            </a:avLst>
          </a:prstGeom>
          <a:solidFill>
            <a:srgbClr val="FBE8ED"/>
          </a:solidFill>
          <a:ln w="15875">
            <a:solidFill>
              <a:srgbClr val="D31145"/>
            </a:solidFill>
          </a:ln>
        </p:spPr>
        <p:txBody>
          <a:bodyPr rtlCol="0" anchor="ctr"/>
          <a:lstStyle/>
          <a:p>
            <a:pPr algn="ctr"/>
          </a:p>
        </p:txBody>
      </p:sp>
      <p:pic>
        <p:nvPicPr>
          <p:cNvPr id="26" name="Picture 25" descr="LuTrendingUp_r.png"/>
          <p:cNvPicPr>
            <a:picLocks noChangeAspect="1"/>
          </p:cNvPicPr>
          <p:nvPr/>
        </p:nvPicPr>
        <p:blipFill>
          <a:blip r:embed="rId9"/>
          <a:stretch>
            <a:fillRect/>
          </a:stretch>
        </p:blipFill>
        <p:spPr>
          <a:xfrm>
            <a:off x="530352" y="4443984"/>
            <a:ext cx="347472" cy="347472"/>
          </a:xfrm>
          <a:prstGeom prst="rect">
            <a:avLst/>
          </a:prstGeom>
        </p:spPr>
      </p:pic>
      <p:sp>
        <p:nvSpPr>
          <p:cNvPr id="27" name="TextBox 26"/>
          <p:cNvSpPr txBox="1"/>
          <p:nvPr/>
        </p:nvSpPr>
        <p:spPr>
          <a:xfrm>
            <a:off x="1005840" y="4279392"/>
            <a:ext cx="4572000" cy="274320"/>
          </a:xfrm>
          <a:prstGeom prst="rect">
            <a:avLst/>
          </a:prstGeom>
          <a:noFill/>
        </p:spPr>
        <p:txBody>
          <a:bodyPr wrap="square" lIns="0" tIns="0" rIns="0" bIns="0" anchor="t">
            <a:noAutofit/>
          </a:bodyPr>
          <a:lstStyle/>
          <a:p>
            <a:pPr algn="l">
              <a:spcAft>
                <a:spcPts val="0"/>
              </a:spcAft>
            </a:pPr>
            <a:r>
              <a:rPr sz="1400" b="1" i="0">
                <a:solidFill>
                  <a:srgbClr val="333D47"/>
                </a:solidFill>
                <a:latin typeface="Arial"/>
              </a:rPr>
              <a:t>Completed outputs per employee</a:t>
            </a:r>
          </a:p>
        </p:txBody>
      </p:sp>
      <p:sp>
        <p:nvSpPr>
          <p:cNvPr id="28" name="Rounded Rectangle 27"/>
          <p:cNvSpPr/>
          <p:nvPr/>
        </p:nvSpPr>
        <p:spPr>
          <a:xfrm>
            <a:off x="5212080" y="4315968"/>
            <a:ext cx="685800" cy="237744"/>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FFFFFF"/>
                </a:solidFill>
                <a:latin typeface="Arial"/>
              </a:rPr>
              <a:t>NEW</a:t>
            </a:r>
          </a:p>
        </p:txBody>
      </p:sp>
      <p:sp>
        <p:nvSpPr>
          <p:cNvPr id="29" name="TextBox 28"/>
          <p:cNvSpPr txBox="1"/>
          <p:nvPr/>
        </p:nvSpPr>
        <p:spPr>
          <a:xfrm>
            <a:off x="1005840" y="4553712"/>
            <a:ext cx="6035040" cy="41148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Tests whether Riley increases execution capacity, not only saves time.</a:t>
            </a:r>
          </a:p>
        </p:txBody>
      </p:sp>
      <p:sp>
        <p:nvSpPr>
          <p:cNvPr id="30" name="Rounded Rectangle 29"/>
          <p:cNvSpPr/>
          <p:nvPr/>
        </p:nvSpPr>
        <p:spPr>
          <a:xfrm>
            <a:off x="7498080" y="1325880"/>
            <a:ext cx="4334256" cy="3703320"/>
          </a:xfrm>
          <a:prstGeom prst="roundRect">
            <a:avLst>
              <a:gd name="adj" fmla="val 2469"/>
            </a:avLst>
          </a:prstGeom>
          <a:solidFill>
            <a:srgbClr val="F4F1EF"/>
          </a:solidFill>
          <a:ln>
            <a:noFill/>
          </a:ln>
        </p:spPr>
        <p:txBody>
          <a:bodyPr rtlCol="0" anchor="ctr"/>
          <a:lstStyle/>
          <a:p>
            <a:pPr algn="ctr"/>
          </a:p>
        </p:txBody>
      </p:sp>
      <p:sp>
        <p:nvSpPr>
          <p:cNvPr id="31" name="TextBox 30"/>
          <p:cNvSpPr txBox="1"/>
          <p:nvPr/>
        </p:nvSpPr>
        <p:spPr>
          <a:xfrm>
            <a:off x="7772400" y="1527048"/>
            <a:ext cx="3785616"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A CONSERVATIVE FLOOR</a:t>
            </a:r>
          </a:p>
        </p:txBody>
      </p:sp>
      <p:sp>
        <p:nvSpPr>
          <p:cNvPr id="32" name="Rounded Rectangle 31"/>
          <p:cNvSpPr/>
          <p:nvPr/>
        </p:nvSpPr>
        <p:spPr>
          <a:xfrm>
            <a:off x="7772400" y="1828800"/>
            <a:ext cx="3246120" cy="256032"/>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900" b="1" i="0" spc="50">
                <a:solidFill>
                  <a:srgbClr val="D31145"/>
                </a:solidFill>
                <a:latin typeface="Arial"/>
              </a:rPr>
              <a:t>ILLUSTRATIVE SCENARIO  ·  NOT A FORECAST</a:t>
            </a:r>
          </a:p>
        </p:txBody>
      </p:sp>
      <p:sp>
        <p:nvSpPr>
          <p:cNvPr id="33" name="TextBox 32"/>
          <p:cNvSpPr txBox="1"/>
          <p:nvPr/>
        </p:nvSpPr>
        <p:spPr>
          <a:xfrm>
            <a:off x="7772400" y="2221992"/>
            <a:ext cx="3785616" cy="566928"/>
          </a:xfrm>
          <a:prstGeom prst="rect">
            <a:avLst/>
          </a:prstGeom>
          <a:noFill/>
        </p:spPr>
        <p:txBody>
          <a:bodyPr wrap="square" lIns="0" tIns="0" rIns="0" bIns="0" anchor="t">
            <a:noAutofit/>
          </a:bodyPr>
          <a:lstStyle/>
          <a:p>
            <a:pPr algn="l">
              <a:spcAft>
                <a:spcPts val="0"/>
              </a:spcAft>
            </a:pPr>
            <a:r>
              <a:rPr sz="1250" b="0" i="0">
                <a:solidFill>
                  <a:srgbClr val="333D47"/>
                </a:solidFill>
                <a:latin typeface="Arial"/>
              </a:rPr>
              <a:t>Even at a deliberately cautious one hour a week, 1,000 employees would release around</a:t>
            </a:r>
          </a:p>
        </p:txBody>
      </p:sp>
      <p:sp>
        <p:nvSpPr>
          <p:cNvPr id="34" name="TextBox 33"/>
          <p:cNvSpPr txBox="1"/>
          <p:nvPr/>
        </p:nvSpPr>
        <p:spPr>
          <a:xfrm>
            <a:off x="7772400" y="2770632"/>
            <a:ext cx="3785616" cy="658368"/>
          </a:xfrm>
          <a:prstGeom prst="rect">
            <a:avLst/>
          </a:prstGeom>
          <a:noFill/>
        </p:spPr>
        <p:txBody>
          <a:bodyPr wrap="square" lIns="0" tIns="0" rIns="0" bIns="0" anchor="ctr">
            <a:noAutofit/>
          </a:bodyPr>
          <a:lstStyle/>
          <a:p>
            <a:pPr algn="l">
              <a:spcAft>
                <a:spcPts val="0"/>
              </a:spcAft>
            </a:pPr>
            <a:r>
              <a:rPr sz="4400" b="1" i="0">
                <a:solidFill>
                  <a:srgbClr val="D31145"/>
                </a:solidFill>
                <a:latin typeface="Arial"/>
              </a:rPr>
              <a:t>1,000 hours</a:t>
            </a:r>
          </a:p>
        </p:txBody>
      </p:sp>
      <p:sp>
        <p:nvSpPr>
          <p:cNvPr id="35" name="TextBox 34"/>
          <p:cNvSpPr txBox="1"/>
          <p:nvPr/>
        </p:nvSpPr>
        <p:spPr>
          <a:xfrm>
            <a:off x="7772400" y="3410712"/>
            <a:ext cx="3785616" cy="292608"/>
          </a:xfrm>
          <a:prstGeom prst="rect">
            <a:avLst/>
          </a:prstGeom>
          <a:noFill/>
        </p:spPr>
        <p:txBody>
          <a:bodyPr wrap="square" lIns="0" tIns="0" rIns="0" bIns="0" anchor="t">
            <a:noAutofit/>
          </a:bodyPr>
          <a:lstStyle/>
          <a:p>
            <a:pPr algn="l">
              <a:spcAft>
                <a:spcPts val="0"/>
              </a:spcAft>
            </a:pPr>
            <a:r>
              <a:rPr sz="1500" b="0" i="0">
                <a:solidFill>
                  <a:srgbClr val="333D47"/>
                </a:solidFill>
                <a:latin typeface="Arial"/>
              </a:rPr>
              <a:t>every week</a:t>
            </a:r>
          </a:p>
        </p:txBody>
      </p:sp>
      <p:sp>
        <p:nvSpPr>
          <p:cNvPr id="36" name="TextBox 35"/>
          <p:cNvSpPr txBox="1"/>
          <p:nvPr/>
        </p:nvSpPr>
        <p:spPr>
          <a:xfrm>
            <a:off x="7772400" y="3758184"/>
            <a:ext cx="3785616"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 50,000 hours a year</a:t>
            </a:r>
          </a:p>
        </p:txBody>
      </p:sp>
      <p:sp>
        <p:nvSpPr>
          <p:cNvPr id="37" name="TextBox 36"/>
          <p:cNvSpPr txBox="1"/>
          <p:nvPr/>
        </p:nvSpPr>
        <p:spPr>
          <a:xfrm>
            <a:off x="7772400" y="4160520"/>
            <a:ext cx="3785616" cy="731520"/>
          </a:xfrm>
          <a:prstGeom prst="rect">
            <a:avLst/>
          </a:prstGeom>
          <a:noFill/>
        </p:spPr>
        <p:txBody>
          <a:bodyPr wrap="square" lIns="0" tIns="0" rIns="0" bIns="0" anchor="t">
            <a:noAutofit/>
          </a:bodyPr>
          <a:lstStyle/>
          <a:p>
            <a:pPr algn="l">
              <a:spcAft>
                <a:spcPts val="0"/>
              </a:spcAft>
            </a:pPr>
            <a:r>
              <a:rPr sz="1000" b="0" i="1">
                <a:solidFill>
                  <a:srgbClr val="5F6770"/>
                </a:solidFill>
                <a:latin typeface="Arial"/>
              </a:rPr>
              <a:t>Assuming 50 working weeks. 1,000 is a scenario size, not an AIA employee count. One hour is 2.5% of a 40-hour week.</a:t>
            </a:r>
          </a:p>
        </p:txBody>
      </p:sp>
      <p:sp>
        <p:nvSpPr>
          <p:cNvPr id="38" name="TextBox 37"/>
          <p:cNvSpPr txBox="1"/>
          <p:nvPr/>
        </p:nvSpPr>
        <p:spPr>
          <a:xfrm>
            <a:off x="356616" y="5257800"/>
            <a:ext cx="11338560" cy="411480"/>
          </a:xfrm>
          <a:prstGeom prst="rect">
            <a:avLst/>
          </a:prstGeom>
          <a:noFill/>
        </p:spPr>
        <p:txBody>
          <a:bodyPr wrap="square" lIns="0" tIns="0" rIns="0" bIns="0" anchor="t">
            <a:noAutofit/>
          </a:bodyPr>
          <a:lstStyle/>
          <a:p>
            <a:pPr algn="l">
              <a:spcAft>
                <a:spcPts val="0"/>
              </a:spcAft>
            </a:pPr>
            <a:r>
              <a:rPr sz="1150" b="1" i="0">
                <a:solidFill>
                  <a:srgbClr val="5F6770"/>
                </a:solidFill>
                <a:latin typeface="Arial"/>
              </a:rPr>
              <a:t>Value link: </a:t>
            </a:r>
            <a:r>
              <a:rPr sz="1150" b="0" i="0">
                <a:solidFill>
                  <a:srgbClr val="5F6770"/>
                </a:solidFill>
                <a:latin typeface="Arial"/>
              </a:rPr>
              <a:t>Double Employee Value. Operations Value and any VONB / ANP link are hypotheses, to be validated with AIA’s TDA methodology.</a:t>
            </a:r>
          </a:p>
        </p:txBody>
      </p:sp>
      <p:sp>
        <p:nvSpPr>
          <p:cNvPr id="39"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Every useful capability AIA connects can make Riley more capable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WHY RILEY GETS MORE CAPABLE</a:t>
            </a:r>
          </a:p>
        </p:txBody>
      </p:sp>
      <p:sp>
        <p:nvSpPr>
          <p:cNvPr id="6" name="Oval 5"/>
          <p:cNvSpPr/>
          <p:nvPr/>
        </p:nvSpPr>
        <p:spPr>
          <a:xfrm>
            <a:off x="882396" y="2606040"/>
            <a:ext cx="868680" cy="868680"/>
          </a:xfrm>
          <a:prstGeom prst="ellipse">
            <a:avLst/>
          </a:prstGeom>
          <a:solidFill>
            <a:srgbClr val="333D47"/>
          </a:solidFill>
          <a:ln>
            <a:noFill/>
          </a:ln>
        </p:spPr>
        <p:txBody>
          <a:bodyPr rtlCol="0" anchor="ctr"/>
          <a:lstStyle/>
          <a:p>
            <a:pPr algn="ctr"/>
          </a:p>
        </p:txBody>
      </p:sp>
      <p:pic>
        <p:nvPicPr>
          <p:cNvPr id="7" name="Picture 6" descr="LuBlocks_w.png"/>
          <p:cNvPicPr>
            <a:picLocks noChangeAspect="1"/>
          </p:cNvPicPr>
          <p:nvPr/>
        </p:nvPicPr>
        <p:blipFill>
          <a:blip r:embed="rId3"/>
          <a:stretch>
            <a:fillRect/>
          </a:stretch>
        </p:blipFill>
        <p:spPr>
          <a:xfrm>
            <a:off x="1082192" y="2805836"/>
            <a:ext cx="469087" cy="469087"/>
          </a:xfrm>
          <a:prstGeom prst="rect">
            <a:avLst/>
          </a:prstGeom>
        </p:spPr>
      </p:pic>
      <p:sp>
        <p:nvSpPr>
          <p:cNvPr id="8" name="TextBox 7"/>
          <p:cNvSpPr txBox="1"/>
          <p:nvPr/>
        </p:nvSpPr>
        <p:spPr>
          <a:xfrm>
            <a:off x="265176" y="3561588"/>
            <a:ext cx="2103120" cy="548640"/>
          </a:xfrm>
          <a:prstGeom prst="rect">
            <a:avLst/>
          </a:prstGeom>
          <a:noFill/>
        </p:spPr>
        <p:txBody>
          <a:bodyPr wrap="square" lIns="0" tIns="0" rIns="0" bIns="0" anchor="t">
            <a:noAutofit/>
          </a:bodyPr>
          <a:lstStyle/>
          <a:p>
            <a:pPr algn="ctr">
              <a:lnSpc>
                <a:spcPct val="95000"/>
              </a:lnSpc>
              <a:spcAft>
                <a:spcPts val="0"/>
              </a:spcAft>
            </a:pPr>
            <a:r>
              <a:rPr sz="1400" b="1" i="0">
                <a:solidFill>
                  <a:srgbClr val="333D47"/>
                </a:solidFill>
                <a:latin typeface="Arial"/>
              </a:rPr>
              <a:t>AIA adds a useful capability</a:t>
            </a:r>
          </a:p>
        </p:txBody>
      </p:sp>
      <p:sp>
        <p:nvSpPr>
          <p:cNvPr id="9" name="TextBox 8"/>
          <p:cNvSpPr txBox="1"/>
          <p:nvPr/>
        </p:nvSpPr>
        <p:spPr>
          <a:xfrm>
            <a:off x="265176" y="4091940"/>
            <a:ext cx="2103120" cy="731520"/>
          </a:xfrm>
          <a:prstGeom prst="rect">
            <a:avLst/>
          </a:prstGeom>
          <a:noFill/>
        </p:spPr>
        <p:txBody>
          <a:bodyPr wrap="square" lIns="0" tIns="0" rIns="0" bIns="0" anchor="t">
            <a:noAutofit/>
          </a:bodyPr>
          <a:lstStyle/>
          <a:p>
            <a:pPr algn="ctr">
              <a:spcAft>
                <a:spcPts val="0"/>
              </a:spcAft>
            </a:pPr>
            <a:r>
              <a:rPr sz="1100" b="0" i="0">
                <a:solidFill>
                  <a:srgbClr val="5F6770"/>
                </a:solidFill>
                <a:latin typeface="Arial"/>
              </a:rPr>
              <a:t>a system, data source, internal AI tool or approved service</a:t>
            </a:r>
          </a:p>
        </p:txBody>
      </p:sp>
      <p:cxnSp>
        <p:nvCxnSpPr>
          <p:cNvPr id="10" name="Connector 9"/>
          <p:cNvCxnSpPr/>
          <p:nvPr/>
        </p:nvCxnSpPr>
        <p:spPr>
          <a:xfrm>
            <a:off x="1751076" y="3040380"/>
            <a:ext cx="644652" cy="0"/>
          </a:xfrm>
          <a:prstGeom prst="line">
            <a:avLst/>
          </a:prstGeom>
          <a:ln w="22225">
            <a:solidFill>
              <a:srgbClr val="9B928B"/>
            </a:solidFill>
          </a:ln>
        </p:spPr>
      </p:cxnSp>
      <p:cxnSp>
        <p:nvCxnSpPr>
          <p:cNvPr id="11" name="Connector 10"/>
          <p:cNvCxnSpPr/>
          <p:nvPr/>
        </p:nvCxnSpPr>
        <p:spPr>
          <a:xfrm>
            <a:off x="2395728" y="2560320"/>
            <a:ext cx="0" cy="1691640"/>
          </a:xfrm>
          <a:prstGeom prst="line">
            <a:avLst/>
          </a:prstGeom>
          <a:ln w="22225">
            <a:solidFill>
              <a:srgbClr val="9B928B"/>
            </a:solidFill>
          </a:ln>
        </p:spPr>
      </p:cxnSp>
      <p:cxnSp>
        <p:nvCxnSpPr>
          <p:cNvPr id="12" name="Connector 11"/>
          <p:cNvCxnSpPr/>
          <p:nvPr/>
        </p:nvCxnSpPr>
        <p:spPr>
          <a:xfrm>
            <a:off x="2395728" y="2560320"/>
            <a:ext cx="219456" cy="0"/>
          </a:xfrm>
          <a:prstGeom prst="line">
            <a:avLst/>
          </a:prstGeom>
          <a:ln w="22225">
            <a:solidFill>
              <a:srgbClr val="9B928B"/>
            </a:solidFill>
            <a:tailEnd type="triangle" w="med" len="med"/>
          </a:ln>
        </p:spPr>
      </p:cxnSp>
      <p:cxnSp>
        <p:nvCxnSpPr>
          <p:cNvPr id="13" name="Connector 12"/>
          <p:cNvCxnSpPr/>
          <p:nvPr/>
        </p:nvCxnSpPr>
        <p:spPr>
          <a:xfrm>
            <a:off x="2395728" y="4251960"/>
            <a:ext cx="219456" cy="0"/>
          </a:xfrm>
          <a:prstGeom prst="line">
            <a:avLst/>
          </a:prstGeom>
          <a:ln w="22225">
            <a:solidFill>
              <a:srgbClr val="D31145"/>
            </a:solidFill>
            <a:tailEnd type="triangle" w="med" len="med"/>
          </a:ln>
        </p:spPr>
      </p:cxnSp>
      <p:sp>
        <p:nvSpPr>
          <p:cNvPr id="14" name="Rounded Rectangle 13"/>
          <p:cNvSpPr/>
          <p:nvPr/>
        </p:nvSpPr>
        <p:spPr>
          <a:xfrm>
            <a:off x="2651760" y="1828800"/>
            <a:ext cx="9180576" cy="1463040"/>
          </a:xfrm>
          <a:prstGeom prst="roundRect">
            <a:avLst>
              <a:gd name="adj" fmla="val 6250"/>
            </a:avLst>
          </a:prstGeom>
          <a:solidFill>
            <a:srgbClr val="F4F1EF"/>
          </a:solidFill>
          <a:ln>
            <a:noFill/>
          </a:ln>
        </p:spPr>
        <p:txBody>
          <a:bodyPr rtlCol="0" anchor="ctr"/>
          <a:lstStyle/>
          <a:p>
            <a:pPr algn="ctr"/>
          </a:p>
        </p:txBody>
      </p:sp>
      <p:sp>
        <p:nvSpPr>
          <p:cNvPr id="15" name="TextBox 14"/>
          <p:cNvSpPr txBox="1"/>
          <p:nvPr/>
        </p:nvSpPr>
        <p:spPr>
          <a:xfrm>
            <a:off x="2880360" y="1975104"/>
            <a:ext cx="6400800" cy="237744"/>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WITHOUT A COMMON COWORKER</a:t>
            </a:r>
          </a:p>
        </p:txBody>
      </p:sp>
      <p:sp>
        <p:nvSpPr>
          <p:cNvPr id="16" name="Rounded Rectangle 15"/>
          <p:cNvSpPr/>
          <p:nvPr/>
        </p:nvSpPr>
        <p:spPr>
          <a:xfrm>
            <a:off x="2880360"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Another thing for employees to find and learn</a:t>
            </a:r>
          </a:p>
        </p:txBody>
      </p:sp>
      <p:cxnSp>
        <p:nvCxnSpPr>
          <p:cNvPr id="17" name="Connector 16"/>
          <p:cNvCxnSpPr/>
          <p:nvPr/>
        </p:nvCxnSpPr>
        <p:spPr>
          <a:xfrm>
            <a:off x="5029200" y="2697480"/>
            <a:ext cx="237744" cy="0"/>
          </a:xfrm>
          <a:prstGeom prst="line">
            <a:avLst/>
          </a:prstGeom>
          <a:ln w="19050">
            <a:solidFill>
              <a:srgbClr val="9B928B"/>
            </a:solidFill>
            <a:tailEnd type="triangle" w="med" len="med"/>
          </a:ln>
        </p:spPr>
      </p:cxnSp>
      <p:sp>
        <p:nvSpPr>
          <p:cNvPr id="18" name="Rounded Rectangle 17"/>
          <p:cNvSpPr/>
          <p:nvPr/>
        </p:nvSpPr>
        <p:spPr>
          <a:xfrm>
            <a:off x="5312664"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rollout and adoption effort</a:t>
            </a:r>
          </a:p>
        </p:txBody>
      </p:sp>
      <p:cxnSp>
        <p:nvCxnSpPr>
          <p:cNvPr id="19" name="Connector 18"/>
          <p:cNvCxnSpPr/>
          <p:nvPr/>
        </p:nvCxnSpPr>
        <p:spPr>
          <a:xfrm>
            <a:off x="7461504" y="2697480"/>
            <a:ext cx="237744" cy="0"/>
          </a:xfrm>
          <a:prstGeom prst="line">
            <a:avLst/>
          </a:prstGeom>
          <a:ln w="19050">
            <a:solidFill>
              <a:srgbClr val="9B928B"/>
            </a:solidFill>
            <a:tailEnd type="triangle" w="med" len="med"/>
          </a:ln>
        </p:spPr>
      </p:cxnSp>
      <p:sp>
        <p:nvSpPr>
          <p:cNvPr id="20" name="Rounded Rectangle 19"/>
          <p:cNvSpPr/>
          <p:nvPr/>
        </p:nvSpPr>
        <p:spPr>
          <a:xfrm>
            <a:off x="7744968"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Employees coordinate it by hand</a:t>
            </a:r>
          </a:p>
        </p:txBody>
      </p:sp>
      <p:pic>
        <p:nvPicPr>
          <p:cNvPr id="21" name="Picture 20" descr="LuAppWindow_c.png"/>
          <p:cNvPicPr>
            <a:picLocks noChangeAspect="1"/>
          </p:cNvPicPr>
          <p:nvPr/>
        </p:nvPicPr>
        <p:blipFill>
          <a:blip r:embed="rId4"/>
          <a:stretch>
            <a:fillRect/>
          </a:stretch>
        </p:blipFill>
        <p:spPr>
          <a:xfrm>
            <a:off x="10122408" y="2304288"/>
            <a:ext cx="292608" cy="292608"/>
          </a:xfrm>
          <a:prstGeom prst="rect">
            <a:avLst/>
          </a:prstGeom>
        </p:spPr>
      </p:pic>
      <p:pic>
        <p:nvPicPr>
          <p:cNvPr id="22" name="Picture 21" descr="LuAppWindow_c.png"/>
          <p:cNvPicPr>
            <a:picLocks noChangeAspect="1"/>
          </p:cNvPicPr>
          <p:nvPr/>
        </p:nvPicPr>
        <p:blipFill>
          <a:blip r:embed="rId4"/>
          <a:stretch>
            <a:fillRect/>
          </a:stretch>
        </p:blipFill>
        <p:spPr>
          <a:xfrm>
            <a:off x="10506456" y="2304288"/>
            <a:ext cx="292608" cy="292608"/>
          </a:xfrm>
          <a:prstGeom prst="rect">
            <a:avLst/>
          </a:prstGeom>
        </p:spPr>
      </p:pic>
      <p:pic>
        <p:nvPicPr>
          <p:cNvPr id="23" name="Picture 22" descr="LuAppWindow_c.png"/>
          <p:cNvPicPr>
            <a:picLocks noChangeAspect="1"/>
          </p:cNvPicPr>
          <p:nvPr/>
        </p:nvPicPr>
        <p:blipFill>
          <a:blip r:embed="rId4"/>
          <a:stretch>
            <a:fillRect/>
          </a:stretch>
        </p:blipFill>
        <p:spPr>
          <a:xfrm>
            <a:off x="10890504" y="2304288"/>
            <a:ext cx="292608" cy="292608"/>
          </a:xfrm>
          <a:prstGeom prst="rect">
            <a:avLst/>
          </a:prstGeom>
        </p:spPr>
      </p:pic>
      <p:pic>
        <p:nvPicPr>
          <p:cNvPr id="24" name="Picture 23" descr="LuAppWindow_c.png"/>
          <p:cNvPicPr>
            <a:picLocks noChangeAspect="1"/>
          </p:cNvPicPr>
          <p:nvPr/>
        </p:nvPicPr>
        <p:blipFill>
          <a:blip r:embed="rId4"/>
          <a:stretch>
            <a:fillRect/>
          </a:stretch>
        </p:blipFill>
        <p:spPr>
          <a:xfrm>
            <a:off x="11274552" y="2304288"/>
            <a:ext cx="292608" cy="292608"/>
          </a:xfrm>
          <a:prstGeom prst="rect">
            <a:avLst/>
          </a:prstGeom>
        </p:spPr>
      </p:pic>
      <p:sp>
        <p:nvSpPr>
          <p:cNvPr id="25" name="TextBox 24"/>
          <p:cNvSpPr txBox="1"/>
          <p:nvPr/>
        </p:nvSpPr>
        <p:spPr>
          <a:xfrm>
            <a:off x="10122408" y="272491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333D47"/>
                </a:solidFill>
                <a:latin typeface="Arial"/>
              </a:rPr>
              <a:t>Another thing to juggle</a:t>
            </a:r>
          </a:p>
        </p:txBody>
      </p:sp>
      <p:sp>
        <p:nvSpPr>
          <p:cNvPr id="26" name="Rounded Rectangle 25"/>
          <p:cNvSpPr/>
          <p:nvPr/>
        </p:nvSpPr>
        <p:spPr>
          <a:xfrm>
            <a:off x="2651760" y="3520440"/>
            <a:ext cx="9180576" cy="1463040"/>
          </a:xfrm>
          <a:prstGeom prst="roundRect">
            <a:avLst>
              <a:gd name="adj" fmla="val 6250"/>
            </a:avLst>
          </a:prstGeom>
          <a:solidFill>
            <a:srgbClr val="FBE8ED"/>
          </a:solidFill>
          <a:ln>
            <a:noFill/>
          </a:ln>
        </p:spPr>
        <p:txBody>
          <a:bodyPr rtlCol="0" anchor="ctr"/>
          <a:lstStyle/>
          <a:p>
            <a:pPr algn="ctr"/>
          </a:p>
        </p:txBody>
      </p:sp>
      <p:sp>
        <p:nvSpPr>
          <p:cNvPr id="27" name="TextBox 26"/>
          <p:cNvSpPr txBox="1"/>
          <p:nvPr/>
        </p:nvSpPr>
        <p:spPr>
          <a:xfrm>
            <a:off x="2880360" y="3666744"/>
            <a:ext cx="6400800"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CONNECTED TO RILEY</a:t>
            </a:r>
          </a:p>
        </p:txBody>
      </p:sp>
      <p:sp>
        <p:nvSpPr>
          <p:cNvPr id="28" name="Rounded Rectangle 27"/>
          <p:cNvSpPr/>
          <p:nvPr/>
        </p:nvSpPr>
        <p:spPr>
          <a:xfrm>
            <a:off x="2880360"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Connected once, with technical and governance work</a:t>
            </a:r>
          </a:p>
        </p:txBody>
      </p:sp>
      <p:cxnSp>
        <p:nvCxnSpPr>
          <p:cNvPr id="29" name="Connector 28"/>
          <p:cNvCxnSpPr/>
          <p:nvPr/>
        </p:nvCxnSpPr>
        <p:spPr>
          <a:xfrm>
            <a:off x="5029200" y="4389120"/>
            <a:ext cx="237744" cy="0"/>
          </a:xfrm>
          <a:prstGeom prst="line">
            <a:avLst/>
          </a:prstGeom>
          <a:ln w="19050">
            <a:solidFill>
              <a:srgbClr val="D31145"/>
            </a:solidFill>
            <a:tailEnd type="triangle" w="med" len="med"/>
          </a:ln>
        </p:spPr>
      </p:cxnSp>
      <p:sp>
        <p:nvSpPr>
          <p:cNvPr id="30" name="Rounded Rectangle 29"/>
          <p:cNvSpPr/>
          <p:nvPr/>
        </p:nvSpPr>
        <p:spPr>
          <a:xfrm>
            <a:off x="5312664"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Reached through the same Riley conversation</a:t>
            </a:r>
          </a:p>
        </p:txBody>
      </p:sp>
      <p:cxnSp>
        <p:nvCxnSpPr>
          <p:cNvPr id="31" name="Connector 30"/>
          <p:cNvCxnSpPr/>
          <p:nvPr/>
        </p:nvCxnSpPr>
        <p:spPr>
          <a:xfrm>
            <a:off x="7461504" y="4389120"/>
            <a:ext cx="237744" cy="0"/>
          </a:xfrm>
          <a:prstGeom prst="line">
            <a:avLst/>
          </a:prstGeom>
          <a:ln w="19050">
            <a:solidFill>
              <a:srgbClr val="D31145"/>
            </a:solidFill>
            <a:tailEnd type="triangle" w="med" len="med"/>
          </a:ln>
        </p:spPr>
      </p:cxnSp>
      <p:sp>
        <p:nvSpPr>
          <p:cNvPr id="32" name="Rounded Rectangle 31"/>
          <p:cNvSpPr/>
          <p:nvPr/>
        </p:nvSpPr>
        <p:spPr>
          <a:xfrm>
            <a:off x="7744968"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Riley uses it inside whole-outcome work</a:t>
            </a:r>
          </a:p>
        </p:txBody>
      </p:sp>
      <p:sp>
        <p:nvSpPr>
          <p:cNvPr id="33" name="Oval 32"/>
          <p:cNvSpPr/>
          <p:nvPr/>
        </p:nvSpPr>
        <p:spPr>
          <a:xfrm>
            <a:off x="10122408" y="3950208"/>
            <a:ext cx="384048" cy="384048"/>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34" name="Oval 33"/>
          <p:cNvSpPr/>
          <p:nvPr/>
        </p:nvSpPr>
        <p:spPr>
          <a:xfrm>
            <a:off x="10597896" y="3995928"/>
            <a:ext cx="292608" cy="292608"/>
          </a:xfrm>
          <a:prstGeom prst="ellipse">
            <a:avLst/>
          </a:prstGeom>
          <a:solidFill>
            <a:srgbClr val="FFFFFF"/>
          </a:solidFill>
          <a:ln w="15875">
            <a:solidFill>
              <a:srgbClr val="D31145"/>
            </a:solidFill>
          </a:ln>
        </p:spPr>
        <p:txBody>
          <a:bodyPr rtlCol="0" anchor="ctr" wrap="square" lIns="0" tIns="0" rIns="0" bIns="0">
            <a:noAutofit/>
          </a:bodyPr>
          <a:lstStyle/>
          <a:p>
            <a:pPr algn="ctr">
              <a:spcAft>
                <a:spcPts val="0"/>
              </a:spcAft>
            </a:pPr>
            <a:r>
              <a:rPr sz="1400" b="1" i="0">
                <a:solidFill>
                  <a:srgbClr val="D31145"/>
                </a:solidFill>
                <a:latin typeface="Arial"/>
              </a:rPr>
              <a:t>+</a:t>
            </a:r>
          </a:p>
        </p:txBody>
      </p:sp>
      <p:sp>
        <p:nvSpPr>
          <p:cNvPr id="35" name="TextBox 34"/>
          <p:cNvSpPr txBox="1"/>
          <p:nvPr/>
        </p:nvSpPr>
        <p:spPr>
          <a:xfrm>
            <a:off x="10122408" y="441655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D31145"/>
                </a:solidFill>
                <a:latin typeface="Arial"/>
              </a:rPr>
              <a:t>The same Riley can do more</a:t>
            </a:r>
          </a:p>
        </p:txBody>
      </p:sp>
      <p:sp>
        <p:nvSpPr>
          <p:cNvPr id="36" name="Rounded Rectangle 35"/>
          <p:cNvSpPr/>
          <p:nvPr/>
        </p:nvSpPr>
        <p:spPr>
          <a:xfrm>
            <a:off x="356616" y="5166360"/>
            <a:ext cx="5632704" cy="566928"/>
          </a:xfrm>
          <a:prstGeom prst="roundRect">
            <a:avLst>
              <a:gd name="adj" fmla="val 12903"/>
            </a:avLst>
          </a:prstGeom>
          <a:solidFill>
            <a:srgbClr val="FFFFFF"/>
          </a:solidFill>
          <a:ln w="9525">
            <a:solidFill>
              <a:srgbClr val="DDD6D0"/>
            </a:solidFill>
          </a:ln>
        </p:spPr>
        <p:txBody>
          <a:bodyPr rtlCol="0" anchor="ctr"/>
          <a:lstStyle/>
          <a:p>
            <a:pPr algn="ctr"/>
          </a:p>
        </p:txBody>
      </p:sp>
      <p:pic>
        <p:nvPicPr>
          <p:cNvPr id="37" name="Picture 36" descr="LuPlug_c.png"/>
          <p:cNvPicPr>
            <a:picLocks noChangeAspect="1"/>
          </p:cNvPicPr>
          <p:nvPr/>
        </p:nvPicPr>
        <p:blipFill>
          <a:blip r:embed="rId5"/>
          <a:stretch>
            <a:fillRect/>
          </a:stretch>
        </p:blipFill>
        <p:spPr>
          <a:xfrm>
            <a:off x="502920" y="5303520"/>
            <a:ext cx="292608" cy="292608"/>
          </a:xfrm>
          <a:prstGeom prst="rect">
            <a:avLst/>
          </a:prstGeom>
        </p:spPr>
      </p:pic>
      <p:sp>
        <p:nvSpPr>
          <p:cNvPr id="38" name="TextBox 37"/>
          <p:cNvSpPr txBox="1"/>
          <p:nvPr/>
        </p:nvSpPr>
        <p:spPr>
          <a:xfrm>
            <a:off x="914400" y="5166360"/>
            <a:ext cx="4983480" cy="56692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Not automatic or free. </a:t>
            </a:r>
            <a:r>
              <a:rPr sz="1200" b="0" i="0">
                <a:solidFill>
                  <a:srgbClr val="333D47"/>
                </a:solidFill>
                <a:latin typeface="Arial"/>
              </a:rPr>
              <a:t>Every connection needs technical and governance work, and must be useful to the people using Riley.</a:t>
            </a:r>
          </a:p>
        </p:txBody>
      </p:sp>
      <p:sp>
        <p:nvSpPr>
          <p:cNvPr id="39" name="Rounded Rectangle 38"/>
          <p:cNvSpPr/>
          <p:nvPr/>
        </p:nvSpPr>
        <p:spPr>
          <a:xfrm>
            <a:off x="6199632" y="5166360"/>
            <a:ext cx="5632704" cy="566928"/>
          </a:xfrm>
          <a:prstGeom prst="roundRect">
            <a:avLst>
              <a:gd name="adj" fmla="val 12903"/>
            </a:avLst>
          </a:prstGeom>
          <a:solidFill>
            <a:srgbClr val="FFFFFF"/>
          </a:solidFill>
          <a:ln w="9525">
            <a:solidFill>
              <a:srgbClr val="F2B6C6"/>
            </a:solidFill>
          </a:ln>
        </p:spPr>
        <p:txBody>
          <a:bodyPr rtlCol="0" anchor="ctr"/>
          <a:lstStyle/>
          <a:p>
            <a:pPr algn="ctr"/>
          </a:p>
        </p:txBody>
      </p:sp>
      <p:pic>
        <p:nvPicPr>
          <p:cNvPr id="40" name="Picture 39" descr="LuFlag_r.png"/>
          <p:cNvPicPr>
            <a:picLocks noChangeAspect="1"/>
          </p:cNvPicPr>
          <p:nvPr/>
        </p:nvPicPr>
        <p:blipFill>
          <a:blip r:embed="rId6"/>
          <a:stretch>
            <a:fillRect/>
          </a:stretch>
        </p:blipFill>
        <p:spPr>
          <a:xfrm>
            <a:off x="6345936" y="5303520"/>
            <a:ext cx="292608" cy="292608"/>
          </a:xfrm>
          <a:prstGeom prst="rect">
            <a:avLst/>
          </a:prstGeom>
        </p:spPr>
      </p:pic>
      <p:sp>
        <p:nvSpPr>
          <p:cNvPr id="41" name="TextBox 40"/>
          <p:cNvSpPr txBox="1"/>
          <p:nvPr/>
        </p:nvSpPr>
        <p:spPr>
          <a:xfrm>
            <a:off x="6757416" y="5166360"/>
            <a:ext cx="4937760" cy="56692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Tested in the pilot: </a:t>
            </a:r>
            <a:r>
              <a:rPr sz="1200" b="0" i="0">
                <a:solidFill>
                  <a:srgbClr val="333D47"/>
                </a:solidFill>
                <a:latin typeface="Arial"/>
              </a:rPr>
              <a:t>extend Riley with another approved capability, such as an AI tool built by another AIA team.</a:t>
            </a:r>
          </a:p>
        </p:txBody>
      </p:sp>
      <p:sp>
        <p:nvSpPr>
          <p:cNvPr id="42" name="Slide Number Placeholder"/>
          <p:cNvSpPr>
            <a:spLocks noGrp="1"/>
          </p:cNvSpPr>
          <p:nvPr>
            <p:ph type="sldNum" sz="quarter" idx="4"/>
          </p:nvPr>
        </p:nvSpPr>
        <p:spPr/>
        <p:txBody>
          <a:bodyPr/>
          <a:lstStyle/>
          <a:p>
            <a:fld id="{18A41853-EF22-D446-BDBC-A7CF3FE93503}" type="slidenum">
              <a:rPr lang="en-US"/>
              <a:t>7</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Twelve months to turn the idea into evidence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PLAN</a:t>
            </a:r>
          </a:p>
        </p:txBody>
      </p:sp>
      <p:sp>
        <p:nvSpPr>
          <p:cNvPr id="6" name="Rounded Rectangle 5"/>
          <p:cNvSpPr/>
          <p:nvPr/>
        </p:nvSpPr>
        <p:spPr>
          <a:xfrm>
            <a:off x="356616" y="1572768"/>
            <a:ext cx="2731770" cy="2971800"/>
          </a:xfrm>
          <a:prstGeom prst="roundRect">
            <a:avLst>
              <a:gd name="adj" fmla="val 3347"/>
            </a:avLst>
          </a:prstGeom>
          <a:solidFill>
            <a:srgbClr val="F4F1EF"/>
          </a:solidFill>
          <a:ln>
            <a:noFill/>
          </a:ln>
        </p:spPr>
        <p:txBody>
          <a:bodyPr rtlCol="0" anchor="ctr"/>
          <a:lstStyle/>
          <a:p>
            <a:pPr algn="ctr"/>
          </a:p>
        </p:txBody>
      </p:sp>
      <p:sp>
        <p:nvSpPr>
          <p:cNvPr id="7" name="TextBox 6"/>
          <p:cNvSpPr txBox="1"/>
          <p:nvPr/>
        </p:nvSpPr>
        <p:spPr>
          <a:xfrm>
            <a:off x="55778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0</a:t>
            </a:r>
            <a:r>
              <a:rPr sz="1150" b="0" i="0">
                <a:solidFill>
                  <a:srgbClr val="5F6770"/>
                </a:solidFill>
                <a:latin typeface="Arial"/>
              </a:rPr>
              <a:t>   Month 1</a:t>
            </a:r>
          </a:p>
        </p:txBody>
      </p:sp>
      <p:sp>
        <p:nvSpPr>
          <p:cNvPr id="8" name="TextBox 7"/>
          <p:cNvSpPr txBox="1"/>
          <p:nvPr/>
        </p:nvSpPr>
        <p:spPr>
          <a:xfrm>
            <a:off x="55778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Choose and baseline</a:t>
            </a:r>
          </a:p>
        </p:txBody>
      </p:sp>
      <p:sp>
        <p:nvSpPr>
          <p:cNvPr id="9" name="TextBox 8"/>
          <p:cNvSpPr txBox="1"/>
          <p:nvPr/>
        </p:nvSpPr>
        <p:spPr>
          <a:xfrm>
            <a:off x="55778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the chosen workflow take today?</a:t>
            </a:r>
          </a:p>
        </p:txBody>
      </p:sp>
      <p:sp>
        <p:nvSpPr>
          <p:cNvPr id="10" name="TextBox 9"/>
          <p:cNvSpPr txBox="1"/>
          <p:nvPr/>
        </p:nvSpPr>
        <p:spPr>
          <a:xfrm>
            <a:off x="557784" y="3630168"/>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Chosen on value, readiness, data sensitivity and governance.</a:t>
            </a:r>
          </a:p>
        </p:txBody>
      </p:sp>
      <p:sp>
        <p:nvSpPr>
          <p:cNvPr id="11" name="Rounded Rectangle 10"/>
          <p:cNvSpPr/>
          <p:nvPr/>
        </p:nvSpPr>
        <p:spPr>
          <a:xfrm>
            <a:off x="3271266" y="1572768"/>
            <a:ext cx="2731770" cy="2971800"/>
          </a:xfrm>
          <a:prstGeom prst="roundRect">
            <a:avLst>
              <a:gd name="adj" fmla="val 3347"/>
            </a:avLst>
          </a:prstGeom>
          <a:solidFill>
            <a:srgbClr val="F4F1EF"/>
          </a:solidFill>
          <a:ln>
            <a:noFill/>
          </a:ln>
        </p:spPr>
        <p:txBody>
          <a:bodyPr rtlCol="0" anchor="ctr"/>
          <a:lstStyle/>
          <a:p>
            <a:pPr algn="ctr"/>
          </a:p>
        </p:txBody>
      </p:sp>
      <p:sp>
        <p:nvSpPr>
          <p:cNvPr id="12" name="TextBox 11"/>
          <p:cNvSpPr txBox="1"/>
          <p:nvPr/>
        </p:nvSpPr>
        <p:spPr>
          <a:xfrm>
            <a:off x="34724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1</a:t>
            </a:r>
            <a:r>
              <a:rPr sz="1150" b="0" i="0">
                <a:solidFill>
                  <a:srgbClr val="5F6770"/>
                </a:solidFill>
                <a:latin typeface="Arial"/>
              </a:rPr>
              <a:t>   Months 2–4</a:t>
            </a:r>
          </a:p>
        </p:txBody>
      </p:sp>
      <p:sp>
        <p:nvSpPr>
          <p:cNvPr id="13" name="TextBox 12"/>
          <p:cNvSpPr txBox="1"/>
          <p:nvPr/>
        </p:nvSpPr>
        <p:spPr>
          <a:xfrm>
            <a:off x="34724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Pilot one workflow</a:t>
            </a:r>
          </a:p>
        </p:txBody>
      </p:sp>
      <p:sp>
        <p:nvSpPr>
          <p:cNvPr id="14" name="TextBox 13"/>
          <p:cNvSpPr txBox="1"/>
          <p:nvPr/>
        </p:nvSpPr>
        <p:spPr>
          <a:xfrm>
            <a:off x="347243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Does Riley reduce effort without losing quality?</a:t>
            </a:r>
          </a:p>
        </p:txBody>
      </p:sp>
      <p:sp>
        <p:nvSpPr>
          <p:cNvPr id="15" name="TextBox 14"/>
          <p:cNvSpPr txBox="1"/>
          <p:nvPr/>
        </p:nvSpPr>
        <p:spPr>
          <a:xfrm>
            <a:off x="3472434" y="3145536"/>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One team. Minimum capabilities only.</a:t>
            </a:r>
          </a:p>
        </p:txBody>
      </p:sp>
      <p:cxnSp>
        <p:nvCxnSpPr>
          <p:cNvPr id="16" name="Connector 15"/>
          <p:cNvCxnSpPr/>
          <p:nvPr/>
        </p:nvCxnSpPr>
        <p:spPr>
          <a:xfrm>
            <a:off x="3472434" y="3739896"/>
            <a:ext cx="2329434" cy="0"/>
          </a:xfrm>
          <a:prstGeom prst="line">
            <a:avLst/>
          </a:prstGeom>
          <a:ln w="9525">
            <a:solidFill>
              <a:srgbClr val="DDD6D0"/>
            </a:solidFill>
          </a:ln>
        </p:spPr>
      </p:cxnSp>
      <p:sp>
        <p:nvSpPr>
          <p:cNvPr id="17" name="Diamond 16"/>
          <p:cNvSpPr/>
          <p:nvPr/>
        </p:nvSpPr>
        <p:spPr>
          <a:xfrm>
            <a:off x="3472434" y="3877056"/>
            <a:ext cx="155448" cy="155448"/>
          </a:xfrm>
          <a:prstGeom prst="diamond">
            <a:avLst/>
          </a:prstGeom>
          <a:solidFill>
            <a:srgbClr val="D31145"/>
          </a:solidFill>
          <a:ln>
            <a:noFill/>
          </a:ln>
        </p:spPr>
        <p:txBody>
          <a:bodyPr rtlCol="0" anchor="ctr"/>
          <a:lstStyle/>
          <a:p>
            <a:pPr algn="ctr"/>
          </a:p>
        </p:txBody>
      </p:sp>
      <p:sp>
        <p:nvSpPr>
          <p:cNvPr id="18" name="TextBox 17"/>
          <p:cNvSpPr txBox="1"/>
          <p:nvPr/>
        </p:nvSpPr>
        <p:spPr>
          <a:xfrm>
            <a:off x="3701034" y="3813048"/>
            <a:ext cx="2091690" cy="731520"/>
          </a:xfrm>
          <a:prstGeom prst="rect">
            <a:avLst/>
          </a:prstGeom>
          <a:noFill/>
        </p:spPr>
        <p:txBody>
          <a:bodyPr wrap="square" lIns="0" tIns="0" rIns="0" bIns="0" anchor="t">
            <a:noAutofit/>
          </a:bodyPr>
          <a:lstStyle/>
          <a:p>
            <a:pPr algn="l">
              <a:spcAft>
                <a:spcPts val="0"/>
              </a:spcAft>
            </a:pPr>
            <a:r>
              <a:rPr sz="1000" b="1" i="0" spc="50">
                <a:solidFill>
                  <a:srgbClr val="333D47"/>
                </a:solidFill>
                <a:latin typeface="Arial"/>
              </a:rPr>
              <a:t>GO / NO-GO  </a:t>
            </a:r>
            <a:r>
              <a:rPr sz="1150" b="0" i="0">
                <a:solidFill>
                  <a:srgbClr val="333D47"/>
                </a:solidFill>
                <a:latin typeface="Arial"/>
              </a:rPr>
              <a:t>Effort down, quality held, usage sustained</a:t>
            </a:r>
          </a:p>
        </p:txBody>
      </p:sp>
      <p:sp>
        <p:nvSpPr>
          <p:cNvPr id="19" name="Rounded Rectangle 18"/>
          <p:cNvSpPr/>
          <p:nvPr/>
        </p:nvSpPr>
        <p:spPr>
          <a:xfrm>
            <a:off x="6185916" y="1572768"/>
            <a:ext cx="2731770" cy="2971800"/>
          </a:xfrm>
          <a:prstGeom prst="roundRect">
            <a:avLst>
              <a:gd name="adj" fmla="val 3347"/>
            </a:avLst>
          </a:prstGeom>
          <a:solidFill>
            <a:srgbClr val="D31145"/>
          </a:solidFill>
          <a:ln>
            <a:noFill/>
          </a:ln>
        </p:spPr>
        <p:txBody>
          <a:bodyPr rtlCol="0" anchor="ctr"/>
          <a:lstStyle/>
          <a:p>
            <a:pPr algn="ctr"/>
          </a:p>
        </p:txBody>
      </p:sp>
      <p:sp>
        <p:nvSpPr>
          <p:cNvPr id="20" name="TextBox 19"/>
          <p:cNvSpPr txBox="1"/>
          <p:nvPr/>
        </p:nvSpPr>
        <p:spPr>
          <a:xfrm>
            <a:off x="6387084" y="1755648"/>
            <a:ext cx="2329434" cy="237744"/>
          </a:xfrm>
          <a:prstGeom prst="rect">
            <a:avLst/>
          </a:prstGeom>
          <a:noFill/>
        </p:spPr>
        <p:txBody>
          <a:bodyPr wrap="square" lIns="0" tIns="0" rIns="0" bIns="0" anchor="t">
            <a:noAutofit/>
          </a:bodyPr>
          <a:lstStyle/>
          <a:p>
            <a:pPr algn="l">
              <a:spcAft>
                <a:spcPts val="0"/>
              </a:spcAft>
            </a:pPr>
            <a:r>
              <a:rPr sz="1150" b="1" i="0" spc="100">
                <a:solidFill>
                  <a:srgbClr val="FFFFFF"/>
                </a:solidFill>
                <a:latin typeface="Arial"/>
              </a:rPr>
              <a:t>PHASE 2</a:t>
            </a:r>
            <a:r>
              <a:rPr sz="1150" b="0" i="0">
                <a:solidFill>
                  <a:srgbClr val="FFFFFF"/>
                </a:solidFill>
                <a:latin typeface="Arial"/>
              </a:rPr>
              <a:t>   Months 5–7</a:t>
            </a:r>
          </a:p>
        </p:txBody>
      </p:sp>
      <p:sp>
        <p:nvSpPr>
          <p:cNvPr id="21" name="TextBox 20"/>
          <p:cNvSpPr txBox="1"/>
          <p:nvPr/>
        </p:nvSpPr>
        <p:spPr>
          <a:xfrm>
            <a:off x="6387084" y="2048256"/>
            <a:ext cx="2329434" cy="310896"/>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Extend Riley</a:t>
            </a:r>
          </a:p>
        </p:txBody>
      </p:sp>
      <p:sp>
        <p:nvSpPr>
          <p:cNvPr id="22" name="TextBox 21"/>
          <p:cNvSpPr txBox="1"/>
          <p:nvPr/>
        </p:nvSpPr>
        <p:spPr>
          <a:xfrm>
            <a:off x="638708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FFFFFF"/>
                </a:solidFill>
                <a:latin typeface="Arial"/>
              </a:rPr>
              <a:t>Can Riley add another approved capability, keeping the same experience and quality?</a:t>
            </a:r>
          </a:p>
        </p:txBody>
      </p:sp>
      <p:cxnSp>
        <p:nvCxnSpPr>
          <p:cNvPr id="23" name="Connector 22"/>
          <p:cNvCxnSpPr/>
          <p:nvPr/>
        </p:nvCxnSpPr>
        <p:spPr>
          <a:xfrm>
            <a:off x="6387084" y="3739896"/>
            <a:ext cx="2329434" cy="0"/>
          </a:xfrm>
          <a:prstGeom prst="line">
            <a:avLst/>
          </a:prstGeom>
          <a:ln w="9525">
            <a:solidFill>
              <a:srgbClr val="F2B6C6"/>
            </a:solidFill>
          </a:ln>
        </p:spPr>
      </p:cxnSp>
      <p:sp>
        <p:nvSpPr>
          <p:cNvPr id="24" name="Diamond 23"/>
          <p:cNvSpPr/>
          <p:nvPr/>
        </p:nvSpPr>
        <p:spPr>
          <a:xfrm>
            <a:off x="6387084" y="3877056"/>
            <a:ext cx="155448" cy="155448"/>
          </a:xfrm>
          <a:prstGeom prst="diamond">
            <a:avLst/>
          </a:prstGeom>
          <a:solidFill>
            <a:srgbClr val="FFFFFF"/>
          </a:solidFill>
          <a:ln>
            <a:noFill/>
          </a:ln>
        </p:spPr>
        <p:txBody>
          <a:bodyPr rtlCol="0" anchor="ctr"/>
          <a:lstStyle/>
          <a:p>
            <a:pPr algn="ctr"/>
          </a:p>
        </p:txBody>
      </p:sp>
      <p:sp>
        <p:nvSpPr>
          <p:cNvPr id="25" name="TextBox 24"/>
          <p:cNvSpPr txBox="1"/>
          <p:nvPr/>
        </p:nvSpPr>
        <p:spPr>
          <a:xfrm>
            <a:off x="6615684" y="3813048"/>
            <a:ext cx="2091690" cy="731520"/>
          </a:xfrm>
          <a:prstGeom prst="rect">
            <a:avLst/>
          </a:prstGeom>
          <a:noFill/>
        </p:spPr>
        <p:txBody>
          <a:bodyPr wrap="square" lIns="0" tIns="0" rIns="0" bIns="0" anchor="t">
            <a:noAutofit/>
          </a:bodyPr>
          <a:lstStyle/>
          <a:p>
            <a:pPr algn="l">
              <a:spcAft>
                <a:spcPts val="0"/>
              </a:spcAft>
            </a:pPr>
            <a:r>
              <a:rPr sz="1000" b="1" i="0" spc="50">
                <a:solidFill>
                  <a:srgbClr val="FFFFFF"/>
                </a:solidFill>
                <a:latin typeface="Arial"/>
              </a:rPr>
              <a:t>GO / NO-GO  </a:t>
            </a:r>
            <a:r>
              <a:rPr sz="1150" b="0" i="0">
                <a:solidFill>
                  <a:srgbClr val="FFFFFF"/>
                </a:solidFill>
                <a:latin typeface="Arial"/>
              </a:rPr>
              <a:t>Usable through Riley; results hold across two workflows</a:t>
            </a:r>
          </a:p>
        </p:txBody>
      </p:sp>
      <p:sp>
        <p:nvSpPr>
          <p:cNvPr id="26" name="Rounded Rectangle 25"/>
          <p:cNvSpPr/>
          <p:nvPr/>
        </p:nvSpPr>
        <p:spPr>
          <a:xfrm>
            <a:off x="6683121" y="1389888"/>
            <a:ext cx="173736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THE EXTENSION TEST</a:t>
            </a:r>
          </a:p>
        </p:txBody>
      </p:sp>
      <p:sp>
        <p:nvSpPr>
          <p:cNvPr id="27" name="Rounded Rectangle 26"/>
          <p:cNvSpPr/>
          <p:nvPr/>
        </p:nvSpPr>
        <p:spPr>
          <a:xfrm>
            <a:off x="9100566" y="1572768"/>
            <a:ext cx="2731770" cy="2971800"/>
          </a:xfrm>
          <a:prstGeom prst="roundRect">
            <a:avLst>
              <a:gd name="adj" fmla="val 3347"/>
            </a:avLst>
          </a:prstGeom>
          <a:solidFill>
            <a:srgbClr val="F4F1EF"/>
          </a:solidFill>
          <a:ln>
            <a:noFill/>
          </a:ln>
        </p:spPr>
        <p:txBody>
          <a:bodyPr rtlCol="0" anchor="ctr"/>
          <a:lstStyle/>
          <a:p>
            <a:pPr algn="ctr"/>
          </a:p>
        </p:txBody>
      </p:sp>
      <p:sp>
        <p:nvSpPr>
          <p:cNvPr id="28" name="TextBox 27"/>
          <p:cNvSpPr txBox="1"/>
          <p:nvPr/>
        </p:nvSpPr>
        <p:spPr>
          <a:xfrm>
            <a:off x="93017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3</a:t>
            </a:r>
            <a:r>
              <a:rPr sz="1150" b="0" i="0">
                <a:solidFill>
                  <a:srgbClr val="5F6770"/>
                </a:solidFill>
                <a:latin typeface="Arial"/>
              </a:rPr>
              <a:t>   Months 8–12</a:t>
            </a:r>
          </a:p>
        </p:txBody>
      </p:sp>
      <p:sp>
        <p:nvSpPr>
          <p:cNvPr id="29" name="TextBox 28"/>
          <p:cNvSpPr txBox="1"/>
          <p:nvPr/>
        </p:nvSpPr>
        <p:spPr>
          <a:xfrm>
            <a:off x="93017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Scale toward the vision</a:t>
            </a:r>
          </a:p>
        </p:txBody>
      </p:sp>
      <p:sp>
        <p:nvSpPr>
          <p:cNvPr id="30" name="TextBox 29"/>
          <p:cNvSpPr txBox="1"/>
          <p:nvPr/>
        </p:nvSpPr>
        <p:spPr>
          <a:xfrm>
            <a:off x="9301734" y="2468880"/>
            <a:ext cx="2329434" cy="109728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measured data say about wider impact?</a:t>
            </a:r>
          </a:p>
        </p:txBody>
      </p:sp>
      <p:sp>
        <p:nvSpPr>
          <p:cNvPr id="31" name="TextBox 30"/>
          <p:cNvSpPr txBox="1"/>
          <p:nvPr/>
        </p:nvSpPr>
        <p:spPr>
          <a:xfrm>
            <a:off x="9301734" y="3630168"/>
            <a:ext cx="2329434" cy="54864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Measured data replaces the illustrative scenario.</a:t>
            </a:r>
          </a:p>
        </p:txBody>
      </p:sp>
      <p:sp>
        <p:nvSpPr>
          <p:cNvPr id="32" name="Rounded Rectangle 31"/>
          <p:cNvSpPr/>
          <p:nvPr/>
        </p:nvSpPr>
        <p:spPr>
          <a:xfrm>
            <a:off x="356616" y="4800600"/>
            <a:ext cx="5632704" cy="822960"/>
          </a:xfrm>
          <a:prstGeom prst="roundRect">
            <a:avLst>
              <a:gd name="adj" fmla="val 8888"/>
            </a:avLst>
          </a:prstGeom>
          <a:solidFill>
            <a:srgbClr val="FFFFFF"/>
          </a:solidFill>
          <a:ln w="9525">
            <a:solidFill>
              <a:srgbClr val="DDD6D0"/>
            </a:solidFill>
          </a:ln>
        </p:spPr>
        <p:txBody>
          <a:bodyPr rtlCol="0" anchor="ctr"/>
          <a:lstStyle/>
          <a:p>
            <a:pPr algn="ctr"/>
          </a:p>
        </p:txBody>
      </p:sp>
      <p:pic>
        <p:nvPicPr>
          <p:cNvPr id="33" name="Picture 32" descr="LuTarget_c.png"/>
          <p:cNvPicPr>
            <a:picLocks noChangeAspect="1"/>
          </p:cNvPicPr>
          <p:nvPr/>
        </p:nvPicPr>
        <p:blipFill>
          <a:blip r:embed="rId3"/>
          <a:stretch>
            <a:fillRect/>
          </a:stretch>
        </p:blipFill>
        <p:spPr>
          <a:xfrm>
            <a:off x="521208" y="5056632"/>
            <a:ext cx="310896" cy="310896"/>
          </a:xfrm>
          <a:prstGeom prst="rect">
            <a:avLst/>
          </a:prstGeom>
        </p:spPr>
      </p:pic>
      <p:sp>
        <p:nvSpPr>
          <p:cNvPr id="34" name="TextBox 33"/>
          <p:cNvSpPr txBox="1"/>
          <p:nvPr/>
        </p:nvSpPr>
        <p:spPr>
          <a:xfrm>
            <a:off x="960120" y="4800600"/>
            <a:ext cx="4937760" cy="822960"/>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Phase 1 stays narrow: </a:t>
            </a:r>
            <a:r>
              <a:rPr sz="1200" b="0" i="0">
                <a:solidFill>
                  <a:srgbClr val="333D47"/>
                </a:solidFill>
                <a:latin typeface="Arial"/>
              </a:rPr>
              <a:t>only the minimum capabilities one meaningful workflow needs. The wider set of hands is the long-term direction.</a:t>
            </a:r>
          </a:p>
        </p:txBody>
      </p:sp>
      <p:sp>
        <p:nvSpPr>
          <p:cNvPr id="35" name="Rounded Rectangle 34"/>
          <p:cNvSpPr/>
          <p:nvPr/>
        </p:nvSpPr>
        <p:spPr>
          <a:xfrm>
            <a:off x="6199632" y="4800600"/>
            <a:ext cx="5632704" cy="822960"/>
          </a:xfrm>
          <a:prstGeom prst="roundRect">
            <a:avLst>
              <a:gd name="adj" fmla="val 8888"/>
            </a:avLst>
          </a:prstGeom>
          <a:solidFill>
            <a:srgbClr val="FFFFFF"/>
          </a:solidFill>
          <a:ln w="9525">
            <a:solidFill>
              <a:srgbClr val="F2B6C6"/>
            </a:solidFill>
          </a:ln>
        </p:spPr>
        <p:txBody>
          <a:bodyPr rtlCol="0" anchor="ctr"/>
          <a:lstStyle/>
          <a:p>
            <a:pPr algn="ctr"/>
          </a:p>
        </p:txBody>
      </p:sp>
      <p:pic>
        <p:nvPicPr>
          <p:cNvPr id="36" name="Picture 35" descr="LuRefreshCw_r.png"/>
          <p:cNvPicPr>
            <a:picLocks noChangeAspect="1"/>
          </p:cNvPicPr>
          <p:nvPr/>
        </p:nvPicPr>
        <p:blipFill>
          <a:blip r:embed="rId4"/>
          <a:stretch>
            <a:fillRect/>
          </a:stretch>
        </p:blipFill>
        <p:spPr>
          <a:xfrm>
            <a:off x="6364224" y="5056632"/>
            <a:ext cx="310896" cy="310896"/>
          </a:xfrm>
          <a:prstGeom prst="rect">
            <a:avLst/>
          </a:prstGeom>
        </p:spPr>
      </p:pic>
      <p:sp>
        <p:nvSpPr>
          <p:cNvPr id="37" name="TextBox 36"/>
          <p:cNvSpPr txBox="1"/>
          <p:nvPr/>
        </p:nvSpPr>
        <p:spPr>
          <a:xfrm>
            <a:off x="6803136" y="4800600"/>
            <a:ext cx="4892040" cy="822960"/>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If Phase 2’s capability can’t be connected: </a:t>
            </a:r>
            <a:r>
              <a:rPr sz="1200" b="0" i="0">
                <a:solidFill>
                  <a:srgbClr val="333D47"/>
                </a:solidFill>
                <a:latin typeface="Arial"/>
              </a:rPr>
              <a:t>select another approved capability, and record why the first attempt failed.</a:t>
            </a:r>
          </a:p>
        </p:txBody>
      </p:sp>
      <p:sp>
        <p:nvSpPr>
          <p:cNvPr id="38" name="Slide Number Placeholder"/>
          <p:cNvSpPr>
            <a:spLocks noGrp="1"/>
          </p:cNvSpPr>
          <p:nvPr>
            <p:ph type="sldNum" sz="quarter" idx="4"/>
          </p:nvPr>
        </p:nvSpPr>
        <p:spPr/>
        <p:txBody>
          <a:bodyPr/>
          <a:lstStyle/>
          <a:p>
            <a:fld id="{18A41853-EF22-D446-BDBC-A7CF3FE93503}" type="slidenum">
              <a:rPr lang="en-US"/>
              <a:t>8</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coworker that can grow in three directions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6" name="Rounded Rectangle 5"/>
          <p:cNvSpPr/>
          <p:nvPr/>
        </p:nvSpPr>
        <p:spPr>
          <a:xfrm>
            <a:off x="356616" y="1371600"/>
            <a:ext cx="3639312" cy="1874520"/>
          </a:xfrm>
          <a:prstGeom prst="roundRect">
            <a:avLst>
              <a:gd name="adj" fmla="val 4878"/>
            </a:avLst>
          </a:prstGeom>
          <a:solidFill>
            <a:srgbClr val="F4F1EF"/>
          </a:solidFill>
          <a:ln>
            <a:noFill/>
          </a:ln>
        </p:spPr>
        <p:txBody>
          <a:bodyPr rtlCol="0" anchor="ctr"/>
          <a:lstStyle/>
          <a:p>
            <a:pPr algn="ctr"/>
          </a:p>
        </p:txBody>
      </p:sp>
      <p:sp>
        <p:nvSpPr>
          <p:cNvPr id="7" name="Oval 6"/>
          <p:cNvSpPr/>
          <p:nvPr/>
        </p:nvSpPr>
        <p:spPr>
          <a:xfrm>
            <a:off x="585216" y="1600200"/>
            <a:ext cx="512064" cy="512064"/>
          </a:xfrm>
          <a:prstGeom prst="ellipse">
            <a:avLst/>
          </a:prstGeom>
          <a:solidFill>
            <a:srgbClr val="D31145"/>
          </a:solidFill>
          <a:ln>
            <a:noFill/>
          </a:ln>
        </p:spPr>
        <p:txBody>
          <a:bodyPr rtlCol="0" anchor="ctr"/>
          <a:lstStyle/>
          <a:p>
            <a:pPr algn="ctr"/>
          </a:p>
        </p:txBody>
      </p:sp>
      <p:pic>
        <p:nvPicPr>
          <p:cNvPr id="8" name="Picture 7" descr="LuUsers_w.png"/>
          <p:cNvPicPr>
            <a:picLocks noChangeAspect="1"/>
          </p:cNvPicPr>
          <p:nvPr/>
        </p:nvPicPr>
        <p:blipFill>
          <a:blip r:embed="rId3"/>
          <a:stretch>
            <a:fillRect/>
          </a:stretch>
        </p:blipFill>
        <p:spPr>
          <a:xfrm>
            <a:off x="702991" y="1717975"/>
            <a:ext cx="276515" cy="276515"/>
          </a:xfrm>
          <a:prstGeom prst="rect">
            <a:avLst/>
          </a:prstGeom>
        </p:spPr>
      </p:pic>
      <p:sp>
        <p:nvSpPr>
          <p:cNvPr id="9" name="TextBox 8"/>
          <p:cNvSpPr txBox="1"/>
          <p:nvPr/>
        </p:nvSpPr>
        <p:spPr>
          <a:xfrm>
            <a:off x="1252728"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employees</a:t>
            </a:r>
          </a:p>
        </p:txBody>
      </p:sp>
      <p:sp>
        <p:nvSpPr>
          <p:cNvPr id="10" name="TextBox 9"/>
          <p:cNvSpPr txBox="1"/>
          <p:nvPr/>
        </p:nvSpPr>
        <p:spPr>
          <a:xfrm>
            <a:off x="585216"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From one pilot team to back-office teams across many functions.</a:t>
            </a:r>
          </a:p>
        </p:txBody>
      </p:sp>
      <p:sp>
        <p:nvSpPr>
          <p:cNvPr id="11" name="Rounded Rectangle 10"/>
          <p:cNvSpPr/>
          <p:nvPr/>
        </p:nvSpPr>
        <p:spPr>
          <a:xfrm>
            <a:off x="4274820" y="1371600"/>
            <a:ext cx="3639312" cy="1874520"/>
          </a:xfrm>
          <a:prstGeom prst="roundRect">
            <a:avLst>
              <a:gd name="adj" fmla="val 4878"/>
            </a:avLst>
          </a:prstGeom>
          <a:solidFill>
            <a:srgbClr val="F4F1EF"/>
          </a:solidFill>
          <a:ln>
            <a:noFill/>
          </a:ln>
        </p:spPr>
        <p:txBody>
          <a:bodyPr rtlCol="0" anchor="ctr"/>
          <a:lstStyle/>
          <a:p>
            <a:pPr algn="ctr"/>
          </a:p>
        </p:txBody>
      </p:sp>
      <p:sp>
        <p:nvSpPr>
          <p:cNvPr id="12" name="Oval 11"/>
          <p:cNvSpPr/>
          <p:nvPr/>
        </p:nvSpPr>
        <p:spPr>
          <a:xfrm>
            <a:off x="4503420" y="1600200"/>
            <a:ext cx="512064" cy="512064"/>
          </a:xfrm>
          <a:prstGeom prst="ellipse">
            <a:avLst/>
          </a:prstGeom>
          <a:solidFill>
            <a:srgbClr val="D31145"/>
          </a:solidFill>
          <a:ln>
            <a:noFill/>
          </a:ln>
        </p:spPr>
        <p:txBody>
          <a:bodyPr rtlCol="0" anchor="ctr"/>
          <a:lstStyle/>
          <a:p>
            <a:pPr algn="ctr"/>
          </a:p>
        </p:txBody>
      </p:sp>
      <p:pic>
        <p:nvPicPr>
          <p:cNvPr id="13" name="Picture 12" descr="LuWorkflow_w.png"/>
          <p:cNvPicPr>
            <a:picLocks noChangeAspect="1"/>
          </p:cNvPicPr>
          <p:nvPr/>
        </p:nvPicPr>
        <p:blipFill>
          <a:blip r:embed="rId4"/>
          <a:stretch>
            <a:fillRect/>
          </a:stretch>
        </p:blipFill>
        <p:spPr>
          <a:xfrm>
            <a:off x="4621195" y="1717975"/>
            <a:ext cx="276515" cy="276515"/>
          </a:xfrm>
          <a:prstGeom prst="rect">
            <a:avLst/>
          </a:prstGeom>
        </p:spPr>
      </p:pic>
      <p:sp>
        <p:nvSpPr>
          <p:cNvPr id="14" name="TextBox 13"/>
          <p:cNvSpPr txBox="1"/>
          <p:nvPr/>
        </p:nvSpPr>
        <p:spPr>
          <a:xfrm>
            <a:off x="5170932"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workflows</a:t>
            </a:r>
          </a:p>
        </p:txBody>
      </p:sp>
      <p:sp>
        <p:nvSpPr>
          <p:cNvPr id="15" name="TextBox 14"/>
          <p:cNvSpPr txBox="1"/>
          <p:nvPr/>
        </p:nvSpPr>
        <p:spPr>
          <a:xfrm>
            <a:off x="4503420"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New kinds of work through the same coworker, rather than a new tool each time.</a:t>
            </a:r>
          </a:p>
        </p:txBody>
      </p:sp>
      <p:sp>
        <p:nvSpPr>
          <p:cNvPr id="16" name="Rounded Rectangle 15"/>
          <p:cNvSpPr/>
          <p:nvPr/>
        </p:nvSpPr>
        <p:spPr>
          <a:xfrm>
            <a:off x="8193024" y="1371600"/>
            <a:ext cx="3639312" cy="1874520"/>
          </a:xfrm>
          <a:prstGeom prst="roundRect">
            <a:avLst>
              <a:gd name="adj" fmla="val 4878"/>
            </a:avLst>
          </a:prstGeom>
          <a:solidFill>
            <a:srgbClr val="F4F1EF"/>
          </a:solidFill>
          <a:ln>
            <a:noFill/>
          </a:ln>
        </p:spPr>
        <p:txBody>
          <a:bodyPr rtlCol="0" anchor="ctr"/>
          <a:lstStyle/>
          <a:p>
            <a:pPr algn="ctr"/>
          </a:p>
        </p:txBody>
      </p:sp>
      <p:sp>
        <p:nvSpPr>
          <p:cNvPr id="17" name="Oval 16"/>
          <p:cNvSpPr/>
          <p:nvPr/>
        </p:nvSpPr>
        <p:spPr>
          <a:xfrm>
            <a:off x="8421624" y="1600200"/>
            <a:ext cx="512064" cy="512064"/>
          </a:xfrm>
          <a:prstGeom prst="ellipse">
            <a:avLst/>
          </a:prstGeom>
          <a:solidFill>
            <a:srgbClr val="D31145"/>
          </a:solidFill>
          <a:ln>
            <a:noFill/>
          </a:ln>
        </p:spPr>
        <p:txBody>
          <a:bodyPr rtlCol="0" anchor="ctr"/>
          <a:lstStyle/>
          <a:p>
            <a:pPr algn="ctr"/>
          </a:p>
        </p:txBody>
      </p:sp>
      <p:pic>
        <p:nvPicPr>
          <p:cNvPr id="18" name="Picture 17" descr="LuBlocks_w.png"/>
          <p:cNvPicPr>
            <a:picLocks noChangeAspect="1"/>
          </p:cNvPicPr>
          <p:nvPr/>
        </p:nvPicPr>
        <p:blipFill>
          <a:blip r:embed="rId5"/>
          <a:stretch>
            <a:fillRect/>
          </a:stretch>
        </p:blipFill>
        <p:spPr>
          <a:xfrm>
            <a:off x="8539399" y="1717975"/>
            <a:ext cx="276515" cy="276515"/>
          </a:xfrm>
          <a:prstGeom prst="rect">
            <a:avLst/>
          </a:prstGeom>
        </p:spPr>
      </p:pic>
      <p:sp>
        <p:nvSpPr>
          <p:cNvPr id="19" name="TextBox 18"/>
          <p:cNvSpPr txBox="1"/>
          <p:nvPr/>
        </p:nvSpPr>
        <p:spPr>
          <a:xfrm>
            <a:off x="9089136"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connected capabilities</a:t>
            </a:r>
          </a:p>
        </p:txBody>
      </p:sp>
      <p:sp>
        <p:nvSpPr>
          <p:cNvPr id="20" name="TextBox 19"/>
          <p:cNvSpPr txBox="1"/>
          <p:nvPr/>
        </p:nvSpPr>
        <p:spPr>
          <a:xfrm>
            <a:off x="8421624"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Systems, data, internal AI tools and approved services. Each could serve every permitted employee.</a:t>
            </a:r>
          </a:p>
        </p:txBody>
      </p:sp>
      <p:sp>
        <p:nvSpPr>
          <p:cNvPr id="21" name="Rounded Rectangle 20"/>
          <p:cNvSpPr/>
          <p:nvPr/>
        </p:nvSpPr>
        <p:spPr>
          <a:xfrm>
            <a:off x="356616" y="3474720"/>
            <a:ext cx="11475720" cy="1143000"/>
          </a:xfrm>
          <a:prstGeom prst="roundRect">
            <a:avLst>
              <a:gd name="adj" fmla="val 8000"/>
            </a:avLst>
          </a:prstGeom>
          <a:solidFill>
            <a:srgbClr val="D31145"/>
          </a:solidFill>
          <a:ln>
            <a:noFill/>
          </a:ln>
        </p:spPr>
        <p:txBody>
          <a:bodyPr rtlCol="0" anchor="ctr"/>
          <a:lstStyle/>
          <a:p>
            <a:pPr algn="ctr"/>
          </a:p>
        </p:txBody>
      </p:sp>
      <p:sp>
        <p:nvSpPr>
          <p:cNvPr id="22" name="Rounded Rectangle 21"/>
          <p:cNvSpPr/>
          <p:nvPr/>
        </p:nvSpPr>
        <p:spPr>
          <a:xfrm>
            <a:off x="594360" y="3657600"/>
            <a:ext cx="23774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VISION, NOT A FORECAST</a:t>
            </a:r>
          </a:p>
        </p:txBody>
      </p:sp>
      <p:sp>
        <p:nvSpPr>
          <p:cNvPr id="23" name="TextBox 22"/>
          <p:cNvSpPr txBox="1"/>
          <p:nvPr/>
        </p:nvSpPr>
        <p:spPr>
          <a:xfrm>
            <a:off x="594360" y="4023360"/>
            <a:ext cx="10972800" cy="457200"/>
          </a:xfrm>
          <a:prstGeom prst="rect">
            <a:avLst/>
          </a:prstGeom>
          <a:noFill/>
        </p:spPr>
        <p:txBody>
          <a:bodyPr wrap="square" lIns="0" tIns="0" rIns="0" bIns="0" anchor="t">
            <a:noAutofit/>
          </a:bodyPr>
          <a:lstStyle/>
          <a:p>
            <a:pPr algn="l">
              <a:spcAft>
                <a:spcPts val="0"/>
              </a:spcAft>
            </a:pPr>
            <a:r>
              <a:rPr sz="1700" b="1" i="0">
                <a:solidFill>
                  <a:srgbClr val="FFFFFF"/>
                </a:solidFill>
                <a:latin typeface="Arial"/>
              </a:rPr>
              <a:t>A digital execution partner for every AIA employee, with the employee accountable for every decision.</a:t>
            </a:r>
          </a:p>
        </p:txBody>
      </p:sp>
      <p:sp>
        <p:nvSpPr>
          <p:cNvPr id="24" name="Rounded Rectangle 23"/>
          <p:cNvSpPr/>
          <p:nvPr/>
        </p:nvSpPr>
        <p:spPr>
          <a:xfrm>
            <a:off x="356616" y="4846320"/>
            <a:ext cx="5632704" cy="749808"/>
          </a:xfrm>
          <a:prstGeom prst="roundRect">
            <a:avLst>
              <a:gd name="adj" fmla="val 9756"/>
            </a:avLst>
          </a:prstGeom>
          <a:solidFill>
            <a:srgbClr val="FFFFFF"/>
          </a:solidFill>
          <a:ln w="9525">
            <a:solidFill>
              <a:srgbClr val="DDD6D0"/>
            </a:solidFill>
          </a:ln>
        </p:spPr>
        <p:txBody>
          <a:bodyPr rtlCol="0" anchor="ctr"/>
          <a:lstStyle/>
          <a:p>
            <a:pPr algn="ctr"/>
          </a:p>
        </p:txBody>
      </p:sp>
      <p:pic>
        <p:nvPicPr>
          <p:cNvPr id="25" name="Picture 24" descr="LuEarth_c.png"/>
          <p:cNvPicPr>
            <a:picLocks noChangeAspect="1"/>
          </p:cNvPicPr>
          <p:nvPr/>
        </p:nvPicPr>
        <p:blipFill>
          <a:blip r:embed="rId6"/>
          <a:stretch>
            <a:fillRect/>
          </a:stretch>
        </p:blipFill>
        <p:spPr>
          <a:xfrm>
            <a:off x="521208" y="5056632"/>
            <a:ext cx="329184" cy="329184"/>
          </a:xfrm>
          <a:prstGeom prst="rect">
            <a:avLst/>
          </a:prstGeom>
        </p:spPr>
      </p:pic>
      <p:sp>
        <p:nvSpPr>
          <p:cNvPr id="26" name="TextBox 25"/>
          <p:cNvSpPr txBox="1"/>
          <p:nvPr/>
        </p:nvSpPr>
        <p:spPr>
          <a:xfrm>
            <a:off x="1005840" y="4846320"/>
            <a:ext cx="4892040" cy="74980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Across markets: </a:t>
            </a:r>
            <a:r>
              <a:rPr sz="1200" b="0" i="0">
                <a:solidFill>
                  <a:srgbClr val="333D47"/>
                </a:solidFill>
                <a:latin typeface="Arial"/>
              </a:rPr>
              <a:t>reuse the core experience. Each market still adds its own integrations, data controls, governance and configuration.</a:t>
            </a:r>
          </a:p>
        </p:txBody>
      </p:sp>
      <p:sp>
        <p:nvSpPr>
          <p:cNvPr id="27" name="Rounded Rectangle 26"/>
          <p:cNvSpPr/>
          <p:nvPr/>
        </p:nvSpPr>
        <p:spPr>
          <a:xfrm>
            <a:off x="6199632" y="4846320"/>
            <a:ext cx="5632704" cy="749808"/>
          </a:xfrm>
          <a:prstGeom prst="roundRect">
            <a:avLst>
              <a:gd name="adj" fmla="val 9756"/>
            </a:avLst>
          </a:prstGeom>
          <a:solidFill>
            <a:srgbClr val="FBE8ED"/>
          </a:solidFill>
          <a:ln>
            <a:noFill/>
          </a:ln>
        </p:spPr>
        <p:txBody>
          <a:bodyPr rtlCol="0" anchor="ctr"/>
          <a:lstStyle/>
          <a:p>
            <a:pPr algn="ctr"/>
          </a:p>
        </p:txBody>
      </p:sp>
      <p:pic>
        <p:nvPicPr>
          <p:cNvPr id="28" name="Picture 27" descr="LuTrendingUp_r.png"/>
          <p:cNvPicPr>
            <a:picLocks noChangeAspect="1"/>
          </p:cNvPicPr>
          <p:nvPr/>
        </p:nvPicPr>
        <p:blipFill>
          <a:blip r:embed="rId7"/>
          <a:stretch>
            <a:fillRect/>
          </a:stretch>
        </p:blipFill>
        <p:spPr>
          <a:xfrm>
            <a:off x="6364224" y="5056632"/>
            <a:ext cx="329184" cy="329184"/>
          </a:xfrm>
          <a:prstGeom prst="rect">
            <a:avLst/>
          </a:prstGeom>
        </p:spPr>
      </p:pic>
      <p:sp>
        <p:nvSpPr>
          <p:cNvPr id="29" name="TextBox 28"/>
          <p:cNvSpPr txBox="1"/>
          <p:nvPr/>
        </p:nvSpPr>
        <p:spPr>
          <a:xfrm>
            <a:off x="6848856" y="4846320"/>
            <a:ext cx="4846320" cy="74980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Enduring value: </a:t>
            </a:r>
            <a:r>
              <a:rPr sz="1200" b="0" i="0">
                <a:solidFill>
                  <a:srgbClr val="333D47"/>
                </a:solidFill>
                <a:latin typeface="Arial"/>
              </a:rPr>
              <a:t>designed so usefulness can grow as capabilities, workflows and feedback are added.</a:t>
            </a:r>
          </a:p>
        </p:txBody>
      </p:sp>
      <p:sp>
        <p:nvSpPr>
          <p:cNvPr id="30" name="Slide Number Placeholder"/>
          <p:cNvSpPr>
            <a:spLocks noGrp="1"/>
          </p:cNvSpPr>
          <p:nvPr>
            <p:ph type="sldNum" sz="quarter" idx="4"/>
          </p:nvPr>
        </p:nvSpPr>
        <p:spPr/>
        <p:txBody>
          <a:bodyPr/>
          <a:lstStyle/>
          <a:p>
            <a:fld id="{18A41853-EF22-D446-BDBC-A7CF3FE93503}" type="slidenum">
              <a:rPr lang="en-US"/>
              <a:t>9</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6" name="Oval 5"/>
          <p:cNvSpPr/>
          <p:nvPr/>
        </p:nvSpPr>
        <p:spPr>
          <a:xfrm>
            <a:off x="356616" y="1371600"/>
            <a:ext cx="457200" cy="457200"/>
          </a:xfrm>
          <a:prstGeom prst="ellipse">
            <a:avLst/>
          </a:prstGeom>
          <a:solidFill>
            <a:srgbClr val="333D47"/>
          </a:solidFill>
          <a:ln>
            <a:noFill/>
          </a:ln>
        </p:spPr>
        <p:txBody>
          <a:bodyPr rtlCol="0" anchor="ctr"/>
          <a:lstStyle/>
          <a:p>
            <a:pPr algn="ctr"/>
          </a:p>
        </p:txBody>
      </p:sp>
      <p:pic>
        <p:nvPicPr>
          <p:cNvPr id="7" name="Picture 6" descr="LuMessagesSquare_w.png"/>
          <p:cNvPicPr>
            <a:picLocks noChangeAspect="1"/>
          </p:cNvPicPr>
          <p:nvPr/>
        </p:nvPicPr>
        <p:blipFill>
          <a:blip r:embed="rId3"/>
          <a:stretch>
            <a:fillRect/>
          </a:stretch>
        </p:blipFill>
        <p:spPr>
          <a:xfrm>
            <a:off x="461772" y="1476756"/>
            <a:ext cx="246888" cy="246888"/>
          </a:xfrm>
          <a:prstGeom prst="rect">
            <a:avLst/>
          </a:prstGeom>
        </p:spPr>
      </p:pic>
      <p:sp>
        <p:nvSpPr>
          <p:cNvPr id="8" name="TextBox 7"/>
          <p:cNvSpPr txBox="1"/>
          <p:nvPr/>
        </p:nvSpPr>
        <p:spPr>
          <a:xfrm>
            <a:off x="96012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In Microsoft Teams</a:t>
            </a:r>
          </a:p>
        </p:txBody>
      </p:sp>
      <p:sp>
        <p:nvSpPr>
          <p:cNvPr id="9" name="TextBox 8"/>
          <p:cNvSpPr txBox="1"/>
          <p:nvPr/>
        </p:nvSpPr>
        <p:spPr>
          <a:xfrm>
            <a:off x="96012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where employees already work</a:t>
            </a:r>
          </a:p>
        </p:txBody>
      </p:sp>
      <p:sp>
        <p:nvSpPr>
          <p:cNvPr id="10" name="Oval 9"/>
          <p:cNvSpPr/>
          <p:nvPr/>
        </p:nvSpPr>
        <p:spPr>
          <a:xfrm>
            <a:off x="4273296" y="1371600"/>
            <a:ext cx="457200" cy="457200"/>
          </a:xfrm>
          <a:prstGeom prst="ellipse">
            <a:avLst/>
          </a:prstGeom>
          <a:solidFill>
            <a:srgbClr val="333D47"/>
          </a:solidFill>
          <a:ln>
            <a:noFill/>
          </a:ln>
        </p:spPr>
        <p:txBody>
          <a:bodyPr rtlCol="0" anchor="ctr"/>
          <a:lstStyle/>
          <a:p>
            <a:pPr algn="ctr"/>
          </a:p>
        </p:txBody>
      </p:sp>
      <p:pic>
        <p:nvPicPr>
          <p:cNvPr id="11" name="Picture 10" descr="LuCpu_w.png"/>
          <p:cNvPicPr>
            <a:picLocks noChangeAspect="1"/>
          </p:cNvPicPr>
          <p:nvPr/>
        </p:nvPicPr>
        <p:blipFill>
          <a:blip r:embed="rId4"/>
          <a:stretch>
            <a:fillRect/>
          </a:stretch>
        </p:blipFill>
        <p:spPr>
          <a:xfrm>
            <a:off x="4378452" y="1476756"/>
            <a:ext cx="246888" cy="246888"/>
          </a:xfrm>
          <a:prstGeom prst="rect">
            <a:avLst/>
          </a:prstGeom>
        </p:spPr>
      </p:pic>
      <p:sp>
        <p:nvSpPr>
          <p:cNvPr id="12" name="TextBox 11"/>
          <p:cNvSpPr txBox="1"/>
          <p:nvPr/>
        </p:nvSpPr>
        <p:spPr>
          <a:xfrm>
            <a:off x="487680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On an enterprise AI platform</a:t>
            </a:r>
          </a:p>
        </p:txBody>
      </p:sp>
      <p:sp>
        <p:nvSpPr>
          <p:cNvPr id="13" name="TextBox 12"/>
          <p:cNvSpPr txBox="1"/>
          <p:nvPr/>
        </p:nvSpPr>
        <p:spPr>
          <a:xfrm>
            <a:off x="487680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that AIA has or adopts</a:t>
            </a:r>
          </a:p>
        </p:txBody>
      </p:sp>
      <p:sp>
        <p:nvSpPr>
          <p:cNvPr id="14" name="Oval 13"/>
          <p:cNvSpPr/>
          <p:nvPr/>
        </p:nvSpPr>
        <p:spPr>
          <a:xfrm>
            <a:off x="8189976" y="1371600"/>
            <a:ext cx="457200" cy="457200"/>
          </a:xfrm>
          <a:prstGeom prst="ellipse">
            <a:avLst/>
          </a:prstGeom>
          <a:solidFill>
            <a:srgbClr val="333D47"/>
          </a:solidFill>
          <a:ln>
            <a:noFill/>
          </a:ln>
        </p:spPr>
        <p:txBody>
          <a:bodyPr rtlCol="0" anchor="ctr"/>
          <a:lstStyle/>
          <a:p>
            <a:pPr algn="ctr"/>
          </a:p>
        </p:txBody>
      </p:sp>
      <p:pic>
        <p:nvPicPr>
          <p:cNvPr id="15" name="Picture 14" descr="LuFlag_w.png"/>
          <p:cNvPicPr>
            <a:picLocks noChangeAspect="1"/>
          </p:cNvPicPr>
          <p:nvPr/>
        </p:nvPicPr>
        <p:blipFill>
          <a:blip r:embed="rId5"/>
          <a:stretch>
            <a:fillRect/>
          </a:stretch>
        </p:blipFill>
        <p:spPr>
          <a:xfrm>
            <a:off x="8295132" y="1476756"/>
            <a:ext cx="246888" cy="246888"/>
          </a:xfrm>
          <a:prstGeom prst="rect">
            <a:avLst/>
          </a:prstGeom>
        </p:spPr>
      </p:pic>
      <p:sp>
        <p:nvSpPr>
          <p:cNvPr id="16" name="TextBox 15"/>
          <p:cNvSpPr txBox="1"/>
          <p:nvPr/>
        </p:nvSpPr>
        <p:spPr>
          <a:xfrm>
            <a:off x="879348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Narrow and gated</a:t>
            </a:r>
          </a:p>
        </p:txBody>
      </p:sp>
      <p:sp>
        <p:nvSpPr>
          <p:cNvPr id="17" name="TextBox 16"/>
          <p:cNvSpPr txBox="1"/>
          <p:nvPr/>
        </p:nvSpPr>
        <p:spPr>
          <a:xfrm>
            <a:off x="879348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workflow, minimum capabilities</a:t>
            </a:r>
          </a:p>
        </p:txBody>
      </p:sp>
      <p:cxnSp>
        <p:nvCxnSpPr>
          <p:cNvPr id="18" name="Connector 17"/>
          <p:cNvCxnSpPr/>
          <p:nvPr/>
        </p:nvCxnSpPr>
        <p:spPr>
          <a:xfrm>
            <a:off x="356616" y="2148840"/>
            <a:ext cx="11475720" cy="0"/>
          </a:xfrm>
          <a:prstGeom prst="line">
            <a:avLst/>
          </a:prstGeom>
          <a:ln w="9525">
            <a:solidFill>
              <a:srgbClr val="DDD6D0"/>
            </a:solidFill>
          </a:ln>
        </p:spPr>
      </p:cxnSp>
      <p:sp>
        <p:nvSpPr>
          <p:cNvPr id="19" name="Rounded Rectangle 18"/>
          <p:cNvSpPr/>
          <p:nvPr/>
        </p:nvSpPr>
        <p:spPr>
          <a:xfrm>
            <a:off x="356616" y="2377440"/>
            <a:ext cx="3931920" cy="3200400"/>
          </a:xfrm>
          <a:prstGeom prst="roundRect">
            <a:avLst>
              <a:gd name="adj" fmla="val 2857"/>
            </a:avLst>
          </a:prstGeom>
          <a:solidFill>
            <a:srgbClr val="D31145"/>
          </a:solidFill>
          <a:ln>
            <a:noFill/>
          </a:ln>
        </p:spPr>
        <p:txBody>
          <a:bodyPr rtlCol="0" anchor="ctr"/>
          <a:lstStyle/>
          <a:p>
            <a:pPr algn="ctr"/>
          </a:p>
        </p:txBody>
      </p:sp>
      <p:sp>
        <p:nvSpPr>
          <p:cNvPr id="20" name="Oval 19"/>
          <p:cNvSpPr/>
          <p:nvPr/>
        </p:nvSpPr>
        <p:spPr>
          <a:xfrm>
            <a:off x="594360" y="2606040"/>
            <a:ext cx="548640" cy="548640"/>
          </a:xfrm>
          <a:prstGeom prst="ellipse">
            <a:avLst/>
          </a:prstGeom>
          <a:solidFill>
            <a:srgbClr val="FFFFFF"/>
          </a:solidFill>
          <a:ln>
            <a:noFill/>
          </a:ln>
        </p:spPr>
        <p:txBody>
          <a:bodyPr rtlCol="0" anchor="ctr"/>
          <a:lstStyle/>
          <a:p>
            <a:pPr algn="ctr"/>
          </a:p>
        </p:txBody>
      </p:sp>
      <p:pic>
        <p:nvPicPr>
          <p:cNvPr id="21" name="Picture 20" descr="LuUserCheck_r.png"/>
          <p:cNvPicPr>
            <a:picLocks noChangeAspect="1"/>
          </p:cNvPicPr>
          <p:nvPr/>
        </p:nvPicPr>
        <p:blipFill>
          <a:blip r:embed="rId6"/>
          <a:stretch>
            <a:fillRect/>
          </a:stretch>
        </p:blipFill>
        <p:spPr>
          <a:xfrm>
            <a:off x="720547" y="2732227"/>
            <a:ext cx="296266" cy="296266"/>
          </a:xfrm>
          <a:prstGeom prst="rect">
            <a:avLst/>
          </a:prstGeom>
        </p:spPr>
      </p:pic>
      <p:sp>
        <p:nvSpPr>
          <p:cNvPr id="22" name="TextBox 21"/>
          <p:cNvSpPr txBox="1"/>
          <p:nvPr/>
        </p:nvSpPr>
        <p:spPr>
          <a:xfrm>
            <a:off x="594360" y="3291840"/>
            <a:ext cx="3474720" cy="640080"/>
          </a:xfrm>
          <a:prstGeom prst="rect">
            <a:avLst/>
          </a:prstGeom>
          <a:noFill/>
        </p:spPr>
        <p:txBody>
          <a:bodyPr wrap="square" lIns="0" tIns="0" rIns="0" bIns="0" anchor="t">
            <a:noAutofit/>
          </a:bodyPr>
          <a:lstStyle/>
          <a:p>
            <a:pPr algn="l">
              <a:lnSpc>
                <a:spcPct val="95000"/>
              </a:lnSpc>
              <a:spcAft>
                <a:spcPts val="0"/>
              </a:spcAft>
            </a:pPr>
            <a:r>
              <a:rPr sz="1900" b="1" i="0">
                <a:solidFill>
                  <a:srgbClr val="FFFFFF"/>
                </a:solidFill>
                <a:latin typeface="Arial"/>
              </a:rPr>
              <a:t>Approval before any final action</a:t>
            </a:r>
          </a:p>
        </p:txBody>
      </p:sp>
      <p:sp>
        <p:nvSpPr>
          <p:cNvPr id="23" name="TextBox 22"/>
          <p:cNvSpPr txBox="1"/>
          <p:nvPr/>
        </p:nvSpPr>
        <p:spPr>
          <a:xfrm>
            <a:off x="594360" y="4005072"/>
            <a:ext cx="3474720" cy="1463040"/>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Riley can do the intermediate steps. Nothing is finalized, sent to anyone or entered into a business system until the employee approves. The employee stays accountable.</a:t>
            </a:r>
          </a:p>
        </p:txBody>
      </p:sp>
      <p:pic>
        <p:nvPicPr>
          <p:cNvPr id="24" name="Picture 23" descr="LuKeyRound_r.png"/>
          <p:cNvPicPr>
            <a:picLocks noChangeAspect="1"/>
          </p:cNvPicPr>
          <p:nvPr/>
        </p:nvPicPr>
        <p:blipFill>
          <a:blip r:embed="rId7"/>
          <a:stretch>
            <a:fillRect/>
          </a:stretch>
        </p:blipFill>
        <p:spPr>
          <a:xfrm>
            <a:off x="4617720" y="2468880"/>
            <a:ext cx="292608" cy="292608"/>
          </a:xfrm>
          <a:prstGeom prst="rect">
            <a:avLst/>
          </a:prstGeom>
        </p:spPr>
      </p:pic>
      <p:sp>
        <p:nvSpPr>
          <p:cNvPr id="25" name="TextBox 24"/>
          <p:cNvSpPr txBox="1"/>
          <p:nvPr/>
        </p:nvSpPr>
        <p:spPr>
          <a:xfrm>
            <a:off x="5074920" y="237744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 permissions only</a:t>
            </a:r>
          </a:p>
        </p:txBody>
      </p:sp>
      <p:sp>
        <p:nvSpPr>
          <p:cNvPr id="26" name="TextBox 25"/>
          <p:cNvSpPr txBox="1"/>
          <p:nvPr/>
        </p:nvSpPr>
        <p:spPr>
          <a:xfrm>
            <a:off x="7909560" y="2377440"/>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Only what the requesting employee can access, including Outlook and Teams, via approved controls.</a:t>
            </a:r>
          </a:p>
        </p:txBody>
      </p:sp>
      <p:cxnSp>
        <p:nvCxnSpPr>
          <p:cNvPr id="27" name="Connector 26"/>
          <p:cNvCxnSpPr/>
          <p:nvPr/>
        </p:nvCxnSpPr>
        <p:spPr>
          <a:xfrm>
            <a:off x="4617720" y="2889504"/>
            <a:ext cx="7214616" cy="0"/>
          </a:xfrm>
          <a:prstGeom prst="line">
            <a:avLst/>
          </a:prstGeom>
          <a:ln w="9525">
            <a:solidFill>
              <a:srgbClr val="F4F1EF"/>
            </a:solidFill>
          </a:ln>
        </p:spPr>
      </p:cxnSp>
      <p:pic>
        <p:nvPicPr>
          <p:cNvPr id="28" name="Picture 27" descr="LuShieldCheck_r.png"/>
          <p:cNvPicPr>
            <a:picLocks noChangeAspect="1"/>
          </p:cNvPicPr>
          <p:nvPr/>
        </p:nvPicPr>
        <p:blipFill>
          <a:blip r:embed="rId8"/>
          <a:stretch>
            <a:fillRect/>
          </a:stretch>
        </p:blipFill>
        <p:spPr>
          <a:xfrm>
            <a:off x="4617720" y="3008376"/>
            <a:ext cx="292608" cy="292608"/>
          </a:xfrm>
          <a:prstGeom prst="rect">
            <a:avLst/>
          </a:prstGeom>
        </p:spPr>
      </p:pic>
      <p:sp>
        <p:nvSpPr>
          <p:cNvPr id="29" name="TextBox 28"/>
          <p:cNvSpPr txBox="1"/>
          <p:nvPr/>
        </p:nvSpPr>
        <p:spPr>
          <a:xfrm>
            <a:off x="5074920" y="2916936"/>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AIA data and security controls</a:t>
            </a:r>
          </a:p>
        </p:txBody>
      </p:sp>
      <p:sp>
        <p:nvSpPr>
          <p:cNvPr id="30" name="TextBox 29"/>
          <p:cNvSpPr txBox="1"/>
          <p:nvPr/>
        </p:nvSpPr>
        <p:spPr>
          <a:xfrm>
            <a:off x="7909560" y="2916936"/>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Existing privacy and security controls apply. Approved external sources only.</a:t>
            </a:r>
          </a:p>
        </p:txBody>
      </p:sp>
      <p:cxnSp>
        <p:nvCxnSpPr>
          <p:cNvPr id="31" name="Connector 30"/>
          <p:cNvCxnSpPr/>
          <p:nvPr/>
        </p:nvCxnSpPr>
        <p:spPr>
          <a:xfrm>
            <a:off x="4617720" y="3429000"/>
            <a:ext cx="7214616" cy="0"/>
          </a:xfrm>
          <a:prstGeom prst="line">
            <a:avLst/>
          </a:prstGeom>
          <a:ln w="9525">
            <a:solidFill>
              <a:srgbClr val="F4F1EF"/>
            </a:solidFill>
          </a:ln>
        </p:spPr>
      </p:cxnSp>
      <p:pic>
        <p:nvPicPr>
          <p:cNvPr id="32" name="Picture 31" descr="LuScrollText_r.png"/>
          <p:cNvPicPr>
            <a:picLocks noChangeAspect="1"/>
          </p:cNvPicPr>
          <p:nvPr/>
        </p:nvPicPr>
        <p:blipFill>
          <a:blip r:embed="rId9"/>
          <a:stretch>
            <a:fillRect/>
          </a:stretch>
        </p:blipFill>
        <p:spPr>
          <a:xfrm>
            <a:off x="4617720" y="3547872"/>
            <a:ext cx="292608" cy="292608"/>
          </a:xfrm>
          <a:prstGeom prst="rect">
            <a:avLst/>
          </a:prstGeom>
        </p:spPr>
      </p:pic>
      <p:sp>
        <p:nvSpPr>
          <p:cNvPr id="33" name="TextBox 32"/>
          <p:cNvSpPr txBox="1"/>
          <p:nvPr/>
        </p:nvSpPr>
        <p:spPr>
          <a:xfrm>
            <a:off x="5074920" y="3456432"/>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An appropriate record</a:t>
            </a:r>
          </a:p>
        </p:txBody>
      </p:sp>
      <p:sp>
        <p:nvSpPr>
          <p:cNvPr id="34" name="TextBox 33"/>
          <p:cNvSpPr txBox="1"/>
          <p:nvPr/>
        </p:nvSpPr>
        <p:spPr>
          <a:xfrm>
            <a:off x="7909560" y="3456432"/>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Of the request, capabilities used, output, approval and final action.</a:t>
            </a:r>
          </a:p>
        </p:txBody>
      </p:sp>
      <p:cxnSp>
        <p:nvCxnSpPr>
          <p:cNvPr id="35" name="Connector 34"/>
          <p:cNvCxnSpPr/>
          <p:nvPr/>
        </p:nvCxnSpPr>
        <p:spPr>
          <a:xfrm>
            <a:off x="4617720" y="3968496"/>
            <a:ext cx="7214616" cy="0"/>
          </a:xfrm>
          <a:prstGeom prst="line">
            <a:avLst/>
          </a:prstGeom>
          <a:ln w="9525">
            <a:solidFill>
              <a:srgbClr val="F4F1EF"/>
            </a:solidFill>
          </a:ln>
        </p:spPr>
      </p:cxnSp>
      <p:pic>
        <p:nvPicPr>
          <p:cNvPr id="36" name="Picture 35" descr="LuRefreshCw_r.png"/>
          <p:cNvPicPr>
            <a:picLocks noChangeAspect="1"/>
          </p:cNvPicPr>
          <p:nvPr/>
        </p:nvPicPr>
        <p:blipFill>
          <a:blip r:embed="rId10"/>
          <a:stretch>
            <a:fillRect/>
          </a:stretch>
        </p:blipFill>
        <p:spPr>
          <a:xfrm>
            <a:off x="4617720" y="4087368"/>
            <a:ext cx="292608" cy="292608"/>
          </a:xfrm>
          <a:prstGeom prst="rect">
            <a:avLst/>
          </a:prstGeom>
        </p:spPr>
      </p:pic>
      <p:sp>
        <p:nvSpPr>
          <p:cNvPr id="37" name="TextBox 36"/>
          <p:cNvSpPr txBox="1"/>
          <p:nvPr/>
        </p:nvSpPr>
        <p:spPr>
          <a:xfrm>
            <a:off x="5074920" y="3995928"/>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Governed feedback and learning</a:t>
            </a:r>
          </a:p>
        </p:txBody>
      </p:sp>
      <p:sp>
        <p:nvSpPr>
          <p:cNvPr id="38" name="TextBox 37"/>
          <p:cNvSpPr txBox="1"/>
          <p:nvPr/>
        </p:nvSpPr>
        <p:spPr>
          <a:xfrm>
            <a:off x="7909560" y="3995928"/>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Agreed with risk and IT before it changes Riley’s behaviour.</a:t>
            </a:r>
          </a:p>
        </p:txBody>
      </p:sp>
      <p:cxnSp>
        <p:nvCxnSpPr>
          <p:cNvPr id="39" name="Connector 38"/>
          <p:cNvCxnSpPr/>
          <p:nvPr/>
        </p:nvCxnSpPr>
        <p:spPr>
          <a:xfrm>
            <a:off x="4617720" y="4507992"/>
            <a:ext cx="7214616" cy="0"/>
          </a:xfrm>
          <a:prstGeom prst="line">
            <a:avLst/>
          </a:prstGeom>
          <a:ln w="9525">
            <a:solidFill>
              <a:srgbClr val="F4F1EF"/>
            </a:solidFill>
          </a:ln>
        </p:spPr>
      </p:cxnSp>
      <p:pic>
        <p:nvPicPr>
          <p:cNvPr id="40" name="Picture 39" descr="LuSearchCheck_r.png"/>
          <p:cNvPicPr>
            <a:picLocks noChangeAspect="1"/>
          </p:cNvPicPr>
          <p:nvPr/>
        </p:nvPicPr>
        <p:blipFill>
          <a:blip r:embed="rId11"/>
          <a:stretch>
            <a:fillRect/>
          </a:stretch>
        </p:blipFill>
        <p:spPr>
          <a:xfrm>
            <a:off x="4617720" y="4626864"/>
            <a:ext cx="292608" cy="292608"/>
          </a:xfrm>
          <a:prstGeom prst="rect">
            <a:avLst/>
          </a:prstGeom>
        </p:spPr>
      </p:pic>
      <p:sp>
        <p:nvSpPr>
          <p:cNvPr id="41" name="TextBox 40"/>
          <p:cNvSpPr txBox="1"/>
          <p:nvPr/>
        </p:nvSpPr>
        <p:spPr>
          <a:xfrm>
            <a:off x="5074920" y="4535424"/>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Independent quality checks</a:t>
            </a:r>
          </a:p>
        </p:txBody>
      </p:sp>
      <p:sp>
        <p:nvSpPr>
          <p:cNvPr id="42" name="TextBox 41"/>
          <p:cNvSpPr txBox="1"/>
          <p:nvPr/>
        </p:nvSpPr>
        <p:spPr>
          <a:xfrm>
            <a:off x="7909560" y="4535424"/>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A business reviewer periodically samples Riley’s work.</a:t>
            </a:r>
          </a:p>
        </p:txBody>
      </p:sp>
      <p:cxnSp>
        <p:nvCxnSpPr>
          <p:cNvPr id="43" name="Connector 42"/>
          <p:cNvCxnSpPr/>
          <p:nvPr/>
        </p:nvCxnSpPr>
        <p:spPr>
          <a:xfrm>
            <a:off x="4617720" y="5047488"/>
            <a:ext cx="7214616" cy="0"/>
          </a:xfrm>
          <a:prstGeom prst="line">
            <a:avLst/>
          </a:prstGeom>
          <a:ln w="9525">
            <a:solidFill>
              <a:srgbClr val="F4F1EF"/>
            </a:solidFill>
          </a:ln>
        </p:spPr>
      </p:cxnSp>
      <p:pic>
        <p:nvPicPr>
          <p:cNvPr id="44" name="Picture 43" descr="LuTarget_r.png"/>
          <p:cNvPicPr>
            <a:picLocks noChangeAspect="1"/>
          </p:cNvPicPr>
          <p:nvPr/>
        </p:nvPicPr>
        <p:blipFill>
          <a:blip r:embed="rId12"/>
          <a:stretch>
            <a:fillRect/>
          </a:stretch>
        </p:blipFill>
        <p:spPr>
          <a:xfrm>
            <a:off x="4617720" y="5166360"/>
            <a:ext cx="292608" cy="292608"/>
          </a:xfrm>
          <a:prstGeom prst="rect">
            <a:avLst/>
          </a:prstGeom>
        </p:spPr>
      </p:pic>
      <p:sp>
        <p:nvSpPr>
          <p:cNvPr id="45" name="TextBox 44"/>
          <p:cNvSpPr txBox="1"/>
          <p:nvPr/>
        </p:nvSpPr>
        <p:spPr>
          <a:xfrm>
            <a:off x="5074920" y="507492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First workflow chosen with care</a:t>
            </a:r>
          </a:p>
        </p:txBody>
      </p:sp>
      <p:sp>
        <p:nvSpPr>
          <p:cNvPr id="46" name="TextBox 45"/>
          <p:cNvSpPr txBox="1"/>
          <p:nvPr/>
        </p:nvSpPr>
        <p:spPr>
          <a:xfrm>
            <a:off x="7909560" y="5074920"/>
            <a:ext cx="3886200" cy="475488"/>
          </a:xfrm>
          <a:prstGeom prst="rect">
            <a:avLst/>
          </a:prstGeom>
          <a:noFill/>
        </p:spPr>
        <p:txBody>
          <a:bodyPr wrap="square" lIns="0" tIns="0" rIns="0" bIns="0" anchor="ctr">
            <a:noAutofit/>
          </a:bodyPr>
          <a:lstStyle/>
          <a:p>
            <a:pPr algn="l">
              <a:spcAft>
                <a:spcPts val="0"/>
              </a:spcAft>
            </a:pPr>
            <a:r>
              <a:rPr sz="1150" b="0" i="0">
                <a:solidFill>
                  <a:srgbClr val="5F6770"/>
                </a:solidFill>
                <a:latin typeface="Arial"/>
              </a:rPr>
              <a:t>Weighing value, readiness, data sensitivity and governance.</a:t>
            </a:r>
          </a:p>
        </p:txBody>
      </p:sp>
      <p:sp>
        <p:nvSpPr>
          <p:cNvPr id="47" name="Slide Number Placeholder"/>
          <p:cNvSpPr>
            <a:spLocks noGrp="1"/>
          </p:cNvSpPr>
          <p:nvPr>
            <p:ph type="sldNum" sz="quarter" idx="4"/>
          </p:nvPr>
        </p:nvSpPr>
        <p:spPr/>
        <p:txBody>
          <a:bodyPr/>
          <a:lstStyle/>
          <a:p>
            <a:fld id="{18A41853-EF22-D446-BDBC-A7CF3FE93503}" type="slidenum">
              <a:rPr lang="en-US"/>
              <a:t>10</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4300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542032"/>
            <a:ext cx="5852160" cy="329184"/>
          </a:xfrm>
          <a:prstGeom prst="rect">
            <a:avLst/>
          </a:prstGeom>
          <a:noFill/>
        </p:spPr>
        <p:txBody>
          <a:bodyPr wrap="square" lIns="0" tIns="0" rIns="0" bIns="0" anchor="t">
            <a:noAutofit/>
          </a:bodyPr>
          <a:lstStyle/>
          <a:p>
            <a:pPr algn="l">
              <a:spcAft>
                <a:spcPts val="0"/>
              </a:spcAft>
            </a:pPr>
            <a:r>
              <a:rPr sz="1500" b="0" i="0">
                <a:solidFill>
                  <a:srgbClr val="FFFFFF"/>
                </a:solidFill>
                <a:latin typeface="Arial"/>
              </a:rPr>
              <a:t>Phase 1 establishes whether Riley deserves to scale.</a:t>
            </a:r>
          </a:p>
        </p:txBody>
      </p:sp>
      <p:sp>
        <p:nvSpPr>
          <p:cNvPr id="5" name="TextBox 4"/>
          <p:cNvSpPr txBox="1"/>
          <p:nvPr/>
        </p:nvSpPr>
        <p:spPr>
          <a:xfrm>
            <a:off x="356616" y="299923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6" name="TextBox 5"/>
          <p:cNvSpPr txBox="1"/>
          <p:nvPr/>
        </p:nvSpPr>
        <p:spPr>
          <a:xfrm>
            <a:off x="1417320" y="297180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Phase 1: one team, one workflow, minimum capabilities, about 3 months. Preliminary estimate ~US$20,000–60,000 incremental. Phase 2–3 costs scoped from Phase 1 results.</a:t>
            </a:r>
          </a:p>
        </p:txBody>
      </p:sp>
      <p:sp>
        <p:nvSpPr>
          <p:cNvPr id="7" name="TextBox 6"/>
          <p:cNvSpPr txBox="1"/>
          <p:nvPr/>
        </p:nvSpPr>
        <p:spPr>
          <a:xfrm>
            <a:off x="356616" y="373075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PEOPLE</a:t>
            </a:r>
          </a:p>
        </p:txBody>
      </p:sp>
      <p:sp>
        <p:nvSpPr>
          <p:cNvPr id="8" name="TextBox 7"/>
          <p:cNvSpPr txBox="1"/>
          <p:nvPr/>
        </p:nvSpPr>
        <p:spPr>
          <a:xfrm>
            <a:off x="1417320" y="370332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A business sponsor, a small build pod, a business quality reviewer, system and data owners, and Group Innovation Office mentorship.</a:t>
            </a:r>
          </a:p>
        </p:txBody>
      </p:sp>
      <p:sp>
        <p:nvSpPr>
          <p:cNvPr id="9" name="TextBox 8"/>
          <p:cNvSpPr txBox="1"/>
          <p:nvPr/>
        </p:nvSpPr>
        <p:spPr>
          <a:xfrm>
            <a:off x="356616" y="446227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10" name="TextBox 9"/>
          <p:cNvSpPr txBox="1"/>
          <p:nvPr/>
        </p:nvSpPr>
        <p:spPr>
          <a:xfrm>
            <a:off x="1417320" y="4434840"/>
            <a:ext cx="4846320" cy="731520"/>
          </a:xfrm>
          <a:prstGeom prst="rect">
            <a:avLst/>
          </a:prstGeom>
          <a:noFill/>
        </p:spPr>
        <p:txBody>
          <a:bodyPr wrap="square" lIns="0" tIns="0" rIns="0" bIns="0" anchor="t">
            <a:noAutofit/>
          </a:bodyPr>
          <a:lstStyle/>
          <a:p>
            <a:pPr algn="l">
              <a:spcAft>
                <a:spcPts val="0"/>
              </a:spcAft>
            </a:pPr>
            <a:r>
              <a:rPr sz="1250" b="0" i="0">
                <a:solidFill>
                  <a:srgbClr val="FFFFFF"/>
                </a:solidFill>
                <a:latin typeface="Arial"/>
              </a:rPr>
              <a:t>Month 4: measured effort, quality, adoption and completed outputs. Month 7: whether Riley can add another approved capability in the same experience.</a:t>
            </a:r>
          </a:p>
        </p:txBody>
      </p:sp>
      <p:sp>
        <p:nvSpPr>
          <p:cNvPr id="11" name="TextBox 10"/>
          <p:cNvSpPr txBox="1"/>
          <p:nvPr/>
        </p:nvSpPr>
        <p:spPr>
          <a:xfrm>
            <a:off x="356616" y="5285232"/>
            <a:ext cx="5897880" cy="640080"/>
          </a:xfrm>
          <a:prstGeom prst="rect">
            <a:avLst/>
          </a:prstGeom>
          <a:noFill/>
        </p:spPr>
        <p:txBody>
          <a:bodyPr wrap="square" lIns="0" tIns="0" rIns="0" bIns="0" anchor="t">
            <a:noAutofit/>
          </a:bodyPr>
          <a:lstStyle/>
          <a:p>
            <a:pPr algn="l">
              <a:lnSpc>
                <a:spcPct val="100000"/>
              </a:lnSpc>
              <a:spcAft>
                <a:spcPts val="0"/>
              </a:spcAft>
            </a:pPr>
            <a:r>
              <a:rPr sz="1550" b="1" i="0">
                <a:solidFill>
                  <a:srgbClr val="FFFFFF"/>
                </a:solidFill>
                <a:latin typeface="Arial"/>
              </a:rPr>
              <a:t>The ambition: a digital execution partner for every AIA employee. The first step: one team, measured.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