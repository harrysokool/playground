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handoutMasterIdLst>
    <p:handoutMasterId r:id="rId6"/>
  </p:handoutMasterIdLst>
  <p:sldIdLst>
    <p:sldId id="256" r:id="rId4"/>
    <p:sldId id="257" r:id="rId3"/>
    <p:sldId id="258" r:id="rId2"/>
    <p:sldId id="259" r:id="rId11"/>
    <p:sldId id="260" r:id="rId12"/>
    <p:sldId id="261" r:id="rId13"/>
    <p:sldId id="262" r:id="rId14"/>
    <p:sldId id="263" r:id="rId15"/>
    <p:sldId id="264" r:id="rId16"/>
    <p:sldId id="265" r:id="rId17"/>
    <p:sldId id="26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5915C"/>
    <a:srgbClr val="68655A"/>
    <a:srgbClr val="FF7A85"/>
    <a:srgbClr val="4C4794"/>
    <a:srgbClr val="333D47"/>
    <a:srgbClr val="F1C400"/>
    <a:srgbClr val="D31145"/>
    <a:srgbClr val="42005B"/>
    <a:srgbClr val="42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87"/>
  </p:normalViewPr>
  <p:slideViewPr>
    <p:cSldViewPr snapToGrid="0" showGuides="1">
      <p:cViewPr varScale="1">
        <p:scale>
          <a:sx n="120" d="100"/>
          <a:sy n="120" d="100"/>
        </p:scale>
        <p:origin x="144" y="198"/>
      </p:cViewPr>
      <p:guideLst>
        <p:guide orient="horz" pos="2160"/>
        <p:guide pos="3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96" d="100"/>
          <a:sy n="96" d="100"/>
        </p:scale>
        <p:origin x="3642"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xml"/><Relationship Id="rId3" Type="http://schemas.openxmlformats.org/officeDocument/2006/relationships/slide" Target="slides/slide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handoutMaster" Target="handoutMasters/handout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3218ECE-A34A-49B3-9686-CAB705FE9FAE}" type="datetimeFigureOut">
              <a:rPr lang="en-GB" smtClean="0"/>
              <a:t>23/09/2026</a:t>
            </a:fld>
            <a:endParaRPr lang="en-GB"/>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CF2FCE-B231-44AD-BE06-D54B55D77B09}" type="slidenum">
              <a:rPr lang="en-GB" smtClean="0"/>
              <a:t>‹#›</a:t>
            </a:fld>
            <a:endParaRPr lang="en-GB"/>
          </a:p>
        </p:txBody>
      </p:sp>
    </p:spTree>
    <p:extLst>
      <p:ext uri="{BB962C8B-B14F-4D97-AF65-F5344CB8AC3E}">
        <p14:creationId xmlns:p14="http://schemas.microsoft.com/office/powerpoint/2010/main" val="135914142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ECA36D-3A4E-49AB-8998-33E386CC9347}" type="datetimeFigureOut">
              <a:rPr lang="en-US" smtClean="0"/>
              <a:t>9/23/2026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A808D9-4A71-422D-8C20-E440E917BF93}" type="slidenum">
              <a:rPr lang="en-US" smtClean="0"/>
              <a:t>‹#›</a:t>
            </a:fld>
            <a:endParaRPr lang="en-US"/>
          </a:p>
        </p:txBody>
      </p:sp>
    </p:spTree>
    <p:extLst>
      <p:ext uri="{BB962C8B-B14F-4D97-AF65-F5344CB8AC3E}">
        <p14:creationId xmlns:p14="http://schemas.microsoft.com/office/powerpoint/2010/main" val="3912780854"/>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is a proposed AI coworker for AIA employees, delivered in Microsoft Teams. An employee asks for the outcome they need; Riley works out which approved AIA data, systems and AI tools the task needs, does the intermediate work, and the employee reviews and approves before anything is finalized, sent or entered into a system. The whole idea in one line: today the employee is the connector; Riley becomes the connector. Categories: Employee Value (primary) and Operations Value.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today each AI tool can be valuable on its own, but the employee has to find it, learn it, switch between it and other systems, and combine the outputs by hand, together with information from colleagues. Right: the employee asks once and Riley does the connecting across AIA systems, data and AI tools, using only what that employee is authorized to use; the employee approves the result. This is an observation from inside AIA, not a measured finding. No tool names or counts are claimed. The pilot plan later in the deck is designed to measure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illustrative conversation in Microsoft Teams. The employee describes the outcome rather than the steps. Riley decides which approved AIA data, systems and AI capabilities the task needs, using only what this employee is authorized to access, and performs the intermediate work. The employee reviews, corrects and approves. Nothing is finalized, sent to anyone, or entered into a business system until the employee approves; the employee remains accountable. The complaints request is an illustration, not the committed first pilot. The first workflow is selected on business value, implementation readiness, data sensitivity and governance complexity, and a lower-sensitivity internal workflow may be chosen if it proves the concept faster and more safely.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scenario, not a forecast and not a measured result. If Riley eventually served 1,000 employees and saved each an average of 1 hour per week, it would release approximately 1,000 hours of employee capacity every week, or around 50,000 hours a year assuming 50 working weeks. 1,000 is a scenario size: it is not a planned pilot population and not an AIA employee count. Why one hour is modest: it is 2.5% of a 40-hour week, and about one-eighth of the nearly 20% of the workweek (about 8 hours) that McKinsey Global Institute (The social economy, 2012) estimated high-skill knowledge workers spend looking for internal information or tracking down colleagues who can help. That study predates today's AI tools and is used only as a reasonableness check. Released capacity is intended for customer relationships, judgment, problem-solving and innovation: Double Employee Value in practice. Operations Value and any link to VONB/ANP are hypotheses to validate with AIA's TDA methodology; no financial figure is claimed. The pilot measures whether one hour is achievable.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original idea. AIA will keep building and adopting AI. Without a common employee experience, each new AI solution can become another separate tool that employees have to find and learn, and they combine the outputs by hand. With Riley, an approved capability is connected once and becomes available, through the same conversation, to employees authorized to use it. What grows is what the same governed coworker can do; this is not a mathematical formula and value does not necessarily grow in a straight line. Connections are not free or automatic: each needs technical integration and governance review, and it only adds value if the capability is useful to Riley's users. The pilot tests this with an AI tool built by a different AIA team.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does not compete with Copilot or any enterprise AI platform, and does not need a proprietary model. Enterprise AI is Riley's brain: Copilot or another enterprise AI platform could provide the intelligence to understand requests, reason, plan and generate work. AIA's data, systems and AI tools are Riley's hands: they give Riley the context and capabilities to do real AIA work. The most distinctive of these are the AI tools different AIA teams build. Riley is the complete, governed coworker employees interact with, with AIA permissions, workflows, approvals, records and governed learning around it. Even if platforms become much better at routing work between agents, AIA still has to decide how its own data, systems and AI tools are connected and exposed through one governed employee experience. A better AI engine makes Riley a more capable coworker.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Phases run in sequence and each proceeds only if the previous one shows results. Phase 0 (Month 1): select the first pilot team and workflow on business value, implementation readiness, data sensitivity and governance complexity; baseline current effort, completion time and manual steps; confirm data access, security, privacy, record-keeping and governance requirements; nominate an independent quality reviewer. Phase 1 (Months 2-4): one team, one workflow, employee approval before any final action. Gate: proceed only if employee effort is reduced, quality is maintained or improved, and usage is sustained. Phase 2 (Months 5-7), the core test: connect at least one AI tool built by a different AIA team and extend to a second workflow or team. Gate: the new capability is usable through Riley without a new tool for employees, with effort, quality and usage holding up across both workflows. Phase 3 (Months 8-12): extend to more back-office teams and connected capabilities, and replace the illustrative scenario with a projection built from measured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is the first test of the multiplier hypothesis. It connects at least one AI tool built by a different AIA team and extends Riley to a second workflow or team. One connection cannot prove a multiplier; it tests whether the model works in practice. It checks four things: whether the tool can technically connect, whether Riley can use it appropriately, whether employees reach the added capability through the same Riley experience, and whether quality, employee effort and usage remain acceptable across both workflows. Fallback: if the chosen tool cannot be connected, select another approved capability and record why the first attempt failed.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Riley scales in three directions: more employees, more workflows and more connected AI capabilities. A large back-office population across many functions is in scope before any cross-market expansion. The long-term vision, not a forecast, is that every AIA employee can have access to Riley on demand, with the employee accountable for every decision. That each approved capability can serve every employee permitted to use it is a hypothesis tested in Phase 2. Across markets, the core experience can be reused while each market adds its own system integrations, data controls, governance and process configuration; this is not near-free replication.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delivered in Microsoft Teams, which employees already use, though trust still has to be earned through reliable results. Built on an enterprise AI/agent platform AIA already has, is evaluating, or chooses to adopt, not a new engine built from scratch. Starts narrow, one team and one workflow, with each phase gated on measured results. Governance: Riley acts only with the access the requesting employee already has; sensitive and customer data stay under AIA's existing data, privacy and security controls, with external information only from approved sources; the employee approves before anything is finalized, sent to anyone or entered into a business system; Riley keeps an appropriate record of the request, the systems or capabilities used, the output, the approval and the final action, with content and retention following AIA policy; what feedback is captured and how improvements are reviewed is agreed with risk and IT; periodic independent sample reviews check quality. No specific logging, memory or training architecture is committed to.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ask is deliberately narrow, but the ambition is not: Phase 1 exists to establish whether Riley deserves to scale toward every AIA employee. Seed funding for Phase 1 covers one team and one workflow over about three months. The US$20,000-60,000 range is a preliminary planning estimate, not AIA-costed or benchmarked; it assumes an enterprise agent platform AIA already has or adopts, excludes existing staff time, and will be replaced with a scoped figure from IT and Finance. The main cost driver is connecting the first workflow's systems plus security, privacy and compliance review. Phases 2-3 costs scale with each capability, workflow and team connected and will be scoped from Phase 1 results. Resources: a pilot business-unit sponsor in Hong Kong; a small build pod (a product/business owner, an AI/automation engineer or implementation partner, part-time IT security, privacy and compliance support); a business reviewer or subject-matter expert for independent quality reviews; access to system and data owners and to the owner of one other team's AI tool; Group Innovation Office mentorship. By Month 4: measured effort, quality and adoption for a real workflow, with a go/no-go gate. By Month 7: whether another team's AI tool can work through Riley while employees keep the same experience - the first test of the multiplier.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 Id="rId3" Type="http://schemas.openxmlformats.org/officeDocument/2006/relationships/image" Target="../media/image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IA_TitleSlide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3DE312-0E56-1747-B671-3F457AA8D765}"/>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7E52CBAF-C878-FD45-8AF4-3C799CB4F535}"/>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2"/>
              </a:ext>
            </a:extLst>
          </a:blip>
          <a:srcRect r="26370" b="31414"/>
          <a:stretch/>
        </p:blipFill>
        <p:spPr>
          <a:xfrm>
            <a:off x="6580800" y="0"/>
            <a:ext cx="5611200" cy="6858000"/>
          </a:xfrm>
          <a:prstGeom prst="rect">
            <a:avLst/>
          </a:prstGeom>
        </p:spPr>
      </p:pic>
      <p:sp>
        <p:nvSpPr>
          <p:cNvPr id="12" name="Subtitle 2">
            <a:extLst>
              <a:ext uri="{FF2B5EF4-FFF2-40B4-BE49-F238E27FC236}">
                <a16:creationId xmlns:a16="http://schemas.microsoft.com/office/drawing/2014/main" id="{5FAC4E2A-F096-5540-918E-6F520E475C7C}"/>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add date</a:t>
            </a:r>
          </a:p>
        </p:txBody>
      </p:sp>
      <p:sp>
        <p:nvSpPr>
          <p:cNvPr id="13" name="Text Placeholder 11">
            <a:extLst>
              <a:ext uri="{FF2B5EF4-FFF2-40B4-BE49-F238E27FC236}">
                <a16:creationId xmlns:a16="http://schemas.microsoft.com/office/drawing/2014/main" id="{0DD8F76D-7AD6-444B-9E55-80A650B42CD1}"/>
              </a:ext>
            </a:extLst>
          </p:cNvPr>
          <p:cNvSpPr>
            <a:spLocks noGrp="1"/>
          </p:cNvSpPr>
          <p:nvPr>
            <p:ph type="body" sz="quarter" idx="10"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Title of Presentation</a:t>
            </a:r>
          </a:p>
        </p:txBody>
      </p:sp>
      <p:sp>
        <p:nvSpPr>
          <p:cNvPr id="8" name="TextBox 7">
            <a:extLst>
              <a:ext uri="{FF2B5EF4-FFF2-40B4-BE49-F238E27FC236}">
                <a16:creationId xmlns:a16="http://schemas.microsoft.com/office/drawing/2014/main" id="{C005E6EB-133C-4C47-A11D-54E804FE9C2F}"/>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D9903880-9FDE-8D40-A562-3D8B9CB09AB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60000" y="360000"/>
            <a:ext cx="1828800" cy="660400"/>
          </a:xfrm>
          <a:prstGeom prst="rect">
            <a:avLst/>
          </a:prstGeom>
        </p:spPr>
      </p:pic>
    </p:spTree>
    <p:extLst>
      <p:ext uri="{BB962C8B-B14F-4D97-AF65-F5344CB8AC3E}">
        <p14:creationId xmlns:p14="http://schemas.microsoft.com/office/powerpoint/2010/main" val="1051781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IA_subheader white">
    <p:spTree>
      <p:nvGrpSpPr>
        <p:cNvPr id="1" name=""/>
        <p:cNvGrpSpPr/>
        <p:nvPr/>
      </p:nvGrpSpPr>
      <p:grpSpPr>
        <a:xfrm>
          <a:off x="0" y="0"/>
          <a:ext cx="0" cy="0"/>
          <a:chOff x="0" y="0"/>
          <a:chExt cx="0" cy="0"/>
        </a:xfrm>
      </p:grpSpPr>
      <p:sp>
        <p:nvSpPr>
          <p:cNvPr id="21" name="Text Placeholder 4"/>
          <p:cNvSpPr>
            <a:spLocks noGrp="1"/>
          </p:cNvSpPr>
          <p:nvPr>
            <p:ph type="body" sz="quarter" idx="15" hasCustomPrompt="1"/>
          </p:nvPr>
        </p:nvSpPr>
        <p:spPr>
          <a:xfrm>
            <a:off x="4237200" y="1800000"/>
            <a:ext cx="36072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22" name="Text Placeholder 4"/>
          <p:cNvSpPr>
            <a:spLocks noGrp="1"/>
          </p:cNvSpPr>
          <p:nvPr>
            <p:ph type="body" sz="quarter" idx="16" hasCustomPrompt="1"/>
          </p:nvPr>
        </p:nvSpPr>
        <p:spPr>
          <a:xfrm>
            <a:off x="360000" y="1800000"/>
            <a:ext cx="3600000" cy="4256262"/>
          </a:xfrm>
          <a:prstGeom prst="rect">
            <a:avLst/>
          </a:prstGeom>
        </p:spPr>
        <p:txBody>
          <a:bodyPr vert="horz">
            <a:noAutofit/>
          </a:bodyPr>
          <a:lstStyle>
            <a:lvl1pPr algn="l">
              <a:lnSpc>
                <a:spcPct val="100000"/>
              </a:lnSpc>
              <a:defRPr sz="1600">
                <a:solidFill>
                  <a:schemeClr val="tx1"/>
                </a:solidFill>
              </a:defRPr>
            </a:lvl1pPr>
            <a:lvl2pPr algn="l">
              <a:defRPr sz="2000">
                <a:solidFill>
                  <a:schemeClr val="accent2"/>
                </a:solidFill>
              </a:defRPr>
            </a:lvl2pPr>
            <a:lvl3pPr algn="l">
              <a:defRPr sz="2000">
                <a:solidFill>
                  <a:schemeClr val="accent2"/>
                </a:solidFill>
              </a:defRPr>
            </a:lvl3pPr>
            <a:lvl4pPr algn="l">
              <a:defRPr sz="2000">
                <a:solidFill>
                  <a:schemeClr val="accent2"/>
                </a:solidFill>
              </a:defRPr>
            </a:lvl4pPr>
            <a:lvl5pPr algn="l">
              <a:defRPr sz="2000">
                <a:solidFill>
                  <a:schemeClr val="accent2"/>
                </a:solidFill>
              </a:defRPr>
            </a:lvl5pPr>
          </a:lstStyle>
          <a:p>
            <a:pPr lvl="0"/>
            <a:r>
              <a:rPr lang="en-GB" dirty="0" err="1"/>
              <a:t>Bodycopy</a:t>
            </a:r>
            <a:r>
              <a:rPr lang="en-GB" dirty="0"/>
              <a:t> in here</a:t>
            </a:r>
            <a:endParaRPr lang="en-US" dirty="0"/>
          </a:p>
        </p:txBody>
      </p:sp>
      <p:sp>
        <p:nvSpPr>
          <p:cNvPr id="7" name="Text Placeholder 11">
            <a:extLst>
              <a:ext uri="{FF2B5EF4-FFF2-40B4-BE49-F238E27FC236}">
                <a16:creationId xmlns:a16="http://schemas.microsoft.com/office/drawing/2014/main" id="{C4B34AF1-3AD0-DE4E-91C8-39A92B566589}"/>
              </a:ext>
            </a:extLst>
          </p:cNvPr>
          <p:cNvSpPr>
            <a:spLocks noGrp="1"/>
          </p:cNvSpPr>
          <p:nvPr>
            <p:ph type="body" sz="quarter" idx="10" hasCustomPrompt="1"/>
          </p:nvPr>
        </p:nvSpPr>
        <p:spPr>
          <a:xfrm>
            <a:off x="360000" y="540000"/>
            <a:ext cx="11160000" cy="1338676"/>
          </a:xfrm>
          <a:prstGeom prst="rect">
            <a:avLst/>
          </a:prstGeom>
          <a:noFill/>
        </p:spPr>
        <p:txBody>
          <a:bodyPr>
            <a:noAutofit/>
          </a:bodyPr>
          <a:lstStyle>
            <a:lvl1pPr>
              <a:lnSpc>
                <a:spcPts val="3200"/>
              </a:lnSpc>
              <a:defRPr sz="3600">
                <a:solidFill>
                  <a:srgbClr val="333D47"/>
                </a:solidFill>
              </a:defRPr>
            </a:lvl1pPr>
            <a:lvl2pPr marL="457200" indent="0">
              <a:buNone/>
              <a:defRPr/>
            </a:lvl2pPr>
          </a:lstStyle>
          <a:p>
            <a:pPr lvl="0"/>
            <a:r>
              <a:rPr lang="en-US" dirty="0"/>
              <a:t>Headline</a:t>
            </a:r>
          </a:p>
        </p:txBody>
      </p:sp>
      <p:sp>
        <p:nvSpPr>
          <p:cNvPr id="10" name="Slide Number Placeholder 5">
            <a:extLst>
              <a:ext uri="{FF2B5EF4-FFF2-40B4-BE49-F238E27FC236}">
                <a16:creationId xmlns:a16="http://schemas.microsoft.com/office/drawing/2014/main" id="{3E493E1F-F28C-FD47-B996-3EBF17D328AE}"/>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pic>
        <p:nvPicPr>
          <p:cNvPr id="6" name="Graphic 5">
            <a:extLst>
              <a:ext uri="{FF2B5EF4-FFF2-40B4-BE49-F238E27FC236}">
                <a16:creationId xmlns:a16="http://schemas.microsoft.com/office/drawing/2014/main" id="{C2BBEFAE-7438-F548-BFC6-9CD53B767E2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1160000" y="5792400"/>
            <a:ext cx="635000" cy="660400"/>
          </a:xfrm>
          <a:prstGeom prst="rect">
            <a:avLst/>
          </a:prstGeom>
        </p:spPr>
      </p:pic>
    </p:spTree>
    <p:extLst>
      <p:ext uri="{BB962C8B-B14F-4D97-AF65-F5344CB8AC3E}">
        <p14:creationId xmlns:p14="http://schemas.microsoft.com/office/powerpoint/2010/main" val="2094514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IA_thankyou">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52B5BE0-8CB1-E247-A12A-51429A1939EB}"/>
              </a:ext>
            </a:extLst>
          </p:cNvPr>
          <p:cNvSpPr/>
          <p:nvPr userDrawn="1"/>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4A93DA94-6D62-D040-97F3-1DFA5A72C689}"/>
              </a:ext>
            </a:extLst>
          </p:cNvPr>
          <p:cNvSpPr>
            <a:spLocks noGrp="1"/>
          </p:cNvSpPr>
          <p:nvPr>
            <p:ph type="subTitle" idx="1" hasCustomPrompt="1"/>
          </p:nvPr>
        </p:nvSpPr>
        <p:spPr>
          <a:xfrm>
            <a:off x="360000" y="3601225"/>
            <a:ext cx="5080000" cy="358775"/>
          </a:xfrm>
          <a:prstGeom prst="rect">
            <a:avLst/>
          </a:prstGeom>
        </p:spPr>
        <p:txBody>
          <a:bodyPr>
            <a:noAutofit/>
          </a:bodyPr>
          <a:lstStyle>
            <a:lvl1pPr marL="0" indent="0" algn="l">
              <a:lnSpc>
                <a:spcPct val="100000"/>
              </a:lnSpc>
              <a:spcBef>
                <a:spcPts val="600"/>
              </a:spcBef>
              <a:buNone/>
              <a:defRPr sz="14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Email</a:t>
            </a:r>
          </a:p>
          <a:p>
            <a:r>
              <a:rPr lang="en-US" dirty="0"/>
              <a:t>Date</a:t>
            </a:r>
          </a:p>
        </p:txBody>
      </p:sp>
      <p:sp>
        <p:nvSpPr>
          <p:cNvPr id="6" name="Text Placeholder 11">
            <a:extLst>
              <a:ext uri="{FF2B5EF4-FFF2-40B4-BE49-F238E27FC236}">
                <a16:creationId xmlns:a16="http://schemas.microsoft.com/office/drawing/2014/main" id="{0C3F0DB7-93FA-D243-9648-A59C82E13702}"/>
              </a:ext>
            </a:extLst>
          </p:cNvPr>
          <p:cNvSpPr>
            <a:spLocks noGrp="1"/>
          </p:cNvSpPr>
          <p:nvPr>
            <p:ph type="body" sz="quarter" idx="11" hasCustomPrompt="1"/>
          </p:nvPr>
        </p:nvSpPr>
        <p:spPr>
          <a:xfrm>
            <a:off x="360000" y="2160000"/>
            <a:ext cx="5400000" cy="1269000"/>
          </a:xfrm>
          <a:prstGeom prst="rect">
            <a:avLst/>
          </a:prstGeom>
          <a:noFill/>
        </p:spPr>
        <p:txBody>
          <a:bodyPr>
            <a:noAutofit/>
          </a:bodyPr>
          <a:lstStyle>
            <a:lvl1pPr>
              <a:lnSpc>
                <a:spcPct val="80000"/>
              </a:lnSpc>
              <a:defRPr sz="4800">
                <a:solidFill>
                  <a:schemeClr val="bg1"/>
                </a:solidFill>
              </a:defRPr>
            </a:lvl1pPr>
            <a:lvl2pPr marL="457200" indent="0">
              <a:buNone/>
              <a:defRPr/>
            </a:lvl2pPr>
          </a:lstStyle>
          <a:p>
            <a:pPr lvl="0"/>
            <a:r>
              <a:rPr lang="en-US" dirty="0"/>
              <a:t>Thank you</a:t>
            </a:r>
          </a:p>
        </p:txBody>
      </p:sp>
      <p:sp>
        <p:nvSpPr>
          <p:cNvPr id="8" name="TextBox 7">
            <a:extLst>
              <a:ext uri="{FF2B5EF4-FFF2-40B4-BE49-F238E27FC236}">
                <a16:creationId xmlns:a16="http://schemas.microsoft.com/office/drawing/2014/main" id="{F7BF49BF-4968-8D47-AB2D-21AB12177162}"/>
              </a:ext>
            </a:extLst>
          </p:cNvPr>
          <p:cNvSpPr txBox="1"/>
          <p:nvPr userDrawn="1"/>
        </p:nvSpPr>
        <p:spPr>
          <a:xfrm>
            <a:off x="360000" y="6336000"/>
            <a:ext cx="5400000" cy="216000"/>
          </a:xfrm>
          <a:prstGeom prst="rect">
            <a:avLst/>
          </a:prstGeom>
          <a:noFill/>
        </p:spPr>
        <p:txBody>
          <a:bodyPr wrap="square" lIns="90000" rtlCol="0" anchor="ctr" anchorCtr="0">
            <a:spAutoFit/>
          </a:bodyPr>
          <a:lstStyle/>
          <a:p>
            <a:r>
              <a:rPr lang="en-GB" sz="800" b="0" i="0" dirty="0">
                <a:solidFill>
                  <a:schemeClr val="bg1"/>
                </a:solidFill>
                <a:latin typeface="Arial" panose="020B0604020202020204" pitchFamily="34" charset="0"/>
                <a:ea typeface="MS PGothic" pitchFamily="34" charset="-128"/>
                <a:cs typeface="Arial" panose="020B0604020202020204" pitchFamily="34" charset="0"/>
              </a:rPr>
              <a:t>AIA confidential and proprietary information. Not for distribution.</a:t>
            </a:r>
            <a:endParaRPr lang="en-US" sz="800" b="0" i="0" dirty="0">
              <a:solidFill>
                <a:schemeClr val="bg1"/>
              </a:solidFill>
              <a:latin typeface="Arial" panose="020B0604020202020204" pitchFamily="34" charset="0"/>
              <a:cs typeface="Arial" panose="020B0604020202020204" pitchFamily="34" charset="0"/>
            </a:endParaRPr>
          </a:p>
        </p:txBody>
      </p:sp>
      <p:pic>
        <p:nvPicPr>
          <p:cNvPr id="10" name="Graphic 9">
            <a:extLst>
              <a:ext uri="{FF2B5EF4-FFF2-40B4-BE49-F238E27FC236}">
                <a16:creationId xmlns:a16="http://schemas.microsoft.com/office/drawing/2014/main" id="{811844A6-A542-4643-96E7-3B2146FB59FE}"/>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60000" y="360000"/>
            <a:ext cx="1828800" cy="660400"/>
          </a:xfrm>
          <a:prstGeom prst="rect">
            <a:avLst/>
          </a:prstGeom>
        </p:spPr>
      </p:pic>
      <p:pic>
        <p:nvPicPr>
          <p:cNvPr id="11" name="Graphic 10">
            <a:extLst>
              <a:ext uri="{FF2B5EF4-FFF2-40B4-BE49-F238E27FC236}">
                <a16:creationId xmlns:a16="http://schemas.microsoft.com/office/drawing/2014/main" id="{6BF7525C-9C01-724E-9D57-E82EE57D1FBD}"/>
              </a:ext>
            </a:extLst>
          </p:cNvPr>
          <p:cNvPicPr>
            <a:picLocks noChangeAspect="1"/>
          </p:cNvPicPr>
          <p:nvPr userDrawn="1"/>
        </p:nvPicPr>
        <p:blipFill rotWithShape="1">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r="26370" b="31414"/>
          <a:stretch/>
        </p:blipFill>
        <p:spPr>
          <a:xfrm>
            <a:off x="6580800" y="0"/>
            <a:ext cx="5611200" cy="6858000"/>
          </a:xfrm>
          <a:prstGeom prst="rect">
            <a:avLst/>
          </a:prstGeom>
        </p:spPr>
      </p:pic>
    </p:spTree>
    <p:extLst>
      <p:ext uri="{BB962C8B-B14F-4D97-AF65-F5344CB8AC3E}">
        <p14:creationId xmlns:p14="http://schemas.microsoft.com/office/powerpoint/2010/main" val="7563068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svg"/><Relationship Id="rId6" Type="http://schemas.openxmlformats.org/officeDocument/2006/relationships/image" Target="../media/image2.svg"/><Relationship Id="rId7" Type="http://schemas.openxmlformats.org/officeDocument/2006/relationships/image" Target="../media/image3.svg"/><Relationship Id="rId8" Type="http://schemas.openxmlformats.org/officeDocument/2006/relationships/image" Target="../media/image4.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76106E65-026A-4C46-AFB0-85C3E7848DD0}"/>
              </a:ext>
            </a:extLst>
          </p:cNvPr>
          <p:cNvSpPr>
            <a:spLocks noGrp="1"/>
          </p:cNvSpPr>
          <p:nvPr>
            <p:ph type="title"/>
          </p:nvPr>
        </p:nvSpPr>
        <p:spPr>
          <a:xfrm>
            <a:off x="360000" y="540000"/>
            <a:ext cx="11472000" cy="1021287"/>
          </a:xfrm>
          <a:prstGeom prst="rect">
            <a:avLst/>
          </a:prstGeom>
        </p:spPr>
        <p:txBody>
          <a:bodyPr vert="horz" lIns="91440" tIns="45720" rIns="91440" bIns="45720" rtlCol="0" anchor="t">
            <a:normAutofit/>
          </a:bodyPr>
          <a:lstStyle/>
          <a:p>
            <a:r>
              <a:rPr lang="en-GB" dirty="0"/>
              <a:t>Click to edit master style</a:t>
            </a:r>
            <a:endParaRPr lang="en-US" dirty="0"/>
          </a:p>
        </p:txBody>
      </p:sp>
      <p:sp>
        <p:nvSpPr>
          <p:cNvPr id="10" name="Text Placeholder 2">
            <a:extLst>
              <a:ext uri="{FF2B5EF4-FFF2-40B4-BE49-F238E27FC236}">
                <a16:creationId xmlns:a16="http://schemas.microsoft.com/office/drawing/2014/main" id="{5707E24A-2FF5-4246-BEF6-082A6111800B}"/>
              </a:ext>
            </a:extLst>
          </p:cNvPr>
          <p:cNvSpPr>
            <a:spLocks noGrp="1"/>
          </p:cNvSpPr>
          <p:nvPr>
            <p:ph type="body" idx="1"/>
          </p:nvPr>
        </p:nvSpPr>
        <p:spPr>
          <a:xfrm>
            <a:off x="360000" y="1800000"/>
            <a:ext cx="11472000" cy="3364189"/>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Slide Number Placeholder 5">
            <a:extLst>
              <a:ext uri="{FF2B5EF4-FFF2-40B4-BE49-F238E27FC236}">
                <a16:creationId xmlns:a16="http://schemas.microsoft.com/office/drawing/2014/main" id="{D7F45575-B773-1649-9EFE-1C08EEFD46D1}"/>
              </a:ext>
            </a:extLst>
          </p:cNvPr>
          <p:cNvSpPr>
            <a:spLocks noGrp="1"/>
          </p:cNvSpPr>
          <p:nvPr>
            <p:ph type="sldNum" sz="quarter" idx="4"/>
          </p:nvPr>
        </p:nvSpPr>
        <p:spPr>
          <a:xfrm>
            <a:off x="359999" y="6264872"/>
            <a:ext cx="360000" cy="360000"/>
          </a:xfrm>
          <a:prstGeom prst="rect">
            <a:avLst/>
          </a:prstGeom>
        </p:spPr>
        <p:txBody>
          <a:bodyPr vert="horz" lIns="91440" tIns="45720" rIns="91440" bIns="45720" rtlCol="0" anchor="ctr"/>
          <a:lstStyle>
            <a:lvl1pPr algn="l">
              <a:defRPr sz="800" b="0" i="0">
                <a:solidFill>
                  <a:schemeClr val="tx1"/>
                </a:solidFill>
                <a:latin typeface="Arial" panose="020B0604020202020204" pitchFamily="34" charset="0"/>
                <a:cs typeface="Arial" panose="020B0604020202020204" pitchFamily="34" charset="0"/>
              </a:defRPr>
            </a:lvl1pPr>
          </a:lstStyle>
          <a:p>
            <a:fld id="{18A41853-EF22-D446-BDBC-A7CF3FE93503}" type="slidenum">
              <a:rPr lang="en-US" smtClean="0"/>
              <a:pPr/>
              <a:t>‹#›</a:t>
            </a:fld>
            <a:endParaRPr lang="en-US" dirty="0"/>
          </a:p>
        </p:txBody>
      </p:sp>
      <p:sp>
        <p:nvSpPr>
          <p:cNvPr id="14" name="TextBox 13">
            <a:extLst>
              <a:ext uri="{FF2B5EF4-FFF2-40B4-BE49-F238E27FC236}">
                <a16:creationId xmlns:a16="http://schemas.microsoft.com/office/drawing/2014/main" id="{14FEDD73-913A-A14E-9158-0586EE3B58B5}"/>
              </a:ext>
            </a:extLst>
          </p:cNvPr>
          <p:cNvSpPr txBox="1"/>
          <p:nvPr userDrawn="1"/>
        </p:nvSpPr>
        <p:spPr>
          <a:xfrm>
            <a:off x="720000" y="6336000"/>
            <a:ext cx="5400000" cy="216000"/>
          </a:xfrm>
          <a:prstGeom prst="rect">
            <a:avLst/>
          </a:prstGeom>
          <a:noFill/>
        </p:spPr>
        <p:txBody>
          <a:bodyPr wrap="square" lIns="90000" rtlCol="0" anchor="ctr" anchorCtr="0">
            <a:noAutofit/>
          </a:bodyPr>
          <a:lstStyle/>
          <a:p>
            <a:r>
              <a:rPr lang="en-GB" sz="800" b="0" i="0" dirty="0">
                <a:solidFill>
                  <a:schemeClr val="tx1"/>
                </a:solidFill>
                <a:latin typeface="Arial" panose="020B0604020202020204" pitchFamily="34" charset="0"/>
                <a:ea typeface="MS PGothic" pitchFamily="34" charset="-128"/>
                <a:cs typeface="Arial" panose="020B0604020202020204" pitchFamily="34" charset="0"/>
              </a:rPr>
              <a:t>AIA confidential and proprietary information. Not for distribution. </a:t>
            </a:r>
            <a:endParaRPr lang="en-US" sz="800" b="0" i="0" dirty="0">
              <a:solidFill>
                <a:schemeClr val="tx1"/>
              </a:solidFill>
              <a:latin typeface="Arial" panose="020B0604020202020204" pitchFamily="34" charset="0"/>
              <a:cs typeface="Arial" panose="020B0604020202020204" pitchFamily="34" charset="0"/>
            </a:endParaRPr>
          </a:p>
        </p:txBody>
      </p:sp>
      <p:sp>
        <p:nvSpPr>
          <p:cNvPr id="49" name="Rectangle 9">
            <a:extLst>
              <a:ext uri="{FF2B5EF4-FFF2-40B4-BE49-F238E27FC236}">
                <a16:creationId xmlns:a16="http://schemas.microsoft.com/office/drawing/2014/main" id="{E0203ACC-1921-3649-A2D8-9E4ECC5D23B4}"/>
              </a:ext>
            </a:extLst>
          </p:cNvPr>
          <p:cNvSpPr>
            <a:spLocks noChangeArrowheads="1"/>
          </p:cNvSpPr>
          <p:nvPr userDrawn="1"/>
        </p:nvSpPr>
        <p:spPr bwMode="auto">
          <a:xfrm>
            <a:off x="-2626840" y="1353662"/>
            <a:ext cx="1844675" cy="801569"/>
          </a:xfrm>
          <a:prstGeom prst="rect">
            <a:avLst/>
          </a:prstGeom>
          <a:solidFill>
            <a:srgbClr val="333D47"/>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CHARCOAL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R51 G61 B71</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0" name="Rectangle 7">
            <a:extLst>
              <a:ext uri="{FF2B5EF4-FFF2-40B4-BE49-F238E27FC236}">
                <a16:creationId xmlns:a16="http://schemas.microsoft.com/office/drawing/2014/main" id="{3EE7A4A7-B933-B24E-AC2D-C118217EFEB4}"/>
              </a:ext>
            </a:extLst>
          </p:cNvPr>
          <p:cNvSpPr>
            <a:spLocks noChangeArrowheads="1"/>
          </p:cNvSpPr>
          <p:nvPr userDrawn="1"/>
        </p:nvSpPr>
        <p:spPr bwMode="auto">
          <a:xfrm>
            <a:off x="-2614697" y="407231"/>
            <a:ext cx="1821348" cy="806397"/>
          </a:xfrm>
          <a:prstGeom prst="rect">
            <a:avLst/>
          </a:prstGeom>
          <a:solidFill>
            <a:srgbClr val="D3114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RED</a:t>
            </a:r>
          </a:p>
          <a:p>
            <a:pPr>
              <a:spcBef>
                <a:spcPct val="0"/>
              </a:spcBef>
              <a:buFontTx/>
              <a:buNone/>
            </a:pPr>
            <a:r>
              <a:rPr lang="en-US" sz="1400" spc="-100" baseline="0" dirty="0">
                <a:solidFill>
                  <a:srgbClr val="FFFFFF"/>
                </a:solidFill>
                <a:latin typeface="Arial" panose="020B0604020202020204" pitchFamily="34" charset="0"/>
                <a:cs typeface="Arial" panose="020B0604020202020204" pitchFamily="34" charset="0"/>
              </a:rPr>
              <a:t>R211 G17 B69</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58" name="TextBox 57">
            <a:extLst>
              <a:ext uri="{FF2B5EF4-FFF2-40B4-BE49-F238E27FC236}">
                <a16:creationId xmlns:a16="http://schemas.microsoft.com/office/drawing/2014/main" id="{B57F8F61-AACF-4D43-A48E-73FD89E9FAC0}"/>
              </a:ext>
            </a:extLst>
          </p:cNvPr>
          <p:cNvSpPr txBox="1"/>
          <p:nvPr userDrawn="1"/>
        </p:nvSpPr>
        <p:spPr>
          <a:xfrm>
            <a:off x="-2942426" y="376236"/>
            <a:ext cx="259484" cy="1937287"/>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CORE COLOURS</a:t>
            </a:r>
          </a:p>
        </p:txBody>
      </p:sp>
      <p:sp>
        <p:nvSpPr>
          <p:cNvPr id="67" name="Rectangle 9">
            <a:extLst>
              <a:ext uri="{FF2B5EF4-FFF2-40B4-BE49-F238E27FC236}">
                <a16:creationId xmlns:a16="http://schemas.microsoft.com/office/drawing/2014/main" id="{6E16C6D7-5D67-3F48-9BAD-5211CB2770DE}"/>
              </a:ext>
            </a:extLst>
          </p:cNvPr>
          <p:cNvSpPr>
            <a:spLocks noChangeArrowheads="1"/>
          </p:cNvSpPr>
          <p:nvPr userDrawn="1"/>
        </p:nvSpPr>
        <p:spPr bwMode="auto">
          <a:xfrm>
            <a:off x="-4617303" y="5798524"/>
            <a:ext cx="1487670" cy="646439"/>
          </a:xfrm>
          <a:prstGeom prst="rect">
            <a:avLst/>
          </a:prstGeom>
          <a:solidFill>
            <a:schemeClr val="bg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WARM GREY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R211 G202 B195</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8" name="Rectangle 9">
            <a:extLst>
              <a:ext uri="{FF2B5EF4-FFF2-40B4-BE49-F238E27FC236}">
                <a16:creationId xmlns:a16="http://schemas.microsoft.com/office/drawing/2014/main" id="{30414EC1-704C-FF47-9611-AD4C8B879B94}"/>
              </a:ext>
            </a:extLst>
          </p:cNvPr>
          <p:cNvSpPr>
            <a:spLocks noChangeArrowheads="1"/>
          </p:cNvSpPr>
          <p:nvPr userDrawn="1"/>
        </p:nvSpPr>
        <p:spPr bwMode="auto">
          <a:xfrm>
            <a:off x="-4611596" y="1877530"/>
            <a:ext cx="1487670" cy="646439"/>
          </a:xfrm>
          <a:prstGeom prst="rect">
            <a:avLst/>
          </a:prstGeom>
          <a:solidFill>
            <a:schemeClr val="accent3"/>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ORANGE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G117 B77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46EDC2E1-B0F0-2B4D-8CFB-F684F18144D9}"/>
              </a:ext>
            </a:extLst>
          </p:cNvPr>
          <p:cNvSpPr txBox="1"/>
          <p:nvPr userDrawn="1"/>
        </p:nvSpPr>
        <p:spPr>
          <a:xfrm>
            <a:off x="-4910208" y="379515"/>
            <a:ext cx="314328" cy="3271299"/>
          </a:xfrm>
          <a:prstGeom prst="rect">
            <a:avLst/>
          </a:prstGeom>
          <a:noFill/>
        </p:spPr>
        <p:txBody>
          <a:bodyPr vert="vert270" wrap="square" lIns="0" tIns="0" rIns="0" bIns="0" rtlCol="0">
            <a:noAutofit/>
          </a:bodyPr>
          <a:lstStyle/>
          <a:p>
            <a:pPr algn="r">
              <a:lnSpc>
                <a:spcPct val="80000"/>
              </a:lnSpc>
            </a:pPr>
            <a:r>
              <a:rPr lang="en-US" b="1" i="0" dirty="0">
                <a:solidFill>
                  <a:srgbClr val="585858"/>
                </a:solidFill>
                <a:latin typeface="Arial" panose="020B0604020202020204" pitchFamily="34" charset="0"/>
                <a:cs typeface="Arial" panose="020B0604020202020204" pitchFamily="34" charset="0"/>
              </a:rPr>
              <a:t>SUPPORTING COLOURS</a:t>
            </a:r>
          </a:p>
        </p:txBody>
      </p:sp>
      <p:sp>
        <p:nvSpPr>
          <p:cNvPr id="70" name="Rectangle 9">
            <a:extLst>
              <a:ext uri="{FF2B5EF4-FFF2-40B4-BE49-F238E27FC236}">
                <a16:creationId xmlns:a16="http://schemas.microsoft.com/office/drawing/2014/main" id="{32D26DB1-D22B-0146-BEE0-26A6F1234774}"/>
              </a:ext>
            </a:extLst>
          </p:cNvPr>
          <p:cNvSpPr>
            <a:spLocks noChangeArrowheads="1"/>
          </p:cNvSpPr>
          <p:nvPr userDrawn="1"/>
        </p:nvSpPr>
        <p:spPr bwMode="auto">
          <a:xfrm>
            <a:off x="-4611596" y="2663784"/>
            <a:ext cx="1487670" cy="646439"/>
          </a:xfrm>
          <a:prstGeom prst="rect">
            <a:avLst/>
          </a:prstGeom>
          <a:solidFill>
            <a:schemeClr val="accent4"/>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YELLOW</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R247 G201 B38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1" name="Rectangle 9">
            <a:extLst>
              <a:ext uri="{FF2B5EF4-FFF2-40B4-BE49-F238E27FC236}">
                <a16:creationId xmlns:a16="http://schemas.microsoft.com/office/drawing/2014/main" id="{38917B89-6ECF-F74A-9BA2-E9FCB7C72DD1}"/>
              </a:ext>
            </a:extLst>
          </p:cNvPr>
          <p:cNvSpPr>
            <a:spLocks noChangeArrowheads="1"/>
          </p:cNvSpPr>
          <p:nvPr userDrawn="1"/>
        </p:nvSpPr>
        <p:spPr bwMode="auto">
          <a:xfrm>
            <a:off x="-4611596" y="4266004"/>
            <a:ext cx="1487670" cy="646439"/>
          </a:xfrm>
          <a:prstGeom prst="rect">
            <a:avLst/>
          </a:prstGeom>
          <a:solidFill>
            <a:schemeClr val="accent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LAVENDER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R161 G153 B186</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2" name="Rectangle 9">
            <a:extLst>
              <a:ext uri="{FF2B5EF4-FFF2-40B4-BE49-F238E27FC236}">
                <a16:creationId xmlns:a16="http://schemas.microsoft.com/office/drawing/2014/main" id="{A835CB3C-C322-B743-8984-3B3E27A039B3}"/>
              </a:ext>
            </a:extLst>
          </p:cNvPr>
          <p:cNvSpPr>
            <a:spLocks noChangeArrowheads="1"/>
          </p:cNvSpPr>
          <p:nvPr userDrawn="1"/>
        </p:nvSpPr>
        <p:spPr bwMode="auto">
          <a:xfrm>
            <a:off x="-4611596" y="5052258"/>
            <a:ext cx="1487670" cy="646439"/>
          </a:xfrm>
          <a:prstGeom prst="rect">
            <a:avLst/>
          </a:prstGeom>
          <a:solidFill>
            <a:schemeClr val="tx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BLUE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R31 G120 B173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3" name="Rectangle 9">
            <a:extLst>
              <a:ext uri="{FF2B5EF4-FFF2-40B4-BE49-F238E27FC236}">
                <a16:creationId xmlns:a16="http://schemas.microsoft.com/office/drawing/2014/main" id="{0EB3A011-77AD-EE4C-BB9E-688A1F0E49B1}"/>
              </a:ext>
            </a:extLst>
          </p:cNvPr>
          <p:cNvSpPr>
            <a:spLocks noChangeArrowheads="1"/>
          </p:cNvSpPr>
          <p:nvPr userDrawn="1"/>
        </p:nvSpPr>
        <p:spPr bwMode="auto">
          <a:xfrm>
            <a:off x="-4611596" y="1125046"/>
            <a:ext cx="1487670" cy="646439"/>
          </a:xfrm>
          <a:prstGeom prst="rect">
            <a:avLst/>
          </a:prstGeom>
          <a:solidFill>
            <a:schemeClr val="accent2"/>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CERISE</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R186 G3 B97</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4" name="Rectangle 9">
            <a:extLst>
              <a:ext uri="{FF2B5EF4-FFF2-40B4-BE49-F238E27FC236}">
                <a16:creationId xmlns:a16="http://schemas.microsoft.com/office/drawing/2014/main" id="{402466E5-EFAB-0E4A-B977-56C6D30093B0}"/>
              </a:ext>
            </a:extLst>
          </p:cNvPr>
          <p:cNvSpPr>
            <a:spLocks noChangeArrowheads="1"/>
          </p:cNvSpPr>
          <p:nvPr userDrawn="1"/>
        </p:nvSpPr>
        <p:spPr bwMode="auto">
          <a:xfrm>
            <a:off x="-4611596" y="3449154"/>
            <a:ext cx="1487670" cy="646439"/>
          </a:xfrm>
          <a:prstGeom prst="rect">
            <a:avLst/>
          </a:prstGeom>
          <a:solidFill>
            <a:schemeClr val="accent6"/>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PURPLE </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R76 G71 B148</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sp>
        <p:nvSpPr>
          <p:cNvPr id="75" name="Rectangle 9">
            <a:extLst>
              <a:ext uri="{FF2B5EF4-FFF2-40B4-BE49-F238E27FC236}">
                <a16:creationId xmlns:a16="http://schemas.microsoft.com/office/drawing/2014/main" id="{F469A4F2-3792-2E49-8B38-6AFC63812708}"/>
              </a:ext>
            </a:extLst>
          </p:cNvPr>
          <p:cNvSpPr>
            <a:spLocks noChangeArrowheads="1"/>
          </p:cNvSpPr>
          <p:nvPr userDrawn="1"/>
        </p:nvSpPr>
        <p:spPr bwMode="auto">
          <a:xfrm>
            <a:off x="-4611596" y="373206"/>
            <a:ext cx="1487670" cy="646439"/>
          </a:xfrm>
          <a:prstGeom prst="rect">
            <a:avLst/>
          </a:prstGeom>
          <a:solidFill>
            <a:srgbClr val="FF7A85"/>
          </a:solidFill>
          <a:ln w="9525">
            <a:noFill/>
            <a:miter lim="800000"/>
            <a:headEnd/>
            <a:tailEnd/>
          </a:ln>
          <a:effectLst/>
        </p:spPr>
        <p:txBody>
          <a:bodyPr wrap="none" anchor="ctr"/>
          <a:lstStyle/>
          <a:p>
            <a:pPr>
              <a:spcBef>
                <a:spcPct val="0"/>
              </a:spcBef>
              <a:buFontTx/>
              <a:buNone/>
            </a:pPr>
            <a:r>
              <a:rPr lang="en-US" sz="1400" b="1" spc="-100" baseline="0" dirty="0">
                <a:solidFill>
                  <a:srgbClr val="FFFFFF"/>
                </a:solidFill>
                <a:latin typeface="Arial" panose="020B0604020202020204" pitchFamily="34" charset="0"/>
                <a:cs typeface="Arial" panose="020B0604020202020204" pitchFamily="34" charset="0"/>
              </a:rPr>
              <a:t>AIA SALMON</a:t>
            </a:r>
            <a:br>
              <a:rPr lang="en-US" sz="1400" b="1" spc="-100" baseline="0" dirty="0">
                <a:solidFill>
                  <a:srgbClr val="FFFFFF"/>
                </a:solidFill>
                <a:latin typeface="Arial" panose="020B0604020202020204" pitchFamily="34" charset="0"/>
                <a:cs typeface="Arial" panose="020B0604020202020204" pitchFamily="34" charset="0"/>
              </a:rPr>
            </a:br>
            <a:r>
              <a:rPr lang="en-US" sz="1400" spc="-100" baseline="0" dirty="0">
                <a:solidFill>
                  <a:srgbClr val="FFFFFF"/>
                </a:solidFill>
                <a:latin typeface="Arial" panose="020B0604020202020204" pitchFamily="34" charset="0"/>
                <a:cs typeface="Arial" panose="020B0604020202020204" pitchFamily="34" charset="0"/>
              </a:rPr>
              <a:t>R255 G122 B133</a:t>
            </a:r>
          </a:p>
          <a:p>
            <a:pPr>
              <a:spcBef>
                <a:spcPct val="0"/>
              </a:spcBef>
              <a:buFontTx/>
              <a:buNone/>
            </a:pPr>
            <a:endParaRPr lang="en-US" sz="1400" spc="-100" baseline="0" dirty="0">
              <a:solidFill>
                <a:srgbClr val="FFFFFF"/>
              </a:solidFill>
              <a:latin typeface="Arial" panose="020B0604020202020204" pitchFamily="34" charset="0"/>
              <a:cs typeface="Arial" panose="020B0604020202020204" pitchFamily="34" charset="0"/>
            </a:endParaRPr>
          </a:p>
        </p:txBody>
      </p:sp>
      <p:grpSp>
        <p:nvGrpSpPr>
          <p:cNvPr id="76" name="Group 75">
            <a:extLst>
              <a:ext uri="{FF2B5EF4-FFF2-40B4-BE49-F238E27FC236}">
                <a16:creationId xmlns:a16="http://schemas.microsoft.com/office/drawing/2014/main" id="{A0DFD5F1-7ED6-7A4F-A85D-AC9239B9A9E4}"/>
              </a:ext>
            </a:extLst>
          </p:cNvPr>
          <p:cNvGrpSpPr/>
          <p:nvPr userDrawn="1"/>
        </p:nvGrpSpPr>
        <p:grpSpPr>
          <a:xfrm>
            <a:off x="-4617304" y="796253"/>
            <a:ext cx="1494303" cy="224029"/>
            <a:chOff x="5716131" y="796253"/>
            <a:chExt cx="995522" cy="224029"/>
          </a:xfrm>
        </p:grpSpPr>
        <p:sp>
          <p:nvSpPr>
            <p:cNvPr id="77" name="Rectangle 19">
              <a:extLst>
                <a:ext uri="{FF2B5EF4-FFF2-40B4-BE49-F238E27FC236}">
                  <a16:creationId xmlns:a16="http://schemas.microsoft.com/office/drawing/2014/main" id="{69707F44-6BC5-024E-87D0-3237CAF96668}"/>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78" name="Rectangle 20">
              <a:extLst>
                <a:ext uri="{FF2B5EF4-FFF2-40B4-BE49-F238E27FC236}">
                  <a16:creationId xmlns:a16="http://schemas.microsoft.com/office/drawing/2014/main" id="{D0D916EB-9F54-2F4B-BDD0-F877343549EC}"/>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79" name="Group 78">
            <a:extLst>
              <a:ext uri="{FF2B5EF4-FFF2-40B4-BE49-F238E27FC236}">
                <a16:creationId xmlns:a16="http://schemas.microsoft.com/office/drawing/2014/main" id="{7E6BDFF9-62CE-8349-B945-5E4093758751}"/>
              </a:ext>
            </a:extLst>
          </p:cNvPr>
          <p:cNvGrpSpPr/>
          <p:nvPr userDrawn="1"/>
        </p:nvGrpSpPr>
        <p:grpSpPr>
          <a:xfrm>
            <a:off x="-2626840" y="1878230"/>
            <a:ext cx="1844675" cy="277791"/>
            <a:chOff x="2606261" y="3143449"/>
            <a:chExt cx="2458017" cy="277791"/>
          </a:xfrm>
        </p:grpSpPr>
        <p:sp>
          <p:nvSpPr>
            <p:cNvPr id="80" name="Rectangle 19">
              <a:extLst>
                <a:ext uri="{FF2B5EF4-FFF2-40B4-BE49-F238E27FC236}">
                  <a16:creationId xmlns:a16="http://schemas.microsoft.com/office/drawing/2014/main" id="{914B8044-F95A-A74A-BC30-F3A5C9B45BC2}"/>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1" name="Rectangle 20">
              <a:extLst>
                <a:ext uri="{FF2B5EF4-FFF2-40B4-BE49-F238E27FC236}">
                  <a16:creationId xmlns:a16="http://schemas.microsoft.com/office/drawing/2014/main" id="{DCFFAD6D-DAE4-824F-BF41-EE5D85829979}"/>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2" name="Rectangle 22">
              <a:extLst>
                <a:ext uri="{FF2B5EF4-FFF2-40B4-BE49-F238E27FC236}">
                  <a16:creationId xmlns:a16="http://schemas.microsoft.com/office/drawing/2014/main" id="{B42DD97E-811A-2B47-918D-7C0F001104F8}"/>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3" name="Rectangle 19">
              <a:extLst>
                <a:ext uri="{FF2B5EF4-FFF2-40B4-BE49-F238E27FC236}">
                  <a16:creationId xmlns:a16="http://schemas.microsoft.com/office/drawing/2014/main" id="{3D37BE17-9C0A-E749-A606-9BC8E7CE3C80}"/>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4" name="Group 83">
            <a:extLst>
              <a:ext uri="{FF2B5EF4-FFF2-40B4-BE49-F238E27FC236}">
                <a16:creationId xmlns:a16="http://schemas.microsoft.com/office/drawing/2014/main" id="{029FDAA7-EDA4-E344-BCAC-7F6CCDECD451}"/>
              </a:ext>
            </a:extLst>
          </p:cNvPr>
          <p:cNvGrpSpPr/>
          <p:nvPr userDrawn="1"/>
        </p:nvGrpSpPr>
        <p:grpSpPr>
          <a:xfrm>
            <a:off x="-2626840" y="957107"/>
            <a:ext cx="1844675" cy="277791"/>
            <a:chOff x="2606261" y="3143449"/>
            <a:chExt cx="2458017" cy="277791"/>
          </a:xfrm>
        </p:grpSpPr>
        <p:sp>
          <p:nvSpPr>
            <p:cNvPr id="85" name="Rectangle 19">
              <a:extLst>
                <a:ext uri="{FF2B5EF4-FFF2-40B4-BE49-F238E27FC236}">
                  <a16:creationId xmlns:a16="http://schemas.microsoft.com/office/drawing/2014/main" id="{322E5F21-86AC-9847-9EAE-BB1715E938D4}"/>
                </a:ext>
              </a:extLst>
            </p:cNvPr>
            <p:cNvSpPr>
              <a:spLocks noChangeArrowheads="1"/>
            </p:cNvSpPr>
            <p:nvPr/>
          </p:nvSpPr>
          <p:spPr bwMode="auto">
            <a:xfrm>
              <a:off x="3211379" y="3143449"/>
              <a:ext cx="615945" cy="277791"/>
            </a:xfrm>
            <a:prstGeom prst="rect">
              <a:avLst/>
            </a:prstGeom>
            <a:solidFill>
              <a:schemeClr val="bg1">
                <a:alpha val="4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4</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6" name="Rectangle 20">
              <a:extLst>
                <a:ext uri="{FF2B5EF4-FFF2-40B4-BE49-F238E27FC236}">
                  <a16:creationId xmlns:a16="http://schemas.microsoft.com/office/drawing/2014/main" id="{6F019A4D-1606-E749-A834-546B40C5FC10}"/>
                </a:ext>
              </a:extLst>
            </p:cNvPr>
            <p:cNvSpPr>
              <a:spLocks noChangeArrowheads="1"/>
            </p:cNvSpPr>
            <p:nvPr/>
          </p:nvSpPr>
          <p:spPr bwMode="auto">
            <a:xfrm>
              <a:off x="3829856" y="3143449"/>
              <a:ext cx="615945" cy="277791"/>
            </a:xfrm>
            <a:prstGeom prst="rect">
              <a:avLst/>
            </a:prstGeom>
            <a:solidFill>
              <a:schemeClr val="bg1">
                <a:alpha val="60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6</a:t>
              </a:r>
              <a:r>
                <a:rPr lang="en-US" sz="1200" b="1" spc="-100" baseline="0" dirty="0">
                  <a:solidFill>
                    <a:schemeClr val="bg1"/>
                  </a:solidFill>
                  <a:latin typeface="Arial" panose="020B0604020202020204" pitchFamily="34" charset="0"/>
                  <a:cs typeface="Arial" panose="020B0604020202020204" pitchFamily="34" charset="0"/>
                </a:rPr>
                <a:t>0%</a:t>
              </a:r>
            </a:p>
          </p:txBody>
        </p:sp>
        <p:sp>
          <p:nvSpPr>
            <p:cNvPr id="87" name="Rectangle 22">
              <a:extLst>
                <a:ext uri="{FF2B5EF4-FFF2-40B4-BE49-F238E27FC236}">
                  <a16:creationId xmlns:a16="http://schemas.microsoft.com/office/drawing/2014/main" id="{7308B2FC-69DD-954E-8980-2EC3AA1D7544}"/>
                </a:ext>
              </a:extLst>
            </p:cNvPr>
            <p:cNvSpPr>
              <a:spLocks noChangeArrowheads="1"/>
            </p:cNvSpPr>
            <p:nvPr/>
          </p:nvSpPr>
          <p:spPr bwMode="auto">
            <a:xfrm>
              <a:off x="4448333" y="3143449"/>
              <a:ext cx="615945" cy="277791"/>
            </a:xfrm>
            <a:prstGeom prst="rect">
              <a:avLst/>
            </a:prstGeom>
            <a:solidFill>
              <a:schemeClr val="bg1">
                <a:alpha val="8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80%</a:t>
              </a:r>
            </a:p>
          </p:txBody>
        </p:sp>
        <p:sp>
          <p:nvSpPr>
            <p:cNvPr id="88" name="Rectangle 19">
              <a:extLst>
                <a:ext uri="{FF2B5EF4-FFF2-40B4-BE49-F238E27FC236}">
                  <a16:creationId xmlns:a16="http://schemas.microsoft.com/office/drawing/2014/main" id="{74AC479E-3F57-E644-A3C7-97D4AB45ADFF}"/>
                </a:ext>
              </a:extLst>
            </p:cNvPr>
            <p:cNvSpPr>
              <a:spLocks noChangeArrowheads="1"/>
            </p:cNvSpPr>
            <p:nvPr/>
          </p:nvSpPr>
          <p:spPr bwMode="auto">
            <a:xfrm>
              <a:off x="2606261" y="3143449"/>
              <a:ext cx="615945" cy="277791"/>
            </a:xfrm>
            <a:prstGeom prst="rect">
              <a:avLst/>
            </a:prstGeom>
            <a:solidFill>
              <a:schemeClr val="bg1">
                <a:alpha val="20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20%</a:t>
              </a:r>
            </a:p>
          </p:txBody>
        </p:sp>
      </p:grpSp>
      <p:grpSp>
        <p:nvGrpSpPr>
          <p:cNvPr id="89" name="Group 88">
            <a:extLst>
              <a:ext uri="{FF2B5EF4-FFF2-40B4-BE49-F238E27FC236}">
                <a16:creationId xmlns:a16="http://schemas.microsoft.com/office/drawing/2014/main" id="{EE533266-6387-9B46-8624-65A0D9D79FF0}"/>
              </a:ext>
            </a:extLst>
          </p:cNvPr>
          <p:cNvGrpSpPr/>
          <p:nvPr userDrawn="1"/>
        </p:nvGrpSpPr>
        <p:grpSpPr>
          <a:xfrm>
            <a:off x="-4617304" y="1549288"/>
            <a:ext cx="1494303" cy="224029"/>
            <a:chOff x="5716131" y="796253"/>
            <a:chExt cx="995522" cy="224029"/>
          </a:xfrm>
        </p:grpSpPr>
        <p:sp>
          <p:nvSpPr>
            <p:cNvPr id="90" name="Rectangle 19">
              <a:extLst>
                <a:ext uri="{FF2B5EF4-FFF2-40B4-BE49-F238E27FC236}">
                  <a16:creationId xmlns:a16="http://schemas.microsoft.com/office/drawing/2014/main" id="{BB7C84DB-7787-A44D-865E-1BD05831D91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1" name="Rectangle 20">
              <a:extLst>
                <a:ext uri="{FF2B5EF4-FFF2-40B4-BE49-F238E27FC236}">
                  <a16:creationId xmlns:a16="http://schemas.microsoft.com/office/drawing/2014/main" id="{9A96F96C-40C9-8D49-A8DD-AB3B11C9C2C0}"/>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2" name="Group 91">
            <a:extLst>
              <a:ext uri="{FF2B5EF4-FFF2-40B4-BE49-F238E27FC236}">
                <a16:creationId xmlns:a16="http://schemas.microsoft.com/office/drawing/2014/main" id="{DA26BA09-7293-5840-8B41-BA669E1DA42E}"/>
              </a:ext>
            </a:extLst>
          </p:cNvPr>
          <p:cNvGrpSpPr/>
          <p:nvPr userDrawn="1"/>
        </p:nvGrpSpPr>
        <p:grpSpPr>
          <a:xfrm>
            <a:off x="-4617304" y="2295599"/>
            <a:ext cx="1494303" cy="224029"/>
            <a:chOff x="5716131" y="796253"/>
            <a:chExt cx="995522" cy="224029"/>
          </a:xfrm>
        </p:grpSpPr>
        <p:sp>
          <p:nvSpPr>
            <p:cNvPr id="93" name="Rectangle 19">
              <a:extLst>
                <a:ext uri="{FF2B5EF4-FFF2-40B4-BE49-F238E27FC236}">
                  <a16:creationId xmlns:a16="http://schemas.microsoft.com/office/drawing/2014/main" id="{07DA5FAE-B117-1349-8D4B-5D7FCC8142A1}"/>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4" name="Rectangle 20">
              <a:extLst>
                <a:ext uri="{FF2B5EF4-FFF2-40B4-BE49-F238E27FC236}">
                  <a16:creationId xmlns:a16="http://schemas.microsoft.com/office/drawing/2014/main" id="{F8E4D5C8-28FE-3740-934F-B88CFC79C33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5" name="Group 94">
            <a:extLst>
              <a:ext uri="{FF2B5EF4-FFF2-40B4-BE49-F238E27FC236}">
                <a16:creationId xmlns:a16="http://schemas.microsoft.com/office/drawing/2014/main" id="{BE60DD88-FE73-4A4E-83B0-C27EC4180A40}"/>
              </a:ext>
            </a:extLst>
          </p:cNvPr>
          <p:cNvGrpSpPr/>
          <p:nvPr userDrawn="1"/>
        </p:nvGrpSpPr>
        <p:grpSpPr>
          <a:xfrm>
            <a:off x="-4617304" y="3088976"/>
            <a:ext cx="1494303" cy="224029"/>
            <a:chOff x="5716131" y="796253"/>
            <a:chExt cx="995522" cy="224029"/>
          </a:xfrm>
        </p:grpSpPr>
        <p:sp>
          <p:nvSpPr>
            <p:cNvPr id="96" name="Rectangle 19">
              <a:extLst>
                <a:ext uri="{FF2B5EF4-FFF2-40B4-BE49-F238E27FC236}">
                  <a16:creationId xmlns:a16="http://schemas.microsoft.com/office/drawing/2014/main" id="{F65AC04E-77DF-3D4F-ABC4-331908CD1675}"/>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97" name="Rectangle 20">
              <a:extLst>
                <a:ext uri="{FF2B5EF4-FFF2-40B4-BE49-F238E27FC236}">
                  <a16:creationId xmlns:a16="http://schemas.microsoft.com/office/drawing/2014/main" id="{3A43A58E-FE1C-F241-9FCD-27CDB423B5A7}"/>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98" name="Group 97">
            <a:extLst>
              <a:ext uri="{FF2B5EF4-FFF2-40B4-BE49-F238E27FC236}">
                <a16:creationId xmlns:a16="http://schemas.microsoft.com/office/drawing/2014/main" id="{85EC0C6B-BF0B-E84D-94EC-435A104A61F7}"/>
              </a:ext>
            </a:extLst>
          </p:cNvPr>
          <p:cNvGrpSpPr/>
          <p:nvPr userDrawn="1"/>
        </p:nvGrpSpPr>
        <p:grpSpPr>
          <a:xfrm>
            <a:off x="-4617304" y="3875629"/>
            <a:ext cx="1494303" cy="224029"/>
            <a:chOff x="5716131" y="796253"/>
            <a:chExt cx="995522" cy="224029"/>
          </a:xfrm>
        </p:grpSpPr>
        <p:sp>
          <p:nvSpPr>
            <p:cNvPr id="99" name="Rectangle 19">
              <a:extLst>
                <a:ext uri="{FF2B5EF4-FFF2-40B4-BE49-F238E27FC236}">
                  <a16:creationId xmlns:a16="http://schemas.microsoft.com/office/drawing/2014/main" id="{E7176F59-7B72-9148-B6EC-3D9A485B69F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0" name="Rectangle 20">
              <a:extLst>
                <a:ext uri="{FF2B5EF4-FFF2-40B4-BE49-F238E27FC236}">
                  <a16:creationId xmlns:a16="http://schemas.microsoft.com/office/drawing/2014/main" id="{2C7F8097-BD91-F644-9F8C-937FCE32DCE9}"/>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1" name="Group 100">
            <a:extLst>
              <a:ext uri="{FF2B5EF4-FFF2-40B4-BE49-F238E27FC236}">
                <a16:creationId xmlns:a16="http://schemas.microsoft.com/office/drawing/2014/main" id="{1E38DB8D-4AE7-FB41-966F-59657509D300}"/>
              </a:ext>
            </a:extLst>
          </p:cNvPr>
          <p:cNvGrpSpPr/>
          <p:nvPr userDrawn="1"/>
        </p:nvGrpSpPr>
        <p:grpSpPr>
          <a:xfrm>
            <a:off x="-4617304" y="4695900"/>
            <a:ext cx="1494303" cy="224029"/>
            <a:chOff x="5716131" y="796253"/>
            <a:chExt cx="995522" cy="224029"/>
          </a:xfrm>
        </p:grpSpPr>
        <p:sp>
          <p:nvSpPr>
            <p:cNvPr id="102" name="Rectangle 19">
              <a:extLst>
                <a:ext uri="{FF2B5EF4-FFF2-40B4-BE49-F238E27FC236}">
                  <a16:creationId xmlns:a16="http://schemas.microsoft.com/office/drawing/2014/main" id="{8E88217E-F57C-0F4D-A0DC-EAC60891AFD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3" name="Rectangle 20">
              <a:extLst>
                <a:ext uri="{FF2B5EF4-FFF2-40B4-BE49-F238E27FC236}">
                  <a16:creationId xmlns:a16="http://schemas.microsoft.com/office/drawing/2014/main" id="{0FE0007D-5F31-E149-B0CF-AB6784C43E66}"/>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4" name="Group 103">
            <a:extLst>
              <a:ext uri="{FF2B5EF4-FFF2-40B4-BE49-F238E27FC236}">
                <a16:creationId xmlns:a16="http://schemas.microsoft.com/office/drawing/2014/main" id="{5FE9AD56-297C-DB4B-A7BE-D6B0F01510E8}"/>
              </a:ext>
            </a:extLst>
          </p:cNvPr>
          <p:cNvGrpSpPr/>
          <p:nvPr userDrawn="1"/>
        </p:nvGrpSpPr>
        <p:grpSpPr>
          <a:xfrm>
            <a:off x="-4617304" y="5482553"/>
            <a:ext cx="1494303" cy="224029"/>
            <a:chOff x="5716131" y="796253"/>
            <a:chExt cx="995522" cy="224029"/>
          </a:xfrm>
        </p:grpSpPr>
        <p:sp>
          <p:nvSpPr>
            <p:cNvPr id="105" name="Rectangle 19">
              <a:extLst>
                <a:ext uri="{FF2B5EF4-FFF2-40B4-BE49-F238E27FC236}">
                  <a16:creationId xmlns:a16="http://schemas.microsoft.com/office/drawing/2014/main" id="{BAE1D5DB-96CD-7A41-AC4C-B60EE6BB7AE4}"/>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6" name="Rectangle 20">
              <a:extLst>
                <a:ext uri="{FF2B5EF4-FFF2-40B4-BE49-F238E27FC236}">
                  <a16:creationId xmlns:a16="http://schemas.microsoft.com/office/drawing/2014/main" id="{91DC9FA1-0AEE-A849-8DCF-0F227C3A707E}"/>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grpSp>
        <p:nvGrpSpPr>
          <p:cNvPr id="107" name="Group 106">
            <a:extLst>
              <a:ext uri="{FF2B5EF4-FFF2-40B4-BE49-F238E27FC236}">
                <a16:creationId xmlns:a16="http://schemas.microsoft.com/office/drawing/2014/main" id="{D51248F3-2F75-594D-B53D-6D8AF82EB3EE}"/>
              </a:ext>
            </a:extLst>
          </p:cNvPr>
          <p:cNvGrpSpPr/>
          <p:nvPr userDrawn="1"/>
        </p:nvGrpSpPr>
        <p:grpSpPr>
          <a:xfrm>
            <a:off x="-4617304" y="6228865"/>
            <a:ext cx="1494303" cy="224029"/>
            <a:chOff x="5716131" y="796253"/>
            <a:chExt cx="995522" cy="224029"/>
          </a:xfrm>
        </p:grpSpPr>
        <p:sp>
          <p:nvSpPr>
            <p:cNvPr id="108" name="Rectangle 19">
              <a:extLst>
                <a:ext uri="{FF2B5EF4-FFF2-40B4-BE49-F238E27FC236}">
                  <a16:creationId xmlns:a16="http://schemas.microsoft.com/office/drawing/2014/main" id="{2C100E18-2C92-5642-871F-193C519D3709}"/>
                </a:ext>
              </a:extLst>
            </p:cNvPr>
            <p:cNvSpPr>
              <a:spLocks noChangeArrowheads="1"/>
            </p:cNvSpPr>
            <p:nvPr/>
          </p:nvSpPr>
          <p:spPr bwMode="auto">
            <a:xfrm>
              <a:off x="5716131" y="796253"/>
              <a:ext cx="496740" cy="224029"/>
            </a:xfrm>
            <a:prstGeom prst="rect">
              <a:avLst/>
            </a:prstGeom>
            <a:solidFill>
              <a:schemeClr val="bg1">
                <a:alpha val="25000"/>
              </a:schemeClr>
            </a:solidFill>
            <a:ln w="9525">
              <a:noFill/>
              <a:miter lim="800000"/>
              <a:headEnd/>
              <a:tailEnd/>
            </a:ln>
            <a:effectLst/>
          </p:spPr>
          <p:txBody>
            <a:bodyPr wrap="none" anchor="ctr"/>
            <a:lstStyle/>
            <a:p>
              <a:pPr algn="ctr">
                <a:spcBef>
                  <a:spcPct val="0"/>
                </a:spcBef>
                <a:buFontTx/>
                <a:buNone/>
              </a:pPr>
              <a:r>
                <a:rPr lang="en-US" sz="1200" b="1" spc="-100" baseline="0" dirty="0">
                  <a:solidFill>
                    <a:schemeClr val="bg1"/>
                  </a:solidFill>
                  <a:latin typeface="Arial" panose="020B0604020202020204" pitchFamily="34" charset="0"/>
                  <a:cs typeface="Arial" panose="020B0604020202020204" pitchFamily="34" charset="0"/>
                </a:rPr>
                <a:t>25%</a:t>
              </a:r>
            </a:p>
          </p:txBody>
        </p:sp>
        <p:sp>
          <p:nvSpPr>
            <p:cNvPr id="109" name="Rectangle 20">
              <a:extLst>
                <a:ext uri="{FF2B5EF4-FFF2-40B4-BE49-F238E27FC236}">
                  <a16:creationId xmlns:a16="http://schemas.microsoft.com/office/drawing/2014/main" id="{C725273B-18AD-5547-A9A0-E5E2D55F1583}"/>
                </a:ext>
              </a:extLst>
            </p:cNvPr>
            <p:cNvSpPr>
              <a:spLocks noChangeArrowheads="1"/>
            </p:cNvSpPr>
            <p:nvPr/>
          </p:nvSpPr>
          <p:spPr bwMode="auto">
            <a:xfrm>
              <a:off x="6214913" y="796253"/>
              <a:ext cx="496740" cy="224029"/>
            </a:xfrm>
            <a:prstGeom prst="rect">
              <a:avLst/>
            </a:prstGeom>
            <a:solidFill>
              <a:schemeClr val="bg1">
                <a:alpha val="75000"/>
              </a:schemeClr>
            </a:solidFill>
            <a:ln w="9525">
              <a:noFill/>
              <a:miter lim="800000"/>
              <a:headEnd/>
              <a:tailEnd/>
            </a:ln>
            <a:effectLst/>
          </p:spPr>
          <p:txBody>
            <a:bodyPr wrap="none" anchor="ctr"/>
            <a:lstStyle/>
            <a:p>
              <a:pPr algn="ctr">
                <a:spcBef>
                  <a:spcPct val="0"/>
                </a:spcBef>
                <a:buFontTx/>
                <a:buNone/>
              </a:pPr>
              <a:r>
                <a:rPr lang="en-US" sz="1200" b="1" spc="-100" dirty="0">
                  <a:solidFill>
                    <a:schemeClr val="bg1"/>
                  </a:solidFill>
                  <a:latin typeface="Arial" panose="020B0604020202020204" pitchFamily="34" charset="0"/>
                  <a:cs typeface="Arial" panose="020B0604020202020204" pitchFamily="34" charset="0"/>
                </a:rPr>
                <a:t>75</a:t>
              </a:r>
              <a:r>
                <a:rPr lang="en-US" sz="1200" b="1" spc="-100" baseline="0" dirty="0">
                  <a:solidFill>
                    <a:schemeClr val="bg1"/>
                  </a:solidFill>
                  <a:latin typeface="Arial" panose="020B0604020202020204" pitchFamily="34" charset="0"/>
                  <a:cs typeface="Arial" panose="020B0604020202020204" pitchFamily="34" charset="0"/>
                </a:rPr>
                <a:t>%</a:t>
              </a:r>
            </a:p>
          </p:txBody>
        </p:sp>
      </p:grpSp>
      <p:pic>
        <p:nvPicPr>
          <p:cNvPr id="3" name="Graphic 2">
            <a:extLst>
              <a:ext uri="{FF2B5EF4-FFF2-40B4-BE49-F238E27FC236}">
                <a16:creationId xmlns:a16="http://schemas.microsoft.com/office/drawing/2014/main" id="{1CF833E4-0060-484E-9965-5F640274ADE4}"/>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164590" y="5400000"/>
            <a:ext cx="1828800" cy="660400"/>
          </a:xfrm>
          <a:prstGeom prst="rect">
            <a:avLst/>
          </a:prstGeom>
        </p:spPr>
      </p:pic>
      <p:pic>
        <p:nvPicPr>
          <p:cNvPr id="6" name="Graphic 5">
            <a:extLst>
              <a:ext uri="{FF2B5EF4-FFF2-40B4-BE49-F238E27FC236}">
                <a16:creationId xmlns:a16="http://schemas.microsoft.com/office/drawing/2014/main" id="{5EABF413-2674-1F41-94B7-816E8AFB804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2164590" y="4661279"/>
            <a:ext cx="1828800" cy="660400"/>
          </a:xfrm>
          <a:prstGeom prst="rect">
            <a:avLst/>
          </a:prstGeom>
        </p:spPr>
      </p:pic>
      <p:pic>
        <p:nvPicPr>
          <p:cNvPr id="13" name="Graphic 12">
            <a:extLst>
              <a:ext uri="{FF2B5EF4-FFF2-40B4-BE49-F238E27FC236}">
                <a16:creationId xmlns:a16="http://schemas.microsoft.com/office/drawing/2014/main" id="{82AB809A-5890-BF46-A223-5F7B2A123F1A}"/>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2164590" y="3600000"/>
            <a:ext cx="635000" cy="660400"/>
          </a:xfrm>
          <a:prstGeom prst="rect">
            <a:avLst/>
          </a:prstGeom>
        </p:spPr>
      </p:pic>
      <p:pic>
        <p:nvPicPr>
          <p:cNvPr id="17" name="Graphic 16">
            <a:extLst>
              <a:ext uri="{FF2B5EF4-FFF2-40B4-BE49-F238E27FC236}">
                <a16:creationId xmlns:a16="http://schemas.microsoft.com/office/drawing/2014/main" id="{42CF3A70-9F27-F645-9FE9-CD81E473DE48}"/>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2874969" y="3600000"/>
            <a:ext cx="635000" cy="660400"/>
          </a:xfrm>
          <a:prstGeom prst="rect">
            <a:avLst/>
          </a:prstGeom>
        </p:spPr>
      </p:pic>
      <p:sp>
        <p:nvSpPr>
          <p:cNvPr id="2" name="TextBox 1">
            <a:extLst>
              <a:ext uri="{FF2B5EF4-FFF2-40B4-BE49-F238E27FC236}">
                <a16:creationId xmlns:a16="http://schemas.microsoft.com/office/drawing/2014/main" id="{6D88D0BE-2EA1-94D6-EEC3-387CC3481826}"/>
              </a:ext>
            </a:extLst>
          </p:cNvPr>
          <p:cNvSpPr txBox="1"/>
          <p:nvPr>
            <p:extLst>
              <p:ext uri="{1162E1C5-73C7-4A58-AE30-91384D911F3F}">
                <p184:classification xmlns:p184="http://schemas.microsoft.com/office/powerpoint/2018/4/main" val="ftr"/>
              </p:ext>
            </p:extLst>
          </p:nvPr>
        </p:nvSpPr>
        <p:spPr>
          <a:xfrm>
            <a:off x="63500" y="6672580"/>
            <a:ext cx="654050" cy="121920"/>
          </a:xfrm>
          <a:prstGeom prst="rect">
            <a:avLst/>
          </a:prstGeom>
        </p:spPr>
        <p:txBody>
          <a:bodyPr horzOverflow="overflow" lIns="0" tIns="0" rIns="0" bIns="0">
            <a:spAutoFit/>
          </a:bodyPr>
          <a:lstStyle/>
          <a:p>
            <a:pPr algn="l"/>
            <a:r>
              <a:rPr lang="en-GB" sz="800">
                <a:solidFill>
                  <a:srgbClr val="317100">
                    <a:alpha val="50000"/>
                  </a:srgbClr>
                </a:solidFill>
                <a:latin typeface="Aptos" panose="020B0004020202020204" pitchFamily="34" charset="0"/>
              </a:rPr>
              <a:t>[AIA – PUBLIC]</a:t>
            </a:r>
          </a:p>
        </p:txBody>
      </p:sp>
    </p:spTree>
    <p:extLst>
      <p:ext uri="{BB962C8B-B14F-4D97-AF65-F5344CB8AC3E}">
        <p14:creationId xmlns:p14="http://schemas.microsoft.com/office/powerpoint/2010/main" val="2014199587"/>
      </p:ext>
    </p:extLst>
  </p:cSld>
  <p:clrMap bg1="lt1" tx1="dk1" bg2="lt2" tx2="dk2" accent1="accent1" accent2="accent2" accent3="accent3" accent4="accent4" accent5="accent5" accent6="accent6" hlink="hlink" folHlink="folHlink"/>
  <p:sldLayoutIdLst>
    <p:sldLayoutId id="2147483743" r:id="rId1"/>
    <p:sldLayoutId id="2147483681" r:id="rId2"/>
    <p:sldLayoutId id="2147483748" r:id="rId3"/>
  </p:sldLayoutIdLst>
  <p:hf hdr="0" ftr="0" dt="0"/>
  <p:txStyles>
    <p:titleStyle>
      <a:lvl1pPr algn="l" defTabSz="914400" rtl="0" eaLnBrk="1" latinLnBrk="0" hangingPunct="1">
        <a:spcBef>
          <a:spcPct val="0"/>
        </a:spcBef>
        <a:buNone/>
        <a:defRPr sz="4800" b="0" kern="1200" cap="none" normalizeH="0" baseline="0">
          <a:solidFill>
            <a:schemeClr val="tx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2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lnSpc>
          <a:spcPct val="100000"/>
        </a:lnSpc>
        <a:spcBef>
          <a:spcPts val="1200"/>
        </a:spcBef>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12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userDrawn="1">
          <p15:clr>
            <a:srgbClr val="F26B43"/>
          </p15:clr>
        </p15:guide>
        <p15:guide id="2" pos="744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8.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0.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41.png"/><Relationship Id="rId10" Type="http://schemas.openxmlformats.org/officeDocument/2006/relationships/image" Target="../media/image30.png"/><Relationship Id="rId11" Type="http://schemas.openxmlformats.org/officeDocument/2006/relationships/image" Target="../media/image42.png"/><Relationship Id="rId12" Type="http://schemas.openxmlformats.org/officeDocument/2006/relationships/image" Target="../media/image4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a:xfrm>
            <a:off x="356616" y="4892040"/>
            <a:ext cx="5669280" cy="548640"/>
          </a:xfrm>
        </p:spPr>
        <p:txBody>
          <a:bodyPr lIns="0" tIns="0" rIns="0" bIns="0" anchor="t"/>
          <a:lstStyle/>
          <a:p>
            <a:pPr algn="l">
              <a:spcAft>
                <a:spcPts val="0"/>
              </a:spcAft>
            </a:pPr>
            <a:r>
              <a:rPr sz="1300" b="0" i="0">
                <a:solidFill>
                  <a:srgbClr val="FFFFFF"/>
                </a:solidFill>
                <a:latin typeface="Arial"/>
              </a:rPr>
              <a:t>Innovation Idea Awards 2026  ·  Hong Kong  ·  Individual submission</a:t>
            </a:r>
          </a:p>
          <a:p>
            <a:pPr algn="l">
              <a:spcAft>
                <a:spcPts val="0"/>
              </a:spcAft>
            </a:pPr>
            <a:r>
              <a:rPr sz="1300" b="0" i="0">
                <a:solidFill>
                  <a:srgbClr val="FFFFFF"/>
                </a:solidFill>
                <a:latin typeface="Arial"/>
              </a:rPr>
              <a:t>Employee Value  ·  Operations Value</a:t>
            </a:r>
          </a:p>
        </p:txBody>
      </p:sp>
      <p:sp>
        <p:nvSpPr>
          <p:cNvPr id="3" name="Text Placeholder 2"/>
          <p:cNvSpPr>
            <a:spLocks noGrp="1"/>
          </p:cNvSpPr>
          <p:nvPr>
            <p:ph type="body" idx="10" sz="quarter"/>
          </p:nvPr>
        </p:nvSpPr>
        <p:spPr>
          <a:xfrm>
            <a:off x="356616" y="1600200"/>
            <a:ext cx="5669280" cy="1051560"/>
          </a:xfrm>
        </p:spPr>
        <p:txBody>
          <a:bodyPr lIns="0" tIns="0" rIns="0" bIns="0" anchor="b"/>
          <a:lstStyle/>
          <a:p>
            <a:pPr algn="l">
              <a:lnSpc>
                <a:spcPct val="90000"/>
              </a:lnSpc>
              <a:spcAft>
                <a:spcPts val="0"/>
              </a:spcAft>
            </a:pPr>
            <a:r>
              <a:rPr sz="8000" b="1" i="0">
                <a:solidFill>
                  <a:srgbClr val="FFFFFF"/>
                </a:solidFill>
                <a:latin typeface="Arial"/>
              </a:rPr>
              <a:t>Riley</a:t>
            </a:r>
          </a:p>
        </p:txBody>
      </p:sp>
      <p:pic>
        <p:nvPicPr>
          <p:cNvPr id="4" name="Picture 3" descr="cover_waves_right.png"/>
          <p:cNvPicPr>
            <a:picLocks noChangeAspect="1"/>
          </p:cNvPicPr>
          <p:nvPr/>
        </p:nvPicPr>
        <p:blipFill>
          <a:blip r:embed="rId2"/>
          <a:stretch>
            <a:fillRect/>
          </a:stretch>
        </p:blipFill>
        <p:spPr>
          <a:xfrm>
            <a:off x="6217920" y="0"/>
            <a:ext cx="5973775" cy="6858000"/>
          </a:xfrm>
          <a:prstGeom prst="rect">
            <a:avLst/>
          </a:prstGeom>
        </p:spPr>
      </p:pic>
      <p:sp>
        <p:nvSpPr>
          <p:cNvPr id="5" name="TextBox 4"/>
          <p:cNvSpPr txBox="1"/>
          <p:nvPr/>
        </p:nvSpPr>
        <p:spPr>
          <a:xfrm>
            <a:off x="356616" y="2743200"/>
            <a:ext cx="5760720" cy="457200"/>
          </a:xfrm>
          <a:prstGeom prst="rect">
            <a:avLst/>
          </a:prstGeom>
          <a:noFill/>
        </p:spPr>
        <p:txBody>
          <a:bodyPr wrap="square" lIns="0" tIns="0" rIns="0" bIns="0" anchor="t">
            <a:noAutofit/>
          </a:bodyPr>
          <a:lstStyle/>
          <a:p>
            <a:pPr algn="l">
              <a:spcAft>
                <a:spcPts val="0"/>
              </a:spcAft>
            </a:pPr>
            <a:r>
              <a:rPr sz="2600" b="0" i="0">
                <a:solidFill>
                  <a:srgbClr val="FFFFFF"/>
                </a:solidFill>
                <a:latin typeface="Arial"/>
              </a:rPr>
              <a:t>AIA’s AI coworker in Microsoft Teams</a:t>
            </a:r>
          </a:p>
        </p:txBody>
      </p:sp>
      <p:sp>
        <p:nvSpPr>
          <p:cNvPr id="6" name="TextBox 5"/>
          <p:cNvSpPr txBox="1"/>
          <p:nvPr/>
        </p:nvSpPr>
        <p:spPr>
          <a:xfrm>
            <a:off x="356616" y="3611880"/>
            <a:ext cx="5760720" cy="822960"/>
          </a:xfrm>
          <a:prstGeom prst="rect">
            <a:avLst/>
          </a:prstGeom>
          <a:noFill/>
        </p:spPr>
        <p:txBody>
          <a:bodyPr wrap="square" lIns="0" tIns="0" rIns="0" bIns="0" anchor="t">
            <a:noAutofit/>
          </a:bodyPr>
          <a:lstStyle/>
          <a:p>
            <a:pPr algn="l">
              <a:spcAft>
                <a:spcPts val="400"/>
              </a:spcAft>
            </a:pPr>
            <a:r>
              <a:rPr sz="2200" b="1" i="0">
                <a:solidFill>
                  <a:srgbClr val="FFFFFF"/>
                </a:solidFill>
                <a:latin typeface="Arial"/>
              </a:rPr>
              <a:t>Today, the employee is the connector.</a:t>
            </a:r>
          </a:p>
          <a:p>
            <a:pPr algn="l">
              <a:spcAft>
                <a:spcPts val="400"/>
              </a:spcAft>
            </a:pPr>
            <a:r>
              <a:rPr sz="2200" b="1" i="0">
                <a:solidFill>
                  <a:srgbClr val="FFFFFF"/>
                </a:solidFill>
                <a:latin typeface="Arial"/>
              </a:rPr>
              <a:t>Riley becomes the connector.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Who connects AIA’s AI?</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PROBLEM  ·  THE IDEA</a:t>
            </a:r>
          </a:p>
        </p:txBody>
      </p:sp>
      <p:sp>
        <p:nvSpPr>
          <p:cNvPr id="6" name="TextBox 5"/>
          <p:cNvSpPr txBox="1"/>
          <p:nvPr/>
        </p:nvSpPr>
        <p:spPr>
          <a:xfrm>
            <a:off x="356616" y="1042416"/>
            <a:ext cx="10515600" cy="365760"/>
          </a:xfrm>
          <a:prstGeom prst="rect">
            <a:avLst/>
          </a:prstGeom>
          <a:noFill/>
        </p:spPr>
        <p:txBody>
          <a:bodyPr wrap="square" lIns="0" tIns="0" rIns="0" bIns="0" anchor="t">
            <a:noAutofit/>
          </a:bodyPr>
          <a:lstStyle/>
          <a:p>
            <a:pPr algn="l">
              <a:spcAft>
                <a:spcPts val="0"/>
              </a:spcAft>
            </a:pPr>
            <a:r>
              <a:rPr sz="1700" b="0" i="0">
                <a:solidFill>
                  <a:srgbClr val="5F6770"/>
                </a:solidFill>
                <a:latin typeface="Arial"/>
              </a:rPr>
              <a:t>As AIA builds and adopts more AI, someone has to connect it to the work.</a:t>
            </a:r>
          </a:p>
        </p:txBody>
      </p:sp>
      <p:sp>
        <p:nvSpPr>
          <p:cNvPr id="7" name="Rounded Rectangle 6"/>
          <p:cNvSpPr/>
          <p:nvPr/>
        </p:nvSpPr>
        <p:spPr>
          <a:xfrm>
            <a:off x="356616" y="1627632"/>
            <a:ext cx="5577840" cy="3611880"/>
          </a:xfrm>
          <a:prstGeom prst="roundRect">
            <a:avLst>
              <a:gd name="adj" fmla="val 2531"/>
            </a:avLst>
          </a:prstGeom>
          <a:solidFill>
            <a:srgbClr val="F4F1EF"/>
          </a:solidFill>
          <a:ln>
            <a:noFill/>
          </a:ln>
        </p:spPr>
        <p:txBody>
          <a:bodyPr rtlCol="0" anchor="ctr"/>
          <a:lstStyle/>
          <a:p>
            <a:pPr algn="ctr"/>
          </a:p>
        </p:txBody>
      </p:sp>
      <p:sp>
        <p:nvSpPr>
          <p:cNvPr id="8" name="TextBox 7"/>
          <p:cNvSpPr txBox="1"/>
          <p:nvPr/>
        </p:nvSpPr>
        <p:spPr>
          <a:xfrm>
            <a:off x="630936" y="1810512"/>
            <a:ext cx="5029200" cy="365760"/>
          </a:xfrm>
          <a:prstGeom prst="rect">
            <a:avLst/>
          </a:prstGeom>
          <a:noFill/>
        </p:spPr>
        <p:txBody>
          <a:bodyPr wrap="square" lIns="0" tIns="0" rIns="0" bIns="0" anchor="t">
            <a:noAutofit/>
          </a:bodyPr>
          <a:lstStyle/>
          <a:p>
            <a:pPr algn="l">
              <a:spcAft>
                <a:spcPts val="0"/>
              </a:spcAft>
            </a:pPr>
            <a:r>
              <a:rPr sz="1900" b="1" i="0">
                <a:solidFill>
                  <a:srgbClr val="333D47"/>
                </a:solidFill>
                <a:latin typeface="Arial"/>
              </a:rPr>
              <a:t>Today, the employee is the connector</a:t>
            </a:r>
          </a:p>
        </p:txBody>
      </p:sp>
      <p:sp>
        <p:nvSpPr>
          <p:cNvPr id="9" name="Rounded Rectangle 8"/>
          <p:cNvSpPr/>
          <p:nvPr/>
        </p:nvSpPr>
        <p:spPr>
          <a:xfrm>
            <a:off x="630936" y="2267712"/>
            <a:ext cx="631317"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find</a:t>
            </a:r>
          </a:p>
        </p:txBody>
      </p:sp>
      <p:sp>
        <p:nvSpPr>
          <p:cNvPr id="10" name="Rounded Rectangle 9"/>
          <p:cNvSpPr/>
          <p:nvPr/>
        </p:nvSpPr>
        <p:spPr>
          <a:xfrm>
            <a:off x="1353693" y="2267712"/>
            <a:ext cx="723360"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learn</a:t>
            </a:r>
          </a:p>
        </p:txBody>
      </p:sp>
      <p:sp>
        <p:nvSpPr>
          <p:cNvPr id="11" name="Rounded Rectangle 10"/>
          <p:cNvSpPr/>
          <p:nvPr/>
        </p:nvSpPr>
        <p:spPr>
          <a:xfrm>
            <a:off x="2168493" y="2267712"/>
            <a:ext cx="842232"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switch</a:t>
            </a:r>
          </a:p>
        </p:txBody>
      </p:sp>
      <p:sp>
        <p:nvSpPr>
          <p:cNvPr id="12" name="Rounded Rectangle 11"/>
          <p:cNvSpPr/>
          <p:nvPr/>
        </p:nvSpPr>
        <p:spPr>
          <a:xfrm>
            <a:off x="3102166" y="2267712"/>
            <a:ext cx="1007332" cy="310896"/>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D31145"/>
                </a:solidFill>
                <a:latin typeface="Arial"/>
              </a:rPr>
              <a:t>combine</a:t>
            </a:r>
          </a:p>
        </p:txBody>
      </p:sp>
      <p:sp>
        <p:nvSpPr>
          <p:cNvPr id="13" name="TextBox 12"/>
          <p:cNvSpPr txBox="1"/>
          <p:nvPr/>
        </p:nvSpPr>
        <p:spPr>
          <a:xfrm>
            <a:off x="4246658" y="2267712"/>
            <a:ext cx="1828800" cy="310896"/>
          </a:xfrm>
          <a:prstGeom prst="rect">
            <a:avLst/>
          </a:prstGeom>
          <a:noFill/>
        </p:spPr>
        <p:txBody>
          <a:bodyPr wrap="square" lIns="0" tIns="0" rIns="0" bIns="0" anchor="ctr">
            <a:noAutofit/>
          </a:bodyPr>
          <a:lstStyle/>
          <a:p>
            <a:pPr algn="l">
              <a:spcAft>
                <a:spcPts val="0"/>
              </a:spcAft>
            </a:pPr>
            <a:r>
              <a:rPr sz="1250" b="0" i="1">
                <a:solidFill>
                  <a:srgbClr val="5F6770"/>
                </a:solidFill>
                <a:latin typeface="Arial"/>
              </a:rPr>
              <a:t>…by hand, every time</a:t>
            </a:r>
          </a:p>
        </p:txBody>
      </p:sp>
      <p:cxnSp>
        <p:nvCxnSpPr>
          <p:cNvPr id="14" name="Connector 13"/>
          <p:cNvCxnSpPr/>
          <p:nvPr/>
        </p:nvCxnSpPr>
        <p:spPr>
          <a:xfrm flipH="1">
            <a:off x="905256" y="3200400"/>
            <a:ext cx="2240280" cy="640080"/>
          </a:xfrm>
          <a:prstGeom prst="line">
            <a:avLst/>
          </a:prstGeom>
          <a:ln w="15875">
            <a:solidFill>
              <a:srgbClr val="9B928B"/>
            </a:solidFill>
          </a:ln>
        </p:spPr>
      </p:cxnSp>
      <p:cxnSp>
        <p:nvCxnSpPr>
          <p:cNvPr id="15" name="Connector 14"/>
          <p:cNvCxnSpPr/>
          <p:nvPr/>
        </p:nvCxnSpPr>
        <p:spPr>
          <a:xfrm flipH="1">
            <a:off x="1801368" y="3200400"/>
            <a:ext cx="1344168" cy="640080"/>
          </a:xfrm>
          <a:prstGeom prst="line">
            <a:avLst/>
          </a:prstGeom>
          <a:ln w="15875">
            <a:solidFill>
              <a:srgbClr val="9B928B"/>
            </a:solidFill>
          </a:ln>
        </p:spPr>
      </p:cxnSp>
      <p:cxnSp>
        <p:nvCxnSpPr>
          <p:cNvPr id="16" name="Connector 15"/>
          <p:cNvCxnSpPr/>
          <p:nvPr/>
        </p:nvCxnSpPr>
        <p:spPr>
          <a:xfrm flipH="1">
            <a:off x="2697480" y="3200400"/>
            <a:ext cx="448056" cy="640080"/>
          </a:xfrm>
          <a:prstGeom prst="line">
            <a:avLst/>
          </a:prstGeom>
          <a:ln w="15875">
            <a:solidFill>
              <a:srgbClr val="9B928B"/>
            </a:solidFill>
          </a:ln>
        </p:spPr>
      </p:cxnSp>
      <p:cxnSp>
        <p:nvCxnSpPr>
          <p:cNvPr id="17" name="Connector 16"/>
          <p:cNvCxnSpPr/>
          <p:nvPr/>
        </p:nvCxnSpPr>
        <p:spPr>
          <a:xfrm>
            <a:off x="3145536" y="3200400"/>
            <a:ext cx="448056" cy="640080"/>
          </a:xfrm>
          <a:prstGeom prst="line">
            <a:avLst/>
          </a:prstGeom>
          <a:ln w="15875">
            <a:solidFill>
              <a:srgbClr val="9B928B"/>
            </a:solidFill>
          </a:ln>
        </p:spPr>
      </p:cxnSp>
      <p:cxnSp>
        <p:nvCxnSpPr>
          <p:cNvPr id="18" name="Connector 17"/>
          <p:cNvCxnSpPr/>
          <p:nvPr/>
        </p:nvCxnSpPr>
        <p:spPr>
          <a:xfrm>
            <a:off x="3145536" y="3200400"/>
            <a:ext cx="1344168" cy="640080"/>
          </a:xfrm>
          <a:prstGeom prst="line">
            <a:avLst/>
          </a:prstGeom>
          <a:ln w="15875">
            <a:solidFill>
              <a:srgbClr val="9B928B"/>
            </a:solidFill>
          </a:ln>
        </p:spPr>
      </p:cxnSp>
      <p:cxnSp>
        <p:nvCxnSpPr>
          <p:cNvPr id="19" name="Connector 18"/>
          <p:cNvCxnSpPr/>
          <p:nvPr/>
        </p:nvCxnSpPr>
        <p:spPr>
          <a:xfrm>
            <a:off x="3145536" y="3200400"/>
            <a:ext cx="2240280" cy="640080"/>
          </a:xfrm>
          <a:prstGeom prst="line">
            <a:avLst/>
          </a:prstGeom>
          <a:ln w="15875">
            <a:solidFill>
              <a:srgbClr val="9B928B"/>
            </a:solidFill>
          </a:ln>
        </p:spPr>
      </p:cxnSp>
      <p:sp>
        <p:nvSpPr>
          <p:cNvPr id="20" name="Oval 19"/>
          <p:cNvSpPr/>
          <p:nvPr/>
        </p:nvSpPr>
        <p:spPr>
          <a:xfrm>
            <a:off x="2907792" y="2724912"/>
            <a:ext cx="475488" cy="475488"/>
          </a:xfrm>
          <a:prstGeom prst="ellipse">
            <a:avLst/>
          </a:prstGeom>
          <a:solidFill>
            <a:srgbClr val="333D47"/>
          </a:solidFill>
          <a:ln>
            <a:noFill/>
          </a:ln>
        </p:spPr>
        <p:txBody>
          <a:bodyPr rtlCol="0" anchor="ctr"/>
          <a:lstStyle/>
          <a:p>
            <a:pPr algn="ctr"/>
          </a:p>
        </p:txBody>
      </p:sp>
      <p:pic>
        <p:nvPicPr>
          <p:cNvPr id="21" name="Picture 20" descr="LuUser_w.png"/>
          <p:cNvPicPr>
            <a:picLocks noChangeAspect="1"/>
          </p:cNvPicPr>
          <p:nvPr/>
        </p:nvPicPr>
        <p:blipFill>
          <a:blip r:embed="rId3"/>
          <a:stretch>
            <a:fillRect/>
          </a:stretch>
        </p:blipFill>
        <p:spPr>
          <a:xfrm>
            <a:off x="3017154" y="2834274"/>
            <a:ext cx="256764" cy="256764"/>
          </a:xfrm>
          <a:prstGeom prst="rect">
            <a:avLst/>
          </a:prstGeom>
        </p:spPr>
      </p:pic>
      <p:sp>
        <p:nvSpPr>
          <p:cNvPr id="22" name="Rounded Rectangle 21"/>
          <p:cNvSpPr/>
          <p:nvPr/>
        </p:nvSpPr>
        <p:spPr>
          <a:xfrm>
            <a:off x="49377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3" name="Picture 22" descr="LuBrainCircuit_c.png"/>
          <p:cNvPicPr>
            <a:picLocks noChangeAspect="1"/>
          </p:cNvPicPr>
          <p:nvPr/>
        </p:nvPicPr>
        <p:blipFill>
          <a:blip r:embed="rId4"/>
          <a:stretch>
            <a:fillRect/>
          </a:stretch>
        </p:blipFill>
        <p:spPr>
          <a:xfrm>
            <a:off x="758952" y="3931920"/>
            <a:ext cx="292608" cy="292608"/>
          </a:xfrm>
          <a:prstGeom prst="rect">
            <a:avLst/>
          </a:prstGeom>
        </p:spPr>
      </p:pic>
      <p:sp>
        <p:nvSpPr>
          <p:cNvPr id="24" name="TextBox 23"/>
          <p:cNvSpPr txBox="1"/>
          <p:nvPr/>
        </p:nvSpPr>
        <p:spPr>
          <a:xfrm>
            <a:off x="49377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25" name="Rounded Rectangle 24"/>
          <p:cNvSpPr/>
          <p:nvPr/>
        </p:nvSpPr>
        <p:spPr>
          <a:xfrm>
            <a:off x="1389888"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6" name="Picture 25" descr="LuBrainCircuit_c.png"/>
          <p:cNvPicPr>
            <a:picLocks noChangeAspect="1"/>
          </p:cNvPicPr>
          <p:nvPr/>
        </p:nvPicPr>
        <p:blipFill>
          <a:blip r:embed="rId4"/>
          <a:stretch>
            <a:fillRect/>
          </a:stretch>
        </p:blipFill>
        <p:spPr>
          <a:xfrm>
            <a:off x="1655064" y="3931920"/>
            <a:ext cx="292608" cy="292608"/>
          </a:xfrm>
          <a:prstGeom prst="rect">
            <a:avLst/>
          </a:prstGeom>
        </p:spPr>
      </p:pic>
      <p:sp>
        <p:nvSpPr>
          <p:cNvPr id="27" name="TextBox 26"/>
          <p:cNvSpPr txBox="1"/>
          <p:nvPr/>
        </p:nvSpPr>
        <p:spPr>
          <a:xfrm>
            <a:off x="138988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28" name="Rounded Rectangle 27"/>
          <p:cNvSpPr/>
          <p:nvPr/>
        </p:nvSpPr>
        <p:spPr>
          <a:xfrm>
            <a:off x="2286000"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29" name="Picture 28" descr="LuBrainCircuit_c.png"/>
          <p:cNvPicPr>
            <a:picLocks noChangeAspect="1"/>
          </p:cNvPicPr>
          <p:nvPr/>
        </p:nvPicPr>
        <p:blipFill>
          <a:blip r:embed="rId4"/>
          <a:stretch>
            <a:fillRect/>
          </a:stretch>
        </p:blipFill>
        <p:spPr>
          <a:xfrm>
            <a:off x="2551176" y="3931920"/>
            <a:ext cx="292608" cy="292608"/>
          </a:xfrm>
          <a:prstGeom prst="rect">
            <a:avLst/>
          </a:prstGeom>
        </p:spPr>
      </p:pic>
      <p:sp>
        <p:nvSpPr>
          <p:cNvPr id="30" name="TextBox 29"/>
          <p:cNvSpPr txBox="1"/>
          <p:nvPr/>
        </p:nvSpPr>
        <p:spPr>
          <a:xfrm>
            <a:off x="228600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31" name="Rounded Rectangle 30"/>
          <p:cNvSpPr/>
          <p:nvPr/>
        </p:nvSpPr>
        <p:spPr>
          <a:xfrm>
            <a:off x="3182112"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2" name="Picture 31" descr="LuServer_c.png"/>
          <p:cNvPicPr>
            <a:picLocks noChangeAspect="1"/>
          </p:cNvPicPr>
          <p:nvPr/>
        </p:nvPicPr>
        <p:blipFill>
          <a:blip r:embed="rId5"/>
          <a:stretch>
            <a:fillRect/>
          </a:stretch>
        </p:blipFill>
        <p:spPr>
          <a:xfrm>
            <a:off x="3447288" y="3931920"/>
            <a:ext cx="292608" cy="292608"/>
          </a:xfrm>
          <a:prstGeom prst="rect">
            <a:avLst/>
          </a:prstGeom>
        </p:spPr>
      </p:pic>
      <p:sp>
        <p:nvSpPr>
          <p:cNvPr id="33" name="TextBox 32"/>
          <p:cNvSpPr txBox="1"/>
          <p:nvPr/>
        </p:nvSpPr>
        <p:spPr>
          <a:xfrm>
            <a:off x="318211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34" name="Rounded Rectangle 33"/>
          <p:cNvSpPr/>
          <p:nvPr/>
        </p:nvSpPr>
        <p:spPr>
          <a:xfrm>
            <a:off x="4078224"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5" name="Picture 34" descr="LuFileText_c.png"/>
          <p:cNvPicPr>
            <a:picLocks noChangeAspect="1"/>
          </p:cNvPicPr>
          <p:nvPr/>
        </p:nvPicPr>
        <p:blipFill>
          <a:blip r:embed="rId6"/>
          <a:stretch>
            <a:fillRect/>
          </a:stretch>
        </p:blipFill>
        <p:spPr>
          <a:xfrm>
            <a:off x="4343400" y="3931920"/>
            <a:ext cx="292608" cy="292608"/>
          </a:xfrm>
          <a:prstGeom prst="rect">
            <a:avLst/>
          </a:prstGeom>
        </p:spPr>
      </p:pic>
      <p:sp>
        <p:nvSpPr>
          <p:cNvPr id="36" name="TextBox 35"/>
          <p:cNvSpPr txBox="1"/>
          <p:nvPr/>
        </p:nvSpPr>
        <p:spPr>
          <a:xfrm>
            <a:off x="407822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37" name="Rounded Rectangle 36"/>
          <p:cNvSpPr/>
          <p:nvPr/>
        </p:nvSpPr>
        <p:spPr>
          <a:xfrm>
            <a:off x="4974336" y="3840480"/>
            <a:ext cx="822960" cy="896112"/>
          </a:xfrm>
          <a:prstGeom prst="roundRect">
            <a:avLst>
              <a:gd name="adj" fmla="val 6666"/>
            </a:avLst>
          </a:prstGeom>
          <a:solidFill>
            <a:srgbClr val="FFFFFF"/>
          </a:solidFill>
          <a:ln w="12700">
            <a:solidFill>
              <a:srgbClr val="DDD6D0"/>
            </a:solidFill>
          </a:ln>
        </p:spPr>
        <p:txBody>
          <a:bodyPr rtlCol="0" anchor="ctr"/>
          <a:lstStyle/>
          <a:p>
            <a:pPr algn="ctr"/>
          </a:p>
        </p:txBody>
      </p:sp>
      <p:pic>
        <p:nvPicPr>
          <p:cNvPr id="38" name="Picture 37" descr="LuUsers_c.png"/>
          <p:cNvPicPr>
            <a:picLocks noChangeAspect="1"/>
          </p:cNvPicPr>
          <p:nvPr/>
        </p:nvPicPr>
        <p:blipFill>
          <a:blip r:embed="rId7"/>
          <a:stretch>
            <a:fillRect/>
          </a:stretch>
        </p:blipFill>
        <p:spPr>
          <a:xfrm>
            <a:off x="5239512" y="3931920"/>
            <a:ext cx="292608" cy="292608"/>
          </a:xfrm>
          <a:prstGeom prst="rect">
            <a:avLst/>
          </a:prstGeom>
        </p:spPr>
      </p:pic>
      <p:sp>
        <p:nvSpPr>
          <p:cNvPr id="39" name="TextBox 38"/>
          <p:cNvSpPr txBox="1"/>
          <p:nvPr/>
        </p:nvSpPr>
        <p:spPr>
          <a:xfrm>
            <a:off x="497433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Colleagues</a:t>
            </a:r>
          </a:p>
        </p:txBody>
      </p:sp>
      <p:sp>
        <p:nvSpPr>
          <p:cNvPr id="40" name="TextBox 39"/>
          <p:cNvSpPr txBox="1"/>
          <p:nvPr/>
        </p:nvSpPr>
        <p:spPr>
          <a:xfrm>
            <a:off x="630936" y="4764024"/>
            <a:ext cx="5029200" cy="32004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Every new tool is one more to find, learn and fit into the work.</a:t>
            </a:r>
          </a:p>
        </p:txBody>
      </p:sp>
      <p:sp>
        <p:nvSpPr>
          <p:cNvPr id="41" name="Rounded Rectangle 40"/>
          <p:cNvSpPr/>
          <p:nvPr/>
        </p:nvSpPr>
        <p:spPr>
          <a:xfrm>
            <a:off x="6254496" y="1627632"/>
            <a:ext cx="5577840" cy="3611880"/>
          </a:xfrm>
          <a:prstGeom prst="roundRect">
            <a:avLst>
              <a:gd name="adj" fmla="val 2531"/>
            </a:avLst>
          </a:prstGeom>
          <a:solidFill>
            <a:srgbClr val="FBE8ED"/>
          </a:solidFill>
          <a:ln>
            <a:noFill/>
          </a:ln>
        </p:spPr>
        <p:txBody>
          <a:bodyPr rtlCol="0" anchor="ctr"/>
          <a:lstStyle/>
          <a:p>
            <a:pPr algn="ctr"/>
          </a:p>
        </p:txBody>
      </p:sp>
      <p:sp>
        <p:nvSpPr>
          <p:cNvPr id="42" name="TextBox 41"/>
          <p:cNvSpPr txBox="1"/>
          <p:nvPr/>
        </p:nvSpPr>
        <p:spPr>
          <a:xfrm>
            <a:off x="6528816" y="1810512"/>
            <a:ext cx="5029200" cy="365760"/>
          </a:xfrm>
          <a:prstGeom prst="rect">
            <a:avLst/>
          </a:prstGeom>
          <a:noFill/>
        </p:spPr>
        <p:txBody>
          <a:bodyPr wrap="square" lIns="0" tIns="0" rIns="0" bIns="0" anchor="t">
            <a:noAutofit/>
          </a:bodyPr>
          <a:lstStyle/>
          <a:p>
            <a:pPr algn="l">
              <a:spcAft>
                <a:spcPts val="0"/>
              </a:spcAft>
            </a:pPr>
            <a:r>
              <a:rPr sz="1900" b="1" i="0">
                <a:solidFill>
                  <a:srgbClr val="D31145"/>
                </a:solidFill>
                <a:latin typeface="Arial"/>
              </a:rPr>
              <a:t>Riley becomes the connector</a:t>
            </a:r>
          </a:p>
        </p:txBody>
      </p:sp>
      <p:sp>
        <p:nvSpPr>
          <p:cNvPr id="43" name="Rounded Rectangle 42"/>
          <p:cNvSpPr/>
          <p:nvPr/>
        </p:nvSpPr>
        <p:spPr>
          <a:xfrm>
            <a:off x="6528816" y="2267712"/>
            <a:ext cx="1737360" cy="310896"/>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1300" b="1" i="0" spc="0">
                <a:solidFill>
                  <a:srgbClr val="FFFFFF"/>
                </a:solidFill>
                <a:latin typeface="Arial"/>
              </a:rPr>
              <a:t>one conversation</a:t>
            </a:r>
          </a:p>
        </p:txBody>
      </p:sp>
      <p:cxnSp>
        <p:nvCxnSpPr>
          <p:cNvPr id="44" name="Connector 43"/>
          <p:cNvCxnSpPr/>
          <p:nvPr/>
        </p:nvCxnSpPr>
        <p:spPr>
          <a:xfrm>
            <a:off x="9043416" y="3200400"/>
            <a:ext cx="0" cy="164592"/>
          </a:xfrm>
          <a:prstGeom prst="line">
            <a:avLst/>
          </a:prstGeom>
          <a:ln w="28575">
            <a:solidFill>
              <a:srgbClr val="D31145"/>
            </a:solidFill>
          </a:ln>
        </p:spPr>
      </p:cxnSp>
      <p:cxnSp>
        <p:nvCxnSpPr>
          <p:cNvPr id="45" name="Connector 44"/>
          <p:cNvCxnSpPr/>
          <p:nvPr/>
        </p:nvCxnSpPr>
        <p:spPr>
          <a:xfrm>
            <a:off x="7251192" y="3730752"/>
            <a:ext cx="0" cy="109728"/>
          </a:xfrm>
          <a:prstGeom prst="line">
            <a:avLst/>
          </a:prstGeom>
          <a:ln w="15875">
            <a:solidFill>
              <a:srgbClr val="D31145"/>
            </a:solidFill>
          </a:ln>
        </p:spPr>
      </p:cxnSp>
      <p:cxnSp>
        <p:nvCxnSpPr>
          <p:cNvPr id="46" name="Connector 45"/>
          <p:cNvCxnSpPr/>
          <p:nvPr/>
        </p:nvCxnSpPr>
        <p:spPr>
          <a:xfrm>
            <a:off x="8147304" y="3730752"/>
            <a:ext cx="0" cy="109728"/>
          </a:xfrm>
          <a:prstGeom prst="line">
            <a:avLst/>
          </a:prstGeom>
          <a:ln w="15875">
            <a:solidFill>
              <a:srgbClr val="D31145"/>
            </a:solidFill>
          </a:ln>
        </p:spPr>
      </p:cxnSp>
      <p:cxnSp>
        <p:nvCxnSpPr>
          <p:cNvPr id="47" name="Connector 46"/>
          <p:cNvCxnSpPr/>
          <p:nvPr/>
        </p:nvCxnSpPr>
        <p:spPr>
          <a:xfrm>
            <a:off x="9043416" y="3730752"/>
            <a:ext cx="0" cy="109728"/>
          </a:xfrm>
          <a:prstGeom prst="line">
            <a:avLst/>
          </a:prstGeom>
          <a:ln w="15875">
            <a:solidFill>
              <a:srgbClr val="D31145"/>
            </a:solidFill>
          </a:ln>
        </p:spPr>
      </p:cxnSp>
      <p:cxnSp>
        <p:nvCxnSpPr>
          <p:cNvPr id="48" name="Connector 47"/>
          <p:cNvCxnSpPr/>
          <p:nvPr/>
        </p:nvCxnSpPr>
        <p:spPr>
          <a:xfrm>
            <a:off x="9939528" y="3730752"/>
            <a:ext cx="0" cy="109728"/>
          </a:xfrm>
          <a:prstGeom prst="line">
            <a:avLst/>
          </a:prstGeom>
          <a:ln w="15875">
            <a:solidFill>
              <a:srgbClr val="D31145"/>
            </a:solidFill>
          </a:ln>
        </p:spPr>
      </p:cxnSp>
      <p:cxnSp>
        <p:nvCxnSpPr>
          <p:cNvPr id="49" name="Connector 48"/>
          <p:cNvCxnSpPr/>
          <p:nvPr/>
        </p:nvCxnSpPr>
        <p:spPr>
          <a:xfrm>
            <a:off x="10835640" y="3730752"/>
            <a:ext cx="0" cy="109728"/>
          </a:xfrm>
          <a:prstGeom prst="line">
            <a:avLst/>
          </a:prstGeom>
          <a:ln w="15875">
            <a:solidFill>
              <a:srgbClr val="D31145"/>
            </a:solidFill>
          </a:ln>
        </p:spPr>
      </p:cxnSp>
      <p:sp>
        <p:nvSpPr>
          <p:cNvPr id="50" name="Rounded Rectangle 49"/>
          <p:cNvSpPr/>
          <p:nvPr/>
        </p:nvSpPr>
        <p:spPr>
          <a:xfrm>
            <a:off x="6839712" y="3364992"/>
            <a:ext cx="4407408" cy="365760"/>
          </a:xfrm>
          <a:prstGeom prst="roundRect">
            <a:avLst>
              <a:gd name="adj" fmla="val 20000"/>
            </a:avLst>
          </a:prstGeom>
          <a:solidFill>
            <a:srgbClr val="D31145"/>
          </a:solidFill>
          <a:ln>
            <a:noFill/>
          </a:ln>
        </p:spPr>
        <p:txBody>
          <a:bodyPr rtlCol="0" anchor="ctr" wrap="square" lIns="54864" tIns="54864" rIns="54864" bIns="54864">
            <a:noAutofit/>
          </a:bodyPr>
          <a:lstStyle/>
          <a:p>
            <a:pPr algn="ctr">
              <a:spcAft>
                <a:spcPts val="0"/>
              </a:spcAft>
            </a:pPr>
            <a:r>
              <a:rPr sz="1600" b="1" i="0">
                <a:solidFill>
                  <a:srgbClr val="FFFFFF"/>
                </a:solidFill>
                <a:latin typeface="Arial"/>
              </a:rPr>
              <a:t>Riley</a:t>
            </a:r>
          </a:p>
        </p:txBody>
      </p:sp>
      <p:sp>
        <p:nvSpPr>
          <p:cNvPr id="51" name="Oval 50"/>
          <p:cNvSpPr/>
          <p:nvPr/>
        </p:nvSpPr>
        <p:spPr>
          <a:xfrm>
            <a:off x="8805672" y="2724912"/>
            <a:ext cx="475488" cy="475488"/>
          </a:xfrm>
          <a:prstGeom prst="ellipse">
            <a:avLst/>
          </a:prstGeom>
          <a:solidFill>
            <a:srgbClr val="D31145"/>
          </a:solidFill>
          <a:ln>
            <a:noFill/>
          </a:ln>
        </p:spPr>
        <p:txBody>
          <a:bodyPr rtlCol="0" anchor="ctr"/>
          <a:lstStyle/>
          <a:p>
            <a:pPr algn="ctr"/>
          </a:p>
        </p:txBody>
      </p:sp>
      <p:pic>
        <p:nvPicPr>
          <p:cNvPr id="52" name="Picture 51" descr="LuUser_w.png"/>
          <p:cNvPicPr>
            <a:picLocks noChangeAspect="1"/>
          </p:cNvPicPr>
          <p:nvPr/>
        </p:nvPicPr>
        <p:blipFill>
          <a:blip r:embed="rId3"/>
          <a:stretch>
            <a:fillRect/>
          </a:stretch>
        </p:blipFill>
        <p:spPr>
          <a:xfrm>
            <a:off x="8915034" y="2834274"/>
            <a:ext cx="256764" cy="256764"/>
          </a:xfrm>
          <a:prstGeom prst="rect">
            <a:avLst/>
          </a:prstGeom>
        </p:spPr>
      </p:pic>
      <p:sp>
        <p:nvSpPr>
          <p:cNvPr id="53" name="Rounded Rectangle 52"/>
          <p:cNvSpPr/>
          <p:nvPr/>
        </p:nvSpPr>
        <p:spPr>
          <a:xfrm>
            <a:off x="6839712"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4" name="Picture 53" descr="LuBrainCircuit_r.png"/>
          <p:cNvPicPr>
            <a:picLocks noChangeAspect="1"/>
          </p:cNvPicPr>
          <p:nvPr/>
        </p:nvPicPr>
        <p:blipFill>
          <a:blip r:embed="rId8"/>
          <a:stretch>
            <a:fillRect/>
          </a:stretch>
        </p:blipFill>
        <p:spPr>
          <a:xfrm>
            <a:off x="7104888" y="3931920"/>
            <a:ext cx="292608" cy="292608"/>
          </a:xfrm>
          <a:prstGeom prst="rect">
            <a:avLst/>
          </a:prstGeom>
        </p:spPr>
      </p:pic>
      <p:sp>
        <p:nvSpPr>
          <p:cNvPr id="55" name="TextBox 54"/>
          <p:cNvSpPr txBox="1"/>
          <p:nvPr/>
        </p:nvSpPr>
        <p:spPr>
          <a:xfrm>
            <a:off x="6839712"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A</a:t>
            </a:r>
          </a:p>
        </p:txBody>
      </p:sp>
      <p:sp>
        <p:nvSpPr>
          <p:cNvPr id="56" name="Rounded Rectangle 55"/>
          <p:cNvSpPr/>
          <p:nvPr/>
        </p:nvSpPr>
        <p:spPr>
          <a:xfrm>
            <a:off x="7735824"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57" name="Picture 56" descr="LuBrainCircuit_r.png"/>
          <p:cNvPicPr>
            <a:picLocks noChangeAspect="1"/>
          </p:cNvPicPr>
          <p:nvPr/>
        </p:nvPicPr>
        <p:blipFill>
          <a:blip r:embed="rId8"/>
          <a:stretch>
            <a:fillRect/>
          </a:stretch>
        </p:blipFill>
        <p:spPr>
          <a:xfrm>
            <a:off x="8001000" y="3931920"/>
            <a:ext cx="292608" cy="292608"/>
          </a:xfrm>
          <a:prstGeom prst="rect">
            <a:avLst/>
          </a:prstGeom>
        </p:spPr>
      </p:pic>
      <p:sp>
        <p:nvSpPr>
          <p:cNvPr id="58" name="TextBox 57"/>
          <p:cNvSpPr txBox="1"/>
          <p:nvPr/>
        </p:nvSpPr>
        <p:spPr>
          <a:xfrm>
            <a:off x="7735824"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B</a:t>
            </a:r>
          </a:p>
        </p:txBody>
      </p:sp>
      <p:sp>
        <p:nvSpPr>
          <p:cNvPr id="59" name="Rounded Rectangle 58"/>
          <p:cNvSpPr/>
          <p:nvPr/>
        </p:nvSpPr>
        <p:spPr>
          <a:xfrm>
            <a:off x="8631936"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0" name="Picture 59" descr="LuBrainCircuit_r.png"/>
          <p:cNvPicPr>
            <a:picLocks noChangeAspect="1"/>
          </p:cNvPicPr>
          <p:nvPr/>
        </p:nvPicPr>
        <p:blipFill>
          <a:blip r:embed="rId8"/>
          <a:stretch>
            <a:fillRect/>
          </a:stretch>
        </p:blipFill>
        <p:spPr>
          <a:xfrm>
            <a:off x="8897112" y="3931920"/>
            <a:ext cx="292608" cy="292608"/>
          </a:xfrm>
          <a:prstGeom prst="rect">
            <a:avLst/>
          </a:prstGeom>
        </p:spPr>
      </p:pic>
      <p:sp>
        <p:nvSpPr>
          <p:cNvPr id="61" name="TextBox 60"/>
          <p:cNvSpPr txBox="1"/>
          <p:nvPr/>
        </p:nvSpPr>
        <p:spPr>
          <a:xfrm>
            <a:off x="8631936"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AI tool</a:t>
            </a:r>
          </a:p>
          <a:p>
            <a:pPr algn="ctr">
              <a:lnSpc>
                <a:spcPct val="90000"/>
              </a:lnSpc>
              <a:spcAft>
                <a:spcPts val="0"/>
              </a:spcAft>
            </a:pPr>
            <a:r>
              <a:rPr sz="1100" b="0" i="0">
                <a:solidFill>
                  <a:srgbClr val="333D47"/>
                </a:solidFill>
                <a:latin typeface="Arial"/>
              </a:rPr>
              <a:t>team C</a:t>
            </a:r>
          </a:p>
        </p:txBody>
      </p:sp>
      <p:sp>
        <p:nvSpPr>
          <p:cNvPr id="62" name="Rounded Rectangle 61"/>
          <p:cNvSpPr/>
          <p:nvPr/>
        </p:nvSpPr>
        <p:spPr>
          <a:xfrm>
            <a:off x="9528048"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3" name="Picture 62" descr="LuServer_r.png"/>
          <p:cNvPicPr>
            <a:picLocks noChangeAspect="1"/>
          </p:cNvPicPr>
          <p:nvPr/>
        </p:nvPicPr>
        <p:blipFill>
          <a:blip r:embed="rId9"/>
          <a:stretch>
            <a:fillRect/>
          </a:stretch>
        </p:blipFill>
        <p:spPr>
          <a:xfrm>
            <a:off x="9793224" y="3931920"/>
            <a:ext cx="292608" cy="292608"/>
          </a:xfrm>
          <a:prstGeom prst="rect">
            <a:avLst/>
          </a:prstGeom>
        </p:spPr>
      </p:pic>
      <p:sp>
        <p:nvSpPr>
          <p:cNvPr id="64" name="TextBox 63"/>
          <p:cNvSpPr txBox="1"/>
          <p:nvPr/>
        </p:nvSpPr>
        <p:spPr>
          <a:xfrm>
            <a:off x="9528048"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Core</a:t>
            </a:r>
          </a:p>
          <a:p>
            <a:pPr algn="ctr">
              <a:lnSpc>
                <a:spcPct val="90000"/>
              </a:lnSpc>
              <a:spcAft>
                <a:spcPts val="0"/>
              </a:spcAft>
            </a:pPr>
            <a:r>
              <a:rPr sz="1100" b="0" i="0">
                <a:solidFill>
                  <a:srgbClr val="333D47"/>
                </a:solidFill>
                <a:latin typeface="Arial"/>
              </a:rPr>
              <a:t>systems</a:t>
            </a:r>
          </a:p>
        </p:txBody>
      </p:sp>
      <p:sp>
        <p:nvSpPr>
          <p:cNvPr id="65" name="Rounded Rectangle 64"/>
          <p:cNvSpPr/>
          <p:nvPr/>
        </p:nvSpPr>
        <p:spPr>
          <a:xfrm>
            <a:off x="10424160" y="3840480"/>
            <a:ext cx="822960" cy="896112"/>
          </a:xfrm>
          <a:prstGeom prst="roundRect">
            <a:avLst>
              <a:gd name="adj" fmla="val 6666"/>
            </a:avLst>
          </a:prstGeom>
          <a:solidFill>
            <a:srgbClr val="FFFFFF"/>
          </a:solidFill>
          <a:ln w="12700">
            <a:solidFill>
              <a:srgbClr val="F2B6C6"/>
            </a:solidFill>
          </a:ln>
        </p:spPr>
        <p:txBody>
          <a:bodyPr rtlCol="0" anchor="ctr"/>
          <a:lstStyle/>
          <a:p>
            <a:pPr algn="ctr"/>
          </a:p>
        </p:txBody>
      </p:sp>
      <p:pic>
        <p:nvPicPr>
          <p:cNvPr id="66" name="Picture 65" descr="LuFileText_r.png"/>
          <p:cNvPicPr>
            <a:picLocks noChangeAspect="1"/>
          </p:cNvPicPr>
          <p:nvPr/>
        </p:nvPicPr>
        <p:blipFill>
          <a:blip r:embed="rId10"/>
          <a:stretch>
            <a:fillRect/>
          </a:stretch>
        </p:blipFill>
        <p:spPr>
          <a:xfrm>
            <a:off x="10689336" y="3931920"/>
            <a:ext cx="292608" cy="292608"/>
          </a:xfrm>
          <a:prstGeom prst="rect">
            <a:avLst/>
          </a:prstGeom>
        </p:spPr>
      </p:pic>
      <p:sp>
        <p:nvSpPr>
          <p:cNvPr id="67" name="TextBox 66"/>
          <p:cNvSpPr txBox="1"/>
          <p:nvPr/>
        </p:nvSpPr>
        <p:spPr>
          <a:xfrm>
            <a:off x="10424160" y="4270248"/>
            <a:ext cx="822960" cy="420624"/>
          </a:xfrm>
          <a:prstGeom prst="rect">
            <a:avLst/>
          </a:prstGeom>
          <a:noFill/>
        </p:spPr>
        <p:txBody>
          <a:bodyPr wrap="square" lIns="0" tIns="0" rIns="0" bIns="0" anchor="t">
            <a:noAutofit/>
          </a:bodyPr>
          <a:lstStyle/>
          <a:p>
            <a:pPr algn="ctr">
              <a:lnSpc>
                <a:spcPct val="90000"/>
              </a:lnSpc>
              <a:spcAft>
                <a:spcPts val="0"/>
              </a:spcAft>
            </a:pPr>
            <a:r>
              <a:rPr sz="1100" b="0" i="0">
                <a:solidFill>
                  <a:srgbClr val="333D47"/>
                </a:solidFill>
                <a:latin typeface="Arial"/>
              </a:rPr>
              <a:t>Data &amp;</a:t>
            </a:r>
          </a:p>
          <a:p>
            <a:pPr algn="ctr">
              <a:lnSpc>
                <a:spcPct val="90000"/>
              </a:lnSpc>
              <a:spcAft>
                <a:spcPts val="0"/>
              </a:spcAft>
            </a:pPr>
            <a:r>
              <a:rPr sz="1100" b="0" i="0">
                <a:solidFill>
                  <a:srgbClr val="333D47"/>
                </a:solidFill>
                <a:latin typeface="Arial"/>
              </a:rPr>
              <a:t>documents</a:t>
            </a:r>
          </a:p>
        </p:txBody>
      </p:sp>
      <p:sp>
        <p:nvSpPr>
          <p:cNvPr id="68" name="TextBox 67"/>
          <p:cNvSpPr txBox="1"/>
          <p:nvPr/>
        </p:nvSpPr>
        <p:spPr>
          <a:xfrm>
            <a:off x="6528816" y="4764024"/>
            <a:ext cx="5029200" cy="320040"/>
          </a:xfrm>
          <a:prstGeom prst="rect">
            <a:avLst/>
          </a:prstGeom>
          <a:noFill/>
        </p:spPr>
        <p:txBody>
          <a:bodyPr wrap="square" lIns="0" tIns="0" rIns="0" bIns="0" anchor="t">
            <a:noAutofit/>
          </a:bodyPr>
          <a:lstStyle/>
          <a:p>
            <a:pPr algn="l">
              <a:spcAft>
                <a:spcPts val="0"/>
              </a:spcAft>
            </a:pPr>
            <a:r>
              <a:rPr sz="1350" b="1" i="0">
                <a:solidFill>
                  <a:srgbClr val="333D47"/>
                </a:solidFill>
                <a:latin typeface="Arial"/>
              </a:rPr>
              <a:t>Ask once. Riley connects. The employee approves.</a:t>
            </a:r>
          </a:p>
        </p:txBody>
      </p:sp>
      <p:sp>
        <p:nvSpPr>
          <p:cNvPr id="69" name="Rounded Rectangle 68"/>
          <p:cNvSpPr/>
          <p:nvPr/>
        </p:nvSpPr>
        <p:spPr>
          <a:xfrm>
            <a:off x="356616" y="5440680"/>
            <a:ext cx="132588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OBSERVATION</a:t>
            </a:r>
          </a:p>
        </p:txBody>
      </p:sp>
      <p:sp>
        <p:nvSpPr>
          <p:cNvPr id="70" name="TextBox 69"/>
          <p:cNvSpPr txBox="1"/>
          <p:nvPr/>
        </p:nvSpPr>
        <p:spPr>
          <a:xfrm>
            <a:off x="1810512" y="5422392"/>
            <a:ext cx="9144000" cy="329184"/>
          </a:xfrm>
          <a:prstGeom prst="rect">
            <a:avLst/>
          </a:prstGeom>
          <a:noFill/>
        </p:spPr>
        <p:txBody>
          <a:bodyPr wrap="square" lIns="0" tIns="0" rIns="0" bIns="0" anchor="ctr">
            <a:noAutofit/>
          </a:bodyPr>
          <a:lstStyle/>
          <a:p>
            <a:pPr algn="l">
              <a:spcAft>
                <a:spcPts val="0"/>
              </a:spcAft>
            </a:pPr>
            <a:r>
              <a:rPr sz="1250" b="0" i="0">
                <a:solidFill>
                  <a:srgbClr val="5F6770"/>
                </a:solidFill>
                <a:latin typeface="Arial"/>
              </a:rPr>
              <a:t>From what I observe, AIA teams are building valuable AI tools separately. This is an observation, not yet a measured finding.</a:t>
            </a:r>
          </a:p>
        </p:txBody>
      </p:sp>
      <p:sp>
        <p:nvSpPr>
          <p:cNvPr id="71" name="Slide Number Placeholder"/>
          <p:cNvSpPr>
            <a:spLocks noGrp="1"/>
          </p:cNvSpPr>
          <p:nvPr>
            <p:ph type="sldNum" sz="quarter" idx="4"/>
          </p:nvPr>
        </p:nvSpPr>
        <p:spPr/>
        <p:txBody>
          <a:bodyPr/>
          <a:lstStyle/>
          <a:p>
            <a:fld id="{18A41853-EF22-D446-BDBC-A7CF3FE93503}" type="slidenum">
              <a:rPr lang="en-US"/>
              <a:t>2</a:t>
            </a:fld>
            <a:endParaRPr lang="en-US"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Delegate the outcome. Keep the decision.</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HOW RILEY WORKS</a:t>
            </a:r>
          </a:p>
        </p:txBody>
      </p:sp>
      <p:sp>
        <p:nvSpPr>
          <p:cNvPr id="6" name="Oval 5"/>
          <p:cNvSpPr/>
          <p:nvPr/>
        </p:nvSpPr>
        <p:spPr>
          <a:xfrm>
            <a:off x="356616" y="1984248"/>
            <a:ext cx="384048" cy="384048"/>
          </a:xfrm>
          <a:prstGeom prst="ellipse">
            <a:avLst/>
          </a:prstGeom>
          <a:solidFill>
            <a:srgbClr val="333D47"/>
          </a:solidFill>
          <a:ln>
            <a:noFill/>
          </a:ln>
        </p:spPr>
        <p:txBody>
          <a:bodyPr rtlCol="0" anchor="ctr" wrap="square" lIns="0" tIns="0" rIns="0" bIns="0">
            <a:noAutofit/>
          </a:bodyPr>
          <a:lstStyle/>
          <a:p>
            <a:pPr algn="ctr">
              <a:spcAft>
                <a:spcPts val="0"/>
              </a:spcAft>
            </a:pPr>
            <a:r>
              <a:rPr sz="1400" b="1" i="0">
                <a:solidFill>
                  <a:srgbClr val="FFFFFF"/>
                </a:solidFill>
                <a:latin typeface="Arial"/>
              </a:rPr>
              <a:t>1</a:t>
            </a:r>
          </a:p>
        </p:txBody>
      </p:sp>
      <p:sp>
        <p:nvSpPr>
          <p:cNvPr id="7" name="TextBox 6"/>
          <p:cNvSpPr txBox="1"/>
          <p:nvPr/>
        </p:nvSpPr>
        <p:spPr>
          <a:xfrm>
            <a:off x="868680" y="1965960"/>
            <a:ext cx="2011680" cy="274320"/>
          </a:xfrm>
          <a:prstGeom prst="rect">
            <a:avLst/>
          </a:prstGeom>
          <a:noFill/>
        </p:spPr>
        <p:txBody>
          <a:bodyPr wrap="square" lIns="0" tIns="0" rIns="0" bIns="0" anchor="t">
            <a:noAutofit/>
          </a:bodyPr>
          <a:lstStyle/>
          <a:p>
            <a:pPr algn="l">
              <a:spcAft>
                <a:spcPts val="0"/>
              </a:spcAft>
            </a:pPr>
            <a:r>
              <a:rPr sz="1250" b="1" i="0" spc="100">
                <a:solidFill>
                  <a:srgbClr val="333D47"/>
                </a:solidFill>
                <a:latin typeface="Arial"/>
              </a:rPr>
              <a:t>YOU ASK</a:t>
            </a:r>
          </a:p>
        </p:txBody>
      </p:sp>
      <p:sp>
        <p:nvSpPr>
          <p:cNvPr id="8" name="TextBox 7"/>
          <p:cNvSpPr txBox="1"/>
          <p:nvPr/>
        </p:nvSpPr>
        <p:spPr>
          <a:xfrm>
            <a:off x="868680" y="2258568"/>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For the outcome, not the steps.</a:t>
            </a:r>
          </a:p>
        </p:txBody>
      </p:sp>
      <p:sp>
        <p:nvSpPr>
          <p:cNvPr id="9" name="Oval 8"/>
          <p:cNvSpPr/>
          <p:nvPr/>
        </p:nvSpPr>
        <p:spPr>
          <a:xfrm>
            <a:off x="356616" y="3063240"/>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400" b="1" i="0">
                <a:solidFill>
                  <a:srgbClr val="FFFFFF"/>
                </a:solidFill>
                <a:latin typeface="Arial"/>
              </a:rPr>
              <a:t>2</a:t>
            </a:r>
          </a:p>
        </p:txBody>
      </p:sp>
      <p:sp>
        <p:nvSpPr>
          <p:cNvPr id="10" name="TextBox 9"/>
          <p:cNvSpPr txBox="1"/>
          <p:nvPr/>
        </p:nvSpPr>
        <p:spPr>
          <a:xfrm>
            <a:off x="868680" y="3044952"/>
            <a:ext cx="2011680" cy="274320"/>
          </a:xfrm>
          <a:prstGeom prst="rect">
            <a:avLst/>
          </a:prstGeom>
          <a:noFill/>
        </p:spPr>
        <p:txBody>
          <a:bodyPr wrap="square" lIns="0" tIns="0" rIns="0" bIns="0" anchor="t">
            <a:noAutofit/>
          </a:bodyPr>
          <a:lstStyle/>
          <a:p>
            <a:pPr algn="l">
              <a:spcAft>
                <a:spcPts val="0"/>
              </a:spcAft>
            </a:pPr>
            <a:r>
              <a:rPr sz="1250" b="1" i="0" spc="100">
                <a:solidFill>
                  <a:srgbClr val="D31145"/>
                </a:solidFill>
                <a:latin typeface="Arial"/>
              </a:rPr>
              <a:t>RILEY WORKS</a:t>
            </a:r>
          </a:p>
        </p:txBody>
      </p:sp>
      <p:sp>
        <p:nvSpPr>
          <p:cNvPr id="11" name="TextBox 10"/>
          <p:cNvSpPr txBox="1"/>
          <p:nvPr/>
        </p:nvSpPr>
        <p:spPr>
          <a:xfrm>
            <a:off x="868680" y="3337560"/>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Plans and does the intermediate work, using only what you are permitted to access.</a:t>
            </a:r>
          </a:p>
        </p:txBody>
      </p:sp>
      <p:sp>
        <p:nvSpPr>
          <p:cNvPr id="12" name="Oval 11"/>
          <p:cNvSpPr/>
          <p:nvPr/>
        </p:nvSpPr>
        <p:spPr>
          <a:xfrm>
            <a:off x="356616" y="4828032"/>
            <a:ext cx="384048" cy="384048"/>
          </a:xfrm>
          <a:prstGeom prst="ellipse">
            <a:avLst/>
          </a:prstGeom>
          <a:solidFill>
            <a:srgbClr val="333D47"/>
          </a:solidFill>
          <a:ln>
            <a:noFill/>
          </a:ln>
        </p:spPr>
        <p:txBody>
          <a:bodyPr rtlCol="0" anchor="ctr" wrap="square" lIns="0" tIns="0" rIns="0" bIns="0">
            <a:noAutofit/>
          </a:bodyPr>
          <a:lstStyle/>
          <a:p>
            <a:pPr algn="ctr">
              <a:spcAft>
                <a:spcPts val="0"/>
              </a:spcAft>
            </a:pPr>
            <a:r>
              <a:rPr sz="1400" b="1" i="0">
                <a:solidFill>
                  <a:srgbClr val="FFFFFF"/>
                </a:solidFill>
                <a:latin typeface="Arial"/>
              </a:rPr>
              <a:t>3</a:t>
            </a:r>
          </a:p>
        </p:txBody>
      </p:sp>
      <p:sp>
        <p:nvSpPr>
          <p:cNvPr id="13" name="TextBox 12"/>
          <p:cNvSpPr txBox="1"/>
          <p:nvPr/>
        </p:nvSpPr>
        <p:spPr>
          <a:xfrm>
            <a:off x="868680" y="4809744"/>
            <a:ext cx="2011680" cy="274320"/>
          </a:xfrm>
          <a:prstGeom prst="rect">
            <a:avLst/>
          </a:prstGeom>
          <a:noFill/>
        </p:spPr>
        <p:txBody>
          <a:bodyPr wrap="square" lIns="0" tIns="0" rIns="0" bIns="0" anchor="t">
            <a:noAutofit/>
          </a:bodyPr>
          <a:lstStyle/>
          <a:p>
            <a:pPr algn="l">
              <a:spcAft>
                <a:spcPts val="0"/>
              </a:spcAft>
            </a:pPr>
            <a:r>
              <a:rPr sz="1250" b="1" i="0" spc="100">
                <a:solidFill>
                  <a:srgbClr val="333D47"/>
                </a:solidFill>
                <a:latin typeface="Arial"/>
              </a:rPr>
              <a:t>YOU APPROVE</a:t>
            </a:r>
          </a:p>
        </p:txBody>
      </p:sp>
      <p:sp>
        <p:nvSpPr>
          <p:cNvPr id="14" name="TextBox 13"/>
          <p:cNvSpPr txBox="1"/>
          <p:nvPr/>
        </p:nvSpPr>
        <p:spPr>
          <a:xfrm>
            <a:off x="868680" y="5102352"/>
            <a:ext cx="1965960" cy="86868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Nothing is finalized, sent or entered into a business system until you approve.</a:t>
            </a:r>
          </a:p>
        </p:txBody>
      </p:sp>
      <p:sp>
        <p:nvSpPr>
          <p:cNvPr id="15" name="Rounded Rectangle 14"/>
          <p:cNvSpPr/>
          <p:nvPr/>
        </p:nvSpPr>
        <p:spPr>
          <a:xfrm>
            <a:off x="3063240" y="1325880"/>
            <a:ext cx="8769096" cy="4160520"/>
          </a:xfrm>
          <a:prstGeom prst="roundRect">
            <a:avLst>
              <a:gd name="adj" fmla="val 2197"/>
            </a:avLst>
          </a:prstGeom>
          <a:solidFill>
            <a:srgbClr val="FFFFFF"/>
          </a:solidFill>
          <a:ln w="12700">
            <a:solidFill>
              <a:srgbClr val="DDD6D0"/>
            </a:solidFill>
          </a:ln>
        </p:spPr>
        <p:txBody>
          <a:bodyPr rtlCol="0" anchor="ctr"/>
          <a:lstStyle/>
          <a:p>
            <a:pPr algn="ctr"/>
          </a:p>
        </p:txBody>
      </p:sp>
      <p:sp>
        <p:nvSpPr>
          <p:cNvPr id="16" name="Oval 15"/>
          <p:cNvSpPr/>
          <p:nvPr/>
        </p:nvSpPr>
        <p:spPr>
          <a:xfrm>
            <a:off x="3246120" y="1435608"/>
            <a:ext cx="310896" cy="310896"/>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17" name="TextBox 16"/>
          <p:cNvSpPr txBox="1"/>
          <p:nvPr/>
        </p:nvSpPr>
        <p:spPr>
          <a:xfrm>
            <a:off x="3657600" y="1435608"/>
            <a:ext cx="4572000" cy="310896"/>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Riley</a:t>
            </a:r>
            <a:r>
              <a:rPr sz="1100" b="0" i="0">
                <a:solidFill>
                  <a:srgbClr val="5F6770"/>
                </a:solidFill>
                <a:latin typeface="Arial"/>
              </a:rPr>
              <a:t>   AIA’s AI coworker  ·  Microsoft Teams</a:t>
            </a:r>
          </a:p>
        </p:txBody>
      </p:sp>
      <p:sp>
        <p:nvSpPr>
          <p:cNvPr id="18" name="Rounded Rectangle 17"/>
          <p:cNvSpPr/>
          <p:nvPr/>
        </p:nvSpPr>
        <p:spPr>
          <a:xfrm>
            <a:off x="9592056" y="1453896"/>
            <a:ext cx="2057400" cy="274320"/>
          </a:xfrm>
          <a:prstGeom prst="roundRect">
            <a:avLst>
              <a:gd name="adj" fmla="val 50000"/>
            </a:avLst>
          </a:prstGeom>
          <a:solidFill>
            <a:srgbClr val="FBE8ED"/>
          </a:solidFill>
          <a:ln w="12700">
            <a:solidFill>
              <a:srgbClr val="FBE8ED"/>
            </a:solidFill>
          </a:ln>
        </p:spPr>
        <p:txBody>
          <a:bodyPr rtlCol="0" anchor="ctr" wrap="square" lIns="36576" tIns="36576" rIns="36576" bIns="36576">
            <a:noAutofit/>
          </a:bodyPr>
          <a:lstStyle/>
          <a:p>
            <a:pPr algn="ctr">
              <a:spcAft>
                <a:spcPts val="0"/>
              </a:spcAft>
            </a:pPr>
            <a:r>
              <a:rPr sz="950" b="1" i="0" spc="50">
                <a:solidFill>
                  <a:srgbClr val="D31145"/>
                </a:solidFill>
                <a:latin typeface="Arial"/>
              </a:rPr>
              <a:t>ILLUSTRATIVE EXAMPLE</a:t>
            </a:r>
          </a:p>
        </p:txBody>
      </p:sp>
      <p:cxnSp>
        <p:nvCxnSpPr>
          <p:cNvPr id="19" name="Connector 18"/>
          <p:cNvCxnSpPr/>
          <p:nvPr/>
        </p:nvCxnSpPr>
        <p:spPr>
          <a:xfrm>
            <a:off x="3063240" y="1856232"/>
            <a:ext cx="8769096" cy="0"/>
          </a:xfrm>
          <a:prstGeom prst="line">
            <a:avLst/>
          </a:prstGeom>
          <a:ln w="9525">
            <a:solidFill>
              <a:srgbClr val="DDD6D0"/>
            </a:solidFill>
          </a:ln>
        </p:spPr>
      </p:cxnSp>
      <p:sp>
        <p:nvSpPr>
          <p:cNvPr id="20" name="Rounded Rectangle 19"/>
          <p:cNvSpPr/>
          <p:nvPr/>
        </p:nvSpPr>
        <p:spPr>
          <a:xfrm>
            <a:off x="5074920" y="1984248"/>
            <a:ext cx="6574536" cy="914400"/>
          </a:xfrm>
          <a:prstGeom prst="roundRect">
            <a:avLst>
              <a:gd name="adj" fmla="val 10000"/>
            </a:avLst>
          </a:prstGeom>
          <a:solidFill>
            <a:srgbClr val="F4F1EF"/>
          </a:solidFill>
          <a:ln>
            <a:noFill/>
          </a:ln>
        </p:spPr>
        <p:txBody>
          <a:bodyPr rtlCol="0" anchor="ctr" wrap="square" lIns="164592" tIns="54864" rIns="164592" bIns="54864">
            <a:noAutofit/>
          </a:bodyPr>
          <a:lstStyle/>
          <a:p>
            <a:pPr algn="l">
              <a:spcAft>
                <a:spcPts val="0"/>
              </a:spcAft>
            </a:pPr>
            <a:r>
              <a:rPr sz="1300" b="0" i="1">
                <a:solidFill>
                  <a:srgbClr val="333D47"/>
                </a:solidFill>
                <a:latin typeface="Arial"/>
              </a:rPr>
              <a:t>“Review the latest customer complaints, identify the most common issues, compare them with the previous quarter, research relevant external information, prepare a management summary and draft a presentation.”</a:t>
            </a:r>
          </a:p>
        </p:txBody>
      </p:sp>
      <p:sp>
        <p:nvSpPr>
          <p:cNvPr id="21" name="Rounded Rectangle 20"/>
          <p:cNvSpPr/>
          <p:nvPr/>
        </p:nvSpPr>
        <p:spPr>
          <a:xfrm>
            <a:off x="3246120" y="3063240"/>
            <a:ext cx="7306056" cy="1600200"/>
          </a:xfrm>
          <a:prstGeom prst="roundRect">
            <a:avLst>
              <a:gd name="adj" fmla="val 5714"/>
            </a:avLst>
          </a:prstGeom>
          <a:solidFill>
            <a:srgbClr val="FBE8ED"/>
          </a:solidFill>
          <a:ln>
            <a:noFill/>
          </a:ln>
        </p:spPr>
        <p:txBody>
          <a:bodyPr rtlCol="0" anchor="ctr"/>
          <a:lstStyle/>
          <a:p>
            <a:pPr algn="ctr"/>
          </a:p>
        </p:txBody>
      </p:sp>
      <p:sp>
        <p:nvSpPr>
          <p:cNvPr id="22" name="TextBox 21"/>
          <p:cNvSpPr txBox="1"/>
          <p:nvPr/>
        </p:nvSpPr>
        <p:spPr>
          <a:xfrm>
            <a:off x="3447288" y="3154680"/>
            <a:ext cx="6940296" cy="292608"/>
          </a:xfrm>
          <a:prstGeom prst="rect">
            <a:avLst/>
          </a:prstGeom>
          <a:noFill/>
        </p:spPr>
        <p:txBody>
          <a:bodyPr wrap="square" lIns="0" tIns="0" rIns="0" bIns="0" anchor="t">
            <a:noAutofit/>
          </a:bodyPr>
          <a:lstStyle/>
          <a:p>
            <a:pPr algn="l">
              <a:spcAft>
                <a:spcPts val="0"/>
              </a:spcAft>
            </a:pPr>
            <a:r>
              <a:rPr sz="1300" b="1" i="0">
                <a:solidFill>
                  <a:srgbClr val="333D47"/>
                </a:solidFill>
                <a:latin typeface="Arial"/>
              </a:rPr>
              <a:t>Here’s my plan, using only what you’re authorized to access:</a:t>
            </a:r>
          </a:p>
        </p:txBody>
      </p:sp>
      <p:pic>
        <p:nvPicPr>
          <p:cNvPr id="23" name="Picture 22" descr="LuCircleCheck_r.png"/>
          <p:cNvPicPr>
            <a:picLocks noChangeAspect="1"/>
          </p:cNvPicPr>
          <p:nvPr/>
        </p:nvPicPr>
        <p:blipFill>
          <a:blip r:embed="rId3"/>
          <a:stretch>
            <a:fillRect/>
          </a:stretch>
        </p:blipFill>
        <p:spPr>
          <a:xfrm>
            <a:off x="3465576" y="3557016"/>
            <a:ext cx="182880" cy="182880"/>
          </a:xfrm>
          <a:prstGeom prst="rect">
            <a:avLst/>
          </a:prstGeom>
        </p:spPr>
      </p:pic>
      <p:sp>
        <p:nvSpPr>
          <p:cNvPr id="24" name="TextBox 23"/>
          <p:cNvSpPr txBox="1"/>
          <p:nvPr/>
        </p:nvSpPr>
        <p:spPr>
          <a:xfrm>
            <a:off x="3739896" y="352044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Complaint records, this quarter and last</a:t>
            </a:r>
          </a:p>
        </p:txBody>
      </p:sp>
      <p:sp>
        <p:nvSpPr>
          <p:cNvPr id="25" name="TextBox 24"/>
          <p:cNvSpPr txBox="1"/>
          <p:nvPr/>
        </p:nvSpPr>
        <p:spPr>
          <a:xfrm>
            <a:off x="7726680" y="352044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AIA data</a:t>
            </a:r>
          </a:p>
        </p:txBody>
      </p:sp>
      <p:pic>
        <p:nvPicPr>
          <p:cNvPr id="26" name="Picture 25" descr="LuCircleCheck_r.png"/>
          <p:cNvPicPr>
            <a:picLocks noChangeAspect="1"/>
          </p:cNvPicPr>
          <p:nvPr/>
        </p:nvPicPr>
        <p:blipFill>
          <a:blip r:embed="rId3"/>
          <a:stretch>
            <a:fillRect/>
          </a:stretch>
        </p:blipFill>
        <p:spPr>
          <a:xfrm>
            <a:off x="3465576" y="3831336"/>
            <a:ext cx="182880" cy="182880"/>
          </a:xfrm>
          <a:prstGeom prst="rect">
            <a:avLst/>
          </a:prstGeom>
        </p:spPr>
      </p:pic>
      <p:sp>
        <p:nvSpPr>
          <p:cNvPr id="27" name="TextBox 26"/>
          <p:cNvSpPr txBox="1"/>
          <p:nvPr/>
        </p:nvSpPr>
        <p:spPr>
          <a:xfrm>
            <a:off x="3739896" y="379476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Group and compare issues by theme</a:t>
            </a:r>
          </a:p>
        </p:txBody>
      </p:sp>
      <p:sp>
        <p:nvSpPr>
          <p:cNvPr id="28" name="TextBox 27"/>
          <p:cNvSpPr txBox="1"/>
          <p:nvPr/>
        </p:nvSpPr>
        <p:spPr>
          <a:xfrm>
            <a:off x="7726680" y="379476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Another AIA team’s AI tool</a:t>
            </a:r>
          </a:p>
        </p:txBody>
      </p:sp>
      <p:pic>
        <p:nvPicPr>
          <p:cNvPr id="29" name="Picture 28" descr="LuCircleCheck_r.png"/>
          <p:cNvPicPr>
            <a:picLocks noChangeAspect="1"/>
          </p:cNvPicPr>
          <p:nvPr/>
        </p:nvPicPr>
        <p:blipFill>
          <a:blip r:embed="rId3"/>
          <a:stretch>
            <a:fillRect/>
          </a:stretch>
        </p:blipFill>
        <p:spPr>
          <a:xfrm>
            <a:off x="3465576" y="4105656"/>
            <a:ext cx="182880" cy="182880"/>
          </a:xfrm>
          <a:prstGeom prst="rect">
            <a:avLst/>
          </a:prstGeom>
        </p:spPr>
      </p:pic>
      <p:sp>
        <p:nvSpPr>
          <p:cNvPr id="30" name="TextBox 29"/>
          <p:cNvSpPr txBox="1"/>
          <p:nvPr/>
        </p:nvSpPr>
        <p:spPr>
          <a:xfrm>
            <a:off x="3739896" y="406908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Relevant external information</a:t>
            </a:r>
          </a:p>
        </p:txBody>
      </p:sp>
      <p:sp>
        <p:nvSpPr>
          <p:cNvPr id="31" name="TextBox 30"/>
          <p:cNvSpPr txBox="1"/>
          <p:nvPr/>
        </p:nvSpPr>
        <p:spPr>
          <a:xfrm>
            <a:off x="7726680" y="406908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Approved sources</a:t>
            </a:r>
          </a:p>
        </p:txBody>
      </p:sp>
      <p:pic>
        <p:nvPicPr>
          <p:cNvPr id="32" name="Picture 31" descr="LuCircleCheck_r.png"/>
          <p:cNvPicPr>
            <a:picLocks noChangeAspect="1"/>
          </p:cNvPicPr>
          <p:nvPr/>
        </p:nvPicPr>
        <p:blipFill>
          <a:blip r:embed="rId3"/>
          <a:stretch>
            <a:fillRect/>
          </a:stretch>
        </p:blipFill>
        <p:spPr>
          <a:xfrm>
            <a:off x="3465576" y="4379976"/>
            <a:ext cx="182880" cy="182880"/>
          </a:xfrm>
          <a:prstGeom prst="rect">
            <a:avLst/>
          </a:prstGeom>
        </p:spPr>
      </p:pic>
      <p:sp>
        <p:nvSpPr>
          <p:cNvPr id="33" name="TextBox 32"/>
          <p:cNvSpPr txBox="1"/>
          <p:nvPr/>
        </p:nvSpPr>
        <p:spPr>
          <a:xfrm>
            <a:off x="3739896" y="4343400"/>
            <a:ext cx="3931920" cy="256032"/>
          </a:xfrm>
          <a:prstGeom prst="rect">
            <a:avLst/>
          </a:prstGeom>
          <a:noFill/>
        </p:spPr>
        <p:txBody>
          <a:bodyPr wrap="square" lIns="0" tIns="0" rIns="0" bIns="0" anchor="ctr">
            <a:noAutofit/>
          </a:bodyPr>
          <a:lstStyle/>
          <a:p>
            <a:pPr algn="l">
              <a:spcAft>
                <a:spcPts val="0"/>
              </a:spcAft>
            </a:pPr>
            <a:r>
              <a:rPr sz="1250" b="0" i="0">
                <a:solidFill>
                  <a:srgbClr val="333D47"/>
                </a:solidFill>
                <a:latin typeface="Arial"/>
              </a:rPr>
              <a:t>Management summary and draft presentation</a:t>
            </a:r>
          </a:p>
        </p:txBody>
      </p:sp>
      <p:sp>
        <p:nvSpPr>
          <p:cNvPr id="34" name="TextBox 33"/>
          <p:cNvSpPr txBox="1"/>
          <p:nvPr/>
        </p:nvSpPr>
        <p:spPr>
          <a:xfrm>
            <a:off x="7726680" y="4343400"/>
            <a:ext cx="2331720" cy="256032"/>
          </a:xfrm>
          <a:prstGeom prst="rect">
            <a:avLst/>
          </a:prstGeom>
          <a:noFill/>
        </p:spPr>
        <p:txBody>
          <a:bodyPr wrap="square" lIns="0" tIns="0" rIns="0" bIns="0" anchor="ctr">
            <a:noAutofit/>
          </a:bodyPr>
          <a:lstStyle/>
          <a:p>
            <a:pPr algn="r">
              <a:spcAft>
                <a:spcPts val="0"/>
              </a:spcAft>
            </a:pPr>
            <a:r>
              <a:rPr sz="1150" b="1" i="0">
                <a:solidFill>
                  <a:srgbClr val="D31145"/>
                </a:solidFill>
                <a:latin typeface="Arial"/>
              </a:rPr>
              <a:t>Drafted by Riley</a:t>
            </a:r>
          </a:p>
        </p:txBody>
      </p:sp>
      <p:sp>
        <p:nvSpPr>
          <p:cNvPr id="35" name="Rounded Rectangle 34"/>
          <p:cNvSpPr/>
          <p:nvPr/>
        </p:nvSpPr>
        <p:spPr>
          <a:xfrm>
            <a:off x="3246120" y="4846320"/>
            <a:ext cx="1847088" cy="347472"/>
          </a:xfrm>
          <a:prstGeom prst="roundRect">
            <a:avLst>
              <a:gd name="adj" fmla="val 21052"/>
            </a:avLst>
          </a:prstGeom>
          <a:solidFill>
            <a:srgbClr val="FFFFFF"/>
          </a:solidFill>
          <a:ln w="9525">
            <a:solidFill>
              <a:srgbClr val="DDD6D0"/>
            </a:solidFill>
          </a:ln>
        </p:spPr>
        <p:txBody>
          <a:bodyPr rtlCol="0" anchor="ctr"/>
          <a:lstStyle/>
          <a:p>
            <a:pPr algn="ctr"/>
          </a:p>
        </p:txBody>
      </p:sp>
      <p:pic>
        <p:nvPicPr>
          <p:cNvPr id="36" name="Picture 35" descr="LuPaperclip_g.png"/>
          <p:cNvPicPr>
            <a:picLocks noChangeAspect="1"/>
          </p:cNvPicPr>
          <p:nvPr/>
        </p:nvPicPr>
        <p:blipFill>
          <a:blip r:embed="rId4"/>
          <a:stretch>
            <a:fillRect/>
          </a:stretch>
        </p:blipFill>
        <p:spPr>
          <a:xfrm>
            <a:off x="3337560" y="4937760"/>
            <a:ext cx="164592" cy="164592"/>
          </a:xfrm>
          <a:prstGeom prst="rect">
            <a:avLst/>
          </a:prstGeom>
        </p:spPr>
      </p:pic>
      <p:sp>
        <p:nvSpPr>
          <p:cNvPr id="37" name="TextBox 36"/>
          <p:cNvSpPr txBox="1"/>
          <p:nvPr/>
        </p:nvSpPr>
        <p:spPr>
          <a:xfrm>
            <a:off x="3538728" y="4846320"/>
            <a:ext cx="1536192" cy="347472"/>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Management summary</a:t>
            </a:r>
          </a:p>
        </p:txBody>
      </p:sp>
      <p:sp>
        <p:nvSpPr>
          <p:cNvPr id="38" name="Rounded Rectangle 37"/>
          <p:cNvSpPr/>
          <p:nvPr/>
        </p:nvSpPr>
        <p:spPr>
          <a:xfrm>
            <a:off x="5184648" y="4846320"/>
            <a:ext cx="1847088" cy="347472"/>
          </a:xfrm>
          <a:prstGeom prst="roundRect">
            <a:avLst>
              <a:gd name="adj" fmla="val 21052"/>
            </a:avLst>
          </a:prstGeom>
          <a:solidFill>
            <a:srgbClr val="FFFFFF"/>
          </a:solidFill>
          <a:ln w="9525">
            <a:solidFill>
              <a:srgbClr val="DDD6D0"/>
            </a:solidFill>
          </a:ln>
        </p:spPr>
        <p:txBody>
          <a:bodyPr rtlCol="0" anchor="ctr"/>
          <a:lstStyle/>
          <a:p>
            <a:pPr algn="ctr"/>
          </a:p>
        </p:txBody>
      </p:sp>
      <p:pic>
        <p:nvPicPr>
          <p:cNvPr id="39" name="Picture 38" descr="LuPaperclip_g.png"/>
          <p:cNvPicPr>
            <a:picLocks noChangeAspect="1"/>
          </p:cNvPicPr>
          <p:nvPr/>
        </p:nvPicPr>
        <p:blipFill>
          <a:blip r:embed="rId4"/>
          <a:stretch>
            <a:fillRect/>
          </a:stretch>
        </p:blipFill>
        <p:spPr>
          <a:xfrm>
            <a:off x="5276088" y="4937760"/>
            <a:ext cx="164592" cy="164592"/>
          </a:xfrm>
          <a:prstGeom prst="rect">
            <a:avLst/>
          </a:prstGeom>
        </p:spPr>
      </p:pic>
      <p:sp>
        <p:nvSpPr>
          <p:cNvPr id="40" name="TextBox 39"/>
          <p:cNvSpPr txBox="1"/>
          <p:nvPr/>
        </p:nvSpPr>
        <p:spPr>
          <a:xfrm>
            <a:off x="5477256" y="4846320"/>
            <a:ext cx="1536192" cy="347472"/>
          </a:xfrm>
          <a:prstGeom prst="rect">
            <a:avLst/>
          </a:prstGeom>
          <a:noFill/>
        </p:spPr>
        <p:txBody>
          <a:bodyPr wrap="square" lIns="0" tIns="0" rIns="0" bIns="0" anchor="ctr">
            <a:noAutofit/>
          </a:bodyPr>
          <a:lstStyle/>
          <a:p>
            <a:pPr algn="l">
              <a:spcAft>
                <a:spcPts val="0"/>
              </a:spcAft>
            </a:pPr>
            <a:r>
              <a:rPr sz="1050" b="0" i="0">
                <a:solidFill>
                  <a:srgbClr val="333D47"/>
                </a:solidFill>
                <a:latin typeface="Arial"/>
              </a:rPr>
              <a:t>Draft presentation</a:t>
            </a:r>
          </a:p>
        </p:txBody>
      </p:sp>
      <p:sp>
        <p:nvSpPr>
          <p:cNvPr id="41" name="Rounded Rectangle 40"/>
          <p:cNvSpPr/>
          <p:nvPr/>
        </p:nvSpPr>
        <p:spPr>
          <a:xfrm>
            <a:off x="9363456" y="4846320"/>
            <a:ext cx="1298448" cy="347472"/>
          </a:xfrm>
          <a:prstGeom prst="roundRect">
            <a:avLst>
              <a:gd name="adj" fmla="val 50000"/>
            </a:avLst>
          </a:prstGeom>
          <a:solidFill>
            <a:srgbClr val="FFFFFF"/>
          </a:solidFill>
          <a:ln w="9525">
            <a:solidFill>
              <a:srgbClr val="333D47"/>
            </a:solidFill>
          </a:ln>
        </p:spPr>
        <p:txBody>
          <a:bodyPr rtlCol="0" anchor="ctr" wrap="square" lIns="18288" tIns="18288" rIns="18288" bIns="18288">
            <a:noAutofit/>
          </a:bodyPr>
          <a:lstStyle/>
          <a:p>
            <a:pPr algn="ctr">
              <a:spcAft>
                <a:spcPts val="0"/>
              </a:spcAft>
            </a:pPr>
            <a:r>
              <a:rPr sz="1050" b="0" i="0">
                <a:solidFill>
                  <a:srgbClr val="333D47"/>
                </a:solidFill>
                <a:latin typeface="Arial"/>
              </a:rPr>
              <a:t>Request changes</a:t>
            </a:r>
          </a:p>
        </p:txBody>
      </p:sp>
      <p:sp>
        <p:nvSpPr>
          <p:cNvPr id="42" name="Rounded Rectangle 41"/>
          <p:cNvSpPr/>
          <p:nvPr/>
        </p:nvSpPr>
        <p:spPr>
          <a:xfrm>
            <a:off x="10753344" y="4846320"/>
            <a:ext cx="896112" cy="347472"/>
          </a:xfrm>
          <a:prstGeom prst="roundRect">
            <a:avLst>
              <a:gd name="adj" fmla="val 50000"/>
            </a:avLst>
          </a:prstGeom>
          <a:solidFill>
            <a:srgbClr val="D31145"/>
          </a:solidFill>
          <a:ln>
            <a:noFill/>
          </a:ln>
        </p:spPr>
        <p:txBody>
          <a:bodyPr rtlCol="0" anchor="ctr" wrap="square" lIns="18288" tIns="18288" rIns="18288" bIns="18288">
            <a:noAutofit/>
          </a:bodyPr>
          <a:lstStyle/>
          <a:p>
            <a:pPr algn="ctr">
              <a:spcAft>
                <a:spcPts val="0"/>
              </a:spcAft>
            </a:pPr>
            <a:r>
              <a:rPr sz="1050" b="1" i="0">
                <a:solidFill>
                  <a:srgbClr val="FFFFFF"/>
                </a:solidFill>
                <a:latin typeface="Arial"/>
              </a:rPr>
              <a:t>Approve</a:t>
            </a:r>
          </a:p>
        </p:txBody>
      </p:sp>
      <p:sp>
        <p:nvSpPr>
          <p:cNvPr id="43" name="TextBox 42"/>
          <p:cNvSpPr txBox="1"/>
          <p:nvPr/>
        </p:nvSpPr>
        <p:spPr>
          <a:xfrm>
            <a:off x="3063240" y="5577840"/>
            <a:ext cx="8769096" cy="274320"/>
          </a:xfrm>
          <a:prstGeom prst="rect">
            <a:avLst/>
          </a:prstGeom>
          <a:noFill/>
        </p:spPr>
        <p:txBody>
          <a:bodyPr wrap="square" lIns="0" tIns="0" rIns="0" bIns="0" anchor="t">
            <a:noAutofit/>
          </a:bodyPr>
          <a:lstStyle/>
          <a:p>
            <a:pPr algn="l">
              <a:spcAft>
                <a:spcPts val="0"/>
              </a:spcAft>
            </a:pPr>
            <a:r>
              <a:rPr sz="1100" b="0" i="1">
                <a:solidFill>
                  <a:srgbClr val="5F6770"/>
                </a:solidFill>
                <a:latin typeface="Arial"/>
              </a:rPr>
              <a:t>Illustrative example, not the committed pilot. A lower-sensitivity internal workflow may be chosen first.</a:t>
            </a:r>
          </a:p>
        </p:txBody>
      </p:sp>
      <p:sp>
        <p:nvSpPr>
          <p:cNvPr id="44" name="Slide Number Placeholder"/>
          <p:cNvSpPr>
            <a:spLocks noGrp="1"/>
          </p:cNvSpPr>
          <p:nvPr>
            <p:ph type="sldNum" sz="quarter" idx="4"/>
          </p:nvPr>
        </p:nvSpPr>
        <p:spPr/>
        <p:txBody>
          <a:bodyPr/>
          <a:lstStyle/>
          <a:p>
            <a:fld id="{18A41853-EF22-D446-BDBC-A7CF3FE93503}" type="slidenum">
              <a:rPr lang="en-US"/>
              <a:t>3</a:t>
            </a:fld>
            <a:endParaRPr lang="en-US"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What one hour a week could release at scale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IMPACT</a:t>
            </a:r>
          </a:p>
        </p:txBody>
      </p:sp>
      <p:sp>
        <p:nvSpPr>
          <p:cNvPr id="6" name="Rounded Rectangle 5"/>
          <p:cNvSpPr/>
          <p:nvPr/>
        </p:nvSpPr>
        <p:spPr>
          <a:xfrm>
            <a:off x="356616" y="1325880"/>
            <a:ext cx="3657600" cy="292608"/>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50" b="1" i="0" spc="50">
                <a:solidFill>
                  <a:srgbClr val="D31145"/>
                </a:solidFill>
                <a:latin typeface="Arial"/>
              </a:rPr>
              <a:t>ILLUSTRATIVE SCENARIO  ·  NOT A FORECAST</a:t>
            </a:r>
          </a:p>
        </p:txBody>
      </p:sp>
      <p:sp>
        <p:nvSpPr>
          <p:cNvPr id="7" name="TextBox 6"/>
          <p:cNvSpPr txBox="1"/>
          <p:nvPr/>
        </p:nvSpPr>
        <p:spPr>
          <a:xfrm>
            <a:off x="356616" y="1755648"/>
            <a:ext cx="6675120" cy="566928"/>
          </a:xfrm>
          <a:prstGeom prst="rect">
            <a:avLst/>
          </a:prstGeom>
          <a:noFill/>
        </p:spPr>
        <p:txBody>
          <a:bodyPr wrap="square" lIns="0" tIns="0" rIns="0" bIns="0" anchor="t">
            <a:noAutofit/>
          </a:bodyPr>
          <a:lstStyle/>
          <a:p>
            <a:pPr algn="l">
              <a:lnSpc>
                <a:spcPct val="105000"/>
              </a:lnSpc>
              <a:spcAft>
                <a:spcPts val="0"/>
              </a:spcAft>
            </a:pPr>
            <a:r>
              <a:rPr sz="1600" b="0" i="0">
                <a:solidFill>
                  <a:srgbClr val="333D47"/>
                </a:solidFill>
                <a:latin typeface="Arial"/>
              </a:rPr>
              <a:t>If Riley eventually served </a:t>
            </a:r>
            <a:r>
              <a:rPr sz="1600" b="1" i="0">
                <a:solidFill>
                  <a:srgbClr val="333D47"/>
                </a:solidFill>
                <a:latin typeface="Arial"/>
              </a:rPr>
              <a:t>1,000 employees</a:t>
            </a:r>
            <a:r>
              <a:rPr sz="1600" b="0" i="0">
                <a:solidFill>
                  <a:srgbClr val="333D47"/>
                </a:solidFill>
                <a:latin typeface="Arial"/>
              </a:rPr>
              <a:t> and saved each an average of </a:t>
            </a:r>
            <a:r>
              <a:rPr sz="1600" b="1" i="0">
                <a:solidFill>
                  <a:srgbClr val="333D47"/>
                </a:solidFill>
                <a:latin typeface="Arial"/>
              </a:rPr>
              <a:t>1 hour a week</a:t>
            </a:r>
            <a:r>
              <a:rPr sz="1600" b="0" i="0">
                <a:solidFill>
                  <a:srgbClr val="333D47"/>
                </a:solidFill>
                <a:latin typeface="Arial"/>
              </a:rPr>
              <a:t>, it would release about</a:t>
            </a:r>
          </a:p>
        </p:txBody>
      </p:sp>
      <p:sp>
        <p:nvSpPr>
          <p:cNvPr id="8" name="TextBox 7"/>
          <p:cNvSpPr txBox="1"/>
          <p:nvPr/>
        </p:nvSpPr>
        <p:spPr>
          <a:xfrm>
            <a:off x="356616" y="2286000"/>
            <a:ext cx="6766560" cy="1051560"/>
          </a:xfrm>
          <a:prstGeom prst="rect">
            <a:avLst/>
          </a:prstGeom>
          <a:noFill/>
        </p:spPr>
        <p:txBody>
          <a:bodyPr wrap="square" lIns="0" tIns="0" rIns="0" bIns="0" anchor="ctr">
            <a:noAutofit/>
          </a:bodyPr>
          <a:lstStyle/>
          <a:p>
            <a:pPr algn="l">
              <a:spcAft>
                <a:spcPts val="0"/>
              </a:spcAft>
            </a:pPr>
            <a:r>
              <a:rPr sz="8000" b="1" i="0">
                <a:solidFill>
                  <a:srgbClr val="D31145"/>
                </a:solidFill>
                <a:latin typeface="Arial"/>
              </a:rPr>
              <a:t>1,000 hours</a:t>
            </a:r>
          </a:p>
        </p:txBody>
      </p:sp>
      <p:sp>
        <p:nvSpPr>
          <p:cNvPr id="9" name="TextBox 8"/>
          <p:cNvSpPr txBox="1"/>
          <p:nvPr/>
        </p:nvSpPr>
        <p:spPr>
          <a:xfrm>
            <a:off x="356616" y="3328416"/>
            <a:ext cx="6675120" cy="384048"/>
          </a:xfrm>
          <a:prstGeom prst="rect">
            <a:avLst/>
          </a:prstGeom>
          <a:noFill/>
        </p:spPr>
        <p:txBody>
          <a:bodyPr wrap="square" lIns="0" tIns="0" rIns="0" bIns="0" anchor="t">
            <a:noAutofit/>
          </a:bodyPr>
          <a:lstStyle/>
          <a:p>
            <a:pPr algn="l">
              <a:spcAft>
                <a:spcPts val="0"/>
              </a:spcAft>
            </a:pPr>
            <a:r>
              <a:rPr sz="2100" b="0" i="0">
                <a:solidFill>
                  <a:srgbClr val="333D47"/>
                </a:solidFill>
                <a:latin typeface="Arial"/>
              </a:rPr>
              <a:t>of employee capacity, every week</a:t>
            </a:r>
          </a:p>
        </p:txBody>
      </p:sp>
      <p:sp>
        <p:nvSpPr>
          <p:cNvPr id="10" name="TextBox 9"/>
          <p:cNvSpPr txBox="1"/>
          <p:nvPr/>
        </p:nvSpPr>
        <p:spPr>
          <a:xfrm>
            <a:off x="356616" y="3822192"/>
            <a:ext cx="6766560" cy="457200"/>
          </a:xfrm>
          <a:prstGeom prst="rect">
            <a:avLst/>
          </a:prstGeom>
          <a:noFill/>
        </p:spPr>
        <p:txBody>
          <a:bodyPr wrap="square" lIns="0" tIns="0" rIns="0" bIns="0" anchor="ctr">
            <a:noAutofit/>
          </a:bodyPr>
          <a:lstStyle/>
          <a:p>
            <a:pPr algn="l">
              <a:spcAft>
                <a:spcPts val="0"/>
              </a:spcAft>
            </a:pPr>
            <a:r>
              <a:rPr sz="2600" b="1" i="0">
                <a:solidFill>
                  <a:srgbClr val="333D47"/>
                </a:solidFill>
                <a:latin typeface="Arial"/>
              </a:rPr>
              <a:t>≈ 50,000 hours a year</a:t>
            </a:r>
            <a:r>
              <a:rPr sz="1300" b="0" i="0">
                <a:solidFill>
                  <a:srgbClr val="5F6770"/>
                </a:solidFill>
                <a:latin typeface="Arial"/>
              </a:rPr>
              <a:t>   assuming 50 working weeks</a:t>
            </a:r>
          </a:p>
        </p:txBody>
      </p:sp>
      <p:sp>
        <p:nvSpPr>
          <p:cNvPr id="11" name="TextBox 10"/>
          <p:cNvSpPr txBox="1"/>
          <p:nvPr/>
        </p:nvSpPr>
        <p:spPr>
          <a:xfrm>
            <a:off x="356616" y="4315968"/>
            <a:ext cx="6675120" cy="256032"/>
          </a:xfrm>
          <a:prstGeom prst="rect">
            <a:avLst/>
          </a:prstGeom>
          <a:noFill/>
        </p:spPr>
        <p:txBody>
          <a:bodyPr wrap="square" lIns="0" tIns="0" rIns="0" bIns="0" anchor="t">
            <a:noAutofit/>
          </a:bodyPr>
          <a:lstStyle/>
          <a:p>
            <a:pPr algn="l">
              <a:spcAft>
                <a:spcPts val="0"/>
              </a:spcAft>
            </a:pPr>
            <a:r>
              <a:rPr sz="1050" b="0" i="1">
                <a:solidFill>
                  <a:srgbClr val="5F6770"/>
                </a:solidFill>
                <a:latin typeface="Arial"/>
              </a:rPr>
              <a:t>1,000 is a scenario size, not an AIA employee count. The pilot tests whether one hour is achievable.</a:t>
            </a:r>
          </a:p>
        </p:txBody>
      </p:sp>
      <p:sp>
        <p:nvSpPr>
          <p:cNvPr id="12" name="Rounded Rectangle 11"/>
          <p:cNvSpPr/>
          <p:nvPr/>
        </p:nvSpPr>
        <p:spPr>
          <a:xfrm>
            <a:off x="7406640" y="1325880"/>
            <a:ext cx="4425696" cy="3291840"/>
          </a:xfrm>
          <a:prstGeom prst="roundRect">
            <a:avLst>
              <a:gd name="adj" fmla="val 2777"/>
            </a:avLst>
          </a:prstGeom>
          <a:solidFill>
            <a:srgbClr val="F4F1EF"/>
          </a:solidFill>
          <a:ln>
            <a:noFill/>
          </a:ln>
        </p:spPr>
        <p:txBody>
          <a:bodyPr rtlCol="0" anchor="ctr"/>
          <a:lstStyle/>
          <a:p>
            <a:pPr algn="ctr"/>
          </a:p>
        </p:txBody>
      </p:sp>
      <p:sp>
        <p:nvSpPr>
          <p:cNvPr id="13" name="TextBox 12"/>
          <p:cNvSpPr txBox="1"/>
          <p:nvPr/>
        </p:nvSpPr>
        <p:spPr>
          <a:xfrm>
            <a:off x="7680960" y="1508760"/>
            <a:ext cx="3877056" cy="292608"/>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Why one hour is a modest assumption</a:t>
            </a:r>
          </a:p>
        </p:txBody>
      </p:sp>
      <p:sp>
        <p:nvSpPr>
          <p:cNvPr id="14" name="TextBox 13"/>
          <p:cNvSpPr txBox="1"/>
          <p:nvPr/>
        </p:nvSpPr>
        <p:spPr>
          <a:xfrm>
            <a:off x="7680960" y="1929384"/>
            <a:ext cx="3877056" cy="292608"/>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40 hours</a:t>
            </a:r>
            <a:r>
              <a:rPr sz="1200" b="0" i="0">
                <a:solidFill>
                  <a:srgbClr val="5F6770"/>
                </a:solidFill>
                <a:latin typeface="Arial"/>
              </a:rPr>
              <a:t>   a working week</a:t>
            </a:r>
          </a:p>
        </p:txBody>
      </p:sp>
      <p:sp>
        <p:nvSpPr>
          <p:cNvPr id="15" name="Rectangle 14"/>
          <p:cNvSpPr/>
          <p:nvPr/>
        </p:nvSpPr>
        <p:spPr>
          <a:xfrm>
            <a:off x="7680960" y="2258568"/>
            <a:ext cx="3877056" cy="201168"/>
          </a:xfrm>
          <a:prstGeom prst="rect">
            <a:avLst/>
          </a:prstGeom>
          <a:solidFill>
            <a:srgbClr val="D3CAC3"/>
          </a:solidFill>
          <a:ln>
            <a:noFill/>
          </a:ln>
        </p:spPr>
        <p:txBody>
          <a:bodyPr rtlCol="0" anchor="ctr"/>
          <a:lstStyle/>
          <a:p>
            <a:pPr algn="ctr"/>
          </a:p>
        </p:txBody>
      </p:sp>
      <p:sp>
        <p:nvSpPr>
          <p:cNvPr id="16" name="TextBox 15"/>
          <p:cNvSpPr txBox="1"/>
          <p:nvPr/>
        </p:nvSpPr>
        <p:spPr>
          <a:xfrm>
            <a:off x="7680960" y="2642616"/>
            <a:ext cx="3877056" cy="292608"/>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~8 hours</a:t>
            </a:r>
            <a:r>
              <a:rPr sz="1200" b="0" i="0">
                <a:solidFill>
                  <a:srgbClr val="5F6770"/>
                </a:solidFill>
                <a:latin typeface="Arial"/>
              </a:rPr>
              <a:t>   looking for information or colleagues¹</a:t>
            </a:r>
          </a:p>
        </p:txBody>
      </p:sp>
      <p:sp>
        <p:nvSpPr>
          <p:cNvPr id="17" name="Rectangle 16"/>
          <p:cNvSpPr/>
          <p:nvPr/>
        </p:nvSpPr>
        <p:spPr>
          <a:xfrm>
            <a:off x="7680960" y="2971800"/>
            <a:ext cx="775411" cy="201168"/>
          </a:xfrm>
          <a:prstGeom prst="rect">
            <a:avLst/>
          </a:prstGeom>
          <a:solidFill>
            <a:srgbClr val="9B928B"/>
          </a:solidFill>
          <a:ln>
            <a:noFill/>
          </a:ln>
        </p:spPr>
        <p:txBody>
          <a:bodyPr rtlCol="0" anchor="ctr"/>
          <a:lstStyle/>
          <a:p>
            <a:pPr algn="ctr"/>
          </a:p>
        </p:txBody>
      </p:sp>
      <p:sp>
        <p:nvSpPr>
          <p:cNvPr id="18" name="TextBox 17"/>
          <p:cNvSpPr txBox="1"/>
          <p:nvPr/>
        </p:nvSpPr>
        <p:spPr>
          <a:xfrm>
            <a:off x="7680960" y="3355848"/>
            <a:ext cx="3877056" cy="292608"/>
          </a:xfrm>
          <a:prstGeom prst="rect">
            <a:avLst/>
          </a:prstGeom>
          <a:noFill/>
        </p:spPr>
        <p:txBody>
          <a:bodyPr wrap="square" lIns="0" tIns="0" rIns="0" bIns="0" anchor="t">
            <a:noAutofit/>
          </a:bodyPr>
          <a:lstStyle/>
          <a:p>
            <a:pPr algn="l">
              <a:spcAft>
                <a:spcPts val="0"/>
              </a:spcAft>
            </a:pPr>
            <a:r>
              <a:rPr sz="1600" b="1" i="0">
                <a:solidFill>
                  <a:srgbClr val="D31145"/>
                </a:solidFill>
                <a:latin typeface="Arial"/>
              </a:rPr>
              <a:t>1 hour</a:t>
            </a:r>
            <a:r>
              <a:rPr sz="1200" b="0" i="0">
                <a:solidFill>
                  <a:srgbClr val="5F6770"/>
                </a:solidFill>
                <a:latin typeface="Arial"/>
              </a:rPr>
              <a:t>   this scenario: 2.5% of the week</a:t>
            </a:r>
          </a:p>
        </p:txBody>
      </p:sp>
      <p:sp>
        <p:nvSpPr>
          <p:cNvPr id="19" name="Rectangle 18"/>
          <p:cNvSpPr/>
          <p:nvPr/>
        </p:nvSpPr>
        <p:spPr>
          <a:xfrm>
            <a:off x="7680960" y="3685032"/>
            <a:ext cx="96926" cy="201168"/>
          </a:xfrm>
          <a:prstGeom prst="rect">
            <a:avLst/>
          </a:prstGeom>
          <a:solidFill>
            <a:srgbClr val="D31145"/>
          </a:solidFill>
          <a:ln>
            <a:noFill/>
          </a:ln>
        </p:spPr>
        <p:txBody>
          <a:bodyPr rtlCol="0" anchor="ctr"/>
          <a:lstStyle/>
          <a:p>
            <a:pPr algn="ctr"/>
          </a:p>
        </p:txBody>
      </p:sp>
      <p:sp>
        <p:nvSpPr>
          <p:cNvPr id="20" name="TextBox 19"/>
          <p:cNvSpPr txBox="1"/>
          <p:nvPr/>
        </p:nvSpPr>
        <p:spPr>
          <a:xfrm>
            <a:off x="7680960" y="4197096"/>
            <a:ext cx="3877056" cy="329184"/>
          </a:xfrm>
          <a:prstGeom prst="rect">
            <a:avLst/>
          </a:prstGeom>
          <a:noFill/>
        </p:spPr>
        <p:txBody>
          <a:bodyPr wrap="square" lIns="0" tIns="0" rIns="0" bIns="0" anchor="t">
            <a:noAutofit/>
          </a:bodyPr>
          <a:lstStyle/>
          <a:p>
            <a:pPr algn="l">
              <a:spcAft>
                <a:spcPts val="0"/>
              </a:spcAft>
            </a:pPr>
            <a:r>
              <a:rPr sz="900" b="0" i="0">
                <a:solidFill>
                  <a:srgbClr val="5F6770"/>
                </a:solidFill>
                <a:latin typeface="Arial"/>
              </a:rPr>
              <a:t>¹ Nearly 20% of the workweek, high-skill knowledge workers. McKinsey Global Institute, The social economy (2012).</a:t>
            </a:r>
          </a:p>
        </p:txBody>
      </p:sp>
      <p:sp>
        <p:nvSpPr>
          <p:cNvPr id="21" name="Rounded Rectangle 20"/>
          <p:cNvSpPr/>
          <p:nvPr/>
        </p:nvSpPr>
        <p:spPr>
          <a:xfrm>
            <a:off x="356616" y="4800600"/>
            <a:ext cx="6812280" cy="841248"/>
          </a:xfrm>
          <a:prstGeom prst="roundRect">
            <a:avLst>
              <a:gd name="adj" fmla="val 8695"/>
            </a:avLst>
          </a:prstGeom>
          <a:solidFill>
            <a:srgbClr val="FBE8ED"/>
          </a:solidFill>
          <a:ln>
            <a:noFill/>
          </a:ln>
        </p:spPr>
        <p:txBody>
          <a:bodyPr rtlCol="0" anchor="ctr"/>
          <a:lstStyle/>
          <a:p>
            <a:pPr algn="ctr"/>
          </a:p>
        </p:txBody>
      </p:sp>
      <p:pic>
        <p:nvPicPr>
          <p:cNvPr id="22" name="Picture 21" descr="LuHeartHandshake_r.png"/>
          <p:cNvPicPr>
            <a:picLocks noChangeAspect="1"/>
          </p:cNvPicPr>
          <p:nvPr/>
        </p:nvPicPr>
        <p:blipFill>
          <a:blip r:embed="rId3"/>
          <a:stretch>
            <a:fillRect/>
          </a:stretch>
        </p:blipFill>
        <p:spPr>
          <a:xfrm>
            <a:off x="548640" y="5056632"/>
            <a:ext cx="329184" cy="329184"/>
          </a:xfrm>
          <a:prstGeom prst="rect">
            <a:avLst/>
          </a:prstGeom>
        </p:spPr>
      </p:pic>
      <p:sp>
        <p:nvSpPr>
          <p:cNvPr id="23" name="TextBox 22"/>
          <p:cNvSpPr txBox="1"/>
          <p:nvPr/>
        </p:nvSpPr>
        <p:spPr>
          <a:xfrm>
            <a:off x="1024128" y="4910328"/>
            <a:ext cx="5989320" cy="237744"/>
          </a:xfrm>
          <a:prstGeom prst="rect">
            <a:avLst/>
          </a:prstGeom>
          <a:noFill/>
        </p:spPr>
        <p:txBody>
          <a:bodyPr wrap="square" lIns="0" tIns="0" rIns="0" bIns="0" anchor="t">
            <a:noAutofit/>
          </a:bodyPr>
          <a:lstStyle/>
          <a:p>
            <a:pPr algn="l">
              <a:spcAft>
                <a:spcPts val="0"/>
              </a:spcAft>
            </a:pPr>
            <a:r>
              <a:rPr sz="1050" b="1" i="0" spc="80">
                <a:solidFill>
                  <a:srgbClr val="D31145"/>
                </a:solidFill>
                <a:latin typeface="Arial"/>
              </a:rPr>
              <a:t>DOUBLE EMPLOYEE VALUE</a:t>
            </a:r>
          </a:p>
        </p:txBody>
      </p:sp>
      <p:sp>
        <p:nvSpPr>
          <p:cNvPr id="24" name="TextBox 23"/>
          <p:cNvSpPr txBox="1"/>
          <p:nvPr/>
        </p:nvSpPr>
        <p:spPr>
          <a:xfrm>
            <a:off x="1024128" y="5148072"/>
            <a:ext cx="5989320"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Capacity for work that needs human judgment, customer understanding, problem-solving and innovation.</a:t>
            </a:r>
          </a:p>
        </p:txBody>
      </p:sp>
      <p:sp>
        <p:nvSpPr>
          <p:cNvPr id="25" name="Rounded Rectangle 24"/>
          <p:cNvSpPr/>
          <p:nvPr/>
        </p:nvSpPr>
        <p:spPr>
          <a:xfrm>
            <a:off x="7406640" y="4800600"/>
            <a:ext cx="4425696" cy="841248"/>
          </a:xfrm>
          <a:prstGeom prst="roundRect">
            <a:avLst>
              <a:gd name="adj" fmla="val 8695"/>
            </a:avLst>
          </a:prstGeom>
          <a:solidFill>
            <a:srgbClr val="FFFFFF"/>
          </a:solidFill>
          <a:ln w="9525">
            <a:solidFill>
              <a:srgbClr val="DDD6D0"/>
            </a:solidFill>
          </a:ln>
        </p:spPr>
        <p:txBody>
          <a:bodyPr rtlCol="0" anchor="ctr"/>
          <a:lstStyle/>
          <a:p>
            <a:pPr algn="ctr"/>
          </a:p>
        </p:txBody>
      </p:sp>
      <p:sp>
        <p:nvSpPr>
          <p:cNvPr id="26" name="TextBox 25"/>
          <p:cNvSpPr txBox="1"/>
          <p:nvPr/>
        </p:nvSpPr>
        <p:spPr>
          <a:xfrm>
            <a:off x="7607808" y="4910328"/>
            <a:ext cx="4069080" cy="237744"/>
          </a:xfrm>
          <a:prstGeom prst="rect">
            <a:avLst/>
          </a:prstGeom>
          <a:noFill/>
        </p:spPr>
        <p:txBody>
          <a:bodyPr wrap="square" lIns="0" tIns="0" rIns="0" bIns="0" anchor="t">
            <a:noAutofit/>
          </a:bodyPr>
          <a:lstStyle/>
          <a:p>
            <a:pPr algn="l">
              <a:spcAft>
                <a:spcPts val="0"/>
              </a:spcAft>
            </a:pPr>
            <a:r>
              <a:rPr sz="1050" b="1" i="0" spc="80">
                <a:solidFill>
                  <a:srgbClr val="5F6770"/>
                </a:solidFill>
                <a:latin typeface="Arial"/>
              </a:rPr>
              <a:t>OPERATIONS VALUE  ·  HYPOTHESIS</a:t>
            </a:r>
          </a:p>
        </p:txBody>
      </p:sp>
      <p:sp>
        <p:nvSpPr>
          <p:cNvPr id="27" name="TextBox 26"/>
          <p:cNvSpPr txBox="1"/>
          <p:nvPr/>
        </p:nvSpPr>
        <p:spPr>
          <a:xfrm>
            <a:off x="7607808" y="5148072"/>
            <a:ext cx="4069080" cy="457200"/>
          </a:xfrm>
          <a:prstGeom prst="rect">
            <a:avLst/>
          </a:prstGeom>
          <a:noFill/>
        </p:spPr>
        <p:txBody>
          <a:bodyPr wrap="square" lIns="0" tIns="0" rIns="0" bIns="0" anchor="t">
            <a:noAutofit/>
          </a:bodyPr>
          <a:lstStyle/>
          <a:p>
            <a:pPr algn="l">
              <a:spcAft>
                <a:spcPts val="0"/>
              </a:spcAft>
            </a:pPr>
            <a:r>
              <a:rPr sz="1150" b="0" i="0">
                <a:solidFill>
                  <a:srgbClr val="333D47"/>
                </a:solidFill>
                <a:latin typeface="Arial"/>
              </a:rPr>
              <a:t>Faster, better-supported back-office work. Any VONB / ANP link to be validated with AIA’s TDA methodology.</a:t>
            </a:r>
          </a:p>
        </p:txBody>
      </p:sp>
      <p:sp>
        <p:nvSpPr>
          <p:cNvPr id="28" name="Slide Number Placeholder"/>
          <p:cNvSpPr>
            <a:spLocks noGrp="1"/>
          </p:cNvSpPr>
          <p:nvPr>
            <p:ph type="sldNum" sz="quarter" idx="4"/>
          </p:nvPr>
        </p:nvSpPr>
        <p:spPr/>
        <p:txBody>
          <a:bodyPr/>
          <a:lstStyle/>
          <a:p>
            <a:fld id="{18A41853-EF22-D446-BDBC-A7CF3FE93503}" type="slidenum">
              <a:rPr lang="en-US"/>
              <a:t>4</a:t>
            </a:fld>
            <a:endParaRPr lang="en-US"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Every new AI capability is a choice: another tool, or a stronger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THE MULTIPLIER</a:t>
            </a:r>
          </a:p>
        </p:txBody>
      </p:sp>
      <p:sp>
        <p:nvSpPr>
          <p:cNvPr id="6" name="Oval 5"/>
          <p:cNvSpPr/>
          <p:nvPr/>
        </p:nvSpPr>
        <p:spPr>
          <a:xfrm>
            <a:off x="882396" y="2651760"/>
            <a:ext cx="868680" cy="868680"/>
          </a:xfrm>
          <a:prstGeom prst="ellipse">
            <a:avLst/>
          </a:prstGeom>
          <a:solidFill>
            <a:srgbClr val="333D47"/>
          </a:solidFill>
          <a:ln>
            <a:noFill/>
          </a:ln>
        </p:spPr>
        <p:txBody>
          <a:bodyPr rtlCol="0" anchor="ctr"/>
          <a:lstStyle/>
          <a:p>
            <a:pPr algn="ctr"/>
          </a:p>
        </p:txBody>
      </p:sp>
      <p:pic>
        <p:nvPicPr>
          <p:cNvPr id="7" name="Picture 6" descr="LuSparkles_w.png"/>
          <p:cNvPicPr>
            <a:picLocks noChangeAspect="1"/>
          </p:cNvPicPr>
          <p:nvPr/>
        </p:nvPicPr>
        <p:blipFill>
          <a:blip r:embed="rId3"/>
          <a:stretch>
            <a:fillRect/>
          </a:stretch>
        </p:blipFill>
        <p:spPr>
          <a:xfrm>
            <a:off x="1082192" y="2851556"/>
            <a:ext cx="469087" cy="469087"/>
          </a:xfrm>
          <a:prstGeom prst="rect">
            <a:avLst/>
          </a:prstGeom>
        </p:spPr>
      </p:pic>
      <p:sp>
        <p:nvSpPr>
          <p:cNvPr id="8" name="TextBox 7"/>
          <p:cNvSpPr txBox="1"/>
          <p:nvPr/>
        </p:nvSpPr>
        <p:spPr>
          <a:xfrm>
            <a:off x="265176" y="3607308"/>
            <a:ext cx="2103120" cy="548640"/>
          </a:xfrm>
          <a:prstGeom prst="rect">
            <a:avLst/>
          </a:prstGeom>
          <a:noFill/>
        </p:spPr>
        <p:txBody>
          <a:bodyPr wrap="square" lIns="0" tIns="0" rIns="0" bIns="0" anchor="t">
            <a:noAutofit/>
          </a:bodyPr>
          <a:lstStyle/>
          <a:p>
            <a:pPr algn="ctr">
              <a:lnSpc>
                <a:spcPct val="95000"/>
              </a:lnSpc>
              <a:spcAft>
                <a:spcPts val="0"/>
              </a:spcAft>
            </a:pPr>
            <a:r>
              <a:rPr sz="1400" b="1" i="0">
                <a:solidFill>
                  <a:srgbClr val="333D47"/>
                </a:solidFill>
                <a:latin typeface="Arial"/>
              </a:rPr>
              <a:t>AIA adds a new AI capability</a:t>
            </a:r>
          </a:p>
        </p:txBody>
      </p:sp>
      <p:sp>
        <p:nvSpPr>
          <p:cNvPr id="9" name="TextBox 8"/>
          <p:cNvSpPr txBox="1"/>
          <p:nvPr/>
        </p:nvSpPr>
        <p:spPr>
          <a:xfrm>
            <a:off x="265176" y="4137660"/>
            <a:ext cx="2103120" cy="502920"/>
          </a:xfrm>
          <a:prstGeom prst="rect">
            <a:avLst/>
          </a:prstGeom>
          <a:noFill/>
        </p:spPr>
        <p:txBody>
          <a:bodyPr wrap="square" lIns="0" tIns="0" rIns="0" bIns="0" anchor="t">
            <a:noAutofit/>
          </a:bodyPr>
          <a:lstStyle/>
          <a:p>
            <a:pPr algn="ctr">
              <a:spcAft>
                <a:spcPts val="0"/>
              </a:spcAft>
            </a:pPr>
            <a:r>
              <a:rPr sz="1150" b="0" i="0">
                <a:solidFill>
                  <a:srgbClr val="5F6770"/>
                </a:solidFill>
                <a:latin typeface="Arial"/>
              </a:rPr>
              <a:t>for example, a tool built by one AIA team</a:t>
            </a:r>
          </a:p>
        </p:txBody>
      </p:sp>
      <p:cxnSp>
        <p:nvCxnSpPr>
          <p:cNvPr id="10" name="Connector 9"/>
          <p:cNvCxnSpPr/>
          <p:nvPr/>
        </p:nvCxnSpPr>
        <p:spPr>
          <a:xfrm>
            <a:off x="1751076" y="3086100"/>
            <a:ext cx="644652" cy="0"/>
          </a:xfrm>
          <a:prstGeom prst="line">
            <a:avLst/>
          </a:prstGeom>
          <a:ln w="22225">
            <a:solidFill>
              <a:srgbClr val="9B928B"/>
            </a:solidFill>
          </a:ln>
        </p:spPr>
      </p:cxnSp>
      <p:cxnSp>
        <p:nvCxnSpPr>
          <p:cNvPr id="11" name="Connector 10"/>
          <p:cNvCxnSpPr/>
          <p:nvPr/>
        </p:nvCxnSpPr>
        <p:spPr>
          <a:xfrm>
            <a:off x="2395728" y="2560320"/>
            <a:ext cx="0" cy="1691640"/>
          </a:xfrm>
          <a:prstGeom prst="line">
            <a:avLst/>
          </a:prstGeom>
          <a:ln w="22225">
            <a:solidFill>
              <a:srgbClr val="9B928B"/>
            </a:solidFill>
          </a:ln>
        </p:spPr>
      </p:cxnSp>
      <p:cxnSp>
        <p:nvCxnSpPr>
          <p:cNvPr id="12" name="Connector 11"/>
          <p:cNvCxnSpPr/>
          <p:nvPr/>
        </p:nvCxnSpPr>
        <p:spPr>
          <a:xfrm>
            <a:off x="2395728" y="2560320"/>
            <a:ext cx="219456" cy="0"/>
          </a:xfrm>
          <a:prstGeom prst="line">
            <a:avLst/>
          </a:prstGeom>
          <a:ln w="22225">
            <a:solidFill>
              <a:srgbClr val="9B928B"/>
            </a:solidFill>
            <a:tailEnd type="triangle" w="med" len="med"/>
          </a:ln>
        </p:spPr>
      </p:cxnSp>
      <p:cxnSp>
        <p:nvCxnSpPr>
          <p:cNvPr id="13" name="Connector 12"/>
          <p:cNvCxnSpPr/>
          <p:nvPr/>
        </p:nvCxnSpPr>
        <p:spPr>
          <a:xfrm>
            <a:off x="2395728" y="4251960"/>
            <a:ext cx="219456" cy="0"/>
          </a:xfrm>
          <a:prstGeom prst="line">
            <a:avLst/>
          </a:prstGeom>
          <a:ln w="22225">
            <a:solidFill>
              <a:srgbClr val="D31145"/>
            </a:solidFill>
            <a:tailEnd type="triangle" w="med" len="med"/>
          </a:ln>
        </p:spPr>
      </p:cxnSp>
      <p:sp>
        <p:nvSpPr>
          <p:cNvPr id="14" name="Rounded Rectangle 13"/>
          <p:cNvSpPr/>
          <p:nvPr/>
        </p:nvSpPr>
        <p:spPr>
          <a:xfrm>
            <a:off x="2651760" y="1828800"/>
            <a:ext cx="9180576" cy="1463040"/>
          </a:xfrm>
          <a:prstGeom prst="roundRect">
            <a:avLst>
              <a:gd name="adj" fmla="val 6250"/>
            </a:avLst>
          </a:prstGeom>
          <a:solidFill>
            <a:srgbClr val="F4F1EF"/>
          </a:solidFill>
          <a:ln>
            <a:noFill/>
          </a:ln>
        </p:spPr>
        <p:txBody>
          <a:bodyPr rtlCol="0" anchor="ctr"/>
          <a:lstStyle/>
          <a:p>
            <a:pPr algn="ctr"/>
          </a:p>
        </p:txBody>
      </p:sp>
      <p:sp>
        <p:nvSpPr>
          <p:cNvPr id="15" name="TextBox 14"/>
          <p:cNvSpPr txBox="1"/>
          <p:nvPr/>
        </p:nvSpPr>
        <p:spPr>
          <a:xfrm>
            <a:off x="2880360" y="1975104"/>
            <a:ext cx="6400800" cy="237744"/>
          </a:xfrm>
          <a:prstGeom prst="rect">
            <a:avLst/>
          </a:prstGeom>
          <a:noFill/>
        </p:spPr>
        <p:txBody>
          <a:bodyPr wrap="square" lIns="0" tIns="0" rIns="0" bIns="0" anchor="t">
            <a:noAutofit/>
          </a:bodyPr>
          <a:lstStyle/>
          <a:p>
            <a:pPr algn="l">
              <a:spcAft>
                <a:spcPts val="0"/>
              </a:spcAft>
            </a:pPr>
            <a:r>
              <a:rPr sz="1150" b="1" i="0" spc="100">
                <a:solidFill>
                  <a:srgbClr val="5F6770"/>
                </a:solidFill>
                <a:latin typeface="Arial"/>
              </a:rPr>
              <a:t>RELEASED AS ANOTHER SEPARATE TOOL</a:t>
            </a:r>
          </a:p>
        </p:txBody>
      </p:sp>
      <p:sp>
        <p:nvSpPr>
          <p:cNvPr id="16" name="Rounded Rectangle 15"/>
          <p:cNvSpPr/>
          <p:nvPr/>
        </p:nvSpPr>
        <p:spPr>
          <a:xfrm>
            <a:off x="2880360"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screen to find and learn</a:t>
            </a:r>
          </a:p>
        </p:txBody>
      </p:sp>
      <p:cxnSp>
        <p:nvCxnSpPr>
          <p:cNvPr id="17" name="Connector 16"/>
          <p:cNvCxnSpPr/>
          <p:nvPr/>
        </p:nvCxnSpPr>
        <p:spPr>
          <a:xfrm>
            <a:off x="5029200" y="2697480"/>
            <a:ext cx="237744" cy="0"/>
          </a:xfrm>
          <a:prstGeom prst="line">
            <a:avLst/>
          </a:prstGeom>
          <a:ln w="19050">
            <a:solidFill>
              <a:srgbClr val="9B928B"/>
            </a:solidFill>
            <a:tailEnd type="triangle" w="med" len="med"/>
          </a:ln>
        </p:spPr>
      </p:cxnSp>
      <p:sp>
        <p:nvSpPr>
          <p:cNvPr id="18" name="Rounded Rectangle 17"/>
          <p:cNvSpPr/>
          <p:nvPr/>
        </p:nvSpPr>
        <p:spPr>
          <a:xfrm>
            <a:off x="5312664"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Its own rollout and adoption effort</a:t>
            </a:r>
          </a:p>
        </p:txBody>
      </p:sp>
      <p:cxnSp>
        <p:nvCxnSpPr>
          <p:cNvPr id="19" name="Connector 18"/>
          <p:cNvCxnSpPr/>
          <p:nvPr/>
        </p:nvCxnSpPr>
        <p:spPr>
          <a:xfrm>
            <a:off x="7461504" y="2697480"/>
            <a:ext cx="237744" cy="0"/>
          </a:xfrm>
          <a:prstGeom prst="line">
            <a:avLst/>
          </a:prstGeom>
          <a:ln w="19050">
            <a:solidFill>
              <a:srgbClr val="9B928B"/>
            </a:solidFill>
            <a:tailEnd type="triangle" w="med" len="med"/>
          </a:ln>
        </p:spPr>
      </p:cxnSp>
      <p:sp>
        <p:nvSpPr>
          <p:cNvPr id="20" name="Rounded Rectangle 19"/>
          <p:cNvSpPr/>
          <p:nvPr/>
        </p:nvSpPr>
        <p:spPr>
          <a:xfrm>
            <a:off x="7744968" y="2304288"/>
            <a:ext cx="2103120" cy="786384"/>
          </a:xfrm>
          <a:prstGeom prst="roundRect">
            <a:avLst>
              <a:gd name="adj" fmla="val 9302"/>
            </a:avLst>
          </a:prstGeom>
          <a:solidFill>
            <a:srgbClr val="FFFFFF"/>
          </a:solidFill>
          <a:ln w="9525">
            <a:solidFill>
              <a:srgbClr val="DDD6D0"/>
            </a:solidFill>
          </a:ln>
        </p:spPr>
        <p:txBody>
          <a:bodyPr rtlCol="0" anchor="ctr" wrap="square" tIns="36576" bIns="36576">
            <a:noAutofit/>
          </a:bodyPr>
          <a:lstStyle/>
          <a:p>
            <a:pPr algn="ctr">
              <a:spcAft>
                <a:spcPts val="0"/>
              </a:spcAft>
            </a:pPr>
            <a:r>
              <a:rPr sz="1250" b="0" i="0">
                <a:solidFill>
                  <a:srgbClr val="333D47"/>
                </a:solidFill>
                <a:latin typeface="Arial"/>
              </a:rPr>
              <a:t>Employees combine the outputs by hand</a:t>
            </a:r>
          </a:p>
        </p:txBody>
      </p:sp>
      <p:pic>
        <p:nvPicPr>
          <p:cNvPr id="21" name="Picture 20" descr="LuAppWindow_c.png"/>
          <p:cNvPicPr>
            <a:picLocks noChangeAspect="1"/>
          </p:cNvPicPr>
          <p:nvPr/>
        </p:nvPicPr>
        <p:blipFill>
          <a:blip r:embed="rId4"/>
          <a:stretch>
            <a:fillRect/>
          </a:stretch>
        </p:blipFill>
        <p:spPr>
          <a:xfrm>
            <a:off x="10122408" y="2304288"/>
            <a:ext cx="292608" cy="292608"/>
          </a:xfrm>
          <a:prstGeom prst="rect">
            <a:avLst/>
          </a:prstGeom>
        </p:spPr>
      </p:pic>
      <p:pic>
        <p:nvPicPr>
          <p:cNvPr id="22" name="Picture 21" descr="LuAppWindow_c.png"/>
          <p:cNvPicPr>
            <a:picLocks noChangeAspect="1"/>
          </p:cNvPicPr>
          <p:nvPr/>
        </p:nvPicPr>
        <p:blipFill>
          <a:blip r:embed="rId4"/>
          <a:stretch>
            <a:fillRect/>
          </a:stretch>
        </p:blipFill>
        <p:spPr>
          <a:xfrm>
            <a:off x="10506456" y="2304288"/>
            <a:ext cx="292608" cy="292608"/>
          </a:xfrm>
          <a:prstGeom prst="rect">
            <a:avLst/>
          </a:prstGeom>
        </p:spPr>
      </p:pic>
      <p:pic>
        <p:nvPicPr>
          <p:cNvPr id="23" name="Picture 22" descr="LuAppWindow_c.png"/>
          <p:cNvPicPr>
            <a:picLocks noChangeAspect="1"/>
          </p:cNvPicPr>
          <p:nvPr/>
        </p:nvPicPr>
        <p:blipFill>
          <a:blip r:embed="rId4"/>
          <a:stretch>
            <a:fillRect/>
          </a:stretch>
        </p:blipFill>
        <p:spPr>
          <a:xfrm>
            <a:off x="10890504" y="2304288"/>
            <a:ext cx="292608" cy="292608"/>
          </a:xfrm>
          <a:prstGeom prst="rect">
            <a:avLst/>
          </a:prstGeom>
        </p:spPr>
      </p:pic>
      <p:pic>
        <p:nvPicPr>
          <p:cNvPr id="24" name="Picture 23" descr="LuAppWindow_c.png"/>
          <p:cNvPicPr>
            <a:picLocks noChangeAspect="1"/>
          </p:cNvPicPr>
          <p:nvPr/>
        </p:nvPicPr>
        <p:blipFill>
          <a:blip r:embed="rId4"/>
          <a:stretch>
            <a:fillRect/>
          </a:stretch>
        </p:blipFill>
        <p:spPr>
          <a:xfrm>
            <a:off x="11274552" y="2304288"/>
            <a:ext cx="292608" cy="292608"/>
          </a:xfrm>
          <a:prstGeom prst="rect">
            <a:avLst/>
          </a:prstGeom>
        </p:spPr>
      </p:pic>
      <p:sp>
        <p:nvSpPr>
          <p:cNvPr id="25" name="TextBox 24"/>
          <p:cNvSpPr txBox="1"/>
          <p:nvPr/>
        </p:nvSpPr>
        <p:spPr>
          <a:xfrm>
            <a:off x="10122408" y="272491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333D47"/>
                </a:solidFill>
                <a:latin typeface="Arial"/>
              </a:rPr>
              <a:t>Another tool for employees to learn</a:t>
            </a:r>
          </a:p>
        </p:txBody>
      </p:sp>
      <p:sp>
        <p:nvSpPr>
          <p:cNvPr id="26" name="Rounded Rectangle 25"/>
          <p:cNvSpPr/>
          <p:nvPr/>
        </p:nvSpPr>
        <p:spPr>
          <a:xfrm>
            <a:off x="2651760" y="3520440"/>
            <a:ext cx="9180576" cy="1463040"/>
          </a:xfrm>
          <a:prstGeom prst="roundRect">
            <a:avLst>
              <a:gd name="adj" fmla="val 6250"/>
            </a:avLst>
          </a:prstGeom>
          <a:solidFill>
            <a:srgbClr val="FBE8ED"/>
          </a:solidFill>
          <a:ln>
            <a:noFill/>
          </a:ln>
        </p:spPr>
        <p:txBody>
          <a:bodyPr rtlCol="0" anchor="ctr"/>
          <a:lstStyle/>
          <a:p>
            <a:pPr algn="ctr"/>
          </a:p>
        </p:txBody>
      </p:sp>
      <p:sp>
        <p:nvSpPr>
          <p:cNvPr id="27" name="TextBox 26"/>
          <p:cNvSpPr txBox="1"/>
          <p:nvPr/>
        </p:nvSpPr>
        <p:spPr>
          <a:xfrm>
            <a:off x="2880360" y="3666744"/>
            <a:ext cx="6400800"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CONNECTED TO RILEY AS AN APPROVED CAPABILITY</a:t>
            </a:r>
          </a:p>
        </p:txBody>
      </p:sp>
      <p:sp>
        <p:nvSpPr>
          <p:cNvPr id="28" name="Rounded Rectangle 27"/>
          <p:cNvSpPr/>
          <p:nvPr/>
        </p:nvSpPr>
        <p:spPr>
          <a:xfrm>
            <a:off x="2880360"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Connected once, with technical and governance work</a:t>
            </a:r>
          </a:p>
        </p:txBody>
      </p:sp>
      <p:cxnSp>
        <p:nvCxnSpPr>
          <p:cNvPr id="29" name="Connector 28"/>
          <p:cNvCxnSpPr/>
          <p:nvPr/>
        </p:nvCxnSpPr>
        <p:spPr>
          <a:xfrm>
            <a:off x="5029200" y="4389120"/>
            <a:ext cx="237744" cy="0"/>
          </a:xfrm>
          <a:prstGeom prst="line">
            <a:avLst/>
          </a:prstGeom>
          <a:ln w="19050">
            <a:solidFill>
              <a:srgbClr val="D31145"/>
            </a:solidFill>
            <a:tailEnd type="triangle" w="med" len="med"/>
          </a:ln>
        </p:spPr>
      </p:cxnSp>
      <p:sp>
        <p:nvSpPr>
          <p:cNvPr id="30" name="Rounded Rectangle 29"/>
          <p:cNvSpPr/>
          <p:nvPr/>
        </p:nvSpPr>
        <p:spPr>
          <a:xfrm>
            <a:off x="5312664"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Reached through the same Riley conversation</a:t>
            </a:r>
          </a:p>
        </p:txBody>
      </p:sp>
      <p:cxnSp>
        <p:nvCxnSpPr>
          <p:cNvPr id="31" name="Connector 30"/>
          <p:cNvCxnSpPr/>
          <p:nvPr/>
        </p:nvCxnSpPr>
        <p:spPr>
          <a:xfrm>
            <a:off x="7461504" y="4389120"/>
            <a:ext cx="237744" cy="0"/>
          </a:xfrm>
          <a:prstGeom prst="line">
            <a:avLst/>
          </a:prstGeom>
          <a:ln w="19050">
            <a:solidFill>
              <a:srgbClr val="D31145"/>
            </a:solidFill>
            <a:tailEnd type="triangle" w="med" len="med"/>
          </a:ln>
        </p:spPr>
      </p:cxnSp>
      <p:sp>
        <p:nvSpPr>
          <p:cNvPr id="32" name="Rounded Rectangle 31"/>
          <p:cNvSpPr/>
          <p:nvPr/>
        </p:nvSpPr>
        <p:spPr>
          <a:xfrm>
            <a:off x="7744968" y="3995928"/>
            <a:ext cx="2103120" cy="786384"/>
          </a:xfrm>
          <a:prstGeom prst="roundRect">
            <a:avLst>
              <a:gd name="adj" fmla="val 9302"/>
            </a:avLst>
          </a:prstGeom>
          <a:solidFill>
            <a:srgbClr val="FFFFFF"/>
          </a:solidFill>
          <a:ln w="9525">
            <a:solidFill>
              <a:srgbClr val="F2B6C6"/>
            </a:solidFill>
          </a:ln>
        </p:spPr>
        <p:txBody>
          <a:bodyPr rtlCol="0" anchor="ctr" wrap="square" tIns="36576" bIns="36576">
            <a:noAutofit/>
          </a:bodyPr>
          <a:lstStyle/>
          <a:p>
            <a:pPr algn="ctr">
              <a:spcAft>
                <a:spcPts val="0"/>
              </a:spcAft>
            </a:pPr>
            <a:r>
              <a:rPr sz="1250" b="0" i="0">
                <a:solidFill>
                  <a:srgbClr val="333D47"/>
                </a:solidFill>
                <a:latin typeface="Arial"/>
              </a:rPr>
              <a:t>Riley can use it alongside what is already connected</a:t>
            </a:r>
          </a:p>
        </p:txBody>
      </p:sp>
      <p:sp>
        <p:nvSpPr>
          <p:cNvPr id="33" name="Oval 32"/>
          <p:cNvSpPr/>
          <p:nvPr/>
        </p:nvSpPr>
        <p:spPr>
          <a:xfrm>
            <a:off x="10122408" y="3950208"/>
            <a:ext cx="384048" cy="384048"/>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34" name="Oval 33"/>
          <p:cNvSpPr/>
          <p:nvPr/>
        </p:nvSpPr>
        <p:spPr>
          <a:xfrm>
            <a:off x="10597896" y="3995928"/>
            <a:ext cx="292608" cy="292608"/>
          </a:xfrm>
          <a:prstGeom prst="ellipse">
            <a:avLst/>
          </a:prstGeom>
          <a:solidFill>
            <a:srgbClr val="FFFFFF"/>
          </a:solidFill>
          <a:ln w="15875">
            <a:solidFill>
              <a:srgbClr val="D31145"/>
            </a:solidFill>
          </a:ln>
        </p:spPr>
        <p:txBody>
          <a:bodyPr rtlCol="0" anchor="ctr" wrap="square" lIns="0" tIns="0" rIns="0" bIns="0">
            <a:noAutofit/>
          </a:bodyPr>
          <a:lstStyle/>
          <a:p>
            <a:pPr algn="ctr">
              <a:spcAft>
                <a:spcPts val="0"/>
              </a:spcAft>
            </a:pPr>
            <a:r>
              <a:rPr sz="1400" b="1" i="0">
                <a:solidFill>
                  <a:srgbClr val="D31145"/>
                </a:solidFill>
                <a:latin typeface="Arial"/>
              </a:rPr>
              <a:t>+</a:t>
            </a:r>
          </a:p>
        </p:txBody>
      </p:sp>
      <p:sp>
        <p:nvSpPr>
          <p:cNvPr id="35" name="TextBox 34"/>
          <p:cNvSpPr txBox="1"/>
          <p:nvPr/>
        </p:nvSpPr>
        <p:spPr>
          <a:xfrm>
            <a:off x="10122408" y="4416552"/>
            <a:ext cx="1527048" cy="457200"/>
          </a:xfrm>
          <a:prstGeom prst="rect">
            <a:avLst/>
          </a:prstGeom>
          <a:noFill/>
        </p:spPr>
        <p:txBody>
          <a:bodyPr wrap="square" lIns="0" tIns="0" rIns="0" bIns="0" anchor="t">
            <a:noAutofit/>
          </a:bodyPr>
          <a:lstStyle/>
          <a:p>
            <a:pPr algn="l">
              <a:lnSpc>
                <a:spcPct val="95000"/>
              </a:lnSpc>
              <a:spcAft>
                <a:spcPts val="0"/>
              </a:spcAft>
            </a:pPr>
            <a:r>
              <a:rPr sz="1300" b="1" i="0">
                <a:solidFill>
                  <a:srgbClr val="D31145"/>
                </a:solidFill>
                <a:latin typeface="Arial"/>
              </a:rPr>
              <a:t>The same Riley can do more</a:t>
            </a:r>
          </a:p>
        </p:txBody>
      </p:sp>
      <p:sp>
        <p:nvSpPr>
          <p:cNvPr id="36" name="Rounded Rectangle 35"/>
          <p:cNvSpPr/>
          <p:nvPr/>
        </p:nvSpPr>
        <p:spPr>
          <a:xfrm>
            <a:off x="356616" y="5166360"/>
            <a:ext cx="5632704" cy="566928"/>
          </a:xfrm>
          <a:prstGeom prst="roundRect">
            <a:avLst>
              <a:gd name="adj" fmla="val 12903"/>
            </a:avLst>
          </a:prstGeom>
          <a:solidFill>
            <a:srgbClr val="FFFFFF"/>
          </a:solidFill>
          <a:ln w="9525">
            <a:solidFill>
              <a:srgbClr val="DDD6D0"/>
            </a:solidFill>
          </a:ln>
        </p:spPr>
        <p:txBody>
          <a:bodyPr rtlCol="0" anchor="ctr"/>
          <a:lstStyle/>
          <a:p>
            <a:pPr algn="ctr"/>
          </a:p>
        </p:txBody>
      </p:sp>
      <p:pic>
        <p:nvPicPr>
          <p:cNvPr id="37" name="Picture 36" descr="LuPlug_c.png"/>
          <p:cNvPicPr>
            <a:picLocks noChangeAspect="1"/>
          </p:cNvPicPr>
          <p:nvPr/>
        </p:nvPicPr>
        <p:blipFill>
          <a:blip r:embed="rId5"/>
          <a:stretch>
            <a:fillRect/>
          </a:stretch>
        </p:blipFill>
        <p:spPr>
          <a:xfrm>
            <a:off x="502920" y="5303520"/>
            <a:ext cx="292608" cy="292608"/>
          </a:xfrm>
          <a:prstGeom prst="rect">
            <a:avLst/>
          </a:prstGeom>
        </p:spPr>
      </p:pic>
      <p:sp>
        <p:nvSpPr>
          <p:cNvPr id="38" name="TextBox 37"/>
          <p:cNvSpPr txBox="1"/>
          <p:nvPr/>
        </p:nvSpPr>
        <p:spPr>
          <a:xfrm>
            <a:off x="914400" y="5166360"/>
            <a:ext cx="4983480" cy="56692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Not automatic or free. </a:t>
            </a:r>
            <a:r>
              <a:rPr sz="1200" b="0" i="0">
                <a:solidFill>
                  <a:srgbClr val="333D47"/>
                </a:solidFill>
                <a:latin typeface="Arial"/>
              </a:rPr>
              <a:t>Every connection needs technical and governance work, and must be useful to the people using Riley.</a:t>
            </a:r>
          </a:p>
        </p:txBody>
      </p:sp>
      <p:sp>
        <p:nvSpPr>
          <p:cNvPr id="39" name="Rounded Rectangle 38"/>
          <p:cNvSpPr/>
          <p:nvPr/>
        </p:nvSpPr>
        <p:spPr>
          <a:xfrm>
            <a:off x="6199632" y="5166360"/>
            <a:ext cx="5632704" cy="566928"/>
          </a:xfrm>
          <a:prstGeom prst="roundRect">
            <a:avLst>
              <a:gd name="adj" fmla="val 12903"/>
            </a:avLst>
          </a:prstGeom>
          <a:solidFill>
            <a:srgbClr val="FFFFFF"/>
          </a:solidFill>
          <a:ln w="9525">
            <a:solidFill>
              <a:srgbClr val="F2B6C6"/>
            </a:solidFill>
          </a:ln>
        </p:spPr>
        <p:txBody>
          <a:bodyPr rtlCol="0" anchor="ctr"/>
          <a:lstStyle/>
          <a:p>
            <a:pPr algn="ctr"/>
          </a:p>
        </p:txBody>
      </p:sp>
      <p:pic>
        <p:nvPicPr>
          <p:cNvPr id="40" name="Picture 39" descr="LuTrendingUp_r.png"/>
          <p:cNvPicPr>
            <a:picLocks noChangeAspect="1"/>
          </p:cNvPicPr>
          <p:nvPr/>
        </p:nvPicPr>
        <p:blipFill>
          <a:blip r:embed="rId6"/>
          <a:stretch>
            <a:fillRect/>
          </a:stretch>
        </p:blipFill>
        <p:spPr>
          <a:xfrm>
            <a:off x="6345936" y="5303520"/>
            <a:ext cx="292608" cy="292608"/>
          </a:xfrm>
          <a:prstGeom prst="rect">
            <a:avLst/>
          </a:prstGeom>
        </p:spPr>
      </p:pic>
      <p:sp>
        <p:nvSpPr>
          <p:cNvPr id="41" name="TextBox 40"/>
          <p:cNvSpPr txBox="1"/>
          <p:nvPr/>
        </p:nvSpPr>
        <p:spPr>
          <a:xfrm>
            <a:off x="6757416" y="5166360"/>
            <a:ext cx="4937760" cy="56692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What grows: </a:t>
            </a:r>
            <a:r>
              <a:rPr sz="1200" b="0" i="0">
                <a:solidFill>
                  <a:srgbClr val="333D47"/>
                </a:solidFill>
                <a:latin typeface="Arial"/>
              </a:rPr>
              <a:t>each approved connection can expand what Riley can do through the same employee experience. Not a formula.</a:t>
            </a:r>
          </a:p>
        </p:txBody>
      </p:sp>
      <p:sp>
        <p:nvSpPr>
          <p:cNvPr id="42" name="Slide Number Placeholder"/>
          <p:cNvSpPr>
            <a:spLocks noGrp="1"/>
          </p:cNvSpPr>
          <p:nvPr>
            <p:ph type="sldNum" sz="quarter" idx="4"/>
          </p:nvPr>
        </p:nvSpPr>
        <p:spPr/>
        <p:txBody>
          <a:bodyPr/>
          <a:lstStyle/>
          <a:p>
            <a:fld id="{18A41853-EF22-D446-BDBC-A7CF3FE93503}" type="slidenum">
              <a:rPr lang="en-US"/>
              <a:t>5</a:t>
            </a:fld>
            <a:endParaRPr lang="en-US"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Copilot could be the engine. Riley is AIA’s AI coworker.</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CREATIVITY  ·  ISN’T THIS JUST COPILOT?</a:t>
            </a:r>
          </a:p>
        </p:txBody>
      </p:sp>
      <p:sp>
        <p:nvSpPr>
          <p:cNvPr id="6" name="TextBox 5"/>
          <p:cNvSpPr txBox="1"/>
          <p:nvPr/>
        </p:nvSpPr>
        <p:spPr>
          <a:xfrm>
            <a:off x="356616" y="1024128"/>
            <a:ext cx="11155680" cy="566928"/>
          </a:xfrm>
          <a:prstGeom prst="rect">
            <a:avLst/>
          </a:prstGeom>
          <a:noFill/>
        </p:spPr>
        <p:txBody>
          <a:bodyPr wrap="square" lIns="0" tIns="0" rIns="0" bIns="0" anchor="t">
            <a:noAutofit/>
          </a:bodyPr>
          <a:lstStyle/>
          <a:p>
            <a:pPr algn="l">
              <a:lnSpc>
                <a:spcPct val="100000"/>
              </a:lnSpc>
              <a:spcAft>
                <a:spcPts val="0"/>
              </a:spcAft>
            </a:pPr>
            <a:r>
              <a:rPr sz="1500" b="0" i="0">
                <a:solidFill>
                  <a:srgbClr val="5F6770"/>
                </a:solidFill>
                <a:latin typeface="Arial"/>
              </a:rPr>
              <a:t>Copilot or another enterprise AI platform could power Riley’s intelligence. Riley combines it with AIA’s data, systems, tools and controls to do real AIA work.</a:t>
            </a:r>
          </a:p>
        </p:txBody>
      </p:sp>
      <p:sp>
        <p:nvSpPr>
          <p:cNvPr id="7" name="Rounded Rectangle 6"/>
          <p:cNvSpPr/>
          <p:nvPr/>
        </p:nvSpPr>
        <p:spPr>
          <a:xfrm>
            <a:off x="356616" y="1755648"/>
            <a:ext cx="7498080" cy="420624"/>
          </a:xfrm>
          <a:prstGeom prst="roundRect">
            <a:avLst>
              <a:gd name="adj" fmla="val 17391"/>
            </a:avLst>
          </a:prstGeom>
          <a:solidFill>
            <a:srgbClr val="FFFFFF"/>
          </a:solidFill>
          <a:ln w="12700">
            <a:solidFill>
              <a:srgbClr val="DDD6D0"/>
            </a:solidFill>
          </a:ln>
        </p:spPr>
        <p:txBody>
          <a:bodyPr rtlCol="0" anchor="ctr"/>
          <a:lstStyle/>
          <a:p>
            <a:pPr algn="ctr"/>
          </a:p>
        </p:txBody>
      </p:sp>
      <p:pic>
        <p:nvPicPr>
          <p:cNvPr id="8" name="Picture 7" descr="LuUser_c.png"/>
          <p:cNvPicPr>
            <a:picLocks noChangeAspect="1"/>
          </p:cNvPicPr>
          <p:nvPr/>
        </p:nvPicPr>
        <p:blipFill>
          <a:blip r:embed="rId3"/>
          <a:stretch>
            <a:fillRect/>
          </a:stretch>
        </p:blipFill>
        <p:spPr>
          <a:xfrm>
            <a:off x="539496" y="1819656"/>
            <a:ext cx="274320" cy="274320"/>
          </a:xfrm>
          <a:prstGeom prst="rect">
            <a:avLst/>
          </a:prstGeom>
        </p:spPr>
      </p:pic>
      <p:sp>
        <p:nvSpPr>
          <p:cNvPr id="9" name="TextBox 8"/>
          <p:cNvSpPr txBox="1"/>
          <p:nvPr/>
        </p:nvSpPr>
        <p:spPr>
          <a:xfrm>
            <a:off x="950976" y="1755648"/>
            <a:ext cx="6766560" cy="420624"/>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a:t>
            </a:r>
            <a:r>
              <a:rPr sz="1350" b="0" i="0">
                <a:solidFill>
                  <a:srgbClr val="333D47"/>
                </a:solidFill>
                <a:latin typeface="Arial"/>
              </a:rPr>
              <a:t>   asks for outcomes in Teams, reviews and approves</a:t>
            </a:r>
          </a:p>
        </p:txBody>
      </p:sp>
      <p:cxnSp>
        <p:nvCxnSpPr>
          <p:cNvPr id="10" name="Connector 9"/>
          <p:cNvCxnSpPr/>
          <p:nvPr/>
        </p:nvCxnSpPr>
        <p:spPr>
          <a:xfrm>
            <a:off x="4105656" y="2176272"/>
            <a:ext cx="0" cy="109728"/>
          </a:xfrm>
          <a:prstGeom prst="line">
            <a:avLst/>
          </a:prstGeom>
          <a:ln w="25400">
            <a:solidFill>
              <a:srgbClr val="D31145"/>
            </a:solidFill>
          </a:ln>
        </p:spPr>
      </p:cxnSp>
      <p:sp>
        <p:nvSpPr>
          <p:cNvPr id="11" name="Rounded Rectangle 10"/>
          <p:cNvSpPr/>
          <p:nvPr/>
        </p:nvSpPr>
        <p:spPr>
          <a:xfrm>
            <a:off x="356616" y="2286000"/>
            <a:ext cx="7498080" cy="2395728"/>
          </a:xfrm>
          <a:prstGeom prst="roundRect">
            <a:avLst>
              <a:gd name="adj" fmla="val 4580"/>
            </a:avLst>
          </a:prstGeom>
          <a:solidFill>
            <a:srgbClr val="FBE8ED"/>
          </a:solidFill>
          <a:ln w="25400">
            <a:solidFill>
              <a:srgbClr val="D31145"/>
            </a:solidFill>
          </a:ln>
        </p:spPr>
        <p:txBody>
          <a:bodyPr rtlCol="0" anchor="ctr"/>
          <a:lstStyle/>
          <a:p>
            <a:pPr algn="ctr"/>
          </a:p>
        </p:txBody>
      </p:sp>
      <p:sp>
        <p:nvSpPr>
          <p:cNvPr id="12" name="Oval 11"/>
          <p:cNvSpPr/>
          <p:nvPr/>
        </p:nvSpPr>
        <p:spPr>
          <a:xfrm>
            <a:off x="557784" y="2414016"/>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300" b="1" i="0">
                <a:solidFill>
                  <a:srgbClr val="FFFFFF"/>
                </a:solidFill>
                <a:latin typeface="Arial"/>
              </a:rPr>
              <a:t>R</a:t>
            </a:r>
          </a:p>
        </p:txBody>
      </p:sp>
      <p:sp>
        <p:nvSpPr>
          <p:cNvPr id="13" name="TextBox 12"/>
          <p:cNvSpPr txBox="1"/>
          <p:nvPr/>
        </p:nvSpPr>
        <p:spPr>
          <a:xfrm>
            <a:off x="996696" y="2414016"/>
            <a:ext cx="5486400" cy="329184"/>
          </a:xfrm>
          <a:prstGeom prst="rect">
            <a:avLst/>
          </a:prstGeom>
          <a:noFill/>
        </p:spPr>
        <p:txBody>
          <a:bodyPr wrap="square" lIns="0" tIns="0" rIns="0" bIns="0" anchor="ctr">
            <a:noAutofit/>
          </a:bodyPr>
          <a:lstStyle/>
          <a:p>
            <a:pPr algn="l">
              <a:spcAft>
                <a:spcPts val="0"/>
              </a:spcAft>
            </a:pPr>
            <a:r>
              <a:rPr sz="1350" b="1" i="0" spc="100">
                <a:solidFill>
                  <a:srgbClr val="D31145"/>
                </a:solidFill>
                <a:latin typeface="Arial"/>
              </a:rPr>
              <a:t>RILEY</a:t>
            </a:r>
            <a:r>
              <a:rPr sz="1350" b="1" i="0">
                <a:solidFill>
                  <a:srgbClr val="D31145"/>
                </a:solidFill>
                <a:latin typeface="Arial"/>
              </a:rPr>
              <a:t>   AIA’s AI coworker</a:t>
            </a:r>
          </a:p>
        </p:txBody>
      </p:sp>
      <p:sp>
        <p:nvSpPr>
          <p:cNvPr id="14" name="Rounded Rectangle 13"/>
          <p:cNvSpPr/>
          <p:nvPr/>
        </p:nvSpPr>
        <p:spPr>
          <a:xfrm>
            <a:off x="557784" y="2889504"/>
            <a:ext cx="2926080" cy="1627632"/>
          </a:xfrm>
          <a:prstGeom prst="roundRect">
            <a:avLst>
              <a:gd name="adj" fmla="val 4494"/>
            </a:avLst>
          </a:prstGeom>
          <a:solidFill>
            <a:srgbClr val="FFFFFF"/>
          </a:solidFill>
          <a:ln w="9525">
            <a:solidFill>
              <a:srgbClr val="DDD6D0"/>
            </a:solidFill>
          </a:ln>
        </p:spPr>
        <p:txBody>
          <a:bodyPr rtlCol="0" anchor="ctr"/>
          <a:lstStyle/>
          <a:p>
            <a:pPr algn="ctr"/>
          </a:p>
        </p:txBody>
      </p:sp>
      <p:pic>
        <p:nvPicPr>
          <p:cNvPr id="15" name="Picture 14" descr="LuBrainCircuit_c.png"/>
          <p:cNvPicPr>
            <a:picLocks noChangeAspect="1"/>
          </p:cNvPicPr>
          <p:nvPr/>
        </p:nvPicPr>
        <p:blipFill>
          <a:blip r:embed="rId4"/>
          <a:stretch>
            <a:fillRect/>
          </a:stretch>
        </p:blipFill>
        <p:spPr>
          <a:xfrm>
            <a:off x="740664" y="3054096"/>
            <a:ext cx="384048" cy="384048"/>
          </a:xfrm>
          <a:prstGeom prst="rect">
            <a:avLst/>
          </a:prstGeom>
        </p:spPr>
      </p:pic>
      <p:sp>
        <p:nvSpPr>
          <p:cNvPr id="16" name="TextBox 15"/>
          <p:cNvSpPr txBox="1"/>
          <p:nvPr/>
        </p:nvSpPr>
        <p:spPr>
          <a:xfrm>
            <a:off x="1243584" y="3017520"/>
            <a:ext cx="2103120" cy="219456"/>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THE BRAIN</a:t>
            </a:r>
          </a:p>
        </p:txBody>
      </p:sp>
      <p:sp>
        <p:nvSpPr>
          <p:cNvPr id="17" name="TextBox 16"/>
          <p:cNvSpPr txBox="1"/>
          <p:nvPr/>
        </p:nvSpPr>
        <p:spPr>
          <a:xfrm>
            <a:off x="1243584" y="3236976"/>
            <a:ext cx="2103120" cy="274320"/>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Enterprise AI</a:t>
            </a:r>
          </a:p>
        </p:txBody>
      </p:sp>
      <p:sp>
        <p:nvSpPr>
          <p:cNvPr id="18" name="TextBox 17"/>
          <p:cNvSpPr txBox="1"/>
          <p:nvPr/>
        </p:nvSpPr>
        <p:spPr>
          <a:xfrm>
            <a:off x="740664" y="3639312"/>
            <a:ext cx="2560320" cy="82296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Copilot or another enterprise AI platform. Understands requests, reasons, plans and drafts.</a:t>
            </a:r>
          </a:p>
        </p:txBody>
      </p:sp>
      <p:sp>
        <p:nvSpPr>
          <p:cNvPr id="19" name="TextBox 18"/>
          <p:cNvSpPr txBox="1"/>
          <p:nvPr/>
        </p:nvSpPr>
        <p:spPr>
          <a:xfrm>
            <a:off x="3483864" y="3438144"/>
            <a:ext cx="329184" cy="457200"/>
          </a:xfrm>
          <a:prstGeom prst="rect">
            <a:avLst/>
          </a:prstGeom>
          <a:noFill/>
        </p:spPr>
        <p:txBody>
          <a:bodyPr wrap="square" lIns="0" tIns="0" rIns="0" bIns="0" anchor="ctr">
            <a:noAutofit/>
          </a:bodyPr>
          <a:lstStyle/>
          <a:p>
            <a:pPr algn="ctr">
              <a:spcAft>
                <a:spcPts val="0"/>
              </a:spcAft>
            </a:pPr>
            <a:r>
              <a:rPr sz="2400" b="1" i="0">
                <a:solidFill>
                  <a:srgbClr val="D31145"/>
                </a:solidFill>
                <a:latin typeface="Arial"/>
              </a:rPr>
              <a:t>+</a:t>
            </a:r>
          </a:p>
        </p:txBody>
      </p:sp>
      <p:sp>
        <p:nvSpPr>
          <p:cNvPr id="20" name="Rounded Rectangle 19"/>
          <p:cNvSpPr/>
          <p:nvPr/>
        </p:nvSpPr>
        <p:spPr>
          <a:xfrm>
            <a:off x="3813048" y="2889504"/>
            <a:ext cx="3840480" cy="1627632"/>
          </a:xfrm>
          <a:prstGeom prst="roundRect">
            <a:avLst>
              <a:gd name="adj" fmla="val 4494"/>
            </a:avLst>
          </a:prstGeom>
          <a:solidFill>
            <a:srgbClr val="FFFFFF"/>
          </a:solidFill>
          <a:ln w="9525">
            <a:solidFill>
              <a:srgbClr val="F2B6C6"/>
            </a:solidFill>
          </a:ln>
        </p:spPr>
        <p:txBody>
          <a:bodyPr rtlCol="0" anchor="ctr"/>
          <a:lstStyle/>
          <a:p>
            <a:pPr algn="ctr"/>
          </a:p>
        </p:txBody>
      </p:sp>
      <p:pic>
        <p:nvPicPr>
          <p:cNvPr id="21" name="Picture 20" descr="LuBlocks_r.png"/>
          <p:cNvPicPr>
            <a:picLocks noChangeAspect="1"/>
          </p:cNvPicPr>
          <p:nvPr/>
        </p:nvPicPr>
        <p:blipFill>
          <a:blip r:embed="rId5"/>
          <a:stretch>
            <a:fillRect/>
          </a:stretch>
        </p:blipFill>
        <p:spPr>
          <a:xfrm>
            <a:off x="3995928" y="3054096"/>
            <a:ext cx="384048" cy="384048"/>
          </a:xfrm>
          <a:prstGeom prst="rect">
            <a:avLst/>
          </a:prstGeom>
        </p:spPr>
      </p:pic>
      <p:sp>
        <p:nvSpPr>
          <p:cNvPr id="22" name="TextBox 21"/>
          <p:cNvSpPr txBox="1"/>
          <p:nvPr/>
        </p:nvSpPr>
        <p:spPr>
          <a:xfrm>
            <a:off x="4498848" y="3017520"/>
            <a:ext cx="3017520" cy="219456"/>
          </a:xfrm>
          <a:prstGeom prst="rect">
            <a:avLst/>
          </a:prstGeom>
          <a:noFill/>
        </p:spPr>
        <p:txBody>
          <a:bodyPr wrap="square" lIns="0" tIns="0" rIns="0" bIns="0" anchor="t">
            <a:noAutofit/>
          </a:bodyPr>
          <a:lstStyle/>
          <a:p>
            <a:pPr algn="l">
              <a:spcAft>
                <a:spcPts val="0"/>
              </a:spcAft>
            </a:pPr>
            <a:r>
              <a:rPr sz="1050" b="1" i="0" spc="100">
                <a:solidFill>
                  <a:srgbClr val="D31145"/>
                </a:solidFill>
                <a:latin typeface="Arial"/>
              </a:rPr>
              <a:t>THE HANDS</a:t>
            </a:r>
          </a:p>
        </p:txBody>
      </p:sp>
      <p:sp>
        <p:nvSpPr>
          <p:cNvPr id="23" name="TextBox 22"/>
          <p:cNvSpPr txBox="1"/>
          <p:nvPr/>
        </p:nvSpPr>
        <p:spPr>
          <a:xfrm>
            <a:off x="4498848" y="3236976"/>
            <a:ext cx="3017520" cy="274320"/>
          </a:xfrm>
          <a:prstGeom prst="rect">
            <a:avLst/>
          </a:prstGeom>
          <a:noFill/>
        </p:spPr>
        <p:txBody>
          <a:bodyPr wrap="square" lIns="0" tIns="0" rIns="0" bIns="0" anchor="t">
            <a:noAutofit/>
          </a:bodyPr>
          <a:lstStyle/>
          <a:p>
            <a:pPr algn="l">
              <a:spcAft>
                <a:spcPts val="0"/>
              </a:spcAft>
            </a:pPr>
            <a:r>
              <a:rPr sz="1550" b="1" i="0">
                <a:solidFill>
                  <a:srgbClr val="333D47"/>
                </a:solidFill>
                <a:latin typeface="Arial"/>
              </a:rPr>
              <a:t>AIA’s data, systems and AI tools</a:t>
            </a:r>
          </a:p>
        </p:txBody>
      </p:sp>
      <p:sp>
        <p:nvSpPr>
          <p:cNvPr id="24" name="Rounded Rectangle 23"/>
          <p:cNvSpPr/>
          <p:nvPr/>
        </p:nvSpPr>
        <p:spPr>
          <a:xfrm>
            <a:off x="3995928" y="3657600"/>
            <a:ext cx="3474720" cy="402336"/>
          </a:xfrm>
          <a:prstGeom prst="roundRect">
            <a:avLst>
              <a:gd name="adj" fmla="val 18181"/>
            </a:avLst>
          </a:prstGeom>
          <a:solidFill>
            <a:srgbClr val="D31145"/>
          </a:solidFill>
          <a:ln>
            <a:noFill/>
          </a:ln>
        </p:spPr>
        <p:txBody>
          <a:bodyPr rtlCol="0" anchor="ctr" wrap="square" lIns="54864" tIns="54864" rIns="54864" bIns="54864">
            <a:noAutofit/>
          </a:bodyPr>
          <a:lstStyle/>
          <a:p>
            <a:pPr algn="ctr">
              <a:spcAft>
                <a:spcPts val="0"/>
              </a:spcAft>
            </a:pPr>
            <a:r>
              <a:rPr sz="1350" b="1" i="0">
                <a:solidFill>
                  <a:srgbClr val="FFFFFF"/>
                </a:solidFill>
                <a:latin typeface="Arial"/>
              </a:rPr>
              <a:t>AI tools built by AIA teams</a:t>
            </a:r>
          </a:p>
        </p:txBody>
      </p:sp>
      <p:sp>
        <p:nvSpPr>
          <p:cNvPr id="25" name="Rounded Rectangle 24"/>
          <p:cNvSpPr/>
          <p:nvPr/>
        </p:nvSpPr>
        <p:spPr>
          <a:xfrm>
            <a:off x="3995928" y="4133088"/>
            <a:ext cx="1682496" cy="292608"/>
          </a:xfrm>
          <a:prstGeom prst="roundRect">
            <a:avLst>
              <a:gd name="adj" fmla="val 18750"/>
            </a:avLst>
          </a:prstGeom>
          <a:solidFill>
            <a:srgbClr val="FFFFFF"/>
          </a:solidFill>
          <a:ln w="9525">
            <a:solidFill>
              <a:srgbClr val="F2B6C6"/>
            </a:solidFill>
          </a:ln>
        </p:spPr>
        <p:txBody>
          <a:bodyPr rtlCol="0" anchor="ctr" wrap="square" lIns="18288" tIns="18288" rIns="18288" bIns="18288">
            <a:noAutofit/>
          </a:bodyPr>
          <a:lstStyle/>
          <a:p>
            <a:pPr algn="ctr">
              <a:spcAft>
                <a:spcPts val="0"/>
              </a:spcAft>
            </a:pPr>
            <a:r>
              <a:rPr sz="1150" b="0" i="0">
                <a:solidFill>
                  <a:srgbClr val="333D47"/>
                </a:solidFill>
                <a:latin typeface="Arial"/>
              </a:rPr>
              <a:t>AIA data</a:t>
            </a:r>
          </a:p>
        </p:txBody>
      </p:sp>
      <p:sp>
        <p:nvSpPr>
          <p:cNvPr id="26" name="Rounded Rectangle 25"/>
          <p:cNvSpPr/>
          <p:nvPr/>
        </p:nvSpPr>
        <p:spPr>
          <a:xfrm>
            <a:off x="5788152" y="4133088"/>
            <a:ext cx="1682496" cy="292608"/>
          </a:xfrm>
          <a:prstGeom prst="roundRect">
            <a:avLst>
              <a:gd name="adj" fmla="val 18750"/>
            </a:avLst>
          </a:prstGeom>
          <a:solidFill>
            <a:srgbClr val="FFFFFF"/>
          </a:solidFill>
          <a:ln w="9525">
            <a:solidFill>
              <a:srgbClr val="F2B6C6"/>
            </a:solidFill>
          </a:ln>
        </p:spPr>
        <p:txBody>
          <a:bodyPr rtlCol="0" anchor="ctr" wrap="square" lIns="18288" tIns="18288" rIns="18288" bIns="18288">
            <a:noAutofit/>
          </a:bodyPr>
          <a:lstStyle/>
          <a:p>
            <a:pPr algn="ctr">
              <a:spcAft>
                <a:spcPts val="0"/>
              </a:spcAft>
            </a:pPr>
            <a:r>
              <a:rPr sz="1150" b="0" i="0">
                <a:solidFill>
                  <a:srgbClr val="333D47"/>
                </a:solidFill>
                <a:latin typeface="Arial"/>
              </a:rPr>
              <a:t>AIA systems</a:t>
            </a:r>
          </a:p>
        </p:txBody>
      </p:sp>
      <p:sp>
        <p:nvSpPr>
          <p:cNvPr id="27" name="Rounded Rectangle 26"/>
          <p:cNvSpPr/>
          <p:nvPr/>
        </p:nvSpPr>
        <p:spPr>
          <a:xfrm>
            <a:off x="356616" y="4809744"/>
            <a:ext cx="7498080" cy="841248"/>
          </a:xfrm>
          <a:prstGeom prst="roundRect">
            <a:avLst>
              <a:gd name="adj" fmla="val 10869"/>
            </a:avLst>
          </a:prstGeom>
          <a:solidFill>
            <a:srgbClr val="F4F1EF"/>
          </a:solidFill>
          <a:ln w="9525">
            <a:solidFill>
              <a:srgbClr val="DDD6D0"/>
            </a:solidFill>
          </a:ln>
        </p:spPr>
        <p:txBody>
          <a:bodyPr rtlCol="0" anchor="ctr"/>
          <a:lstStyle/>
          <a:p>
            <a:pPr algn="ctr"/>
          </a:p>
        </p:txBody>
      </p:sp>
      <p:pic>
        <p:nvPicPr>
          <p:cNvPr id="28" name="Picture 27" descr="LuShieldCheck_c.png"/>
          <p:cNvPicPr>
            <a:picLocks noChangeAspect="1"/>
          </p:cNvPicPr>
          <p:nvPr/>
        </p:nvPicPr>
        <p:blipFill>
          <a:blip r:embed="rId6"/>
          <a:stretch>
            <a:fillRect/>
          </a:stretch>
        </p:blipFill>
        <p:spPr>
          <a:xfrm>
            <a:off x="539496" y="4901184"/>
            <a:ext cx="237744" cy="237744"/>
          </a:xfrm>
          <a:prstGeom prst="rect">
            <a:avLst/>
          </a:prstGeom>
        </p:spPr>
      </p:pic>
      <p:sp>
        <p:nvSpPr>
          <p:cNvPr id="29" name="TextBox 28"/>
          <p:cNvSpPr txBox="1"/>
          <p:nvPr/>
        </p:nvSpPr>
        <p:spPr>
          <a:xfrm>
            <a:off x="859536" y="4882896"/>
            <a:ext cx="5486400" cy="274320"/>
          </a:xfrm>
          <a:prstGeom prst="rect">
            <a:avLst/>
          </a:prstGeom>
          <a:noFill/>
        </p:spPr>
        <p:txBody>
          <a:bodyPr wrap="square" lIns="0" tIns="0" rIns="0" bIns="0" anchor="ctr">
            <a:noAutofit/>
          </a:bodyPr>
          <a:lstStyle/>
          <a:p>
            <a:pPr algn="l">
              <a:spcAft>
                <a:spcPts val="0"/>
              </a:spcAft>
            </a:pPr>
            <a:r>
              <a:rPr sz="1050" b="1" i="0" spc="100">
                <a:solidFill>
                  <a:srgbClr val="5F6770"/>
                </a:solidFill>
                <a:latin typeface="Arial"/>
              </a:rPr>
              <a:t>AROUND IT: AIA’S RULES</a:t>
            </a:r>
          </a:p>
        </p:txBody>
      </p:sp>
      <p:sp>
        <p:nvSpPr>
          <p:cNvPr id="30" name="Rounded Rectangle 29"/>
          <p:cNvSpPr/>
          <p:nvPr/>
        </p:nvSpPr>
        <p:spPr>
          <a:xfrm>
            <a:off x="539496" y="5221224"/>
            <a:ext cx="1758029"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Employee permissions</a:t>
            </a:r>
          </a:p>
        </p:txBody>
      </p:sp>
      <p:sp>
        <p:nvSpPr>
          <p:cNvPr id="31" name="Rounded Rectangle 30"/>
          <p:cNvSpPr/>
          <p:nvPr/>
        </p:nvSpPr>
        <p:spPr>
          <a:xfrm>
            <a:off x="2337027" y="5221224"/>
            <a:ext cx="1199497"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AIA workflows</a:t>
            </a:r>
          </a:p>
        </p:txBody>
      </p:sp>
      <p:sp>
        <p:nvSpPr>
          <p:cNvPr id="32" name="Rounded Rectangle 31"/>
          <p:cNvSpPr/>
          <p:nvPr/>
        </p:nvSpPr>
        <p:spPr>
          <a:xfrm>
            <a:off x="3576025" y="5221224"/>
            <a:ext cx="842645"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Approval</a:t>
            </a:r>
          </a:p>
        </p:txBody>
      </p:sp>
      <p:sp>
        <p:nvSpPr>
          <p:cNvPr id="33" name="Rounded Rectangle 32"/>
          <p:cNvSpPr/>
          <p:nvPr/>
        </p:nvSpPr>
        <p:spPr>
          <a:xfrm>
            <a:off x="4458172" y="5221224"/>
            <a:ext cx="1703546"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An appropriate record</a:t>
            </a:r>
          </a:p>
        </p:txBody>
      </p:sp>
      <p:sp>
        <p:nvSpPr>
          <p:cNvPr id="34" name="Rounded Rectangle 33"/>
          <p:cNvSpPr/>
          <p:nvPr/>
        </p:nvSpPr>
        <p:spPr>
          <a:xfrm>
            <a:off x="6201219" y="5221224"/>
            <a:ext cx="1470596" cy="310896"/>
          </a:xfrm>
          <a:prstGeom prst="roundRect">
            <a:avLst>
              <a:gd name="adj" fmla="val 17647"/>
            </a:avLst>
          </a:prstGeom>
          <a:solidFill>
            <a:srgbClr val="FFFFFF"/>
          </a:solidFill>
          <a:ln w="9525">
            <a:solidFill>
              <a:srgbClr val="DDD6D0"/>
            </a:solidFill>
          </a:ln>
        </p:spPr>
        <p:txBody>
          <a:bodyPr rtlCol="0" anchor="ctr" wrap="square" lIns="18288" tIns="18288" rIns="18288" bIns="18288">
            <a:noAutofit/>
          </a:bodyPr>
          <a:lstStyle/>
          <a:p>
            <a:pPr algn="ctr">
              <a:spcAft>
                <a:spcPts val="0"/>
              </a:spcAft>
            </a:pPr>
            <a:r>
              <a:rPr sz="1100" b="0" i="0">
                <a:solidFill>
                  <a:srgbClr val="333D47"/>
                </a:solidFill>
                <a:latin typeface="Arial"/>
              </a:rPr>
              <a:t>Governed learning</a:t>
            </a:r>
          </a:p>
        </p:txBody>
      </p:sp>
      <p:sp>
        <p:nvSpPr>
          <p:cNvPr id="35" name="TextBox 34"/>
          <p:cNvSpPr txBox="1"/>
          <p:nvPr/>
        </p:nvSpPr>
        <p:spPr>
          <a:xfrm>
            <a:off x="8183880" y="1737360"/>
            <a:ext cx="3648456" cy="1234440"/>
          </a:xfrm>
          <a:prstGeom prst="rect">
            <a:avLst/>
          </a:prstGeom>
          <a:noFill/>
        </p:spPr>
        <p:txBody>
          <a:bodyPr wrap="square" lIns="0" tIns="0" rIns="0" bIns="0" anchor="t">
            <a:noAutofit/>
          </a:bodyPr>
          <a:lstStyle/>
          <a:p>
            <a:pPr algn="l">
              <a:lnSpc>
                <a:spcPct val="100000"/>
              </a:lnSpc>
              <a:spcAft>
                <a:spcPts val="0"/>
              </a:spcAft>
            </a:pPr>
            <a:r>
              <a:rPr sz="1700" b="1" i="0">
                <a:solidFill>
                  <a:srgbClr val="D31145"/>
                </a:solidFill>
                <a:latin typeface="Arial"/>
              </a:rPr>
              <a:t>The platform can change. AIA still needs one governed way for employees to use AIA’s AI.</a:t>
            </a:r>
          </a:p>
        </p:txBody>
      </p:sp>
      <p:sp>
        <p:nvSpPr>
          <p:cNvPr id="36" name="Oval 35"/>
          <p:cNvSpPr/>
          <p:nvPr/>
        </p:nvSpPr>
        <p:spPr>
          <a:xfrm>
            <a:off x="8183880" y="3154680"/>
            <a:ext cx="420624" cy="420624"/>
          </a:xfrm>
          <a:prstGeom prst="ellipse">
            <a:avLst/>
          </a:prstGeom>
          <a:solidFill>
            <a:srgbClr val="333D47"/>
          </a:solidFill>
          <a:ln>
            <a:noFill/>
          </a:ln>
        </p:spPr>
        <p:txBody>
          <a:bodyPr rtlCol="0" anchor="ctr"/>
          <a:lstStyle/>
          <a:p>
            <a:pPr algn="ctr"/>
          </a:p>
        </p:txBody>
      </p:sp>
      <p:pic>
        <p:nvPicPr>
          <p:cNvPr id="37" name="Picture 36" descr="LuTrendingUp_w.png"/>
          <p:cNvPicPr>
            <a:picLocks noChangeAspect="1"/>
          </p:cNvPicPr>
          <p:nvPr/>
        </p:nvPicPr>
        <p:blipFill>
          <a:blip r:embed="rId7"/>
          <a:stretch>
            <a:fillRect/>
          </a:stretch>
        </p:blipFill>
        <p:spPr>
          <a:xfrm>
            <a:off x="8280624" y="3251424"/>
            <a:ext cx="227137" cy="227137"/>
          </a:xfrm>
          <a:prstGeom prst="rect">
            <a:avLst/>
          </a:prstGeom>
        </p:spPr>
      </p:pic>
      <p:sp>
        <p:nvSpPr>
          <p:cNvPr id="38" name="TextBox 37"/>
          <p:cNvSpPr txBox="1"/>
          <p:nvPr/>
        </p:nvSpPr>
        <p:spPr>
          <a:xfrm>
            <a:off x="8750808" y="3136392"/>
            <a:ext cx="3081528" cy="502920"/>
          </a:xfrm>
          <a:prstGeom prst="rect">
            <a:avLst/>
          </a:prstGeom>
          <a:noFill/>
        </p:spPr>
        <p:txBody>
          <a:bodyPr wrap="square" lIns="0" tIns="0" rIns="0" bIns="0" anchor="t">
            <a:noAutofit/>
          </a:bodyPr>
          <a:lstStyle/>
          <a:p>
            <a:pPr algn="l">
              <a:lnSpc>
                <a:spcPct val="95000"/>
              </a:lnSpc>
              <a:spcAft>
                <a:spcPts val="0"/>
              </a:spcAft>
            </a:pPr>
            <a:r>
              <a:rPr sz="1400" b="1" i="0">
                <a:solidFill>
                  <a:srgbClr val="333D47"/>
                </a:solidFill>
                <a:latin typeface="Arial"/>
              </a:rPr>
              <a:t>A better AI engine, a more capable Riley</a:t>
            </a:r>
          </a:p>
        </p:txBody>
      </p:sp>
      <p:sp>
        <p:nvSpPr>
          <p:cNvPr id="39" name="TextBox 38"/>
          <p:cNvSpPr txBox="1"/>
          <p:nvPr/>
        </p:nvSpPr>
        <p:spPr>
          <a:xfrm>
            <a:off x="8750808" y="3611880"/>
            <a:ext cx="3081528"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As enterprise AI gets smarter, including at routing work between tools, Riley gets smarter too.</a:t>
            </a:r>
          </a:p>
        </p:txBody>
      </p:sp>
      <p:sp>
        <p:nvSpPr>
          <p:cNvPr id="40" name="Oval 39"/>
          <p:cNvSpPr/>
          <p:nvPr/>
        </p:nvSpPr>
        <p:spPr>
          <a:xfrm>
            <a:off x="8183880" y="4416552"/>
            <a:ext cx="420624" cy="420624"/>
          </a:xfrm>
          <a:prstGeom prst="ellipse">
            <a:avLst/>
          </a:prstGeom>
          <a:solidFill>
            <a:srgbClr val="333D47"/>
          </a:solidFill>
          <a:ln>
            <a:noFill/>
          </a:ln>
        </p:spPr>
        <p:txBody>
          <a:bodyPr rtlCol="0" anchor="ctr"/>
          <a:lstStyle/>
          <a:p>
            <a:pPr algn="ctr"/>
          </a:p>
        </p:txBody>
      </p:sp>
      <p:pic>
        <p:nvPicPr>
          <p:cNvPr id="41" name="Picture 40" descr="LuKeyRound_w.png"/>
          <p:cNvPicPr>
            <a:picLocks noChangeAspect="1"/>
          </p:cNvPicPr>
          <p:nvPr/>
        </p:nvPicPr>
        <p:blipFill>
          <a:blip r:embed="rId8"/>
          <a:stretch>
            <a:fillRect/>
          </a:stretch>
        </p:blipFill>
        <p:spPr>
          <a:xfrm>
            <a:off x="8280624" y="4513296"/>
            <a:ext cx="227137" cy="227137"/>
          </a:xfrm>
          <a:prstGeom prst="rect">
            <a:avLst/>
          </a:prstGeom>
        </p:spPr>
      </p:pic>
      <p:sp>
        <p:nvSpPr>
          <p:cNvPr id="42" name="TextBox 41"/>
          <p:cNvSpPr txBox="1"/>
          <p:nvPr/>
        </p:nvSpPr>
        <p:spPr>
          <a:xfrm>
            <a:off x="8750808" y="4398264"/>
            <a:ext cx="3081528" cy="502920"/>
          </a:xfrm>
          <a:prstGeom prst="rect">
            <a:avLst/>
          </a:prstGeom>
          <a:noFill/>
        </p:spPr>
        <p:txBody>
          <a:bodyPr wrap="square" lIns="0" tIns="0" rIns="0" bIns="0" anchor="t">
            <a:noAutofit/>
          </a:bodyPr>
          <a:lstStyle/>
          <a:p>
            <a:pPr algn="l">
              <a:lnSpc>
                <a:spcPct val="95000"/>
              </a:lnSpc>
              <a:spcAft>
                <a:spcPts val="0"/>
              </a:spcAft>
            </a:pPr>
            <a:r>
              <a:rPr sz="1400" b="1" i="0">
                <a:solidFill>
                  <a:srgbClr val="333D47"/>
                </a:solidFill>
                <a:latin typeface="Arial"/>
              </a:rPr>
              <a:t>What AIA decides</a:t>
            </a:r>
          </a:p>
        </p:txBody>
      </p:sp>
      <p:sp>
        <p:nvSpPr>
          <p:cNvPr id="43" name="TextBox 42"/>
          <p:cNvSpPr txBox="1"/>
          <p:nvPr/>
        </p:nvSpPr>
        <p:spPr>
          <a:xfrm>
            <a:off x="8750808" y="4672584"/>
            <a:ext cx="3081528"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Which of its data, systems and AI tools Riley can use, for whom, with what approval and records.</a:t>
            </a:r>
          </a:p>
        </p:txBody>
      </p:sp>
      <p:sp>
        <p:nvSpPr>
          <p:cNvPr id="44" name="Slide Number Placeholder"/>
          <p:cNvSpPr>
            <a:spLocks noGrp="1"/>
          </p:cNvSpPr>
          <p:nvPr>
            <p:ph type="sldNum" sz="quarter" idx="4"/>
          </p:nvPr>
        </p:nvSpPr>
        <p:spPr/>
        <p:txBody>
          <a:bodyPr/>
          <a:lstStyle/>
          <a:p>
            <a:fld id="{18A41853-EF22-D446-BDBC-A7CF3FE93503}" type="slidenum">
              <a:rPr lang="en-US"/>
              <a:t>6</a:t>
            </a:fld>
            <a:endParaRPr lang="en-US"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Twelve months to turn the scenario into evidence</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PLAN</a:t>
            </a:r>
          </a:p>
        </p:txBody>
      </p:sp>
      <p:sp>
        <p:nvSpPr>
          <p:cNvPr id="6" name="Rounded Rectangle 5"/>
          <p:cNvSpPr/>
          <p:nvPr/>
        </p:nvSpPr>
        <p:spPr>
          <a:xfrm>
            <a:off x="356616" y="1572768"/>
            <a:ext cx="2731770" cy="2926080"/>
          </a:xfrm>
          <a:prstGeom prst="roundRect">
            <a:avLst>
              <a:gd name="adj" fmla="val 3347"/>
            </a:avLst>
          </a:prstGeom>
          <a:solidFill>
            <a:srgbClr val="F4F1EF"/>
          </a:solidFill>
          <a:ln>
            <a:noFill/>
          </a:ln>
        </p:spPr>
        <p:txBody>
          <a:bodyPr rtlCol="0" anchor="ctr"/>
          <a:lstStyle/>
          <a:p>
            <a:pPr algn="ctr"/>
          </a:p>
        </p:txBody>
      </p:sp>
      <p:sp>
        <p:nvSpPr>
          <p:cNvPr id="7" name="TextBox 6"/>
          <p:cNvSpPr txBox="1"/>
          <p:nvPr/>
        </p:nvSpPr>
        <p:spPr>
          <a:xfrm>
            <a:off x="55778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0</a:t>
            </a:r>
            <a:r>
              <a:rPr sz="1150" b="0" i="0">
                <a:solidFill>
                  <a:srgbClr val="5F6770"/>
                </a:solidFill>
                <a:latin typeface="Arial"/>
              </a:rPr>
              <a:t>   Month 1</a:t>
            </a:r>
          </a:p>
        </p:txBody>
      </p:sp>
      <p:sp>
        <p:nvSpPr>
          <p:cNvPr id="8" name="TextBox 7"/>
          <p:cNvSpPr txBox="1"/>
          <p:nvPr/>
        </p:nvSpPr>
        <p:spPr>
          <a:xfrm>
            <a:off x="55778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Choose and baseline</a:t>
            </a:r>
          </a:p>
        </p:txBody>
      </p:sp>
      <p:sp>
        <p:nvSpPr>
          <p:cNvPr id="9" name="TextBox 8"/>
          <p:cNvSpPr txBox="1"/>
          <p:nvPr/>
        </p:nvSpPr>
        <p:spPr>
          <a:xfrm>
            <a:off x="55778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the chosen workflow take today?</a:t>
            </a:r>
          </a:p>
        </p:txBody>
      </p:sp>
      <p:sp>
        <p:nvSpPr>
          <p:cNvPr id="10" name="TextBox 9"/>
          <p:cNvSpPr txBox="1"/>
          <p:nvPr/>
        </p:nvSpPr>
        <p:spPr>
          <a:xfrm>
            <a:off x="557784" y="3584448"/>
            <a:ext cx="2329434"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Chosen on value, readiness, data sensitivity and governance.</a:t>
            </a:r>
          </a:p>
        </p:txBody>
      </p:sp>
      <p:sp>
        <p:nvSpPr>
          <p:cNvPr id="11" name="Rounded Rectangle 10"/>
          <p:cNvSpPr/>
          <p:nvPr/>
        </p:nvSpPr>
        <p:spPr>
          <a:xfrm>
            <a:off x="3271266" y="1572768"/>
            <a:ext cx="2731770" cy="2926080"/>
          </a:xfrm>
          <a:prstGeom prst="roundRect">
            <a:avLst>
              <a:gd name="adj" fmla="val 3347"/>
            </a:avLst>
          </a:prstGeom>
          <a:solidFill>
            <a:srgbClr val="F4F1EF"/>
          </a:solidFill>
          <a:ln>
            <a:noFill/>
          </a:ln>
        </p:spPr>
        <p:txBody>
          <a:bodyPr rtlCol="0" anchor="ctr"/>
          <a:lstStyle/>
          <a:p>
            <a:pPr algn="ctr"/>
          </a:p>
        </p:txBody>
      </p:sp>
      <p:sp>
        <p:nvSpPr>
          <p:cNvPr id="12" name="TextBox 11"/>
          <p:cNvSpPr txBox="1"/>
          <p:nvPr/>
        </p:nvSpPr>
        <p:spPr>
          <a:xfrm>
            <a:off x="34724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1</a:t>
            </a:r>
            <a:r>
              <a:rPr sz="1150" b="0" i="0">
                <a:solidFill>
                  <a:srgbClr val="5F6770"/>
                </a:solidFill>
                <a:latin typeface="Arial"/>
              </a:rPr>
              <a:t>   Months 2–4</a:t>
            </a:r>
          </a:p>
        </p:txBody>
      </p:sp>
      <p:sp>
        <p:nvSpPr>
          <p:cNvPr id="13" name="TextBox 12"/>
          <p:cNvSpPr txBox="1"/>
          <p:nvPr/>
        </p:nvSpPr>
        <p:spPr>
          <a:xfrm>
            <a:off x="34724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Pilot one workflow</a:t>
            </a:r>
          </a:p>
        </p:txBody>
      </p:sp>
      <p:sp>
        <p:nvSpPr>
          <p:cNvPr id="14" name="TextBox 13"/>
          <p:cNvSpPr txBox="1"/>
          <p:nvPr/>
        </p:nvSpPr>
        <p:spPr>
          <a:xfrm>
            <a:off x="347243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Does Riley reduce effort without losing quality?</a:t>
            </a:r>
          </a:p>
        </p:txBody>
      </p:sp>
      <p:cxnSp>
        <p:nvCxnSpPr>
          <p:cNvPr id="15" name="Connector 14"/>
          <p:cNvCxnSpPr/>
          <p:nvPr/>
        </p:nvCxnSpPr>
        <p:spPr>
          <a:xfrm>
            <a:off x="3472434" y="3602736"/>
            <a:ext cx="2329434" cy="0"/>
          </a:xfrm>
          <a:prstGeom prst="line">
            <a:avLst/>
          </a:prstGeom>
          <a:ln w="9525">
            <a:solidFill>
              <a:srgbClr val="DDD6D0"/>
            </a:solidFill>
          </a:ln>
        </p:spPr>
      </p:cxnSp>
      <p:sp>
        <p:nvSpPr>
          <p:cNvPr id="16" name="Diamond 15"/>
          <p:cNvSpPr/>
          <p:nvPr/>
        </p:nvSpPr>
        <p:spPr>
          <a:xfrm>
            <a:off x="3472434" y="3739896"/>
            <a:ext cx="155448" cy="155448"/>
          </a:xfrm>
          <a:prstGeom prst="diamond">
            <a:avLst/>
          </a:prstGeom>
          <a:solidFill>
            <a:srgbClr val="D31145"/>
          </a:solidFill>
          <a:ln>
            <a:noFill/>
          </a:ln>
        </p:spPr>
        <p:txBody>
          <a:bodyPr rtlCol="0" anchor="ctr"/>
          <a:lstStyle/>
          <a:p>
            <a:pPr algn="ctr"/>
          </a:p>
        </p:txBody>
      </p:sp>
      <p:sp>
        <p:nvSpPr>
          <p:cNvPr id="17" name="TextBox 16"/>
          <p:cNvSpPr txBox="1"/>
          <p:nvPr/>
        </p:nvSpPr>
        <p:spPr>
          <a:xfrm>
            <a:off x="3701034" y="3675888"/>
            <a:ext cx="2091690" cy="731520"/>
          </a:xfrm>
          <a:prstGeom prst="rect">
            <a:avLst/>
          </a:prstGeom>
          <a:noFill/>
        </p:spPr>
        <p:txBody>
          <a:bodyPr wrap="square" lIns="0" tIns="0" rIns="0" bIns="0" anchor="t">
            <a:noAutofit/>
          </a:bodyPr>
          <a:lstStyle/>
          <a:p>
            <a:pPr algn="l">
              <a:spcAft>
                <a:spcPts val="0"/>
              </a:spcAft>
            </a:pPr>
            <a:r>
              <a:rPr sz="1000" b="1" i="0" spc="50">
                <a:solidFill>
                  <a:srgbClr val="333D47"/>
                </a:solidFill>
                <a:latin typeface="Arial"/>
              </a:rPr>
              <a:t>GO / NO-GO  </a:t>
            </a:r>
            <a:r>
              <a:rPr sz="1150" b="0" i="0">
                <a:solidFill>
                  <a:srgbClr val="333D47"/>
                </a:solidFill>
                <a:latin typeface="Arial"/>
              </a:rPr>
              <a:t>Effort down, quality held, usage sustained</a:t>
            </a:r>
          </a:p>
        </p:txBody>
      </p:sp>
      <p:sp>
        <p:nvSpPr>
          <p:cNvPr id="18" name="Rounded Rectangle 17"/>
          <p:cNvSpPr/>
          <p:nvPr/>
        </p:nvSpPr>
        <p:spPr>
          <a:xfrm>
            <a:off x="6185916" y="1572768"/>
            <a:ext cx="2731770" cy="2926080"/>
          </a:xfrm>
          <a:prstGeom prst="roundRect">
            <a:avLst>
              <a:gd name="adj" fmla="val 3347"/>
            </a:avLst>
          </a:prstGeom>
          <a:solidFill>
            <a:srgbClr val="D31145"/>
          </a:solidFill>
          <a:ln>
            <a:noFill/>
          </a:ln>
        </p:spPr>
        <p:txBody>
          <a:bodyPr rtlCol="0" anchor="ctr"/>
          <a:lstStyle/>
          <a:p>
            <a:pPr algn="ctr"/>
          </a:p>
        </p:txBody>
      </p:sp>
      <p:sp>
        <p:nvSpPr>
          <p:cNvPr id="19" name="TextBox 18"/>
          <p:cNvSpPr txBox="1"/>
          <p:nvPr/>
        </p:nvSpPr>
        <p:spPr>
          <a:xfrm>
            <a:off x="6387084" y="1755648"/>
            <a:ext cx="2329434" cy="237744"/>
          </a:xfrm>
          <a:prstGeom prst="rect">
            <a:avLst/>
          </a:prstGeom>
          <a:noFill/>
        </p:spPr>
        <p:txBody>
          <a:bodyPr wrap="square" lIns="0" tIns="0" rIns="0" bIns="0" anchor="t">
            <a:noAutofit/>
          </a:bodyPr>
          <a:lstStyle/>
          <a:p>
            <a:pPr algn="l">
              <a:spcAft>
                <a:spcPts val="0"/>
              </a:spcAft>
            </a:pPr>
            <a:r>
              <a:rPr sz="1150" b="1" i="0" spc="100">
                <a:solidFill>
                  <a:srgbClr val="FFFFFF"/>
                </a:solidFill>
                <a:latin typeface="Arial"/>
              </a:rPr>
              <a:t>PHASE 2</a:t>
            </a:r>
            <a:r>
              <a:rPr sz="1150" b="0" i="0">
                <a:solidFill>
                  <a:srgbClr val="FFFFFF"/>
                </a:solidFill>
                <a:latin typeface="Arial"/>
              </a:rPr>
              <a:t>   Months 5–7</a:t>
            </a:r>
          </a:p>
        </p:txBody>
      </p:sp>
      <p:sp>
        <p:nvSpPr>
          <p:cNvPr id="20" name="TextBox 19"/>
          <p:cNvSpPr txBox="1"/>
          <p:nvPr/>
        </p:nvSpPr>
        <p:spPr>
          <a:xfrm>
            <a:off x="6387084" y="2048256"/>
            <a:ext cx="2329434" cy="310896"/>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Test the multiplier</a:t>
            </a:r>
          </a:p>
        </p:txBody>
      </p:sp>
      <p:sp>
        <p:nvSpPr>
          <p:cNvPr id="21" name="TextBox 20"/>
          <p:cNvSpPr txBox="1"/>
          <p:nvPr/>
        </p:nvSpPr>
        <p:spPr>
          <a:xfrm>
            <a:off x="638708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FFFFFF"/>
                </a:solidFill>
                <a:latin typeface="Arial"/>
              </a:rPr>
              <a:t>Can another team’s AI tool work through Riley, with no new tool for employees?</a:t>
            </a:r>
          </a:p>
        </p:txBody>
      </p:sp>
      <p:cxnSp>
        <p:nvCxnSpPr>
          <p:cNvPr id="22" name="Connector 21"/>
          <p:cNvCxnSpPr/>
          <p:nvPr/>
        </p:nvCxnSpPr>
        <p:spPr>
          <a:xfrm>
            <a:off x="6387084" y="3602736"/>
            <a:ext cx="2329434" cy="0"/>
          </a:xfrm>
          <a:prstGeom prst="line">
            <a:avLst/>
          </a:prstGeom>
          <a:ln w="9525">
            <a:solidFill>
              <a:srgbClr val="F2B6C6"/>
            </a:solidFill>
          </a:ln>
        </p:spPr>
      </p:cxnSp>
      <p:sp>
        <p:nvSpPr>
          <p:cNvPr id="23" name="Diamond 22"/>
          <p:cNvSpPr/>
          <p:nvPr/>
        </p:nvSpPr>
        <p:spPr>
          <a:xfrm>
            <a:off x="6387084" y="3739896"/>
            <a:ext cx="155448" cy="155448"/>
          </a:xfrm>
          <a:prstGeom prst="diamond">
            <a:avLst/>
          </a:prstGeom>
          <a:solidFill>
            <a:srgbClr val="FFFFFF"/>
          </a:solidFill>
          <a:ln>
            <a:noFill/>
          </a:ln>
        </p:spPr>
        <p:txBody>
          <a:bodyPr rtlCol="0" anchor="ctr"/>
          <a:lstStyle/>
          <a:p>
            <a:pPr algn="ctr"/>
          </a:p>
        </p:txBody>
      </p:sp>
      <p:sp>
        <p:nvSpPr>
          <p:cNvPr id="24" name="TextBox 23"/>
          <p:cNvSpPr txBox="1"/>
          <p:nvPr/>
        </p:nvSpPr>
        <p:spPr>
          <a:xfrm>
            <a:off x="6615684" y="3675888"/>
            <a:ext cx="2091690" cy="731520"/>
          </a:xfrm>
          <a:prstGeom prst="rect">
            <a:avLst/>
          </a:prstGeom>
          <a:noFill/>
        </p:spPr>
        <p:txBody>
          <a:bodyPr wrap="square" lIns="0" tIns="0" rIns="0" bIns="0" anchor="t">
            <a:noAutofit/>
          </a:bodyPr>
          <a:lstStyle/>
          <a:p>
            <a:pPr algn="l">
              <a:spcAft>
                <a:spcPts val="0"/>
              </a:spcAft>
            </a:pPr>
            <a:r>
              <a:rPr sz="1000" b="1" i="0" spc="50">
                <a:solidFill>
                  <a:srgbClr val="FFFFFF"/>
                </a:solidFill>
                <a:latin typeface="Arial"/>
              </a:rPr>
              <a:t>GO / NO-GO  </a:t>
            </a:r>
            <a:r>
              <a:rPr sz="1150" b="0" i="0">
                <a:solidFill>
                  <a:srgbClr val="FFFFFF"/>
                </a:solidFill>
                <a:latin typeface="Arial"/>
              </a:rPr>
              <a:t>Usable through Riley; results hold across both workflows</a:t>
            </a:r>
          </a:p>
        </p:txBody>
      </p:sp>
      <p:sp>
        <p:nvSpPr>
          <p:cNvPr id="25" name="Rounded Rectangle 24"/>
          <p:cNvSpPr/>
          <p:nvPr/>
        </p:nvSpPr>
        <p:spPr>
          <a:xfrm>
            <a:off x="6820281" y="1389888"/>
            <a:ext cx="1463040" cy="274320"/>
          </a:xfrm>
          <a:prstGeom prst="roundRect">
            <a:avLst>
              <a:gd name="adj" fmla="val 50000"/>
            </a:avLst>
          </a:prstGeom>
          <a:solidFill>
            <a:srgbClr val="FFFFFF"/>
          </a:solidFill>
          <a:ln w="12700">
            <a:solidFill>
              <a:srgbClr val="D31145"/>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THE CORE TEST</a:t>
            </a:r>
          </a:p>
        </p:txBody>
      </p:sp>
      <p:sp>
        <p:nvSpPr>
          <p:cNvPr id="26" name="Rounded Rectangle 25"/>
          <p:cNvSpPr/>
          <p:nvPr/>
        </p:nvSpPr>
        <p:spPr>
          <a:xfrm>
            <a:off x="9100566" y="1572768"/>
            <a:ext cx="2731770" cy="2926080"/>
          </a:xfrm>
          <a:prstGeom prst="roundRect">
            <a:avLst>
              <a:gd name="adj" fmla="val 3347"/>
            </a:avLst>
          </a:prstGeom>
          <a:solidFill>
            <a:srgbClr val="F4F1EF"/>
          </a:solidFill>
          <a:ln>
            <a:noFill/>
          </a:ln>
        </p:spPr>
        <p:txBody>
          <a:bodyPr rtlCol="0" anchor="ctr"/>
          <a:lstStyle/>
          <a:p>
            <a:pPr algn="ctr"/>
          </a:p>
        </p:txBody>
      </p:sp>
      <p:sp>
        <p:nvSpPr>
          <p:cNvPr id="27" name="TextBox 26"/>
          <p:cNvSpPr txBox="1"/>
          <p:nvPr/>
        </p:nvSpPr>
        <p:spPr>
          <a:xfrm>
            <a:off x="9301734" y="1755648"/>
            <a:ext cx="2329434" cy="237744"/>
          </a:xfrm>
          <a:prstGeom prst="rect">
            <a:avLst/>
          </a:prstGeom>
          <a:noFill/>
        </p:spPr>
        <p:txBody>
          <a:bodyPr wrap="square" lIns="0" tIns="0" rIns="0" bIns="0" anchor="t">
            <a:noAutofit/>
          </a:bodyPr>
          <a:lstStyle/>
          <a:p>
            <a:pPr algn="l">
              <a:spcAft>
                <a:spcPts val="0"/>
              </a:spcAft>
            </a:pPr>
            <a:r>
              <a:rPr sz="1150" b="1" i="0" spc="100">
                <a:solidFill>
                  <a:srgbClr val="D31145"/>
                </a:solidFill>
                <a:latin typeface="Arial"/>
              </a:rPr>
              <a:t>PHASE 3</a:t>
            </a:r>
            <a:r>
              <a:rPr sz="1150" b="0" i="0">
                <a:solidFill>
                  <a:srgbClr val="5F6770"/>
                </a:solidFill>
                <a:latin typeface="Arial"/>
              </a:rPr>
              <a:t>   Months 8–12</a:t>
            </a:r>
          </a:p>
        </p:txBody>
      </p:sp>
      <p:sp>
        <p:nvSpPr>
          <p:cNvPr id="28" name="TextBox 27"/>
          <p:cNvSpPr txBox="1"/>
          <p:nvPr/>
        </p:nvSpPr>
        <p:spPr>
          <a:xfrm>
            <a:off x="9301734" y="2048256"/>
            <a:ext cx="2329434" cy="310896"/>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Scale toward the vision</a:t>
            </a:r>
          </a:p>
        </p:txBody>
      </p:sp>
      <p:sp>
        <p:nvSpPr>
          <p:cNvPr id="29" name="TextBox 28"/>
          <p:cNvSpPr txBox="1"/>
          <p:nvPr/>
        </p:nvSpPr>
        <p:spPr>
          <a:xfrm>
            <a:off x="9301734" y="2487168"/>
            <a:ext cx="2329434" cy="914400"/>
          </a:xfrm>
          <a:prstGeom prst="rect">
            <a:avLst/>
          </a:prstGeom>
          <a:noFill/>
        </p:spPr>
        <p:txBody>
          <a:bodyPr wrap="square" lIns="0" tIns="0" rIns="0" bIns="0" anchor="t">
            <a:noAutofit/>
          </a:bodyPr>
          <a:lstStyle/>
          <a:p>
            <a:pPr algn="l">
              <a:lnSpc>
                <a:spcPct val="98000"/>
              </a:lnSpc>
              <a:spcAft>
                <a:spcPts val="0"/>
              </a:spcAft>
            </a:pPr>
            <a:r>
              <a:rPr sz="1400" b="0" i="1">
                <a:solidFill>
                  <a:srgbClr val="333D47"/>
                </a:solidFill>
                <a:latin typeface="Arial"/>
              </a:rPr>
              <a:t>What does measured data say about wider impact?</a:t>
            </a:r>
          </a:p>
        </p:txBody>
      </p:sp>
      <p:sp>
        <p:nvSpPr>
          <p:cNvPr id="30" name="TextBox 29"/>
          <p:cNvSpPr txBox="1"/>
          <p:nvPr/>
        </p:nvSpPr>
        <p:spPr>
          <a:xfrm>
            <a:off x="9301734" y="3584448"/>
            <a:ext cx="2329434" cy="731520"/>
          </a:xfrm>
          <a:prstGeom prst="rect">
            <a:avLst/>
          </a:prstGeom>
          <a:noFill/>
        </p:spPr>
        <p:txBody>
          <a:bodyPr wrap="square" lIns="0" tIns="0" rIns="0" bIns="0" anchor="t">
            <a:noAutofit/>
          </a:bodyPr>
          <a:lstStyle/>
          <a:p>
            <a:pPr algn="l">
              <a:spcAft>
                <a:spcPts val="0"/>
              </a:spcAft>
            </a:pPr>
            <a:r>
              <a:rPr sz="1200" b="0" i="0">
                <a:solidFill>
                  <a:srgbClr val="5F6770"/>
                </a:solidFill>
                <a:latin typeface="Arial"/>
              </a:rPr>
              <a:t>Measured data replaces the illustrative scenario.</a:t>
            </a:r>
          </a:p>
        </p:txBody>
      </p:sp>
      <p:sp>
        <p:nvSpPr>
          <p:cNvPr id="31" name="TextBox 30"/>
          <p:cNvSpPr txBox="1"/>
          <p:nvPr/>
        </p:nvSpPr>
        <p:spPr>
          <a:xfrm>
            <a:off x="356616" y="4754880"/>
            <a:ext cx="10972800" cy="237744"/>
          </a:xfrm>
          <a:prstGeom prst="rect">
            <a:avLst/>
          </a:prstGeom>
          <a:noFill/>
        </p:spPr>
        <p:txBody>
          <a:bodyPr wrap="square" lIns="0" tIns="0" rIns="0" bIns="0" anchor="t">
            <a:noAutofit/>
          </a:bodyPr>
          <a:lstStyle/>
          <a:p>
            <a:pPr algn="l">
              <a:spcAft>
                <a:spcPts val="0"/>
              </a:spcAft>
            </a:pPr>
            <a:r>
              <a:rPr sz="1050" b="1" i="0" spc="100">
                <a:solidFill>
                  <a:srgbClr val="5F6770"/>
                </a:solidFill>
                <a:latin typeface="Arial"/>
              </a:rPr>
              <a:t>MEASURED AGAINST THE PHASE 0 BASELINE</a:t>
            </a:r>
          </a:p>
        </p:txBody>
      </p:sp>
      <p:sp>
        <p:nvSpPr>
          <p:cNvPr id="32" name="Rounded Rectangle 31"/>
          <p:cNvSpPr/>
          <p:nvPr/>
        </p:nvSpPr>
        <p:spPr>
          <a:xfrm>
            <a:off x="356616"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Employee effort per task</a:t>
            </a:r>
          </a:p>
        </p:txBody>
      </p:sp>
      <p:sp>
        <p:nvSpPr>
          <p:cNvPr id="33" name="Rounded Rectangle 32"/>
          <p:cNvSpPr/>
          <p:nvPr/>
        </p:nvSpPr>
        <p:spPr>
          <a:xfrm>
            <a:off x="2145792"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End-to-end completion time</a:t>
            </a:r>
          </a:p>
        </p:txBody>
      </p:sp>
      <p:sp>
        <p:nvSpPr>
          <p:cNvPr id="34" name="Rounded Rectangle 33"/>
          <p:cNvSpPr/>
          <p:nvPr/>
        </p:nvSpPr>
        <p:spPr>
          <a:xfrm>
            <a:off x="3934968"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Manual steps and systems touched</a:t>
            </a:r>
          </a:p>
        </p:txBody>
      </p:sp>
      <p:sp>
        <p:nvSpPr>
          <p:cNvPr id="35" name="Rounded Rectangle 34"/>
          <p:cNvSpPr/>
          <p:nvPr/>
        </p:nvSpPr>
        <p:spPr>
          <a:xfrm>
            <a:off x="5724144"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Rework rate</a:t>
            </a:r>
          </a:p>
        </p:txBody>
      </p:sp>
      <p:sp>
        <p:nvSpPr>
          <p:cNvPr id="36" name="Rounded Rectangle 35"/>
          <p:cNvSpPr/>
          <p:nvPr/>
        </p:nvSpPr>
        <p:spPr>
          <a:xfrm>
            <a:off x="7513320"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Quality, with independent reviews</a:t>
            </a:r>
          </a:p>
        </p:txBody>
      </p:sp>
      <p:sp>
        <p:nvSpPr>
          <p:cNvPr id="37" name="Rounded Rectangle 36"/>
          <p:cNvSpPr/>
          <p:nvPr/>
        </p:nvSpPr>
        <p:spPr>
          <a:xfrm>
            <a:off x="9302496" y="5029200"/>
            <a:ext cx="1679448" cy="530352"/>
          </a:xfrm>
          <a:prstGeom prst="roundRect">
            <a:avLst>
              <a:gd name="adj" fmla="val 10344"/>
            </a:avLst>
          </a:prstGeom>
          <a:solidFill>
            <a:srgbClr val="FFFFFF"/>
          </a:solidFill>
          <a:ln w="9525">
            <a:solidFill>
              <a:srgbClr val="DDD6D0"/>
            </a:solidFill>
          </a:ln>
        </p:spPr>
        <p:txBody>
          <a:bodyPr rtlCol="0" anchor="ctr" wrap="square" lIns="54864" tIns="18288" rIns="54864" bIns="18288">
            <a:noAutofit/>
          </a:bodyPr>
          <a:lstStyle/>
          <a:p>
            <a:pPr algn="ctr">
              <a:lnSpc>
                <a:spcPct val="95000"/>
              </a:lnSpc>
              <a:spcAft>
                <a:spcPts val="0"/>
              </a:spcAft>
            </a:pPr>
            <a:r>
              <a:rPr sz="1100" b="0" i="0">
                <a:solidFill>
                  <a:srgbClr val="333D47"/>
                </a:solidFill>
                <a:latin typeface="Arial"/>
              </a:rPr>
              <a:t>Adoption and repeat use</a:t>
            </a:r>
          </a:p>
        </p:txBody>
      </p:sp>
      <p:sp>
        <p:nvSpPr>
          <p:cNvPr id="38" name="Slide Number Placeholder"/>
          <p:cNvSpPr>
            <a:spLocks noGrp="1"/>
          </p:cNvSpPr>
          <p:nvPr>
            <p:ph type="sldNum" sz="quarter" idx="4"/>
          </p:nvPr>
        </p:nvSpPr>
        <p:spPr/>
        <p:txBody>
          <a:bodyPr/>
          <a:lstStyle/>
          <a:p>
            <a:fld id="{18A41853-EF22-D446-BDBC-A7CF3FE93503}" type="slidenum">
              <a:rPr lang="en-US"/>
              <a:t>7</a:t>
            </a:fld>
            <a:endParaRPr lang="en-US"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914400"/>
          </a:xfrm>
        </p:spPr>
        <p:txBody>
          <a:bodyPr lIns="0" tIns="0" rIns="0" bIns="0" anchor="t"/>
          <a:lstStyle/>
          <a:p>
            <a:pPr algn="l">
              <a:lnSpc>
                <a:spcPct val="95000"/>
              </a:lnSpc>
              <a:spcAft>
                <a:spcPts val="0"/>
              </a:spcAft>
            </a:pPr>
            <a:r>
              <a:rPr sz="3200" b="1" i="0">
                <a:solidFill>
                  <a:srgbClr val="333D47"/>
                </a:solidFill>
                <a:latin typeface="Arial"/>
              </a:rPr>
              <a:t>Can another team’s AI tool work through Riley, without another tool for employees to learn?</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THE CORE TEST  ·  PHASE 2, MONTHS 5–7</a:t>
            </a:r>
          </a:p>
        </p:txBody>
      </p:sp>
      <p:sp>
        <p:nvSpPr>
          <p:cNvPr id="6" name="Rounded Rectangle 5"/>
          <p:cNvSpPr/>
          <p:nvPr/>
        </p:nvSpPr>
        <p:spPr>
          <a:xfrm>
            <a:off x="356616" y="1783080"/>
            <a:ext cx="4206240" cy="310896"/>
          </a:xfrm>
          <a:prstGeom prst="roundRect">
            <a:avLst>
              <a:gd name="adj" fmla="val 50000"/>
            </a:avLst>
          </a:prstGeom>
          <a:solidFill>
            <a:srgbClr val="D31145"/>
          </a:solidFill>
          <a:ln w="12700">
            <a:solidFill>
              <a:srgbClr val="D31145"/>
            </a:solidFill>
          </a:ln>
        </p:spPr>
        <p:txBody>
          <a:bodyPr rtlCol="0" anchor="ctr" wrap="square" lIns="36576" tIns="36576" rIns="36576" bIns="36576">
            <a:noAutofit/>
          </a:bodyPr>
          <a:lstStyle/>
          <a:p>
            <a:pPr algn="ctr">
              <a:spcAft>
                <a:spcPts val="0"/>
              </a:spcAft>
            </a:pPr>
            <a:r>
              <a:rPr sz="1050" b="1" i="0" spc="50">
                <a:solidFill>
                  <a:srgbClr val="FFFFFF"/>
                </a:solidFill>
                <a:latin typeface="Arial"/>
              </a:rPr>
              <a:t>THE FIRST TEST OF THE MULTIPLIER HYPOTHESIS</a:t>
            </a:r>
          </a:p>
        </p:txBody>
      </p:sp>
      <p:sp>
        <p:nvSpPr>
          <p:cNvPr id="7" name="TextBox 6"/>
          <p:cNvSpPr txBox="1"/>
          <p:nvPr/>
        </p:nvSpPr>
        <p:spPr>
          <a:xfrm>
            <a:off x="4754880" y="1783080"/>
            <a:ext cx="7040880" cy="310896"/>
          </a:xfrm>
          <a:prstGeom prst="rect">
            <a:avLst/>
          </a:prstGeom>
          <a:noFill/>
        </p:spPr>
        <p:txBody>
          <a:bodyPr wrap="square" lIns="0" tIns="0" rIns="0" bIns="0" anchor="ctr">
            <a:noAutofit/>
          </a:bodyPr>
          <a:lstStyle/>
          <a:p>
            <a:pPr algn="l">
              <a:spcAft>
                <a:spcPts val="0"/>
              </a:spcAft>
            </a:pPr>
            <a:r>
              <a:rPr sz="1250" b="0" i="1">
                <a:solidFill>
                  <a:srgbClr val="5F6770"/>
                </a:solidFill>
                <a:latin typeface="Arial"/>
              </a:rPr>
              <a:t>One connection cannot prove a multiplier. It shows whether the model works in practice.</a:t>
            </a:r>
          </a:p>
        </p:txBody>
      </p:sp>
      <p:sp>
        <p:nvSpPr>
          <p:cNvPr id="8" name="Rounded Rectangle 7"/>
          <p:cNvSpPr/>
          <p:nvPr/>
        </p:nvSpPr>
        <p:spPr>
          <a:xfrm>
            <a:off x="356616" y="2377440"/>
            <a:ext cx="2697480" cy="2103120"/>
          </a:xfrm>
          <a:prstGeom prst="roundRect">
            <a:avLst>
              <a:gd name="adj" fmla="val 4347"/>
            </a:avLst>
          </a:prstGeom>
          <a:solidFill>
            <a:srgbClr val="F4F1EF"/>
          </a:solidFill>
          <a:ln>
            <a:noFill/>
          </a:ln>
        </p:spPr>
        <p:txBody>
          <a:bodyPr rtlCol="0" anchor="ctr"/>
          <a:lstStyle/>
          <a:p>
            <a:pPr algn="ctr"/>
          </a:p>
        </p:txBody>
      </p:sp>
      <p:sp>
        <p:nvSpPr>
          <p:cNvPr id="9" name="Oval 8"/>
          <p:cNvSpPr/>
          <p:nvPr/>
        </p:nvSpPr>
        <p:spPr>
          <a:xfrm>
            <a:off x="58521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1</a:t>
            </a:r>
          </a:p>
        </p:txBody>
      </p:sp>
      <p:pic>
        <p:nvPicPr>
          <p:cNvPr id="10" name="Picture 9" descr="LuPlug_c.png"/>
          <p:cNvPicPr>
            <a:picLocks noChangeAspect="1"/>
          </p:cNvPicPr>
          <p:nvPr/>
        </p:nvPicPr>
        <p:blipFill>
          <a:blip r:embed="rId3"/>
          <a:stretch>
            <a:fillRect/>
          </a:stretch>
        </p:blipFill>
        <p:spPr>
          <a:xfrm>
            <a:off x="2487168" y="2578608"/>
            <a:ext cx="347472" cy="347472"/>
          </a:xfrm>
          <a:prstGeom prst="rect">
            <a:avLst/>
          </a:prstGeom>
        </p:spPr>
      </p:pic>
      <p:sp>
        <p:nvSpPr>
          <p:cNvPr id="11" name="TextBox 10"/>
          <p:cNvSpPr txBox="1"/>
          <p:nvPr/>
        </p:nvSpPr>
        <p:spPr>
          <a:xfrm>
            <a:off x="58521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Can it connect?</a:t>
            </a:r>
          </a:p>
        </p:txBody>
      </p:sp>
      <p:sp>
        <p:nvSpPr>
          <p:cNvPr id="12" name="TextBox 11"/>
          <p:cNvSpPr txBox="1"/>
          <p:nvPr/>
        </p:nvSpPr>
        <p:spPr>
          <a:xfrm>
            <a:off x="58521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The tool can technically be connected to Riley, with governance review.</a:t>
            </a:r>
          </a:p>
        </p:txBody>
      </p:sp>
      <p:sp>
        <p:nvSpPr>
          <p:cNvPr id="13" name="Rounded Rectangle 12"/>
          <p:cNvSpPr/>
          <p:nvPr/>
        </p:nvSpPr>
        <p:spPr>
          <a:xfrm>
            <a:off x="3282696" y="2377440"/>
            <a:ext cx="2697480" cy="2103120"/>
          </a:xfrm>
          <a:prstGeom prst="roundRect">
            <a:avLst>
              <a:gd name="adj" fmla="val 4347"/>
            </a:avLst>
          </a:prstGeom>
          <a:solidFill>
            <a:srgbClr val="F4F1EF"/>
          </a:solidFill>
          <a:ln>
            <a:noFill/>
          </a:ln>
        </p:spPr>
        <p:txBody>
          <a:bodyPr rtlCol="0" anchor="ctr"/>
          <a:lstStyle/>
          <a:p>
            <a:pPr algn="ctr"/>
          </a:p>
        </p:txBody>
      </p:sp>
      <p:sp>
        <p:nvSpPr>
          <p:cNvPr id="14" name="Oval 13"/>
          <p:cNvSpPr/>
          <p:nvPr/>
        </p:nvSpPr>
        <p:spPr>
          <a:xfrm>
            <a:off x="351129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2</a:t>
            </a:r>
          </a:p>
        </p:txBody>
      </p:sp>
      <p:pic>
        <p:nvPicPr>
          <p:cNvPr id="15" name="Picture 14" descr="LuRoute_c.png"/>
          <p:cNvPicPr>
            <a:picLocks noChangeAspect="1"/>
          </p:cNvPicPr>
          <p:nvPr/>
        </p:nvPicPr>
        <p:blipFill>
          <a:blip r:embed="rId4"/>
          <a:stretch>
            <a:fillRect/>
          </a:stretch>
        </p:blipFill>
        <p:spPr>
          <a:xfrm>
            <a:off x="5413248" y="2578608"/>
            <a:ext cx="347472" cy="347472"/>
          </a:xfrm>
          <a:prstGeom prst="rect">
            <a:avLst/>
          </a:prstGeom>
        </p:spPr>
      </p:pic>
      <p:sp>
        <p:nvSpPr>
          <p:cNvPr id="16" name="TextBox 15"/>
          <p:cNvSpPr txBox="1"/>
          <p:nvPr/>
        </p:nvSpPr>
        <p:spPr>
          <a:xfrm>
            <a:off x="351129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Used well by Riley?</a:t>
            </a:r>
          </a:p>
        </p:txBody>
      </p:sp>
      <p:sp>
        <p:nvSpPr>
          <p:cNvPr id="17" name="TextBox 16"/>
          <p:cNvSpPr txBox="1"/>
          <p:nvPr/>
        </p:nvSpPr>
        <p:spPr>
          <a:xfrm>
            <a:off x="351129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Riley calls the tool when a task needs it, and uses its output appropriately.</a:t>
            </a:r>
          </a:p>
        </p:txBody>
      </p:sp>
      <p:sp>
        <p:nvSpPr>
          <p:cNvPr id="18" name="Rounded Rectangle 17"/>
          <p:cNvSpPr/>
          <p:nvPr/>
        </p:nvSpPr>
        <p:spPr>
          <a:xfrm>
            <a:off x="6208776" y="2377440"/>
            <a:ext cx="2697480" cy="2103120"/>
          </a:xfrm>
          <a:prstGeom prst="roundRect">
            <a:avLst>
              <a:gd name="adj" fmla="val 4347"/>
            </a:avLst>
          </a:prstGeom>
          <a:solidFill>
            <a:srgbClr val="F4F1EF"/>
          </a:solidFill>
          <a:ln>
            <a:noFill/>
          </a:ln>
        </p:spPr>
        <p:txBody>
          <a:bodyPr rtlCol="0" anchor="ctr"/>
          <a:lstStyle/>
          <a:p>
            <a:pPr algn="ctr"/>
          </a:p>
        </p:txBody>
      </p:sp>
      <p:sp>
        <p:nvSpPr>
          <p:cNvPr id="19" name="Oval 18"/>
          <p:cNvSpPr/>
          <p:nvPr/>
        </p:nvSpPr>
        <p:spPr>
          <a:xfrm>
            <a:off x="643737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3</a:t>
            </a:r>
          </a:p>
        </p:txBody>
      </p:sp>
      <p:pic>
        <p:nvPicPr>
          <p:cNvPr id="20" name="Picture 19" descr="LuMessagesSquare_c.png"/>
          <p:cNvPicPr>
            <a:picLocks noChangeAspect="1"/>
          </p:cNvPicPr>
          <p:nvPr/>
        </p:nvPicPr>
        <p:blipFill>
          <a:blip r:embed="rId5"/>
          <a:stretch>
            <a:fillRect/>
          </a:stretch>
        </p:blipFill>
        <p:spPr>
          <a:xfrm>
            <a:off x="8339328" y="2578608"/>
            <a:ext cx="347472" cy="347472"/>
          </a:xfrm>
          <a:prstGeom prst="rect">
            <a:avLst/>
          </a:prstGeom>
        </p:spPr>
      </p:pic>
      <p:sp>
        <p:nvSpPr>
          <p:cNvPr id="21" name="TextBox 20"/>
          <p:cNvSpPr txBox="1"/>
          <p:nvPr/>
        </p:nvSpPr>
        <p:spPr>
          <a:xfrm>
            <a:off x="643737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Same experience?</a:t>
            </a:r>
          </a:p>
        </p:txBody>
      </p:sp>
      <p:sp>
        <p:nvSpPr>
          <p:cNvPr id="22" name="TextBox 21"/>
          <p:cNvSpPr txBox="1"/>
          <p:nvPr/>
        </p:nvSpPr>
        <p:spPr>
          <a:xfrm>
            <a:off x="643737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Employees reach the new capability in the same Riley conversation. No new tool to learn.</a:t>
            </a:r>
          </a:p>
        </p:txBody>
      </p:sp>
      <p:sp>
        <p:nvSpPr>
          <p:cNvPr id="23" name="Rounded Rectangle 22"/>
          <p:cNvSpPr/>
          <p:nvPr/>
        </p:nvSpPr>
        <p:spPr>
          <a:xfrm>
            <a:off x="9134856" y="2377440"/>
            <a:ext cx="2697480" cy="2103120"/>
          </a:xfrm>
          <a:prstGeom prst="roundRect">
            <a:avLst>
              <a:gd name="adj" fmla="val 4347"/>
            </a:avLst>
          </a:prstGeom>
          <a:solidFill>
            <a:srgbClr val="F4F1EF"/>
          </a:solidFill>
          <a:ln>
            <a:noFill/>
          </a:ln>
        </p:spPr>
        <p:txBody>
          <a:bodyPr rtlCol="0" anchor="ctr"/>
          <a:lstStyle/>
          <a:p>
            <a:pPr algn="ctr"/>
          </a:p>
        </p:txBody>
      </p:sp>
      <p:sp>
        <p:nvSpPr>
          <p:cNvPr id="24" name="Oval 23"/>
          <p:cNvSpPr/>
          <p:nvPr/>
        </p:nvSpPr>
        <p:spPr>
          <a:xfrm>
            <a:off x="9363456" y="2578608"/>
            <a:ext cx="329184" cy="329184"/>
          </a:xfrm>
          <a:prstGeom prst="ellipse">
            <a:avLst/>
          </a:prstGeom>
          <a:solidFill>
            <a:srgbClr val="D31145"/>
          </a:solidFill>
          <a:ln>
            <a:noFill/>
          </a:ln>
        </p:spPr>
        <p:txBody>
          <a:bodyPr rtlCol="0" anchor="ctr" wrap="square" lIns="0" tIns="0" rIns="0" bIns="0">
            <a:noAutofit/>
          </a:bodyPr>
          <a:lstStyle/>
          <a:p>
            <a:pPr algn="ctr">
              <a:spcAft>
                <a:spcPts val="0"/>
              </a:spcAft>
            </a:pPr>
            <a:r>
              <a:rPr sz="1200" b="1" i="0">
                <a:solidFill>
                  <a:srgbClr val="FFFFFF"/>
                </a:solidFill>
                <a:latin typeface="Arial"/>
              </a:rPr>
              <a:t>4</a:t>
            </a:r>
          </a:p>
        </p:txBody>
      </p:sp>
      <p:pic>
        <p:nvPicPr>
          <p:cNvPr id="25" name="Picture 24" descr="LuBadgeCheck_c.png"/>
          <p:cNvPicPr>
            <a:picLocks noChangeAspect="1"/>
          </p:cNvPicPr>
          <p:nvPr/>
        </p:nvPicPr>
        <p:blipFill>
          <a:blip r:embed="rId6"/>
          <a:stretch>
            <a:fillRect/>
          </a:stretch>
        </p:blipFill>
        <p:spPr>
          <a:xfrm>
            <a:off x="11265408" y="2578608"/>
            <a:ext cx="347472" cy="347472"/>
          </a:xfrm>
          <a:prstGeom prst="rect">
            <a:avLst/>
          </a:prstGeom>
        </p:spPr>
      </p:pic>
      <p:sp>
        <p:nvSpPr>
          <p:cNvPr id="26" name="TextBox 25"/>
          <p:cNvSpPr txBox="1"/>
          <p:nvPr/>
        </p:nvSpPr>
        <p:spPr>
          <a:xfrm>
            <a:off x="9363456" y="3063240"/>
            <a:ext cx="2240280" cy="329184"/>
          </a:xfrm>
          <a:prstGeom prst="rect">
            <a:avLst/>
          </a:prstGeom>
          <a:noFill/>
        </p:spPr>
        <p:txBody>
          <a:bodyPr wrap="square" lIns="0" tIns="0" rIns="0" bIns="0" anchor="t">
            <a:noAutofit/>
          </a:bodyPr>
          <a:lstStyle/>
          <a:p>
            <a:pPr algn="l">
              <a:spcAft>
                <a:spcPts val="0"/>
              </a:spcAft>
            </a:pPr>
            <a:r>
              <a:rPr sz="1600" b="1" i="0">
                <a:solidFill>
                  <a:srgbClr val="333D47"/>
                </a:solidFill>
                <a:latin typeface="Arial"/>
              </a:rPr>
              <a:t>Do results hold?</a:t>
            </a:r>
          </a:p>
        </p:txBody>
      </p:sp>
      <p:sp>
        <p:nvSpPr>
          <p:cNvPr id="27" name="TextBox 26"/>
          <p:cNvSpPr txBox="1"/>
          <p:nvPr/>
        </p:nvSpPr>
        <p:spPr>
          <a:xfrm>
            <a:off x="9363456" y="3474720"/>
            <a:ext cx="2240280" cy="914400"/>
          </a:xfrm>
          <a:prstGeom prst="rect">
            <a:avLst/>
          </a:prstGeom>
          <a:noFill/>
        </p:spPr>
        <p:txBody>
          <a:bodyPr wrap="square" lIns="0" tIns="0" rIns="0" bIns="0" anchor="t">
            <a:noAutofit/>
          </a:bodyPr>
          <a:lstStyle/>
          <a:p>
            <a:pPr algn="l">
              <a:spcAft>
                <a:spcPts val="0"/>
              </a:spcAft>
            </a:pPr>
            <a:r>
              <a:rPr sz="1300" b="0" i="0">
                <a:solidFill>
                  <a:srgbClr val="5F6770"/>
                </a:solidFill>
                <a:latin typeface="Arial"/>
              </a:rPr>
              <a:t>Quality, employee effort and usage stay acceptable across both workflows.</a:t>
            </a:r>
          </a:p>
        </p:txBody>
      </p:sp>
      <p:sp>
        <p:nvSpPr>
          <p:cNvPr id="28" name="Rounded Rectangle 27"/>
          <p:cNvSpPr/>
          <p:nvPr/>
        </p:nvSpPr>
        <p:spPr>
          <a:xfrm>
            <a:off x="356616" y="4709160"/>
            <a:ext cx="11475720" cy="868680"/>
          </a:xfrm>
          <a:prstGeom prst="roundRect">
            <a:avLst>
              <a:gd name="adj" fmla="val 10526"/>
            </a:avLst>
          </a:prstGeom>
          <a:solidFill>
            <a:srgbClr val="FFFFFF"/>
          </a:solidFill>
          <a:ln w="12700">
            <a:solidFill>
              <a:srgbClr val="F2B6C6"/>
            </a:solidFill>
          </a:ln>
        </p:spPr>
        <p:txBody>
          <a:bodyPr rtlCol="0" anchor="ctr"/>
          <a:lstStyle/>
          <a:p>
            <a:pPr algn="ctr"/>
          </a:p>
        </p:txBody>
      </p:sp>
      <p:sp>
        <p:nvSpPr>
          <p:cNvPr id="29" name="Oval 28"/>
          <p:cNvSpPr/>
          <p:nvPr/>
        </p:nvSpPr>
        <p:spPr>
          <a:xfrm>
            <a:off x="548640" y="4892040"/>
            <a:ext cx="475488" cy="475488"/>
          </a:xfrm>
          <a:prstGeom prst="ellipse">
            <a:avLst/>
          </a:prstGeom>
          <a:solidFill>
            <a:srgbClr val="FBE8ED"/>
          </a:solidFill>
          <a:ln>
            <a:noFill/>
          </a:ln>
        </p:spPr>
        <p:txBody>
          <a:bodyPr rtlCol="0" anchor="ctr"/>
          <a:lstStyle/>
          <a:p>
            <a:pPr algn="ctr"/>
          </a:p>
        </p:txBody>
      </p:sp>
      <p:pic>
        <p:nvPicPr>
          <p:cNvPr id="30" name="Picture 29" descr="LuRefreshCw_r.png"/>
          <p:cNvPicPr>
            <a:picLocks noChangeAspect="1"/>
          </p:cNvPicPr>
          <p:nvPr/>
        </p:nvPicPr>
        <p:blipFill>
          <a:blip r:embed="rId7"/>
          <a:stretch>
            <a:fillRect/>
          </a:stretch>
        </p:blipFill>
        <p:spPr>
          <a:xfrm>
            <a:off x="658002" y="5001402"/>
            <a:ext cx="256764" cy="256764"/>
          </a:xfrm>
          <a:prstGeom prst="rect">
            <a:avLst/>
          </a:prstGeom>
        </p:spPr>
      </p:pic>
      <p:sp>
        <p:nvSpPr>
          <p:cNvPr id="31" name="TextBox 30"/>
          <p:cNvSpPr txBox="1"/>
          <p:nvPr/>
        </p:nvSpPr>
        <p:spPr>
          <a:xfrm>
            <a:off x="1234440" y="4709160"/>
            <a:ext cx="10332720" cy="868680"/>
          </a:xfrm>
          <a:prstGeom prst="rect">
            <a:avLst/>
          </a:prstGeom>
          <a:noFill/>
        </p:spPr>
        <p:txBody>
          <a:bodyPr wrap="square" lIns="0" tIns="0" rIns="0" bIns="0" anchor="ctr">
            <a:noAutofit/>
          </a:bodyPr>
          <a:lstStyle/>
          <a:p>
            <a:pPr algn="l">
              <a:spcAft>
                <a:spcPts val="0"/>
              </a:spcAft>
            </a:pPr>
            <a:r>
              <a:rPr sz="1400" b="1" i="0">
                <a:solidFill>
                  <a:srgbClr val="D31145"/>
                </a:solidFill>
                <a:latin typeface="Arial"/>
              </a:rPr>
              <a:t>If the chosen tool cannot be connected: </a:t>
            </a:r>
            <a:r>
              <a:rPr sz="1400" b="0" i="0">
                <a:solidFill>
                  <a:srgbClr val="333D47"/>
                </a:solidFill>
                <a:latin typeface="Arial"/>
              </a:rPr>
              <a:t>select another approved capability, and record why the first attempt failed.</a:t>
            </a:r>
          </a:p>
        </p:txBody>
      </p:sp>
      <p:sp>
        <p:nvSpPr>
          <p:cNvPr id="32" name="Slide Number Placeholder"/>
          <p:cNvSpPr>
            <a:spLocks noGrp="1"/>
          </p:cNvSpPr>
          <p:nvPr>
            <p:ph type="sldNum" sz="quarter" idx="4"/>
          </p:nvPr>
        </p:nvSpPr>
        <p:spPr/>
        <p:txBody>
          <a:bodyPr/>
          <a:lstStyle/>
          <a:p>
            <a:fld id="{18A41853-EF22-D446-BDBC-A7CF3FE93503}" type="slidenum">
              <a:rPr lang="en-US"/>
              <a:t>8</a:t>
            </a:fld>
            <a:endParaRPr lang="en-US"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One coworker that can grow in three directions</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SCALABILITY  ·  INNOVATION FOR ENDURING VALUE</a:t>
            </a:r>
          </a:p>
        </p:txBody>
      </p:sp>
      <p:sp>
        <p:nvSpPr>
          <p:cNvPr id="6" name="Rounded Rectangle 5"/>
          <p:cNvSpPr/>
          <p:nvPr/>
        </p:nvSpPr>
        <p:spPr>
          <a:xfrm>
            <a:off x="356616" y="1371600"/>
            <a:ext cx="3639312" cy="1874520"/>
          </a:xfrm>
          <a:prstGeom prst="roundRect">
            <a:avLst>
              <a:gd name="adj" fmla="val 4878"/>
            </a:avLst>
          </a:prstGeom>
          <a:solidFill>
            <a:srgbClr val="F4F1EF"/>
          </a:solidFill>
          <a:ln>
            <a:noFill/>
          </a:ln>
        </p:spPr>
        <p:txBody>
          <a:bodyPr rtlCol="0" anchor="ctr"/>
          <a:lstStyle/>
          <a:p>
            <a:pPr algn="ctr"/>
          </a:p>
        </p:txBody>
      </p:sp>
      <p:sp>
        <p:nvSpPr>
          <p:cNvPr id="7" name="Oval 6"/>
          <p:cNvSpPr/>
          <p:nvPr/>
        </p:nvSpPr>
        <p:spPr>
          <a:xfrm>
            <a:off x="585216" y="1600200"/>
            <a:ext cx="512064" cy="512064"/>
          </a:xfrm>
          <a:prstGeom prst="ellipse">
            <a:avLst/>
          </a:prstGeom>
          <a:solidFill>
            <a:srgbClr val="D31145"/>
          </a:solidFill>
          <a:ln>
            <a:noFill/>
          </a:ln>
        </p:spPr>
        <p:txBody>
          <a:bodyPr rtlCol="0" anchor="ctr"/>
          <a:lstStyle/>
          <a:p>
            <a:pPr algn="ctr"/>
          </a:p>
        </p:txBody>
      </p:sp>
      <p:pic>
        <p:nvPicPr>
          <p:cNvPr id="8" name="Picture 7" descr="LuUsers_w.png"/>
          <p:cNvPicPr>
            <a:picLocks noChangeAspect="1"/>
          </p:cNvPicPr>
          <p:nvPr/>
        </p:nvPicPr>
        <p:blipFill>
          <a:blip r:embed="rId3"/>
          <a:stretch>
            <a:fillRect/>
          </a:stretch>
        </p:blipFill>
        <p:spPr>
          <a:xfrm>
            <a:off x="702991" y="1717975"/>
            <a:ext cx="276515" cy="276515"/>
          </a:xfrm>
          <a:prstGeom prst="rect">
            <a:avLst/>
          </a:prstGeom>
        </p:spPr>
      </p:pic>
      <p:sp>
        <p:nvSpPr>
          <p:cNvPr id="9" name="TextBox 8"/>
          <p:cNvSpPr txBox="1"/>
          <p:nvPr/>
        </p:nvSpPr>
        <p:spPr>
          <a:xfrm>
            <a:off x="1252728"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employees</a:t>
            </a:r>
          </a:p>
        </p:txBody>
      </p:sp>
      <p:sp>
        <p:nvSpPr>
          <p:cNvPr id="10" name="TextBox 9"/>
          <p:cNvSpPr txBox="1"/>
          <p:nvPr/>
        </p:nvSpPr>
        <p:spPr>
          <a:xfrm>
            <a:off x="585216"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From one pilot team to back-office teams across many functions.</a:t>
            </a:r>
          </a:p>
        </p:txBody>
      </p:sp>
      <p:sp>
        <p:nvSpPr>
          <p:cNvPr id="11" name="Rounded Rectangle 10"/>
          <p:cNvSpPr/>
          <p:nvPr/>
        </p:nvSpPr>
        <p:spPr>
          <a:xfrm>
            <a:off x="4274820" y="1371600"/>
            <a:ext cx="3639312" cy="1874520"/>
          </a:xfrm>
          <a:prstGeom prst="roundRect">
            <a:avLst>
              <a:gd name="adj" fmla="val 4878"/>
            </a:avLst>
          </a:prstGeom>
          <a:solidFill>
            <a:srgbClr val="F4F1EF"/>
          </a:solidFill>
          <a:ln>
            <a:noFill/>
          </a:ln>
        </p:spPr>
        <p:txBody>
          <a:bodyPr rtlCol="0" anchor="ctr"/>
          <a:lstStyle/>
          <a:p>
            <a:pPr algn="ctr"/>
          </a:p>
        </p:txBody>
      </p:sp>
      <p:sp>
        <p:nvSpPr>
          <p:cNvPr id="12" name="Oval 11"/>
          <p:cNvSpPr/>
          <p:nvPr/>
        </p:nvSpPr>
        <p:spPr>
          <a:xfrm>
            <a:off x="4503420" y="1600200"/>
            <a:ext cx="512064" cy="512064"/>
          </a:xfrm>
          <a:prstGeom prst="ellipse">
            <a:avLst/>
          </a:prstGeom>
          <a:solidFill>
            <a:srgbClr val="D31145"/>
          </a:solidFill>
          <a:ln>
            <a:noFill/>
          </a:ln>
        </p:spPr>
        <p:txBody>
          <a:bodyPr rtlCol="0" anchor="ctr"/>
          <a:lstStyle/>
          <a:p>
            <a:pPr algn="ctr"/>
          </a:p>
        </p:txBody>
      </p:sp>
      <p:pic>
        <p:nvPicPr>
          <p:cNvPr id="13" name="Picture 12" descr="LuWorkflow_w.png"/>
          <p:cNvPicPr>
            <a:picLocks noChangeAspect="1"/>
          </p:cNvPicPr>
          <p:nvPr/>
        </p:nvPicPr>
        <p:blipFill>
          <a:blip r:embed="rId4"/>
          <a:stretch>
            <a:fillRect/>
          </a:stretch>
        </p:blipFill>
        <p:spPr>
          <a:xfrm>
            <a:off x="4621195" y="1717975"/>
            <a:ext cx="276515" cy="276515"/>
          </a:xfrm>
          <a:prstGeom prst="rect">
            <a:avLst/>
          </a:prstGeom>
        </p:spPr>
      </p:pic>
      <p:sp>
        <p:nvSpPr>
          <p:cNvPr id="14" name="TextBox 13"/>
          <p:cNvSpPr txBox="1"/>
          <p:nvPr/>
        </p:nvSpPr>
        <p:spPr>
          <a:xfrm>
            <a:off x="5170932"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workflows</a:t>
            </a:r>
          </a:p>
        </p:txBody>
      </p:sp>
      <p:sp>
        <p:nvSpPr>
          <p:cNvPr id="15" name="TextBox 14"/>
          <p:cNvSpPr txBox="1"/>
          <p:nvPr/>
        </p:nvSpPr>
        <p:spPr>
          <a:xfrm>
            <a:off x="4503420"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New kinds of work through the same coworker, rather than a new tool each time.</a:t>
            </a:r>
          </a:p>
        </p:txBody>
      </p:sp>
      <p:sp>
        <p:nvSpPr>
          <p:cNvPr id="16" name="Rounded Rectangle 15"/>
          <p:cNvSpPr/>
          <p:nvPr/>
        </p:nvSpPr>
        <p:spPr>
          <a:xfrm>
            <a:off x="8193024" y="1371600"/>
            <a:ext cx="3639312" cy="1874520"/>
          </a:xfrm>
          <a:prstGeom prst="roundRect">
            <a:avLst>
              <a:gd name="adj" fmla="val 4878"/>
            </a:avLst>
          </a:prstGeom>
          <a:solidFill>
            <a:srgbClr val="F4F1EF"/>
          </a:solidFill>
          <a:ln>
            <a:noFill/>
          </a:ln>
        </p:spPr>
        <p:txBody>
          <a:bodyPr rtlCol="0" anchor="ctr"/>
          <a:lstStyle/>
          <a:p>
            <a:pPr algn="ctr"/>
          </a:p>
        </p:txBody>
      </p:sp>
      <p:sp>
        <p:nvSpPr>
          <p:cNvPr id="17" name="Oval 16"/>
          <p:cNvSpPr/>
          <p:nvPr/>
        </p:nvSpPr>
        <p:spPr>
          <a:xfrm>
            <a:off x="8421624" y="1600200"/>
            <a:ext cx="512064" cy="512064"/>
          </a:xfrm>
          <a:prstGeom prst="ellipse">
            <a:avLst/>
          </a:prstGeom>
          <a:solidFill>
            <a:srgbClr val="D31145"/>
          </a:solidFill>
          <a:ln>
            <a:noFill/>
          </a:ln>
        </p:spPr>
        <p:txBody>
          <a:bodyPr rtlCol="0" anchor="ctr"/>
          <a:lstStyle/>
          <a:p>
            <a:pPr algn="ctr"/>
          </a:p>
        </p:txBody>
      </p:sp>
      <p:pic>
        <p:nvPicPr>
          <p:cNvPr id="18" name="Picture 17" descr="LuBlocks_w.png"/>
          <p:cNvPicPr>
            <a:picLocks noChangeAspect="1"/>
          </p:cNvPicPr>
          <p:nvPr/>
        </p:nvPicPr>
        <p:blipFill>
          <a:blip r:embed="rId5"/>
          <a:stretch>
            <a:fillRect/>
          </a:stretch>
        </p:blipFill>
        <p:spPr>
          <a:xfrm>
            <a:off x="8539399" y="1717975"/>
            <a:ext cx="276515" cy="276515"/>
          </a:xfrm>
          <a:prstGeom prst="rect">
            <a:avLst/>
          </a:prstGeom>
        </p:spPr>
      </p:pic>
      <p:sp>
        <p:nvSpPr>
          <p:cNvPr id="19" name="TextBox 18"/>
          <p:cNvSpPr txBox="1"/>
          <p:nvPr/>
        </p:nvSpPr>
        <p:spPr>
          <a:xfrm>
            <a:off x="9089136" y="1600200"/>
            <a:ext cx="2633472" cy="512064"/>
          </a:xfrm>
          <a:prstGeom prst="rect">
            <a:avLst/>
          </a:prstGeom>
          <a:noFill/>
        </p:spPr>
        <p:txBody>
          <a:bodyPr wrap="square" lIns="0" tIns="0" rIns="0" bIns="0" anchor="ctr">
            <a:noAutofit/>
          </a:bodyPr>
          <a:lstStyle/>
          <a:p>
            <a:pPr algn="l">
              <a:lnSpc>
                <a:spcPct val="95000"/>
              </a:lnSpc>
              <a:spcAft>
                <a:spcPts val="0"/>
              </a:spcAft>
            </a:pPr>
            <a:r>
              <a:rPr sz="1700" b="1" i="0">
                <a:solidFill>
                  <a:srgbClr val="333D47"/>
                </a:solidFill>
                <a:latin typeface="Arial"/>
              </a:rPr>
              <a:t>More connected AI capabilities</a:t>
            </a:r>
          </a:p>
        </p:txBody>
      </p:sp>
      <p:sp>
        <p:nvSpPr>
          <p:cNvPr id="20" name="TextBox 19"/>
          <p:cNvSpPr txBox="1"/>
          <p:nvPr/>
        </p:nvSpPr>
        <p:spPr>
          <a:xfrm>
            <a:off x="8421624" y="2286000"/>
            <a:ext cx="3182112" cy="868680"/>
          </a:xfrm>
          <a:prstGeom prst="rect">
            <a:avLst/>
          </a:prstGeom>
          <a:noFill/>
        </p:spPr>
        <p:txBody>
          <a:bodyPr wrap="square" lIns="0" tIns="0" rIns="0" bIns="0" anchor="t">
            <a:noAutofit/>
          </a:bodyPr>
          <a:lstStyle/>
          <a:p>
            <a:pPr algn="l">
              <a:spcAft>
                <a:spcPts val="0"/>
              </a:spcAft>
            </a:pPr>
            <a:r>
              <a:rPr sz="1350" b="0" i="0">
                <a:solidFill>
                  <a:srgbClr val="333D47"/>
                </a:solidFill>
                <a:latin typeface="Arial"/>
              </a:rPr>
              <a:t>Each approved capability could serve every employee permitted to use it. Tested in Phase 2.</a:t>
            </a:r>
          </a:p>
        </p:txBody>
      </p:sp>
      <p:sp>
        <p:nvSpPr>
          <p:cNvPr id="21" name="Rounded Rectangle 20"/>
          <p:cNvSpPr/>
          <p:nvPr/>
        </p:nvSpPr>
        <p:spPr>
          <a:xfrm>
            <a:off x="356616" y="3474720"/>
            <a:ext cx="11475720" cy="1143000"/>
          </a:xfrm>
          <a:prstGeom prst="roundRect">
            <a:avLst>
              <a:gd name="adj" fmla="val 8000"/>
            </a:avLst>
          </a:prstGeom>
          <a:solidFill>
            <a:srgbClr val="D31145"/>
          </a:solidFill>
          <a:ln>
            <a:noFill/>
          </a:ln>
        </p:spPr>
        <p:txBody>
          <a:bodyPr rtlCol="0" anchor="ctr"/>
          <a:lstStyle/>
          <a:p>
            <a:pPr algn="ctr"/>
          </a:p>
        </p:txBody>
      </p:sp>
      <p:sp>
        <p:nvSpPr>
          <p:cNvPr id="22" name="Rounded Rectangle 21"/>
          <p:cNvSpPr/>
          <p:nvPr/>
        </p:nvSpPr>
        <p:spPr>
          <a:xfrm>
            <a:off x="594360" y="3657600"/>
            <a:ext cx="2377440" cy="292608"/>
          </a:xfrm>
          <a:prstGeom prst="roundRect">
            <a:avLst>
              <a:gd name="adj" fmla="val 50000"/>
            </a:avLst>
          </a:prstGeom>
          <a:solidFill>
            <a:srgbClr val="FFFFFF"/>
          </a:solidFill>
          <a:ln w="12700">
            <a:solidFill>
              <a:srgbClr val="FFFFFF"/>
            </a:solidFill>
          </a:ln>
        </p:spPr>
        <p:txBody>
          <a:bodyPr rtlCol="0" anchor="ctr" wrap="square" lIns="36576" tIns="36576" rIns="36576" bIns="36576">
            <a:noAutofit/>
          </a:bodyPr>
          <a:lstStyle/>
          <a:p>
            <a:pPr algn="ctr">
              <a:spcAft>
                <a:spcPts val="0"/>
              </a:spcAft>
            </a:pPr>
            <a:r>
              <a:rPr sz="1000" b="1" i="0" spc="50">
                <a:solidFill>
                  <a:srgbClr val="D31145"/>
                </a:solidFill>
                <a:latin typeface="Arial"/>
              </a:rPr>
              <a:t>VISION, NOT A FORECAST</a:t>
            </a:r>
          </a:p>
        </p:txBody>
      </p:sp>
      <p:sp>
        <p:nvSpPr>
          <p:cNvPr id="23" name="TextBox 22"/>
          <p:cNvSpPr txBox="1"/>
          <p:nvPr/>
        </p:nvSpPr>
        <p:spPr>
          <a:xfrm>
            <a:off x="594360" y="4023360"/>
            <a:ext cx="10972800" cy="457200"/>
          </a:xfrm>
          <a:prstGeom prst="rect">
            <a:avLst/>
          </a:prstGeom>
          <a:noFill/>
        </p:spPr>
        <p:txBody>
          <a:bodyPr wrap="square" lIns="0" tIns="0" rIns="0" bIns="0" anchor="t">
            <a:noAutofit/>
          </a:bodyPr>
          <a:lstStyle/>
          <a:p>
            <a:pPr algn="l">
              <a:spcAft>
                <a:spcPts val="0"/>
              </a:spcAft>
            </a:pPr>
            <a:r>
              <a:rPr sz="1600" b="1" i="0">
                <a:solidFill>
                  <a:srgbClr val="FFFFFF"/>
                </a:solidFill>
                <a:latin typeface="Arial"/>
              </a:rPr>
              <a:t>Every AIA employee can have access to Riley: an AI coworker on demand, with the employee accountable for every decision.</a:t>
            </a:r>
          </a:p>
        </p:txBody>
      </p:sp>
      <p:sp>
        <p:nvSpPr>
          <p:cNvPr id="24" name="Rounded Rectangle 23"/>
          <p:cNvSpPr/>
          <p:nvPr/>
        </p:nvSpPr>
        <p:spPr>
          <a:xfrm>
            <a:off x="356616" y="4846320"/>
            <a:ext cx="5632704" cy="749808"/>
          </a:xfrm>
          <a:prstGeom prst="roundRect">
            <a:avLst>
              <a:gd name="adj" fmla="val 9756"/>
            </a:avLst>
          </a:prstGeom>
          <a:solidFill>
            <a:srgbClr val="FFFFFF"/>
          </a:solidFill>
          <a:ln w="9525">
            <a:solidFill>
              <a:srgbClr val="DDD6D0"/>
            </a:solidFill>
          </a:ln>
        </p:spPr>
        <p:txBody>
          <a:bodyPr rtlCol="0" anchor="ctr"/>
          <a:lstStyle/>
          <a:p>
            <a:pPr algn="ctr"/>
          </a:p>
        </p:txBody>
      </p:sp>
      <p:pic>
        <p:nvPicPr>
          <p:cNvPr id="25" name="Picture 24" descr="LuEarth_c.png"/>
          <p:cNvPicPr>
            <a:picLocks noChangeAspect="1"/>
          </p:cNvPicPr>
          <p:nvPr/>
        </p:nvPicPr>
        <p:blipFill>
          <a:blip r:embed="rId6"/>
          <a:stretch>
            <a:fillRect/>
          </a:stretch>
        </p:blipFill>
        <p:spPr>
          <a:xfrm>
            <a:off x="521208" y="5056632"/>
            <a:ext cx="329184" cy="329184"/>
          </a:xfrm>
          <a:prstGeom prst="rect">
            <a:avLst/>
          </a:prstGeom>
        </p:spPr>
      </p:pic>
      <p:sp>
        <p:nvSpPr>
          <p:cNvPr id="26" name="TextBox 25"/>
          <p:cNvSpPr txBox="1"/>
          <p:nvPr/>
        </p:nvSpPr>
        <p:spPr>
          <a:xfrm>
            <a:off x="1005840" y="4846320"/>
            <a:ext cx="4892040" cy="749808"/>
          </a:xfrm>
          <a:prstGeom prst="rect">
            <a:avLst/>
          </a:prstGeom>
          <a:noFill/>
        </p:spPr>
        <p:txBody>
          <a:bodyPr wrap="square" lIns="0" tIns="0" rIns="0" bIns="0" anchor="ctr">
            <a:noAutofit/>
          </a:bodyPr>
          <a:lstStyle/>
          <a:p>
            <a:pPr algn="l">
              <a:spcAft>
                <a:spcPts val="0"/>
              </a:spcAft>
            </a:pPr>
            <a:r>
              <a:rPr sz="1200" b="1" i="0">
                <a:solidFill>
                  <a:srgbClr val="333D47"/>
                </a:solidFill>
                <a:latin typeface="Arial"/>
              </a:rPr>
              <a:t>Across markets: </a:t>
            </a:r>
            <a:r>
              <a:rPr sz="1200" b="0" i="0">
                <a:solidFill>
                  <a:srgbClr val="333D47"/>
                </a:solidFill>
                <a:latin typeface="Arial"/>
              </a:rPr>
              <a:t>reuse the core experience. Each market still adds its own integrations, data controls, governance and configuration.</a:t>
            </a:r>
          </a:p>
        </p:txBody>
      </p:sp>
      <p:sp>
        <p:nvSpPr>
          <p:cNvPr id="27" name="Rounded Rectangle 26"/>
          <p:cNvSpPr/>
          <p:nvPr/>
        </p:nvSpPr>
        <p:spPr>
          <a:xfrm>
            <a:off x="6199632" y="4846320"/>
            <a:ext cx="5632704" cy="749808"/>
          </a:xfrm>
          <a:prstGeom prst="roundRect">
            <a:avLst>
              <a:gd name="adj" fmla="val 9756"/>
            </a:avLst>
          </a:prstGeom>
          <a:solidFill>
            <a:srgbClr val="FBE8ED"/>
          </a:solidFill>
          <a:ln>
            <a:noFill/>
          </a:ln>
        </p:spPr>
        <p:txBody>
          <a:bodyPr rtlCol="0" anchor="ctr"/>
          <a:lstStyle/>
          <a:p>
            <a:pPr algn="ctr"/>
          </a:p>
        </p:txBody>
      </p:sp>
      <p:pic>
        <p:nvPicPr>
          <p:cNvPr id="28" name="Picture 27" descr="LuTrendingUp_r.png"/>
          <p:cNvPicPr>
            <a:picLocks noChangeAspect="1"/>
          </p:cNvPicPr>
          <p:nvPr/>
        </p:nvPicPr>
        <p:blipFill>
          <a:blip r:embed="rId7"/>
          <a:stretch>
            <a:fillRect/>
          </a:stretch>
        </p:blipFill>
        <p:spPr>
          <a:xfrm>
            <a:off x="6364224" y="5056632"/>
            <a:ext cx="329184" cy="329184"/>
          </a:xfrm>
          <a:prstGeom prst="rect">
            <a:avLst/>
          </a:prstGeom>
        </p:spPr>
      </p:pic>
      <p:sp>
        <p:nvSpPr>
          <p:cNvPr id="29" name="TextBox 28"/>
          <p:cNvSpPr txBox="1"/>
          <p:nvPr/>
        </p:nvSpPr>
        <p:spPr>
          <a:xfrm>
            <a:off x="6848856" y="4846320"/>
            <a:ext cx="4846320" cy="749808"/>
          </a:xfrm>
          <a:prstGeom prst="rect">
            <a:avLst/>
          </a:prstGeom>
          <a:noFill/>
        </p:spPr>
        <p:txBody>
          <a:bodyPr wrap="square" lIns="0" tIns="0" rIns="0" bIns="0" anchor="ctr">
            <a:noAutofit/>
          </a:bodyPr>
          <a:lstStyle/>
          <a:p>
            <a:pPr algn="l">
              <a:spcAft>
                <a:spcPts val="0"/>
              </a:spcAft>
            </a:pPr>
            <a:r>
              <a:rPr sz="1200" b="1" i="0">
                <a:solidFill>
                  <a:srgbClr val="D31145"/>
                </a:solidFill>
                <a:latin typeface="Arial"/>
              </a:rPr>
              <a:t>Enduring value: </a:t>
            </a:r>
            <a:r>
              <a:rPr sz="1200" b="0" i="0">
                <a:solidFill>
                  <a:srgbClr val="333D47"/>
                </a:solidFill>
                <a:latin typeface="Arial"/>
              </a:rPr>
              <a:t>designed so usefulness can grow as capabilities, workflows and feedback are added.</a:t>
            </a:r>
          </a:p>
        </p:txBody>
      </p:sp>
      <p:sp>
        <p:nvSpPr>
          <p:cNvPr id="30" name="Slide Number Placeholder"/>
          <p:cNvSpPr>
            <a:spLocks noGrp="1"/>
          </p:cNvSpPr>
          <p:nvPr>
            <p:ph type="sldNum" sz="quarter" idx="4"/>
          </p:nvPr>
        </p:nvSpPr>
        <p:spPr/>
        <p:txBody>
          <a:bodyPr/>
          <a:lstStyle/>
          <a:p>
            <a:fld id="{18A41853-EF22-D446-BDBC-A7CF3FE93503}" type="slidenum">
              <a:rPr lang="en-US"/>
              <a:t>9</a:t>
            </a:fld>
            <a:endParaRPr lang="en-US"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 Placeholder 3"/>
          <p:cNvSpPr>
            <a:spLocks noGrp="1"/>
          </p:cNvSpPr>
          <p:nvPr>
            <p:ph type="body" idx="10" sz="quarter"/>
          </p:nvPr>
        </p:nvSpPr>
        <p:spPr>
          <a:xfrm>
            <a:off x="356616" y="566928"/>
            <a:ext cx="11155680" cy="457200"/>
          </a:xfrm>
        </p:spPr>
        <p:txBody>
          <a:bodyPr lIns="0" tIns="0" rIns="0" bIns="0" anchor="t"/>
          <a:lstStyle/>
          <a:p>
            <a:pPr algn="l">
              <a:lnSpc>
                <a:spcPct val="95000"/>
              </a:lnSpc>
              <a:spcAft>
                <a:spcPts val="0"/>
              </a:spcAft>
            </a:pPr>
            <a:r>
              <a:rPr sz="3200" b="1" i="0">
                <a:solidFill>
                  <a:srgbClr val="333D47"/>
                </a:solidFill>
                <a:latin typeface="Arial"/>
              </a:rPr>
              <a:t>Practical to start. Built to be trusted.</a:t>
            </a:r>
          </a:p>
        </p:txBody>
      </p:sp>
      <p:sp>
        <p:nvSpPr>
          <p:cNvPr id="5" name="TextBox 4"/>
          <p:cNvSpPr txBox="1"/>
          <p:nvPr/>
        </p:nvSpPr>
        <p:spPr>
          <a:xfrm>
            <a:off x="356616" y="310896"/>
            <a:ext cx="8229600" cy="228600"/>
          </a:xfrm>
          <a:prstGeom prst="rect">
            <a:avLst/>
          </a:prstGeom>
          <a:noFill/>
        </p:spPr>
        <p:txBody>
          <a:bodyPr wrap="square" lIns="0" tIns="0" rIns="0" bIns="0" anchor="t">
            <a:noAutofit/>
          </a:bodyPr>
          <a:lstStyle/>
          <a:p>
            <a:pPr algn="l">
              <a:spcAft>
                <a:spcPts val="0"/>
              </a:spcAft>
            </a:pPr>
            <a:r>
              <a:rPr sz="1100" b="1" i="0" spc="100">
                <a:solidFill>
                  <a:srgbClr val="D31145"/>
                </a:solidFill>
                <a:latin typeface="Arial"/>
              </a:rPr>
              <a:t>FEASIBILITY</a:t>
            </a:r>
          </a:p>
        </p:txBody>
      </p:sp>
      <p:sp>
        <p:nvSpPr>
          <p:cNvPr id="6" name="Oval 5"/>
          <p:cNvSpPr/>
          <p:nvPr/>
        </p:nvSpPr>
        <p:spPr>
          <a:xfrm>
            <a:off x="356616" y="1371600"/>
            <a:ext cx="457200" cy="457200"/>
          </a:xfrm>
          <a:prstGeom prst="ellipse">
            <a:avLst/>
          </a:prstGeom>
          <a:solidFill>
            <a:srgbClr val="333D47"/>
          </a:solidFill>
          <a:ln>
            <a:noFill/>
          </a:ln>
        </p:spPr>
        <p:txBody>
          <a:bodyPr rtlCol="0" anchor="ctr"/>
          <a:lstStyle/>
          <a:p>
            <a:pPr algn="ctr"/>
          </a:p>
        </p:txBody>
      </p:sp>
      <p:pic>
        <p:nvPicPr>
          <p:cNvPr id="7" name="Picture 6" descr="LuMessagesSquare_w.png"/>
          <p:cNvPicPr>
            <a:picLocks noChangeAspect="1"/>
          </p:cNvPicPr>
          <p:nvPr/>
        </p:nvPicPr>
        <p:blipFill>
          <a:blip r:embed="rId3"/>
          <a:stretch>
            <a:fillRect/>
          </a:stretch>
        </p:blipFill>
        <p:spPr>
          <a:xfrm>
            <a:off x="461772" y="1476756"/>
            <a:ext cx="246888" cy="246888"/>
          </a:xfrm>
          <a:prstGeom prst="rect">
            <a:avLst/>
          </a:prstGeom>
        </p:spPr>
      </p:pic>
      <p:sp>
        <p:nvSpPr>
          <p:cNvPr id="8" name="TextBox 7"/>
          <p:cNvSpPr txBox="1"/>
          <p:nvPr/>
        </p:nvSpPr>
        <p:spPr>
          <a:xfrm>
            <a:off x="96012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In Microsoft Teams</a:t>
            </a:r>
          </a:p>
        </p:txBody>
      </p:sp>
      <p:sp>
        <p:nvSpPr>
          <p:cNvPr id="9" name="TextBox 8"/>
          <p:cNvSpPr txBox="1"/>
          <p:nvPr/>
        </p:nvSpPr>
        <p:spPr>
          <a:xfrm>
            <a:off x="96012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where employees already work</a:t>
            </a:r>
          </a:p>
        </p:txBody>
      </p:sp>
      <p:sp>
        <p:nvSpPr>
          <p:cNvPr id="10" name="Oval 9"/>
          <p:cNvSpPr/>
          <p:nvPr/>
        </p:nvSpPr>
        <p:spPr>
          <a:xfrm>
            <a:off x="4273296" y="1371600"/>
            <a:ext cx="457200" cy="457200"/>
          </a:xfrm>
          <a:prstGeom prst="ellipse">
            <a:avLst/>
          </a:prstGeom>
          <a:solidFill>
            <a:srgbClr val="333D47"/>
          </a:solidFill>
          <a:ln>
            <a:noFill/>
          </a:ln>
        </p:spPr>
        <p:txBody>
          <a:bodyPr rtlCol="0" anchor="ctr"/>
          <a:lstStyle/>
          <a:p>
            <a:pPr algn="ctr"/>
          </a:p>
        </p:txBody>
      </p:sp>
      <p:pic>
        <p:nvPicPr>
          <p:cNvPr id="11" name="Picture 10" descr="LuCpu_w.png"/>
          <p:cNvPicPr>
            <a:picLocks noChangeAspect="1"/>
          </p:cNvPicPr>
          <p:nvPr/>
        </p:nvPicPr>
        <p:blipFill>
          <a:blip r:embed="rId4"/>
          <a:stretch>
            <a:fillRect/>
          </a:stretch>
        </p:blipFill>
        <p:spPr>
          <a:xfrm>
            <a:off x="4378452" y="1476756"/>
            <a:ext cx="246888" cy="246888"/>
          </a:xfrm>
          <a:prstGeom prst="rect">
            <a:avLst/>
          </a:prstGeom>
        </p:spPr>
      </p:pic>
      <p:sp>
        <p:nvSpPr>
          <p:cNvPr id="12" name="TextBox 11"/>
          <p:cNvSpPr txBox="1"/>
          <p:nvPr/>
        </p:nvSpPr>
        <p:spPr>
          <a:xfrm>
            <a:off x="487680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On an enterprise AI platform</a:t>
            </a:r>
          </a:p>
        </p:txBody>
      </p:sp>
      <p:sp>
        <p:nvSpPr>
          <p:cNvPr id="13" name="TextBox 12"/>
          <p:cNvSpPr txBox="1"/>
          <p:nvPr/>
        </p:nvSpPr>
        <p:spPr>
          <a:xfrm>
            <a:off x="487680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that AIA has or adopts</a:t>
            </a:r>
          </a:p>
        </p:txBody>
      </p:sp>
      <p:sp>
        <p:nvSpPr>
          <p:cNvPr id="14" name="Oval 13"/>
          <p:cNvSpPr/>
          <p:nvPr/>
        </p:nvSpPr>
        <p:spPr>
          <a:xfrm>
            <a:off x="8189976" y="1371600"/>
            <a:ext cx="457200" cy="457200"/>
          </a:xfrm>
          <a:prstGeom prst="ellipse">
            <a:avLst/>
          </a:prstGeom>
          <a:solidFill>
            <a:srgbClr val="333D47"/>
          </a:solidFill>
          <a:ln>
            <a:noFill/>
          </a:ln>
        </p:spPr>
        <p:txBody>
          <a:bodyPr rtlCol="0" anchor="ctr"/>
          <a:lstStyle/>
          <a:p>
            <a:pPr algn="ctr"/>
          </a:p>
        </p:txBody>
      </p:sp>
      <p:pic>
        <p:nvPicPr>
          <p:cNvPr id="15" name="Picture 14" descr="LuFlag_w.png"/>
          <p:cNvPicPr>
            <a:picLocks noChangeAspect="1"/>
          </p:cNvPicPr>
          <p:nvPr/>
        </p:nvPicPr>
        <p:blipFill>
          <a:blip r:embed="rId5"/>
          <a:stretch>
            <a:fillRect/>
          </a:stretch>
        </p:blipFill>
        <p:spPr>
          <a:xfrm>
            <a:off x="8295132" y="1476756"/>
            <a:ext cx="246888" cy="246888"/>
          </a:xfrm>
          <a:prstGeom prst="rect">
            <a:avLst/>
          </a:prstGeom>
        </p:spPr>
      </p:pic>
      <p:sp>
        <p:nvSpPr>
          <p:cNvPr id="16" name="TextBox 15"/>
          <p:cNvSpPr txBox="1"/>
          <p:nvPr/>
        </p:nvSpPr>
        <p:spPr>
          <a:xfrm>
            <a:off x="8793480" y="1335024"/>
            <a:ext cx="3002280" cy="274320"/>
          </a:xfrm>
          <a:prstGeom prst="rect">
            <a:avLst/>
          </a:prstGeom>
          <a:noFill/>
        </p:spPr>
        <p:txBody>
          <a:bodyPr wrap="square" lIns="0" tIns="0" rIns="0" bIns="0" anchor="t">
            <a:noAutofit/>
          </a:bodyPr>
          <a:lstStyle/>
          <a:p>
            <a:pPr algn="l">
              <a:spcAft>
                <a:spcPts val="0"/>
              </a:spcAft>
            </a:pPr>
            <a:r>
              <a:rPr sz="1500" b="1" i="0">
                <a:solidFill>
                  <a:srgbClr val="333D47"/>
                </a:solidFill>
                <a:latin typeface="Arial"/>
              </a:rPr>
              <a:t>Narrow and gated</a:t>
            </a:r>
          </a:p>
        </p:txBody>
      </p:sp>
      <p:sp>
        <p:nvSpPr>
          <p:cNvPr id="17" name="TextBox 16"/>
          <p:cNvSpPr txBox="1"/>
          <p:nvPr/>
        </p:nvSpPr>
        <p:spPr>
          <a:xfrm>
            <a:off x="8793480" y="1609344"/>
            <a:ext cx="3002280" cy="274320"/>
          </a:xfrm>
          <a:prstGeom prst="rect">
            <a:avLst/>
          </a:prstGeom>
          <a:noFill/>
        </p:spPr>
        <p:txBody>
          <a:bodyPr wrap="square" lIns="0" tIns="0" rIns="0" bIns="0" anchor="t">
            <a:noAutofit/>
          </a:bodyPr>
          <a:lstStyle/>
          <a:p>
            <a:pPr algn="l">
              <a:spcAft>
                <a:spcPts val="0"/>
              </a:spcAft>
            </a:pPr>
            <a:r>
              <a:rPr sz="1250" b="0" i="0">
                <a:solidFill>
                  <a:srgbClr val="5F6770"/>
                </a:solidFill>
                <a:latin typeface="Arial"/>
              </a:rPr>
              <a:t>one team, one workflow first</a:t>
            </a:r>
          </a:p>
        </p:txBody>
      </p:sp>
      <p:cxnSp>
        <p:nvCxnSpPr>
          <p:cNvPr id="18" name="Connector 17"/>
          <p:cNvCxnSpPr/>
          <p:nvPr/>
        </p:nvCxnSpPr>
        <p:spPr>
          <a:xfrm>
            <a:off x="356616" y="2148840"/>
            <a:ext cx="11475720" cy="0"/>
          </a:xfrm>
          <a:prstGeom prst="line">
            <a:avLst/>
          </a:prstGeom>
          <a:ln w="9525">
            <a:solidFill>
              <a:srgbClr val="DDD6D0"/>
            </a:solidFill>
          </a:ln>
        </p:spPr>
      </p:cxnSp>
      <p:sp>
        <p:nvSpPr>
          <p:cNvPr id="19" name="Rounded Rectangle 18"/>
          <p:cNvSpPr/>
          <p:nvPr/>
        </p:nvSpPr>
        <p:spPr>
          <a:xfrm>
            <a:off x="356616" y="2377440"/>
            <a:ext cx="3931920" cy="3200400"/>
          </a:xfrm>
          <a:prstGeom prst="roundRect">
            <a:avLst>
              <a:gd name="adj" fmla="val 2857"/>
            </a:avLst>
          </a:prstGeom>
          <a:solidFill>
            <a:srgbClr val="D31145"/>
          </a:solidFill>
          <a:ln>
            <a:noFill/>
          </a:ln>
        </p:spPr>
        <p:txBody>
          <a:bodyPr rtlCol="0" anchor="ctr"/>
          <a:lstStyle/>
          <a:p>
            <a:pPr algn="ctr"/>
          </a:p>
        </p:txBody>
      </p:sp>
      <p:sp>
        <p:nvSpPr>
          <p:cNvPr id="20" name="Oval 19"/>
          <p:cNvSpPr/>
          <p:nvPr/>
        </p:nvSpPr>
        <p:spPr>
          <a:xfrm>
            <a:off x="594360" y="2606040"/>
            <a:ext cx="548640" cy="548640"/>
          </a:xfrm>
          <a:prstGeom prst="ellipse">
            <a:avLst/>
          </a:prstGeom>
          <a:solidFill>
            <a:srgbClr val="FFFFFF"/>
          </a:solidFill>
          <a:ln>
            <a:noFill/>
          </a:ln>
        </p:spPr>
        <p:txBody>
          <a:bodyPr rtlCol="0" anchor="ctr"/>
          <a:lstStyle/>
          <a:p>
            <a:pPr algn="ctr"/>
          </a:p>
        </p:txBody>
      </p:sp>
      <p:pic>
        <p:nvPicPr>
          <p:cNvPr id="21" name="Picture 20" descr="LuUserCheck_r.png"/>
          <p:cNvPicPr>
            <a:picLocks noChangeAspect="1"/>
          </p:cNvPicPr>
          <p:nvPr/>
        </p:nvPicPr>
        <p:blipFill>
          <a:blip r:embed="rId6"/>
          <a:stretch>
            <a:fillRect/>
          </a:stretch>
        </p:blipFill>
        <p:spPr>
          <a:xfrm>
            <a:off x="720547" y="2732227"/>
            <a:ext cx="296266" cy="296266"/>
          </a:xfrm>
          <a:prstGeom prst="rect">
            <a:avLst/>
          </a:prstGeom>
        </p:spPr>
      </p:pic>
      <p:sp>
        <p:nvSpPr>
          <p:cNvPr id="22" name="TextBox 21"/>
          <p:cNvSpPr txBox="1"/>
          <p:nvPr/>
        </p:nvSpPr>
        <p:spPr>
          <a:xfrm>
            <a:off x="594360" y="3291840"/>
            <a:ext cx="3474720" cy="640080"/>
          </a:xfrm>
          <a:prstGeom prst="rect">
            <a:avLst/>
          </a:prstGeom>
          <a:noFill/>
        </p:spPr>
        <p:txBody>
          <a:bodyPr wrap="square" lIns="0" tIns="0" rIns="0" bIns="0" anchor="t">
            <a:noAutofit/>
          </a:bodyPr>
          <a:lstStyle/>
          <a:p>
            <a:pPr algn="l">
              <a:lnSpc>
                <a:spcPct val="95000"/>
              </a:lnSpc>
              <a:spcAft>
                <a:spcPts val="0"/>
              </a:spcAft>
            </a:pPr>
            <a:r>
              <a:rPr sz="1900" b="1" i="0">
                <a:solidFill>
                  <a:srgbClr val="FFFFFF"/>
                </a:solidFill>
                <a:latin typeface="Arial"/>
              </a:rPr>
              <a:t>Approval before any final action</a:t>
            </a:r>
          </a:p>
        </p:txBody>
      </p:sp>
      <p:sp>
        <p:nvSpPr>
          <p:cNvPr id="23" name="TextBox 22"/>
          <p:cNvSpPr txBox="1"/>
          <p:nvPr/>
        </p:nvSpPr>
        <p:spPr>
          <a:xfrm>
            <a:off x="594360" y="4005072"/>
            <a:ext cx="3474720" cy="1463040"/>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Riley can do the intermediate steps. Nothing is finalized, sent to anyone or entered into a business system until the employee approves. The employee stays accountable.</a:t>
            </a:r>
          </a:p>
        </p:txBody>
      </p:sp>
      <p:pic>
        <p:nvPicPr>
          <p:cNvPr id="24" name="Picture 23" descr="LuKeyRound_r.png"/>
          <p:cNvPicPr>
            <a:picLocks noChangeAspect="1"/>
          </p:cNvPicPr>
          <p:nvPr/>
        </p:nvPicPr>
        <p:blipFill>
          <a:blip r:embed="rId7"/>
          <a:stretch>
            <a:fillRect/>
          </a:stretch>
        </p:blipFill>
        <p:spPr>
          <a:xfrm>
            <a:off x="4617720" y="2468880"/>
            <a:ext cx="292608" cy="292608"/>
          </a:xfrm>
          <a:prstGeom prst="rect">
            <a:avLst/>
          </a:prstGeom>
        </p:spPr>
      </p:pic>
      <p:sp>
        <p:nvSpPr>
          <p:cNvPr id="25" name="TextBox 24"/>
          <p:cNvSpPr txBox="1"/>
          <p:nvPr/>
        </p:nvSpPr>
        <p:spPr>
          <a:xfrm>
            <a:off x="5074920" y="237744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Employee permissions only</a:t>
            </a:r>
          </a:p>
        </p:txBody>
      </p:sp>
      <p:sp>
        <p:nvSpPr>
          <p:cNvPr id="26" name="TextBox 25"/>
          <p:cNvSpPr txBox="1"/>
          <p:nvPr/>
        </p:nvSpPr>
        <p:spPr>
          <a:xfrm>
            <a:off x="7909560" y="2377440"/>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Riley uses only what the requesting employee can already access.</a:t>
            </a:r>
          </a:p>
        </p:txBody>
      </p:sp>
      <p:cxnSp>
        <p:nvCxnSpPr>
          <p:cNvPr id="27" name="Connector 26"/>
          <p:cNvCxnSpPr/>
          <p:nvPr/>
        </p:nvCxnSpPr>
        <p:spPr>
          <a:xfrm>
            <a:off x="4617720" y="2889504"/>
            <a:ext cx="7214616" cy="0"/>
          </a:xfrm>
          <a:prstGeom prst="line">
            <a:avLst/>
          </a:prstGeom>
          <a:ln w="9525">
            <a:solidFill>
              <a:srgbClr val="F4F1EF"/>
            </a:solidFill>
          </a:ln>
        </p:spPr>
      </p:cxnSp>
      <p:pic>
        <p:nvPicPr>
          <p:cNvPr id="28" name="Picture 27" descr="LuShieldCheck_r.png"/>
          <p:cNvPicPr>
            <a:picLocks noChangeAspect="1"/>
          </p:cNvPicPr>
          <p:nvPr/>
        </p:nvPicPr>
        <p:blipFill>
          <a:blip r:embed="rId8"/>
          <a:stretch>
            <a:fillRect/>
          </a:stretch>
        </p:blipFill>
        <p:spPr>
          <a:xfrm>
            <a:off x="4617720" y="3008376"/>
            <a:ext cx="292608" cy="292608"/>
          </a:xfrm>
          <a:prstGeom prst="rect">
            <a:avLst/>
          </a:prstGeom>
        </p:spPr>
      </p:pic>
      <p:sp>
        <p:nvSpPr>
          <p:cNvPr id="29" name="TextBox 28"/>
          <p:cNvSpPr txBox="1"/>
          <p:nvPr/>
        </p:nvSpPr>
        <p:spPr>
          <a:xfrm>
            <a:off x="5074920" y="2916936"/>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AIA data and security controls</a:t>
            </a:r>
          </a:p>
        </p:txBody>
      </p:sp>
      <p:sp>
        <p:nvSpPr>
          <p:cNvPr id="30" name="TextBox 29"/>
          <p:cNvSpPr txBox="1"/>
          <p:nvPr/>
        </p:nvSpPr>
        <p:spPr>
          <a:xfrm>
            <a:off x="7909560" y="2916936"/>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Existing privacy and security controls apply. Approved external sources only.</a:t>
            </a:r>
          </a:p>
        </p:txBody>
      </p:sp>
      <p:cxnSp>
        <p:nvCxnSpPr>
          <p:cNvPr id="31" name="Connector 30"/>
          <p:cNvCxnSpPr/>
          <p:nvPr/>
        </p:nvCxnSpPr>
        <p:spPr>
          <a:xfrm>
            <a:off x="4617720" y="3429000"/>
            <a:ext cx="7214616" cy="0"/>
          </a:xfrm>
          <a:prstGeom prst="line">
            <a:avLst/>
          </a:prstGeom>
          <a:ln w="9525">
            <a:solidFill>
              <a:srgbClr val="F4F1EF"/>
            </a:solidFill>
          </a:ln>
        </p:spPr>
      </p:cxnSp>
      <p:pic>
        <p:nvPicPr>
          <p:cNvPr id="32" name="Picture 31" descr="LuScrollText_r.png"/>
          <p:cNvPicPr>
            <a:picLocks noChangeAspect="1"/>
          </p:cNvPicPr>
          <p:nvPr/>
        </p:nvPicPr>
        <p:blipFill>
          <a:blip r:embed="rId9"/>
          <a:stretch>
            <a:fillRect/>
          </a:stretch>
        </p:blipFill>
        <p:spPr>
          <a:xfrm>
            <a:off x="4617720" y="3547872"/>
            <a:ext cx="292608" cy="292608"/>
          </a:xfrm>
          <a:prstGeom prst="rect">
            <a:avLst/>
          </a:prstGeom>
        </p:spPr>
      </p:pic>
      <p:sp>
        <p:nvSpPr>
          <p:cNvPr id="33" name="TextBox 32"/>
          <p:cNvSpPr txBox="1"/>
          <p:nvPr/>
        </p:nvSpPr>
        <p:spPr>
          <a:xfrm>
            <a:off x="5074920" y="3456432"/>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An appropriate record</a:t>
            </a:r>
          </a:p>
        </p:txBody>
      </p:sp>
      <p:sp>
        <p:nvSpPr>
          <p:cNvPr id="34" name="TextBox 33"/>
          <p:cNvSpPr txBox="1"/>
          <p:nvPr/>
        </p:nvSpPr>
        <p:spPr>
          <a:xfrm>
            <a:off x="7909560" y="3456432"/>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Of the request, capabilities used, output, approval and final action.</a:t>
            </a:r>
          </a:p>
        </p:txBody>
      </p:sp>
      <p:cxnSp>
        <p:nvCxnSpPr>
          <p:cNvPr id="35" name="Connector 34"/>
          <p:cNvCxnSpPr/>
          <p:nvPr/>
        </p:nvCxnSpPr>
        <p:spPr>
          <a:xfrm>
            <a:off x="4617720" y="3968496"/>
            <a:ext cx="7214616" cy="0"/>
          </a:xfrm>
          <a:prstGeom prst="line">
            <a:avLst/>
          </a:prstGeom>
          <a:ln w="9525">
            <a:solidFill>
              <a:srgbClr val="F4F1EF"/>
            </a:solidFill>
          </a:ln>
        </p:spPr>
      </p:cxnSp>
      <p:pic>
        <p:nvPicPr>
          <p:cNvPr id="36" name="Picture 35" descr="LuRefreshCw_r.png"/>
          <p:cNvPicPr>
            <a:picLocks noChangeAspect="1"/>
          </p:cNvPicPr>
          <p:nvPr/>
        </p:nvPicPr>
        <p:blipFill>
          <a:blip r:embed="rId10"/>
          <a:stretch>
            <a:fillRect/>
          </a:stretch>
        </p:blipFill>
        <p:spPr>
          <a:xfrm>
            <a:off x="4617720" y="4087368"/>
            <a:ext cx="292608" cy="292608"/>
          </a:xfrm>
          <a:prstGeom prst="rect">
            <a:avLst/>
          </a:prstGeom>
        </p:spPr>
      </p:pic>
      <p:sp>
        <p:nvSpPr>
          <p:cNvPr id="37" name="TextBox 36"/>
          <p:cNvSpPr txBox="1"/>
          <p:nvPr/>
        </p:nvSpPr>
        <p:spPr>
          <a:xfrm>
            <a:off x="5074920" y="3995928"/>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Governed feedback and learning</a:t>
            </a:r>
          </a:p>
        </p:txBody>
      </p:sp>
      <p:sp>
        <p:nvSpPr>
          <p:cNvPr id="38" name="TextBox 37"/>
          <p:cNvSpPr txBox="1"/>
          <p:nvPr/>
        </p:nvSpPr>
        <p:spPr>
          <a:xfrm>
            <a:off x="7909560" y="3995928"/>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Agreed with risk and IT before it changes Riley’s behaviour.</a:t>
            </a:r>
          </a:p>
        </p:txBody>
      </p:sp>
      <p:cxnSp>
        <p:nvCxnSpPr>
          <p:cNvPr id="39" name="Connector 38"/>
          <p:cNvCxnSpPr/>
          <p:nvPr/>
        </p:nvCxnSpPr>
        <p:spPr>
          <a:xfrm>
            <a:off x="4617720" y="4507992"/>
            <a:ext cx="7214616" cy="0"/>
          </a:xfrm>
          <a:prstGeom prst="line">
            <a:avLst/>
          </a:prstGeom>
          <a:ln w="9525">
            <a:solidFill>
              <a:srgbClr val="F4F1EF"/>
            </a:solidFill>
          </a:ln>
        </p:spPr>
      </p:cxnSp>
      <p:pic>
        <p:nvPicPr>
          <p:cNvPr id="40" name="Picture 39" descr="LuSearchCheck_r.png"/>
          <p:cNvPicPr>
            <a:picLocks noChangeAspect="1"/>
          </p:cNvPicPr>
          <p:nvPr/>
        </p:nvPicPr>
        <p:blipFill>
          <a:blip r:embed="rId11"/>
          <a:stretch>
            <a:fillRect/>
          </a:stretch>
        </p:blipFill>
        <p:spPr>
          <a:xfrm>
            <a:off x="4617720" y="4626864"/>
            <a:ext cx="292608" cy="292608"/>
          </a:xfrm>
          <a:prstGeom prst="rect">
            <a:avLst/>
          </a:prstGeom>
        </p:spPr>
      </p:pic>
      <p:sp>
        <p:nvSpPr>
          <p:cNvPr id="41" name="TextBox 40"/>
          <p:cNvSpPr txBox="1"/>
          <p:nvPr/>
        </p:nvSpPr>
        <p:spPr>
          <a:xfrm>
            <a:off x="5074920" y="4535424"/>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Independent quality checks</a:t>
            </a:r>
          </a:p>
        </p:txBody>
      </p:sp>
      <p:sp>
        <p:nvSpPr>
          <p:cNvPr id="42" name="TextBox 41"/>
          <p:cNvSpPr txBox="1"/>
          <p:nvPr/>
        </p:nvSpPr>
        <p:spPr>
          <a:xfrm>
            <a:off x="7909560" y="4535424"/>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A business reviewer periodically samples Riley’s work.</a:t>
            </a:r>
          </a:p>
        </p:txBody>
      </p:sp>
      <p:cxnSp>
        <p:nvCxnSpPr>
          <p:cNvPr id="43" name="Connector 42"/>
          <p:cNvCxnSpPr/>
          <p:nvPr/>
        </p:nvCxnSpPr>
        <p:spPr>
          <a:xfrm>
            <a:off x="4617720" y="5047488"/>
            <a:ext cx="7214616" cy="0"/>
          </a:xfrm>
          <a:prstGeom prst="line">
            <a:avLst/>
          </a:prstGeom>
          <a:ln w="9525">
            <a:solidFill>
              <a:srgbClr val="F4F1EF"/>
            </a:solidFill>
          </a:ln>
        </p:spPr>
      </p:cxnSp>
      <p:pic>
        <p:nvPicPr>
          <p:cNvPr id="44" name="Picture 43" descr="LuTarget_r.png"/>
          <p:cNvPicPr>
            <a:picLocks noChangeAspect="1"/>
          </p:cNvPicPr>
          <p:nvPr/>
        </p:nvPicPr>
        <p:blipFill>
          <a:blip r:embed="rId12"/>
          <a:stretch>
            <a:fillRect/>
          </a:stretch>
        </p:blipFill>
        <p:spPr>
          <a:xfrm>
            <a:off x="4617720" y="5166360"/>
            <a:ext cx="292608" cy="292608"/>
          </a:xfrm>
          <a:prstGeom prst="rect">
            <a:avLst/>
          </a:prstGeom>
        </p:spPr>
      </p:pic>
      <p:sp>
        <p:nvSpPr>
          <p:cNvPr id="45" name="TextBox 44"/>
          <p:cNvSpPr txBox="1"/>
          <p:nvPr/>
        </p:nvSpPr>
        <p:spPr>
          <a:xfrm>
            <a:off x="5074920" y="5074920"/>
            <a:ext cx="2834640" cy="475488"/>
          </a:xfrm>
          <a:prstGeom prst="rect">
            <a:avLst/>
          </a:prstGeom>
          <a:noFill/>
        </p:spPr>
        <p:txBody>
          <a:bodyPr wrap="square" lIns="0" tIns="0" rIns="0" bIns="0" anchor="ctr">
            <a:noAutofit/>
          </a:bodyPr>
          <a:lstStyle/>
          <a:p>
            <a:pPr algn="l">
              <a:spcAft>
                <a:spcPts val="0"/>
              </a:spcAft>
            </a:pPr>
            <a:r>
              <a:rPr sz="1350" b="1" i="0">
                <a:solidFill>
                  <a:srgbClr val="333D47"/>
                </a:solidFill>
                <a:latin typeface="Arial"/>
              </a:rPr>
              <a:t>First workflow chosen with care</a:t>
            </a:r>
          </a:p>
        </p:txBody>
      </p:sp>
      <p:sp>
        <p:nvSpPr>
          <p:cNvPr id="46" name="TextBox 45"/>
          <p:cNvSpPr txBox="1"/>
          <p:nvPr/>
        </p:nvSpPr>
        <p:spPr>
          <a:xfrm>
            <a:off x="7909560" y="5074920"/>
            <a:ext cx="3886200" cy="475488"/>
          </a:xfrm>
          <a:prstGeom prst="rect">
            <a:avLst/>
          </a:prstGeom>
          <a:noFill/>
        </p:spPr>
        <p:txBody>
          <a:bodyPr wrap="square" lIns="0" tIns="0" rIns="0" bIns="0" anchor="ctr">
            <a:noAutofit/>
          </a:bodyPr>
          <a:lstStyle/>
          <a:p>
            <a:pPr algn="l">
              <a:spcAft>
                <a:spcPts val="0"/>
              </a:spcAft>
            </a:pPr>
            <a:r>
              <a:rPr sz="1200" b="0" i="0">
                <a:solidFill>
                  <a:srgbClr val="5F6770"/>
                </a:solidFill>
                <a:latin typeface="Arial"/>
              </a:rPr>
              <a:t>Weighing value, readiness, data sensitivity and governance.</a:t>
            </a:r>
          </a:p>
        </p:txBody>
      </p:sp>
      <p:sp>
        <p:nvSpPr>
          <p:cNvPr id="47" name="Slide Number Placeholder"/>
          <p:cNvSpPr>
            <a:spLocks noGrp="1"/>
          </p:cNvSpPr>
          <p:nvPr>
            <p:ph type="sldNum" sz="quarter" idx="4"/>
          </p:nvPr>
        </p:nvSpPr>
        <p:spPr/>
        <p:txBody>
          <a:bodyPr/>
          <a:lstStyle/>
          <a:p>
            <a:fld id="{18A41853-EF22-D446-BDBC-A7CF3FE93503}" type="slidenum">
              <a:rPr lang="en-US"/>
              <a:t>10</a:t>
            </a:fld>
            <a:endParaRPr lang="en-US"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1" sz="quarter"/>
          </p:nvPr>
        </p:nvSpPr>
        <p:spPr>
          <a:xfrm>
            <a:off x="356616" y="1143000"/>
            <a:ext cx="5943600" cy="1097280"/>
          </a:xfrm>
        </p:spPr>
        <p:txBody>
          <a:bodyPr lIns="0" tIns="0" rIns="0" bIns="0" anchor="t"/>
          <a:lstStyle/>
          <a:p>
            <a:pPr algn="l">
              <a:lnSpc>
                <a:spcPct val="92000"/>
              </a:lnSpc>
              <a:spcAft>
                <a:spcPts val="0"/>
              </a:spcAft>
            </a:pPr>
            <a:r>
              <a:rPr sz="4000" b="1" i="0">
                <a:solidFill>
                  <a:srgbClr val="FFFFFF"/>
                </a:solidFill>
                <a:latin typeface="Arial"/>
              </a:rPr>
              <a:t>Fund Phase 1.</a:t>
            </a:r>
          </a:p>
          <a:p>
            <a:pPr algn="l">
              <a:lnSpc>
                <a:spcPct val="92000"/>
              </a:lnSpc>
              <a:spcAft>
                <a:spcPts val="0"/>
              </a:spcAft>
            </a:pPr>
            <a:r>
              <a:rPr sz="4000" b="1" i="0">
                <a:solidFill>
                  <a:srgbClr val="FFFFFF"/>
                </a:solidFill>
                <a:latin typeface="Arial"/>
              </a:rPr>
              <a:t>Let the evidence decide.</a:t>
            </a:r>
          </a:p>
        </p:txBody>
      </p:sp>
      <p:sp>
        <p:nvSpPr>
          <p:cNvPr id="4" name="TextBox 3"/>
          <p:cNvSpPr txBox="1"/>
          <p:nvPr/>
        </p:nvSpPr>
        <p:spPr>
          <a:xfrm>
            <a:off x="356616" y="2542032"/>
            <a:ext cx="5852160" cy="329184"/>
          </a:xfrm>
          <a:prstGeom prst="rect">
            <a:avLst/>
          </a:prstGeom>
          <a:noFill/>
        </p:spPr>
        <p:txBody>
          <a:bodyPr wrap="square" lIns="0" tIns="0" rIns="0" bIns="0" anchor="t">
            <a:noAutofit/>
          </a:bodyPr>
          <a:lstStyle/>
          <a:p>
            <a:pPr algn="l">
              <a:spcAft>
                <a:spcPts val="0"/>
              </a:spcAft>
            </a:pPr>
            <a:r>
              <a:rPr sz="1500" b="0" i="0">
                <a:solidFill>
                  <a:srgbClr val="FFFFFF"/>
                </a:solidFill>
                <a:latin typeface="Arial"/>
              </a:rPr>
              <a:t>Phase 1 establishes whether Riley deserves to scale.</a:t>
            </a:r>
          </a:p>
        </p:txBody>
      </p:sp>
      <p:sp>
        <p:nvSpPr>
          <p:cNvPr id="5" name="TextBox 4"/>
          <p:cNvSpPr txBox="1"/>
          <p:nvPr/>
        </p:nvSpPr>
        <p:spPr>
          <a:xfrm>
            <a:off x="356616" y="3035808"/>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FUND</a:t>
            </a:r>
          </a:p>
        </p:txBody>
      </p:sp>
      <p:sp>
        <p:nvSpPr>
          <p:cNvPr id="6" name="TextBox 5"/>
          <p:cNvSpPr txBox="1"/>
          <p:nvPr/>
        </p:nvSpPr>
        <p:spPr>
          <a:xfrm>
            <a:off x="1417320" y="3008376"/>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Phase 1: one team, one workflow, about 3 months. Preliminary estimate ~US$20,000–60,000 incremental. Phase 2–3 costs scoped from Phase 1 results.</a:t>
            </a:r>
          </a:p>
        </p:txBody>
      </p:sp>
      <p:sp>
        <p:nvSpPr>
          <p:cNvPr id="7" name="TextBox 6"/>
          <p:cNvSpPr txBox="1"/>
          <p:nvPr/>
        </p:nvSpPr>
        <p:spPr>
          <a:xfrm>
            <a:off x="356616" y="3749040"/>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PEOPLE</a:t>
            </a:r>
          </a:p>
        </p:txBody>
      </p:sp>
      <p:sp>
        <p:nvSpPr>
          <p:cNvPr id="8" name="TextBox 7"/>
          <p:cNvSpPr txBox="1"/>
          <p:nvPr/>
        </p:nvSpPr>
        <p:spPr>
          <a:xfrm>
            <a:off x="1417320" y="3721608"/>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A business sponsor, a small build pod, a business quality reviewer, system and data owners, and Group Innovation Office mentorship.</a:t>
            </a:r>
          </a:p>
        </p:txBody>
      </p:sp>
      <p:sp>
        <p:nvSpPr>
          <p:cNvPr id="9" name="TextBox 8"/>
          <p:cNvSpPr txBox="1"/>
          <p:nvPr/>
        </p:nvSpPr>
        <p:spPr>
          <a:xfrm>
            <a:off x="356616" y="4462272"/>
            <a:ext cx="1097280" cy="274320"/>
          </a:xfrm>
          <a:prstGeom prst="rect">
            <a:avLst/>
          </a:prstGeom>
          <a:noFill/>
        </p:spPr>
        <p:txBody>
          <a:bodyPr wrap="square" lIns="0" tIns="0" rIns="0" bIns="0" anchor="t">
            <a:noAutofit/>
          </a:bodyPr>
          <a:lstStyle/>
          <a:p>
            <a:pPr algn="l">
              <a:spcAft>
                <a:spcPts val="0"/>
              </a:spcAft>
            </a:pPr>
            <a:r>
              <a:rPr sz="1200" b="1" i="0" spc="150">
                <a:solidFill>
                  <a:srgbClr val="FFFFFF"/>
                </a:solidFill>
                <a:latin typeface="Arial"/>
              </a:rPr>
              <a:t>LEARN</a:t>
            </a:r>
          </a:p>
        </p:txBody>
      </p:sp>
      <p:sp>
        <p:nvSpPr>
          <p:cNvPr id="10" name="TextBox 9"/>
          <p:cNvSpPr txBox="1"/>
          <p:nvPr/>
        </p:nvSpPr>
        <p:spPr>
          <a:xfrm>
            <a:off x="1417320" y="4434840"/>
            <a:ext cx="4846320" cy="713232"/>
          </a:xfrm>
          <a:prstGeom prst="rect">
            <a:avLst/>
          </a:prstGeom>
          <a:noFill/>
        </p:spPr>
        <p:txBody>
          <a:bodyPr wrap="square" lIns="0" tIns="0" rIns="0" bIns="0" anchor="t">
            <a:noAutofit/>
          </a:bodyPr>
          <a:lstStyle/>
          <a:p>
            <a:pPr algn="l">
              <a:spcAft>
                <a:spcPts val="0"/>
              </a:spcAft>
            </a:pPr>
            <a:r>
              <a:rPr sz="1300" b="0" i="0">
                <a:solidFill>
                  <a:srgbClr val="FFFFFF"/>
                </a:solidFill>
                <a:latin typeface="Arial"/>
              </a:rPr>
              <a:t>Month 4: measured effort, quality and adoption. Month 7: whether another team’s AI tool can work through Riley in the same experience.</a:t>
            </a:r>
          </a:p>
        </p:txBody>
      </p:sp>
      <p:sp>
        <p:nvSpPr>
          <p:cNvPr id="11" name="TextBox 10"/>
          <p:cNvSpPr txBox="1"/>
          <p:nvPr/>
        </p:nvSpPr>
        <p:spPr>
          <a:xfrm>
            <a:off x="356616" y="5257800"/>
            <a:ext cx="5897880" cy="640080"/>
          </a:xfrm>
          <a:prstGeom prst="rect">
            <a:avLst/>
          </a:prstGeom>
          <a:noFill/>
        </p:spPr>
        <p:txBody>
          <a:bodyPr wrap="square" lIns="0" tIns="0" rIns="0" bIns="0" anchor="t">
            <a:noAutofit/>
          </a:bodyPr>
          <a:lstStyle/>
          <a:p>
            <a:pPr algn="l">
              <a:lnSpc>
                <a:spcPct val="100000"/>
              </a:lnSpc>
              <a:spcAft>
                <a:spcPts val="0"/>
              </a:spcAft>
            </a:pPr>
            <a:r>
              <a:rPr sz="1600" b="1" i="0">
                <a:solidFill>
                  <a:srgbClr val="FFFFFF"/>
                </a:solidFill>
                <a:latin typeface="Arial"/>
              </a:rPr>
              <a:t>The ambition: an AI coworker for every AIA employee. The first step: one team, measured.</a:t>
            </a:r>
          </a:p>
        </p:txBody>
      </p:sp>
    </p:spTree>
  </p:cSld>
  <p:clrMapOvr>
    <a:masterClrMapping/>
  </p:clrMapOvr>
</p:sld>
</file>

<file path=ppt/theme/theme1.xml><?xml version="1.0" encoding="utf-8"?>
<a:theme xmlns:a="http://schemas.openxmlformats.org/drawingml/2006/main" name="AIA_2020">
  <a:themeElements>
    <a:clrScheme name="AIA_2020">
      <a:dk1>
        <a:srgbClr val="303D48"/>
      </a:dk1>
      <a:lt1>
        <a:srgbClr val="FFFFFF"/>
      </a:lt1>
      <a:dk2>
        <a:srgbClr val="1F78AD"/>
      </a:dk2>
      <a:lt2>
        <a:srgbClr val="D3CAC3"/>
      </a:lt2>
      <a:accent1>
        <a:srgbClr val="D31145"/>
      </a:accent1>
      <a:accent2>
        <a:srgbClr val="BA0361"/>
      </a:accent2>
      <a:accent3>
        <a:srgbClr val="FF754D"/>
      </a:accent3>
      <a:accent4>
        <a:srgbClr val="F7C926"/>
      </a:accent4>
      <a:accent5>
        <a:srgbClr val="A199BA"/>
      </a:accent5>
      <a:accent6>
        <a:srgbClr val="4C4793"/>
      </a:accent6>
      <a:hlink>
        <a:srgbClr val="4C4793"/>
      </a:hlink>
      <a:folHlink>
        <a:srgbClr val="08456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defRPr dirty="0" err="1"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AIA_PPT_Template_2018_16x9_V3.1" id="{C24C495E-28EC-4C06-8757-BE4D80E4F71D}" vid="{3469129E-3778-43A8-9BE1-B54836CD943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1521</TotalTime>
  <Words>1</Words>
  <Application>Microsoft Office PowerPoint</Application>
  <PresentationFormat>Widescreen</PresentationFormat>
  <Paragraphs>1</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Arial</vt:lpstr>
      <vt:lpstr>Calibri</vt:lpstr>
      <vt:lpstr>AIA_2020</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Wang, Harry-CC</dc:creator>
  <cp:lastModifiedBy>Wang, Harry-CC</cp:lastModifiedBy>
  <cp:revision>4</cp:revision>
  <cp:lastPrinted>2020-05-18T12:18:52Z</cp:lastPrinted>
  <dcterms:created xsi:type="dcterms:W3CDTF">2026-09-21T01:03:41Z</dcterms:created>
  <dcterms:modified xsi:type="dcterms:W3CDTF">2026-09-23T02:34:05Z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1b32ef-ed69-48a4-80a7-c96eee60b7ed_Enabled">
    <vt:lpwstr>true</vt:lpwstr>
  </property>
  <property fmtid="{D5CDD505-2E9C-101B-9397-08002B2CF9AE}" pid="3" name="MSIP_Label_891b32ef-ed69-48a4-80a7-c96eee60b7ed_SetDate">
    <vt:lpwstr>2026-09-21T01:43:46Z</vt:lpwstr>
  </property>
  <property fmtid="{D5CDD505-2E9C-101B-9397-08002B2CF9AE}" pid="4" name="MSIP_Label_891b32ef-ed69-48a4-80a7-c96eee60b7ed_Method">
    <vt:lpwstr>Privileged</vt:lpwstr>
  </property>
  <property fmtid="{D5CDD505-2E9C-101B-9397-08002B2CF9AE}" pid="5" name="MSIP_Label_891b32ef-ed69-48a4-80a7-c96eee60b7ed_Name">
    <vt:lpwstr>891b32ef-ed69-48a4-80a7-c96eee60b7ed</vt:lpwstr>
  </property>
  <property fmtid="{D5CDD505-2E9C-101B-9397-08002B2CF9AE}" pid="6" name="MSIP_Label_891b32ef-ed69-48a4-80a7-c96eee60b7ed_SiteId">
    <vt:lpwstr>7f2c1900-9fd4-4b89-91d3-79a649996f0a</vt:lpwstr>
  </property>
  <property fmtid="{D5CDD505-2E9C-101B-9397-08002B2CF9AE}" pid="7" name="MSIP_Label_891b32ef-ed69-48a4-80a7-c96eee60b7ed_ActionId">
    <vt:lpwstr>90345cdd-399e-49a9-970c-b0d82dbcf4a1</vt:lpwstr>
  </property>
  <property fmtid="{D5CDD505-2E9C-101B-9397-08002B2CF9AE}" pid="8" name="MSIP_Label_891b32ef-ed69-48a4-80a7-c96eee60b7ed_ContentBits">
    <vt:lpwstr>2</vt:lpwstr>
  </property>
  <property fmtid="{D5CDD505-2E9C-101B-9397-08002B2CF9AE}" pid="9" name="MSIP_Label_891b32ef-ed69-48a4-80a7-c96eee60b7ed_Tag">
    <vt:lpwstr>10, 0, 1, 1</vt:lpwstr>
  </property>
  <property fmtid="{D5CDD505-2E9C-101B-9397-08002B2CF9AE}" pid="10" name="ClassificationContentMarkingFooterLocations">
    <vt:lpwstr>AIA_2020:2</vt:lpwstr>
  </property>
  <property fmtid="{D5CDD505-2E9C-101B-9397-08002B2CF9AE}" pid="11" name="ClassificationContentMarkingFooterText">
    <vt:lpwstr>[AIA – PUBLIC]</vt:lpwstr>
  </property>
</Properties>
</file>