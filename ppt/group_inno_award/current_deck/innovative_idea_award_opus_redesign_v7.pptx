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2" r:id="rId14"/>
    <p:sldId id="260" r:id="rId12"/>
    <p:sldId id="261" r:id="rId13"/>
    <p:sldId id="263" r:id="rId15"/>
    <p:sldId id="264"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AIA's AI Coworker. The idea in one line: ask for the outcome, not the tool. As AIA builds more AI, our people should need to understand less of it, not more. The vision: one AI coworker for every AIA employee and agent. Distribution Value reflects the long-term front-office vision only; the Phase 1 pilot is one back-office workflow.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AIA is already building valuable AI. Alfred, the internal GenAI platform Group Internal Audit built for its auditors, is one example of what specialist AI can do for one domain. Each capability can make a task smarter. But from what I observe, two things can still stay with the person. First, the digital legwork around the outcome: finding data, opening systems, reading documents, searching emails and chats, checking information, and combining it into the result. Second, navigating the AI itself: which capabilities exist, which fits the task, how each works, and how to carry information between them. This is a natural next stage in any organisation's AI journey, not a criticism of AIA's AI. The principle: the more AI AIA builds, the simpler it should feel to use. This is an observation from back-office work, not a measured finding; the same pattern is likely for agents preparing for customers, to be validated with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idea. Riley is AIA's AI coworker: a person asks for the outcome they need, Riley uses the approved AI, data and systems AIA already has to do the work in between, and the person reviews and approves the result. The person does not need to find every AI tool, learn every new one, choose which to use, or move information between them. What makes it work: underneath, AIA's AI, data, systems and specialist capabilities, for example an enterprise AI platform such as Copilot, and specialist AI like Alfred, subject to technical and governance feasibility. Riley is the one consistent coworker experience. Around it, AIA's rules: the person's own permissions, approval before final action, governance and records. Riley is not a new AI model or platform and does not compete with Copilot or replace Alfred. As the AI underneath improves, Riley improves with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back-office example, illustrative only, not the committed pilot. The employee asks Riley in Teams for the quarterly complaints review. Riley shows its plan using only what this employee can access, pulls this quarter's and last quarter's complaint records, groups them into themes, checks the previous review and procedures, relevant Outlook and Teams updates and approved external context, then analyses, compares and drafts the summary and slides. The employee never had to choose which tool did which step. The employee reviews, edits and approves; nothing is finalized, sent or entered into a system before that. The same pattern applies to management reviews, control issues, research, document comparison and meeting packs.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opportunity is bigger than time saved: it is how much more effectively AIA's people can work. Three levels. Back office: more execution capacity. Today the employee is requester, researcher, coordinator, analyst and drafter; with Riley they become the outcome owner, reviewer and decision maker. The pilot measures this, including completed outputs per employee. Front office, a future hypothesis: agents could prepare faster and more thoroughly for customer conversations and spend more of their time with customers, while staying responsible for advice. For AIA, a hypothesis: every AI capability AIA builds could reach more people and more of the work it was built for. The ambition: a digital execution partner for every employee and agent. No productivity multiple, sales growth, conversion, ANP or VONB uplift is claimed.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not assumed. On the real Phase 1 back-office team, against the Phase 0 baseline: employee effort per task, end-to-end completion time, manual steps and systems touched, rework rate, quality with independent sample reviews, adoption and repeat use, and completed outputs per employee. Phase 2 then tests the principle: can AIA add a capability underneath Riley without employees learning a new tool? The one-hour figure is a deliberately cautious illustrative floor, not a forecast: 1,000 employees at one hour a week is about 1,000 hours a week, about 50,000 hours a year over 50 working weeks. 1,000 is a scenario size, not an AIA employee count. No agent-time scenario is presented. Front-office measures would be defined later, with Distribution, if a front-office use case is ever piloted.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potential, not part of Phase 1. An AIA agent preparing for a customer meeting asks Riley: help me prepare for this customer meeting. Subject to permissions, product rules, privacy, compliance and suitability controls, Riley could retrieve customer information the agent is already allowed to access, use approved product and internal knowledge, add permitted general external context, summarize what matters, prepare a meeting brief, suggest questions or topics to explore and draft follow-up material. The agent owns advice, suitability, judgment and customer communication. Riley does not independently recommend products and does not contact the customer. Any front-office use would be designed with Distribution, Compliance, Legal and Privacy; Phase 3 scopes one use case at the earliest. No sales, conversion or ANP effect is claimed.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vision is broad; the first step is deliberately narrow. Phase 0, month 1: choose and baseline one internal workflow, on value, readiness, data sensitivity and governance. Phase 1, months 2 to 4: one team, one back-office workflow, minimum capabilities, approval before final action. Go or no-go: effort down, quality held, usage sustained. Phase 2, months 5 to 7: the principle test. Can AIA add another approved capability underneath Riley without employees needing to learn another tool, while quality holds? Go or no-go: usable through Riley with no new tool, and results hold across two workflows. Phase 3, months 8 to 12: scale on evidence to more back-office teams and capabilities, replace the illustrative scenario with measured data, and scope one front-office use case with Distribution, Compliance, Legal and Privacy. Scoping only. Front office is not part of Phase 1 or Phase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can grow in five directions. More employees: from one pilot team to back-office teams across many functions. More agents and distribution users, where appropriate, once front-office controls exist: a vision. More workflows: new kinds of work through the same coworker. More capabilities underneath: each approved capability AIA adds could serve every permitted person with no new tool to learn, a hypothesis Phase 2 tests. More markets: reuse the core experience, while each market adds its own integrations, controls, governance and configuration; not plug-and-play. The vision, not a forecast: one AI coworker for every AIA employee and agent. Enduring value: usefulness grows as capabilities, workflows and feedback are added, while the experience stays simple.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delivered in Microsoft Teams where employees already work; built on AIA's existing and emerging AI rather than a new model or platform; narrow and gated, one internal workflow first. Trust: approval before any final action; the requesting employee's own permissions only, including Outlook and Teams through approved controls; existing privacy and security controls and approved external sources; an appropriate record of request, capabilities used, output, approval and final action; governed learning agreed with risk and IT; independent quality checks; the first workflow chosen with care. Before any future front-office use, additional controls would be designed with Distribution, Compliance, Legal and Privacy: suitability, conduct, customer privacy, product rules and human accountability. No front-office approval exists or is implied. Phase 1 avoids these additional risks by starting with a controlled internal workflow.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Fund Phase 1 and let the evidence decide. Phase 1 is one team, one back-office workflow, minimum capabilities, about three months, at a preliminary estimate of about US$20,000 to 60,000 incremental, to be replaced with a scoped figure in Phase 0. People: a business sponsor, a small build pod, a business quality reviewer, system and data owners, and Group Innovation Office mentorship. Learn: by month 4, measured effort, quality, adoption and completed outputs; by month 7, whether AIA can add another capability underneath Riley without a new tool for employees. The ambition: one AI coworker for every AIA employee and agent. The first step: one internal workflow, measured.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654050" cy="121920"/>
          </a:xfrm>
          <a:prstGeom prst="rect">
            <a:avLst/>
          </a:prstGeom>
        </p:spPr>
        <p:txBody>
          <a:bodyPr horzOverflow="overflow" lIns="0" tIns="0" rIns="0" bIns="0">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5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38.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4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51.png"/><Relationship Id="rId13" Type="http://schemas.openxmlformats.org/officeDocument/2006/relationships/image" Target="../media/image52.png"/><Relationship Id="rId14" Type="http://schemas.openxmlformats.org/officeDocument/2006/relationships/image" Target="../media/image57.png"/><Relationship Id="rId15" Type="http://schemas.openxmlformats.org/officeDocument/2006/relationships/image" Target="../media/image58.png"/><Relationship Id="rId16" Type="http://schemas.openxmlformats.org/officeDocument/2006/relationships/image" Target="../media/image59.png"/><Relationship Id="rId17" Type="http://schemas.openxmlformats.org/officeDocument/2006/relationships/image" Target="../media/image60.png"/><Relationship Id="rId18" Type="http://schemas.openxmlformats.org/officeDocument/2006/relationships/image" Target="../media/image61.png"/><Relationship Id="rId19" Type="http://schemas.openxmlformats.org/officeDocument/2006/relationships/image" Target="../media/image62.png"/><Relationship Id="rId20" Type="http://schemas.openxmlformats.org/officeDocument/2006/relationships/image" Target="../media/image63.png"/><Relationship Id="rId21" Type="http://schemas.openxmlformats.org/officeDocument/2006/relationships/image" Target="../media/image64.png"/><Relationship Id="rId22" Type="http://schemas.openxmlformats.org/officeDocument/2006/relationships/image" Target="../media/image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29.png"/><Relationship Id="rId6" Type="http://schemas.openxmlformats.org/officeDocument/2006/relationships/image" Target="../media/image37.png"/><Relationship Id="rId7" Type="http://schemas.openxmlformats.org/officeDocument/2006/relationships/image" Target="../media/image28.png"/><Relationship Id="rId8" Type="http://schemas.openxmlformats.org/officeDocument/2006/relationships/image" Target="../media/image65.png"/><Relationship Id="rId9" Type="http://schemas.openxmlformats.org/officeDocument/2006/relationships/image" Target="../media/image66.png"/><Relationship Id="rId10" Type="http://schemas.openxmlformats.org/officeDocument/2006/relationships/image" Target="../media/image6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34.png"/><Relationship Id="rId11" Type="http://schemas.openxmlformats.org/officeDocument/2006/relationships/image" Target="../media/image45.png"/><Relationship Id="rId12" Type="http://schemas.openxmlformats.org/officeDocument/2006/relationships/image" Target="../media/image46.png"/><Relationship Id="rId13" Type="http://schemas.openxmlformats.org/officeDocument/2006/relationships/image" Target="../media/image66.png"/><Relationship Id="rId14" Type="http://schemas.openxmlformats.org/officeDocument/2006/relationships/image" Target="../media/image68.png"/><Relationship Id="rId15" Type="http://schemas.openxmlformats.org/officeDocument/2006/relationships/image" Target="../media/image20.png"/><Relationship Id="rId16" Type="http://schemas.openxmlformats.org/officeDocument/2006/relationships/image" Target="../media/image69.png"/><Relationship Id="rId17" Type="http://schemas.openxmlformats.org/officeDocument/2006/relationships/image" Target="../media/image70.png"/><Relationship Id="rId18" Type="http://schemas.openxmlformats.org/officeDocument/2006/relationships/image" Target="../media/image71.png"/><Relationship Id="rId19"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983480"/>
            <a:ext cx="5669280" cy="548640"/>
          </a:xfrm>
        </p:spPr>
        <p:txBody>
          <a:bodyPr lIns="0" tIns="0" rIns="0" bIns="0" anchor="t"/>
          <a:lstStyle/>
          <a:p>
            <a:pPr algn="l">
              <a:spcAft>
                <a:spcPts val="0"/>
              </a:spcAft>
            </a:pPr>
            <a:r>
              <a:rPr sz="1300" b="0" i="0">
                <a:solidFill>
                  <a:srgbClr val="FFFFFF"/>
                </a:solidFill>
                <a:latin typeface="Arial"/>
              </a:rPr>
              <a:t>Innovation Idea Awards 2026  ·  Hong Kong  ·  Individual submission</a:t>
            </a:r>
          </a:p>
          <a:p>
            <a:pPr algn="l">
              <a:spcAft>
                <a:spcPts val="0"/>
              </a:spcAft>
            </a:pPr>
            <a:r>
              <a:rPr sz="1300" b="0" i="0">
                <a:solidFill>
                  <a:srgbClr val="FFFFFF"/>
                </a:solidFill>
                <a:latin typeface="Arial"/>
              </a:rPr>
              <a:t>Employee Value  ·  Operations Value  ·  Distribution Value (long-term vision)</a:t>
            </a:r>
          </a:p>
        </p:txBody>
      </p:sp>
      <p:sp>
        <p:nvSpPr>
          <p:cNvPr id="3" name="Text Placeholder 2"/>
          <p:cNvSpPr>
            <a:spLocks noGrp="1"/>
          </p:cNvSpPr>
          <p:nvPr>
            <p:ph type="body" idx="10" sz="quarter"/>
          </p:nvPr>
        </p:nvSpPr>
        <p:spPr>
          <a:xfrm>
            <a:off x="356616" y="1600200"/>
            <a:ext cx="5669280" cy="1051560"/>
          </a:xfrm>
        </p:spPr>
        <p:txBody>
          <a:bodyPr lIns="0" tIns="0" rIns="0" bIns="0" anchor="b"/>
          <a:lstStyle/>
          <a:p>
            <a:pPr algn="l">
              <a:lnSpc>
                <a:spcPct val="90000"/>
              </a:lnSpc>
              <a:spcAft>
                <a:spcPts val="0"/>
              </a:spcAft>
            </a:pPr>
            <a:r>
              <a:rPr sz="8000" b="1" i="0">
                <a:solidFill>
                  <a:srgbClr val="FFFFFF"/>
                </a:solidFill>
                <a:latin typeface="Arial"/>
              </a:rPr>
              <a:t>Riley</a:t>
            </a:r>
          </a:p>
        </p:txBody>
      </p:sp>
      <p:pic>
        <p:nvPicPr>
          <p:cNvPr id="4" name="Picture 3" descr="cover_waves_right.png"/>
          <p:cNvPicPr>
            <a:picLocks noChangeAspect="1"/>
          </p:cNvPicPr>
          <p:nvPr/>
        </p:nvPicPr>
        <p:blipFill>
          <a:blip r:embed="rId2"/>
          <a:stretch>
            <a:fillRect/>
          </a:stretch>
        </p:blipFill>
        <p:spPr>
          <a:xfrm>
            <a:off x="6217920" y="0"/>
            <a:ext cx="5973775" cy="6858000"/>
          </a:xfrm>
          <a:prstGeom prst="rect">
            <a:avLst/>
          </a:prstGeom>
        </p:spPr>
      </p:pic>
      <p:sp>
        <p:nvSpPr>
          <p:cNvPr id="5" name="TextBox 4"/>
          <p:cNvSpPr txBox="1"/>
          <p:nvPr/>
        </p:nvSpPr>
        <p:spPr>
          <a:xfrm>
            <a:off x="356616" y="2743200"/>
            <a:ext cx="5760720" cy="457200"/>
          </a:xfrm>
          <a:prstGeom prst="rect">
            <a:avLst/>
          </a:prstGeom>
          <a:noFill/>
        </p:spPr>
        <p:txBody>
          <a:bodyPr wrap="square" lIns="0" tIns="0" rIns="0" bIns="0" anchor="t">
            <a:noAutofit/>
          </a:bodyPr>
          <a:lstStyle/>
          <a:p>
            <a:pPr algn="l">
              <a:spcAft>
                <a:spcPts val="0"/>
              </a:spcAft>
            </a:pPr>
            <a:r>
              <a:rPr sz="2800" b="0" i="0">
                <a:solidFill>
                  <a:srgbClr val="FFFFFF"/>
                </a:solidFill>
                <a:latin typeface="Arial"/>
              </a:rPr>
              <a:t>AIA’s AI Coworker</a:t>
            </a:r>
          </a:p>
        </p:txBody>
      </p:sp>
      <p:sp>
        <p:nvSpPr>
          <p:cNvPr id="6" name="TextBox 5"/>
          <p:cNvSpPr txBox="1"/>
          <p:nvPr/>
        </p:nvSpPr>
        <p:spPr>
          <a:xfrm>
            <a:off x="356616" y="3429000"/>
            <a:ext cx="5760720" cy="822960"/>
          </a:xfrm>
          <a:prstGeom prst="rect">
            <a:avLst/>
          </a:prstGeom>
          <a:noFill/>
        </p:spPr>
        <p:txBody>
          <a:bodyPr wrap="square" lIns="0" tIns="0" rIns="0" bIns="0" anchor="t">
            <a:noAutofit/>
          </a:bodyPr>
          <a:lstStyle/>
          <a:p>
            <a:pPr algn="l">
              <a:spcAft>
                <a:spcPts val="400"/>
              </a:spcAft>
            </a:pPr>
            <a:r>
              <a:rPr sz="2400" b="1" i="0">
                <a:solidFill>
                  <a:srgbClr val="FFFFFF"/>
                </a:solidFill>
                <a:latin typeface="Arial"/>
              </a:rPr>
              <a:t>Ask for the outcome,</a:t>
            </a:r>
          </a:p>
          <a:p>
            <a:pPr algn="l">
              <a:spcAft>
                <a:spcPts val="400"/>
              </a:spcAft>
            </a:pPr>
            <a:r>
              <a:rPr sz="2400" b="1" i="0">
                <a:solidFill>
                  <a:srgbClr val="FFFFFF"/>
                </a:solidFill>
                <a:latin typeface="Arial"/>
              </a:rPr>
              <a:t>not the tool.</a:t>
            </a:r>
          </a:p>
        </p:txBody>
      </p:sp>
      <p:sp>
        <p:nvSpPr>
          <p:cNvPr id="7" name="TextBox 6"/>
          <p:cNvSpPr txBox="1"/>
          <p:nvPr/>
        </p:nvSpPr>
        <p:spPr>
          <a:xfrm>
            <a:off x="356616" y="4315968"/>
            <a:ext cx="5760720" cy="365760"/>
          </a:xfrm>
          <a:prstGeom prst="rect">
            <a:avLst/>
          </a:prstGeom>
          <a:noFill/>
        </p:spPr>
        <p:txBody>
          <a:bodyPr wrap="square" lIns="0" tIns="0" rIns="0" bIns="0" anchor="t">
            <a:noAutofit/>
          </a:bodyPr>
          <a:lstStyle/>
          <a:p>
            <a:pPr algn="l">
              <a:spcAft>
                <a:spcPts val="0"/>
              </a:spcAft>
            </a:pPr>
            <a:r>
              <a:rPr sz="1600" b="0" i="0">
                <a:solidFill>
                  <a:srgbClr val="FFFFFF"/>
                </a:solidFill>
                <a:latin typeface="Arial"/>
              </a:rPr>
              <a:t>One AI coworker for every AIA employee and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More AI should mean less to navigate, not more</a:t>
            </a:r>
          </a:p>
        </p:txBody>
      </p:sp>
      <p:sp>
        <p:nvSpPr>
          <p:cNvPr id="55" name="Slide Number Placeholder"/>
          <p:cNvSpPr>
            <a:spLocks noGrp="1"/>
          </p:cNvSpPr>
          <p:nvPr>
            <p:ph type="sldNum" sz="quarter" idx="4"/>
          </p:nvPr>
        </p:nvSpPr>
        <p:spPr/>
        <p:txBody>
          <a:bodyPr/>
          <a:lstStyle/>
          <a:p>
            <a:fld id="{18A41853-EF22-D446-BDBC-A7CF3FE93503}" type="slidenum">
              <a:rPr lang="en-US"/>
              <a:t>2</a:t>
            </a:fld>
            <a:endParaRPr lang="en-US" dirty="0"/>
          </a:p>
        </p:txBody>
      </p:sp>
      <p:sp>
        <p:nvSpPr>
          <p:cNvPr id="56" name="TextBox 55"/>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PROBLEM</a:t>
            </a:r>
          </a:p>
        </p:txBody>
      </p:sp>
      <p:sp>
        <p:nvSpPr>
          <p:cNvPr id="57" name="TextBox 56"/>
          <p:cNvSpPr txBox="1"/>
          <p:nvPr/>
        </p:nvSpPr>
        <p:spPr>
          <a:xfrm>
            <a:off x="356616" y="1024128"/>
            <a:ext cx="1115568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AIA keeps adding valuable AI. That should add capability, not complexity.</a:t>
            </a:r>
          </a:p>
        </p:txBody>
      </p:sp>
      <p:sp>
        <p:nvSpPr>
          <p:cNvPr id="58" name="Rounded Rectangle 57"/>
          <p:cNvSpPr/>
          <p:nvPr/>
        </p:nvSpPr>
        <p:spPr>
          <a:xfrm>
            <a:off x="356616" y="1536192"/>
            <a:ext cx="11475720" cy="512064"/>
          </a:xfrm>
          <a:prstGeom prst="roundRect">
            <a:avLst>
              <a:gd name="adj" fmla="val 14285"/>
            </a:avLst>
          </a:prstGeom>
          <a:solidFill>
            <a:srgbClr val="F4F1EF"/>
          </a:solidFill>
          <a:ln>
            <a:noFill/>
          </a:ln>
        </p:spPr>
        <p:txBody>
          <a:bodyPr rtlCol="0" anchor="ctr"/>
          <a:lstStyle/>
          <a:p>
            <a:pPr algn="ctr"/>
          </a:p>
        </p:txBody>
      </p:sp>
      <p:pic>
        <p:nvPicPr>
          <p:cNvPr id="59" name="Picture 58" descr="image.png"/>
          <p:cNvPicPr>
            <a:picLocks noChangeAspect="1"/>
          </p:cNvPicPr>
          <p:nvPr/>
        </p:nvPicPr>
        <p:blipFill>
          <a:blip r:embed="rId13"/>
          <a:stretch>
            <a:fillRect/>
          </a:stretch>
        </p:blipFill>
        <p:spPr>
          <a:xfrm>
            <a:off x="530352" y="1645920"/>
            <a:ext cx="292608" cy="292608"/>
          </a:xfrm>
          <a:prstGeom prst="rect">
            <a:avLst/>
          </a:prstGeom>
        </p:spPr>
      </p:pic>
      <p:sp>
        <p:nvSpPr>
          <p:cNvPr id="60" name="TextBox 59"/>
          <p:cNvSpPr txBox="1"/>
          <p:nvPr/>
        </p:nvSpPr>
        <p:spPr>
          <a:xfrm>
            <a:off x="960120" y="1536192"/>
            <a:ext cx="10698480" cy="512064"/>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AIA already builds valuable specialist AI. </a:t>
            </a:r>
            <a:r>
              <a:rPr sz="1250" b="0" i="0">
                <a:solidFill>
                  <a:srgbClr val="333D47"/>
                </a:solidFill>
                <a:latin typeface="Arial"/>
              </a:rPr>
              <a:t>Alfred, built by Group Internal Audit, shows what specialist AI can do for auditors.</a:t>
            </a:r>
          </a:p>
        </p:txBody>
      </p:sp>
      <p:sp>
        <p:nvSpPr>
          <p:cNvPr id="61" name="TextBox 60"/>
          <p:cNvSpPr txBox="1"/>
          <p:nvPr/>
        </p:nvSpPr>
        <p:spPr>
          <a:xfrm>
            <a:off x="356616" y="2212848"/>
            <a:ext cx="11155680" cy="274320"/>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TWO THINGS CAN STILL STAY WITH THE PERSON</a:t>
            </a:r>
          </a:p>
        </p:txBody>
      </p:sp>
      <p:sp>
        <p:nvSpPr>
          <p:cNvPr id="62" name="Rounded Rectangle 61"/>
          <p:cNvSpPr/>
          <p:nvPr/>
        </p:nvSpPr>
        <p:spPr>
          <a:xfrm>
            <a:off x="356616" y="2542032"/>
            <a:ext cx="5596128" cy="2103120"/>
          </a:xfrm>
          <a:prstGeom prst="roundRect">
            <a:avLst>
              <a:gd name="adj" fmla="val 4347"/>
            </a:avLst>
          </a:prstGeom>
          <a:solidFill>
            <a:srgbClr val="FFFFFF"/>
          </a:solidFill>
          <a:ln w="12700">
            <a:solidFill>
              <a:srgbClr val="DDD6D0"/>
            </a:solidFill>
          </a:ln>
        </p:spPr>
        <p:txBody>
          <a:bodyPr rtlCol="0" anchor="ctr"/>
          <a:lstStyle/>
          <a:p>
            <a:pPr algn="ctr"/>
          </a:p>
        </p:txBody>
      </p:sp>
      <p:sp>
        <p:nvSpPr>
          <p:cNvPr id="63" name="Oval 62"/>
          <p:cNvSpPr/>
          <p:nvPr/>
        </p:nvSpPr>
        <p:spPr>
          <a:xfrm>
            <a:off x="557784" y="2724912"/>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100" b="1" i="0">
                <a:solidFill>
                  <a:srgbClr val="FFFFFF"/>
                </a:solidFill>
                <a:latin typeface="Arial"/>
              </a:rPr>
              <a:t>1</a:t>
            </a:r>
          </a:p>
        </p:txBody>
      </p:sp>
      <p:sp>
        <p:nvSpPr>
          <p:cNvPr id="64" name="TextBox 63"/>
          <p:cNvSpPr txBox="1"/>
          <p:nvPr/>
        </p:nvSpPr>
        <p:spPr>
          <a:xfrm>
            <a:off x="978408" y="2697480"/>
            <a:ext cx="4773168" cy="365760"/>
          </a:xfrm>
          <a:prstGeom prst="rect">
            <a:avLst/>
          </a:prstGeom>
          <a:noFill/>
        </p:spPr>
        <p:txBody>
          <a:bodyPr wrap="square" lIns="0" tIns="0" rIns="0" bIns="0" anchor="ctr">
            <a:noAutofit/>
          </a:bodyPr>
          <a:lstStyle/>
          <a:p>
            <a:pPr algn="l">
              <a:spcAft>
                <a:spcPts val="0"/>
              </a:spcAft>
            </a:pPr>
            <a:r>
              <a:rPr sz="1050" b="1" i="0" spc="80">
                <a:solidFill>
                  <a:srgbClr val="D31145"/>
                </a:solidFill>
                <a:latin typeface="Arial"/>
              </a:rPr>
              <a:t>THE DIGITAL LEGWORK</a:t>
            </a:r>
          </a:p>
        </p:txBody>
      </p:sp>
      <p:sp>
        <p:nvSpPr>
          <p:cNvPr id="65" name="TextBox 64"/>
          <p:cNvSpPr txBox="1"/>
          <p:nvPr/>
        </p:nvSpPr>
        <p:spPr>
          <a:xfrm>
            <a:off x="557784" y="3090672"/>
            <a:ext cx="5193792" cy="347472"/>
          </a:xfrm>
          <a:prstGeom prst="rect">
            <a:avLst/>
          </a:prstGeom>
          <a:noFill/>
        </p:spPr>
        <p:txBody>
          <a:bodyPr wrap="square" lIns="0" tIns="0" rIns="0" bIns="0" anchor="t">
            <a:noAutofit/>
          </a:bodyPr>
          <a:lstStyle/>
          <a:p>
            <a:pPr algn="l">
              <a:spcAft>
                <a:spcPts val="0"/>
              </a:spcAft>
            </a:pPr>
            <a:r>
              <a:rPr sz="1650" b="1" i="0">
                <a:solidFill>
                  <a:srgbClr val="333D47"/>
                </a:solidFill>
                <a:latin typeface="Arial"/>
              </a:rPr>
              <a:t>Doing the work around the outcome</a:t>
            </a:r>
          </a:p>
        </p:txBody>
      </p:sp>
      <p:sp>
        <p:nvSpPr>
          <p:cNvPr id="66" name="Rounded Rectangle 65"/>
          <p:cNvSpPr/>
          <p:nvPr/>
        </p:nvSpPr>
        <p:spPr>
          <a:xfrm>
            <a:off x="557784" y="3511296"/>
            <a:ext cx="887420" cy="292608"/>
          </a:xfrm>
          <a:prstGeom prst="roundRect">
            <a:avLst>
              <a:gd name="adj" fmla="val 50000"/>
            </a:avLst>
          </a:prstGeom>
          <a:solidFill>
            <a:srgbClr val="F4F1EF"/>
          </a:solidFill>
          <a:ln>
            <a:noFill/>
          </a:ln>
        </p:spPr>
        <p:txBody>
          <a:bodyPr rtlCol="0" anchor="ctr" wrap="square" lIns="18288" tIns="18288" rIns="18288" bIns="18288">
            <a:noAutofit/>
          </a:bodyPr>
          <a:lstStyle/>
          <a:p>
            <a:pPr algn="ctr">
              <a:spcAft>
                <a:spcPts val="0"/>
              </a:spcAft>
            </a:pPr>
            <a:r>
              <a:rPr sz="1100" b="0" i="0">
                <a:solidFill>
                  <a:srgbClr val="333D47"/>
                </a:solidFill>
                <a:latin typeface="Arial"/>
              </a:rPr>
              <a:t>Find data</a:t>
            </a:r>
          </a:p>
        </p:txBody>
      </p:sp>
      <p:sp>
        <p:nvSpPr>
          <p:cNvPr id="67" name="Rounded Rectangle 66"/>
          <p:cNvSpPr/>
          <p:nvPr/>
        </p:nvSpPr>
        <p:spPr>
          <a:xfrm>
            <a:off x="1536644" y="3511296"/>
            <a:ext cx="1197932" cy="292608"/>
          </a:xfrm>
          <a:prstGeom prst="roundRect">
            <a:avLst>
              <a:gd name="adj" fmla="val 50000"/>
            </a:avLst>
          </a:prstGeom>
          <a:solidFill>
            <a:srgbClr val="F4F1EF"/>
          </a:solidFill>
          <a:ln>
            <a:noFill/>
          </a:ln>
        </p:spPr>
        <p:txBody>
          <a:bodyPr rtlCol="0" anchor="ctr" wrap="square" lIns="18288" tIns="18288" rIns="18288" bIns="18288">
            <a:noAutofit/>
          </a:bodyPr>
          <a:lstStyle/>
          <a:p>
            <a:pPr algn="ctr">
              <a:spcAft>
                <a:spcPts val="0"/>
              </a:spcAft>
            </a:pPr>
            <a:r>
              <a:rPr sz="1100" b="0" i="0">
                <a:solidFill>
                  <a:srgbClr val="333D47"/>
                </a:solidFill>
                <a:latin typeface="Arial"/>
              </a:rPr>
              <a:t>Open systems</a:t>
            </a:r>
          </a:p>
        </p:txBody>
      </p:sp>
      <p:sp>
        <p:nvSpPr>
          <p:cNvPr id="68" name="Rounded Rectangle 67"/>
          <p:cNvSpPr/>
          <p:nvPr/>
        </p:nvSpPr>
        <p:spPr>
          <a:xfrm>
            <a:off x="2826016" y="3511296"/>
            <a:ext cx="1356435" cy="292608"/>
          </a:xfrm>
          <a:prstGeom prst="roundRect">
            <a:avLst>
              <a:gd name="adj" fmla="val 50000"/>
            </a:avLst>
          </a:prstGeom>
          <a:solidFill>
            <a:srgbClr val="F4F1EF"/>
          </a:solidFill>
          <a:ln>
            <a:noFill/>
          </a:ln>
        </p:spPr>
        <p:txBody>
          <a:bodyPr rtlCol="0" anchor="ctr" wrap="square" lIns="18288" tIns="18288" rIns="18288" bIns="18288">
            <a:noAutofit/>
          </a:bodyPr>
          <a:lstStyle/>
          <a:p>
            <a:pPr algn="ctr">
              <a:spcAft>
                <a:spcPts val="0"/>
              </a:spcAft>
            </a:pPr>
            <a:r>
              <a:rPr sz="1100" b="0" i="0">
                <a:solidFill>
                  <a:srgbClr val="333D47"/>
                </a:solidFill>
                <a:latin typeface="Arial"/>
              </a:rPr>
              <a:t>Read documents</a:t>
            </a:r>
          </a:p>
        </p:txBody>
      </p:sp>
      <p:sp>
        <p:nvSpPr>
          <p:cNvPr id="69" name="Rounded Rectangle 68"/>
          <p:cNvSpPr/>
          <p:nvPr/>
        </p:nvSpPr>
        <p:spPr>
          <a:xfrm>
            <a:off x="557784" y="3877056"/>
            <a:ext cx="1825450" cy="292608"/>
          </a:xfrm>
          <a:prstGeom prst="roundRect">
            <a:avLst>
              <a:gd name="adj" fmla="val 50000"/>
            </a:avLst>
          </a:prstGeom>
          <a:solidFill>
            <a:srgbClr val="F4F1EF"/>
          </a:solidFill>
          <a:ln>
            <a:noFill/>
          </a:ln>
        </p:spPr>
        <p:txBody>
          <a:bodyPr rtlCol="0" anchor="ctr" wrap="square" lIns="18288" tIns="18288" rIns="18288" bIns="18288">
            <a:noAutofit/>
          </a:bodyPr>
          <a:lstStyle/>
          <a:p>
            <a:pPr algn="ctr">
              <a:spcAft>
                <a:spcPts val="0"/>
              </a:spcAft>
            </a:pPr>
            <a:r>
              <a:rPr sz="1100" b="0" i="0">
                <a:solidFill>
                  <a:srgbClr val="333D47"/>
                </a:solidFill>
                <a:latin typeface="Arial"/>
              </a:rPr>
              <a:t>Search emails and chats</a:t>
            </a:r>
          </a:p>
        </p:txBody>
      </p:sp>
      <p:sp>
        <p:nvSpPr>
          <p:cNvPr id="70" name="Rounded Rectangle 69"/>
          <p:cNvSpPr/>
          <p:nvPr/>
        </p:nvSpPr>
        <p:spPr>
          <a:xfrm>
            <a:off x="2474674" y="3877056"/>
            <a:ext cx="1450303" cy="292608"/>
          </a:xfrm>
          <a:prstGeom prst="roundRect">
            <a:avLst>
              <a:gd name="adj" fmla="val 50000"/>
            </a:avLst>
          </a:prstGeom>
          <a:solidFill>
            <a:srgbClr val="F4F1EF"/>
          </a:solidFill>
          <a:ln>
            <a:noFill/>
          </a:ln>
        </p:spPr>
        <p:txBody>
          <a:bodyPr rtlCol="0" anchor="ctr" wrap="square" lIns="18288" tIns="18288" rIns="18288" bIns="18288">
            <a:noAutofit/>
          </a:bodyPr>
          <a:lstStyle/>
          <a:p>
            <a:pPr algn="ctr">
              <a:spcAft>
                <a:spcPts val="0"/>
              </a:spcAft>
            </a:pPr>
            <a:r>
              <a:rPr sz="1100" b="0" i="0">
                <a:solidFill>
                  <a:srgbClr val="333D47"/>
                </a:solidFill>
                <a:latin typeface="Arial"/>
              </a:rPr>
              <a:t>Check information</a:t>
            </a:r>
          </a:p>
        </p:txBody>
      </p:sp>
      <p:sp>
        <p:nvSpPr>
          <p:cNvPr id="71" name="Rounded Rectangle 70"/>
          <p:cNvSpPr/>
          <p:nvPr/>
        </p:nvSpPr>
        <p:spPr>
          <a:xfrm>
            <a:off x="4016417" y="3877056"/>
            <a:ext cx="1457449" cy="292608"/>
          </a:xfrm>
          <a:prstGeom prst="roundRect">
            <a:avLst>
              <a:gd name="adj" fmla="val 50000"/>
            </a:avLst>
          </a:prstGeom>
          <a:solidFill>
            <a:srgbClr val="F4F1EF"/>
          </a:solidFill>
          <a:ln>
            <a:noFill/>
          </a:ln>
        </p:spPr>
        <p:txBody>
          <a:bodyPr rtlCol="0" anchor="ctr" wrap="square" lIns="18288" tIns="18288" rIns="18288" bIns="18288">
            <a:noAutofit/>
          </a:bodyPr>
          <a:lstStyle/>
          <a:p>
            <a:pPr algn="ctr">
              <a:spcAft>
                <a:spcPts val="0"/>
              </a:spcAft>
            </a:pPr>
            <a:r>
              <a:rPr sz="1100" b="0" i="0">
                <a:solidFill>
                  <a:srgbClr val="333D47"/>
                </a:solidFill>
                <a:latin typeface="Arial"/>
              </a:rPr>
              <a:t>Combine and draft</a:t>
            </a:r>
          </a:p>
        </p:txBody>
      </p:sp>
      <p:sp>
        <p:nvSpPr>
          <p:cNvPr id="72" name="TextBox 71"/>
          <p:cNvSpPr txBox="1"/>
          <p:nvPr/>
        </p:nvSpPr>
        <p:spPr>
          <a:xfrm>
            <a:off x="557784" y="4279392"/>
            <a:ext cx="5193792" cy="274320"/>
          </a:xfrm>
          <a:prstGeom prst="rect">
            <a:avLst/>
          </a:prstGeom>
          <a:noFill/>
        </p:spPr>
        <p:txBody>
          <a:bodyPr wrap="square" lIns="0" tIns="0" rIns="0" bIns="0" anchor="t">
            <a:noAutofit/>
          </a:bodyPr>
          <a:lstStyle/>
          <a:p>
            <a:pPr algn="l">
              <a:spcAft>
                <a:spcPts val="0"/>
              </a:spcAft>
            </a:pPr>
            <a:r>
              <a:rPr sz="1200" b="1" i="1">
                <a:solidFill>
                  <a:srgbClr val="D31145"/>
                </a:solidFill>
                <a:latin typeface="Arial"/>
              </a:rPr>
              <a:t>The employee is still the connector.</a:t>
            </a:r>
          </a:p>
        </p:txBody>
      </p:sp>
      <p:sp>
        <p:nvSpPr>
          <p:cNvPr id="73" name="Rounded Rectangle 72"/>
          <p:cNvSpPr/>
          <p:nvPr/>
        </p:nvSpPr>
        <p:spPr>
          <a:xfrm>
            <a:off x="6236208" y="2542032"/>
            <a:ext cx="5596128" cy="2103120"/>
          </a:xfrm>
          <a:prstGeom prst="roundRect">
            <a:avLst>
              <a:gd name="adj" fmla="val 4347"/>
            </a:avLst>
          </a:prstGeom>
          <a:solidFill>
            <a:srgbClr val="FFFFFF"/>
          </a:solidFill>
          <a:ln w="12700">
            <a:solidFill>
              <a:srgbClr val="DDD6D0"/>
            </a:solidFill>
          </a:ln>
        </p:spPr>
        <p:txBody>
          <a:bodyPr rtlCol="0" anchor="ctr"/>
          <a:lstStyle/>
          <a:p>
            <a:pPr algn="ctr"/>
          </a:p>
        </p:txBody>
      </p:sp>
      <p:sp>
        <p:nvSpPr>
          <p:cNvPr id="74" name="Oval 73"/>
          <p:cNvSpPr/>
          <p:nvPr/>
        </p:nvSpPr>
        <p:spPr>
          <a:xfrm>
            <a:off x="6437376" y="2724912"/>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100" b="1" i="0">
                <a:solidFill>
                  <a:srgbClr val="FFFFFF"/>
                </a:solidFill>
                <a:latin typeface="Arial"/>
              </a:rPr>
              <a:t>2</a:t>
            </a:r>
          </a:p>
        </p:txBody>
      </p:sp>
      <p:sp>
        <p:nvSpPr>
          <p:cNvPr id="75" name="TextBox 74"/>
          <p:cNvSpPr txBox="1"/>
          <p:nvPr/>
        </p:nvSpPr>
        <p:spPr>
          <a:xfrm>
            <a:off x="6858000" y="2697480"/>
            <a:ext cx="4773168" cy="365760"/>
          </a:xfrm>
          <a:prstGeom prst="rect">
            <a:avLst/>
          </a:prstGeom>
          <a:noFill/>
        </p:spPr>
        <p:txBody>
          <a:bodyPr wrap="square" lIns="0" tIns="0" rIns="0" bIns="0" anchor="ctr">
            <a:noAutofit/>
          </a:bodyPr>
          <a:lstStyle/>
          <a:p>
            <a:pPr algn="l">
              <a:spcAft>
                <a:spcPts val="0"/>
              </a:spcAft>
            </a:pPr>
            <a:r>
              <a:rPr sz="1050" b="1" i="0" spc="80">
                <a:solidFill>
                  <a:srgbClr val="D31145"/>
                </a:solidFill>
                <a:latin typeface="Arial"/>
              </a:rPr>
              <a:t>THE AI LANDSCAPE</a:t>
            </a:r>
          </a:p>
        </p:txBody>
      </p:sp>
      <p:sp>
        <p:nvSpPr>
          <p:cNvPr id="76" name="TextBox 75"/>
          <p:cNvSpPr txBox="1"/>
          <p:nvPr/>
        </p:nvSpPr>
        <p:spPr>
          <a:xfrm>
            <a:off x="6437376" y="3090672"/>
            <a:ext cx="5193792" cy="347472"/>
          </a:xfrm>
          <a:prstGeom prst="rect">
            <a:avLst/>
          </a:prstGeom>
          <a:noFill/>
        </p:spPr>
        <p:txBody>
          <a:bodyPr wrap="square" lIns="0" tIns="0" rIns="0" bIns="0" anchor="t">
            <a:noAutofit/>
          </a:bodyPr>
          <a:lstStyle/>
          <a:p>
            <a:pPr algn="l">
              <a:spcAft>
                <a:spcPts val="0"/>
              </a:spcAft>
            </a:pPr>
            <a:r>
              <a:rPr sz="1650" b="1" i="0">
                <a:solidFill>
                  <a:srgbClr val="333D47"/>
                </a:solidFill>
                <a:latin typeface="Arial"/>
              </a:rPr>
              <a:t>Knowing which AI to use, and joining the pieces</a:t>
            </a:r>
          </a:p>
        </p:txBody>
      </p:sp>
      <p:sp>
        <p:nvSpPr>
          <p:cNvPr id="77" name="Rounded Rectangle 76"/>
          <p:cNvSpPr/>
          <p:nvPr/>
        </p:nvSpPr>
        <p:spPr>
          <a:xfrm>
            <a:off x="6437376" y="3511296"/>
            <a:ext cx="1853708" cy="292608"/>
          </a:xfrm>
          <a:prstGeom prst="roundRect">
            <a:avLst>
              <a:gd name="adj" fmla="val 50000"/>
            </a:avLst>
          </a:prstGeom>
          <a:solidFill>
            <a:srgbClr val="F4F1EF"/>
          </a:solidFill>
          <a:ln>
            <a:noFill/>
          </a:ln>
        </p:spPr>
        <p:txBody>
          <a:bodyPr rtlCol="0" anchor="ctr" wrap="square" lIns="18288" tIns="18288" rIns="18288" bIns="18288">
            <a:noAutofit/>
          </a:bodyPr>
          <a:lstStyle/>
          <a:p>
            <a:pPr algn="ctr">
              <a:spcAft>
                <a:spcPts val="0"/>
              </a:spcAft>
            </a:pPr>
            <a:r>
              <a:rPr sz="1100" b="0" i="0">
                <a:solidFill>
                  <a:srgbClr val="333D47"/>
                </a:solidFill>
                <a:latin typeface="Arial"/>
              </a:rPr>
              <a:t>Which capabilities exist?</a:t>
            </a:r>
          </a:p>
        </p:txBody>
      </p:sp>
      <p:sp>
        <p:nvSpPr>
          <p:cNvPr id="78" name="Rounded Rectangle 77"/>
          <p:cNvSpPr/>
          <p:nvPr/>
        </p:nvSpPr>
        <p:spPr>
          <a:xfrm>
            <a:off x="8382524" y="3511296"/>
            <a:ext cx="1839092" cy="292608"/>
          </a:xfrm>
          <a:prstGeom prst="roundRect">
            <a:avLst>
              <a:gd name="adj" fmla="val 50000"/>
            </a:avLst>
          </a:prstGeom>
          <a:solidFill>
            <a:srgbClr val="F4F1EF"/>
          </a:solidFill>
          <a:ln>
            <a:noFill/>
          </a:ln>
        </p:spPr>
        <p:txBody>
          <a:bodyPr rtlCol="0" anchor="ctr" wrap="square" lIns="18288" tIns="18288" rIns="18288" bIns="18288">
            <a:noAutofit/>
          </a:bodyPr>
          <a:lstStyle/>
          <a:p>
            <a:pPr algn="ctr">
              <a:spcAft>
                <a:spcPts val="0"/>
              </a:spcAft>
            </a:pPr>
            <a:r>
              <a:rPr sz="1100" b="0" i="0">
                <a:solidFill>
                  <a:srgbClr val="333D47"/>
                </a:solidFill>
                <a:latin typeface="Arial"/>
              </a:rPr>
              <a:t>Which one fits this task?</a:t>
            </a:r>
          </a:p>
        </p:txBody>
      </p:sp>
      <p:sp>
        <p:nvSpPr>
          <p:cNvPr id="79" name="Rounded Rectangle 78"/>
          <p:cNvSpPr/>
          <p:nvPr/>
        </p:nvSpPr>
        <p:spPr>
          <a:xfrm>
            <a:off x="6437376" y="3877056"/>
            <a:ext cx="1940430" cy="292608"/>
          </a:xfrm>
          <a:prstGeom prst="roundRect">
            <a:avLst>
              <a:gd name="adj" fmla="val 50000"/>
            </a:avLst>
          </a:prstGeom>
          <a:solidFill>
            <a:srgbClr val="F4F1EF"/>
          </a:solidFill>
          <a:ln>
            <a:noFill/>
          </a:ln>
        </p:spPr>
        <p:txBody>
          <a:bodyPr rtlCol="0" anchor="ctr" wrap="square" lIns="18288" tIns="18288" rIns="18288" bIns="18288">
            <a:noAutofit/>
          </a:bodyPr>
          <a:lstStyle/>
          <a:p>
            <a:pPr algn="ctr">
              <a:spcAft>
                <a:spcPts val="0"/>
              </a:spcAft>
            </a:pPr>
            <a:r>
              <a:rPr sz="1100" b="0" i="0">
                <a:solidFill>
                  <a:srgbClr val="333D47"/>
                </a:solidFill>
                <a:latin typeface="Arial"/>
              </a:rPr>
              <a:t>How does each one work?</a:t>
            </a:r>
          </a:p>
        </p:txBody>
      </p:sp>
      <p:sp>
        <p:nvSpPr>
          <p:cNvPr id="80" name="Rounded Rectangle 79"/>
          <p:cNvSpPr/>
          <p:nvPr/>
        </p:nvSpPr>
        <p:spPr>
          <a:xfrm>
            <a:off x="8469246" y="3877056"/>
            <a:ext cx="2149278" cy="292608"/>
          </a:xfrm>
          <a:prstGeom prst="roundRect">
            <a:avLst>
              <a:gd name="adj" fmla="val 50000"/>
            </a:avLst>
          </a:prstGeom>
          <a:solidFill>
            <a:srgbClr val="F4F1EF"/>
          </a:solidFill>
          <a:ln>
            <a:noFill/>
          </a:ln>
        </p:spPr>
        <p:txBody>
          <a:bodyPr rtlCol="0" anchor="ctr" wrap="square" lIns="18288" tIns="18288" rIns="18288" bIns="18288">
            <a:noAutofit/>
          </a:bodyPr>
          <a:lstStyle/>
          <a:p>
            <a:pPr algn="ctr">
              <a:spcAft>
                <a:spcPts val="0"/>
              </a:spcAft>
            </a:pPr>
            <a:r>
              <a:rPr sz="1100" b="0" i="0">
                <a:solidFill>
                  <a:srgbClr val="333D47"/>
                </a:solidFill>
                <a:latin typeface="Arial"/>
              </a:rPr>
              <a:t>How do I carry the output on?</a:t>
            </a:r>
          </a:p>
        </p:txBody>
      </p:sp>
      <p:sp>
        <p:nvSpPr>
          <p:cNvPr id="81" name="TextBox 80"/>
          <p:cNvSpPr txBox="1"/>
          <p:nvPr/>
        </p:nvSpPr>
        <p:spPr>
          <a:xfrm>
            <a:off x="6437376" y="4279392"/>
            <a:ext cx="5193792" cy="274320"/>
          </a:xfrm>
          <a:prstGeom prst="rect">
            <a:avLst/>
          </a:prstGeom>
          <a:noFill/>
        </p:spPr>
        <p:txBody>
          <a:bodyPr wrap="square" lIns="0" tIns="0" rIns="0" bIns="0" anchor="t">
            <a:noAutofit/>
          </a:bodyPr>
          <a:lstStyle/>
          <a:p>
            <a:pPr algn="l">
              <a:spcAft>
                <a:spcPts val="0"/>
              </a:spcAft>
            </a:pPr>
            <a:r>
              <a:rPr sz="1200" b="1" i="1">
                <a:solidFill>
                  <a:srgbClr val="D31145"/>
                </a:solidFill>
                <a:latin typeface="Arial"/>
              </a:rPr>
              <a:t>More capabilities can mean more to learn and choose.</a:t>
            </a:r>
          </a:p>
        </p:txBody>
      </p:sp>
      <p:sp>
        <p:nvSpPr>
          <p:cNvPr id="82" name="Rounded Rectangle 81"/>
          <p:cNvSpPr/>
          <p:nvPr/>
        </p:nvSpPr>
        <p:spPr>
          <a:xfrm>
            <a:off x="356616" y="4818888"/>
            <a:ext cx="11475720" cy="749808"/>
          </a:xfrm>
          <a:prstGeom prst="roundRect">
            <a:avLst>
              <a:gd name="adj" fmla="val 12195"/>
            </a:avLst>
          </a:prstGeom>
          <a:solidFill>
            <a:srgbClr val="D31145"/>
          </a:solidFill>
          <a:ln>
            <a:noFill/>
          </a:ln>
        </p:spPr>
        <p:txBody>
          <a:bodyPr rtlCol="0" anchor="ctr"/>
          <a:lstStyle/>
          <a:p>
            <a:pPr algn="ctr"/>
          </a:p>
        </p:txBody>
      </p:sp>
      <p:sp>
        <p:nvSpPr>
          <p:cNvPr id="83" name="TextBox 82"/>
          <p:cNvSpPr txBox="1"/>
          <p:nvPr/>
        </p:nvSpPr>
        <p:spPr>
          <a:xfrm>
            <a:off x="640080" y="4818888"/>
            <a:ext cx="2011680" cy="749808"/>
          </a:xfrm>
          <a:prstGeom prst="rect">
            <a:avLst/>
          </a:prstGeom>
          <a:noFill/>
        </p:spPr>
        <p:txBody>
          <a:bodyPr wrap="square" lIns="0" tIns="0" rIns="0" bIns="0" anchor="ctr">
            <a:noAutofit/>
          </a:bodyPr>
          <a:lstStyle/>
          <a:p>
            <a:pPr algn="l">
              <a:spcAft>
                <a:spcPts val="0"/>
              </a:spcAft>
            </a:pPr>
            <a:r>
              <a:rPr sz="1050" b="1" i="0" spc="100">
                <a:solidFill>
                  <a:srgbClr val="F2B6C6"/>
                </a:solidFill>
                <a:latin typeface="Arial"/>
              </a:rPr>
              <a:t>THE PRINCIPLE</a:t>
            </a:r>
          </a:p>
        </p:txBody>
      </p:sp>
      <p:sp>
        <p:nvSpPr>
          <p:cNvPr id="84" name="TextBox 83"/>
          <p:cNvSpPr txBox="1"/>
          <p:nvPr/>
        </p:nvSpPr>
        <p:spPr>
          <a:xfrm>
            <a:off x="2331720" y="4818888"/>
            <a:ext cx="9326880" cy="749808"/>
          </a:xfrm>
          <a:prstGeom prst="rect">
            <a:avLst/>
          </a:prstGeom>
          <a:noFill/>
        </p:spPr>
        <p:txBody>
          <a:bodyPr wrap="square" lIns="0" tIns="0" rIns="0" bIns="0" anchor="ctr">
            <a:noAutofit/>
          </a:bodyPr>
          <a:lstStyle/>
          <a:p>
            <a:pPr algn="l">
              <a:spcAft>
                <a:spcPts val="0"/>
              </a:spcAft>
            </a:pPr>
            <a:r>
              <a:rPr sz="2400" b="1" i="0">
                <a:solidFill>
                  <a:srgbClr val="FFFFFF"/>
                </a:solidFill>
                <a:latin typeface="Arial"/>
              </a:rPr>
              <a:t>The more AI AIA builds, the simpler it should feel to use.</a:t>
            </a:r>
          </a:p>
        </p:txBody>
      </p:sp>
      <p:sp>
        <p:nvSpPr>
          <p:cNvPr id="85" name="Rounded Rectangle 84"/>
          <p:cNvSpPr/>
          <p:nvPr/>
        </p:nvSpPr>
        <p:spPr>
          <a:xfrm>
            <a:off x="356616" y="5733288"/>
            <a:ext cx="1212993" cy="237744"/>
          </a:xfrm>
          <a:prstGeom prst="roundRect">
            <a:avLst>
              <a:gd name="adj" fmla="val 50000"/>
            </a:avLst>
          </a:prstGeom>
          <a:noFill/>
          <a:ln w="12700">
            <a:solidFill>
              <a:srgbClr val="D31145"/>
            </a:solidFill>
          </a:ln>
        </p:spPr>
        <p:txBody>
          <a:bodyPr rtlCol="0" anchor="ctr" wrap="square" lIns="36576" tIns="36576" rIns="36576" bIns="36576">
            <a:noAutofit/>
          </a:bodyPr>
          <a:lstStyle/>
          <a:p>
            <a:pPr algn="ctr">
              <a:spcAft>
                <a:spcPts val="0"/>
              </a:spcAft>
            </a:pPr>
            <a:r>
              <a:rPr sz="850" b="1" i="0" spc="60">
                <a:solidFill>
                  <a:srgbClr val="D31145"/>
                </a:solidFill>
                <a:latin typeface="Arial"/>
              </a:rPr>
              <a:t>OBSERVATION</a:t>
            </a:r>
          </a:p>
        </p:txBody>
      </p:sp>
      <p:sp>
        <p:nvSpPr>
          <p:cNvPr id="86" name="TextBox 85"/>
          <p:cNvSpPr txBox="1"/>
          <p:nvPr/>
        </p:nvSpPr>
        <p:spPr>
          <a:xfrm>
            <a:off x="1755648" y="5705856"/>
            <a:ext cx="9966960" cy="292608"/>
          </a:xfrm>
          <a:prstGeom prst="rect">
            <a:avLst/>
          </a:prstGeom>
          <a:noFill/>
        </p:spPr>
        <p:txBody>
          <a:bodyPr wrap="square" lIns="0" tIns="0" rIns="0" bIns="0" anchor="ctr">
            <a:noAutofit/>
          </a:bodyPr>
          <a:lstStyle/>
          <a:p>
            <a:pPr algn="l">
              <a:spcAft>
                <a:spcPts val="0"/>
              </a:spcAft>
            </a:pPr>
            <a:r>
              <a:rPr sz="1050" b="0" i="0">
                <a:solidFill>
                  <a:srgbClr val="5F6770"/>
                </a:solidFill>
                <a:latin typeface="Arial"/>
              </a:rPr>
              <a:t>From what I observe in back-office work; likely similar for agents. A natural next stage in any AI journey, not a measured finding.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Ask for the outcome, not the tool.</a:t>
            </a:r>
          </a:p>
        </p:txBody>
      </p:sp>
      <p:sp>
        <p:nvSpPr>
          <p:cNvPr id="50" name="Slide Number Placeholder"/>
          <p:cNvSpPr>
            <a:spLocks noGrp="1"/>
          </p:cNvSpPr>
          <p:nvPr>
            <p:ph type="sldNum" sz="quarter" idx="4"/>
          </p:nvPr>
        </p:nvSpPr>
        <p:spPr/>
        <p:txBody>
          <a:bodyPr/>
          <a:lstStyle/>
          <a:p>
            <a:fld id="{18A41853-EF22-D446-BDBC-A7CF3FE93503}" type="slidenum">
              <a:rPr lang="en-US"/>
              <a:t>3</a:t>
            </a:fld>
            <a:endParaRPr lang="en-US" dirty="0"/>
          </a:p>
        </p:txBody>
      </p:sp>
      <p:sp>
        <p:nvSpPr>
          <p:cNvPr id="51" name="TextBox 50"/>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WHAT RILEY IS</a:t>
            </a:r>
          </a:p>
        </p:txBody>
      </p:sp>
      <p:sp>
        <p:nvSpPr>
          <p:cNvPr id="52" name="TextBox 51"/>
          <p:cNvSpPr txBox="1"/>
          <p:nvPr/>
        </p:nvSpPr>
        <p:spPr>
          <a:xfrm>
            <a:off x="356616" y="1024128"/>
            <a:ext cx="1115568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AIA keeps building better AI underneath. Riley gives people one way to benefit from it.</a:t>
            </a:r>
          </a:p>
        </p:txBody>
      </p:sp>
      <p:sp>
        <p:nvSpPr>
          <p:cNvPr id="53" name="Rounded Rectangle 52"/>
          <p:cNvSpPr/>
          <p:nvPr/>
        </p:nvSpPr>
        <p:spPr>
          <a:xfrm>
            <a:off x="356616" y="1572768"/>
            <a:ext cx="7086600" cy="3310128"/>
          </a:xfrm>
          <a:prstGeom prst="roundRect">
            <a:avLst>
              <a:gd name="adj" fmla="val 3314"/>
            </a:avLst>
          </a:prstGeom>
          <a:solidFill>
            <a:srgbClr val="D31145"/>
          </a:solidFill>
          <a:ln>
            <a:noFill/>
          </a:ln>
        </p:spPr>
        <p:txBody>
          <a:bodyPr rtlCol="0" anchor="ctr"/>
          <a:lstStyle/>
          <a:p>
            <a:pPr algn="ctr"/>
          </a:p>
        </p:txBody>
      </p:sp>
      <p:sp>
        <p:nvSpPr>
          <p:cNvPr id="54" name="TextBox 53"/>
          <p:cNvSpPr txBox="1"/>
          <p:nvPr/>
        </p:nvSpPr>
        <p:spPr>
          <a:xfrm>
            <a:off x="630936" y="1755648"/>
            <a:ext cx="5486400" cy="274320"/>
          </a:xfrm>
          <a:prstGeom prst="rect">
            <a:avLst/>
          </a:prstGeom>
          <a:noFill/>
        </p:spPr>
        <p:txBody>
          <a:bodyPr wrap="square" lIns="0" tIns="0" rIns="0" bIns="0" anchor="t">
            <a:noAutofit/>
          </a:bodyPr>
          <a:lstStyle/>
          <a:p>
            <a:pPr algn="l">
              <a:spcAft>
                <a:spcPts val="0"/>
              </a:spcAft>
            </a:pPr>
            <a:r>
              <a:rPr sz="1050" b="1" i="0" spc="100">
                <a:solidFill>
                  <a:srgbClr val="FFFFFF"/>
                </a:solidFill>
                <a:latin typeface="Arial"/>
              </a:rPr>
              <a:t>WHAT PEOPLE EXPERIENCE</a:t>
            </a:r>
          </a:p>
        </p:txBody>
      </p:sp>
      <p:sp>
        <p:nvSpPr>
          <p:cNvPr id="55" name="Rounded Rectangle 54"/>
          <p:cNvSpPr/>
          <p:nvPr/>
        </p:nvSpPr>
        <p:spPr>
          <a:xfrm>
            <a:off x="630936" y="2176272"/>
            <a:ext cx="1965960" cy="2011680"/>
          </a:xfrm>
          <a:prstGeom prst="roundRect">
            <a:avLst>
              <a:gd name="adj" fmla="val 4651"/>
            </a:avLst>
          </a:prstGeom>
          <a:solidFill>
            <a:srgbClr val="FFFFFF"/>
          </a:solidFill>
          <a:ln>
            <a:noFill/>
          </a:ln>
        </p:spPr>
        <p:txBody>
          <a:bodyPr rtlCol="0" anchor="ctr"/>
          <a:lstStyle/>
          <a:p>
            <a:pPr algn="ctr"/>
          </a:p>
        </p:txBody>
      </p:sp>
      <p:sp>
        <p:nvSpPr>
          <p:cNvPr id="56" name="Oval 55"/>
          <p:cNvSpPr/>
          <p:nvPr/>
        </p:nvSpPr>
        <p:spPr>
          <a:xfrm>
            <a:off x="813816" y="2359152"/>
            <a:ext cx="457200" cy="457200"/>
          </a:xfrm>
          <a:prstGeom prst="ellipse">
            <a:avLst/>
          </a:prstGeom>
          <a:solidFill>
            <a:srgbClr val="D31145"/>
          </a:solidFill>
          <a:ln>
            <a:noFill/>
          </a:ln>
        </p:spPr>
        <p:txBody>
          <a:bodyPr rtlCol="0" anchor="ctr"/>
          <a:lstStyle/>
          <a:p>
            <a:pPr algn="ctr"/>
          </a:p>
        </p:txBody>
      </p:sp>
      <p:pic>
        <p:nvPicPr>
          <p:cNvPr id="57" name="Picture 56" descr="image.png"/>
          <p:cNvPicPr>
            <a:picLocks noChangeAspect="1"/>
          </p:cNvPicPr>
          <p:nvPr/>
        </p:nvPicPr>
        <p:blipFill>
          <a:blip r:embed="rId7"/>
          <a:stretch>
            <a:fillRect/>
          </a:stretch>
        </p:blipFill>
        <p:spPr>
          <a:xfrm>
            <a:off x="918972" y="2464308"/>
            <a:ext cx="246888" cy="246888"/>
          </a:xfrm>
          <a:prstGeom prst="rect">
            <a:avLst/>
          </a:prstGeom>
        </p:spPr>
      </p:pic>
      <p:sp>
        <p:nvSpPr>
          <p:cNvPr id="58" name="TextBox 57"/>
          <p:cNvSpPr txBox="1"/>
          <p:nvPr/>
        </p:nvSpPr>
        <p:spPr>
          <a:xfrm>
            <a:off x="813816" y="2889504"/>
            <a:ext cx="1691640" cy="457200"/>
          </a:xfrm>
          <a:prstGeom prst="rect">
            <a:avLst/>
          </a:prstGeom>
          <a:noFill/>
        </p:spPr>
        <p:txBody>
          <a:bodyPr wrap="square" lIns="0" tIns="0" rIns="0" bIns="0" anchor="t">
            <a:noAutofit/>
          </a:bodyPr>
          <a:lstStyle/>
          <a:p>
            <a:pPr algn="l">
              <a:lnSpc>
                <a:spcPct val="92000"/>
              </a:lnSpc>
              <a:spcAft>
                <a:spcPts val="0"/>
              </a:spcAft>
            </a:pPr>
            <a:r>
              <a:rPr sz="1350" b="1" i="0">
                <a:solidFill>
                  <a:srgbClr val="333D47"/>
                </a:solidFill>
                <a:latin typeface="Arial"/>
              </a:rPr>
              <a:t>Ask for the outcome</a:t>
            </a:r>
          </a:p>
        </p:txBody>
      </p:sp>
      <p:sp>
        <p:nvSpPr>
          <p:cNvPr id="59" name="TextBox 58"/>
          <p:cNvSpPr txBox="1"/>
          <p:nvPr/>
        </p:nvSpPr>
        <p:spPr>
          <a:xfrm>
            <a:off x="813816" y="3383280"/>
            <a:ext cx="1645920" cy="777240"/>
          </a:xfrm>
          <a:prstGeom prst="rect">
            <a:avLst/>
          </a:prstGeom>
          <a:noFill/>
        </p:spPr>
        <p:txBody>
          <a:bodyPr wrap="square" lIns="0" tIns="0" rIns="0" bIns="0" anchor="t">
            <a:noAutofit/>
          </a:bodyPr>
          <a:lstStyle/>
          <a:p>
            <a:pPr algn="l">
              <a:lnSpc>
                <a:spcPct val="100000"/>
              </a:lnSpc>
              <a:spcAft>
                <a:spcPts val="0"/>
              </a:spcAft>
            </a:pPr>
            <a:r>
              <a:rPr sz="1150" b="0" i="1">
                <a:solidFill>
                  <a:srgbClr val="5F6770"/>
                </a:solidFill>
                <a:latin typeface="Arial"/>
              </a:rPr>
              <a:t>“Prepare Thursday’s management review.”</a:t>
            </a:r>
          </a:p>
        </p:txBody>
      </p:sp>
      <p:cxnSp>
        <p:nvCxnSpPr>
          <p:cNvPr id="60" name="Connector 59"/>
          <p:cNvCxnSpPr/>
          <p:nvPr/>
        </p:nvCxnSpPr>
        <p:spPr>
          <a:xfrm>
            <a:off x="2642616" y="3182112"/>
            <a:ext cx="228600" cy="0"/>
          </a:xfrm>
          <a:prstGeom prst="line">
            <a:avLst/>
          </a:prstGeom>
          <a:ln w="28575">
            <a:solidFill>
              <a:srgbClr val="FFFFFF"/>
            </a:solidFill>
            <a:tailEnd type="triangle" w="med" len="med"/>
          </a:ln>
        </p:spPr>
      </p:cxnSp>
      <p:sp>
        <p:nvSpPr>
          <p:cNvPr id="61" name="Rounded Rectangle 60"/>
          <p:cNvSpPr/>
          <p:nvPr/>
        </p:nvSpPr>
        <p:spPr>
          <a:xfrm>
            <a:off x="2916936" y="2176272"/>
            <a:ext cx="1965960" cy="2011680"/>
          </a:xfrm>
          <a:prstGeom prst="roundRect">
            <a:avLst>
              <a:gd name="adj" fmla="val 4651"/>
            </a:avLst>
          </a:prstGeom>
          <a:solidFill>
            <a:srgbClr val="FFFFFF"/>
          </a:solidFill>
          <a:ln>
            <a:noFill/>
          </a:ln>
        </p:spPr>
        <p:txBody>
          <a:bodyPr rtlCol="0" anchor="ctr"/>
          <a:lstStyle/>
          <a:p>
            <a:pPr algn="ctr"/>
          </a:p>
        </p:txBody>
      </p:sp>
      <p:sp>
        <p:nvSpPr>
          <p:cNvPr id="62" name="Oval 61"/>
          <p:cNvSpPr/>
          <p:nvPr/>
        </p:nvSpPr>
        <p:spPr>
          <a:xfrm>
            <a:off x="3099816" y="2359152"/>
            <a:ext cx="457200" cy="457200"/>
          </a:xfrm>
          <a:prstGeom prst="ellipse">
            <a:avLst/>
          </a:prstGeom>
          <a:solidFill>
            <a:srgbClr val="D31145"/>
          </a:solidFill>
          <a:ln>
            <a:noFill/>
          </a:ln>
        </p:spPr>
        <p:txBody>
          <a:bodyPr rtlCol="0" anchor="ctr"/>
          <a:lstStyle/>
          <a:p>
            <a:pPr algn="ctr"/>
          </a:p>
        </p:txBody>
      </p:sp>
      <p:pic>
        <p:nvPicPr>
          <p:cNvPr id="63" name="Picture 62" descr="LuListChecks_w.png"/>
          <p:cNvPicPr>
            <a:picLocks noChangeAspect="1"/>
          </p:cNvPicPr>
          <p:nvPr/>
        </p:nvPicPr>
        <p:blipFill>
          <a:blip r:embed="rId8"/>
          <a:stretch>
            <a:fillRect/>
          </a:stretch>
        </p:blipFill>
        <p:spPr>
          <a:xfrm>
            <a:off x="3204972" y="2464308"/>
            <a:ext cx="246888" cy="246888"/>
          </a:xfrm>
          <a:prstGeom prst="rect">
            <a:avLst/>
          </a:prstGeom>
        </p:spPr>
      </p:pic>
      <p:sp>
        <p:nvSpPr>
          <p:cNvPr id="64" name="TextBox 63"/>
          <p:cNvSpPr txBox="1"/>
          <p:nvPr/>
        </p:nvSpPr>
        <p:spPr>
          <a:xfrm>
            <a:off x="3099816" y="2889504"/>
            <a:ext cx="1691640" cy="457200"/>
          </a:xfrm>
          <a:prstGeom prst="rect">
            <a:avLst/>
          </a:prstGeom>
          <a:noFill/>
        </p:spPr>
        <p:txBody>
          <a:bodyPr wrap="square" lIns="0" tIns="0" rIns="0" bIns="0" anchor="t">
            <a:noAutofit/>
          </a:bodyPr>
          <a:lstStyle/>
          <a:p>
            <a:pPr algn="l">
              <a:lnSpc>
                <a:spcPct val="92000"/>
              </a:lnSpc>
              <a:spcAft>
                <a:spcPts val="0"/>
              </a:spcAft>
            </a:pPr>
            <a:r>
              <a:rPr sz="1350" b="1" i="0">
                <a:solidFill>
                  <a:srgbClr val="333D47"/>
                </a:solidFill>
                <a:latin typeface="Arial"/>
              </a:rPr>
              <a:t>Riley does the legwork</a:t>
            </a:r>
          </a:p>
        </p:txBody>
      </p:sp>
      <p:sp>
        <p:nvSpPr>
          <p:cNvPr id="65" name="TextBox 64"/>
          <p:cNvSpPr txBox="1"/>
          <p:nvPr/>
        </p:nvSpPr>
        <p:spPr>
          <a:xfrm>
            <a:off x="3099816" y="3383280"/>
            <a:ext cx="1645920" cy="777240"/>
          </a:xfrm>
          <a:prstGeom prst="rect">
            <a:avLst/>
          </a:prstGeom>
          <a:noFill/>
        </p:spPr>
        <p:txBody>
          <a:bodyPr wrap="square" lIns="0" tIns="0" rIns="0" bIns="0" anchor="t">
            <a:noAutofit/>
          </a:bodyPr>
          <a:lstStyle/>
          <a:p>
            <a:pPr algn="l">
              <a:lnSpc>
                <a:spcPct val="100000"/>
              </a:lnSpc>
              <a:spcAft>
                <a:spcPts val="0"/>
              </a:spcAft>
            </a:pPr>
            <a:r>
              <a:rPr sz="1150" b="0" i="0">
                <a:solidFill>
                  <a:srgbClr val="5F6770"/>
                </a:solidFill>
                <a:latin typeface="Arial"/>
              </a:rPr>
              <a:t>Shows its plan, then does the work in between, using only what you can access.</a:t>
            </a:r>
          </a:p>
        </p:txBody>
      </p:sp>
      <p:cxnSp>
        <p:nvCxnSpPr>
          <p:cNvPr id="66" name="Connector 65"/>
          <p:cNvCxnSpPr/>
          <p:nvPr/>
        </p:nvCxnSpPr>
        <p:spPr>
          <a:xfrm>
            <a:off x="4928616" y="3182112"/>
            <a:ext cx="228600" cy="0"/>
          </a:xfrm>
          <a:prstGeom prst="line">
            <a:avLst/>
          </a:prstGeom>
          <a:ln w="28575">
            <a:solidFill>
              <a:srgbClr val="FFFFFF"/>
            </a:solidFill>
            <a:tailEnd type="triangle" w="med" len="med"/>
          </a:ln>
        </p:spPr>
      </p:cxnSp>
      <p:sp>
        <p:nvSpPr>
          <p:cNvPr id="67" name="Rounded Rectangle 66"/>
          <p:cNvSpPr/>
          <p:nvPr/>
        </p:nvSpPr>
        <p:spPr>
          <a:xfrm>
            <a:off x="5202936" y="2176272"/>
            <a:ext cx="1965960" cy="2011680"/>
          </a:xfrm>
          <a:prstGeom prst="roundRect">
            <a:avLst>
              <a:gd name="adj" fmla="val 4651"/>
            </a:avLst>
          </a:prstGeom>
          <a:solidFill>
            <a:srgbClr val="FFFFFF"/>
          </a:solidFill>
          <a:ln>
            <a:noFill/>
          </a:ln>
        </p:spPr>
        <p:txBody>
          <a:bodyPr rtlCol="0" anchor="ctr"/>
          <a:lstStyle/>
          <a:p>
            <a:pPr algn="ctr"/>
          </a:p>
        </p:txBody>
      </p:sp>
      <p:sp>
        <p:nvSpPr>
          <p:cNvPr id="68" name="Oval 67"/>
          <p:cNvSpPr/>
          <p:nvPr/>
        </p:nvSpPr>
        <p:spPr>
          <a:xfrm>
            <a:off x="5385816" y="2359152"/>
            <a:ext cx="457200" cy="457200"/>
          </a:xfrm>
          <a:prstGeom prst="ellipse">
            <a:avLst/>
          </a:prstGeom>
          <a:solidFill>
            <a:srgbClr val="D31145"/>
          </a:solidFill>
          <a:ln>
            <a:noFill/>
          </a:ln>
        </p:spPr>
        <p:txBody>
          <a:bodyPr rtlCol="0" anchor="ctr"/>
          <a:lstStyle/>
          <a:p>
            <a:pPr algn="ctr"/>
          </a:p>
        </p:txBody>
      </p:sp>
      <p:pic>
        <p:nvPicPr>
          <p:cNvPr id="69" name="Picture 68" descr="LuUserCheck_w.png"/>
          <p:cNvPicPr>
            <a:picLocks noChangeAspect="1"/>
          </p:cNvPicPr>
          <p:nvPr/>
        </p:nvPicPr>
        <p:blipFill>
          <a:blip r:embed="rId9"/>
          <a:stretch>
            <a:fillRect/>
          </a:stretch>
        </p:blipFill>
        <p:spPr>
          <a:xfrm>
            <a:off x="5490972" y="2464308"/>
            <a:ext cx="246888" cy="246888"/>
          </a:xfrm>
          <a:prstGeom prst="rect">
            <a:avLst/>
          </a:prstGeom>
        </p:spPr>
      </p:pic>
      <p:sp>
        <p:nvSpPr>
          <p:cNvPr id="70" name="TextBox 69"/>
          <p:cNvSpPr txBox="1"/>
          <p:nvPr/>
        </p:nvSpPr>
        <p:spPr>
          <a:xfrm>
            <a:off x="5385816" y="2889504"/>
            <a:ext cx="1691640" cy="457200"/>
          </a:xfrm>
          <a:prstGeom prst="rect">
            <a:avLst/>
          </a:prstGeom>
          <a:noFill/>
        </p:spPr>
        <p:txBody>
          <a:bodyPr wrap="square" lIns="0" tIns="0" rIns="0" bIns="0" anchor="t">
            <a:noAutofit/>
          </a:bodyPr>
          <a:lstStyle/>
          <a:p>
            <a:pPr algn="l">
              <a:lnSpc>
                <a:spcPct val="92000"/>
              </a:lnSpc>
              <a:spcAft>
                <a:spcPts val="0"/>
              </a:spcAft>
            </a:pPr>
            <a:r>
              <a:rPr sz="1350" b="1" i="0">
                <a:solidFill>
                  <a:srgbClr val="333D47"/>
                </a:solidFill>
                <a:latin typeface="Arial"/>
              </a:rPr>
              <a:t>You review and approve</a:t>
            </a:r>
          </a:p>
        </p:txBody>
      </p:sp>
      <p:sp>
        <p:nvSpPr>
          <p:cNvPr id="71" name="TextBox 70"/>
          <p:cNvSpPr txBox="1"/>
          <p:nvPr/>
        </p:nvSpPr>
        <p:spPr>
          <a:xfrm>
            <a:off x="5385816" y="3383280"/>
            <a:ext cx="1645920" cy="777240"/>
          </a:xfrm>
          <a:prstGeom prst="rect">
            <a:avLst/>
          </a:prstGeom>
          <a:noFill/>
        </p:spPr>
        <p:txBody>
          <a:bodyPr wrap="square" lIns="0" tIns="0" rIns="0" bIns="0" anchor="t">
            <a:noAutofit/>
          </a:bodyPr>
          <a:lstStyle/>
          <a:p>
            <a:pPr algn="l">
              <a:lnSpc>
                <a:spcPct val="100000"/>
              </a:lnSpc>
              <a:spcAft>
                <a:spcPts val="0"/>
              </a:spcAft>
            </a:pPr>
            <a:r>
              <a:rPr sz="1150" b="0" i="0">
                <a:solidFill>
                  <a:srgbClr val="5F6770"/>
                </a:solidFill>
                <a:latin typeface="Arial"/>
              </a:rPr>
              <a:t>Finished work comes back. You keep the judgment.</a:t>
            </a:r>
          </a:p>
        </p:txBody>
      </p:sp>
      <p:sp>
        <p:nvSpPr>
          <p:cNvPr id="72" name="TextBox 71"/>
          <p:cNvSpPr txBox="1"/>
          <p:nvPr/>
        </p:nvSpPr>
        <p:spPr>
          <a:xfrm>
            <a:off x="630936" y="4315968"/>
            <a:ext cx="6537960" cy="411480"/>
          </a:xfrm>
          <a:prstGeom prst="rect">
            <a:avLst/>
          </a:prstGeom>
          <a:noFill/>
        </p:spPr>
        <p:txBody>
          <a:bodyPr wrap="square" lIns="0" tIns="0" rIns="0" bIns="0" anchor="ctr">
            <a:noAutofit/>
          </a:bodyPr>
          <a:lstStyle/>
          <a:p>
            <a:pPr algn="l">
              <a:spcAft>
                <a:spcPts val="0"/>
              </a:spcAft>
            </a:pPr>
            <a:r>
              <a:rPr sz="1250" b="1" i="0">
                <a:solidFill>
                  <a:srgbClr val="FFFFFF"/>
                </a:solidFill>
                <a:latin typeface="Arial"/>
              </a:rPr>
              <a:t>Serving a customer or running the business: </a:t>
            </a:r>
            <a:r>
              <a:rPr sz="1250" b="0" i="0">
                <a:solidFill>
                  <a:srgbClr val="FFFFFF"/>
                </a:solidFill>
                <a:latin typeface="Arial"/>
              </a:rPr>
              <a:t>you own the outcome.</a:t>
            </a:r>
          </a:p>
        </p:txBody>
      </p:sp>
      <p:sp>
        <p:nvSpPr>
          <p:cNvPr id="73" name="Rounded Rectangle 72"/>
          <p:cNvSpPr/>
          <p:nvPr/>
        </p:nvSpPr>
        <p:spPr>
          <a:xfrm>
            <a:off x="7699248" y="1572768"/>
            <a:ext cx="4133088" cy="3310128"/>
          </a:xfrm>
          <a:prstGeom prst="roundRect">
            <a:avLst>
              <a:gd name="adj" fmla="val 3314"/>
            </a:avLst>
          </a:prstGeom>
          <a:solidFill>
            <a:srgbClr val="FFFFFF"/>
          </a:solidFill>
          <a:ln w="15875">
            <a:solidFill>
              <a:srgbClr val="F2B6C6"/>
            </a:solidFill>
            <a:prstDash val="dash"/>
          </a:ln>
        </p:spPr>
        <p:txBody>
          <a:bodyPr rtlCol="0" anchor="ctr"/>
          <a:lstStyle/>
          <a:p>
            <a:pPr algn="ctr"/>
          </a:p>
        </p:txBody>
      </p:sp>
      <p:sp>
        <p:nvSpPr>
          <p:cNvPr id="74" name="TextBox 73"/>
          <p:cNvSpPr txBox="1"/>
          <p:nvPr/>
        </p:nvSpPr>
        <p:spPr>
          <a:xfrm>
            <a:off x="7927848" y="1755648"/>
            <a:ext cx="3675888" cy="274320"/>
          </a:xfrm>
          <a:prstGeom prst="rect">
            <a:avLst/>
          </a:prstGeom>
          <a:noFill/>
        </p:spPr>
        <p:txBody>
          <a:bodyPr wrap="square" lIns="0" tIns="0" rIns="0" bIns="0" anchor="t">
            <a:noAutofit/>
          </a:bodyPr>
          <a:lstStyle/>
          <a:p>
            <a:pPr algn="l">
              <a:spcAft>
                <a:spcPts val="0"/>
              </a:spcAft>
            </a:pPr>
            <a:r>
              <a:rPr sz="1000" b="1" i="0" spc="20">
                <a:solidFill>
                  <a:srgbClr val="D31145"/>
                </a:solidFill>
                <a:latin typeface="Arial"/>
              </a:rPr>
              <a:t>AROUND IT  </a:t>
            </a:r>
            <a:r>
              <a:rPr sz="1000" b="0" i="0" spc="20">
                <a:solidFill>
                  <a:srgbClr val="5F6770"/>
                </a:solidFill>
                <a:latin typeface="Arial"/>
              </a:rPr>
              <a:t>permissions, approval, governance, records</a:t>
            </a:r>
          </a:p>
        </p:txBody>
      </p:sp>
      <p:sp>
        <p:nvSpPr>
          <p:cNvPr id="75" name="Rounded Rectangle 74"/>
          <p:cNvSpPr/>
          <p:nvPr/>
        </p:nvSpPr>
        <p:spPr>
          <a:xfrm>
            <a:off x="7927848" y="2176272"/>
            <a:ext cx="3675888" cy="1024128"/>
          </a:xfrm>
          <a:prstGeom prst="roundRect">
            <a:avLst>
              <a:gd name="adj" fmla="val 8928"/>
            </a:avLst>
          </a:prstGeom>
          <a:solidFill>
            <a:srgbClr val="FBE8ED"/>
          </a:solidFill>
          <a:ln>
            <a:noFill/>
          </a:ln>
        </p:spPr>
        <p:txBody>
          <a:bodyPr rtlCol="0" anchor="ctr"/>
          <a:lstStyle/>
          <a:p>
            <a:pPr algn="ctr"/>
          </a:p>
        </p:txBody>
      </p:sp>
      <p:sp>
        <p:nvSpPr>
          <p:cNvPr id="76" name="Oval 75"/>
          <p:cNvSpPr/>
          <p:nvPr/>
        </p:nvSpPr>
        <p:spPr>
          <a:xfrm>
            <a:off x="8110728" y="2359152"/>
            <a:ext cx="420624" cy="420624"/>
          </a:xfrm>
          <a:prstGeom prst="ellipse">
            <a:avLst/>
          </a:prstGeom>
          <a:solidFill>
            <a:srgbClr val="D31145"/>
          </a:solidFill>
          <a:ln>
            <a:noFill/>
          </a:ln>
        </p:spPr>
        <p:txBody>
          <a:bodyPr rtlCol="0" anchor="ctr" wrap="square" lIns="0" tIns="0" rIns="0" bIns="0">
            <a:noAutofit/>
          </a:bodyPr>
          <a:lstStyle/>
          <a:p>
            <a:pPr algn="ctr">
              <a:spcAft>
                <a:spcPts val="0"/>
              </a:spcAft>
            </a:pPr>
            <a:r>
              <a:rPr sz="1656" b="1" i="0">
                <a:solidFill>
                  <a:srgbClr val="FFFFFF"/>
                </a:solidFill>
                <a:latin typeface="Arial"/>
              </a:rPr>
              <a:t>R</a:t>
            </a:r>
          </a:p>
        </p:txBody>
      </p:sp>
      <p:sp>
        <p:nvSpPr>
          <p:cNvPr id="77" name="TextBox 76"/>
          <p:cNvSpPr txBox="1"/>
          <p:nvPr/>
        </p:nvSpPr>
        <p:spPr>
          <a:xfrm>
            <a:off x="8686800" y="2249424"/>
            <a:ext cx="2807208" cy="274320"/>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RILEY</a:t>
            </a:r>
          </a:p>
        </p:txBody>
      </p:sp>
      <p:sp>
        <p:nvSpPr>
          <p:cNvPr id="78" name="TextBox 77"/>
          <p:cNvSpPr txBox="1"/>
          <p:nvPr/>
        </p:nvSpPr>
        <p:spPr>
          <a:xfrm>
            <a:off x="8686800" y="2505456"/>
            <a:ext cx="2807208" cy="603504"/>
          </a:xfrm>
          <a:prstGeom prst="rect">
            <a:avLst/>
          </a:prstGeom>
          <a:noFill/>
        </p:spPr>
        <p:txBody>
          <a:bodyPr wrap="square" lIns="0" tIns="0" rIns="0" bIns="0" anchor="t">
            <a:noAutofit/>
          </a:bodyPr>
          <a:lstStyle/>
          <a:p>
            <a:pPr algn="l">
              <a:lnSpc>
                <a:spcPct val="95000"/>
              </a:lnSpc>
              <a:spcAft>
                <a:spcPts val="0"/>
              </a:spcAft>
            </a:pPr>
            <a:r>
              <a:rPr sz="1400" b="1" i="0">
                <a:solidFill>
                  <a:srgbClr val="333D47"/>
                </a:solidFill>
                <a:latin typeface="Arial"/>
              </a:rPr>
              <a:t>One consistent coworker experience</a:t>
            </a:r>
          </a:p>
        </p:txBody>
      </p:sp>
      <p:sp>
        <p:nvSpPr>
          <p:cNvPr id="79" name="Rounded Rectangle 78"/>
          <p:cNvSpPr/>
          <p:nvPr/>
        </p:nvSpPr>
        <p:spPr>
          <a:xfrm>
            <a:off x="7927848" y="3337560"/>
            <a:ext cx="3675888" cy="1335024"/>
          </a:xfrm>
          <a:prstGeom prst="roundRect">
            <a:avLst>
              <a:gd name="adj" fmla="val 6849"/>
            </a:avLst>
          </a:prstGeom>
          <a:solidFill>
            <a:srgbClr val="F4F1EF"/>
          </a:solidFill>
          <a:ln>
            <a:noFill/>
          </a:ln>
        </p:spPr>
        <p:txBody>
          <a:bodyPr rtlCol="0" anchor="ctr"/>
          <a:lstStyle/>
          <a:p>
            <a:pPr algn="ctr"/>
          </a:p>
        </p:txBody>
      </p:sp>
      <p:pic>
        <p:nvPicPr>
          <p:cNvPr id="80" name="Picture 79" descr="LuLayers_c.png"/>
          <p:cNvPicPr>
            <a:picLocks noChangeAspect="1"/>
          </p:cNvPicPr>
          <p:nvPr/>
        </p:nvPicPr>
        <p:blipFill>
          <a:blip r:embed="rId10"/>
          <a:stretch>
            <a:fillRect/>
          </a:stretch>
        </p:blipFill>
        <p:spPr>
          <a:xfrm>
            <a:off x="8156448" y="3511296"/>
            <a:ext cx="329184" cy="329184"/>
          </a:xfrm>
          <a:prstGeom prst="rect">
            <a:avLst/>
          </a:prstGeom>
        </p:spPr>
      </p:pic>
      <p:sp>
        <p:nvSpPr>
          <p:cNvPr id="81" name="TextBox 80"/>
          <p:cNvSpPr txBox="1"/>
          <p:nvPr/>
        </p:nvSpPr>
        <p:spPr>
          <a:xfrm>
            <a:off x="8686800" y="3429000"/>
            <a:ext cx="2807208" cy="274320"/>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UNDERNEATH</a:t>
            </a:r>
          </a:p>
        </p:txBody>
      </p:sp>
      <p:sp>
        <p:nvSpPr>
          <p:cNvPr id="82" name="TextBox 81"/>
          <p:cNvSpPr txBox="1"/>
          <p:nvPr/>
        </p:nvSpPr>
        <p:spPr>
          <a:xfrm>
            <a:off x="8686800" y="3685032"/>
            <a:ext cx="2807208" cy="960120"/>
          </a:xfrm>
          <a:prstGeom prst="rect">
            <a:avLst/>
          </a:prstGeom>
          <a:noFill/>
        </p:spPr>
        <p:txBody>
          <a:bodyPr wrap="square" lIns="0" tIns="0" rIns="0" bIns="0" anchor="t">
            <a:noAutofit/>
          </a:bodyPr>
          <a:lstStyle/>
          <a:p>
            <a:pPr algn="l">
              <a:lnSpc>
                <a:spcPct val="100000"/>
              </a:lnSpc>
              <a:spcAft>
                <a:spcPts val="0"/>
              </a:spcAft>
            </a:pPr>
            <a:r>
              <a:rPr sz="1200" b="0" i="0">
                <a:solidFill>
                  <a:srgbClr val="333D47"/>
                </a:solidFill>
                <a:latin typeface="Arial"/>
              </a:rPr>
              <a:t>AIA’s AI, data, systems and specialist capabilities, such as enterprise AI and Alfred</a:t>
            </a:r>
          </a:p>
        </p:txBody>
      </p:sp>
      <p:sp>
        <p:nvSpPr>
          <p:cNvPr id="83" name="TextBox 82"/>
          <p:cNvSpPr txBox="1"/>
          <p:nvPr/>
        </p:nvSpPr>
        <p:spPr>
          <a:xfrm>
            <a:off x="356616" y="5074920"/>
            <a:ext cx="2194560" cy="384048"/>
          </a:xfrm>
          <a:prstGeom prst="rect">
            <a:avLst/>
          </a:prstGeom>
          <a:noFill/>
        </p:spPr>
        <p:txBody>
          <a:bodyPr wrap="square" lIns="0" tIns="0" rIns="0" bIns="0" anchor="ctr">
            <a:noAutofit/>
          </a:bodyPr>
          <a:lstStyle/>
          <a:p>
            <a:pPr algn="l">
              <a:spcAft>
                <a:spcPts val="0"/>
              </a:spcAft>
            </a:pPr>
            <a:r>
              <a:rPr sz="1050" b="1" i="0" spc="80">
                <a:solidFill>
                  <a:srgbClr val="5F6770"/>
                </a:solidFill>
                <a:latin typeface="Arial"/>
              </a:rPr>
              <a:t>YOU NO LONGER NEED TO</a:t>
            </a:r>
          </a:p>
        </p:txBody>
      </p:sp>
      <p:sp>
        <p:nvSpPr>
          <p:cNvPr id="84" name="Rounded Rectangle 83"/>
          <p:cNvSpPr/>
          <p:nvPr/>
        </p:nvSpPr>
        <p:spPr>
          <a:xfrm>
            <a:off x="2487168" y="5111496"/>
            <a:ext cx="1796514" cy="329184"/>
          </a:xfrm>
          <a:prstGeom prst="roundRect">
            <a:avLst>
              <a:gd name="adj" fmla="val 50000"/>
            </a:avLst>
          </a:prstGeom>
          <a:solidFill>
            <a:srgbClr val="FFFFFF"/>
          </a:solidFill>
          <a:ln w="9525">
            <a:solidFill>
              <a:srgbClr val="DDD6D0"/>
            </a:solidFill>
          </a:ln>
        </p:spPr>
        <p:txBody>
          <a:bodyPr rtlCol="0" anchor="ctr"/>
          <a:lstStyle/>
          <a:p>
            <a:pPr algn="ctr"/>
          </a:p>
        </p:txBody>
      </p:sp>
      <p:pic>
        <p:nvPicPr>
          <p:cNvPr id="85" name="Picture 84" descr="LuBan_g.png"/>
          <p:cNvPicPr>
            <a:picLocks noChangeAspect="1"/>
          </p:cNvPicPr>
          <p:nvPr/>
        </p:nvPicPr>
        <p:blipFill>
          <a:blip r:embed="rId11"/>
          <a:stretch>
            <a:fillRect/>
          </a:stretch>
        </p:blipFill>
        <p:spPr>
          <a:xfrm>
            <a:off x="2596896" y="5175504"/>
            <a:ext cx="201168" cy="201168"/>
          </a:xfrm>
          <a:prstGeom prst="rect">
            <a:avLst/>
          </a:prstGeom>
        </p:spPr>
      </p:pic>
      <p:sp>
        <p:nvSpPr>
          <p:cNvPr id="86" name="TextBox 85"/>
          <p:cNvSpPr txBox="1"/>
          <p:nvPr/>
        </p:nvSpPr>
        <p:spPr>
          <a:xfrm>
            <a:off x="2852928" y="5111496"/>
            <a:ext cx="1385034" cy="329184"/>
          </a:xfrm>
          <a:prstGeom prst="rect">
            <a:avLst/>
          </a:prstGeom>
          <a:noFill/>
        </p:spPr>
        <p:txBody>
          <a:bodyPr wrap="square" lIns="0" tIns="0" rIns="0" bIns="0" anchor="ctr">
            <a:noAutofit/>
          </a:bodyPr>
          <a:lstStyle/>
          <a:p>
            <a:pPr algn="l">
              <a:spcAft>
                <a:spcPts val="0"/>
              </a:spcAft>
            </a:pPr>
            <a:r>
              <a:rPr sz="1150" b="0" i="0">
                <a:solidFill>
                  <a:srgbClr val="333D47"/>
                </a:solidFill>
                <a:latin typeface="Arial"/>
              </a:rPr>
              <a:t>Find every AI tool</a:t>
            </a:r>
          </a:p>
        </p:txBody>
      </p:sp>
      <p:sp>
        <p:nvSpPr>
          <p:cNvPr id="87" name="Rounded Rectangle 86"/>
          <p:cNvSpPr/>
          <p:nvPr/>
        </p:nvSpPr>
        <p:spPr>
          <a:xfrm>
            <a:off x="4393410" y="5111496"/>
            <a:ext cx="2000334" cy="329184"/>
          </a:xfrm>
          <a:prstGeom prst="roundRect">
            <a:avLst>
              <a:gd name="adj" fmla="val 50000"/>
            </a:avLst>
          </a:prstGeom>
          <a:solidFill>
            <a:srgbClr val="FFFFFF"/>
          </a:solidFill>
          <a:ln w="9525">
            <a:solidFill>
              <a:srgbClr val="DDD6D0"/>
            </a:solidFill>
          </a:ln>
        </p:spPr>
        <p:txBody>
          <a:bodyPr rtlCol="0" anchor="ctr"/>
          <a:lstStyle/>
          <a:p>
            <a:pPr algn="ctr"/>
          </a:p>
        </p:txBody>
      </p:sp>
      <p:pic>
        <p:nvPicPr>
          <p:cNvPr id="88" name="Picture 87" descr="LuBan_g.png"/>
          <p:cNvPicPr>
            <a:picLocks noChangeAspect="1"/>
          </p:cNvPicPr>
          <p:nvPr/>
        </p:nvPicPr>
        <p:blipFill>
          <a:blip r:embed="rId11"/>
          <a:stretch>
            <a:fillRect/>
          </a:stretch>
        </p:blipFill>
        <p:spPr>
          <a:xfrm>
            <a:off x="4503138" y="5175504"/>
            <a:ext cx="201168" cy="201168"/>
          </a:xfrm>
          <a:prstGeom prst="rect">
            <a:avLst/>
          </a:prstGeom>
        </p:spPr>
      </p:pic>
      <p:sp>
        <p:nvSpPr>
          <p:cNvPr id="89" name="TextBox 88"/>
          <p:cNvSpPr txBox="1"/>
          <p:nvPr/>
        </p:nvSpPr>
        <p:spPr>
          <a:xfrm>
            <a:off x="4759170" y="5111496"/>
            <a:ext cx="1588854" cy="329184"/>
          </a:xfrm>
          <a:prstGeom prst="rect">
            <a:avLst/>
          </a:prstGeom>
          <a:noFill/>
        </p:spPr>
        <p:txBody>
          <a:bodyPr wrap="square" lIns="0" tIns="0" rIns="0" bIns="0" anchor="ctr">
            <a:noAutofit/>
          </a:bodyPr>
          <a:lstStyle/>
          <a:p>
            <a:pPr algn="l">
              <a:spcAft>
                <a:spcPts val="0"/>
              </a:spcAft>
            </a:pPr>
            <a:r>
              <a:rPr sz="1150" b="0" i="0">
                <a:solidFill>
                  <a:srgbClr val="333D47"/>
                </a:solidFill>
                <a:latin typeface="Arial"/>
              </a:rPr>
              <a:t>Learn every new one</a:t>
            </a:r>
          </a:p>
        </p:txBody>
      </p:sp>
      <p:sp>
        <p:nvSpPr>
          <p:cNvPr id="90" name="Rounded Rectangle 89"/>
          <p:cNvSpPr/>
          <p:nvPr/>
        </p:nvSpPr>
        <p:spPr>
          <a:xfrm>
            <a:off x="6503472" y="5111496"/>
            <a:ext cx="2014935" cy="329184"/>
          </a:xfrm>
          <a:prstGeom prst="roundRect">
            <a:avLst>
              <a:gd name="adj" fmla="val 50000"/>
            </a:avLst>
          </a:prstGeom>
          <a:solidFill>
            <a:srgbClr val="FFFFFF"/>
          </a:solidFill>
          <a:ln w="9525">
            <a:solidFill>
              <a:srgbClr val="DDD6D0"/>
            </a:solidFill>
          </a:ln>
        </p:spPr>
        <p:txBody>
          <a:bodyPr rtlCol="0" anchor="ctr"/>
          <a:lstStyle/>
          <a:p>
            <a:pPr algn="ctr"/>
          </a:p>
        </p:txBody>
      </p:sp>
      <p:pic>
        <p:nvPicPr>
          <p:cNvPr id="91" name="Picture 90" descr="LuBan_g.png"/>
          <p:cNvPicPr>
            <a:picLocks noChangeAspect="1"/>
          </p:cNvPicPr>
          <p:nvPr/>
        </p:nvPicPr>
        <p:blipFill>
          <a:blip r:embed="rId11"/>
          <a:stretch>
            <a:fillRect/>
          </a:stretch>
        </p:blipFill>
        <p:spPr>
          <a:xfrm>
            <a:off x="6613200" y="5175504"/>
            <a:ext cx="201168" cy="201168"/>
          </a:xfrm>
          <a:prstGeom prst="rect">
            <a:avLst/>
          </a:prstGeom>
        </p:spPr>
      </p:pic>
      <p:sp>
        <p:nvSpPr>
          <p:cNvPr id="92" name="TextBox 91"/>
          <p:cNvSpPr txBox="1"/>
          <p:nvPr/>
        </p:nvSpPr>
        <p:spPr>
          <a:xfrm>
            <a:off x="6869232" y="5111496"/>
            <a:ext cx="1603455" cy="329184"/>
          </a:xfrm>
          <a:prstGeom prst="rect">
            <a:avLst/>
          </a:prstGeom>
          <a:noFill/>
        </p:spPr>
        <p:txBody>
          <a:bodyPr wrap="square" lIns="0" tIns="0" rIns="0" bIns="0" anchor="ctr">
            <a:noAutofit/>
          </a:bodyPr>
          <a:lstStyle/>
          <a:p>
            <a:pPr algn="l">
              <a:spcAft>
                <a:spcPts val="0"/>
              </a:spcAft>
            </a:pPr>
            <a:r>
              <a:rPr sz="1150" b="0" i="0">
                <a:solidFill>
                  <a:srgbClr val="333D47"/>
                </a:solidFill>
                <a:latin typeface="Arial"/>
              </a:rPr>
              <a:t>Choose which to use</a:t>
            </a:r>
          </a:p>
        </p:txBody>
      </p:sp>
      <p:sp>
        <p:nvSpPr>
          <p:cNvPr id="93" name="Rounded Rectangle 92"/>
          <p:cNvSpPr/>
          <p:nvPr/>
        </p:nvSpPr>
        <p:spPr>
          <a:xfrm>
            <a:off x="8628135" y="5111496"/>
            <a:ext cx="2731420" cy="329184"/>
          </a:xfrm>
          <a:prstGeom prst="roundRect">
            <a:avLst>
              <a:gd name="adj" fmla="val 50000"/>
            </a:avLst>
          </a:prstGeom>
          <a:solidFill>
            <a:srgbClr val="FFFFFF"/>
          </a:solidFill>
          <a:ln w="9525">
            <a:solidFill>
              <a:srgbClr val="DDD6D0"/>
            </a:solidFill>
          </a:ln>
        </p:spPr>
        <p:txBody>
          <a:bodyPr rtlCol="0" anchor="ctr"/>
          <a:lstStyle/>
          <a:p>
            <a:pPr algn="ctr"/>
          </a:p>
        </p:txBody>
      </p:sp>
      <p:pic>
        <p:nvPicPr>
          <p:cNvPr id="94" name="Picture 93" descr="LuBan_g.png"/>
          <p:cNvPicPr>
            <a:picLocks noChangeAspect="1"/>
          </p:cNvPicPr>
          <p:nvPr/>
        </p:nvPicPr>
        <p:blipFill>
          <a:blip r:embed="rId11"/>
          <a:stretch>
            <a:fillRect/>
          </a:stretch>
        </p:blipFill>
        <p:spPr>
          <a:xfrm>
            <a:off x="8737863" y="5175504"/>
            <a:ext cx="201168" cy="201168"/>
          </a:xfrm>
          <a:prstGeom prst="rect">
            <a:avLst/>
          </a:prstGeom>
        </p:spPr>
      </p:pic>
      <p:sp>
        <p:nvSpPr>
          <p:cNvPr id="95" name="TextBox 94"/>
          <p:cNvSpPr txBox="1"/>
          <p:nvPr/>
        </p:nvSpPr>
        <p:spPr>
          <a:xfrm>
            <a:off x="8993895" y="5111496"/>
            <a:ext cx="2319940" cy="329184"/>
          </a:xfrm>
          <a:prstGeom prst="rect">
            <a:avLst/>
          </a:prstGeom>
          <a:noFill/>
        </p:spPr>
        <p:txBody>
          <a:bodyPr wrap="square" lIns="0" tIns="0" rIns="0" bIns="0" anchor="ctr">
            <a:noAutofit/>
          </a:bodyPr>
          <a:lstStyle/>
          <a:p>
            <a:pPr algn="l">
              <a:spcAft>
                <a:spcPts val="0"/>
              </a:spcAft>
            </a:pPr>
            <a:r>
              <a:rPr sz="1150" b="0" i="0">
                <a:solidFill>
                  <a:srgbClr val="333D47"/>
                </a:solidFill>
                <a:latin typeface="Arial"/>
              </a:rPr>
              <a:t>Move information between them</a:t>
            </a:r>
          </a:p>
        </p:txBody>
      </p:sp>
      <p:sp>
        <p:nvSpPr>
          <p:cNvPr id="96" name="TextBox 95"/>
          <p:cNvSpPr txBox="1"/>
          <p:nvPr/>
        </p:nvSpPr>
        <p:spPr>
          <a:xfrm>
            <a:off x="356616" y="5596128"/>
            <a:ext cx="11338560" cy="292608"/>
          </a:xfrm>
          <a:prstGeom prst="rect">
            <a:avLst/>
          </a:prstGeom>
          <a:noFill/>
        </p:spPr>
        <p:txBody>
          <a:bodyPr wrap="square" lIns="0" tIns="0" rIns="0" bIns="0" anchor="ctr">
            <a:noAutofit/>
          </a:bodyPr>
          <a:lstStyle/>
          <a:p>
            <a:pPr algn="l">
              <a:spcAft>
                <a:spcPts val="0"/>
              </a:spcAft>
            </a:pPr>
            <a:r>
              <a:rPr sz="1050" b="0" i="0">
                <a:solidFill>
                  <a:srgbClr val="5F6770"/>
                </a:solidFill>
                <a:latin typeface="Arial"/>
              </a:rPr>
              <a:t>Not a new AI model or platform. As the AI underneath gets better, Riley gets better too. Using a capability like Alfred is subject to technical and governance feasibility.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outcome in. Finished work back.</a:t>
            </a:r>
          </a:p>
        </p:txBody>
      </p:sp>
      <p:sp>
        <p:nvSpPr>
          <p:cNvPr id="55" name="Slide Number Placeholder"/>
          <p:cNvSpPr>
            <a:spLocks noGrp="1"/>
          </p:cNvSpPr>
          <p:nvPr>
            <p:ph type="sldNum" sz="quarter" idx="4"/>
          </p:nvPr>
        </p:nvSpPr>
        <p:spPr/>
        <p:txBody>
          <a:bodyPr/>
          <a:lstStyle/>
          <a:p>
            <a:fld id="{18A41853-EF22-D446-BDBC-A7CF3FE93503}" type="slidenum">
              <a:rPr lang="en-US"/>
              <a:t>4</a:t>
            </a:fld>
            <a:endParaRPr lang="en-US" dirty="0"/>
          </a:p>
        </p:txBody>
      </p:sp>
      <p:sp>
        <p:nvSpPr>
          <p:cNvPr id="56" name="TextBox 55"/>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BACK OFFICE  ·  ILLUSTRATIVE EXAMPLE</a:t>
            </a:r>
          </a:p>
        </p:txBody>
      </p:sp>
      <p:sp>
        <p:nvSpPr>
          <p:cNvPr id="57" name="Rounded Rectangle 56"/>
          <p:cNvSpPr/>
          <p:nvPr/>
        </p:nvSpPr>
        <p:spPr>
          <a:xfrm>
            <a:off x="356616" y="1325880"/>
            <a:ext cx="2606040" cy="3703320"/>
          </a:xfrm>
          <a:prstGeom prst="roundRect">
            <a:avLst>
              <a:gd name="adj" fmla="val 4210"/>
            </a:avLst>
          </a:prstGeom>
          <a:solidFill>
            <a:srgbClr val="FFFFFF"/>
          </a:solidFill>
          <a:ln w="19050">
            <a:solidFill>
              <a:srgbClr val="333D47"/>
            </a:solidFill>
          </a:ln>
        </p:spPr>
        <p:txBody>
          <a:bodyPr rtlCol="0" anchor="ctr"/>
          <a:lstStyle/>
          <a:p>
            <a:pPr algn="ctr"/>
          </a:p>
        </p:txBody>
      </p:sp>
      <p:sp>
        <p:nvSpPr>
          <p:cNvPr id="58" name="Oval 57"/>
          <p:cNvSpPr/>
          <p:nvPr/>
        </p:nvSpPr>
        <p:spPr>
          <a:xfrm>
            <a:off x="557784" y="1527048"/>
            <a:ext cx="329184" cy="329184"/>
          </a:xfrm>
          <a:prstGeom prst="ellipse">
            <a:avLst/>
          </a:prstGeom>
          <a:solidFill>
            <a:srgbClr val="333D47"/>
          </a:solidFill>
          <a:ln>
            <a:noFill/>
          </a:ln>
        </p:spPr>
        <p:txBody>
          <a:bodyPr rtlCol="0" anchor="ctr" wrap="square" lIns="0" tIns="0" rIns="0" bIns="0">
            <a:noAutofit/>
          </a:bodyPr>
          <a:lstStyle/>
          <a:p>
            <a:pPr algn="ctr">
              <a:spcAft>
                <a:spcPts val="0"/>
              </a:spcAft>
            </a:pPr>
            <a:r>
              <a:rPr sz="1200" b="1" i="0">
                <a:solidFill>
                  <a:srgbClr val="FFFFFF"/>
                </a:solidFill>
                <a:latin typeface="Arial"/>
              </a:rPr>
              <a:t>1</a:t>
            </a:r>
          </a:p>
        </p:txBody>
      </p:sp>
      <p:sp>
        <p:nvSpPr>
          <p:cNvPr id="59" name="TextBox 58"/>
          <p:cNvSpPr txBox="1"/>
          <p:nvPr/>
        </p:nvSpPr>
        <p:spPr>
          <a:xfrm>
            <a:off x="978408" y="1508760"/>
            <a:ext cx="1874520" cy="365760"/>
          </a:xfrm>
          <a:prstGeom prst="rect">
            <a:avLst/>
          </a:prstGeom>
          <a:noFill/>
        </p:spPr>
        <p:txBody>
          <a:bodyPr wrap="square" lIns="0" tIns="0" rIns="0" bIns="0" anchor="ctr">
            <a:noAutofit/>
          </a:bodyPr>
          <a:lstStyle/>
          <a:p>
            <a:pPr algn="l">
              <a:spcAft>
                <a:spcPts val="0"/>
              </a:spcAft>
            </a:pPr>
            <a:r>
              <a:rPr sz="1050" b="1" i="0" spc="80">
                <a:solidFill>
                  <a:srgbClr val="333D47"/>
                </a:solidFill>
                <a:latin typeface="Arial"/>
              </a:rPr>
              <a:t>YOU SET THE OUTCOME</a:t>
            </a:r>
          </a:p>
        </p:txBody>
      </p:sp>
      <p:pic>
        <p:nvPicPr>
          <p:cNvPr id="60" name="Picture 59" descr="image.png"/>
          <p:cNvPicPr>
            <a:picLocks noChangeAspect="1"/>
          </p:cNvPicPr>
          <p:nvPr/>
        </p:nvPicPr>
        <p:blipFill>
          <a:blip r:embed="rId3"/>
          <a:stretch>
            <a:fillRect/>
          </a:stretch>
        </p:blipFill>
        <p:spPr>
          <a:xfrm>
            <a:off x="576072" y="2057400"/>
            <a:ext cx="310896" cy="310896"/>
          </a:xfrm>
          <a:prstGeom prst="rect">
            <a:avLst/>
          </a:prstGeom>
        </p:spPr>
      </p:pic>
      <p:sp>
        <p:nvSpPr>
          <p:cNvPr id="61" name="TextBox 60"/>
          <p:cNvSpPr txBox="1"/>
          <p:nvPr/>
        </p:nvSpPr>
        <p:spPr>
          <a:xfrm>
            <a:off x="576072" y="2468880"/>
            <a:ext cx="2194560" cy="2377440"/>
          </a:xfrm>
          <a:prstGeom prst="rect">
            <a:avLst/>
          </a:prstGeom>
          <a:noFill/>
        </p:spPr>
        <p:txBody>
          <a:bodyPr wrap="square" lIns="0" tIns="0" rIns="0" bIns="0" anchor="t">
            <a:noAutofit/>
          </a:bodyPr>
          <a:lstStyle/>
          <a:p>
            <a:pPr algn="l">
              <a:lnSpc>
                <a:spcPct val="102000"/>
              </a:lnSpc>
              <a:spcAft>
                <a:spcPts val="0"/>
              </a:spcAft>
            </a:pPr>
            <a:r>
              <a:rPr sz="1300" b="0" i="1">
                <a:solidFill>
                  <a:srgbClr val="333D47"/>
                </a:solidFill>
                <a:latin typeface="Arial"/>
              </a:rPr>
              <a:t>“Prepare the quarterly complaints review for Thursday’s management meeting: top issues versus last quarter, likely drivers, what is already being done, and draft slides.”</a:t>
            </a:r>
          </a:p>
        </p:txBody>
      </p:sp>
      <p:sp>
        <p:nvSpPr>
          <p:cNvPr id="62" name="TextBox 61"/>
          <p:cNvSpPr txBox="1"/>
          <p:nvPr/>
        </p:nvSpPr>
        <p:spPr>
          <a:xfrm>
            <a:off x="576072" y="4572000"/>
            <a:ext cx="2240280" cy="320040"/>
          </a:xfrm>
          <a:prstGeom prst="rect">
            <a:avLst/>
          </a:prstGeom>
          <a:noFill/>
        </p:spPr>
        <p:txBody>
          <a:bodyPr wrap="square" lIns="0" tIns="0" rIns="0" bIns="0" anchor="t">
            <a:noAutofit/>
          </a:bodyPr>
          <a:lstStyle/>
          <a:p>
            <a:pPr algn="l">
              <a:spcAft>
                <a:spcPts val="0"/>
              </a:spcAft>
            </a:pPr>
            <a:r>
              <a:rPr sz="1050" b="0" i="0">
                <a:solidFill>
                  <a:srgbClr val="5F6770"/>
                </a:solidFill>
                <a:latin typeface="Arial"/>
              </a:rPr>
              <a:t>In Teams, like asking a colleague</a:t>
            </a:r>
          </a:p>
        </p:txBody>
      </p:sp>
      <p:cxnSp>
        <p:nvCxnSpPr>
          <p:cNvPr id="63" name="Connector 62"/>
          <p:cNvCxnSpPr/>
          <p:nvPr/>
        </p:nvCxnSpPr>
        <p:spPr>
          <a:xfrm>
            <a:off x="2999232" y="3177540"/>
            <a:ext cx="237744" cy="0"/>
          </a:xfrm>
          <a:prstGeom prst="line">
            <a:avLst/>
          </a:prstGeom>
          <a:ln w="25400">
            <a:solidFill>
              <a:srgbClr val="333D47"/>
            </a:solidFill>
            <a:tailEnd type="triangle" w="med" len="med"/>
          </a:ln>
        </p:spPr>
      </p:cxnSp>
      <p:sp>
        <p:nvSpPr>
          <p:cNvPr id="64" name="Rounded Rectangle 63"/>
          <p:cNvSpPr/>
          <p:nvPr/>
        </p:nvSpPr>
        <p:spPr>
          <a:xfrm>
            <a:off x="3273552" y="1325880"/>
            <a:ext cx="5577840" cy="3703320"/>
          </a:xfrm>
          <a:prstGeom prst="roundRect">
            <a:avLst>
              <a:gd name="adj" fmla="val 2962"/>
            </a:avLst>
          </a:prstGeom>
          <a:solidFill>
            <a:srgbClr val="FBE8ED"/>
          </a:solidFill>
          <a:ln w="19050">
            <a:solidFill>
              <a:srgbClr val="D31145"/>
            </a:solidFill>
          </a:ln>
        </p:spPr>
        <p:txBody>
          <a:bodyPr rtlCol="0" anchor="ctr"/>
          <a:lstStyle/>
          <a:p>
            <a:pPr algn="ctr"/>
          </a:p>
        </p:txBody>
      </p:sp>
      <p:sp>
        <p:nvSpPr>
          <p:cNvPr id="65" name="Oval 64"/>
          <p:cNvSpPr/>
          <p:nvPr/>
        </p:nvSpPr>
        <p:spPr>
          <a:xfrm>
            <a:off x="3474720" y="1508760"/>
            <a:ext cx="347472" cy="347472"/>
          </a:xfrm>
          <a:prstGeom prst="ellipse">
            <a:avLst/>
          </a:prstGeom>
          <a:solidFill>
            <a:srgbClr val="D31145"/>
          </a:solidFill>
          <a:ln>
            <a:noFill/>
          </a:ln>
        </p:spPr>
        <p:txBody>
          <a:bodyPr rtlCol="0" anchor="ctr" wrap="square" lIns="0" tIns="0" rIns="0" bIns="0">
            <a:noAutofit/>
          </a:bodyPr>
          <a:lstStyle/>
          <a:p>
            <a:pPr algn="ctr">
              <a:spcAft>
                <a:spcPts val="0"/>
              </a:spcAft>
            </a:pPr>
            <a:r>
              <a:rPr sz="1400" b="1" i="0">
                <a:solidFill>
                  <a:srgbClr val="FFFFFF"/>
                </a:solidFill>
                <a:latin typeface="Arial"/>
              </a:rPr>
              <a:t>R</a:t>
            </a:r>
          </a:p>
        </p:txBody>
      </p:sp>
      <p:sp>
        <p:nvSpPr>
          <p:cNvPr id="66" name="TextBox 65"/>
          <p:cNvSpPr txBox="1"/>
          <p:nvPr/>
        </p:nvSpPr>
        <p:spPr>
          <a:xfrm>
            <a:off x="3931920" y="1508760"/>
            <a:ext cx="4754880" cy="347472"/>
          </a:xfrm>
          <a:prstGeom prst="rect">
            <a:avLst/>
          </a:prstGeom>
          <a:noFill/>
        </p:spPr>
        <p:txBody>
          <a:bodyPr wrap="square" lIns="0" tIns="0" rIns="0" bIns="0" anchor="ctr">
            <a:noAutofit/>
          </a:bodyPr>
          <a:lstStyle/>
          <a:p>
            <a:pPr algn="l">
              <a:spcAft>
                <a:spcPts val="0"/>
              </a:spcAft>
            </a:pPr>
            <a:r>
              <a:rPr sz="1050" b="1" i="0" spc="80">
                <a:solidFill>
                  <a:srgbClr val="D31145"/>
                </a:solidFill>
                <a:latin typeface="Arial"/>
              </a:rPr>
              <a:t>RILEY DOES THE DIGITAL WORK</a:t>
            </a:r>
          </a:p>
        </p:txBody>
      </p:sp>
      <p:sp>
        <p:nvSpPr>
          <p:cNvPr id="67" name="Rounded Rectangle 66"/>
          <p:cNvSpPr/>
          <p:nvPr/>
        </p:nvSpPr>
        <p:spPr>
          <a:xfrm>
            <a:off x="3456432" y="2011680"/>
            <a:ext cx="5212080" cy="365760"/>
          </a:xfrm>
          <a:prstGeom prst="roundRect">
            <a:avLst>
              <a:gd name="adj" fmla="val 15000"/>
            </a:avLst>
          </a:prstGeom>
          <a:solidFill>
            <a:srgbClr val="FFFFFF"/>
          </a:solidFill>
          <a:ln>
            <a:noFill/>
          </a:ln>
        </p:spPr>
        <p:txBody>
          <a:bodyPr rtlCol="0" anchor="ctr"/>
          <a:lstStyle/>
          <a:p>
            <a:pPr algn="ctr"/>
          </a:p>
        </p:txBody>
      </p:sp>
      <p:sp>
        <p:nvSpPr>
          <p:cNvPr id="68" name="Oval 67"/>
          <p:cNvSpPr/>
          <p:nvPr/>
        </p:nvSpPr>
        <p:spPr>
          <a:xfrm>
            <a:off x="3547872" y="2066544"/>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2</a:t>
            </a:r>
          </a:p>
        </p:txBody>
      </p:sp>
      <p:sp>
        <p:nvSpPr>
          <p:cNvPr id="69" name="TextBox 68"/>
          <p:cNvSpPr txBox="1"/>
          <p:nvPr/>
        </p:nvSpPr>
        <p:spPr>
          <a:xfrm>
            <a:off x="3913632" y="2011680"/>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Shows its plan, using only what you can access</a:t>
            </a:r>
          </a:p>
        </p:txBody>
      </p:sp>
      <p:sp>
        <p:nvSpPr>
          <p:cNvPr id="70" name="Rounded Rectangle 69"/>
          <p:cNvSpPr/>
          <p:nvPr/>
        </p:nvSpPr>
        <p:spPr>
          <a:xfrm>
            <a:off x="3456432" y="2441448"/>
            <a:ext cx="5212080" cy="365760"/>
          </a:xfrm>
          <a:prstGeom prst="roundRect">
            <a:avLst>
              <a:gd name="adj" fmla="val 15000"/>
            </a:avLst>
          </a:prstGeom>
          <a:solidFill>
            <a:srgbClr val="FFFFFF"/>
          </a:solidFill>
          <a:ln>
            <a:noFill/>
          </a:ln>
        </p:spPr>
        <p:txBody>
          <a:bodyPr rtlCol="0" anchor="ctr"/>
          <a:lstStyle/>
          <a:p>
            <a:pPr algn="ctr"/>
          </a:p>
        </p:txBody>
      </p:sp>
      <p:sp>
        <p:nvSpPr>
          <p:cNvPr id="71" name="Oval 70"/>
          <p:cNvSpPr/>
          <p:nvPr/>
        </p:nvSpPr>
        <p:spPr>
          <a:xfrm>
            <a:off x="3547872" y="2496312"/>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3</a:t>
            </a:r>
          </a:p>
        </p:txBody>
      </p:sp>
      <p:sp>
        <p:nvSpPr>
          <p:cNvPr id="72" name="TextBox 71"/>
          <p:cNvSpPr txBox="1"/>
          <p:nvPr/>
        </p:nvSpPr>
        <p:spPr>
          <a:xfrm>
            <a:off x="3913632" y="2441448"/>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Pulls complaint records, this quarter and last</a:t>
            </a:r>
          </a:p>
        </p:txBody>
      </p:sp>
      <p:sp>
        <p:nvSpPr>
          <p:cNvPr id="74" name="Rounded Rectangle 73"/>
          <p:cNvSpPr/>
          <p:nvPr/>
        </p:nvSpPr>
        <p:spPr>
          <a:xfrm>
            <a:off x="3456432" y="2871216"/>
            <a:ext cx="5212080" cy="365760"/>
          </a:xfrm>
          <a:prstGeom prst="roundRect">
            <a:avLst>
              <a:gd name="adj" fmla="val 15000"/>
            </a:avLst>
          </a:prstGeom>
          <a:solidFill>
            <a:srgbClr val="FFFFFF"/>
          </a:solidFill>
          <a:ln>
            <a:noFill/>
          </a:ln>
        </p:spPr>
        <p:txBody>
          <a:bodyPr rtlCol="0" anchor="ctr"/>
          <a:lstStyle/>
          <a:p>
            <a:pPr algn="ctr"/>
          </a:p>
        </p:txBody>
      </p:sp>
      <p:sp>
        <p:nvSpPr>
          <p:cNvPr id="75" name="Oval 74"/>
          <p:cNvSpPr/>
          <p:nvPr/>
        </p:nvSpPr>
        <p:spPr>
          <a:xfrm>
            <a:off x="3547872" y="2926080"/>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4</a:t>
            </a:r>
          </a:p>
        </p:txBody>
      </p:sp>
      <p:sp>
        <p:nvSpPr>
          <p:cNvPr id="76" name="TextBox 75"/>
          <p:cNvSpPr txBox="1"/>
          <p:nvPr/>
        </p:nvSpPr>
        <p:spPr>
          <a:xfrm>
            <a:off x="3913632" y="2871216"/>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Groups the complaints into themes</a:t>
            </a:r>
          </a:p>
        </p:txBody>
      </p:sp>
      <p:sp>
        <p:nvSpPr>
          <p:cNvPr id="78" name="Rounded Rectangle 77"/>
          <p:cNvSpPr/>
          <p:nvPr/>
        </p:nvSpPr>
        <p:spPr>
          <a:xfrm>
            <a:off x="3456432" y="3300984"/>
            <a:ext cx="5212080" cy="365760"/>
          </a:xfrm>
          <a:prstGeom prst="roundRect">
            <a:avLst>
              <a:gd name="adj" fmla="val 15000"/>
            </a:avLst>
          </a:prstGeom>
          <a:solidFill>
            <a:srgbClr val="FFFFFF"/>
          </a:solidFill>
          <a:ln>
            <a:noFill/>
          </a:ln>
        </p:spPr>
        <p:txBody>
          <a:bodyPr rtlCol="0" anchor="ctr"/>
          <a:lstStyle/>
          <a:p>
            <a:pPr algn="ctr"/>
          </a:p>
        </p:txBody>
      </p:sp>
      <p:sp>
        <p:nvSpPr>
          <p:cNvPr id="79" name="Oval 78"/>
          <p:cNvSpPr/>
          <p:nvPr/>
        </p:nvSpPr>
        <p:spPr>
          <a:xfrm>
            <a:off x="3547872" y="3355848"/>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5</a:t>
            </a:r>
          </a:p>
        </p:txBody>
      </p:sp>
      <p:sp>
        <p:nvSpPr>
          <p:cNvPr id="80" name="TextBox 79"/>
          <p:cNvSpPr txBox="1"/>
          <p:nvPr/>
        </p:nvSpPr>
        <p:spPr>
          <a:xfrm>
            <a:off x="3913632" y="3300984"/>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Checks the previous review and procedures</a:t>
            </a:r>
          </a:p>
        </p:txBody>
      </p:sp>
      <p:sp>
        <p:nvSpPr>
          <p:cNvPr id="82" name="Rounded Rectangle 81"/>
          <p:cNvSpPr/>
          <p:nvPr/>
        </p:nvSpPr>
        <p:spPr>
          <a:xfrm>
            <a:off x="3456432" y="3730752"/>
            <a:ext cx="5212080" cy="365760"/>
          </a:xfrm>
          <a:prstGeom prst="roundRect">
            <a:avLst>
              <a:gd name="adj" fmla="val 15000"/>
            </a:avLst>
          </a:prstGeom>
          <a:solidFill>
            <a:srgbClr val="FFFFFF"/>
          </a:solidFill>
          <a:ln>
            <a:noFill/>
          </a:ln>
        </p:spPr>
        <p:txBody>
          <a:bodyPr rtlCol="0" anchor="ctr"/>
          <a:lstStyle/>
          <a:p>
            <a:pPr algn="ctr"/>
          </a:p>
        </p:txBody>
      </p:sp>
      <p:sp>
        <p:nvSpPr>
          <p:cNvPr id="83" name="Oval 82"/>
          <p:cNvSpPr/>
          <p:nvPr/>
        </p:nvSpPr>
        <p:spPr>
          <a:xfrm>
            <a:off x="3547872" y="3785616"/>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6</a:t>
            </a:r>
          </a:p>
        </p:txBody>
      </p:sp>
      <p:sp>
        <p:nvSpPr>
          <p:cNvPr id="84" name="TextBox 83"/>
          <p:cNvSpPr txBox="1"/>
          <p:nvPr/>
        </p:nvSpPr>
        <p:spPr>
          <a:xfrm>
            <a:off x="3913632" y="3730752"/>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Checks relevant Outlook and Teams updates</a:t>
            </a:r>
          </a:p>
        </p:txBody>
      </p:sp>
      <p:sp>
        <p:nvSpPr>
          <p:cNvPr id="86" name="Rounded Rectangle 85"/>
          <p:cNvSpPr/>
          <p:nvPr/>
        </p:nvSpPr>
        <p:spPr>
          <a:xfrm>
            <a:off x="3456432" y="4160520"/>
            <a:ext cx="5212080" cy="365760"/>
          </a:xfrm>
          <a:prstGeom prst="roundRect">
            <a:avLst>
              <a:gd name="adj" fmla="val 15000"/>
            </a:avLst>
          </a:prstGeom>
          <a:solidFill>
            <a:srgbClr val="FFFFFF"/>
          </a:solidFill>
          <a:ln>
            <a:noFill/>
          </a:ln>
        </p:spPr>
        <p:txBody>
          <a:bodyPr rtlCol="0" anchor="ctr"/>
          <a:lstStyle/>
          <a:p>
            <a:pPr algn="ctr"/>
          </a:p>
        </p:txBody>
      </p:sp>
      <p:sp>
        <p:nvSpPr>
          <p:cNvPr id="87" name="Oval 86"/>
          <p:cNvSpPr/>
          <p:nvPr/>
        </p:nvSpPr>
        <p:spPr>
          <a:xfrm>
            <a:off x="3547872" y="4215384"/>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7</a:t>
            </a:r>
          </a:p>
        </p:txBody>
      </p:sp>
      <p:sp>
        <p:nvSpPr>
          <p:cNvPr id="88" name="TextBox 87"/>
          <p:cNvSpPr txBox="1"/>
          <p:nvPr/>
        </p:nvSpPr>
        <p:spPr>
          <a:xfrm>
            <a:off x="3913632" y="4160520"/>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Checks industry and regulatory context</a:t>
            </a:r>
          </a:p>
        </p:txBody>
      </p:sp>
      <p:sp>
        <p:nvSpPr>
          <p:cNvPr id="90" name="Rounded Rectangle 89"/>
          <p:cNvSpPr/>
          <p:nvPr/>
        </p:nvSpPr>
        <p:spPr>
          <a:xfrm>
            <a:off x="3456432" y="4590288"/>
            <a:ext cx="5212080" cy="365760"/>
          </a:xfrm>
          <a:prstGeom prst="roundRect">
            <a:avLst>
              <a:gd name="adj" fmla="val 15000"/>
            </a:avLst>
          </a:prstGeom>
          <a:solidFill>
            <a:srgbClr val="FFFFFF"/>
          </a:solidFill>
          <a:ln>
            <a:noFill/>
          </a:ln>
        </p:spPr>
        <p:txBody>
          <a:bodyPr rtlCol="0" anchor="ctr"/>
          <a:lstStyle/>
          <a:p>
            <a:pPr algn="ctr"/>
          </a:p>
        </p:txBody>
      </p:sp>
      <p:sp>
        <p:nvSpPr>
          <p:cNvPr id="91" name="Oval 90"/>
          <p:cNvSpPr/>
          <p:nvPr/>
        </p:nvSpPr>
        <p:spPr>
          <a:xfrm>
            <a:off x="3547872" y="4645152"/>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8</a:t>
            </a:r>
          </a:p>
        </p:txBody>
      </p:sp>
      <p:sp>
        <p:nvSpPr>
          <p:cNvPr id="92" name="TextBox 91"/>
          <p:cNvSpPr txBox="1"/>
          <p:nvPr/>
        </p:nvSpPr>
        <p:spPr>
          <a:xfrm>
            <a:off x="3913632" y="4590288"/>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Analyses, compares, drafts the summary and slides</a:t>
            </a:r>
          </a:p>
        </p:txBody>
      </p:sp>
      <p:cxnSp>
        <p:nvCxnSpPr>
          <p:cNvPr id="93" name="Connector 92"/>
          <p:cNvCxnSpPr/>
          <p:nvPr/>
        </p:nvCxnSpPr>
        <p:spPr>
          <a:xfrm>
            <a:off x="8887968" y="3177540"/>
            <a:ext cx="237744" cy="0"/>
          </a:xfrm>
          <a:prstGeom prst="line">
            <a:avLst/>
          </a:prstGeom>
          <a:ln w="25400">
            <a:solidFill>
              <a:srgbClr val="D31145"/>
            </a:solidFill>
            <a:tailEnd type="triangle" w="med" len="med"/>
          </a:ln>
        </p:spPr>
      </p:cxnSp>
      <p:sp>
        <p:nvSpPr>
          <p:cNvPr id="94" name="Rounded Rectangle 93"/>
          <p:cNvSpPr/>
          <p:nvPr/>
        </p:nvSpPr>
        <p:spPr>
          <a:xfrm>
            <a:off x="9162288" y="1325880"/>
            <a:ext cx="2670048" cy="3703320"/>
          </a:xfrm>
          <a:prstGeom prst="roundRect">
            <a:avLst>
              <a:gd name="adj" fmla="val 4109"/>
            </a:avLst>
          </a:prstGeom>
          <a:solidFill>
            <a:srgbClr val="FFFFFF"/>
          </a:solidFill>
          <a:ln w="19050">
            <a:solidFill>
              <a:srgbClr val="333D47"/>
            </a:solidFill>
          </a:ln>
        </p:spPr>
        <p:txBody>
          <a:bodyPr rtlCol="0" anchor="ctr"/>
          <a:lstStyle/>
          <a:p>
            <a:pPr algn="ctr"/>
          </a:p>
        </p:txBody>
      </p:sp>
      <p:sp>
        <p:nvSpPr>
          <p:cNvPr id="95" name="Oval 94"/>
          <p:cNvSpPr/>
          <p:nvPr/>
        </p:nvSpPr>
        <p:spPr>
          <a:xfrm>
            <a:off x="9363456" y="1527048"/>
            <a:ext cx="329184" cy="329184"/>
          </a:xfrm>
          <a:prstGeom prst="ellipse">
            <a:avLst/>
          </a:prstGeom>
          <a:solidFill>
            <a:srgbClr val="333D47"/>
          </a:solidFill>
          <a:ln>
            <a:noFill/>
          </a:ln>
        </p:spPr>
        <p:txBody>
          <a:bodyPr rtlCol="0" anchor="ctr" wrap="square" lIns="0" tIns="0" rIns="0" bIns="0">
            <a:noAutofit/>
          </a:bodyPr>
          <a:lstStyle/>
          <a:p>
            <a:pPr algn="ctr">
              <a:spcAft>
                <a:spcPts val="0"/>
              </a:spcAft>
            </a:pPr>
            <a:r>
              <a:rPr sz="1200" b="1" i="0">
                <a:solidFill>
                  <a:srgbClr val="FFFFFF"/>
                </a:solidFill>
                <a:latin typeface="Arial"/>
              </a:rPr>
              <a:t>9</a:t>
            </a:r>
          </a:p>
        </p:txBody>
      </p:sp>
      <p:sp>
        <p:nvSpPr>
          <p:cNvPr id="96" name="TextBox 95"/>
          <p:cNvSpPr txBox="1"/>
          <p:nvPr/>
        </p:nvSpPr>
        <p:spPr>
          <a:xfrm>
            <a:off x="9784080" y="1508760"/>
            <a:ext cx="1938528" cy="365760"/>
          </a:xfrm>
          <a:prstGeom prst="rect">
            <a:avLst/>
          </a:prstGeom>
          <a:noFill/>
        </p:spPr>
        <p:txBody>
          <a:bodyPr wrap="square" lIns="0" tIns="0" rIns="0" bIns="0" anchor="ctr">
            <a:noAutofit/>
          </a:bodyPr>
          <a:lstStyle/>
          <a:p>
            <a:pPr algn="l">
              <a:spcAft>
                <a:spcPts val="0"/>
              </a:spcAft>
            </a:pPr>
            <a:r>
              <a:rPr sz="1050" b="1" i="0" spc="80">
                <a:solidFill>
                  <a:srgbClr val="333D47"/>
                </a:solidFill>
                <a:latin typeface="Arial"/>
              </a:rPr>
              <a:t>YOU DECIDE</a:t>
            </a:r>
          </a:p>
        </p:txBody>
      </p:sp>
      <p:sp>
        <p:nvSpPr>
          <p:cNvPr id="97" name="Rounded Rectangle 96"/>
          <p:cNvSpPr/>
          <p:nvPr/>
        </p:nvSpPr>
        <p:spPr>
          <a:xfrm>
            <a:off x="9363456" y="2057400"/>
            <a:ext cx="2267712" cy="402336"/>
          </a:xfrm>
          <a:prstGeom prst="roundRect">
            <a:avLst>
              <a:gd name="adj" fmla="val 13636"/>
            </a:avLst>
          </a:prstGeom>
          <a:solidFill>
            <a:srgbClr val="F4F1EF"/>
          </a:solidFill>
          <a:ln>
            <a:noFill/>
          </a:ln>
        </p:spPr>
        <p:txBody>
          <a:bodyPr rtlCol="0" anchor="ctr"/>
          <a:lstStyle/>
          <a:p>
            <a:pPr algn="ctr"/>
          </a:p>
        </p:txBody>
      </p:sp>
      <p:pic>
        <p:nvPicPr>
          <p:cNvPr id="98" name="Picture 97" descr="image.png"/>
          <p:cNvPicPr>
            <a:picLocks noChangeAspect="1"/>
          </p:cNvPicPr>
          <p:nvPr/>
        </p:nvPicPr>
        <p:blipFill>
          <a:blip r:embed="rId4"/>
          <a:stretch>
            <a:fillRect/>
          </a:stretch>
        </p:blipFill>
        <p:spPr>
          <a:xfrm>
            <a:off x="9454896" y="2130552"/>
            <a:ext cx="256032" cy="256032"/>
          </a:xfrm>
          <a:prstGeom prst="rect">
            <a:avLst/>
          </a:prstGeom>
        </p:spPr>
      </p:pic>
      <p:sp>
        <p:nvSpPr>
          <p:cNvPr id="99" name="TextBox 98"/>
          <p:cNvSpPr txBox="1"/>
          <p:nvPr/>
        </p:nvSpPr>
        <p:spPr>
          <a:xfrm>
            <a:off x="9802368" y="2057400"/>
            <a:ext cx="1801368" cy="402336"/>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Management summary</a:t>
            </a:r>
          </a:p>
        </p:txBody>
      </p:sp>
      <p:sp>
        <p:nvSpPr>
          <p:cNvPr id="100" name="Rounded Rectangle 99"/>
          <p:cNvSpPr/>
          <p:nvPr/>
        </p:nvSpPr>
        <p:spPr>
          <a:xfrm>
            <a:off x="9363456" y="2560320"/>
            <a:ext cx="2267712" cy="402336"/>
          </a:xfrm>
          <a:prstGeom prst="roundRect">
            <a:avLst>
              <a:gd name="adj" fmla="val 13636"/>
            </a:avLst>
          </a:prstGeom>
          <a:solidFill>
            <a:srgbClr val="F4F1EF"/>
          </a:solidFill>
          <a:ln>
            <a:noFill/>
          </a:ln>
        </p:spPr>
        <p:txBody>
          <a:bodyPr rtlCol="0" anchor="ctr"/>
          <a:lstStyle/>
          <a:p>
            <a:pPr algn="ctr"/>
          </a:p>
        </p:txBody>
      </p:sp>
      <p:pic>
        <p:nvPicPr>
          <p:cNvPr id="101" name="Picture 100" descr="LuPresentation_c.png"/>
          <p:cNvPicPr>
            <a:picLocks noChangeAspect="1"/>
          </p:cNvPicPr>
          <p:nvPr/>
        </p:nvPicPr>
        <p:blipFill>
          <a:blip r:embed="rId5"/>
          <a:stretch>
            <a:fillRect/>
          </a:stretch>
        </p:blipFill>
        <p:spPr>
          <a:xfrm>
            <a:off x="9454896" y="2633472"/>
            <a:ext cx="256032" cy="256032"/>
          </a:xfrm>
          <a:prstGeom prst="rect">
            <a:avLst/>
          </a:prstGeom>
        </p:spPr>
      </p:pic>
      <p:sp>
        <p:nvSpPr>
          <p:cNvPr id="102" name="TextBox 101"/>
          <p:cNvSpPr txBox="1"/>
          <p:nvPr/>
        </p:nvSpPr>
        <p:spPr>
          <a:xfrm>
            <a:off x="9802368" y="2560320"/>
            <a:ext cx="1801368" cy="402336"/>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Draft slides</a:t>
            </a:r>
          </a:p>
        </p:txBody>
      </p:sp>
      <p:sp>
        <p:nvSpPr>
          <p:cNvPr id="103" name="TextBox 102"/>
          <p:cNvSpPr txBox="1"/>
          <p:nvPr/>
        </p:nvSpPr>
        <p:spPr>
          <a:xfrm>
            <a:off x="9363456" y="3200400"/>
            <a:ext cx="2267712" cy="1097280"/>
          </a:xfrm>
          <a:prstGeom prst="rect">
            <a:avLst/>
          </a:prstGeom>
          <a:noFill/>
        </p:spPr>
        <p:txBody>
          <a:bodyPr wrap="square" lIns="0" tIns="0" rIns="0" bIns="0" anchor="t">
            <a:noAutofit/>
          </a:bodyPr>
          <a:lstStyle/>
          <a:p>
            <a:pPr algn="l">
              <a:lnSpc>
                <a:spcPct val="98000"/>
              </a:lnSpc>
              <a:spcAft>
                <a:spcPts val="0"/>
              </a:spcAft>
            </a:pPr>
            <a:r>
              <a:rPr sz="1500" b="1" i="0">
                <a:solidFill>
                  <a:srgbClr val="333D47"/>
                </a:solidFill>
                <a:latin typeface="Arial"/>
              </a:rPr>
              <a:t>Review, edit if needed, and approve.</a:t>
            </a:r>
          </a:p>
        </p:txBody>
      </p:sp>
      <p:sp>
        <p:nvSpPr>
          <p:cNvPr id="104" name="TextBox 103"/>
          <p:cNvSpPr txBox="1"/>
          <p:nvPr/>
        </p:nvSpPr>
        <p:spPr>
          <a:xfrm>
            <a:off x="9363456" y="3977640"/>
            <a:ext cx="2267712" cy="1005840"/>
          </a:xfrm>
          <a:prstGeom prst="rect">
            <a:avLst/>
          </a:prstGeom>
          <a:noFill/>
        </p:spPr>
        <p:txBody>
          <a:bodyPr wrap="square" lIns="0" tIns="0" rIns="0" bIns="0" anchor="t">
            <a:noAutofit/>
          </a:bodyPr>
          <a:lstStyle/>
          <a:p>
            <a:pPr algn="l">
              <a:spcAft>
                <a:spcPts val="0"/>
              </a:spcAft>
            </a:pPr>
            <a:r>
              <a:rPr sz="1150" b="0" i="0">
                <a:solidFill>
                  <a:srgbClr val="5F6770"/>
                </a:solidFill>
                <a:latin typeface="Arial"/>
              </a:rPr>
              <a:t>Nothing is final, sent or entered into a system before you approve.</a:t>
            </a:r>
          </a:p>
        </p:txBody>
      </p:sp>
      <p:sp>
        <p:nvSpPr>
          <p:cNvPr id="105" name="Rounded Rectangle 104"/>
          <p:cNvSpPr/>
          <p:nvPr/>
        </p:nvSpPr>
        <p:spPr>
          <a:xfrm>
            <a:off x="356616" y="5193792"/>
            <a:ext cx="11475720" cy="457200"/>
          </a:xfrm>
          <a:prstGeom prst="roundRect">
            <a:avLst>
              <a:gd name="adj" fmla="val 16000"/>
            </a:avLst>
          </a:prstGeom>
          <a:solidFill>
            <a:srgbClr val="333D47"/>
          </a:solidFill>
          <a:ln>
            <a:noFill/>
          </a:ln>
        </p:spPr>
        <p:txBody>
          <a:bodyPr rtlCol="0" anchor="ctr"/>
          <a:lstStyle/>
          <a:p>
            <a:pPr algn="ctr"/>
          </a:p>
        </p:txBody>
      </p:sp>
      <p:sp>
        <p:nvSpPr>
          <p:cNvPr id="106" name="TextBox 105"/>
          <p:cNvSpPr txBox="1"/>
          <p:nvPr/>
        </p:nvSpPr>
        <p:spPr>
          <a:xfrm>
            <a:off x="548640" y="5193792"/>
            <a:ext cx="11064240" cy="457200"/>
          </a:xfrm>
          <a:prstGeom prst="rect">
            <a:avLst/>
          </a:prstGeom>
          <a:noFill/>
        </p:spPr>
        <p:txBody>
          <a:bodyPr wrap="square" lIns="0" tIns="0" rIns="0" bIns="0" anchor="ctr">
            <a:noAutofit/>
          </a:bodyPr>
          <a:lstStyle/>
          <a:p>
            <a:pPr algn="l">
              <a:spcAft>
                <a:spcPts val="0"/>
              </a:spcAft>
            </a:pPr>
            <a:r>
              <a:rPr sz="1300" b="1" i="0">
                <a:solidFill>
                  <a:srgbClr val="FFFFFF"/>
                </a:solidFill>
                <a:latin typeface="Arial"/>
              </a:rPr>
              <a:t>Today: </a:t>
            </a:r>
            <a:r>
              <a:rPr sz="1300" b="0" i="0">
                <a:solidFill>
                  <a:srgbClr val="FFFFFF"/>
                </a:solidFill>
                <a:latin typeface="Arial"/>
              </a:rPr>
              <a:t>you do every step, and choose every tool, yourself.     </a:t>
            </a:r>
            <a:r>
              <a:rPr sz="1300" b="1" i="0">
                <a:solidFill>
                  <a:srgbClr val="F6CFDA"/>
                </a:solidFill>
                <a:latin typeface="Arial"/>
              </a:rPr>
              <a:t>With Riley: </a:t>
            </a:r>
            <a:r>
              <a:rPr sz="1300" b="0" i="0">
                <a:solidFill>
                  <a:srgbClr val="FFFFFF"/>
                </a:solidFill>
                <a:latin typeface="Arial"/>
              </a:rPr>
              <a:t>you set the outcome, check the work and decide.</a:t>
            </a:r>
          </a:p>
        </p:txBody>
      </p:sp>
      <p:sp>
        <p:nvSpPr>
          <p:cNvPr id="107" name="TextBox 106"/>
          <p:cNvSpPr txBox="1"/>
          <p:nvPr/>
        </p:nvSpPr>
        <p:spPr>
          <a:xfrm>
            <a:off x="356616" y="5705856"/>
            <a:ext cx="10058400" cy="237744"/>
          </a:xfrm>
          <a:prstGeom prst="rect">
            <a:avLst/>
          </a:prstGeom>
          <a:noFill/>
        </p:spPr>
        <p:txBody>
          <a:bodyPr wrap="square" lIns="0" tIns="0" rIns="0" bIns="0" anchor="t">
            <a:noAutofit/>
          </a:bodyPr>
          <a:lstStyle/>
          <a:p>
            <a:pPr algn="l">
              <a:spcAft>
                <a:spcPts val="0"/>
              </a:spcAft>
            </a:pPr>
            <a:r>
              <a:rPr sz="1000" b="0" i="1">
                <a:solidFill>
                  <a:srgbClr val="5F6770"/>
                </a:solidFill>
                <a:latin typeface="Arial"/>
              </a:rPr>
              <a:t>Illustrative example, not the committed pilot. The first workflow is chosen in Phase 0; a lower-sensitivity internal workflow may go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The prize isn’t an hour saved</a:t>
            </a:r>
          </a:p>
        </p:txBody>
      </p:sp>
      <p:sp>
        <p:nvSpPr>
          <p:cNvPr id="34" name="Slide Number Placeholder"/>
          <p:cNvSpPr>
            <a:spLocks noGrp="1"/>
          </p:cNvSpPr>
          <p:nvPr>
            <p:ph type="sldNum" sz="quarter" idx="4"/>
          </p:nvPr>
        </p:nvSpPr>
        <p:spPr/>
        <p:txBody>
          <a:bodyPr/>
          <a:lstStyle/>
          <a:p>
            <a:fld id="{18A41853-EF22-D446-BDBC-A7CF3FE93503}" type="slidenum">
              <a:rPr lang="en-US"/>
              <a:t>5</a:t>
            </a:fld>
            <a:endParaRPr lang="en-US" dirty="0"/>
          </a:p>
        </p:txBody>
      </p:sp>
      <p:sp>
        <p:nvSpPr>
          <p:cNvPr id="35" name="TextBox 3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THE AMBITION</a:t>
            </a:r>
          </a:p>
        </p:txBody>
      </p:sp>
      <p:sp>
        <p:nvSpPr>
          <p:cNvPr id="36" name="TextBox 35"/>
          <p:cNvSpPr txBox="1"/>
          <p:nvPr/>
        </p:nvSpPr>
        <p:spPr>
          <a:xfrm>
            <a:off x="356616" y="1024128"/>
            <a:ext cx="1115568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It’s how much more effectively AIA’s people can work.</a:t>
            </a:r>
          </a:p>
        </p:txBody>
      </p:sp>
      <p:sp>
        <p:nvSpPr>
          <p:cNvPr id="37" name="Rounded Rectangle 36"/>
          <p:cNvSpPr/>
          <p:nvPr/>
        </p:nvSpPr>
        <p:spPr>
          <a:xfrm>
            <a:off x="356616" y="1554480"/>
            <a:ext cx="4800600" cy="2999232"/>
          </a:xfrm>
          <a:prstGeom prst="roundRect">
            <a:avLst>
              <a:gd name="adj" fmla="val 3048"/>
            </a:avLst>
          </a:prstGeom>
          <a:solidFill>
            <a:srgbClr val="F4F1EF"/>
          </a:solidFill>
          <a:ln>
            <a:noFill/>
          </a:ln>
        </p:spPr>
        <p:txBody>
          <a:bodyPr rtlCol="0" anchor="ctr"/>
          <a:lstStyle/>
          <a:p>
            <a:pPr algn="ctr"/>
          </a:p>
        </p:txBody>
      </p:sp>
      <p:sp>
        <p:nvSpPr>
          <p:cNvPr id="38" name="TextBox 37"/>
          <p:cNvSpPr txBox="1"/>
          <p:nvPr/>
        </p:nvSpPr>
        <p:spPr>
          <a:xfrm>
            <a:off x="585216" y="1737360"/>
            <a:ext cx="4343400" cy="256032"/>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BACK OFFICE</a:t>
            </a:r>
          </a:p>
        </p:txBody>
      </p:sp>
      <p:sp>
        <p:nvSpPr>
          <p:cNvPr id="39" name="TextBox 38"/>
          <p:cNvSpPr txBox="1"/>
          <p:nvPr/>
        </p:nvSpPr>
        <p:spPr>
          <a:xfrm>
            <a:off x="585216" y="2011680"/>
            <a:ext cx="4343400" cy="685800"/>
          </a:xfrm>
          <a:prstGeom prst="rect">
            <a:avLst/>
          </a:prstGeom>
          <a:noFill/>
        </p:spPr>
        <p:txBody>
          <a:bodyPr wrap="square" lIns="0" tIns="0" rIns="0" bIns="0" anchor="t">
            <a:noAutofit/>
          </a:bodyPr>
          <a:lstStyle/>
          <a:p>
            <a:pPr algn="l">
              <a:lnSpc>
                <a:spcPct val="95000"/>
              </a:lnSpc>
              <a:spcAft>
                <a:spcPts val="0"/>
              </a:spcAft>
            </a:pPr>
            <a:r>
              <a:rPr sz="1800" b="1" i="0">
                <a:solidFill>
                  <a:srgbClr val="333D47"/>
                </a:solidFill>
                <a:latin typeface="Arial"/>
              </a:rPr>
              <a:t>More execution capacity</a:t>
            </a:r>
          </a:p>
        </p:txBody>
      </p:sp>
      <p:sp>
        <p:nvSpPr>
          <p:cNvPr id="40" name="TextBox 39"/>
          <p:cNvSpPr txBox="1"/>
          <p:nvPr/>
        </p:nvSpPr>
        <p:spPr>
          <a:xfrm>
            <a:off x="585216" y="2578608"/>
            <a:ext cx="1097280" cy="274320"/>
          </a:xfrm>
          <a:prstGeom prst="rect">
            <a:avLst/>
          </a:prstGeom>
          <a:noFill/>
        </p:spPr>
        <p:txBody>
          <a:bodyPr wrap="square" lIns="0" tIns="0" rIns="0" bIns="0" anchor="t">
            <a:noAutofit/>
          </a:bodyPr>
          <a:lstStyle/>
          <a:p>
            <a:pPr algn="l">
              <a:spcAft>
                <a:spcPts val="0"/>
              </a:spcAft>
            </a:pPr>
            <a:r>
              <a:rPr sz="950" b="1" i="0" spc="80">
                <a:solidFill>
                  <a:srgbClr val="5F6770"/>
                </a:solidFill>
                <a:latin typeface="Arial"/>
              </a:rPr>
              <a:t>TODAY</a:t>
            </a:r>
          </a:p>
        </p:txBody>
      </p:sp>
      <p:sp>
        <p:nvSpPr>
          <p:cNvPr id="41" name="Rounded Rectangle 40"/>
          <p:cNvSpPr/>
          <p:nvPr/>
        </p:nvSpPr>
        <p:spPr>
          <a:xfrm>
            <a:off x="585216" y="2834640"/>
            <a:ext cx="806984" cy="310896"/>
          </a:xfrm>
          <a:prstGeom prst="roundRect">
            <a:avLst>
              <a:gd name="adj" fmla="val 17647"/>
            </a:avLst>
          </a:prstGeom>
          <a:solidFill>
            <a:srgbClr val="FFFFFF"/>
          </a:solidFill>
          <a:ln>
            <a:noFill/>
          </a:ln>
        </p:spPr>
        <p:txBody>
          <a:bodyPr rtlCol="0" anchor="ctr" wrap="square" lIns="18288" tIns="18288" rIns="18288" bIns="18288">
            <a:noAutofit/>
          </a:bodyPr>
          <a:lstStyle/>
          <a:p>
            <a:pPr algn="ctr">
              <a:spcAft>
                <a:spcPts val="0"/>
              </a:spcAft>
            </a:pPr>
            <a:r>
              <a:rPr sz="1050" b="0" i="0">
                <a:solidFill>
                  <a:srgbClr val="5F6770"/>
                </a:solidFill>
                <a:latin typeface="Arial"/>
              </a:rPr>
              <a:t>Requester</a:t>
            </a:r>
          </a:p>
        </p:txBody>
      </p:sp>
      <p:sp>
        <p:nvSpPr>
          <p:cNvPr id="42" name="Rounded Rectangle 41"/>
          <p:cNvSpPr/>
          <p:nvPr/>
        </p:nvSpPr>
        <p:spPr>
          <a:xfrm>
            <a:off x="1465352" y="2834640"/>
            <a:ext cx="876122" cy="310896"/>
          </a:xfrm>
          <a:prstGeom prst="roundRect">
            <a:avLst>
              <a:gd name="adj" fmla="val 17647"/>
            </a:avLst>
          </a:prstGeom>
          <a:solidFill>
            <a:srgbClr val="FFFFFF"/>
          </a:solidFill>
          <a:ln>
            <a:noFill/>
          </a:ln>
        </p:spPr>
        <p:txBody>
          <a:bodyPr rtlCol="0" anchor="ctr" wrap="square" lIns="18288" tIns="18288" rIns="18288" bIns="18288">
            <a:noAutofit/>
          </a:bodyPr>
          <a:lstStyle/>
          <a:p>
            <a:pPr algn="ctr">
              <a:spcAft>
                <a:spcPts val="0"/>
              </a:spcAft>
            </a:pPr>
            <a:r>
              <a:rPr sz="1050" b="0" i="0">
                <a:solidFill>
                  <a:srgbClr val="5F6770"/>
                </a:solidFill>
                <a:latin typeface="Arial"/>
              </a:rPr>
              <a:t>Researcher</a:t>
            </a:r>
          </a:p>
        </p:txBody>
      </p:sp>
      <p:sp>
        <p:nvSpPr>
          <p:cNvPr id="43" name="Rounded Rectangle 42"/>
          <p:cNvSpPr/>
          <p:nvPr/>
        </p:nvSpPr>
        <p:spPr>
          <a:xfrm>
            <a:off x="2414626" y="2834640"/>
            <a:ext cx="910227" cy="310896"/>
          </a:xfrm>
          <a:prstGeom prst="roundRect">
            <a:avLst>
              <a:gd name="adj" fmla="val 17647"/>
            </a:avLst>
          </a:prstGeom>
          <a:solidFill>
            <a:srgbClr val="FFFFFF"/>
          </a:solidFill>
          <a:ln>
            <a:noFill/>
          </a:ln>
        </p:spPr>
        <p:txBody>
          <a:bodyPr rtlCol="0" anchor="ctr" wrap="square" lIns="18288" tIns="18288" rIns="18288" bIns="18288">
            <a:noAutofit/>
          </a:bodyPr>
          <a:lstStyle/>
          <a:p>
            <a:pPr algn="ctr">
              <a:spcAft>
                <a:spcPts val="0"/>
              </a:spcAft>
            </a:pPr>
            <a:r>
              <a:rPr sz="1050" b="0" i="0">
                <a:solidFill>
                  <a:srgbClr val="5F6770"/>
                </a:solidFill>
                <a:latin typeface="Arial"/>
              </a:rPr>
              <a:t>Coordinator</a:t>
            </a:r>
          </a:p>
        </p:txBody>
      </p:sp>
      <p:sp>
        <p:nvSpPr>
          <p:cNvPr id="44" name="Rounded Rectangle 43"/>
          <p:cNvSpPr/>
          <p:nvPr/>
        </p:nvSpPr>
        <p:spPr>
          <a:xfrm>
            <a:off x="3398005" y="2834640"/>
            <a:ext cx="648554" cy="310896"/>
          </a:xfrm>
          <a:prstGeom prst="roundRect">
            <a:avLst>
              <a:gd name="adj" fmla="val 17647"/>
            </a:avLst>
          </a:prstGeom>
          <a:solidFill>
            <a:srgbClr val="FFFFFF"/>
          </a:solidFill>
          <a:ln>
            <a:noFill/>
          </a:ln>
        </p:spPr>
        <p:txBody>
          <a:bodyPr rtlCol="0" anchor="ctr" wrap="square" lIns="18288" tIns="18288" rIns="18288" bIns="18288">
            <a:noAutofit/>
          </a:bodyPr>
          <a:lstStyle/>
          <a:p>
            <a:pPr algn="ctr">
              <a:spcAft>
                <a:spcPts val="0"/>
              </a:spcAft>
            </a:pPr>
            <a:r>
              <a:rPr sz="1050" b="0" i="0">
                <a:solidFill>
                  <a:srgbClr val="5F6770"/>
                </a:solidFill>
                <a:latin typeface="Arial"/>
              </a:rPr>
              <a:t>Analyst</a:t>
            </a:r>
          </a:p>
        </p:txBody>
      </p:sp>
      <p:sp>
        <p:nvSpPr>
          <p:cNvPr id="45" name="Rounded Rectangle 44"/>
          <p:cNvSpPr/>
          <p:nvPr/>
        </p:nvSpPr>
        <p:spPr>
          <a:xfrm>
            <a:off x="4119711" y="2834640"/>
            <a:ext cx="607629" cy="310896"/>
          </a:xfrm>
          <a:prstGeom prst="roundRect">
            <a:avLst>
              <a:gd name="adj" fmla="val 17647"/>
            </a:avLst>
          </a:prstGeom>
          <a:solidFill>
            <a:srgbClr val="FFFFFF"/>
          </a:solidFill>
          <a:ln>
            <a:noFill/>
          </a:ln>
        </p:spPr>
        <p:txBody>
          <a:bodyPr rtlCol="0" anchor="ctr" wrap="square" lIns="18288" tIns="18288" rIns="18288" bIns="18288">
            <a:noAutofit/>
          </a:bodyPr>
          <a:lstStyle/>
          <a:p>
            <a:pPr algn="ctr">
              <a:spcAft>
                <a:spcPts val="0"/>
              </a:spcAft>
            </a:pPr>
            <a:r>
              <a:rPr sz="1050" b="0" i="0">
                <a:solidFill>
                  <a:srgbClr val="5F6770"/>
                </a:solidFill>
                <a:latin typeface="Arial"/>
              </a:rPr>
              <a:t>Drafter</a:t>
            </a:r>
          </a:p>
        </p:txBody>
      </p:sp>
      <p:sp>
        <p:nvSpPr>
          <p:cNvPr id="46" name="TextBox 45"/>
          <p:cNvSpPr txBox="1"/>
          <p:nvPr/>
        </p:nvSpPr>
        <p:spPr>
          <a:xfrm>
            <a:off x="585216" y="3291840"/>
            <a:ext cx="1828800" cy="274320"/>
          </a:xfrm>
          <a:prstGeom prst="rect">
            <a:avLst/>
          </a:prstGeom>
          <a:noFill/>
        </p:spPr>
        <p:txBody>
          <a:bodyPr wrap="square" lIns="0" tIns="0" rIns="0" bIns="0" anchor="t">
            <a:noAutofit/>
          </a:bodyPr>
          <a:lstStyle/>
          <a:p>
            <a:pPr algn="l">
              <a:spcAft>
                <a:spcPts val="0"/>
              </a:spcAft>
            </a:pPr>
            <a:r>
              <a:rPr sz="950" b="1" i="0" spc="80">
                <a:solidFill>
                  <a:srgbClr val="D31145"/>
                </a:solidFill>
                <a:latin typeface="Arial"/>
              </a:rPr>
              <a:t>WITH RILEY</a:t>
            </a:r>
          </a:p>
        </p:txBody>
      </p:sp>
      <p:sp>
        <p:nvSpPr>
          <p:cNvPr id="47" name="Rounded Rectangle 46"/>
          <p:cNvSpPr/>
          <p:nvPr/>
        </p:nvSpPr>
        <p:spPr>
          <a:xfrm>
            <a:off x="585216" y="3547872"/>
            <a:ext cx="1424940" cy="384048"/>
          </a:xfrm>
          <a:prstGeom prst="roundRect">
            <a:avLst>
              <a:gd name="adj" fmla="val 14285"/>
            </a:avLst>
          </a:prstGeom>
          <a:solidFill>
            <a:srgbClr val="FFFFFF"/>
          </a:solidFill>
          <a:ln w="15875">
            <a:solidFill>
              <a:srgbClr val="D31145"/>
            </a:solidFill>
          </a:ln>
        </p:spPr>
        <p:txBody>
          <a:bodyPr rtlCol="0" anchor="ctr" wrap="square" lIns="18288" tIns="18288" rIns="18288" bIns="18288">
            <a:noAutofit/>
          </a:bodyPr>
          <a:lstStyle/>
          <a:p>
            <a:pPr algn="ctr">
              <a:spcAft>
                <a:spcPts val="0"/>
              </a:spcAft>
            </a:pPr>
            <a:r>
              <a:rPr sz="1200" b="1" i="0">
                <a:solidFill>
                  <a:srgbClr val="D31145"/>
                </a:solidFill>
                <a:latin typeface="Arial"/>
              </a:rPr>
              <a:t>Outcome owner</a:t>
            </a:r>
          </a:p>
        </p:txBody>
      </p:sp>
      <p:sp>
        <p:nvSpPr>
          <p:cNvPr id="48" name="Rounded Rectangle 47"/>
          <p:cNvSpPr/>
          <p:nvPr/>
        </p:nvSpPr>
        <p:spPr>
          <a:xfrm>
            <a:off x="2101596" y="3547872"/>
            <a:ext cx="942975" cy="384048"/>
          </a:xfrm>
          <a:prstGeom prst="roundRect">
            <a:avLst>
              <a:gd name="adj" fmla="val 14285"/>
            </a:avLst>
          </a:prstGeom>
          <a:solidFill>
            <a:srgbClr val="FFFFFF"/>
          </a:solidFill>
          <a:ln w="15875">
            <a:solidFill>
              <a:srgbClr val="D31145"/>
            </a:solidFill>
          </a:ln>
        </p:spPr>
        <p:txBody>
          <a:bodyPr rtlCol="0" anchor="ctr" wrap="square" lIns="18288" tIns="18288" rIns="18288" bIns="18288">
            <a:noAutofit/>
          </a:bodyPr>
          <a:lstStyle/>
          <a:p>
            <a:pPr algn="ctr">
              <a:spcAft>
                <a:spcPts val="0"/>
              </a:spcAft>
            </a:pPr>
            <a:r>
              <a:rPr sz="1200" b="1" i="0">
                <a:solidFill>
                  <a:srgbClr val="D31145"/>
                </a:solidFill>
                <a:latin typeface="Arial"/>
              </a:rPr>
              <a:t>Reviewer</a:t>
            </a:r>
          </a:p>
        </p:txBody>
      </p:sp>
      <p:sp>
        <p:nvSpPr>
          <p:cNvPr id="49" name="Rounded Rectangle 48"/>
          <p:cNvSpPr/>
          <p:nvPr/>
        </p:nvSpPr>
        <p:spPr>
          <a:xfrm>
            <a:off x="3136011" y="3547872"/>
            <a:ext cx="1399794" cy="384048"/>
          </a:xfrm>
          <a:prstGeom prst="roundRect">
            <a:avLst>
              <a:gd name="adj" fmla="val 14285"/>
            </a:avLst>
          </a:prstGeom>
          <a:solidFill>
            <a:srgbClr val="FFFFFF"/>
          </a:solidFill>
          <a:ln w="15875">
            <a:solidFill>
              <a:srgbClr val="D31145"/>
            </a:solidFill>
          </a:ln>
        </p:spPr>
        <p:txBody>
          <a:bodyPr rtlCol="0" anchor="ctr" wrap="square" lIns="18288" tIns="18288" rIns="18288" bIns="18288">
            <a:noAutofit/>
          </a:bodyPr>
          <a:lstStyle/>
          <a:p>
            <a:pPr algn="ctr">
              <a:spcAft>
                <a:spcPts val="0"/>
              </a:spcAft>
            </a:pPr>
            <a:r>
              <a:rPr sz="1200" b="1" i="0">
                <a:solidFill>
                  <a:srgbClr val="D31145"/>
                </a:solidFill>
                <a:latin typeface="Arial"/>
              </a:rPr>
              <a:t>Decision maker</a:t>
            </a:r>
          </a:p>
        </p:txBody>
      </p:sp>
      <p:sp>
        <p:nvSpPr>
          <p:cNvPr id="50" name="Rounded Rectangle 49"/>
          <p:cNvSpPr/>
          <p:nvPr/>
        </p:nvSpPr>
        <p:spPr>
          <a:xfrm>
            <a:off x="585216" y="3986784"/>
            <a:ext cx="2538887" cy="237744"/>
          </a:xfrm>
          <a:prstGeom prst="roundRect">
            <a:avLst>
              <a:gd name="adj" fmla="val 50000"/>
            </a:avLst>
          </a:prstGeom>
          <a:solidFill>
            <a:srgbClr val="D31145"/>
          </a:solidFill>
          <a:ln w="12700">
            <a:solidFill>
              <a:srgbClr val="D31145"/>
            </a:solidFill>
          </a:ln>
        </p:spPr>
        <p:txBody>
          <a:bodyPr rtlCol="0" anchor="ctr" wrap="square" lIns="36576" tIns="36576" rIns="36576" bIns="36576">
            <a:noAutofit/>
          </a:bodyPr>
          <a:lstStyle/>
          <a:p>
            <a:pPr algn="ctr">
              <a:spcAft>
                <a:spcPts val="0"/>
              </a:spcAft>
            </a:pPr>
            <a:r>
              <a:rPr sz="850" b="1" i="0" spc="60">
                <a:solidFill>
                  <a:srgbClr val="FFFFFF"/>
                </a:solidFill>
                <a:latin typeface="Arial"/>
              </a:rPr>
              <a:t>VISION  ·  MEASURED IN THE PILOT</a:t>
            </a:r>
          </a:p>
        </p:txBody>
      </p:sp>
      <p:sp>
        <p:nvSpPr>
          <p:cNvPr id="51" name="TextBox 50"/>
          <p:cNvSpPr txBox="1"/>
          <p:nvPr/>
        </p:nvSpPr>
        <p:spPr>
          <a:xfrm>
            <a:off x="585216" y="4261104"/>
            <a:ext cx="4343400" cy="237744"/>
          </a:xfrm>
          <a:prstGeom prst="rect">
            <a:avLst/>
          </a:prstGeom>
          <a:noFill/>
        </p:spPr>
        <p:txBody>
          <a:bodyPr wrap="square" lIns="0" tIns="0" rIns="0" bIns="0" anchor="t">
            <a:noAutofit/>
          </a:bodyPr>
          <a:lstStyle/>
          <a:p>
            <a:pPr algn="l">
              <a:spcAft>
                <a:spcPts val="0"/>
              </a:spcAft>
            </a:pPr>
            <a:r>
              <a:rPr sz="1000" b="0" i="0">
                <a:solidFill>
                  <a:srgbClr val="5F6770"/>
                </a:solidFill>
                <a:latin typeface="Arial"/>
              </a:rPr>
              <a:t>Employee Value  ·  Operations Value</a:t>
            </a:r>
          </a:p>
        </p:txBody>
      </p:sp>
      <p:sp>
        <p:nvSpPr>
          <p:cNvPr id="52" name="Rounded Rectangle 51"/>
          <p:cNvSpPr/>
          <p:nvPr/>
        </p:nvSpPr>
        <p:spPr>
          <a:xfrm>
            <a:off x="5431536" y="1554480"/>
            <a:ext cx="3200400" cy="2999232"/>
          </a:xfrm>
          <a:prstGeom prst="roundRect">
            <a:avLst>
              <a:gd name="adj" fmla="val 3048"/>
            </a:avLst>
          </a:prstGeom>
          <a:solidFill>
            <a:srgbClr val="FFFFFF"/>
          </a:solidFill>
          <a:ln w="12700">
            <a:solidFill>
              <a:srgbClr val="DDD6D0"/>
            </a:solidFill>
          </a:ln>
        </p:spPr>
        <p:txBody>
          <a:bodyPr rtlCol="0" anchor="ctr"/>
          <a:lstStyle/>
          <a:p>
            <a:pPr algn="ctr"/>
          </a:p>
        </p:txBody>
      </p:sp>
      <p:sp>
        <p:nvSpPr>
          <p:cNvPr id="53" name="TextBox 52"/>
          <p:cNvSpPr txBox="1"/>
          <p:nvPr/>
        </p:nvSpPr>
        <p:spPr>
          <a:xfrm>
            <a:off x="5660136" y="1737360"/>
            <a:ext cx="2743200" cy="256032"/>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FRONT OFFICE</a:t>
            </a:r>
          </a:p>
        </p:txBody>
      </p:sp>
      <p:sp>
        <p:nvSpPr>
          <p:cNvPr id="54" name="TextBox 53"/>
          <p:cNvSpPr txBox="1"/>
          <p:nvPr/>
        </p:nvSpPr>
        <p:spPr>
          <a:xfrm>
            <a:off x="5660136" y="2011680"/>
            <a:ext cx="2743200" cy="685800"/>
          </a:xfrm>
          <a:prstGeom prst="rect">
            <a:avLst/>
          </a:prstGeom>
          <a:noFill/>
        </p:spPr>
        <p:txBody>
          <a:bodyPr wrap="square" lIns="0" tIns="0" rIns="0" bIns="0" anchor="t">
            <a:noAutofit/>
          </a:bodyPr>
          <a:lstStyle/>
          <a:p>
            <a:pPr algn="l">
              <a:lnSpc>
                <a:spcPct val="95000"/>
              </a:lnSpc>
              <a:spcAft>
                <a:spcPts val="0"/>
              </a:spcAft>
            </a:pPr>
            <a:r>
              <a:rPr sz="1800" b="1" i="0">
                <a:solidFill>
                  <a:srgbClr val="333D47"/>
                </a:solidFill>
                <a:latin typeface="Arial"/>
              </a:rPr>
              <a:t>Better-prepared customer conversations</a:t>
            </a:r>
          </a:p>
        </p:txBody>
      </p:sp>
      <p:sp>
        <p:nvSpPr>
          <p:cNvPr id="55" name="Oval 54"/>
          <p:cNvSpPr/>
          <p:nvPr/>
        </p:nvSpPr>
        <p:spPr>
          <a:xfrm>
            <a:off x="5660136" y="2907792"/>
            <a:ext cx="73152" cy="73152"/>
          </a:xfrm>
          <a:prstGeom prst="ellipse">
            <a:avLst/>
          </a:prstGeom>
          <a:solidFill>
            <a:srgbClr val="D31145"/>
          </a:solidFill>
          <a:ln>
            <a:noFill/>
          </a:ln>
        </p:spPr>
        <p:txBody>
          <a:bodyPr rtlCol="0" anchor="ctr"/>
          <a:lstStyle/>
          <a:p>
            <a:pPr algn="ctr"/>
          </a:p>
        </p:txBody>
      </p:sp>
      <p:sp>
        <p:nvSpPr>
          <p:cNvPr id="56" name="TextBox 55"/>
          <p:cNvSpPr txBox="1"/>
          <p:nvPr/>
        </p:nvSpPr>
        <p:spPr>
          <a:xfrm>
            <a:off x="5843016" y="2743200"/>
            <a:ext cx="2606040" cy="402336"/>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Faster, more thorough preparation</a:t>
            </a:r>
          </a:p>
        </p:txBody>
      </p:sp>
      <p:sp>
        <p:nvSpPr>
          <p:cNvPr id="57" name="Oval 56"/>
          <p:cNvSpPr/>
          <p:nvPr/>
        </p:nvSpPr>
        <p:spPr>
          <a:xfrm>
            <a:off x="5660136" y="3310128"/>
            <a:ext cx="73152" cy="73152"/>
          </a:xfrm>
          <a:prstGeom prst="ellipse">
            <a:avLst/>
          </a:prstGeom>
          <a:solidFill>
            <a:srgbClr val="D31145"/>
          </a:solidFill>
          <a:ln>
            <a:noFill/>
          </a:ln>
        </p:spPr>
        <p:txBody>
          <a:bodyPr rtlCol="0" anchor="ctr"/>
          <a:lstStyle/>
          <a:p>
            <a:pPr algn="ctr"/>
          </a:p>
        </p:txBody>
      </p:sp>
      <p:sp>
        <p:nvSpPr>
          <p:cNvPr id="58" name="TextBox 57"/>
          <p:cNvSpPr txBox="1"/>
          <p:nvPr/>
        </p:nvSpPr>
        <p:spPr>
          <a:xfrm>
            <a:off x="5843016" y="3145536"/>
            <a:ext cx="2606040" cy="402336"/>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More time with customers</a:t>
            </a:r>
          </a:p>
        </p:txBody>
      </p:sp>
      <p:sp>
        <p:nvSpPr>
          <p:cNvPr id="59" name="Oval 58"/>
          <p:cNvSpPr/>
          <p:nvPr/>
        </p:nvSpPr>
        <p:spPr>
          <a:xfrm>
            <a:off x="5660136" y="3712464"/>
            <a:ext cx="73152" cy="73152"/>
          </a:xfrm>
          <a:prstGeom prst="ellipse">
            <a:avLst/>
          </a:prstGeom>
          <a:solidFill>
            <a:srgbClr val="D31145"/>
          </a:solidFill>
          <a:ln>
            <a:noFill/>
          </a:ln>
        </p:spPr>
        <p:txBody>
          <a:bodyPr rtlCol="0" anchor="ctr"/>
          <a:lstStyle/>
          <a:p>
            <a:pPr algn="ctr"/>
          </a:p>
        </p:txBody>
      </p:sp>
      <p:sp>
        <p:nvSpPr>
          <p:cNvPr id="60" name="TextBox 59"/>
          <p:cNvSpPr txBox="1"/>
          <p:nvPr/>
        </p:nvSpPr>
        <p:spPr>
          <a:xfrm>
            <a:off x="5843016" y="3547872"/>
            <a:ext cx="2606040" cy="402336"/>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The agent keeps the advice</a:t>
            </a:r>
          </a:p>
        </p:txBody>
      </p:sp>
      <p:sp>
        <p:nvSpPr>
          <p:cNvPr id="61" name="Rounded Rectangle 60"/>
          <p:cNvSpPr/>
          <p:nvPr/>
        </p:nvSpPr>
        <p:spPr>
          <a:xfrm>
            <a:off x="5660136" y="3986784"/>
            <a:ext cx="1826960" cy="237744"/>
          </a:xfrm>
          <a:prstGeom prst="roundRect">
            <a:avLst>
              <a:gd name="adj" fmla="val 50000"/>
            </a:avLst>
          </a:prstGeom>
          <a:noFill/>
          <a:ln w="12700">
            <a:solidFill>
              <a:srgbClr val="D31145"/>
            </a:solidFill>
          </a:ln>
        </p:spPr>
        <p:txBody>
          <a:bodyPr rtlCol="0" anchor="ctr" wrap="square" lIns="36576" tIns="36576" rIns="36576" bIns="36576">
            <a:noAutofit/>
          </a:bodyPr>
          <a:lstStyle/>
          <a:p>
            <a:pPr algn="ctr">
              <a:spcAft>
                <a:spcPts val="0"/>
              </a:spcAft>
            </a:pPr>
            <a:r>
              <a:rPr sz="850" b="1" i="0" spc="60">
                <a:solidFill>
                  <a:srgbClr val="D31145"/>
                </a:solidFill>
                <a:latin typeface="Arial"/>
              </a:rPr>
              <a:t>HYPOTHESIS  ·  FUTURE</a:t>
            </a:r>
          </a:p>
        </p:txBody>
      </p:sp>
      <p:sp>
        <p:nvSpPr>
          <p:cNvPr id="62" name="TextBox 61"/>
          <p:cNvSpPr txBox="1"/>
          <p:nvPr/>
        </p:nvSpPr>
        <p:spPr>
          <a:xfrm>
            <a:off x="5660136" y="4261104"/>
            <a:ext cx="2743200" cy="237744"/>
          </a:xfrm>
          <a:prstGeom prst="rect">
            <a:avLst/>
          </a:prstGeom>
          <a:noFill/>
        </p:spPr>
        <p:txBody>
          <a:bodyPr wrap="square" lIns="0" tIns="0" rIns="0" bIns="0" anchor="t">
            <a:noAutofit/>
          </a:bodyPr>
          <a:lstStyle/>
          <a:p>
            <a:pPr algn="l">
              <a:spcAft>
                <a:spcPts val="0"/>
              </a:spcAft>
            </a:pPr>
            <a:r>
              <a:rPr sz="1000" b="0" i="0">
                <a:solidFill>
                  <a:srgbClr val="5F6770"/>
                </a:solidFill>
                <a:latin typeface="Arial"/>
              </a:rPr>
              <a:t>Distribution Value</a:t>
            </a:r>
          </a:p>
        </p:txBody>
      </p:sp>
      <p:sp>
        <p:nvSpPr>
          <p:cNvPr id="63" name="Rounded Rectangle 62"/>
          <p:cNvSpPr/>
          <p:nvPr/>
        </p:nvSpPr>
        <p:spPr>
          <a:xfrm>
            <a:off x="8906256" y="1554480"/>
            <a:ext cx="2926080" cy="2999232"/>
          </a:xfrm>
          <a:prstGeom prst="roundRect">
            <a:avLst>
              <a:gd name="adj" fmla="val 3125"/>
            </a:avLst>
          </a:prstGeom>
          <a:solidFill>
            <a:srgbClr val="FFFFFF"/>
          </a:solidFill>
          <a:ln w="12700">
            <a:solidFill>
              <a:srgbClr val="DDD6D0"/>
            </a:solidFill>
          </a:ln>
        </p:spPr>
        <p:txBody>
          <a:bodyPr rtlCol="0" anchor="ctr"/>
          <a:lstStyle/>
          <a:p>
            <a:pPr algn="ctr"/>
          </a:p>
        </p:txBody>
      </p:sp>
      <p:sp>
        <p:nvSpPr>
          <p:cNvPr id="64" name="TextBox 63"/>
          <p:cNvSpPr txBox="1"/>
          <p:nvPr/>
        </p:nvSpPr>
        <p:spPr>
          <a:xfrm>
            <a:off x="9134856" y="1737360"/>
            <a:ext cx="2468880" cy="256032"/>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AIA</a:t>
            </a:r>
          </a:p>
        </p:txBody>
      </p:sp>
      <p:sp>
        <p:nvSpPr>
          <p:cNvPr id="65" name="TextBox 64"/>
          <p:cNvSpPr txBox="1"/>
          <p:nvPr/>
        </p:nvSpPr>
        <p:spPr>
          <a:xfrm>
            <a:off x="9134856" y="2011680"/>
            <a:ext cx="2468880" cy="685800"/>
          </a:xfrm>
          <a:prstGeom prst="rect">
            <a:avLst/>
          </a:prstGeom>
          <a:noFill/>
        </p:spPr>
        <p:txBody>
          <a:bodyPr wrap="square" lIns="0" tIns="0" rIns="0" bIns="0" anchor="t">
            <a:noAutofit/>
          </a:bodyPr>
          <a:lstStyle/>
          <a:p>
            <a:pPr algn="l">
              <a:lnSpc>
                <a:spcPct val="95000"/>
              </a:lnSpc>
              <a:spcAft>
                <a:spcPts val="0"/>
              </a:spcAft>
            </a:pPr>
            <a:r>
              <a:rPr sz="1800" b="1" i="0">
                <a:solidFill>
                  <a:srgbClr val="333D47"/>
                </a:solidFill>
                <a:latin typeface="Arial"/>
              </a:rPr>
              <a:t>More value from every AI capability</a:t>
            </a:r>
          </a:p>
        </p:txBody>
      </p:sp>
      <p:sp>
        <p:nvSpPr>
          <p:cNvPr id="66" name="Oval 65"/>
          <p:cNvSpPr/>
          <p:nvPr/>
        </p:nvSpPr>
        <p:spPr>
          <a:xfrm>
            <a:off x="9134856" y="2907792"/>
            <a:ext cx="73152" cy="73152"/>
          </a:xfrm>
          <a:prstGeom prst="ellipse">
            <a:avLst/>
          </a:prstGeom>
          <a:solidFill>
            <a:srgbClr val="D31145"/>
          </a:solidFill>
          <a:ln>
            <a:noFill/>
          </a:ln>
        </p:spPr>
        <p:txBody>
          <a:bodyPr rtlCol="0" anchor="ctr"/>
          <a:lstStyle/>
          <a:p>
            <a:pPr algn="ctr"/>
          </a:p>
        </p:txBody>
      </p:sp>
      <p:sp>
        <p:nvSpPr>
          <p:cNvPr id="67" name="TextBox 66"/>
          <p:cNvSpPr txBox="1"/>
          <p:nvPr/>
        </p:nvSpPr>
        <p:spPr>
          <a:xfrm>
            <a:off x="9317736" y="2743200"/>
            <a:ext cx="2331720" cy="402336"/>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Reaches more people across AIA</a:t>
            </a:r>
          </a:p>
        </p:txBody>
      </p:sp>
      <p:sp>
        <p:nvSpPr>
          <p:cNvPr id="68" name="Oval 67"/>
          <p:cNvSpPr/>
          <p:nvPr/>
        </p:nvSpPr>
        <p:spPr>
          <a:xfrm>
            <a:off x="9134856" y="3310128"/>
            <a:ext cx="73152" cy="73152"/>
          </a:xfrm>
          <a:prstGeom prst="ellipse">
            <a:avLst/>
          </a:prstGeom>
          <a:solidFill>
            <a:srgbClr val="D31145"/>
          </a:solidFill>
          <a:ln>
            <a:noFill/>
          </a:ln>
        </p:spPr>
        <p:txBody>
          <a:bodyPr rtlCol="0" anchor="ctr"/>
          <a:lstStyle/>
          <a:p>
            <a:pPr algn="ctr"/>
          </a:p>
        </p:txBody>
      </p:sp>
      <p:sp>
        <p:nvSpPr>
          <p:cNvPr id="69" name="TextBox 68"/>
          <p:cNvSpPr txBox="1"/>
          <p:nvPr/>
        </p:nvSpPr>
        <p:spPr>
          <a:xfrm>
            <a:off x="9317736" y="3145536"/>
            <a:ext cx="2331720" cy="402336"/>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Used in more of its intended work</a:t>
            </a:r>
          </a:p>
        </p:txBody>
      </p:sp>
      <p:sp>
        <p:nvSpPr>
          <p:cNvPr id="70" name="Oval 69"/>
          <p:cNvSpPr/>
          <p:nvPr/>
        </p:nvSpPr>
        <p:spPr>
          <a:xfrm>
            <a:off x="9134856" y="3712464"/>
            <a:ext cx="73152" cy="73152"/>
          </a:xfrm>
          <a:prstGeom prst="ellipse">
            <a:avLst/>
          </a:prstGeom>
          <a:solidFill>
            <a:srgbClr val="D31145"/>
          </a:solidFill>
          <a:ln>
            <a:noFill/>
          </a:ln>
        </p:spPr>
        <p:txBody>
          <a:bodyPr rtlCol="0" anchor="ctr"/>
          <a:lstStyle/>
          <a:p>
            <a:pPr algn="ctr"/>
          </a:p>
        </p:txBody>
      </p:sp>
      <p:sp>
        <p:nvSpPr>
          <p:cNvPr id="71" name="TextBox 70"/>
          <p:cNvSpPr txBox="1"/>
          <p:nvPr/>
        </p:nvSpPr>
        <p:spPr>
          <a:xfrm>
            <a:off x="9317736" y="3547872"/>
            <a:ext cx="2331720" cy="402336"/>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No new tool to learn each time</a:t>
            </a:r>
          </a:p>
        </p:txBody>
      </p:sp>
      <p:sp>
        <p:nvSpPr>
          <p:cNvPr id="72" name="Rounded Rectangle 71"/>
          <p:cNvSpPr/>
          <p:nvPr/>
        </p:nvSpPr>
        <p:spPr>
          <a:xfrm>
            <a:off x="9134856" y="3986784"/>
            <a:ext cx="1102208" cy="237744"/>
          </a:xfrm>
          <a:prstGeom prst="roundRect">
            <a:avLst>
              <a:gd name="adj" fmla="val 50000"/>
            </a:avLst>
          </a:prstGeom>
          <a:noFill/>
          <a:ln w="12700">
            <a:solidFill>
              <a:srgbClr val="D31145"/>
            </a:solidFill>
          </a:ln>
        </p:spPr>
        <p:txBody>
          <a:bodyPr rtlCol="0" anchor="ctr" wrap="square" lIns="36576" tIns="36576" rIns="36576" bIns="36576">
            <a:noAutofit/>
          </a:bodyPr>
          <a:lstStyle/>
          <a:p>
            <a:pPr algn="ctr">
              <a:spcAft>
                <a:spcPts val="0"/>
              </a:spcAft>
            </a:pPr>
            <a:r>
              <a:rPr sz="850" b="1" i="0" spc="60">
                <a:solidFill>
                  <a:srgbClr val="D31145"/>
                </a:solidFill>
                <a:latin typeface="Arial"/>
              </a:rPr>
              <a:t>HYPOTHESIS</a:t>
            </a:r>
          </a:p>
        </p:txBody>
      </p:sp>
      <p:sp>
        <p:nvSpPr>
          <p:cNvPr id="73" name="TextBox 72"/>
          <p:cNvSpPr txBox="1"/>
          <p:nvPr/>
        </p:nvSpPr>
        <p:spPr>
          <a:xfrm>
            <a:off x="9134856" y="4261104"/>
            <a:ext cx="2468880" cy="237744"/>
          </a:xfrm>
          <a:prstGeom prst="rect">
            <a:avLst/>
          </a:prstGeom>
          <a:noFill/>
        </p:spPr>
        <p:txBody>
          <a:bodyPr wrap="square" lIns="0" tIns="0" rIns="0" bIns="0" anchor="t">
            <a:noAutofit/>
          </a:bodyPr>
          <a:lstStyle/>
          <a:p>
            <a:pPr algn="l">
              <a:spcAft>
                <a:spcPts val="0"/>
              </a:spcAft>
            </a:pPr>
            <a:r>
              <a:rPr sz="1000" b="0" i="0">
                <a:solidFill>
                  <a:srgbClr val="5F6770"/>
                </a:solidFill>
                <a:latin typeface="Arial"/>
              </a:rPr>
              <a:t>Enduring value</a:t>
            </a:r>
          </a:p>
        </p:txBody>
      </p:sp>
      <p:sp>
        <p:nvSpPr>
          <p:cNvPr id="74" name="Rounded Rectangle 73"/>
          <p:cNvSpPr/>
          <p:nvPr/>
        </p:nvSpPr>
        <p:spPr>
          <a:xfrm>
            <a:off x="356616" y="4736592"/>
            <a:ext cx="11475720" cy="932688"/>
          </a:xfrm>
          <a:prstGeom prst="roundRect">
            <a:avLst>
              <a:gd name="adj" fmla="val 11764"/>
            </a:avLst>
          </a:prstGeom>
          <a:solidFill>
            <a:srgbClr val="D31145"/>
          </a:solidFill>
          <a:ln>
            <a:noFill/>
          </a:ln>
        </p:spPr>
        <p:txBody>
          <a:bodyPr rtlCol="0" anchor="ctr"/>
          <a:lstStyle/>
          <a:p>
            <a:pPr algn="ctr"/>
          </a:p>
        </p:txBody>
      </p:sp>
      <p:sp>
        <p:nvSpPr>
          <p:cNvPr id="75" name="Oval 74"/>
          <p:cNvSpPr/>
          <p:nvPr/>
        </p:nvSpPr>
        <p:spPr>
          <a:xfrm>
            <a:off x="640080" y="4901184"/>
            <a:ext cx="603504" cy="603504"/>
          </a:xfrm>
          <a:prstGeom prst="ellipse">
            <a:avLst/>
          </a:prstGeom>
          <a:solidFill>
            <a:srgbClr val="FFFFFF"/>
          </a:solidFill>
          <a:ln>
            <a:noFill/>
          </a:ln>
        </p:spPr>
        <p:txBody>
          <a:bodyPr rtlCol="0" anchor="ctr" wrap="square" lIns="0" tIns="0" rIns="0" bIns="0">
            <a:noAutofit/>
          </a:bodyPr>
          <a:lstStyle/>
          <a:p>
            <a:pPr algn="ctr">
              <a:spcAft>
                <a:spcPts val="0"/>
              </a:spcAft>
            </a:pPr>
            <a:r>
              <a:rPr sz="2376" b="1" i="0">
                <a:solidFill>
                  <a:srgbClr val="D31145"/>
                </a:solidFill>
                <a:latin typeface="Arial"/>
              </a:rPr>
              <a:t>R</a:t>
            </a:r>
          </a:p>
        </p:txBody>
      </p:sp>
      <p:sp>
        <p:nvSpPr>
          <p:cNvPr id="76" name="TextBox 75"/>
          <p:cNvSpPr txBox="1"/>
          <p:nvPr/>
        </p:nvSpPr>
        <p:spPr>
          <a:xfrm>
            <a:off x="1463040" y="4754880"/>
            <a:ext cx="10149840" cy="512064"/>
          </a:xfrm>
          <a:prstGeom prst="rect">
            <a:avLst/>
          </a:prstGeom>
          <a:noFill/>
        </p:spPr>
        <p:txBody>
          <a:bodyPr wrap="square" lIns="0" tIns="0" rIns="0" bIns="0" anchor="ctr">
            <a:noAutofit/>
          </a:bodyPr>
          <a:lstStyle/>
          <a:p>
            <a:pPr algn="l">
              <a:spcAft>
                <a:spcPts val="0"/>
              </a:spcAft>
            </a:pPr>
            <a:r>
              <a:rPr sz="2400" b="1" i="0">
                <a:solidFill>
                  <a:srgbClr val="FFFFFF"/>
                </a:solidFill>
                <a:latin typeface="Arial"/>
              </a:rPr>
              <a:t>A digital execution partner for every employee and agent.</a:t>
            </a:r>
          </a:p>
        </p:txBody>
      </p:sp>
      <p:sp>
        <p:nvSpPr>
          <p:cNvPr id="77" name="TextBox 76"/>
          <p:cNvSpPr txBox="1"/>
          <p:nvPr/>
        </p:nvSpPr>
        <p:spPr>
          <a:xfrm>
            <a:off x="1463040" y="5248656"/>
            <a:ext cx="10149840" cy="365760"/>
          </a:xfrm>
          <a:prstGeom prst="rect">
            <a:avLst/>
          </a:prstGeom>
          <a:noFill/>
        </p:spPr>
        <p:txBody>
          <a:bodyPr wrap="square" lIns="0" tIns="0" rIns="0" bIns="0" anchor="t">
            <a:noAutofit/>
          </a:bodyPr>
          <a:lstStyle/>
          <a:p>
            <a:pPr algn="l">
              <a:spcAft>
                <a:spcPts val="0"/>
              </a:spcAft>
            </a:pPr>
            <a:r>
              <a:rPr sz="1050" b="0" i="0">
                <a:solidFill>
                  <a:srgbClr val="FFFFFF"/>
                </a:solidFill>
                <a:latin typeface="Arial"/>
              </a:rPr>
              <a:t>Long-term question to test: can one person, supported by Riley, complete substantially more finished work? No productivity multiple, sales or conversion uplift is claimed.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Measured, not assumed. One hour is only the floor.</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HOW IT IS MEASURED</a:t>
            </a:r>
          </a:p>
        </p:txBody>
      </p:sp>
      <p:sp>
        <p:nvSpPr>
          <p:cNvPr id="6" name="TextBox 5"/>
          <p:cNvSpPr txBox="1"/>
          <p:nvPr/>
        </p:nvSpPr>
        <p:spPr>
          <a:xfrm>
            <a:off x="356616" y="1325880"/>
            <a:ext cx="676656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NEAR-TERM PILOT IMPACT  ·  MEASURED AGAINST A BASELINE</a:t>
            </a:r>
          </a:p>
        </p:txBody>
      </p:sp>
      <p:pic>
        <p:nvPicPr>
          <p:cNvPr id="7" name="Picture 6" descr="LuTimer_r.png"/>
          <p:cNvPicPr>
            <a:picLocks noChangeAspect="1"/>
          </p:cNvPicPr>
          <p:nvPr/>
        </p:nvPicPr>
        <p:blipFill>
          <a:blip r:embed="rId3"/>
          <a:stretch>
            <a:fillRect/>
          </a:stretch>
        </p:blipFill>
        <p:spPr>
          <a:xfrm>
            <a:off x="356616" y="1728216"/>
            <a:ext cx="292608" cy="292608"/>
          </a:xfrm>
          <a:prstGeom prst="rect">
            <a:avLst/>
          </a:prstGeom>
        </p:spPr>
      </p:pic>
      <p:sp>
        <p:nvSpPr>
          <p:cNvPr id="8" name="TextBox 7"/>
          <p:cNvSpPr txBox="1"/>
          <p:nvPr/>
        </p:nvSpPr>
        <p:spPr>
          <a:xfrm>
            <a:off x="768096" y="169164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Employee effort per task</a:t>
            </a:r>
          </a:p>
        </p:txBody>
      </p:sp>
      <p:sp>
        <p:nvSpPr>
          <p:cNvPr id="9" name="TextBox 8"/>
          <p:cNvSpPr txBox="1"/>
          <p:nvPr/>
        </p:nvSpPr>
        <p:spPr>
          <a:xfrm>
            <a:off x="768096" y="196596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Hands-on time, before vs. after Riley</a:t>
            </a:r>
          </a:p>
        </p:txBody>
      </p:sp>
      <p:pic>
        <p:nvPicPr>
          <p:cNvPr id="10" name="Picture 9" descr="LuGauge_r.png"/>
          <p:cNvPicPr>
            <a:picLocks noChangeAspect="1"/>
          </p:cNvPicPr>
          <p:nvPr/>
        </p:nvPicPr>
        <p:blipFill>
          <a:blip r:embed="rId4"/>
          <a:stretch>
            <a:fillRect/>
          </a:stretch>
        </p:blipFill>
        <p:spPr>
          <a:xfrm>
            <a:off x="3831336" y="1728216"/>
            <a:ext cx="292608" cy="292608"/>
          </a:xfrm>
          <a:prstGeom prst="rect">
            <a:avLst/>
          </a:prstGeom>
        </p:spPr>
      </p:pic>
      <p:sp>
        <p:nvSpPr>
          <p:cNvPr id="11" name="TextBox 10"/>
          <p:cNvSpPr txBox="1"/>
          <p:nvPr/>
        </p:nvSpPr>
        <p:spPr>
          <a:xfrm>
            <a:off x="4242816" y="169164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End-to-end completion time</a:t>
            </a:r>
          </a:p>
        </p:txBody>
      </p:sp>
      <p:sp>
        <p:nvSpPr>
          <p:cNvPr id="12" name="TextBox 11"/>
          <p:cNvSpPr txBox="1"/>
          <p:nvPr/>
        </p:nvSpPr>
        <p:spPr>
          <a:xfrm>
            <a:off x="4242816" y="196596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From request to approved output</a:t>
            </a:r>
          </a:p>
        </p:txBody>
      </p:sp>
      <p:pic>
        <p:nvPicPr>
          <p:cNvPr id="13" name="Picture 12" descr="LuLayers_r.png"/>
          <p:cNvPicPr>
            <a:picLocks noChangeAspect="1"/>
          </p:cNvPicPr>
          <p:nvPr/>
        </p:nvPicPr>
        <p:blipFill>
          <a:blip r:embed="rId5"/>
          <a:stretch>
            <a:fillRect/>
          </a:stretch>
        </p:blipFill>
        <p:spPr>
          <a:xfrm>
            <a:off x="356616" y="2551176"/>
            <a:ext cx="292608" cy="292608"/>
          </a:xfrm>
          <a:prstGeom prst="rect">
            <a:avLst/>
          </a:prstGeom>
        </p:spPr>
      </p:pic>
      <p:sp>
        <p:nvSpPr>
          <p:cNvPr id="14" name="TextBox 13"/>
          <p:cNvSpPr txBox="1"/>
          <p:nvPr/>
        </p:nvSpPr>
        <p:spPr>
          <a:xfrm>
            <a:off x="768096" y="251460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Manual steps and systems touched</a:t>
            </a:r>
          </a:p>
        </p:txBody>
      </p:sp>
      <p:sp>
        <p:nvSpPr>
          <p:cNvPr id="15" name="TextBox 14"/>
          <p:cNvSpPr txBox="1"/>
          <p:nvPr/>
        </p:nvSpPr>
        <p:spPr>
          <a:xfrm>
            <a:off x="768096" y="278892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How much legwork is left to the employee</a:t>
            </a:r>
          </a:p>
        </p:txBody>
      </p:sp>
      <p:pic>
        <p:nvPicPr>
          <p:cNvPr id="16" name="Picture 15" descr="LuRepeat_r.png"/>
          <p:cNvPicPr>
            <a:picLocks noChangeAspect="1"/>
          </p:cNvPicPr>
          <p:nvPr/>
        </p:nvPicPr>
        <p:blipFill>
          <a:blip r:embed="rId6"/>
          <a:stretch>
            <a:fillRect/>
          </a:stretch>
        </p:blipFill>
        <p:spPr>
          <a:xfrm>
            <a:off x="3831336" y="2551176"/>
            <a:ext cx="292608" cy="292608"/>
          </a:xfrm>
          <a:prstGeom prst="rect">
            <a:avLst/>
          </a:prstGeom>
        </p:spPr>
      </p:pic>
      <p:sp>
        <p:nvSpPr>
          <p:cNvPr id="17" name="TextBox 16"/>
          <p:cNvSpPr txBox="1"/>
          <p:nvPr/>
        </p:nvSpPr>
        <p:spPr>
          <a:xfrm>
            <a:off x="4242816" y="251460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Rework rate</a:t>
            </a:r>
          </a:p>
        </p:txBody>
      </p:sp>
      <p:sp>
        <p:nvSpPr>
          <p:cNvPr id="18" name="TextBox 17"/>
          <p:cNvSpPr txBox="1"/>
          <p:nvPr/>
        </p:nvSpPr>
        <p:spPr>
          <a:xfrm>
            <a:off x="4242816" y="278892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How often outputs need significant correction</a:t>
            </a:r>
          </a:p>
        </p:txBody>
      </p:sp>
      <p:pic>
        <p:nvPicPr>
          <p:cNvPr id="19" name="Picture 18" descr="LuBadgeCheck_r.png"/>
          <p:cNvPicPr>
            <a:picLocks noChangeAspect="1"/>
          </p:cNvPicPr>
          <p:nvPr/>
        </p:nvPicPr>
        <p:blipFill>
          <a:blip r:embed="rId7"/>
          <a:stretch>
            <a:fillRect/>
          </a:stretch>
        </p:blipFill>
        <p:spPr>
          <a:xfrm>
            <a:off x="356616" y="3374136"/>
            <a:ext cx="292608" cy="292608"/>
          </a:xfrm>
          <a:prstGeom prst="rect">
            <a:avLst/>
          </a:prstGeom>
        </p:spPr>
      </p:pic>
      <p:sp>
        <p:nvSpPr>
          <p:cNvPr id="20" name="TextBox 19"/>
          <p:cNvSpPr txBox="1"/>
          <p:nvPr/>
        </p:nvSpPr>
        <p:spPr>
          <a:xfrm>
            <a:off x="768096" y="333756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Quality, with independent reviews</a:t>
            </a:r>
          </a:p>
        </p:txBody>
      </p:sp>
      <p:sp>
        <p:nvSpPr>
          <p:cNvPr id="21" name="TextBox 20"/>
          <p:cNvSpPr txBox="1"/>
          <p:nvPr/>
        </p:nvSpPr>
        <p:spPr>
          <a:xfrm>
            <a:off x="768096" y="361188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Against a human-only baseline</a:t>
            </a:r>
          </a:p>
        </p:txBody>
      </p:sp>
      <p:pic>
        <p:nvPicPr>
          <p:cNvPr id="22" name="Picture 21" descr="LuUsers_r.png"/>
          <p:cNvPicPr>
            <a:picLocks noChangeAspect="1"/>
          </p:cNvPicPr>
          <p:nvPr/>
        </p:nvPicPr>
        <p:blipFill>
          <a:blip r:embed="rId8"/>
          <a:stretch>
            <a:fillRect/>
          </a:stretch>
        </p:blipFill>
        <p:spPr>
          <a:xfrm>
            <a:off x="3831336" y="3374136"/>
            <a:ext cx="292608" cy="292608"/>
          </a:xfrm>
          <a:prstGeom prst="rect">
            <a:avLst/>
          </a:prstGeom>
        </p:spPr>
      </p:pic>
      <p:sp>
        <p:nvSpPr>
          <p:cNvPr id="23" name="TextBox 22"/>
          <p:cNvSpPr txBox="1"/>
          <p:nvPr/>
        </p:nvSpPr>
        <p:spPr>
          <a:xfrm>
            <a:off x="4242816" y="333756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Adoption and repeat use</a:t>
            </a:r>
          </a:p>
        </p:txBody>
      </p:sp>
      <p:sp>
        <p:nvSpPr>
          <p:cNvPr id="24" name="TextBox 23"/>
          <p:cNvSpPr txBox="1"/>
          <p:nvPr/>
        </p:nvSpPr>
        <p:spPr>
          <a:xfrm>
            <a:off x="4242816" y="361188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Whether employees choose to keep using it</a:t>
            </a:r>
          </a:p>
        </p:txBody>
      </p:sp>
      <p:sp>
        <p:nvSpPr>
          <p:cNvPr id="25" name="Rounded Rectangle 24"/>
          <p:cNvSpPr/>
          <p:nvPr/>
        </p:nvSpPr>
        <p:spPr>
          <a:xfrm>
            <a:off x="356616" y="4224528"/>
            <a:ext cx="6812280" cy="804672"/>
          </a:xfrm>
          <a:prstGeom prst="roundRect">
            <a:avLst>
              <a:gd name="adj" fmla="val 9090"/>
            </a:avLst>
          </a:prstGeom>
          <a:solidFill>
            <a:srgbClr val="FBE8ED"/>
          </a:solidFill>
          <a:ln w="15875">
            <a:solidFill>
              <a:srgbClr val="D31145"/>
            </a:solidFill>
          </a:ln>
        </p:spPr>
        <p:txBody>
          <a:bodyPr rtlCol="0" anchor="ctr"/>
          <a:lstStyle/>
          <a:p>
            <a:pPr algn="ctr"/>
          </a:p>
        </p:txBody>
      </p:sp>
      <p:pic>
        <p:nvPicPr>
          <p:cNvPr id="26" name="Picture 25" descr="LuTrendingUp_r.png"/>
          <p:cNvPicPr>
            <a:picLocks noChangeAspect="1"/>
          </p:cNvPicPr>
          <p:nvPr/>
        </p:nvPicPr>
        <p:blipFill>
          <a:blip r:embed="rId9"/>
          <a:stretch>
            <a:fillRect/>
          </a:stretch>
        </p:blipFill>
        <p:spPr>
          <a:xfrm>
            <a:off x="530352" y="4443984"/>
            <a:ext cx="347472" cy="347472"/>
          </a:xfrm>
          <a:prstGeom prst="rect">
            <a:avLst/>
          </a:prstGeom>
        </p:spPr>
      </p:pic>
      <p:sp>
        <p:nvSpPr>
          <p:cNvPr id="27" name="TextBox 26"/>
          <p:cNvSpPr txBox="1"/>
          <p:nvPr/>
        </p:nvSpPr>
        <p:spPr>
          <a:xfrm>
            <a:off x="1005840" y="4279392"/>
            <a:ext cx="4572000"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Completed outputs per employee</a:t>
            </a:r>
          </a:p>
        </p:txBody>
      </p:sp>
      <p:sp>
        <p:nvSpPr>
          <p:cNvPr id="28" name="Rounded Rectangle 27"/>
          <p:cNvSpPr/>
          <p:nvPr/>
        </p:nvSpPr>
        <p:spPr>
          <a:xfrm>
            <a:off x="5212080" y="4315968"/>
            <a:ext cx="685800" cy="237744"/>
          </a:xfrm>
          <a:prstGeom prst="roundRect">
            <a:avLst>
              <a:gd name="adj" fmla="val 50000"/>
            </a:avLst>
          </a:prstGeom>
          <a:solidFill>
            <a:srgbClr val="D31145"/>
          </a:solidFill>
          <a:ln w="12700">
            <a:solidFill>
              <a:srgbClr val="D31145"/>
            </a:solidFill>
          </a:ln>
        </p:spPr>
        <p:txBody>
          <a:bodyPr rtlCol="0" anchor="ctr" wrap="square" lIns="36576" tIns="36576" rIns="36576" bIns="36576">
            <a:noAutofit/>
          </a:bodyPr>
          <a:lstStyle/>
          <a:p>
            <a:pPr algn="ctr">
              <a:spcAft>
                <a:spcPts val="0"/>
              </a:spcAft>
            </a:pPr>
            <a:r>
              <a:rPr sz="900" b="1" i="0" spc="50">
                <a:solidFill>
                  <a:srgbClr val="FFFFFF"/>
                </a:solidFill>
                <a:latin typeface="Arial"/>
              </a:rPr>
              <a:t>NEW</a:t>
            </a:r>
          </a:p>
        </p:txBody>
      </p:sp>
      <p:sp>
        <p:nvSpPr>
          <p:cNvPr id="29" name="TextBox 28"/>
          <p:cNvSpPr txBox="1"/>
          <p:nvPr/>
        </p:nvSpPr>
        <p:spPr>
          <a:xfrm>
            <a:off x="1005840" y="4553712"/>
            <a:ext cx="6035040" cy="41148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Tests whether Riley increases execution capacity, not only saves time.</a:t>
            </a:r>
          </a:p>
        </p:txBody>
      </p:sp>
      <p:sp>
        <p:nvSpPr>
          <p:cNvPr id="30" name="Rounded Rectangle 29"/>
          <p:cNvSpPr/>
          <p:nvPr/>
        </p:nvSpPr>
        <p:spPr>
          <a:xfrm>
            <a:off x="7498080" y="1325880"/>
            <a:ext cx="4334256" cy="3703320"/>
          </a:xfrm>
          <a:prstGeom prst="roundRect">
            <a:avLst>
              <a:gd name="adj" fmla="val 2469"/>
            </a:avLst>
          </a:prstGeom>
          <a:solidFill>
            <a:srgbClr val="F4F1EF"/>
          </a:solidFill>
          <a:ln>
            <a:noFill/>
          </a:ln>
        </p:spPr>
        <p:txBody>
          <a:bodyPr rtlCol="0" anchor="ctr"/>
          <a:lstStyle/>
          <a:p>
            <a:pPr algn="ctr"/>
          </a:p>
        </p:txBody>
      </p:sp>
      <p:sp>
        <p:nvSpPr>
          <p:cNvPr id="31" name="TextBox 30"/>
          <p:cNvSpPr txBox="1"/>
          <p:nvPr/>
        </p:nvSpPr>
        <p:spPr>
          <a:xfrm>
            <a:off x="7772400" y="1527048"/>
            <a:ext cx="3785616"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A CONSERVATIVE FLOOR</a:t>
            </a:r>
          </a:p>
        </p:txBody>
      </p:sp>
      <p:sp>
        <p:nvSpPr>
          <p:cNvPr id="32" name="Rounded Rectangle 31"/>
          <p:cNvSpPr/>
          <p:nvPr/>
        </p:nvSpPr>
        <p:spPr>
          <a:xfrm>
            <a:off x="7772400" y="1828800"/>
            <a:ext cx="3246120" cy="256032"/>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900" b="1" i="0" spc="50">
                <a:solidFill>
                  <a:srgbClr val="D31145"/>
                </a:solidFill>
                <a:latin typeface="Arial"/>
              </a:rPr>
              <a:t>ILLUSTRATIVE SCENARIO  ·  NOT A FORECAST</a:t>
            </a:r>
          </a:p>
        </p:txBody>
      </p:sp>
      <p:sp>
        <p:nvSpPr>
          <p:cNvPr id="33" name="TextBox 32"/>
          <p:cNvSpPr txBox="1"/>
          <p:nvPr/>
        </p:nvSpPr>
        <p:spPr>
          <a:xfrm>
            <a:off x="7772400" y="2221992"/>
            <a:ext cx="3785616" cy="566928"/>
          </a:xfrm>
          <a:prstGeom prst="rect">
            <a:avLst/>
          </a:prstGeom>
          <a:noFill/>
        </p:spPr>
        <p:txBody>
          <a:bodyPr wrap="square" lIns="0" tIns="0" rIns="0" bIns="0" anchor="t">
            <a:noAutofit/>
          </a:bodyPr>
          <a:lstStyle/>
          <a:p>
            <a:pPr algn="l">
              <a:spcAft>
                <a:spcPts val="0"/>
              </a:spcAft>
            </a:pPr>
            <a:r>
              <a:rPr sz="1250" b="0" i="0">
                <a:solidFill>
                  <a:srgbClr val="333D47"/>
                </a:solidFill>
                <a:latin typeface="Arial"/>
              </a:rPr>
              <a:t>Even at a deliberately cautious one hour a week, 1,000 employees would release around</a:t>
            </a:r>
          </a:p>
        </p:txBody>
      </p:sp>
      <p:sp>
        <p:nvSpPr>
          <p:cNvPr id="34" name="TextBox 33"/>
          <p:cNvSpPr txBox="1"/>
          <p:nvPr/>
        </p:nvSpPr>
        <p:spPr>
          <a:xfrm>
            <a:off x="7772400" y="2770632"/>
            <a:ext cx="3785616" cy="658368"/>
          </a:xfrm>
          <a:prstGeom prst="rect">
            <a:avLst/>
          </a:prstGeom>
          <a:noFill/>
        </p:spPr>
        <p:txBody>
          <a:bodyPr wrap="square" lIns="0" tIns="0" rIns="0" bIns="0" anchor="ctr">
            <a:noAutofit/>
          </a:bodyPr>
          <a:lstStyle/>
          <a:p>
            <a:pPr algn="l">
              <a:spcAft>
                <a:spcPts val="0"/>
              </a:spcAft>
            </a:pPr>
            <a:r>
              <a:rPr sz="4400" b="1" i="0">
                <a:solidFill>
                  <a:srgbClr val="D31145"/>
                </a:solidFill>
                <a:latin typeface="Arial"/>
              </a:rPr>
              <a:t>1,000 hours</a:t>
            </a:r>
          </a:p>
        </p:txBody>
      </p:sp>
      <p:sp>
        <p:nvSpPr>
          <p:cNvPr id="35" name="TextBox 34"/>
          <p:cNvSpPr txBox="1"/>
          <p:nvPr/>
        </p:nvSpPr>
        <p:spPr>
          <a:xfrm>
            <a:off x="7772400" y="3410712"/>
            <a:ext cx="3785616" cy="292608"/>
          </a:xfrm>
          <a:prstGeom prst="rect">
            <a:avLst/>
          </a:prstGeom>
          <a:noFill/>
        </p:spPr>
        <p:txBody>
          <a:bodyPr wrap="square" lIns="0" tIns="0" rIns="0" bIns="0" anchor="t">
            <a:noAutofit/>
          </a:bodyPr>
          <a:lstStyle/>
          <a:p>
            <a:pPr algn="l">
              <a:spcAft>
                <a:spcPts val="0"/>
              </a:spcAft>
            </a:pPr>
            <a:r>
              <a:rPr sz="1500" b="0" i="0">
                <a:solidFill>
                  <a:srgbClr val="333D47"/>
                </a:solidFill>
                <a:latin typeface="Arial"/>
              </a:rPr>
              <a:t>every week</a:t>
            </a:r>
          </a:p>
        </p:txBody>
      </p:sp>
      <p:sp>
        <p:nvSpPr>
          <p:cNvPr id="36" name="TextBox 35"/>
          <p:cNvSpPr txBox="1"/>
          <p:nvPr/>
        </p:nvSpPr>
        <p:spPr>
          <a:xfrm>
            <a:off x="7772400" y="3758184"/>
            <a:ext cx="3785616" cy="365760"/>
          </a:xfrm>
          <a:prstGeom prst="rect">
            <a:avLst/>
          </a:prstGeom>
          <a:noFill/>
        </p:spPr>
        <p:txBody>
          <a:bodyPr wrap="square" lIns="0" tIns="0" rIns="0" bIns="0" anchor="t">
            <a:noAutofit/>
          </a:bodyPr>
          <a:lstStyle/>
          <a:p>
            <a:pPr algn="l">
              <a:spcAft>
                <a:spcPts val="0"/>
              </a:spcAft>
            </a:pPr>
            <a:r>
              <a:rPr sz="1900" b="1" i="0">
                <a:solidFill>
                  <a:srgbClr val="333D47"/>
                </a:solidFill>
                <a:latin typeface="Arial"/>
              </a:rPr>
              <a:t>≈ 50,000 hours a year</a:t>
            </a:r>
          </a:p>
        </p:txBody>
      </p:sp>
      <p:sp>
        <p:nvSpPr>
          <p:cNvPr id="37" name="TextBox 36"/>
          <p:cNvSpPr txBox="1"/>
          <p:nvPr/>
        </p:nvSpPr>
        <p:spPr>
          <a:xfrm>
            <a:off x="7772400" y="4160520"/>
            <a:ext cx="3785616" cy="731520"/>
          </a:xfrm>
          <a:prstGeom prst="rect">
            <a:avLst/>
          </a:prstGeom>
          <a:noFill/>
        </p:spPr>
        <p:txBody>
          <a:bodyPr wrap="square" lIns="0" tIns="0" rIns="0" bIns="0" anchor="t">
            <a:noAutofit/>
          </a:bodyPr>
          <a:lstStyle/>
          <a:p>
            <a:pPr algn="l">
              <a:spcAft>
                <a:spcPts val="0"/>
              </a:spcAft>
            </a:pPr>
            <a:r>
              <a:rPr sz="1000" b="0" i="1">
                <a:solidFill>
                  <a:srgbClr val="5F6770"/>
                </a:solidFill>
                <a:latin typeface="Arial"/>
              </a:rPr>
              <a:t>Assuming 50 working weeks. 1,000 is a scenario size, not an AIA employee count. One hour is 2.5% of a 40-hour week.</a:t>
            </a:r>
          </a:p>
        </p:txBody>
      </p:sp>
      <p:sp>
        <p:nvSpPr>
          <p:cNvPr id="38" name="TextBox 37"/>
          <p:cNvSpPr txBox="1"/>
          <p:nvPr/>
        </p:nvSpPr>
        <p:spPr>
          <a:xfrm>
            <a:off x="356616" y="5257800"/>
            <a:ext cx="11338560" cy="457200"/>
          </a:xfrm>
          <a:prstGeom prst="rect">
            <a:avLst/>
          </a:prstGeom>
          <a:noFill/>
        </p:spPr>
        <p:txBody>
          <a:bodyPr wrap="square" lIns="0" tIns="0" rIns="0" bIns="0" anchor="t">
            <a:noAutofit/>
          </a:bodyPr>
          <a:lstStyle/>
          <a:p>
            <a:pPr algn="l">
              <a:spcAft>
                <a:spcPts val="0"/>
              </a:spcAft>
            </a:pPr>
            <a:r>
              <a:rPr sz="1150" b="1" i="0">
                <a:solidFill>
                  <a:srgbClr val="5F6770"/>
                </a:solidFill>
                <a:latin typeface="Arial"/>
              </a:rPr>
              <a:t>Value link: </a:t>
            </a:r>
            <a:r>
              <a:rPr sz="1150" b="0" i="0">
                <a:solidFill>
                  <a:srgbClr val="5F6770"/>
                </a:solidFill>
                <a:latin typeface="Arial"/>
              </a:rPr>
              <a:t>Employee Value and Operations Value in the pilot. Later front-office testing would use appropriate customer and distribution measures. Any Distribution, VONB or ANP link is a hypothesis for AIA’s TDA methodology.</a:t>
            </a:r>
          </a:p>
        </p:txBody>
      </p:sp>
      <p:sp>
        <p:nvSpPr>
          <p:cNvPr id="39" name="Slide Number Placeholder"/>
          <p:cNvSpPr>
            <a:spLocks noGrp="1"/>
          </p:cNvSpPr>
          <p:nvPr>
            <p:ph type="sldNum" sz="quarter" idx="4"/>
          </p:nvPr>
        </p:nvSpPr>
        <p:spPr/>
        <p:txBody>
          <a:bodyPr/>
          <a:lstStyle/>
          <a:p>
            <a:fld id="{18A41853-EF22-D446-BDBC-A7CF3FE93503}" type="slidenum">
              <a:rPr lang="en-US"/>
              <a:t>6</a:t>
            </a:fld>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The same coworker, preparing for a customer</a:t>
            </a:r>
          </a:p>
        </p:txBody>
      </p:sp>
      <p:sp>
        <p:nvSpPr>
          <p:cNvPr id="42" name="Slide Number Placeholder"/>
          <p:cNvSpPr>
            <a:spLocks noGrp="1"/>
          </p:cNvSpPr>
          <p:nvPr>
            <p:ph type="sldNum" sz="quarter" idx="4"/>
          </p:nvPr>
        </p:nvSpPr>
        <p:spPr/>
        <p:txBody>
          <a:bodyPr/>
          <a:lstStyle/>
          <a:p>
            <a:fld id="{18A41853-EF22-D446-BDBC-A7CF3FE93503}" type="slidenum">
              <a:rPr lang="en-US"/>
              <a:t>7</a:t>
            </a:fld>
            <a:endParaRPr lang="en-US" dirty="0"/>
          </a:p>
        </p:txBody>
      </p:sp>
      <p:sp>
        <p:nvSpPr>
          <p:cNvPr id="43" name="TextBox 42"/>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FRONT OFFICE  ·  FUTURE POTENTIAL</a:t>
            </a:r>
          </a:p>
        </p:txBody>
      </p:sp>
      <p:sp>
        <p:nvSpPr>
          <p:cNvPr id="44" name="Rounded Rectangle 43"/>
          <p:cNvSpPr/>
          <p:nvPr/>
        </p:nvSpPr>
        <p:spPr>
          <a:xfrm>
            <a:off x="8286102" y="274320"/>
            <a:ext cx="3546234" cy="274320"/>
          </a:xfrm>
          <a:prstGeom prst="roundRect">
            <a:avLst>
              <a:gd name="adj" fmla="val 50000"/>
            </a:avLst>
          </a:prstGeom>
          <a:solidFill>
            <a:srgbClr val="D31145"/>
          </a:solidFill>
          <a:ln w="12700">
            <a:solidFill>
              <a:srgbClr val="D31145"/>
            </a:solidFill>
          </a:ln>
        </p:spPr>
        <p:txBody>
          <a:bodyPr rtlCol="0" anchor="ctr" wrap="square" lIns="36576" tIns="36576" rIns="36576" bIns="36576">
            <a:noAutofit/>
          </a:bodyPr>
          <a:lstStyle/>
          <a:p>
            <a:pPr algn="ctr">
              <a:spcAft>
                <a:spcPts val="0"/>
              </a:spcAft>
            </a:pPr>
            <a:r>
              <a:rPr sz="950" b="1" i="0" spc="60">
                <a:solidFill>
                  <a:srgbClr val="FFFFFF"/>
                </a:solidFill>
                <a:latin typeface="Arial"/>
              </a:rPr>
              <a:t>FUTURE POTENTIAL  ·  NOT PART OF PHASE 1</a:t>
            </a:r>
          </a:p>
        </p:txBody>
      </p:sp>
      <p:sp>
        <p:nvSpPr>
          <p:cNvPr id="45" name="TextBox 44"/>
          <p:cNvSpPr txBox="1"/>
          <p:nvPr/>
        </p:nvSpPr>
        <p:spPr>
          <a:xfrm>
            <a:off x="356616" y="1024128"/>
            <a:ext cx="1115568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Whether you’re serving a customer or running the business: one outcome in, finished work back.</a:t>
            </a:r>
          </a:p>
        </p:txBody>
      </p:sp>
      <p:sp>
        <p:nvSpPr>
          <p:cNvPr id="46" name="Rounded Rectangle 45"/>
          <p:cNvSpPr/>
          <p:nvPr/>
        </p:nvSpPr>
        <p:spPr>
          <a:xfrm>
            <a:off x="356616" y="1600200"/>
            <a:ext cx="2743200" cy="3474720"/>
          </a:xfrm>
          <a:prstGeom prst="roundRect">
            <a:avLst>
              <a:gd name="adj" fmla="val 3333"/>
            </a:avLst>
          </a:prstGeom>
          <a:solidFill>
            <a:srgbClr val="FFFFFF"/>
          </a:solidFill>
          <a:ln w="15875">
            <a:solidFill>
              <a:srgbClr val="333D47"/>
            </a:solidFill>
          </a:ln>
        </p:spPr>
        <p:txBody>
          <a:bodyPr rtlCol="0" anchor="ctr"/>
          <a:lstStyle/>
          <a:p>
            <a:pPr algn="ctr"/>
          </a:p>
        </p:txBody>
      </p:sp>
      <p:sp>
        <p:nvSpPr>
          <p:cNvPr id="47" name="Oval 46"/>
          <p:cNvSpPr/>
          <p:nvPr/>
        </p:nvSpPr>
        <p:spPr>
          <a:xfrm>
            <a:off x="557784" y="1801368"/>
            <a:ext cx="384048" cy="384048"/>
          </a:xfrm>
          <a:prstGeom prst="ellipse">
            <a:avLst/>
          </a:prstGeom>
          <a:solidFill>
            <a:srgbClr val="333D47"/>
          </a:solidFill>
          <a:ln>
            <a:noFill/>
          </a:ln>
        </p:spPr>
        <p:txBody>
          <a:bodyPr rtlCol="0" anchor="ctr"/>
          <a:lstStyle/>
          <a:p>
            <a:pPr algn="ctr"/>
          </a:p>
        </p:txBody>
      </p:sp>
      <p:pic>
        <p:nvPicPr>
          <p:cNvPr id="48" name="Picture 47" descr="LuUserRound_w.png"/>
          <p:cNvPicPr>
            <a:picLocks noChangeAspect="1"/>
          </p:cNvPicPr>
          <p:nvPr/>
        </p:nvPicPr>
        <p:blipFill>
          <a:blip r:embed="rId14"/>
          <a:stretch>
            <a:fillRect/>
          </a:stretch>
        </p:blipFill>
        <p:spPr>
          <a:xfrm>
            <a:off x="646115" y="1889699"/>
            <a:ext cx="207386" cy="207386"/>
          </a:xfrm>
          <a:prstGeom prst="rect">
            <a:avLst/>
          </a:prstGeom>
        </p:spPr>
      </p:pic>
      <p:sp>
        <p:nvSpPr>
          <p:cNvPr id="49" name="TextBox 48"/>
          <p:cNvSpPr txBox="1"/>
          <p:nvPr/>
        </p:nvSpPr>
        <p:spPr>
          <a:xfrm>
            <a:off x="1042416" y="1801368"/>
            <a:ext cx="1920240" cy="384048"/>
          </a:xfrm>
          <a:prstGeom prst="rect">
            <a:avLst/>
          </a:prstGeom>
          <a:noFill/>
        </p:spPr>
        <p:txBody>
          <a:bodyPr wrap="square" lIns="0" tIns="0" rIns="0" bIns="0" anchor="ctr">
            <a:noAutofit/>
          </a:bodyPr>
          <a:lstStyle/>
          <a:p>
            <a:pPr algn="l">
              <a:spcAft>
                <a:spcPts val="0"/>
              </a:spcAft>
            </a:pPr>
            <a:r>
              <a:rPr sz="1050" b="1" i="0" spc="80">
                <a:solidFill>
                  <a:srgbClr val="333D47"/>
                </a:solidFill>
                <a:latin typeface="Arial"/>
              </a:rPr>
              <a:t>AN AIA AGENT ASKS</a:t>
            </a:r>
          </a:p>
        </p:txBody>
      </p:sp>
      <p:sp>
        <p:nvSpPr>
          <p:cNvPr id="50" name="TextBox 49"/>
          <p:cNvSpPr txBox="1"/>
          <p:nvPr/>
        </p:nvSpPr>
        <p:spPr>
          <a:xfrm>
            <a:off x="557784" y="2468880"/>
            <a:ext cx="2377440" cy="1280160"/>
          </a:xfrm>
          <a:prstGeom prst="rect">
            <a:avLst/>
          </a:prstGeom>
          <a:noFill/>
        </p:spPr>
        <p:txBody>
          <a:bodyPr wrap="square" lIns="0" tIns="0" rIns="0" bIns="0" anchor="t">
            <a:noAutofit/>
          </a:bodyPr>
          <a:lstStyle/>
          <a:p>
            <a:pPr algn="l">
              <a:lnSpc>
                <a:spcPct val="100000"/>
              </a:lnSpc>
              <a:spcAft>
                <a:spcPts val="0"/>
              </a:spcAft>
            </a:pPr>
            <a:r>
              <a:rPr sz="1900" b="1" i="1">
                <a:solidFill>
                  <a:srgbClr val="333D47"/>
                </a:solidFill>
                <a:latin typeface="Arial"/>
              </a:rPr>
              <a:t>“Help me prepare for this customer meeting.”</a:t>
            </a:r>
          </a:p>
        </p:txBody>
      </p:sp>
      <p:sp>
        <p:nvSpPr>
          <p:cNvPr id="51" name="TextBox 50"/>
          <p:cNvSpPr txBox="1"/>
          <p:nvPr/>
        </p:nvSpPr>
        <p:spPr>
          <a:xfrm>
            <a:off x="557784" y="4343400"/>
            <a:ext cx="2377440" cy="548640"/>
          </a:xfrm>
          <a:prstGeom prst="rect">
            <a:avLst/>
          </a:prstGeom>
          <a:noFill/>
        </p:spPr>
        <p:txBody>
          <a:bodyPr wrap="square" lIns="0" tIns="0" rIns="0" bIns="0" anchor="t">
            <a:noAutofit/>
          </a:bodyPr>
          <a:lstStyle/>
          <a:p>
            <a:pPr algn="l">
              <a:lnSpc>
                <a:spcPct val="100000"/>
              </a:lnSpc>
              <a:spcAft>
                <a:spcPts val="0"/>
              </a:spcAft>
            </a:pPr>
            <a:r>
              <a:rPr sz="1100" b="0" i="0">
                <a:solidFill>
                  <a:srgbClr val="5F6770"/>
                </a:solidFill>
                <a:latin typeface="Arial"/>
              </a:rPr>
              <a:t>Subject to permissions and applicable controls</a:t>
            </a:r>
          </a:p>
        </p:txBody>
      </p:sp>
      <p:cxnSp>
        <p:nvCxnSpPr>
          <p:cNvPr id="52" name="Connector 51"/>
          <p:cNvCxnSpPr/>
          <p:nvPr/>
        </p:nvCxnSpPr>
        <p:spPr>
          <a:xfrm>
            <a:off x="3136392" y="3337560"/>
            <a:ext cx="237744" cy="0"/>
          </a:xfrm>
          <a:prstGeom prst="line">
            <a:avLst/>
          </a:prstGeom>
          <a:ln w="19050">
            <a:solidFill>
              <a:srgbClr val="9B928B"/>
            </a:solidFill>
            <a:tailEnd type="triangle" w="med" len="med"/>
          </a:ln>
        </p:spPr>
      </p:cxnSp>
      <p:sp>
        <p:nvSpPr>
          <p:cNvPr id="53" name="Rounded Rectangle 52"/>
          <p:cNvSpPr/>
          <p:nvPr/>
        </p:nvSpPr>
        <p:spPr>
          <a:xfrm>
            <a:off x="3410712" y="1600200"/>
            <a:ext cx="5230368" cy="3474720"/>
          </a:xfrm>
          <a:prstGeom prst="roundRect">
            <a:avLst>
              <a:gd name="adj" fmla="val 2631"/>
            </a:avLst>
          </a:prstGeom>
          <a:solidFill>
            <a:srgbClr val="FBE8ED"/>
          </a:solidFill>
          <a:ln>
            <a:noFill/>
          </a:ln>
        </p:spPr>
        <p:txBody>
          <a:bodyPr rtlCol="0" anchor="ctr"/>
          <a:lstStyle/>
          <a:p>
            <a:pPr algn="ctr"/>
          </a:p>
        </p:txBody>
      </p:sp>
      <p:sp>
        <p:nvSpPr>
          <p:cNvPr id="54" name="Oval 53"/>
          <p:cNvSpPr/>
          <p:nvPr/>
        </p:nvSpPr>
        <p:spPr>
          <a:xfrm>
            <a:off x="3611880" y="1801368"/>
            <a:ext cx="365760" cy="365760"/>
          </a:xfrm>
          <a:prstGeom prst="ellipse">
            <a:avLst/>
          </a:prstGeom>
          <a:solidFill>
            <a:srgbClr val="D31145"/>
          </a:solidFill>
          <a:ln>
            <a:noFill/>
          </a:ln>
        </p:spPr>
        <p:txBody>
          <a:bodyPr rtlCol="0" anchor="ctr" wrap="square" lIns="0" tIns="0" rIns="0" bIns="0">
            <a:noAutofit/>
          </a:bodyPr>
          <a:lstStyle/>
          <a:p>
            <a:pPr algn="ctr">
              <a:spcAft>
                <a:spcPts val="0"/>
              </a:spcAft>
            </a:pPr>
            <a:r>
              <a:rPr sz="1440" b="1" i="0">
                <a:solidFill>
                  <a:srgbClr val="FFFFFF"/>
                </a:solidFill>
                <a:latin typeface="Arial"/>
              </a:rPr>
              <a:t>R</a:t>
            </a:r>
          </a:p>
        </p:txBody>
      </p:sp>
      <p:sp>
        <p:nvSpPr>
          <p:cNvPr id="55" name="TextBox 54"/>
          <p:cNvSpPr txBox="1"/>
          <p:nvPr/>
        </p:nvSpPr>
        <p:spPr>
          <a:xfrm>
            <a:off x="4096512" y="1801368"/>
            <a:ext cx="4206240" cy="365760"/>
          </a:xfrm>
          <a:prstGeom prst="rect">
            <a:avLst/>
          </a:prstGeom>
          <a:noFill/>
        </p:spPr>
        <p:txBody>
          <a:bodyPr wrap="square" lIns="0" tIns="0" rIns="0" bIns="0" anchor="ctr">
            <a:noAutofit/>
          </a:bodyPr>
          <a:lstStyle/>
          <a:p>
            <a:pPr algn="l">
              <a:spcAft>
                <a:spcPts val="0"/>
              </a:spcAft>
            </a:pPr>
            <a:r>
              <a:rPr sz="1050" b="1" i="0" spc="80">
                <a:solidFill>
                  <a:srgbClr val="D31145"/>
                </a:solidFill>
                <a:latin typeface="Arial"/>
              </a:rPr>
              <a:t>RILEY COULD HELP</a:t>
            </a:r>
          </a:p>
        </p:txBody>
      </p:sp>
      <p:sp>
        <p:nvSpPr>
          <p:cNvPr id="56" name="Rounded Rectangle 55"/>
          <p:cNvSpPr/>
          <p:nvPr/>
        </p:nvSpPr>
        <p:spPr>
          <a:xfrm>
            <a:off x="3593592" y="2276856"/>
            <a:ext cx="4864608" cy="338328"/>
          </a:xfrm>
          <a:prstGeom prst="roundRect">
            <a:avLst>
              <a:gd name="adj" fmla="val 16216"/>
            </a:avLst>
          </a:prstGeom>
          <a:solidFill>
            <a:srgbClr val="FFFFFF"/>
          </a:solidFill>
          <a:ln>
            <a:noFill/>
          </a:ln>
        </p:spPr>
        <p:txBody>
          <a:bodyPr rtlCol="0" anchor="ctr"/>
          <a:lstStyle/>
          <a:p>
            <a:pPr algn="ctr"/>
          </a:p>
        </p:txBody>
      </p:sp>
      <p:pic>
        <p:nvPicPr>
          <p:cNvPr id="57" name="Picture 56" descr="LuUserRound_r.png"/>
          <p:cNvPicPr>
            <a:picLocks noChangeAspect="1"/>
          </p:cNvPicPr>
          <p:nvPr/>
        </p:nvPicPr>
        <p:blipFill>
          <a:blip r:embed="rId15"/>
          <a:stretch>
            <a:fillRect/>
          </a:stretch>
        </p:blipFill>
        <p:spPr>
          <a:xfrm>
            <a:off x="3703320" y="2340864"/>
            <a:ext cx="210312" cy="210312"/>
          </a:xfrm>
          <a:prstGeom prst="rect">
            <a:avLst/>
          </a:prstGeom>
        </p:spPr>
      </p:pic>
      <p:sp>
        <p:nvSpPr>
          <p:cNvPr id="58" name="TextBox 57"/>
          <p:cNvSpPr txBox="1"/>
          <p:nvPr/>
        </p:nvSpPr>
        <p:spPr>
          <a:xfrm>
            <a:off x="4050792" y="2276856"/>
            <a:ext cx="4361688" cy="338328"/>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Retrieve customer information the agent is allowed to access</a:t>
            </a:r>
          </a:p>
        </p:txBody>
      </p:sp>
      <p:sp>
        <p:nvSpPr>
          <p:cNvPr id="59" name="Rounded Rectangle 58"/>
          <p:cNvSpPr/>
          <p:nvPr/>
        </p:nvSpPr>
        <p:spPr>
          <a:xfrm>
            <a:off x="3593592" y="2660904"/>
            <a:ext cx="4864608" cy="338328"/>
          </a:xfrm>
          <a:prstGeom prst="roundRect">
            <a:avLst>
              <a:gd name="adj" fmla="val 16216"/>
            </a:avLst>
          </a:prstGeom>
          <a:solidFill>
            <a:srgbClr val="FFFFFF"/>
          </a:solidFill>
          <a:ln>
            <a:noFill/>
          </a:ln>
        </p:spPr>
        <p:txBody>
          <a:bodyPr rtlCol="0" anchor="ctr"/>
          <a:lstStyle/>
          <a:p>
            <a:pPr algn="ctr"/>
          </a:p>
        </p:txBody>
      </p:sp>
      <p:pic>
        <p:nvPicPr>
          <p:cNvPr id="60" name="Picture 59" descr="LuPackage_r.png"/>
          <p:cNvPicPr>
            <a:picLocks noChangeAspect="1"/>
          </p:cNvPicPr>
          <p:nvPr/>
        </p:nvPicPr>
        <p:blipFill>
          <a:blip r:embed="rId16"/>
          <a:stretch>
            <a:fillRect/>
          </a:stretch>
        </p:blipFill>
        <p:spPr>
          <a:xfrm>
            <a:off x="3703320" y="2724912"/>
            <a:ext cx="210312" cy="210312"/>
          </a:xfrm>
          <a:prstGeom prst="rect">
            <a:avLst/>
          </a:prstGeom>
        </p:spPr>
      </p:pic>
      <p:sp>
        <p:nvSpPr>
          <p:cNvPr id="61" name="TextBox 60"/>
          <p:cNvSpPr txBox="1"/>
          <p:nvPr/>
        </p:nvSpPr>
        <p:spPr>
          <a:xfrm>
            <a:off x="4050792" y="2660904"/>
            <a:ext cx="4361688" cy="338328"/>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Use approved product and internal knowledge</a:t>
            </a:r>
          </a:p>
        </p:txBody>
      </p:sp>
      <p:sp>
        <p:nvSpPr>
          <p:cNvPr id="62" name="Rounded Rectangle 61"/>
          <p:cNvSpPr/>
          <p:nvPr/>
        </p:nvSpPr>
        <p:spPr>
          <a:xfrm>
            <a:off x="3593592" y="3044952"/>
            <a:ext cx="4864608" cy="338328"/>
          </a:xfrm>
          <a:prstGeom prst="roundRect">
            <a:avLst>
              <a:gd name="adj" fmla="val 16216"/>
            </a:avLst>
          </a:prstGeom>
          <a:solidFill>
            <a:srgbClr val="FFFFFF"/>
          </a:solidFill>
          <a:ln>
            <a:noFill/>
          </a:ln>
        </p:spPr>
        <p:txBody>
          <a:bodyPr rtlCol="0" anchor="ctr"/>
          <a:lstStyle/>
          <a:p>
            <a:pPr algn="ctr"/>
          </a:p>
        </p:txBody>
      </p:sp>
      <p:pic>
        <p:nvPicPr>
          <p:cNvPr id="63" name="Picture 62" descr="LuGlobe_r.png"/>
          <p:cNvPicPr>
            <a:picLocks noChangeAspect="1"/>
          </p:cNvPicPr>
          <p:nvPr/>
        </p:nvPicPr>
        <p:blipFill>
          <a:blip r:embed="rId17"/>
          <a:stretch>
            <a:fillRect/>
          </a:stretch>
        </p:blipFill>
        <p:spPr>
          <a:xfrm>
            <a:off x="3703320" y="3108960"/>
            <a:ext cx="210312" cy="210312"/>
          </a:xfrm>
          <a:prstGeom prst="rect">
            <a:avLst/>
          </a:prstGeom>
        </p:spPr>
      </p:pic>
      <p:sp>
        <p:nvSpPr>
          <p:cNvPr id="64" name="TextBox 63"/>
          <p:cNvSpPr txBox="1"/>
          <p:nvPr/>
        </p:nvSpPr>
        <p:spPr>
          <a:xfrm>
            <a:off x="4050792" y="3044952"/>
            <a:ext cx="4361688" cy="338328"/>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Add permitted general external context</a:t>
            </a:r>
          </a:p>
        </p:txBody>
      </p:sp>
      <p:sp>
        <p:nvSpPr>
          <p:cNvPr id="65" name="Rounded Rectangle 64"/>
          <p:cNvSpPr/>
          <p:nvPr/>
        </p:nvSpPr>
        <p:spPr>
          <a:xfrm>
            <a:off x="3593592" y="3429000"/>
            <a:ext cx="4864608" cy="338328"/>
          </a:xfrm>
          <a:prstGeom prst="roundRect">
            <a:avLst>
              <a:gd name="adj" fmla="val 16216"/>
            </a:avLst>
          </a:prstGeom>
          <a:solidFill>
            <a:srgbClr val="FFFFFF"/>
          </a:solidFill>
          <a:ln>
            <a:noFill/>
          </a:ln>
        </p:spPr>
        <p:txBody>
          <a:bodyPr rtlCol="0" anchor="ctr"/>
          <a:lstStyle/>
          <a:p>
            <a:pPr algn="ctr"/>
          </a:p>
        </p:txBody>
      </p:sp>
      <p:pic>
        <p:nvPicPr>
          <p:cNvPr id="66" name="Picture 65" descr="LuFileSearch_r.png"/>
          <p:cNvPicPr>
            <a:picLocks noChangeAspect="1"/>
          </p:cNvPicPr>
          <p:nvPr/>
        </p:nvPicPr>
        <p:blipFill>
          <a:blip r:embed="rId18"/>
          <a:stretch>
            <a:fillRect/>
          </a:stretch>
        </p:blipFill>
        <p:spPr>
          <a:xfrm>
            <a:off x="3703320" y="3493008"/>
            <a:ext cx="210312" cy="210312"/>
          </a:xfrm>
          <a:prstGeom prst="rect">
            <a:avLst/>
          </a:prstGeom>
        </p:spPr>
      </p:pic>
      <p:sp>
        <p:nvSpPr>
          <p:cNvPr id="67" name="TextBox 66"/>
          <p:cNvSpPr txBox="1"/>
          <p:nvPr/>
        </p:nvSpPr>
        <p:spPr>
          <a:xfrm>
            <a:off x="4050792" y="3429000"/>
            <a:ext cx="4361688" cy="338328"/>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Summarize what matters for this meeting</a:t>
            </a:r>
          </a:p>
        </p:txBody>
      </p:sp>
      <p:sp>
        <p:nvSpPr>
          <p:cNvPr id="68" name="Rounded Rectangle 67"/>
          <p:cNvSpPr/>
          <p:nvPr/>
        </p:nvSpPr>
        <p:spPr>
          <a:xfrm>
            <a:off x="3593592" y="3813048"/>
            <a:ext cx="4864608" cy="338328"/>
          </a:xfrm>
          <a:prstGeom prst="roundRect">
            <a:avLst>
              <a:gd name="adj" fmla="val 16216"/>
            </a:avLst>
          </a:prstGeom>
          <a:solidFill>
            <a:srgbClr val="FFFFFF"/>
          </a:solidFill>
          <a:ln>
            <a:noFill/>
          </a:ln>
        </p:spPr>
        <p:txBody>
          <a:bodyPr rtlCol="0" anchor="ctr"/>
          <a:lstStyle/>
          <a:p>
            <a:pPr algn="ctr"/>
          </a:p>
        </p:txBody>
      </p:sp>
      <p:pic>
        <p:nvPicPr>
          <p:cNvPr id="69" name="Picture 68" descr="LuClipboardList_r.png"/>
          <p:cNvPicPr>
            <a:picLocks noChangeAspect="1"/>
          </p:cNvPicPr>
          <p:nvPr/>
        </p:nvPicPr>
        <p:blipFill>
          <a:blip r:embed="rId19"/>
          <a:stretch>
            <a:fillRect/>
          </a:stretch>
        </p:blipFill>
        <p:spPr>
          <a:xfrm>
            <a:off x="3703320" y="3877056"/>
            <a:ext cx="210312" cy="210312"/>
          </a:xfrm>
          <a:prstGeom prst="rect">
            <a:avLst/>
          </a:prstGeom>
        </p:spPr>
      </p:pic>
      <p:sp>
        <p:nvSpPr>
          <p:cNvPr id="70" name="TextBox 69"/>
          <p:cNvSpPr txBox="1"/>
          <p:nvPr/>
        </p:nvSpPr>
        <p:spPr>
          <a:xfrm>
            <a:off x="4050792" y="3813048"/>
            <a:ext cx="4361688" cy="338328"/>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Prepare a meeting brief</a:t>
            </a:r>
          </a:p>
        </p:txBody>
      </p:sp>
      <p:sp>
        <p:nvSpPr>
          <p:cNvPr id="71" name="Rounded Rectangle 70"/>
          <p:cNvSpPr/>
          <p:nvPr/>
        </p:nvSpPr>
        <p:spPr>
          <a:xfrm>
            <a:off x="3593592" y="4197096"/>
            <a:ext cx="4864608" cy="338328"/>
          </a:xfrm>
          <a:prstGeom prst="roundRect">
            <a:avLst>
              <a:gd name="adj" fmla="val 16216"/>
            </a:avLst>
          </a:prstGeom>
          <a:solidFill>
            <a:srgbClr val="FFFFFF"/>
          </a:solidFill>
          <a:ln>
            <a:noFill/>
          </a:ln>
        </p:spPr>
        <p:txBody>
          <a:bodyPr rtlCol="0" anchor="ctr"/>
          <a:lstStyle/>
          <a:p>
            <a:pPr algn="ctr"/>
          </a:p>
        </p:txBody>
      </p:sp>
      <p:pic>
        <p:nvPicPr>
          <p:cNvPr id="72" name="Picture 71" descr="LuMessageCircleQuestion_r.png"/>
          <p:cNvPicPr>
            <a:picLocks noChangeAspect="1"/>
          </p:cNvPicPr>
          <p:nvPr/>
        </p:nvPicPr>
        <p:blipFill>
          <a:blip r:embed="rId20"/>
          <a:stretch>
            <a:fillRect/>
          </a:stretch>
        </p:blipFill>
        <p:spPr>
          <a:xfrm>
            <a:off x="3703320" y="4261104"/>
            <a:ext cx="210312" cy="210312"/>
          </a:xfrm>
          <a:prstGeom prst="rect">
            <a:avLst/>
          </a:prstGeom>
        </p:spPr>
      </p:pic>
      <p:sp>
        <p:nvSpPr>
          <p:cNvPr id="73" name="TextBox 72"/>
          <p:cNvSpPr txBox="1"/>
          <p:nvPr/>
        </p:nvSpPr>
        <p:spPr>
          <a:xfrm>
            <a:off x="4050792" y="4197096"/>
            <a:ext cx="4361688" cy="338328"/>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Suggest questions or topics to explore</a:t>
            </a:r>
          </a:p>
        </p:txBody>
      </p:sp>
      <p:sp>
        <p:nvSpPr>
          <p:cNvPr id="74" name="Rounded Rectangle 73"/>
          <p:cNvSpPr/>
          <p:nvPr/>
        </p:nvSpPr>
        <p:spPr>
          <a:xfrm>
            <a:off x="3593592" y="4581144"/>
            <a:ext cx="4864608" cy="338328"/>
          </a:xfrm>
          <a:prstGeom prst="roundRect">
            <a:avLst>
              <a:gd name="adj" fmla="val 16216"/>
            </a:avLst>
          </a:prstGeom>
          <a:solidFill>
            <a:srgbClr val="FFFFFF"/>
          </a:solidFill>
          <a:ln>
            <a:noFill/>
          </a:ln>
        </p:spPr>
        <p:txBody>
          <a:bodyPr rtlCol="0" anchor="ctr"/>
          <a:lstStyle/>
          <a:p>
            <a:pPr algn="ctr"/>
          </a:p>
        </p:txBody>
      </p:sp>
      <p:pic>
        <p:nvPicPr>
          <p:cNvPr id="75" name="Picture 74" descr="LuSend_r.png"/>
          <p:cNvPicPr>
            <a:picLocks noChangeAspect="1"/>
          </p:cNvPicPr>
          <p:nvPr/>
        </p:nvPicPr>
        <p:blipFill>
          <a:blip r:embed="rId21"/>
          <a:stretch>
            <a:fillRect/>
          </a:stretch>
        </p:blipFill>
        <p:spPr>
          <a:xfrm>
            <a:off x="3703320" y="4645152"/>
            <a:ext cx="210312" cy="210312"/>
          </a:xfrm>
          <a:prstGeom prst="rect">
            <a:avLst/>
          </a:prstGeom>
        </p:spPr>
      </p:pic>
      <p:sp>
        <p:nvSpPr>
          <p:cNvPr id="76" name="TextBox 75"/>
          <p:cNvSpPr txBox="1"/>
          <p:nvPr/>
        </p:nvSpPr>
        <p:spPr>
          <a:xfrm>
            <a:off x="4050792" y="4581144"/>
            <a:ext cx="4361688" cy="338328"/>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Draft follow-up material for the agent to review</a:t>
            </a:r>
          </a:p>
        </p:txBody>
      </p:sp>
      <p:cxnSp>
        <p:nvCxnSpPr>
          <p:cNvPr id="77" name="Connector 76"/>
          <p:cNvCxnSpPr/>
          <p:nvPr/>
        </p:nvCxnSpPr>
        <p:spPr>
          <a:xfrm>
            <a:off x="8677656" y="3337560"/>
            <a:ext cx="237744" cy="0"/>
          </a:xfrm>
          <a:prstGeom prst="line">
            <a:avLst/>
          </a:prstGeom>
          <a:ln w="19050">
            <a:solidFill>
              <a:srgbClr val="9B928B"/>
            </a:solidFill>
            <a:tailEnd type="triangle" w="med" len="med"/>
          </a:ln>
        </p:spPr>
      </p:cxnSp>
      <p:sp>
        <p:nvSpPr>
          <p:cNvPr id="78" name="Rounded Rectangle 77"/>
          <p:cNvSpPr/>
          <p:nvPr/>
        </p:nvSpPr>
        <p:spPr>
          <a:xfrm>
            <a:off x="8951976" y="1600200"/>
            <a:ext cx="2880360" cy="3474720"/>
          </a:xfrm>
          <a:prstGeom prst="roundRect">
            <a:avLst>
              <a:gd name="adj" fmla="val 3174"/>
            </a:avLst>
          </a:prstGeom>
          <a:solidFill>
            <a:srgbClr val="D31145"/>
          </a:solidFill>
          <a:ln>
            <a:noFill/>
          </a:ln>
        </p:spPr>
        <p:txBody>
          <a:bodyPr rtlCol="0" anchor="ctr"/>
          <a:lstStyle/>
          <a:p>
            <a:pPr algn="ctr"/>
          </a:p>
        </p:txBody>
      </p:sp>
      <p:sp>
        <p:nvSpPr>
          <p:cNvPr id="79" name="Oval 78"/>
          <p:cNvSpPr/>
          <p:nvPr/>
        </p:nvSpPr>
        <p:spPr>
          <a:xfrm>
            <a:off x="9153144" y="1801368"/>
            <a:ext cx="384048" cy="384048"/>
          </a:xfrm>
          <a:prstGeom prst="ellipse">
            <a:avLst/>
          </a:prstGeom>
          <a:solidFill>
            <a:srgbClr val="FFFFFF"/>
          </a:solidFill>
          <a:ln>
            <a:noFill/>
          </a:ln>
        </p:spPr>
        <p:txBody>
          <a:bodyPr rtlCol="0" anchor="ctr"/>
          <a:lstStyle/>
          <a:p>
            <a:pPr algn="ctr"/>
          </a:p>
        </p:txBody>
      </p:sp>
      <p:pic>
        <p:nvPicPr>
          <p:cNvPr id="80" name="Picture 79" descr="image.png"/>
          <p:cNvPicPr>
            <a:picLocks noChangeAspect="1"/>
          </p:cNvPicPr>
          <p:nvPr/>
        </p:nvPicPr>
        <p:blipFill>
          <a:blip r:embed="rId22"/>
          <a:stretch>
            <a:fillRect/>
          </a:stretch>
        </p:blipFill>
        <p:spPr>
          <a:xfrm>
            <a:off x="9241475" y="1889699"/>
            <a:ext cx="207386" cy="207386"/>
          </a:xfrm>
          <a:prstGeom prst="rect">
            <a:avLst/>
          </a:prstGeom>
        </p:spPr>
      </p:pic>
      <p:sp>
        <p:nvSpPr>
          <p:cNvPr id="81" name="TextBox 80"/>
          <p:cNvSpPr txBox="1"/>
          <p:nvPr/>
        </p:nvSpPr>
        <p:spPr>
          <a:xfrm>
            <a:off x="9637776" y="1801368"/>
            <a:ext cx="2103120" cy="384048"/>
          </a:xfrm>
          <a:prstGeom prst="rect">
            <a:avLst/>
          </a:prstGeom>
          <a:noFill/>
        </p:spPr>
        <p:txBody>
          <a:bodyPr wrap="square" lIns="0" tIns="0" rIns="0" bIns="0" anchor="ctr">
            <a:noAutofit/>
          </a:bodyPr>
          <a:lstStyle/>
          <a:p>
            <a:pPr algn="l">
              <a:spcAft>
                <a:spcPts val="0"/>
              </a:spcAft>
            </a:pPr>
            <a:r>
              <a:rPr sz="1050" b="1" i="0" spc="80">
                <a:solidFill>
                  <a:srgbClr val="FFFFFF"/>
                </a:solidFill>
                <a:latin typeface="Arial"/>
              </a:rPr>
              <a:t>THE AGENT OWNS</a:t>
            </a:r>
          </a:p>
        </p:txBody>
      </p:sp>
      <p:sp>
        <p:nvSpPr>
          <p:cNvPr id="82" name="TextBox 81"/>
          <p:cNvSpPr txBox="1"/>
          <p:nvPr/>
        </p:nvSpPr>
        <p:spPr>
          <a:xfrm>
            <a:off x="9180576" y="2377440"/>
            <a:ext cx="2606040" cy="347472"/>
          </a:xfrm>
          <a:prstGeom prst="rect">
            <a:avLst/>
          </a:prstGeom>
          <a:noFill/>
        </p:spPr>
        <p:txBody>
          <a:bodyPr wrap="square" lIns="0" tIns="0" rIns="0" bIns="0" anchor="ctr">
            <a:noAutofit/>
          </a:bodyPr>
          <a:lstStyle/>
          <a:p>
            <a:pPr algn="l">
              <a:spcAft>
                <a:spcPts val="0"/>
              </a:spcAft>
            </a:pPr>
            <a:r>
              <a:rPr sz="1500" b="1" i="0">
                <a:solidFill>
                  <a:srgbClr val="FFFFFF"/>
                </a:solidFill>
                <a:latin typeface="Arial"/>
              </a:rPr>
              <a:t>Advice</a:t>
            </a:r>
          </a:p>
        </p:txBody>
      </p:sp>
      <p:sp>
        <p:nvSpPr>
          <p:cNvPr id="83" name="TextBox 82"/>
          <p:cNvSpPr txBox="1"/>
          <p:nvPr/>
        </p:nvSpPr>
        <p:spPr>
          <a:xfrm>
            <a:off x="9180576" y="2724912"/>
            <a:ext cx="2606040" cy="347472"/>
          </a:xfrm>
          <a:prstGeom prst="rect">
            <a:avLst/>
          </a:prstGeom>
          <a:noFill/>
        </p:spPr>
        <p:txBody>
          <a:bodyPr wrap="square" lIns="0" tIns="0" rIns="0" bIns="0" anchor="ctr">
            <a:noAutofit/>
          </a:bodyPr>
          <a:lstStyle/>
          <a:p>
            <a:pPr algn="l">
              <a:spcAft>
                <a:spcPts val="0"/>
              </a:spcAft>
            </a:pPr>
            <a:r>
              <a:rPr sz="1500" b="1" i="0">
                <a:solidFill>
                  <a:srgbClr val="FFFFFF"/>
                </a:solidFill>
                <a:latin typeface="Arial"/>
              </a:rPr>
              <a:t>Suitability</a:t>
            </a:r>
          </a:p>
        </p:txBody>
      </p:sp>
      <p:sp>
        <p:nvSpPr>
          <p:cNvPr id="84" name="TextBox 83"/>
          <p:cNvSpPr txBox="1"/>
          <p:nvPr/>
        </p:nvSpPr>
        <p:spPr>
          <a:xfrm>
            <a:off x="9180576" y="3072384"/>
            <a:ext cx="2606040" cy="347472"/>
          </a:xfrm>
          <a:prstGeom prst="rect">
            <a:avLst/>
          </a:prstGeom>
          <a:noFill/>
        </p:spPr>
        <p:txBody>
          <a:bodyPr wrap="square" lIns="0" tIns="0" rIns="0" bIns="0" anchor="ctr">
            <a:noAutofit/>
          </a:bodyPr>
          <a:lstStyle/>
          <a:p>
            <a:pPr algn="l">
              <a:spcAft>
                <a:spcPts val="0"/>
              </a:spcAft>
            </a:pPr>
            <a:r>
              <a:rPr sz="1500" b="1" i="0">
                <a:solidFill>
                  <a:srgbClr val="FFFFFF"/>
                </a:solidFill>
                <a:latin typeface="Arial"/>
              </a:rPr>
              <a:t>Judgment</a:t>
            </a:r>
          </a:p>
        </p:txBody>
      </p:sp>
      <p:sp>
        <p:nvSpPr>
          <p:cNvPr id="85" name="TextBox 84"/>
          <p:cNvSpPr txBox="1"/>
          <p:nvPr/>
        </p:nvSpPr>
        <p:spPr>
          <a:xfrm>
            <a:off x="9180576" y="3419856"/>
            <a:ext cx="2606040" cy="347472"/>
          </a:xfrm>
          <a:prstGeom prst="rect">
            <a:avLst/>
          </a:prstGeom>
          <a:noFill/>
        </p:spPr>
        <p:txBody>
          <a:bodyPr wrap="square" lIns="0" tIns="0" rIns="0" bIns="0" anchor="ctr">
            <a:noAutofit/>
          </a:bodyPr>
          <a:lstStyle/>
          <a:p>
            <a:pPr algn="l">
              <a:spcAft>
                <a:spcPts val="0"/>
              </a:spcAft>
            </a:pPr>
            <a:r>
              <a:rPr sz="1500" b="1" i="0">
                <a:solidFill>
                  <a:srgbClr val="FFFFFF"/>
                </a:solidFill>
                <a:latin typeface="Arial"/>
              </a:rPr>
              <a:t>Customer communication</a:t>
            </a:r>
          </a:p>
        </p:txBody>
      </p:sp>
      <p:sp>
        <p:nvSpPr>
          <p:cNvPr id="86" name="TextBox 85"/>
          <p:cNvSpPr txBox="1"/>
          <p:nvPr/>
        </p:nvSpPr>
        <p:spPr>
          <a:xfrm>
            <a:off x="9180576" y="3886200"/>
            <a:ext cx="2468880" cy="1005840"/>
          </a:xfrm>
          <a:prstGeom prst="rect">
            <a:avLst/>
          </a:prstGeom>
          <a:noFill/>
        </p:spPr>
        <p:txBody>
          <a:bodyPr wrap="square" lIns="0" tIns="0" rIns="0" bIns="0" anchor="t">
            <a:noAutofit/>
          </a:bodyPr>
          <a:lstStyle/>
          <a:p>
            <a:pPr algn="l">
              <a:lnSpc>
                <a:spcPct val="100000"/>
              </a:lnSpc>
              <a:spcAft>
                <a:spcPts val="400"/>
              </a:spcAft>
            </a:pPr>
            <a:r>
              <a:rPr sz="1150" b="0" i="0">
                <a:solidFill>
                  <a:srgbClr val="FFFFFF"/>
                </a:solidFill>
                <a:latin typeface="Arial"/>
              </a:rPr>
              <a:t>Riley does not independently recommend products.</a:t>
            </a:r>
          </a:p>
          <a:p>
            <a:pPr algn="l">
              <a:lnSpc>
                <a:spcPct val="100000"/>
              </a:lnSpc>
              <a:spcAft>
                <a:spcPts val="400"/>
              </a:spcAft>
            </a:pPr>
            <a:r>
              <a:rPr sz="1150" b="0" i="0">
                <a:solidFill>
                  <a:srgbClr val="FFFFFF"/>
                </a:solidFill>
                <a:latin typeface="Arial"/>
              </a:rPr>
              <a:t>Riley does not contact the customer.</a:t>
            </a:r>
          </a:p>
        </p:txBody>
      </p:sp>
      <p:sp>
        <p:nvSpPr>
          <p:cNvPr id="87" name="Rounded Rectangle 86"/>
          <p:cNvSpPr/>
          <p:nvPr/>
        </p:nvSpPr>
        <p:spPr>
          <a:xfrm>
            <a:off x="356616" y="5230368"/>
            <a:ext cx="11475720" cy="438912"/>
          </a:xfrm>
          <a:prstGeom prst="roundRect">
            <a:avLst>
              <a:gd name="adj" fmla="val 12500"/>
            </a:avLst>
          </a:prstGeom>
          <a:solidFill>
            <a:srgbClr val="333D47"/>
          </a:solidFill>
          <a:ln>
            <a:noFill/>
          </a:ln>
        </p:spPr>
        <p:txBody>
          <a:bodyPr rtlCol="0" anchor="ctr"/>
          <a:lstStyle/>
          <a:p>
            <a:pPr algn="ctr"/>
          </a:p>
        </p:txBody>
      </p:sp>
      <p:sp>
        <p:nvSpPr>
          <p:cNvPr id="88" name="TextBox 87"/>
          <p:cNvSpPr txBox="1"/>
          <p:nvPr/>
        </p:nvSpPr>
        <p:spPr>
          <a:xfrm>
            <a:off x="548640" y="5230368"/>
            <a:ext cx="11064240" cy="438912"/>
          </a:xfrm>
          <a:prstGeom prst="rect">
            <a:avLst/>
          </a:prstGeom>
          <a:noFill/>
        </p:spPr>
        <p:txBody>
          <a:bodyPr wrap="square" lIns="0" tIns="0" rIns="0" bIns="0" anchor="ctr">
            <a:noAutofit/>
          </a:bodyPr>
          <a:lstStyle/>
          <a:p>
            <a:pPr algn="l">
              <a:spcAft>
                <a:spcPts val="0"/>
              </a:spcAft>
            </a:pPr>
            <a:r>
              <a:rPr sz="1200" b="1" i="0">
                <a:solidFill>
                  <a:srgbClr val="FFFFFF"/>
                </a:solidFill>
                <a:latin typeface="Arial"/>
              </a:rPr>
              <a:t>Big vision, narrow pilot. </a:t>
            </a:r>
            <a:r>
              <a:rPr sz="1200" b="0" i="0">
                <a:solidFill>
                  <a:srgbClr val="FFFFFF"/>
                </a:solidFill>
                <a:latin typeface="Arial"/>
              </a:rPr>
              <a:t>Front-office use needs extra controls and would be designed with Distribution, Compliance, Legal and Privacy. Phase 1 is back office.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Big vision. Narrow first step.</a:t>
            </a:r>
          </a:p>
        </p:txBody>
      </p:sp>
      <p:sp>
        <p:nvSpPr>
          <p:cNvPr id="38" name="Slide Number Placeholder"/>
          <p:cNvSpPr>
            <a:spLocks noGrp="1"/>
          </p:cNvSpPr>
          <p:nvPr>
            <p:ph type="sldNum" sz="quarter" idx="4"/>
          </p:nvPr>
        </p:nvSpPr>
        <p:spPr/>
        <p:txBody>
          <a:bodyPr/>
          <a:lstStyle/>
          <a:p>
            <a:fld id="{18A41853-EF22-D446-BDBC-A7CF3FE93503}" type="slidenum">
              <a:rPr lang="en-US"/>
              <a:t>8</a:t>
            </a:fld>
            <a:endParaRPr lang="en-US" dirty="0"/>
          </a:p>
        </p:txBody>
      </p:sp>
      <p:sp>
        <p:nvSpPr>
          <p:cNvPr id="39" name="TextBox 38"/>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PLAN</a:t>
            </a:r>
          </a:p>
        </p:txBody>
      </p:sp>
      <p:sp>
        <p:nvSpPr>
          <p:cNvPr id="40" name="Rounded Rectangle 39"/>
          <p:cNvSpPr/>
          <p:nvPr/>
        </p:nvSpPr>
        <p:spPr>
          <a:xfrm>
            <a:off x="356616" y="1097280"/>
            <a:ext cx="5394960" cy="713232"/>
          </a:xfrm>
          <a:prstGeom prst="roundRect">
            <a:avLst>
              <a:gd name="adj" fmla="val 12820"/>
            </a:avLst>
          </a:prstGeom>
          <a:solidFill>
            <a:srgbClr val="F4F1EF"/>
          </a:solidFill>
          <a:ln>
            <a:noFill/>
          </a:ln>
        </p:spPr>
        <p:txBody>
          <a:bodyPr rtlCol="0" anchor="ctr"/>
          <a:lstStyle/>
          <a:p>
            <a:pPr algn="ctr"/>
          </a:p>
        </p:txBody>
      </p:sp>
      <p:sp>
        <p:nvSpPr>
          <p:cNvPr id="41" name="TextBox 40"/>
          <p:cNvSpPr txBox="1"/>
          <p:nvPr/>
        </p:nvSpPr>
        <p:spPr>
          <a:xfrm>
            <a:off x="566928" y="1097280"/>
            <a:ext cx="1371600" cy="713232"/>
          </a:xfrm>
          <a:prstGeom prst="rect">
            <a:avLst/>
          </a:prstGeom>
          <a:noFill/>
        </p:spPr>
        <p:txBody>
          <a:bodyPr wrap="square" lIns="0" tIns="0" rIns="0" bIns="0" anchor="ctr">
            <a:noAutofit/>
          </a:bodyPr>
          <a:lstStyle/>
          <a:p>
            <a:pPr algn="l">
              <a:spcAft>
                <a:spcPts val="0"/>
              </a:spcAft>
            </a:pPr>
            <a:r>
              <a:rPr sz="1000" b="1" i="0" spc="100">
                <a:solidFill>
                  <a:srgbClr val="5F6770"/>
                </a:solidFill>
                <a:latin typeface="Arial"/>
              </a:rPr>
              <a:t>THE VISION</a:t>
            </a:r>
          </a:p>
        </p:txBody>
      </p:sp>
      <p:sp>
        <p:nvSpPr>
          <p:cNvPr id="42" name="TextBox 41"/>
          <p:cNvSpPr txBox="1"/>
          <p:nvPr/>
        </p:nvSpPr>
        <p:spPr>
          <a:xfrm>
            <a:off x="1783080" y="1097280"/>
            <a:ext cx="3886200" cy="713232"/>
          </a:xfrm>
          <a:prstGeom prst="rect">
            <a:avLst/>
          </a:prstGeom>
          <a:noFill/>
        </p:spPr>
        <p:txBody>
          <a:bodyPr wrap="square" lIns="0" tIns="0" rIns="0" bIns="0" anchor="ctr">
            <a:noAutofit/>
          </a:bodyPr>
          <a:lstStyle/>
          <a:p>
            <a:pPr algn="l">
              <a:lnSpc>
                <a:spcPct val="95000"/>
              </a:lnSpc>
              <a:spcAft>
                <a:spcPts val="0"/>
              </a:spcAft>
            </a:pPr>
            <a:r>
              <a:rPr sz="1300" b="1" i="0">
                <a:solidFill>
                  <a:srgbClr val="333D47"/>
                </a:solidFill>
                <a:latin typeface="Arial"/>
              </a:rPr>
              <a:t>One AI coworker for every AIA employee and agent</a:t>
            </a:r>
          </a:p>
        </p:txBody>
      </p:sp>
      <p:cxnSp>
        <p:nvCxnSpPr>
          <p:cNvPr id="43" name="Connector 42"/>
          <p:cNvCxnSpPr/>
          <p:nvPr/>
        </p:nvCxnSpPr>
        <p:spPr>
          <a:xfrm>
            <a:off x="5824728" y="1453896"/>
            <a:ext cx="484632" cy="0"/>
          </a:xfrm>
          <a:prstGeom prst="line">
            <a:avLst/>
          </a:prstGeom>
          <a:ln w="28575">
            <a:solidFill>
              <a:srgbClr val="D31145"/>
            </a:solidFill>
            <a:tailEnd type="triangle" w="med" len="med"/>
          </a:ln>
        </p:spPr>
      </p:cxnSp>
      <p:sp>
        <p:nvSpPr>
          <p:cNvPr id="44" name="Rounded Rectangle 43"/>
          <p:cNvSpPr/>
          <p:nvPr/>
        </p:nvSpPr>
        <p:spPr>
          <a:xfrm>
            <a:off x="6382512" y="1097280"/>
            <a:ext cx="5449824" cy="713232"/>
          </a:xfrm>
          <a:prstGeom prst="roundRect">
            <a:avLst>
              <a:gd name="adj" fmla="val 12820"/>
            </a:avLst>
          </a:prstGeom>
          <a:solidFill>
            <a:srgbClr val="D31145"/>
          </a:solidFill>
          <a:ln>
            <a:noFill/>
          </a:ln>
        </p:spPr>
        <p:txBody>
          <a:bodyPr rtlCol="0" anchor="ctr"/>
          <a:lstStyle/>
          <a:p>
            <a:pPr algn="ctr"/>
          </a:p>
        </p:txBody>
      </p:sp>
      <p:sp>
        <p:nvSpPr>
          <p:cNvPr id="45" name="TextBox 44"/>
          <p:cNvSpPr txBox="1"/>
          <p:nvPr/>
        </p:nvSpPr>
        <p:spPr>
          <a:xfrm>
            <a:off x="6583680" y="1097280"/>
            <a:ext cx="1554480" cy="713232"/>
          </a:xfrm>
          <a:prstGeom prst="rect">
            <a:avLst/>
          </a:prstGeom>
          <a:noFill/>
        </p:spPr>
        <p:txBody>
          <a:bodyPr wrap="square" lIns="0" tIns="0" rIns="0" bIns="0" anchor="ctr">
            <a:noAutofit/>
          </a:bodyPr>
          <a:lstStyle/>
          <a:p>
            <a:pPr algn="l">
              <a:spcAft>
                <a:spcPts val="0"/>
              </a:spcAft>
            </a:pPr>
            <a:r>
              <a:rPr sz="1000" b="1" i="0" spc="100">
                <a:solidFill>
                  <a:srgbClr val="F2B6C6"/>
                </a:solidFill>
                <a:latin typeface="Arial"/>
              </a:rPr>
              <a:t>THE FIRST STEP</a:t>
            </a:r>
          </a:p>
        </p:txBody>
      </p:sp>
      <p:sp>
        <p:nvSpPr>
          <p:cNvPr id="46" name="TextBox 45"/>
          <p:cNvSpPr txBox="1"/>
          <p:nvPr/>
        </p:nvSpPr>
        <p:spPr>
          <a:xfrm>
            <a:off x="8001000" y="1097280"/>
            <a:ext cx="3749040" cy="713232"/>
          </a:xfrm>
          <a:prstGeom prst="rect">
            <a:avLst/>
          </a:prstGeom>
          <a:noFill/>
        </p:spPr>
        <p:txBody>
          <a:bodyPr wrap="square" lIns="0" tIns="0" rIns="0" bIns="0" anchor="ctr">
            <a:noAutofit/>
          </a:bodyPr>
          <a:lstStyle/>
          <a:p>
            <a:pPr algn="l">
              <a:lnSpc>
                <a:spcPct val="95000"/>
              </a:lnSpc>
              <a:spcAft>
                <a:spcPts val="0"/>
              </a:spcAft>
            </a:pPr>
            <a:r>
              <a:rPr sz="1400" b="1" i="0">
                <a:solidFill>
                  <a:srgbClr val="FFFFFF"/>
                </a:solidFill>
                <a:latin typeface="Arial"/>
              </a:rPr>
              <a:t>One team. One internal workflow. Measured.</a:t>
            </a:r>
          </a:p>
        </p:txBody>
      </p:sp>
      <p:sp>
        <p:nvSpPr>
          <p:cNvPr id="47" name="Rounded Rectangle 46"/>
          <p:cNvSpPr/>
          <p:nvPr/>
        </p:nvSpPr>
        <p:spPr>
          <a:xfrm>
            <a:off x="356616" y="2103120"/>
            <a:ext cx="2697480" cy="2697480"/>
          </a:xfrm>
          <a:prstGeom prst="roundRect">
            <a:avLst>
              <a:gd name="adj" fmla="val 3389"/>
            </a:avLst>
          </a:prstGeom>
          <a:solidFill>
            <a:srgbClr val="F4F1EF"/>
          </a:solidFill>
          <a:ln>
            <a:noFill/>
          </a:ln>
        </p:spPr>
        <p:txBody>
          <a:bodyPr rtlCol="0" anchor="ctr"/>
          <a:lstStyle/>
          <a:p>
            <a:pPr algn="ctr"/>
          </a:p>
        </p:txBody>
      </p:sp>
      <p:sp>
        <p:nvSpPr>
          <p:cNvPr id="48" name="TextBox 47"/>
          <p:cNvSpPr txBox="1"/>
          <p:nvPr/>
        </p:nvSpPr>
        <p:spPr>
          <a:xfrm>
            <a:off x="557784" y="2286000"/>
            <a:ext cx="2331720" cy="256032"/>
          </a:xfrm>
          <a:prstGeom prst="rect">
            <a:avLst/>
          </a:prstGeom>
          <a:noFill/>
        </p:spPr>
        <p:txBody>
          <a:bodyPr wrap="square" lIns="0" tIns="0" rIns="0" bIns="0" anchor="t">
            <a:noAutofit/>
          </a:bodyPr>
          <a:lstStyle/>
          <a:p>
            <a:pPr algn="l">
              <a:spcAft>
                <a:spcPts val="0"/>
              </a:spcAft>
            </a:pPr>
            <a:r>
              <a:rPr sz="1050" b="1" i="0" spc="50">
                <a:solidFill>
                  <a:srgbClr val="D31145"/>
                </a:solidFill>
                <a:latin typeface="Arial"/>
              </a:rPr>
              <a:t>PHASE 0   </a:t>
            </a:r>
            <a:r>
              <a:rPr sz="1050" b="0" i="0" spc="50">
                <a:solidFill>
                  <a:srgbClr val="5F6770"/>
                </a:solidFill>
                <a:latin typeface="Arial"/>
              </a:rPr>
              <a:t>Month 1</a:t>
            </a:r>
          </a:p>
        </p:txBody>
      </p:sp>
      <p:sp>
        <p:nvSpPr>
          <p:cNvPr id="49" name="TextBox 48"/>
          <p:cNvSpPr txBox="1"/>
          <p:nvPr/>
        </p:nvSpPr>
        <p:spPr>
          <a:xfrm>
            <a:off x="557784" y="2578608"/>
            <a:ext cx="2331720" cy="365760"/>
          </a:xfrm>
          <a:prstGeom prst="rect">
            <a:avLst/>
          </a:prstGeom>
          <a:noFill/>
        </p:spPr>
        <p:txBody>
          <a:bodyPr wrap="square" lIns="0" tIns="0" rIns="0" bIns="0" anchor="t">
            <a:noAutofit/>
          </a:bodyPr>
          <a:lstStyle/>
          <a:p>
            <a:pPr algn="l">
              <a:spcAft>
                <a:spcPts val="0"/>
              </a:spcAft>
            </a:pPr>
            <a:r>
              <a:rPr sz="1650" b="1" i="0">
                <a:solidFill>
                  <a:srgbClr val="333D47"/>
                </a:solidFill>
                <a:latin typeface="Arial"/>
              </a:rPr>
              <a:t>Choose and baseline</a:t>
            </a:r>
          </a:p>
        </p:txBody>
      </p:sp>
      <p:sp>
        <p:nvSpPr>
          <p:cNvPr id="50" name="TextBox 49"/>
          <p:cNvSpPr txBox="1"/>
          <p:nvPr/>
        </p:nvSpPr>
        <p:spPr>
          <a:xfrm>
            <a:off x="557784" y="3017520"/>
            <a:ext cx="2331720" cy="1280160"/>
          </a:xfrm>
          <a:prstGeom prst="rect">
            <a:avLst/>
          </a:prstGeom>
          <a:noFill/>
        </p:spPr>
        <p:txBody>
          <a:bodyPr wrap="square" lIns="0" tIns="0" rIns="0" bIns="0" anchor="t">
            <a:noAutofit/>
          </a:bodyPr>
          <a:lstStyle/>
          <a:p>
            <a:pPr algn="l">
              <a:lnSpc>
                <a:spcPct val="102000"/>
              </a:lnSpc>
              <a:spcAft>
                <a:spcPts val="0"/>
              </a:spcAft>
            </a:pPr>
            <a:r>
              <a:rPr sz="1200" b="0" i="0">
                <a:solidFill>
                  <a:srgbClr val="333D47"/>
                </a:solidFill>
                <a:latin typeface="Arial"/>
              </a:rPr>
              <a:t>Pick one internal workflow on value, readiness, data sensitivity and governance. Measure today.</a:t>
            </a:r>
          </a:p>
        </p:txBody>
      </p:sp>
      <p:sp>
        <p:nvSpPr>
          <p:cNvPr id="51" name="Rounded Rectangle 50"/>
          <p:cNvSpPr/>
          <p:nvPr/>
        </p:nvSpPr>
        <p:spPr>
          <a:xfrm>
            <a:off x="3282696" y="2103120"/>
            <a:ext cx="2697480" cy="2697480"/>
          </a:xfrm>
          <a:prstGeom prst="roundRect">
            <a:avLst>
              <a:gd name="adj" fmla="val 3389"/>
            </a:avLst>
          </a:prstGeom>
          <a:solidFill>
            <a:srgbClr val="F4F1EF"/>
          </a:solidFill>
          <a:ln>
            <a:noFill/>
          </a:ln>
        </p:spPr>
        <p:txBody>
          <a:bodyPr rtlCol="0" anchor="ctr"/>
          <a:lstStyle/>
          <a:p>
            <a:pPr algn="ctr"/>
          </a:p>
        </p:txBody>
      </p:sp>
      <p:sp>
        <p:nvSpPr>
          <p:cNvPr id="52" name="TextBox 51"/>
          <p:cNvSpPr txBox="1"/>
          <p:nvPr/>
        </p:nvSpPr>
        <p:spPr>
          <a:xfrm>
            <a:off x="3483864" y="2286000"/>
            <a:ext cx="2331720" cy="256032"/>
          </a:xfrm>
          <a:prstGeom prst="rect">
            <a:avLst/>
          </a:prstGeom>
          <a:noFill/>
        </p:spPr>
        <p:txBody>
          <a:bodyPr wrap="square" lIns="0" tIns="0" rIns="0" bIns="0" anchor="t">
            <a:noAutofit/>
          </a:bodyPr>
          <a:lstStyle/>
          <a:p>
            <a:pPr algn="l">
              <a:spcAft>
                <a:spcPts val="0"/>
              </a:spcAft>
            </a:pPr>
            <a:r>
              <a:rPr sz="1050" b="1" i="0" spc="50">
                <a:solidFill>
                  <a:srgbClr val="D31145"/>
                </a:solidFill>
                <a:latin typeface="Arial"/>
              </a:rPr>
              <a:t>PHASE 1   </a:t>
            </a:r>
            <a:r>
              <a:rPr sz="1050" b="0" i="0" spc="50">
                <a:solidFill>
                  <a:srgbClr val="5F6770"/>
                </a:solidFill>
                <a:latin typeface="Arial"/>
              </a:rPr>
              <a:t>Months 2–4</a:t>
            </a:r>
          </a:p>
        </p:txBody>
      </p:sp>
      <p:sp>
        <p:nvSpPr>
          <p:cNvPr id="53" name="TextBox 52"/>
          <p:cNvSpPr txBox="1"/>
          <p:nvPr/>
        </p:nvSpPr>
        <p:spPr>
          <a:xfrm>
            <a:off x="3483864" y="2578608"/>
            <a:ext cx="2331720" cy="365760"/>
          </a:xfrm>
          <a:prstGeom prst="rect">
            <a:avLst/>
          </a:prstGeom>
          <a:noFill/>
        </p:spPr>
        <p:txBody>
          <a:bodyPr wrap="square" lIns="0" tIns="0" rIns="0" bIns="0" anchor="t">
            <a:noAutofit/>
          </a:bodyPr>
          <a:lstStyle/>
          <a:p>
            <a:pPr algn="l">
              <a:spcAft>
                <a:spcPts val="0"/>
              </a:spcAft>
            </a:pPr>
            <a:r>
              <a:rPr sz="1650" b="1" i="0">
                <a:solidFill>
                  <a:srgbClr val="333D47"/>
                </a:solidFill>
                <a:latin typeface="Arial"/>
              </a:rPr>
              <a:t>Pilot one workflow</a:t>
            </a:r>
          </a:p>
        </p:txBody>
      </p:sp>
      <p:sp>
        <p:nvSpPr>
          <p:cNvPr id="54" name="TextBox 53"/>
          <p:cNvSpPr txBox="1"/>
          <p:nvPr/>
        </p:nvSpPr>
        <p:spPr>
          <a:xfrm>
            <a:off x="3483864" y="3017520"/>
            <a:ext cx="2331720" cy="1280160"/>
          </a:xfrm>
          <a:prstGeom prst="rect">
            <a:avLst/>
          </a:prstGeom>
          <a:noFill/>
        </p:spPr>
        <p:txBody>
          <a:bodyPr wrap="square" lIns="0" tIns="0" rIns="0" bIns="0" anchor="t">
            <a:noAutofit/>
          </a:bodyPr>
          <a:lstStyle/>
          <a:p>
            <a:pPr algn="l">
              <a:lnSpc>
                <a:spcPct val="102000"/>
              </a:lnSpc>
              <a:spcAft>
                <a:spcPts val="0"/>
              </a:spcAft>
            </a:pPr>
            <a:r>
              <a:rPr sz="1200" b="0" i="0">
                <a:solidFill>
                  <a:srgbClr val="333D47"/>
                </a:solidFill>
                <a:latin typeface="Arial"/>
              </a:rPr>
              <a:t>One team. One back-office workflow. Minimum capabilities. Approval before final action.</a:t>
            </a:r>
          </a:p>
        </p:txBody>
      </p:sp>
      <p:cxnSp>
        <p:nvCxnSpPr>
          <p:cNvPr id="55" name="Connector 54"/>
          <p:cNvCxnSpPr/>
          <p:nvPr/>
        </p:nvCxnSpPr>
        <p:spPr>
          <a:xfrm>
            <a:off x="3483864" y="4114800"/>
            <a:ext cx="2295144" cy="0"/>
          </a:xfrm>
          <a:prstGeom prst="line">
            <a:avLst/>
          </a:prstGeom>
          <a:ln w="9525">
            <a:solidFill>
              <a:srgbClr val="DDD6D0"/>
            </a:solidFill>
          </a:ln>
        </p:spPr>
      </p:cxnSp>
      <p:sp>
        <p:nvSpPr>
          <p:cNvPr id="56" name="Diamond 55"/>
          <p:cNvSpPr/>
          <p:nvPr/>
        </p:nvSpPr>
        <p:spPr>
          <a:xfrm>
            <a:off x="3502152" y="4279392"/>
            <a:ext cx="100584" cy="100584"/>
          </a:xfrm>
          <a:prstGeom prst="diamond">
            <a:avLst/>
          </a:prstGeom>
          <a:solidFill>
            <a:srgbClr val="D31145"/>
          </a:solidFill>
          <a:ln>
            <a:noFill/>
          </a:ln>
        </p:spPr>
        <p:txBody>
          <a:bodyPr rtlCol="0" anchor="ctr"/>
          <a:lstStyle/>
          <a:p>
            <a:pPr algn="ctr"/>
          </a:p>
        </p:txBody>
      </p:sp>
      <p:sp>
        <p:nvSpPr>
          <p:cNvPr id="57" name="TextBox 56"/>
          <p:cNvSpPr txBox="1"/>
          <p:nvPr/>
        </p:nvSpPr>
        <p:spPr>
          <a:xfrm>
            <a:off x="3694176" y="4160520"/>
            <a:ext cx="2130552" cy="594360"/>
          </a:xfrm>
          <a:prstGeom prst="rect">
            <a:avLst/>
          </a:prstGeom>
          <a:noFill/>
        </p:spPr>
        <p:txBody>
          <a:bodyPr wrap="square" lIns="0" tIns="0" rIns="0" bIns="0" anchor="t">
            <a:noAutofit/>
          </a:bodyPr>
          <a:lstStyle/>
          <a:p>
            <a:pPr algn="l">
              <a:lnSpc>
                <a:spcPct val="100000"/>
              </a:lnSpc>
              <a:spcAft>
                <a:spcPts val="0"/>
              </a:spcAft>
            </a:pPr>
            <a:r>
              <a:rPr sz="1000" b="1" i="0">
                <a:solidFill>
                  <a:srgbClr val="333D47"/>
                </a:solidFill>
                <a:latin typeface="Arial"/>
              </a:rPr>
              <a:t>GO / NO-GO  </a:t>
            </a:r>
            <a:r>
              <a:rPr sz="1000" b="0" i="0">
                <a:solidFill>
                  <a:srgbClr val="333D47"/>
                </a:solidFill>
                <a:latin typeface="Arial"/>
              </a:rPr>
              <a:t>Effort down, quality held, usage sustained</a:t>
            </a:r>
          </a:p>
        </p:txBody>
      </p:sp>
      <p:sp>
        <p:nvSpPr>
          <p:cNvPr id="58" name="Rounded Rectangle 57"/>
          <p:cNvSpPr/>
          <p:nvPr/>
        </p:nvSpPr>
        <p:spPr>
          <a:xfrm>
            <a:off x="6208776" y="2103120"/>
            <a:ext cx="2697480" cy="2697480"/>
          </a:xfrm>
          <a:prstGeom prst="roundRect">
            <a:avLst>
              <a:gd name="adj" fmla="val 3389"/>
            </a:avLst>
          </a:prstGeom>
          <a:solidFill>
            <a:srgbClr val="D31145"/>
          </a:solidFill>
          <a:ln>
            <a:noFill/>
          </a:ln>
        </p:spPr>
        <p:txBody>
          <a:bodyPr rtlCol="0" anchor="ctr"/>
          <a:lstStyle/>
          <a:p>
            <a:pPr algn="ctr"/>
          </a:p>
        </p:txBody>
      </p:sp>
      <p:sp>
        <p:nvSpPr>
          <p:cNvPr id="59" name="TextBox 58"/>
          <p:cNvSpPr txBox="1"/>
          <p:nvPr/>
        </p:nvSpPr>
        <p:spPr>
          <a:xfrm>
            <a:off x="6409944" y="2286000"/>
            <a:ext cx="2331720" cy="256032"/>
          </a:xfrm>
          <a:prstGeom prst="rect">
            <a:avLst/>
          </a:prstGeom>
          <a:noFill/>
        </p:spPr>
        <p:txBody>
          <a:bodyPr wrap="square" lIns="0" tIns="0" rIns="0" bIns="0" anchor="t">
            <a:noAutofit/>
          </a:bodyPr>
          <a:lstStyle/>
          <a:p>
            <a:pPr algn="l">
              <a:spcAft>
                <a:spcPts val="0"/>
              </a:spcAft>
            </a:pPr>
            <a:r>
              <a:rPr sz="1050" b="1" i="0" spc="50">
                <a:solidFill>
                  <a:srgbClr val="FFFFFF"/>
                </a:solidFill>
                <a:latin typeface="Arial"/>
              </a:rPr>
              <a:t>PHASE 2   </a:t>
            </a:r>
            <a:r>
              <a:rPr sz="1050" b="0" i="0" spc="50">
                <a:solidFill>
                  <a:srgbClr val="FFFFFF"/>
                </a:solidFill>
                <a:latin typeface="Arial"/>
              </a:rPr>
              <a:t>Months 5–7</a:t>
            </a:r>
          </a:p>
        </p:txBody>
      </p:sp>
      <p:sp>
        <p:nvSpPr>
          <p:cNvPr id="60" name="TextBox 59"/>
          <p:cNvSpPr txBox="1"/>
          <p:nvPr/>
        </p:nvSpPr>
        <p:spPr>
          <a:xfrm>
            <a:off x="6409944" y="2578608"/>
            <a:ext cx="2331720" cy="365760"/>
          </a:xfrm>
          <a:prstGeom prst="rect">
            <a:avLst/>
          </a:prstGeom>
          <a:noFill/>
        </p:spPr>
        <p:txBody>
          <a:bodyPr wrap="square" lIns="0" tIns="0" rIns="0" bIns="0" anchor="t">
            <a:noAutofit/>
          </a:bodyPr>
          <a:lstStyle/>
          <a:p>
            <a:pPr algn="l">
              <a:spcAft>
                <a:spcPts val="0"/>
              </a:spcAft>
            </a:pPr>
            <a:r>
              <a:rPr sz="1650" b="1" i="0">
                <a:solidFill>
                  <a:srgbClr val="FFFFFF"/>
                </a:solidFill>
                <a:latin typeface="Arial"/>
              </a:rPr>
              <a:t>Test the principle</a:t>
            </a:r>
          </a:p>
        </p:txBody>
      </p:sp>
      <p:sp>
        <p:nvSpPr>
          <p:cNvPr id="61" name="TextBox 60"/>
          <p:cNvSpPr txBox="1"/>
          <p:nvPr/>
        </p:nvSpPr>
        <p:spPr>
          <a:xfrm>
            <a:off x="6409944" y="3017520"/>
            <a:ext cx="2331720" cy="1280160"/>
          </a:xfrm>
          <a:prstGeom prst="rect">
            <a:avLst/>
          </a:prstGeom>
          <a:noFill/>
        </p:spPr>
        <p:txBody>
          <a:bodyPr wrap="square" lIns="0" tIns="0" rIns="0" bIns="0" anchor="t">
            <a:noAutofit/>
          </a:bodyPr>
          <a:lstStyle/>
          <a:p>
            <a:pPr algn="l">
              <a:lnSpc>
                <a:spcPct val="102000"/>
              </a:lnSpc>
              <a:spcAft>
                <a:spcPts val="0"/>
              </a:spcAft>
            </a:pPr>
            <a:r>
              <a:rPr sz="1200" b="1" i="1">
                <a:solidFill>
                  <a:srgbClr val="FFFFFF"/>
                </a:solidFill>
                <a:latin typeface="Arial"/>
              </a:rPr>
              <a:t>Can AIA add another approved capability underneath Riley without employees learning another tool?</a:t>
            </a:r>
          </a:p>
        </p:txBody>
      </p:sp>
      <p:cxnSp>
        <p:nvCxnSpPr>
          <p:cNvPr id="62" name="Connector 61"/>
          <p:cNvCxnSpPr/>
          <p:nvPr/>
        </p:nvCxnSpPr>
        <p:spPr>
          <a:xfrm>
            <a:off x="6409944" y="4114800"/>
            <a:ext cx="2295144" cy="0"/>
          </a:xfrm>
          <a:prstGeom prst="line">
            <a:avLst/>
          </a:prstGeom>
          <a:ln w="9525">
            <a:solidFill>
              <a:srgbClr val="FFFFFF"/>
            </a:solidFill>
          </a:ln>
        </p:spPr>
      </p:cxnSp>
      <p:sp>
        <p:nvSpPr>
          <p:cNvPr id="63" name="Diamond 62"/>
          <p:cNvSpPr/>
          <p:nvPr/>
        </p:nvSpPr>
        <p:spPr>
          <a:xfrm>
            <a:off x="6428232" y="4279392"/>
            <a:ext cx="100584" cy="100584"/>
          </a:xfrm>
          <a:prstGeom prst="diamond">
            <a:avLst/>
          </a:prstGeom>
          <a:solidFill>
            <a:srgbClr val="FFFFFF"/>
          </a:solidFill>
          <a:ln>
            <a:noFill/>
          </a:ln>
        </p:spPr>
        <p:txBody>
          <a:bodyPr rtlCol="0" anchor="ctr"/>
          <a:lstStyle/>
          <a:p>
            <a:pPr algn="ctr"/>
          </a:p>
        </p:txBody>
      </p:sp>
      <p:sp>
        <p:nvSpPr>
          <p:cNvPr id="64" name="TextBox 63"/>
          <p:cNvSpPr txBox="1"/>
          <p:nvPr/>
        </p:nvSpPr>
        <p:spPr>
          <a:xfrm>
            <a:off x="6620256" y="4160520"/>
            <a:ext cx="2130552" cy="594360"/>
          </a:xfrm>
          <a:prstGeom prst="rect">
            <a:avLst/>
          </a:prstGeom>
          <a:noFill/>
        </p:spPr>
        <p:txBody>
          <a:bodyPr wrap="square" lIns="0" tIns="0" rIns="0" bIns="0" anchor="t">
            <a:noAutofit/>
          </a:bodyPr>
          <a:lstStyle/>
          <a:p>
            <a:pPr algn="l">
              <a:lnSpc>
                <a:spcPct val="100000"/>
              </a:lnSpc>
              <a:spcAft>
                <a:spcPts val="0"/>
              </a:spcAft>
            </a:pPr>
            <a:r>
              <a:rPr sz="1000" b="1" i="0">
                <a:solidFill>
                  <a:srgbClr val="FFFFFF"/>
                </a:solidFill>
                <a:latin typeface="Arial"/>
              </a:rPr>
              <a:t>GO / NO-GO  </a:t>
            </a:r>
            <a:r>
              <a:rPr sz="1000" b="0" i="0">
                <a:solidFill>
                  <a:srgbClr val="FFFFFF"/>
                </a:solidFill>
                <a:latin typeface="Arial"/>
              </a:rPr>
              <a:t>No new tool; results hold across two workflows</a:t>
            </a:r>
          </a:p>
        </p:txBody>
      </p:sp>
      <p:sp>
        <p:nvSpPr>
          <p:cNvPr id="65" name="Rounded Rectangle 64"/>
          <p:cNvSpPr/>
          <p:nvPr/>
        </p:nvSpPr>
        <p:spPr>
          <a:xfrm>
            <a:off x="6409944" y="1965960"/>
            <a:ext cx="1629221" cy="237744"/>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850" b="1" i="0" spc="60">
                <a:solidFill>
                  <a:srgbClr val="D31145"/>
                </a:solidFill>
                <a:latin typeface="Arial"/>
              </a:rPr>
              <a:t>THE PRINCIPLE TEST</a:t>
            </a:r>
          </a:p>
        </p:txBody>
      </p:sp>
      <p:sp>
        <p:nvSpPr>
          <p:cNvPr id="66" name="Rounded Rectangle 65"/>
          <p:cNvSpPr/>
          <p:nvPr/>
        </p:nvSpPr>
        <p:spPr>
          <a:xfrm>
            <a:off x="9134856" y="2103120"/>
            <a:ext cx="2697480" cy="2697480"/>
          </a:xfrm>
          <a:prstGeom prst="roundRect">
            <a:avLst>
              <a:gd name="adj" fmla="val 3389"/>
            </a:avLst>
          </a:prstGeom>
          <a:solidFill>
            <a:srgbClr val="F4F1EF"/>
          </a:solidFill>
          <a:ln>
            <a:noFill/>
          </a:ln>
        </p:spPr>
        <p:txBody>
          <a:bodyPr rtlCol="0" anchor="ctr"/>
          <a:lstStyle/>
          <a:p>
            <a:pPr algn="ctr"/>
          </a:p>
        </p:txBody>
      </p:sp>
      <p:sp>
        <p:nvSpPr>
          <p:cNvPr id="67" name="TextBox 66"/>
          <p:cNvSpPr txBox="1"/>
          <p:nvPr/>
        </p:nvSpPr>
        <p:spPr>
          <a:xfrm>
            <a:off x="9336024" y="2286000"/>
            <a:ext cx="2331720" cy="256032"/>
          </a:xfrm>
          <a:prstGeom prst="rect">
            <a:avLst/>
          </a:prstGeom>
          <a:noFill/>
        </p:spPr>
        <p:txBody>
          <a:bodyPr wrap="square" lIns="0" tIns="0" rIns="0" bIns="0" anchor="t">
            <a:noAutofit/>
          </a:bodyPr>
          <a:lstStyle/>
          <a:p>
            <a:pPr algn="l">
              <a:spcAft>
                <a:spcPts val="0"/>
              </a:spcAft>
            </a:pPr>
            <a:r>
              <a:rPr sz="1050" b="1" i="0" spc="50">
                <a:solidFill>
                  <a:srgbClr val="D31145"/>
                </a:solidFill>
                <a:latin typeface="Arial"/>
              </a:rPr>
              <a:t>PHASE 3   </a:t>
            </a:r>
            <a:r>
              <a:rPr sz="1050" b="0" i="0" spc="50">
                <a:solidFill>
                  <a:srgbClr val="5F6770"/>
                </a:solidFill>
                <a:latin typeface="Arial"/>
              </a:rPr>
              <a:t>Months 8–12</a:t>
            </a:r>
          </a:p>
        </p:txBody>
      </p:sp>
      <p:sp>
        <p:nvSpPr>
          <p:cNvPr id="68" name="TextBox 67"/>
          <p:cNvSpPr txBox="1"/>
          <p:nvPr/>
        </p:nvSpPr>
        <p:spPr>
          <a:xfrm>
            <a:off x="9336024" y="2578608"/>
            <a:ext cx="2331720" cy="365760"/>
          </a:xfrm>
          <a:prstGeom prst="rect">
            <a:avLst/>
          </a:prstGeom>
          <a:noFill/>
        </p:spPr>
        <p:txBody>
          <a:bodyPr wrap="square" lIns="0" tIns="0" rIns="0" bIns="0" anchor="t">
            <a:noAutofit/>
          </a:bodyPr>
          <a:lstStyle/>
          <a:p>
            <a:pPr algn="l">
              <a:spcAft>
                <a:spcPts val="0"/>
              </a:spcAft>
            </a:pPr>
            <a:r>
              <a:rPr sz="1650" b="1" i="0">
                <a:solidFill>
                  <a:srgbClr val="333D47"/>
                </a:solidFill>
                <a:latin typeface="Arial"/>
              </a:rPr>
              <a:t>Scale on evidence</a:t>
            </a:r>
          </a:p>
        </p:txBody>
      </p:sp>
      <p:sp>
        <p:nvSpPr>
          <p:cNvPr id="69" name="TextBox 68"/>
          <p:cNvSpPr txBox="1"/>
          <p:nvPr/>
        </p:nvSpPr>
        <p:spPr>
          <a:xfrm>
            <a:off x="9336024" y="3017520"/>
            <a:ext cx="2331720" cy="1280160"/>
          </a:xfrm>
          <a:prstGeom prst="rect">
            <a:avLst/>
          </a:prstGeom>
          <a:noFill/>
        </p:spPr>
        <p:txBody>
          <a:bodyPr wrap="square" lIns="0" tIns="0" rIns="0" bIns="0" anchor="t">
            <a:noAutofit/>
          </a:bodyPr>
          <a:lstStyle/>
          <a:p>
            <a:pPr algn="l">
              <a:lnSpc>
                <a:spcPct val="102000"/>
              </a:lnSpc>
              <a:spcAft>
                <a:spcPts val="0"/>
              </a:spcAft>
            </a:pPr>
            <a:r>
              <a:rPr sz="1200" b="0" i="0">
                <a:solidFill>
                  <a:srgbClr val="333D47"/>
                </a:solidFill>
                <a:latin typeface="Arial"/>
              </a:rPr>
              <a:t>More back-office teams and capabilities. Measured data replaces the scenario. Scope one front-office use case.</a:t>
            </a:r>
          </a:p>
        </p:txBody>
      </p:sp>
      <p:sp>
        <p:nvSpPr>
          <p:cNvPr id="70" name="Rounded Rectangle 69"/>
          <p:cNvSpPr/>
          <p:nvPr/>
        </p:nvSpPr>
        <p:spPr>
          <a:xfrm>
            <a:off x="356616" y="5029200"/>
            <a:ext cx="5623560" cy="566928"/>
          </a:xfrm>
          <a:prstGeom prst="roundRect">
            <a:avLst>
              <a:gd name="adj" fmla="val 12903"/>
            </a:avLst>
          </a:prstGeom>
          <a:solidFill>
            <a:srgbClr val="FFFFFF"/>
          </a:solidFill>
          <a:ln w="9525">
            <a:solidFill>
              <a:srgbClr val="DDD6D0"/>
            </a:solidFill>
          </a:ln>
        </p:spPr>
        <p:txBody>
          <a:bodyPr rtlCol="0" anchor="ctr"/>
          <a:lstStyle/>
          <a:p>
            <a:pPr algn="ctr"/>
          </a:p>
        </p:txBody>
      </p:sp>
      <p:pic>
        <p:nvPicPr>
          <p:cNvPr id="71" name="Picture 70" descr="image.png"/>
          <p:cNvPicPr>
            <a:picLocks noChangeAspect="1"/>
          </p:cNvPicPr>
          <p:nvPr/>
        </p:nvPicPr>
        <p:blipFill>
          <a:blip r:embed="rId3"/>
          <a:stretch>
            <a:fillRect/>
          </a:stretch>
        </p:blipFill>
        <p:spPr>
          <a:xfrm>
            <a:off x="502920" y="5166360"/>
            <a:ext cx="292608" cy="292608"/>
          </a:xfrm>
          <a:prstGeom prst="rect">
            <a:avLst/>
          </a:prstGeom>
        </p:spPr>
      </p:pic>
      <p:sp>
        <p:nvSpPr>
          <p:cNvPr id="72" name="TextBox 71"/>
          <p:cNvSpPr txBox="1"/>
          <p:nvPr/>
        </p:nvSpPr>
        <p:spPr>
          <a:xfrm>
            <a:off x="914400" y="5029200"/>
            <a:ext cx="4983480" cy="566928"/>
          </a:xfrm>
          <a:prstGeom prst="rect">
            <a:avLst/>
          </a:prstGeom>
          <a:noFill/>
        </p:spPr>
        <p:txBody>
          <a:bodyPr wrap="square" lIns="0" tIns="0" rIns="0" bIns="0" anchor="ctr">
            <a:noAutofit/>
          </a:bodyPr>
          <a:lstStyle/>
          <a:p>
            <a:pPr algn="l">
              <a:spcAft>
                <a:spcPts val="0"/>
              </a:spcAft>
            </a:pPr>
            <a:r>
              <a:rPr sz="1100" b="1" i="0">
                <a:solidFill>
                  <a:srgbClr val="333D47"/>
                </a:solidFill>
                <a:latin typeface="Arial"/>
              </a:rPr>
              <a:t>Front office is not in Phase 1 or 2. </a:t>
            </a:r>
            <a:r>
              <a:rPr sz="1100" b="0" i="0">
                <a:solidFill>
                  <a:srgbClr val="333D47"/>
                </a:solidFill>
                <a:latin typeface="Arial"/>
              </a:rPr>
              <a:t>Phase 3 scopes one use case; it does not deploy one.</a:t>
            </a:r>
          </a:p>
        </p:txBody>
      </p:sp>
      <p:sp>
        <p:nvSpPr>
          <p:cNvPr id="73" name="Rounded Rectangle 72"/>
          <p:cNvSpPr/>
          <p:nvPr/>
        </p:nvSpPr>
        <p:spPr>
          <a:xfrm>
            <a:off x="6208776" y="5029200"/>
            <a:ext cx="5623560" cy="566928"/>
          </a:xfrm>
          <a:prstGeom prst="roundRect">
            <a:avLst>
              <a:gd name="adj" fmla="val 12903"/>
            </a:avLst>
          </a:prstGeom>
          <a:solidFill>
            <a:srgbClr val="FFFFFF"/>
          </a:solidFill>
          <a:ln w="9525">
            <a:solidFill>
              <a:srgbClr val="DDD6D0"/>
            </a:solidFill>
          </a:ln>
        </p:spPr>
        <p:txBody>
          <a:bodyPr rtlCol="0" anchor="ctr"/>
          <a:lstStyle/>
          <a:p>
            <a:pPr algn="ctr"/>
          </a:p>
        </p:txBody>
      </p:sp>
      <p:pic>
        <p:nvPicPr>
          <p:cNvPr id="74" name="Picture 73" descr="image.png"/>
          <p:cNvPicPr>
            <a:picLocks noChangeAspect="1"/>
          </p:cNvPicPr>
          <p:nvPr/>
        </p:nvPicPr>
        <p:blipFill>
          <a:blip r:embed="rId4"/>
          <a:stretch>
            <a:fillRect/>
          </a:stretch>
        </p:blipFill>
        <p:spPr>
          <a:xfrm>
            <a:off x="6355080" y="5166360"/>
            <a:ext cx="292608" cy="292608"/>
          </a:xfrm>
          <a:prstGeom prst="rect">
            <a:avLst/>
          </a:prstGeom>
        </p:spPr>
      </p:pic>
      <p:sp>
        <p:nvSpPr>
          <p:cNvPr id="75" name="TextBox 74"/>
          <p:cNvSpPr txBox="1"/>
          <p:nvPr/>
        </p:nvSpPr>
        <p:spPr>
          <a:xfrm>
            <a:off x="6766560" y="5029200"/>
            <a:ext cx="4983480" cy="566928"/>
          </a:xfrm>
          <a:prstGeom prst="rect">
            <a:avLst/>
          </a:prstGeom>
          <a:noFill/>
        </p:spPr>
        <p:txBody>
          <a:bodyPr wrap="square" lIns="0" tIns="0" rIns="0" bIns="0" anchor="ctr">
            <a:noAutofit/>
          </a:bodyPr>
          <a:lstStyle/>
          <a:p>
            <a:pPr algn="l">
              <a:spcAft>
                <a:spcPts val="0"/>
              </a:spcAft>
            </a:pPr>
            <a:r>
              <a:rPr sz="1100" b="1" i="0">
                <a:solidFill>
                  <a:srgbClr val="D31145"/>
                </a:solidFill>
                <a:latin typeface="Arial"/>
              </a:rPr>
              <a:t>If Phase 2’s capability can’t be connected: </a:t>
            </a:r>
            <a:r>
              <a:rPr sz="1100" b="0" i="0">
                <a:solidFill>
                  <a:srgbClr val="333D47"/>
                </a:solidFill>
                <a:latin typeface="Arial"/>
              </a:rPr>
              <a:t>choose another approved capability and record why.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The capabilities grow. The experience stays simple.</a:t>
            </a:r>
          </a:p>
        </p:txBody>
      </p:sp>
      <p:sp>
        <p:nvSpPr>
          <p:cNvPr id="30" name="Slide Number Placeholder"/>
          <p:cNvSpPr>
            <a:spLocks noGrp="1"/>
          </p:cNvSpPr>
          <p:nvPr>
            <p:ph type="sldNum" sz="quarter" idx="4"/>
          </p:nvPr>
        </p:nvSpPr>
        <p:spPr/>
        <p:txBody>
          <a:bodyPr/>
          <a:lstStyle/>
          <a:p>
            <a:fld id="{18A41853-EF22-D446-BDBC-A7CF3FE93503}" type="slidenum">
              <a:rPr lang="en-US"/>
              <a:t>9</a:t>
            </a:fld>
            <a:endParaRPr lang="en-US" dirty="0"/>
          </a:p>
        </p:txBody>
      </p:sp>
      <p:sp>
        <p:nvSpPr>
          <p:cNvPr id="31" name="TextBox 30"/>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SCALABILITY  ·  INNOVATION FOR ENDURING VALUE</a:t>
            </a:r>
          </a:p>
        </p:txBody>
      </p:sp>
      <p:sp>
        <p:nvSpPr>
          <p:cNvPr id="32" name="TextBox 31"/>
          <p:cNvSpPr txBox="1"/>
          <p:nvPr/>
        </p:nvSpPr>
        <p:spPr>
          <a:xfrm>
            <a:off x="356616" y="1024128"/>
            <a:ext cx="1115568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Riley grows underneath and outward. What people experience does not get harder.</a:t>
            </a:r>
          </a:p>
        </p:txBody>
      </p:sp>
      <p:sp>
        <p:nvSpPr>
          <p:cNvPr id="33" name="Rounded Rectangle 32"/>
          <p:cNvSpPr/>
          <p:nvPr/>
        </p:nvSpPr>
        <p:spPr>
          <a:xfrm>
            <a:off x="356616" y="1600200"/>
            <a:ext cx="2148840" cy="2240280"/>
          </a:xfrm>
          <a:prstGeom prst="roundRect">
            <a:avLst>
              <a:gd name="adj" fmla="val 4255"/>
            </a:avLst>
          </a:prstGeom>
          <a:solidFill>
            <a:srgbClr val="F4F1EF"/>
          </a:solidFill>
          <a:ln>
            <a:noFill/>
          </a:ln>
        </p:spPr>
        <p:txBody>
          <a:bodyPr rtlCol="0" anchor="ctr"/>
          <a:lstStyle/>
          <a:p>
            <a:pPr algn="ctr"/>
          </a:p>
        </p:txBody>
      </p:sp>
      <p:sp>
        <p:nvSpPr>
          <p:cNvPr id="34" name="Oval 33"/>
          <p:cNvSpPr/>
          <p:nvPr/>
        </p:nvSpPr>
        <p:spPr>
          <a:xfrm>
            <a:off x="539496" y="1801368"/>
            <a:ext cx="457200" cy="457200"/>
          </a:xfrm>
          <a:prstGeom prst="ellipse">
            <a:avLst/>
          </a:prstGeom>
          <a:solidFill>
            <a:srgbClr val="D31145"/>
          </a:solidFill>
          <a:ln>
            <a:noFill/>
          </a:ln>
        </p:spPr>
        <p:txBody>
          <a:bodyPr rtlCol="0" anchor="ctr"/>
          <a:lstStyle/>
          <a:p>
            <a:pPr algn="ctr"/>
          </a:p>
        </p:txBody>
      </p:sp>
      <p:pic>
        <p:nvPicPr>
          <p:cNvPr id="35" name="Picture 34" descr="image.png"/>
          <p:cNvPicPr>
            <a:picLocks noChangeAspect="1"/>
          </p:cNvPicPr>
          <p:nvPr/>
        </p:nvPicPr>
        <p:blipFill>
          <a:blip r:embed="rId3"/>
          <a:stretch>
            <a:fillRect/>
          </a:stretch>
        </p:blipFill>
        <p:spPr>
          <a:xfrm>
            <a:off x="644652" y="1906524"/>
            <a:ext cx="246888" cy="246888"/>
          </a:xfrm>
          <a:prstGeom prst="rect">
            <a:avLst/>
          </a:prstGeom>
        </p:spPr>
      </p:pic>
      <p:sp>
        <p:nvSpPr>
          <p:cNvPr id="36" name="TextBox 35"/>
          <p:cNvSpPr txBox="1"/>
          <p:nvPr/>
        </p:nvSpPr>
        <p:spPr>
          <a:xfrm>
            <a:off x="539496" y="2377440"/>
            <a:ext cx="1828800" cy="548640"/>
          </a:xfrm>
          <a:prstGeom prst="rect">
            <a:avLst/>
          </a:prstGeom>
          <a:noFill/>
        </p:spPr>
        <p:txBody>
          <a:bodyPr wrap="square" lIns="0" tIns="0" rIns="0" bIns="0" anchor="t">
            <a:noAutofit/>
          </a:bodyPr>
          <a:lstStyle/>
          <a:p>
            <a:pPr algn="l">
              <a:lnSpc>
                <a:spcPct val="95000"/>
              </a:lnSpc>
              <a:spcAft>
                <a:spcPts val="0"/>
              </a:spcAft>
            </a:pPr>
            <a:r>
              <a:rPr sz="1450" b="1" i="0">
                <a:solidFill>
                  <a:srgbClr val="333D47"/>
                </a:solidFill>
                <a:latin typeface="Arial"/>
              </a:rPr>
              <a:t>More employees</a:t>
            </a:r>
          </a:p>
        </p:txBody>
      </p:sp>
      <p:sp>
        <p:nvSpPr>
          <p:cNvPr id="37" name="TextBox 36"/>
          <p:cNvSpPr txBox="1"/>
          <p:nvPr/>
        </p:nvSpPr>
        <p:spPr>
          <a:xfrm>
            <a:off x="539496" y="2898648"/>
            <a:ext cx="1828800" cy="868680"/>
          </a:xfrm>
          <a:prstGeom prst="rect">
            <a:avLst/>
          </a:prstGeom>
          <a:noFill/>
        </p:spPr>
        <p:txBody>
          <a:bodyPr wrap="square" lIns="0" tIns="0" rIns="0" bIns="0" anchor="t">
            <a:noAutofit/>
          </a:bodyPr>
          <a:lstStyle/>
          <a:p>
            <a:pPr algn="l">
              <a:lnSpc>
                <a:spcPct val="100000"/>
              </a:lnSpc>
              <a:spcAft>
                <a:spcPts val="0"/>
              </a:spcAft>
            </a:pPr>
            <a:r>
              <a:rPr sz="1100" b="0" i="0">
                <a:solidFill>
                  <a:srgbClr val="5F6770"/>
                </a:solidFill>
                <a:latin typeface="Arial"/>
              </a:rPr>
              <a:t>From one pilot team to back-office teams across many functions.</a:t>
            </a:r>
          </a:p>
        </p:txBody>
      </p:sp>
      <p:sp>
        <p:nvSpPr>
          <p:cNvPr id="38" name="Rounded Rectangle 37"/>
          <p:cNvSpPr/>
          <p:nvPr/>
        </p:nvSpPr>
        <p:spPr>
          <a:xfrm>
            <a:off x="2688336" y="1600200"/>
            <a:ext cx="2148840" cy="2240280"/>
          </a:xfrm>
          <a:prstGeom prst="roundRect">
            <a:avLst>
              <a:gd name="adj" fmla="val 4255"/>
            </a:avLst>
          </a:prstGeom>
          <a:solidFill>
            <a:srgbClr val="F4F1EF"/>
          </a:solidFill>
          <a:ln>
            <a:noFill/>
          </a:ln>
        </p:spPr>
        <p:txBody>
          <a:bodyPr rtlCol="0" anchor="ctr"/>
          <a:lstStyle/>
          <a:p>
            <a:pPr algn="ctr"/>
          </a:p>
        </p:txBody>
      </p:sp>
      <p:sp>
        <p:nvSpPr>
          <p:cNvPr id="39" name="Oval 38"/>
          <p:cNvSpPr/>
          <p:nvPr/>
        </p:nvSpPr>
        <p:spPr>
          <a:xfrm>
            <a:off x="2871216" y="1801368"/>
            <a:ext cx="457200" cy="457200"/>
          </a:xfrm>
          <a:prstGeom prst="ellipse">
            <a:avLst/>
          </a:prstGeom>
          <a:solidFill>
            <a:srgbClr val="D31145"/>
          </a:solidFill>
          <a:ln>
            <a:noFill/>
          </a:ln>
        </p:spPr>
        <p:txBody>
          <a:bodyPr rtlCol="0" anchor="ctr"/>
          <a:lstStyle/>
          <a:p>
            <a:pPr algn="ctr"/>
          </a:p>
        </p:txBody>
      </p:sp>
      <p:pic>
        <p:nvPicPr>
          <p:cNvPr id="40" name="Picture 39" descr="LuHandshake_w.png"/>
          <p:cNvPicPr>
            <a:picLocks noChangeAspect="1"/>
          </p:cNvPicPr>
          <p:nvPr/>
        </p:nvPicPr>
        <p:blipFill>
          <a:blip r:embed="rId8"/>
          <a:stretch>
            <a:fillRect/>
          </a:stretch>
        </p:blipFill>
        <p:spPr>
          <a:xfrm>
            <a:off x="2976372" y="1906524"/>
            <a:ext cx="246888" cy="246888"/>
          </a:xfrm>
          <a:prstGeom prst="rect">
            <a:avLst/>
          </a:prstGeom>
        </p:spPr>
      </p:pic>
      <p:sp>
        <p:nvSpPr>
          <p:cNvPr id="41" name="TextBox 40"/>
          <p:cNvSpPr txBox="1"/>
          <p:nvPr/>
        </p:nvSpPr>
        <p:spPr>
          <a:xfrm>
            <a:off x="2871216" y="2377440"/>
            <a:ext cx="1828800" cy="548640"/>
          </a:xfrm>
          <a:prstGeom prst="rect">
            <a:avLst/>
          </a:prstGeom>
          <a:noFill/>
        </p:spPr>
        <p:txBody>
          <a:bodyPr wrap="square" lIns="0" tIns="0" rIns="0" bIns="0" anchor="t">
            <a:noAutofit/>
          </a:bodyPr>
          <a:lstStyle/>
          <a:p>
            <a:pPr algn="l">
              <a:lnSpc>
                <a:spcPct val="95000"/>
              </a:lnSpc>
              <a:spcAft>
                <a:spcPts val="0"/>
              </a:spcAft>
            </a:pPr>
            <a:r>
              <a:rPr sz="1450" b="1" i="0">
                <a:solidFill>
                  <a:srgbClr val="333D47"/>
                </a:solidFill>
                <a:latin typeface="Arial"/>
              </a:rPr>
              <a:t>More agents</a:t>
            </a:r>
          </a:p>
        </p:txBody>
      </p:sp>
      <p:sp>
        <p:nvSpPr>
          <p:cNvPr id="42" name="TextBox 41"/>
          <p:cNvSpPr txBox="1"/>
          <p:nvPr/>
        </p:nvSpPr>
        <p:spPr>
          <a:xfrm>
            <a:off x="2871216" y="2898648"/>
            <a:ext cx="1828800" cy="868680"/>
          </a:xfrm>
          <a:prstGeom prst="rect">
            <a:avLst/>
          </a:prstGeom>
          <a:noFill/>
        </p:spPr>
        <p:txBody>
          <a:bodyPr wrap="square" lIns="0" tIns="0" rIns="0" bIns="0" anchor="t">
            <a:noAutofit/>
          </a:bodyPr>
          <a:lstStyle/>
          <a:p>
            <a:pPr algn="l">
              <a:lnSpc>
                <a:spcPct val="100000"/>
              </a:lnSpc>
              <a:spcAft>
                <a:spcPts val="0"/>
              </a:spcAft>
            </a:pPr>
            <a:r>
              <a:rPr sz="1100" b="0" i="0">
                <a:solidFill>
                  <a:srgbClr val="5F6770"/>
                </a:solidFill>
                <a:latin typeface="Arial"/>
              </a:rPr>
              <a:t>Distribution users where appropriate, once front-office controls exist.</a:t>
            </a:r>
          </a:p>
        </p:txBody>
      </p:sp>
      <p:sp>
        <p:nvSpPr>
          <p:cNvPr id="43" name="Rounded Rectangle 42"/>
          <p:cNvSpPr/>
          <p:nvPr/>
        </p:nvSpPr>
        <p:spPr>
          <a:xfrm>
            <a:off x="4122687" y="1874520"/>
            <a:ext cx="577329" cy="201168"/>
          </a:xfrm>
          <a:prstGeom prst="roundRect">
            <a:avLst>
              <a:gd name="adj" fmla="val 50000"/>
            </a:avLst>
          </a:prstGeom>
          <a:noFill/>
          <a:ln w="12700">
            <a:solidFill>
              <a:srgbClr val="D31145"/>
            </a:solidFill>
          </a:ln>
        </p:spPr>
        <p:txBody>
          <a:bodyPr rtlCol="0" anchor="ctr" wrap="square" lIns="36576" tIns="36576" rIns="36576" bIns="36576">
            <a:noAutofit/>
          </a:bodyPr>
          <a:lstStyle/>
          <a:p>
            <a:pPr algn="ctr">
              <a:spcAft>
                <a:spcPts val="0"/>
              </a:spcAft>
            </a:pPr>
            <a:r>
              <a:rPr sz="750" b="1" i="0" spc="60">
                <a:solidFill>
                  <a:srgbClr val="D31145"/>
                </a:solidFill>
                <a:latin typeface="Arial"/>
              </a:rPr>
              <a:t>VISION</a:t>
            </a:r>
          </a:p>
        </p:txBody>
      </p:sp>
      <p:sp>
        <p:nvSpPr>
          <p:cNvPr id="44" name="Rounded Rectangle 43"/>
          <p:cNvSpPr/>
          <p:nvPr/>
        </p:nvSpPr>
        <p:spPr>
          <a:xfrm>
            <a:off x="5020056" y="1600200"/>
            <a:ext cx="2148840" cy="2240280"/>
          </a:xfrm>
          <a:prstGeom prst="roundRect">
            <a:avLst>
              <a:gd name="adj" fmla="val 4255"/>
            </a:avLst>
          </a:prstGeom>
          <a:solidFill>
            <a:srgbClr val="F4F1EF"/>
          </a:solidFill>
          <a:ln>
            <a:noFill/>
          </a:ln>
        </p:spPr>
        <p:txBody>
          <a:bodyPr rtlCol="0" anchor="ctr"/>
          <a:lstStyle/>
          <a:p>
            <a:pPr algn="ctr"/>
          </a:p>
        </p:txBody>
      </p:sp>
      <p:sp>
        <p:nvSpPr>
          <p:cNvPr id="45" name="Oval 44"/>
          <p:cNvSpPr/>
          <p:nvPr/>
        </p:nvSpPr>
        <p:spPr>
          <a:xfrm>
            <a:off x="5202936" y="1801368"/>
            <a:ext cx="457200" cy="457200"/>
          </a:xfrm>
          <a:prstGeom prst="ellipse">
            <a:avLst/>
          </a:prstGeom>
          <a:solidFill>
            <a:srgbClr val="D31145"/>
          </a:solidFill>
          <a:ln>
            <a:noFill/>
          </a:ln>
        </p:spPr>
        <p:txBody>
          <a:bodyPr rtlCol="0" anchor="ctr"/>
          <a:lstStyle/>
          <a:p>
            <a:pPr algn="ctr"/>
          </a:p>
        </p:txBody>
      </p:sp>
      <p:pic>
        <p:nvPicPr>
          <p:cNvPr id="46" name="Picture 45" descr="image.png"/>
          <p:cNvPicPr>
            <a:picLocks noChangeAspect="1"/>
          </p:cNvPicPr>
          <p:nvPr/>
        </p:nvPicPr>
        <p:blipFill>
          <a:blip r:embed="rId5"/>
          <a:stretch>
            <a:fillRect/>
          </a:stretch>
        </p:blipFill>
        <p:spPr>
          <a:xfrm>
            <a:off x="5308092" y="1906524"/>
            <a:ext cx="246888" cy="246888"/>
          </a:xfrm>
          <a:prstGeom prst="rect">
            <a:avLst/>
          </a:prstGeom>
        </p:spPr>
      </p:pic>
      <p:sp>
        <p:nvSpPr>
          <p:cNvPr id="47" name="TextBox 46"/>
          <p:cNvSpPr txBox="1"/>
          <p:nvPr/>
        </p:nvSpPr>
        <p:spPr>
          <a:xfrm>
            <a:off x="5202936" y="2377440"/>
            <a:ext cx="1828800" cy="548640"/>
          </a:xfrm>
          <a:prstGeom prst="rect">
            <a:avLst/>
          </a:prstGeom>
          <a:noFill/>
        </p:spPr>
        <p:txBody>
          <a:bodyPr wrap="square" lIns="0" tIns="0" rIns="0" bIns="0" anchor="t">
            <a:noAutofit/>
          </a:bodyPr>
          <a:lstStyle/>
          <a:p>
            <a:pPr algn="l">
              <a:lnSpc>
                <a:spcPct val="95000"/>
              </a:lnSpc>
              <a:spcAft>
                <a:spcPts val="0"/>
              </a:spcAft>
            </a:pPr>
            <a:r>
              <a:rPr sz="1450" b="1" i="0">
                <a:solidFill>
                  <a:srgbClr val="333D47"/>
                </a:solidFill>
                <a:latin typeface="Arial"/>
              </a:rPr>
              <a:t>More workflows</a:t>
            </a:r>
          </a:p>
        </p:txBody>
      </p:sp>
      <p:sp>
        <p:nvSpPr>
          <p:cNvPr id="48" name="TextBox 47"/>
          <p:cNvSpPr txBox="1"/>
          <p:nvPr/>
        </p:nvSpPr>
        <p:spPr>
          <a:xfrm>
            <a:off x="5202936" y="2898648"/>
            <a:ext cx="1828800" cy="868680"/>
          </a:xfrm>
          <a:prstGeom prst="rect">
            <a:avLst/>
          </a:prstGeom>
          <a:noFill/>
        </p:spPr>
        <p:txBody>
          <a:bodyPr wrap="square" lIns="0" tIns="0" rIns="0" bIns="0" anchor="t">
            <a:noAutofit/>
          </a:bodyPr>
          <a:lstStyle/>
          <a:p>
            <a:pPr algn="l">
              <a:lnSpc>
                <a:spcPct val="100000"/>
              </a:lnSpc>
              <a:spcAft>
                <a:spcPts val="0"/>
              </a:spcAft>
            </a:pPr>
            <a:r>
              <a:rPr sz="1100" b="0" i="0">
                <a:solidFill>
                  <a:srgbClr val="5F6770"/>
                </a:solidFill>
                <a:latin typeface="Arial"/>
              </a:rPr>
              <a:t>New kinds of work through the same coworker, not a new tool each time.</a:t>
            </a:r>
          </a:p>
        </p:txBody>
      </p:sp>
      <p:sp>
        <p:nvSpPr>
          <p:cNvPr id="49" name="Rounded Rectangle 48"/>
          <p:cNvSpPr/>
          <p:nvPr/>
        </p:nvSpPr>
        <p:spPr>
          <a:xfrm>
            <a:off x="7351776" y="1600200"/>
            <a:ext cx="2148840" cy="2240280"/>
          </a:xfrm>
          <a:prstGeom prst="roundRect">
            <a:avLst>
              <a:gd name="adj" fmla="val 4255"/>
            </a:avLst>
          </a:prstGeom>
          <a:solidFill>
            <a:srgbClr val="F4F1EF"/>
          </a:solidFill>
          <a:ln>
            <a:noFill/>
          </a:ln>
        </p:spPr>
        <p:txBody>
          <a:bodyPr rtlCol="0" anchor="ctr"/>
          <a:lstStyle/>
          <a:p>
            <a:pPr algn="ctr"/>
          </a:p>
        </p:txBody>
      </p:sp>
      <p:sp>
        <p:nvSpPr>
          <p:cNvPr id="50" name="Oval 49"/>
          <p:cNvSpPr/>
          <p:nvPr/>
        </p:nvSpPr>
        <p:spPr>
          <a:xfrm>
            <a:off x="7534656" y="1801368"/>
            <a:ext cx="457200" cy="457200"/>
          </a:xfrm>
          <a:prstGeom prst="ellipse">
            <a:avLst/>
          </a:prstGeom>
          <a:solidFill>
            <a:srgbClr val="D31145"/>
          </a:solidFill>
          <a:ln>
            <a:noFill/>
          </a:ln>
        </p:spPr>
        <p:txBody>
          <a:bodyPr rtlCol="0" anchor="ctr"/>
          <a:lstStyle/>
          <a:p>
            <a:pPr algn="ctr"/>
          </a:p>
        </p:txBody>
      </p:sp>
      <p:pic>
        <p:nvPicPr>
          <p:cNvPr id="51" name="Picture 50" descr="LuLayers_w.png"/>
          <p:cNvPicPr>
            <a:picLocks noChangeAspect="1"/>
          </p:cNvPicPr>
          <p:nvPr/>
        </p:nvPicPr>
        <p:blipFill>
          <a:blip r:embed="rId9"/>
          <a:stretch>
            <a:fillRect/>
          </a:stretch>
        </p:blipFill>
        <p:spPr>
          <a:xfrm>
            <a:off x="7639812" y="1906524"/>
            <a:ext cx="246888" cy="246888"/>
          </a:xfrm>
          <a:prstGeom prst="rect">
            <a:avLst/>
          </a:prstGeom>
        </p:spPr>
      </p:pic>
      <p:sp>
        <p:nvSpPr>
          <p:cNvPr id="52" name="TextBox 51"/>
          <p:cNvSpPr txBox="1"/>
          <p:nvPr/>
        </p:nvSpPr>
        <p:spPr>
          <a:xfrm>
            <a:off x="7534656" y="2377440"/>
            <a:ext cx="1828800" cy="548640"/>
          </a:xfrm>
          <a:prstGeom prst="rect">
            <a:avLst/>
          </a:prstGeom>
          <a:noFill/>
        </p:spPr>
        <p:txBody>
          <a:bodyPr wrap="square" lIns="0" tIns="0" rIns="0" bIns="0" anchor="t">
            <a:noAutofit/>
          </a:bodyPr>
          <a:lstStyle/>
          <a:p>
            <a:pPr algn="l">
              <a:lnSpc>
                <a:spcPct val="95000"/>
              </a:lnSpc>
              <a:spcAft>
                <a:spcPts val="0"/>
              </a:spcAft>
            </a:pPr>
            <a:r>
              <a:rPr sz="1450" b="1" i="0">
                <a:solidFill>
                  <a:srgbClr val="333D47"/>
                </a:solidFill>
                <a:latin typeface="Arial"/>
              </a:rPr>
              <a:t>More capabilities underneath</a:t>
            </a:r>
          </a:p>
        </p:txBody>
      </p:sp>
      <p:sp>
        <p:nvSpPr>
          <p:cNvPr id="53" name="TextBox 52"/>
          <p:cNvSpPr txBox="1"/>
          <p:nvPr/>
        </p:nvSpPr>
        <p:spPr>
          <a:xfrm>
            <a:off x="7534656" y="2898648"/>
            <a:ext cx="1828800" cy="868680"/>
          </a:xfrm>
          <a:prstGeom prst="rect">
            <a:avLst/>
          </a:prstGeom>
          <a:noFill/>
        </p:spPr>
        <p:txBody>
          <a:bodyPr wrap="square" lIns="0" tIns="0" rIns="0" bIns="0" anchor="t">
            <a:noAutofit/>
          </a:bodyPr>
          <a:lstStyle/>
          <a:p>
            <a:pPr algn="l">
              <a:lnSpc>
                <a:spcPct val="100000"/>
              </a:lnSpc>
              <a:spcAft>
                <a:spcPts val="0"/>
              </a:spcAft>
            </a:pPr>
            <a:r>
              <a:rPr sz="1100" b="0" i="0">
                <a:solidFill>
                  <a:srgbClr val="5F6770"/>
                </a:solidFill>
                <a:latin typeface="Arial"/>
              </a:rPr>
              <a:t>Each could serve every permitted person, with no new tool to learn.</a:t>
            </a:r>
          </a:p>
        </p:txBody>
      </p:sp>
      <p:sp>
        <p:nvSpPr>
          <p:cNvPr id="54" name="Rounded Rectangle 53"/>
          <p:cNvSpPr/>
          <p:nvPr/>
        </p:nvSpPr>
        <p:spPr>
          <a:xfrm>
            <a:off x="8128787" y="1874520"/>
            <a:ext cx="1318489" cy="201168"/>
          </a:xfrm>
          <a:prstGeom prst="roundRect">
            <a:avLst>
              <a:gd name="adj" fmla="val 50000"/>
            </a:avLst>
          </a:prstGeom>
          <a:noFill/>
          <a:ln w="12700">
            <a:solidFill>
              <a:srgbClr val="D31145"/>
            </a:solidFill>
          </a:ln>
        </p:spPr>
        <p:txBody>
          <a:bodyPr rtlCol="0" anchor="ctr" wrap="square" lIns="36576" tIns="36576" rIns="36576" bIns="36576">
            <a:noAutofit/>
          </a:bodyPr>
          <a:lstStyle/>
          <a:p>
            <a:pPr algn="ctr">
              <a:spcAft>
                <a:spcPts val="0"/>
              </a:spcAft>
            </a:pPr>
            <a:r>
              <a:rPr sz="750" b="1" i="0" spc="60">
                <a:solidFill>
                  <a:srgbClr val="D31145"/>
                </a:solidFill>
                <a:latin typeface="Arial"/>
              </a:rPr>
              <a:t>TESTED IN PHASE 2</a:t>
            </a:r>
          </a:p>
        </p:txBody>
      </p:sp>
      <p:sp>
        <p:nvSpPr>
          <p:cNvPr id="55" name="Rounded Rectangle 54"/>
          <p:cNvSpPr/>
          <p:nvPr/>
        </p:nvSpPr>
        <p:spPr>
          <a:xfrm>
            <a:off x="9683496" y="1600200"/>
            <a:ext cx="2148840" cy="2240280"/>
          </a:xfrm>
          <a:prstGeom prst="roundRect">
            <a:avLst>
              <a:gd name="adj" fmla="val 4255"/>
            </a:avLst>
          </a:prstGeom>
          <a:solidFill>
            <a:srgbClr val="F4F1EF"/>
          </a:solidFill>
          <a:ln>
            <a:noFill/>
          </a:ln>
        </p:spPr>
        <p:txBody>
          <a:bodyPr rtlCol="0" anchor="ctr"/>
          <a:lstStyle/>
          <a:p>
            <a:pPr algn="ctr"/>
          </a:p>
        </p:txBody>
      </p:sp>
      <p:sp>
        <p:nvSpPr>
          <p:cNvPr id="56" name="Oval 55"/>
          <p:cNvSpPr/>
          <p:nvPr/>
        </p:nvSpPr>
        <p:spPr>
          <a:xfrm>
            <a:off x="9866376" y="1801368"/>
            <a:ext cx="457200" cy="457200"/>
          </a:xfrm>
          <a:prstGeom prst="ellipse">
            <a:avLst/>
          </a:prstGeom>
          <a:solidFill>
            <a:srgbClr val="D31145"/>
          </a:solidFill>
          <a:ln>
            <a:noFill/>
          </a:ln>
        </p:spPr>
        <p:txBody>
          <a:bodyPr rtlCol="0" anchor="ctr"/>
          <a:lstStyle/>
          <a:p>
            <a:pPr algn="ctr"/>
          </a:p>
        </p:txBody>
      </p:sp>
      <p:pic>
        <p:nvPicPr>
          <p:cNvPr id="57" name="Picture 56" descr="LuGlobe_w.png"/>
          <p:cNvPicPr>
            <a:picLocks noChangeAspect="1"/>
          </p:cNvPicPr>
          <p:nvPr/>
        </p:nvPicPr>
        <p:blipFill>
          <a:blip r:embed="rId10"/>
          <a:stretch>
            <a:fillRect/>
          </a:stretch>
        </p:blipFill>
        <p:spPr>
          <a:xfrm>
            <a:off x="9971532" y="1906524"/>
            <a:ext cx="246888" cy="246888"/>
          </a:xfrm>
          <a:prstGeom prst="rect">
            <a:avLst/>
          </a:prstGeom>
        </p:spPr>
      </p:pic>
      <p:sp>
        <p:nvSpPr>
          <p:cNvPr id="58" name="TextBox 57"/>
          <p:cNvSpPr txBox="1"/>
          <p:nvPr/>
        </p:nvSpPr>
        <p:spPr>
          <a:xfrm>
            <a:off x="9866376" y="2377440"/>
            <a:ext cx="1828800" cy="548640"/>
          </a:xfrm>
          <a:prstGeom prst="rect">
            <a:avLst/>
          </a:prstGeom>
          <a:noFill/>
        </p:spPr>
        <p:txBody>
          <a:bodyPr wrap="square" lIns="0" tIns="0" rIns="0" bIns="0" anchor="t">
            <a:noAutofit/>
          </a:bodyPr>
          <a:lstStyle/>
          <a:p>
            <a:pPr algn="l">
              <a:lnSpc>
                <a:spcPct val="95000"/>
              </a:lnSpc>
              <a:spcAft>
                <a:spcPts val="0"/>
              </a:spcAft>
            </a:pPr>
            <a:r>
              <a:rPr sz="1450" b="1" i="0">
                <a:solidFill>
                  <a:srgbClr val="333D47"/>
                </a:solidFill>
                <a:latin typeface="Arial"/>
              </a:rPr>
              <a:t>More markets</a:t>
            </a:r>
          </a:p>
        </p:txBody>
      </p:sp>
      <p:sp>
        <p:nvSpPr>
          <p:cNvPr id="59" name="TextBox 58"/>
          <p:cNvSpPr txBox="1"/>
          <p:nvPr/>
        </p:nvSpPr>
        <p:spPr>
          <a:xfrm>
            <a:off x="9866376" y="2898648"/>
            <a:ext cx="1828800" cy="868680"/>
          </a:xfrm>
          <a:prstGeom prst="rect">
            <a:avLst/>
          </a:prstGeom>
          <a:noFill/>
        </p:spPr>
        <p:txBody>
          <a:bodyPr wrap="square" lIns="0" tIns="0" rIns="0" bIns="0" anchor="t">
            <a:noAutofit/>
          </a:bodyPr>
          <a:lstStyle/>
          <a:p>
            <a:pPr algn="l">
              <a:lnSpc>
                <a:spcPct val="100000"/>
              </a:lnSpc>
              <a:spcAft>
                <a:spcPts val="0"/>
              </a:spcAft>
            </a:pPr>
            <a:r>
              <a:rPr sz="1100" b="0" i="0">
                <a:solidFill>
                  <a:srgbClr val="5F6770"/>
                </a:solidFill>
                <a:latin typeface="Arial"/>
              </a:rPr>
              <a:t>Reuse the core experience. Each market adds its own integrations and controls.</a:t>
            </a:r>
          </a:p>
        </p:txBody>
      </p:sp>
      <p:sp>
        <p:nvSpPr>
          <p:cNvPr id="60" name="Rounded Rectangle 59"/>
          <p:cNvSpPr/>
          <p:nvPr/>
        </p:nvSpPr>
        <p:spPr>
          <a:xfrm>
            <a:off x="356616" y="4041648"/>
            <a:ext cx="11475720" cy="502920"/>
          </a:xfrm>
          <a:prstGeom prst="roundRect">
            <a:avLst>
              <a:gd name="adj" fmla="val 14545"/>
            </a:avLst>
          </a:prstGeom>
          <a:solidFill>
            <a:srgbClr val="FFFFFF"/>
          </a:solidFill>
          <a:ln w="15875">
            <a:solidFill>
              <a:srgbClr val="F2B6C6"/>
            </a:solidFill>
          </a:ln>
        </p:spPr>
        <p:txBody>
          <a:bodyPr rtlCol="0" anchor="ctr"/>
          <a:lstStyle/>
          <a:p>
            <a:pPr algn="ctr"/>
          </a:p>
        </p:txBody>
      </p:sp>
      <p:sp>
        <p:nvSpPr>
          <p:cNvPr id="61" name="Oval 60"/>
          <p:cNvSpPr/>
          <p:nvPr/>
        </p:nvSpPr>
        <p:spPr>
          <a:xfrm>
            <a:off x="502920" y="4114800"/>
            <a:ext cx="347472" cy="347472"/>
          </a:xfrm>
          <a:prstGeom prst="ellipse">
            <a:avLst/>
          </a:prstGeom>
          <a:solidFill>
            <a:srgbClr val="D31145"/>
          </a:solidFill>
          <a:ln>
            <a:noFill/>
          </a:ln>
        </p:spPr>
        <p:txBody>
          <a:bodyPr rtlCol="0" anchor="ctr" wrap="square" lIns="0" tIns="0" rIns="0" bIns="0">
            <a:noAutofit/>
          </a:bodyPr>
          <a:lstStyle/>
          <a:p>
            <a:pPr algn="ctr">
              <a:spcAft>
                <a:spcPts val="0"/>
              </a:spcAft>
            </a:pPr>
            <a:r>
              <a:rPr sz="1368" b="1" i="0">
                <a:solidFill>
                  <a:srgbClr val="FFFFFF"/>
                </a:solidFill>
                <a:latin typeface="Arial"/>
              </a:rPr>
              <a:t>R</a:t>
            </a:r>
          </a:p>
        </p:txBody>
      </p:sp>
      <p:sp>
        <p:nvSpPr>
          <p:cNvPr id="62" name="TextBox 61"/>
          <p:cNvSpPr txBox="1"/>
          <p:nvPr/>
        </p:nvSpPr>
        <p:spPr>
          <a:xfrm>
            <a:off x="987552" y="4041648"/>
            <a:ext cx="10698480" cy="502920"/>
          </a:xfrm>
          <a:prstGeom prst="rect">
            <a:avLst/>
          </a:prstGeom>
          <a:noFill/>
        </p:spPr>
        <p:txBody>
          <a:bodyPr wrap="square" lIns="0" tIns="0" rIns="0" bIns="0" anchor="ctr">
            <a:noAutofit/>
          </a:bodyPr>
          <a:lstStyle/>
          <a:p>
            <a:pPr algn="l">
              <a:spcAft>
                <a:spcPts val="0"/>
              </a:spcAft>
            </a:pPr>
            <a:r>
              <a:rPr sz="1300" b="1" i="0">
                <a:solidFill>
                  <a:srgbClr val="D31145"/>
                </a:solidFill>
                <a:latin typeface="Arial"/>
              </a:rPr>
              <a:t>What stays the same: </a:t>
            </a:r>
            <a:r>
              <a:rPr sz="1300" b="0" i="0">
                <a:solidFill>
                  <a:srgbClr val="333D47"/>
                </a:solidFill>
                <a:latin typeface="Arial"/>
              </a:rPr>
              <a:t>ask for the outcome, see the plan, review and approve, within your own permissions.</a:t>
            </a:r>
          </a:p>
        </p:txBody>
      </p:sp>
      <p:sp>
        <p:nvSpPr>
          <p:cNvPr id="63" name="Rounded Rectangle 62"/>
          <p:cNvSpPr/>
          <p:nvPr/>
        </p:nvSpPr>
        <p:spPr>
          <a:xfrm>
            <a:off x="356616" y="4727448"/>
            <a:ext cx="11475720" cy="658368"/>
          </a:xfrm>
          <a:prstGeom prst="roundRect">
            <a:avLst>
              <a:gd name="adj" fmla="val 13888"/>
            </a:avLst>
          </a:prstGeom>
          <a:solidFill>
            <a:srgbClr val="D31145"/>
          </a:solidFill>
          <a:ln>
            <a:noFill/>
          </a:ln>
        </p:spPr>
        <p:txBody>
          <a:bodyPr rtlCol="0" anchor="ctr"/>
          <a:lstStyle/>
          <a:p>
            <a:pPr algn="ctr"/>
          </a:p>
        </p:txBody>
      </p:sp>
      <p:sp>
        <p:nvSpPr>
          <p:cNvPr id="64" name="Rounded Rectangle 63"/>
          <p:cNvSpPr/>
          <p:nvPr/>
        </p:nvSpPr>
        <p:spPr>
          <a:xfrm>
            <a:off x="566928" y="4928616"/>
            <a:ext cx="1937913" cy="237744"/>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850" b="1" i="0" spc="60">
                <a:solidFill>
                  <a:srgbClr val="D31145"/>
                </a:solidFill>
                <a:latin typeface="Arial"/>
              </a:rPr>
              <a:t>VISION, NOT A FORECAST</a:t>
            </a:r>
          </a:p>
        </p:txBody>
      </p:sp>
      <p:sp>
        <p:nvSpPr>
          <p:cNvPr id="65" name="TextBox 64"/>
          <p:cNvSpPr txBox="1"/>
          <p:nvPr/>
        </p:nvSpPr>
        <p:spPr>
          <a:xfrm>
            <a:off x="2743200" y="4727448"/>
            <a:ext cx="8961120" cy="658368"/>
          </a:xfrm>
          <a:prstGeom prst="rect">
            <a:avLst/>
          </a:prstGeom>
          <a:noFill/>
        </p:spPr>
        <p:txBody>
          <a:bodyPr wrap="square" lIns="0" tIns="0" rIns="0" bIns="0" anchor="ctr">
            <a:noAutofit/>
          </a:bodyPr>
          <a:lstStyle/>
          <a:p>
            <a:pPr algn="l">
              <a:spcAft>
                <a:spcPts val="0"/>
              </a:spcAft>
            </a:pPr>
            <a:r>
              <a:rPr sz="2000" b="1" i="0">
                <a:solidFill>
                  <a:srgbClr val="FFFFFF"/>
                </a:solidFill>
                <a:latin typeface="Arial"/>
              </a:rPr>
              <a:t>One AI coworker for every AIA employee and agent.</a:t>
            </a:r>
          </a:p>
        </p:txBody>
      </p:sp>
      <p:sp>
        <p:nvSpPr>
          <p:cNvPr id="66" name="TextBox 65"/>
          <p:cNvSpPr txBox="1"/>
          <p:nvPr/>
        </p:nvSpPr>
        <p:spPr>
          <a:xfrm>
            <a:off x="356616" y="5532120"/>
            <a:ext cx="11338560" cy="365760"/>
          </a:xfrm>
          <a:prstGeom prst="rect">
            <a:avLst/>
          </a:prstGeom>
          <a:noFill/>
        </p:spPr>
        <p:txBody>
          <a:bodyPr wrap="square" lIns="0" tIns="0" rIns="0" bIns="0" anchor="ctr">
            <a:noAutofit/>
          </a:bodyPr>
          <a:lstStyle/>
          <a:p>
            <a:pPr algn="l">
              <a:spcAft>
                <a:spcPts val="0"/>
              </a:spcAft>
            </a:pPr>
            <a:r>
              <a:rPr sz="1050" b="1" i="0">
                <a:solidFill>
                  <a:srgbClr val="5F6770"/>
                </a:solidFill>
                <a:latin typeface="Arial"/>
              </a:rPr>
              <a:t>Not plug-and-play: </a:t>
            </a:r>
            <a:r>
              <a:rPr sz="1050" b="0" i="0">
                <a:solidFill>
                  <a:srgbClr val="5F6770"/>
                </a:solidFill>
                <a:latin typeface="Arial"/>
              </a:rPr>
              <a:t>each market and each new group still needs its own integrations, controls, governance and configuration.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Practical to start. Built to be trusted.</a:t>
            </a:r>
          </a:p>
        </p:txBody>
      </p:sp>
      <p:sp>
        <p:nvSpPr>
          <p:cNvPr id="47" name="Slide Number Placeholder"/>
          <p:cNvSpPr>
            <a:spLocks noGrp="1"/>
          </p:cNvSpPr>
          <p:nvPr>
            <p:ph type="sldNum" sz="quarter" idx="4"/>
          </p:nvPr>
        </p:nvSpPr>
        <p:spPr/>
        <p:txBody>
          <a:bodyPr/>
          <a:lstStyle/>
          <a:p>
            <a:fld id="{18A41853-EF22-D446-BDBC-A7CF3FE93503}" type="slidenum">
              <a:rPr lang="en-US"/>
              <a:t>10</a:t>
            </a:fld>
            <a:endParaRPr lang="en-US" dirty="0"/>
          </a:p>
        </p:txBody>
      </p:sp>
      <p:sp>
        <p:nvSpPr>
          <p:cNvPr id="48" name="TextBox 47"/>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FEASIBILITY</a:t>
            </a:r>
          </a:p>
        </p:txBody>
      </p:sp>
      <p:sp>
        <p:nvSpPr>
          <p:cNvPr id="49" name="Oval 48"/>
          <p:cNvSpPr/>
          <p:nvPr/>
        </p:nvSpPr>
        <p:spPr>
          <a:xfrm>
            <a:off x="356616" y="1170432"/>
            <a:ext cx="420624" cy="420624"/>
          </a:xfrm>
          <a:prstGeom prst="ellipse">
            <a:avLst/>
          </a:prstGeom>
          <a:solidFill>
            <a:srgbClr val="333D47"/>
          </a:solidFill>
          <a:ln>
            <a:noFill/>
          </a:ln>
        </p:spPr>
        <p:txBody>
          <a:bodyPr rtlCol="0" anchor="ctr"/>
          <a:lstStyle/>
          <a:p>
            <a:pPr algn="ctr"/>
          </a:p>
        </p:txBody>
      </p:sp>
      <p:pic>
        <p:nvPicPr>
          <p:cNvPr id="50" name="Picture 49" descr="image.png"/>
          <p:cNvPicPr>
            <a:picLocks noChangeAspect="1"/>
          </p:cNvPicPr>
          <p:nvPr/>
        </p:nvPicPr>
        <p:blipFill>
          <a:blip r:embed="rId3"/>
          <a:stretch>
            <a:fillRect/>
          </a:stretch>
        </p:blipFill>
        <p:spPr>
          <a:xfrm>
            <a:off x="453360" y="1267176"/>
            <a:ext cx="227137" cy="227137"/>
          </a:xfrm>
          <a:prstGeom prst="rect">
            <a:avLst/>
          </a:prstGeom>
        </p:spPr>
      </p:pic>
      <p:sp>
        <p:nvSpPr>
          <p:cNvPr id="51" name="TextBox 50"/>
          <p:cNvSpPr txBox="1"/>
          <p:nvPr/>
        </p:nvSpPr>
        <p:spPr>
          <a:xfrm>
            <a:off x="905256" y="1133856"/>
            <a:ext cx="3200400" cy="274320"/>
          </a:xfrm>
          <a:prstGeom prst="rect">
            <a:avLst/>
          </a:prstGeom>
          <a:noFill/>
        </p:spPr>
        <p:txBody>
          <a:bodyPr wrap="square" lIns="0" tIns="0" rIns="0" bIns="0" anchor="t">
            <a:noAutofit/>
          </a:bodyPr>
          <a:lstStyle/>
          <a:p>
            <a:pPr algn="l">
              <a:spcAft>
                <a:spcPts val="0"/>
              </a:spcAft>
            </a:pPr>
            <a:r>
              <a:rPr sz="1350" b="1" i="0">
                <a:solidFill>
                  <a:srgbClr val="333D47"/>
                </a:solidFill>
                <a:latin typeface="Arial"/>
              </a:rPr>
              <a:t>In Microsoft Teams</a:t>
            </a:r>
          </a:p>
        </p:txBody>
      </p:sp>
      <p:sp>
        <p:nvSpPr>
          <p:cNvPr id="52" name="TextBox 51"/>
          <p:cNvSpPr txBox="1"/>
          <p:nvPr/>
        </p:nvSpPr>
        <p:spPr>
          <a:xfrm>
            <a:off x="905256" y="1389888"/>
            <a:ext cx="3200400" cy="256032"/>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where employees already work</a:t>
            </a:r>
          </a:p>
        </p:txBody>
      </p:sp>
      <p:sp>
        <p:nvSpPr>
          <p:cNvPr id="53" name="Oval 52"/>
          <p:cNvSpPr/>
          <p:nvPr/>
        </p:nvSpPr>
        <p:spPr>
          <a:xfrm>
            <a:off x="4197096" y="1170432"/>
            <a:ext cx="420624" cy="420624"/>
          </a:xfrm>
          <a:prstGeom prst="ellipse">
            <a:avLst/>
          </a:prstGeom>
          <a:solidFill>
            <a:srgbClr val="333D47"/>
          </a:solidFill>
          <a:ln>
            <a:noFill/>
          </a:ln>
        </p:spPr>
        <p:txBody>
          <a:bodyPr rtlCol="0" anchor="ctr"/>
          <a:lstStyle/>
          <a:p>
            <a:pPr algn="ctr"/>
          </a:p>
        </p:txBody>
      </p:sp>
      <p:pic>
        <p:nvPicPr>
          <p:cNvPr id="54" name="Picture 53" descr="LuLayers_w.png"/>
          <p:cNvPicPr>
            <a:picLocks noChangeAspect="1"/>
          </p:cNvPicPr>
          <p:nvPr/>
        </p:nvPicPr>
        <p:blipFill>
          <a:blip r:embed="rId13"/>
          <a:stretch>
            <a:fillRect/>
          </a:stretch>
        </p:blipFill>
        <p:spPr>
          <a:xfrm>
            <a:off x="4293840" y="1267176"/>
            <a:ext cx="227137" cy="227137"/>
          </a:xfrm>
          <a:prstGeom prst="rect">
            <a:avLst/>
          </a:prstGeom>
        </p:spPr>
      </p:pic>
      <p:sp>
        <p:nvSpPr>
          <p:cNvPr id="55" name="TextBox 54"/>
          <p:cNvSpPr txBox="1"/>
          <p:nvPr/>
        </p:nvSpPr>
        <p:spPr>
          <a:xfrm>
            <a:off x="4745736" y="1133856"/>
            <a:ext cx="3200400" cy="274320"/>
          </a:xfrm>
          <a:prstGeom prst="rect">
            <a:avLst/>
          </a:prstGeom>
          <a:noFill/>
        </p:spPr>
        <p:txBody>
          <a:bodyPr wrap="square" lIns="0" tIns="0" rIns="0" bIns="0" anchor="t">
            <a:noAutofit/>
          </a:bodyPr>
          <a:lstStyle/>
          <a:p>
            <a:pPr algn="l">
              <a:spcAft>
                <a:spcPts val="0"/>
              </a:spcAft>
            </a:pPr>
            <a:r>
              <a:rPr sz="1350" b="1" i="0">
                <a:solidFill>
                  <a:srgbClr val="333D47"/>
                </a:solidFill>
                <a:latin typeface="Arial"/>
              </a:rPr>
              <a:t>Built on AIA’s AI</a:t>
            </a:r>
          </a:p>
        </p:txBody>
      </p:sp>
      <p:sp>
        <p:nvSpPr>
          <p:cNvPr id="56" name="TextBox 55"/>
          <p:cNvSpPr txBox="1"/>
          <p:nvPr/>
        </p:nvSpPr>
        <p:spPr>
          <a:xfrm>
            <a:off x="4745736" y="1389888"/>
            <a:ext cx="3200400" cy="256032"/>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no new model or platform</a:t>
            </a:r>
          </a:p>
        </p:txBody>
      </p:sp>
      <p:sp>
        <p:nvSpPr>
          <p:cNvPr id="57" name="Oval 56"/>
          <p:cNvSpPr/>
          <p:nvPr/>
        </p:nvSpPr>
        <p:spPr>
          <a:xfrm>
            <a:off x="8037576" y="1170432"/>
            <a:ext cx="420624" cy="420624"/>
          </a:xfrm>
          <a:prstGeom prst="ellipse">
            <a:avLst/>
          </a:prstGeom>
          <a:solidFill>
            <a:srgbClr val="333D47"/>
          </a:solidFill>
          <a:ln>
            <a:noFill/>
          </a:ln>
        </p:spPr>
        <p:txBody>
          <a:bodyPr rtlCol="0" anchor="ctr"/>
          <a:lstStyle/>
          <a:p>
            <a:pPr algn="ctr"/>
          </a:p>
        </p:txBody>
      </p:sp>
      <p:pic>
        <p:nvPicPr>
          <p:cNvPr id="58" name="Picture 57" descr="image.png"/>
          <p:cNvPicPr>
            <a:picLocks noChangeAspect="1"/>
          </p:cNvPicPr>
          <p:nvPr/>
        </p:nvPicPr>
        <p:blipFill>
          <a:blip r:embed="rId5"/>
          <a:stretch>
            <a:fillRect/>
          </a:stretch>
        </p:blipFill>
        <p:spPr>
          <a:xfrm>
            <a:off x="8134320" y="1267176"/>
            <a:ext cx="227137" cy="227137"/>
          </a:xfrm>
          <a:prstGeom prst="rect">
            <a:avLst/>
          </a:prstGeom>
        </p:spPr>
      </p:pic>
      <p:sp>
        <p:nvSpPr>
          <p:cNvPr id="59" name="TextBox 58"/>
          <p:cNvSpPr txBox="1"/>
          <p:nvPr/>
        </p:nvSpPr>
        <p:spPr>
          <a:xfrm>
            <a:off x="8586216" y="1133856"/>
            <a:ext cx="3200400" cy="274320"/>
          </a:xfrm>
          <a:prstGeom prst="rect">
            <a:avLst/>
          </a:prstGeom>
          <a:noFill/>
        </p:spPr>
        <p:txBody>
          <a:bodyPr wrap="square" lIns="0" tIns="0" rIns="0" bIns="0" anchor="t">
            <a:noAutofit/>
          </a:bodyPr>
          <a:lstStyle/>
          <a:p>
            <a:pPr algn="l">
              <a:spcAft>
                <a:spcPts val="0"/>
              </a:spcAft>
            </a:pPr>
            <a:r>
              <a:rPr sz="1350" b="1" i="0">
                <a:solidFill>
                  <a:srgbClr val="333D47"/>
                </a:solidFill>
                <a:latin typeface="Arial"/>
              </a:rPr>
              <a:t>Narrow and gated</a:t>
            </a:r>
          </a:p>
        </p:txBody>
      </p:sp>
      <p:sp>
        <p:nvSpPr>
          <p:cNvPr id="60" name="TextBox 59"/>
          <p:cNvSpPr txBox="1"/>
          <p:nvPr/>
        </p:nvSpPr>
        <p:spPr>
          <a:xfrm>
            <a:off x="8586216" y="1389888"/>
            <a:ext cx="3200400" cy="256032"/>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one internal workflow first</a:t>
            </a:r>
          </a:p>
        </p:txBody>
      </p:sp>
      <p:cxnSp>
        <p:nvCxnSpPr>
          <p:cNvPr id="61" name="Connector 60"/>
          <p:cNvCxnSpPr/>
          <p:nvPr/>
        </p:nvCxnSpPr>
        <p:spPr>
          <a:xfrm>
            <a:off x="356616" y="1874520"/>
            <a:ext cx="11475720" cy="0"/>
          </a:xfrm>
          <a:prstGeom prst="line">
            <a:avLst/>
          </a:prstGeom>
          <a:ln w="9525">
            <a:solidFill>
              <a:srgbClr val="DDD6D0"/>
            </a:solidFill>
          </a:ln>
        </p:spPr>
      </p:cxnSp>
      <p:sp>
        <p:nvSpPr>
          <p:cNvPr id="62" name="Rounded Rectangle 61"/>
          <p:cNvSpPr/>
          <p:nvPr/>
        </p:nvSpPr>
        <p:spPr>
          <a:xfrm>
            <a:off x="356616" y="2103120"/>
            <a:ext cx="2926080" cy="3017520"/>
          </a:xfrm>
          <a:prstGeom prst="roundRect">
            <a:avLst>
              <a:gd name="adj" fmla="val 3750"/>
            </a:avLst>
          </a:prstGeom>
          <a:solidFill>
            <a:srgbClr val="D31145"/>
          </a:solidFill>
          <a:ln>
            <a:noFill/>
          </a:ln>
        </p:spPr>
        <p:txBody>
          <a:bodyPr rtlCol="0" anchor="ctr"/>
          <a:lstStyle/>
          <a:p>
            <a:pPr algn="ctr"/>
          </a:p>
        </p:txBody>
      </p:sp>
      <p:sp>
        <p:nvSpPr>
          <p:cNvPr id="63" name="Oval 62"/>
          <p:cNvSpPr/>
          <p:nvPr/>
        </p:nvSpPr>
        <p:spPr>
          <a:xfrm>
            <a:off x="566928" y="2331720"/>
            <a:ext cx="457200" cy="457200"/>
          </a:xfrm>
          <a:prstGeom prst="ellipse">
            <a:avLst/>
          </a:prstGeom>
          <a:solidFill>
            <a:srgbClr val="FFFFFF"/>
          </a:solidFill>
          <a:ln>
            <a:noFill/>
          </a:ln>
        </p:spPr>
        <p:txBody>
          <a:bodyPr rtlCol="0" anchor="ctr"/>
          <a:lstStyle/>
          <a:p>
            <a:pPr algn="ctr"/>
          </a:p>
        </p:txBody>
      </p:sp>
      <p:pic>
        <p:nvPicPr>
          <p:cNvPr id="64" name="Picture 63" descr="image.png"/>
          <p:cNvPicPr>
            <a:picLocks noChangeAspect="1"/>
          </p:cNvPicPr>
          <p:nvPr/>
        </p:nvPicPr>
        <p:blipFill>
          <a:blip r:embed="rId6"/>
          <a:stretch>
            <a:fillRect/>
          </a:stretch>
        </p:blipFill>
        <p:spPr>
          <a:xfrm>
            <a:off x="672084" y="2436876"/>
            <a:ext cx="246888" cy="246888"/>
          </a:xfrm>
          <a:prstGeom prst="rect">
            <a:avLst/>
          </a:prstGeom>
        </p:spPr>
      </p:pic>
      <p:sp>
        <p:nvSpPr>
          <p:cNvPr id="65" name="TextBox 64"/>
          <p:cNvSpPr txBox="1"/>
          <p:nvPr/>
        </p:nvSpPr>
        <p:spPr>
          <a:xfrm>
            <a:off x="566928" y="2926080"/>
            <a:ext cx="2560320" cy="731520"/>
          </a:xfrm>
          <a:prstGeom prst="rect">
            <a:avLst/>
          </a:prstGeom>
          <a:noFill/>
        </p:spPr>
        <p:txBody>
          <a:bodyPr wrap="square" lIns="0" tIns="0" rIns="0" bIns="0" anchor="t">
            <a:noAutofit/>
          </a:bodyPr>
          <a:lstStyle/>
          <a:p>
            <a:pPr algn="l">
              <a:lnSpc>
                <a:spcPct val="95000"/>
              </a:lnSpc>
              <a:spcAft>
                <a:spcPts val="0"/>
              </a:spcAft>
            </a:pPr>
            <a:r>
              <a:rPr sz="1700" b="1" i="0">
                <a:solidFill>
                  <a:srgbClr val="FFFFFF"/>
                </a:solidFill>
                <a:latin typeface="Arial"/>
              </a:rPr>
              <a:t>Approval before any final action</a:t>
            </a:r>
          </a:p>
        </p:txBody>
      </p:sp>
      <p:sp>
        <p:nvSpPr>
          <p:cNvPr id="66" name="TextBox 65"/>
          <p:cNvSpPr txBox="1"/>
          <p:nvPr/>
        </p:nvSpPr>
        <p:spPr>
          <a:xfrm>
            <a:off x="566928" y="3675888"/>
            <a:ext cx="2560320" cy="1371600"/>
          </a:xfrm>
          <a:prstGeom prst="rect">
            <a:avLst/>
          </a:prstGeom>
          <a:noFill/>
        </p:spPr>
        <p:txBody>
          <a:bodyPr wrap="square" lIns="0" tIns="0" rIns="0" bIns="0" anchor="t">
            <a:noAutofit/>
          </a:bodyPr>
          <a:lstStyle/>
          <a:p>
            <a:pPr algn="l">
              <a:lnSpc>
                <a:spcPct val="102000"/>
              </a:lnSpc>
              <a:spcAft>
                <a:spcPts val="0"/>
              </a:spcAft>
            </a:pPr>
            <a:r>
              <a:rPr sz="1150" b="0" i="0">
                <a:solidFill>
                  <a:srgbClr val="FFFFFF"/>
                </a:solidFill>
                <a:latin typeface="Arial"/>
              </a:rPr>
              <a:t>Riley does the intermediate steps. Nothing is finalized, sent or entered into a system until the person approves.</a:t>
            </a:r>
          </a:p>
        </p:txBody>
      </p:sp>
      <p:sp>
        <p:nvSpPr>
          <p:cNvPr id="67" name="TextBox 66"/>
          <p:cNvSpPr txBox="1"/>
          <p:nvPr/>
        </p:nvSpPr>
        <p:spPr>
          <a:xfrm>
            <a:off x="3566160" y="2084832"/>
            <a:ext cx="4206240" cy="256032"/>
          </a:xfrm>
          <a:prstGeom prst="rect">
            <a:avLst/>
          </a:prstGeom>
          <a:noFill/>
        </p:spPr>
        <p:txBody>
          <a:bodyPr wrap="square" lIns="0" tIns="0" rIns="0" bIns="0" anchor="t">
            <a:noAutofit/>
          </a:bodyPr>
          <a:lstStyle/>
          <a:p>
            <a:pPr algn="l">
              <a:spcAft>
                <a:spcPts val="0"/>
              </a:spcAft>
            </a:pPr>
            <a:r>
              <a:rPr sz="1000" b="1" i="0" spc="100">
                <a:solidFill>
                  <a:srgbClr val="D31145"/>
                </a:solidFill>
                <a:latin typeface="Arial"/>
              </a:rPr>
              <a:t>IN PHASE 1</a:t>
            </a:r>
          </a:p>
        </p:txBody>
      </p:sp>
      <p:pic>
        <p:nvPicPr>
          <p:cNvPr id="68" name="Picture 67" descr="LuKeyRound_c.png"/>
          <p:cNvPicPr>
            <a:picLocks noChangeAspect="1"/>
          </p:cNvPicPr>
          <p:nvPr/>
        </p:nvPicPr>
        <p:blipFill>
          <a:blip r:embed="rId14"/>
          <a:stretch>
            <a:fillRect/>
          </a:stretch>
        </p:blipFill>
        <p:spPr>
          <a:xfrm>
            <a:off x="3584448" y="2505456"/>
            <a:ext cx="256032" cy="256032"/>
          </a:xfrm>
          <a:prstGeom prst="rect">
            <a:avLst/>
          </a:prstGeom>
        </p:spPr>
      </p:pic>
      <p:sp>
        <p:nvSpPr>
          <p:cNvPr id="69" name="TextBox 68"/>
          <p:cNvSpPr txBox="1"/>
          <p:nvPr/>
        </p:nvSpPr>
        <p:spPr>
          <a:xfrm>
            <a:off x="3977640" y="2432304"/>
            <a:ext cx="3749040" cy="402336"/>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Employee permissions only</a:t>
            </a:r>
          </a:p>
        </p:txBody>
      </p:sp>
      <p:pic>
        <p:nvPicPr>
          <p:cNvPr id="70" name="Picture 69" descr="image.png"/>
          <p:cNvPicPr>
            <a:picLocks noChangeAspect="1"/>
          </p:cNvPicPr>
          <p:nvPr/>
        </p:nvPicPr>
        <p:blipFill>
          <a:blip r:embed="rId15"/>
          <a:stretch>
            <a:fillRect/>
          </a:stretch>
        </p:blipFill>
        <p:spPr>
          <a:xfrm>
            <a:off x="3584448" y="2953512"/>
            <a:ext cx="256032" cy="256032"/>
          </a:xfrm>
          <a:prstGeom prst="rect">
            <a:avLst/>
          </a:prstGeom>
        </p:spPr>
      </p:pic>
      <p:sp>
        <p:nvSpPr>
          <p:cNvPr id="71" name="TextBox 70"/>
          <p:cNvSpPr txBox="1"/>
          <p:nvPr/>
        </p:nvSpPr>
        <p:spPr>
          <a:xfrm>
            <a:off x="3977640" y="2880360"/>
            <a:ext cx="3749040" cy="402336"/>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Existing privacy and security controls</a:t>
            </a:r>
          </a:p>
        </p:txBody>
      </p:sp>
      <p:pic>
        <p:nvPicPr>
          <p:cNvPr id="72" name="Picture 71" descr="LuScrollText_c.png"/>
          <p:cNvPicPr>
            <a:picLocks noChangeAspect="1"/>
          </p:cNvPicPr>
          <p:nvPr/>
        </p:nvPicPr>
        <p:blipFill>
          <a:blip r:embed="rId16"/>
          <a:stretch>
            <a:fillRect/>
          </a:stretch>
        </p:blipFill>
        <p:spPr>
          <a:xfrm>
            <a:off x="3584448" y="3401568"/>
            <a:ext cx="256032" cy="256032"/>
          </a:xfrm>
          <a:prstGeom prst="rect">
            <a:avLst/>
          </a:prstGeom>
        </p:spPr>
      </p:pic>
      <p:sp>
        <p:nvSpPr>
          <p:cNvPr id="73" name="TextBox 72"/>
          <p:cNvSpPr txBox="1"/>
          <p:nvPr/>
        </p:nvSpPr>
        <p:spPr>
          <a:xfrm>
            <a:off x="3977640" y="3328416"/>
            <a:ext cx="3749040" cy="402336"/>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An appropriate record of the work</a:t>
            </a:r>
          </a:p>
        </p:txBody>
      </p:sp>
      <p:pic>
        <p:nvPicPr>
          <p:cNvPr id="74" name="Picture 73" descr="LuRefreshCw_c.png"/>
          <p:cNvPicPr>
            <a:picLocks noChangeAspect="1"/>
          </p:cNvPicPr>
          <p:nvPr/>
        </p:nvPicPr>
        <p:blipFill>
          <a:blip r:embed="rId17"/>
          <a:stretch>
            <a:fillRect/>
          </a:stretch>
        </p:blipFill>
        <p:spPr>
          <a:xfrm>
            <a:off x="3584448" y="3849624"/>
            <a:ext cx="256032" cy="256032"/>
          </a:xfrm>
          <a:prstGeom prst="rect">
            <a:avLst/>
          </a:prstGeom>
        </p:spPr>
      </p:pic>
      <p:sp>
        <p:nvSpPr>
          <p:cNvPr id="75" name="TextBox 74"/>
          <p:cNvSpPr txBox="1"/>
          <p:nvPr/>
        </p:nvSpPr>
        <p:spPr>
          <a:xfrm>
            <a:off x="3977640" y="3776472"/>
            <a:ext cx="3749040" cy="402336"/>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Governed feedback and learning</a:t>
            </a:r>
          </a:p>
        </p:txBody>
      </p:sp>
      <p:pic>
        <p:nvPicPr>
          <p:cNvPr id="76" name="Picture 75" descr="LuSearchCheck_c.png"/>
          <p:cNvPicPr>
            <a:picLocks noChangeAspect="1"/>
          </p:cNvPicPr>
          <p:nvPr/>
        </p:nvPicPr>
        <p:blipFill>
          <a:blip r:embed="rId18"/>
          <a:stretch>
            <a:fillRect/>
          </a:stretch>
        </p:blipFill>
        <p:spPr>
          <a:xfrm>
            <a:off x="3584448" y="4297680"/>
            <a:ext cx="256032" cy="256032"/>
          </a:xfrm>
          <a:prstGeom prst="rect">
            <a:avLst/>
          </a:prstGeom>
        </p:spPr>
      </p:pic>
      <p:sp>
        <p:nvSpPr>
          <p:cNvPr id="77" name="TextBox 76"/>
          <p:cNvSpPr txBox="1"/>
          <p:nvPr/>
        </p:nvSpPr>
        <p:spPr>
          <a:xfrm>
            <a:off x="3977640" y="4224528"/>
            <a:ext cx="3749040" cy="402336"/>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Independent quality checks</a:t>
            </a:r>
          </a:p>
        </p:txBody>
      </p:sp>
      <p:pic>
        <p:nvPicPr>
          <p:cNvPr id="78" name="Picture 77" descr="image.png"/>
          <p:cNvPicPr>
            <a:picLocks noChangeAspect="1"/>
          </p:cNvPicPr>
          <p:nvPr/>
        </p:nvPicPr>
        <p:blipFill>
          <a:blip r:embed="rId19"/>
          <a:stretch>
            <a:fillRect/>
          </a:stretch>
        </p:blipFill>
        <p:spPr>
          <a:xfrm>
            <a:off x="3584448" y="4745736"/>
            <a:ext cx="256032" cy="256032"/>
          </a:xfrm>
          <a:prstGeom prst="rect">
            <a:avLst/>
          </a:prstGeom>
        </p:spPr>
      </p:pic>
      <p:sp>
        <p:nvSpPr>
          <p:cNvPr id="79" name="TextBox 78"/>
          <p:cNvSpPr txBox="1"/>
          <p:nvPr/>
        </p:nvSpPr>
        <p:spPr>
          <a:xfrm>
            <a:off x="3977640" y="4672584"/>
            <a:ext cx="3749040" cy="402336"/>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First workflow chosen with care</a:t>
            </a:r>
          </a:p>
        </p:txBody>
      </p:sp>
      <p:sp>
        <p:nvSpPr>
          <p:cNvPr id="80" name="Rounded Rectangle 79"/>
          <p:cNvSpPr/>
          <p:nvPr/>
        </p:nvSpPr>
        <p:spPr>
          <a:xfrm>
            <a:off x="8001000" y="2103120"/>
            <a:ext cx="3831336" cy="3017520"/>
          </a:xfrm>
          <a:prstGeom prst="roundRect">
            <a:avLst>
              <a:gd name="adj" fmla="val 3030"/>
            </a:avLst>
          </a:prstGeom>
          <a:solidFill>
            <a:srgbClr val="FFFFFF"/>
          </a:solidFill>
          <a:ln w="12700">
            <a:solidFill>
              <a:srgbClr val="333D47"/>
            </a:solidFill>
            <a:prstDash val="dash"/>
          </a:ln>
        </p:spPr>
        <p:txBody>
          <a:bodyPr rtlCol="0" anchor="ctr"/>
          <a:lstStyle/>
          <a:p>
            <a:pPr algn="ctr"/>
          </a:p>
        </p:txBody>
      </p:sp>
      <p:sp>
        <p:nvSpPr>
          <p:cNvPr id="81" name="TextBox 80"/>
          <p:cNvSpPr txBox="1"/>
          <p:nvPr/>
        </p:nvSpPr>
        <p:spPr>
          <a:xfrm>
            <a:off x="8229600" y="2267712"/>
            <a:ext cx="3374136" cy="457200"/>
          </a:xfrm>
          <a:prstGeom prst="rect">
            <a:avLst/>
          </a:prstGeom>
          <a:noFill/>
        </p:spPr>
        <p:txBody>
          <a:bodyPr wrap="square" lIns="0" tIns="0" rIns="0" bIns="0" anchor="t">
            <a:noAutofit/>
          </a:bodyPr>
          <a:lstStyle/>
          <a:p>
            <a:pPr algn="l">
              <a:lnSpc>
                <a:spcPct val="100000"/>
              </a:lnSpc>
              <a:spcAft>
                <a:spcPts val="0"/>
              </a:spcAft>
            </a:pPr>
            <a:r>
              <a:rPr sz="1000" b="1" i="0" spc="40">
                <a:solidFill>
                  <a:srgbClr val="333D47"/>
                </a:solidFill>
                <a:latin typeface="Arial"/>
              </a:rPr>
              <a:t>BEFORE ANY FRONT-OFFICE USE</a:t>
            </a:r>
          </a:p>
          <a:p>
            <a:pPr algn="l">
              <a:lnSpc>
                <a:spcPct val="100000"/>
              </a:lnSpc>
              <a:spcAft>
                <a:spcPts val="0"/>
              </a:spcAft>
            </a:pPr>
            <a:r>
              <a:rPr sz="1000" b="0" i="0" spc="40">
                <a:solidFill>
                  <a:srgbClr val="5F6770"/>
                </a:solidFill>
                <a:latin typeface="Arial"/>
              </a:rPr>
              <a:t>Future. To be designed with Distribution, Compliance, Legal and Privacy.</a:t>
            </a:r>
          </a:p>
        </p:txBody>
      </p:sp>
      <p:sp>
        <p:nvSpPr>
          <p:cNvPr id="82" name="Diamond 81"/>
          <p:cNvSpPr/>
          <p:nvPr/>
        </p:nvSpPr>
        <p:spPr>
          <a:xfrm>
            <a:off x="8275320" y="3099816"/>
            <a:ext cx="82296" cy="82296"/>
          </a:xfrm>
          <a:prstGeom prst="diamond">
            <a:avLst/>
          </a:prstGeom>
          <a:solidFill>
            <a:srgbClr val="333D47"/>
          </a:solidFill>
          <a:ln>
            <a:noFill/>
          </a:ln>
        </p:spPr>
        <p:txBody>
          <a:bodyPr rtlCol="0" anchor="ctr"/>
          <a:lstStyle/>
          <a:p>
            <a:pPr algn="ctr"/>
          </a:p>
        </p:txBody>
      </p:sp>
      <p:sp>
        <p:nvSpPr>
          <p:cNvPr id="83" name="TextBox 82"/>
          <p:cNvSpPr txBox="1"/>
          <p:nvPr/>
        </p:nvSpPr>
        <p:spPr>
          <a:xfrm>
            <a:off x="8476488" y="2971800"/>
            <a:ext cx="3099816" cy="34747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Suitability</a:t>
            </a:r>
          </a:p>
        </p:txBody>
      </p:sp>
      <p:sp>
        <p:nvSpPr>
          <p:cNvPr id="84" name="Diamond 83"/>
          <p:cNvSpPr/>
          <p:nvPr/>
        </p:nvSpPr>
        <p:spPr>
          <a:xfrm>
            <a:off x="8275320" y="3502152"/>
            <a:ext cx="82296" cy="82296"/>
          </a:xfrm>
          <a:prstGeom prst="diamond">
            <a:avLst/>
          </a:prstGeom>
          <a:solidFill>
            <a:srgbClr val="333D47"/>
          </a:solidFill>
          <a:ln>
            <a:noFill/>
          </a:ln>
        </p:spPr>
        <p:txBody>
          <a:bodyPr rtlCol="0" anchor="ctr"/>
          <a:lstStyle/>
          <a:p>
            <a:pPr algn="ctr"/>
          </a:p>
        </p:txBody>
      </p:sp>
      <p:sp>
        <p:nvSpPr>
          <p:cNvPr id="85" name="TextBox 84"/>
          <p:cNvSpPr txBox="1"/>
          <p:nvPr/>
        </p:nvSpPr>
        <p:spPr>
          <a:xfrm>
            <a:off x="8476488" y="3374136"/>
            <a:ext cx="3099816" cy="34747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Conduct</a:t>
            </a:r>
          </a:p>
        </p:txBody>
      </p:sp>
      <p:sp>
        <p:nvSpPr>
          <p:cNvPr id="86" name="Diamond 85"/>
          <p:cNvSpPr/>
          <p:nvPr/>
        </p:nvSpPr>
        <p:spPr>
          <a:xfrm>
            <a:off x="8275320" y="3904488"/>
            <a:ext cx="82296" cy="82296"/>
          </a:xfrm>
          <a:prstGeom prst="diamond">
            <a:avLst/>
          </a:prstGeom>
          <a:solidFill>
            <a:srgbClr val="333D47"/>
          </a:solidFill>
          <a:ln>
            <a:noFill/>
          </a:ln>
        </p:spPr>
        <p:txBody>
          <a:bodyPr rtlCol="0" anchor="ctr"/>
          <a:lstStyle/>
          <a:p>
            <a:pPr algn="ctr"/>
          </a:p>
        </p:txBody>
      </p:sp>
      <p:sp>
        <p:nvSpPr>
          <p:cNvPr id="87" name="TextBox 86"/>
          <p:cNvSpPr txBox="1"/>
          <p:nvPr/>
        </p:nvSpPr>
        <p:spPr>
          <a:xfrm>
            <a:off x="8476488" y="3776472"/>
            <a:ext cx="3099816" cy="34747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Customer privacy</a:t>
            </a:r>
          </a:p>
        </p:txBody>
      </p:sp>
      <p:sp>
        <p:nvSpPr>
          <p:cNvPr id="88" name="Diamond 87"/>
          <p:cNvSpPr/>
          <p:nvPr/>
        </p:nvSpPr>
        <p:spPr>
          <a:xfrm>
            <a:off x="8275320" y="4306824"/>
            <a:ext cx="82296" cy="82296"/>
          </a:xfrm>
          <a:prstGeom prst="diamond">
            <a:avLst/>
          </a:prstGeom>
          <a:solidFill>
            <a:srgbClr val="333D47"/>
          </a:solidFill>
          <a:ln>
            <a:noFill/>
          </a:ln>
        </p:spPr>
        <p:txBody>
          <a:bodyPr rtlCol="0" anchor="ctr"/>
          <a:lstStyle/>
          <a:p>
            <a:pPr algn="ctr"/>
          </a:p>
        </p:txBody>
      </p:sp>
      <p:sp>
        <p:nvSpPr>
          <p:cNvPr id="89" name="TextBox 88"/>
          <p:cNvSpPr txBox="1"/>
          <p:nvPr/>
        </p:nvSpPr>
        <p:spPr>
          <a:xfrm>
            <a:off x="8476488" y="4178808"/>
            <a:ext cx="3099816" cy="34747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Product rules</a:t>
            </a:r>
          </a:p>
        </p:txBody>
      </p:sp>
      <p:sp>
        <p:nvSpPr>
          <p:cNvPr id="90" name="Diamond 89"/>
          <p:cNvSpPr/>
          <p:nvPr/>
        </p:nvSpPr>
        <p:spPr>
          <a:xfrm>
            <a:off x="8275320" y="4709160"/>
            <a:ext cx="82296" cy="82296"/>
          </a:xfrm>
          <a:prstGeom prst="diamond">
            <a:avLst/>
          </a:prstGeom>
          <a:solidFill>
            <a:srgbClr val="333D47"/>
          </a:solidFill>
          <a:ln>
            <a:noFill/>
          </a:ln>
        </p:spPr>
        <p:txBody>
          <a:bodyPr rtlCol="0" anchor="ctr"/>
          <a:lstStyle/>
          <a:p>
            <a:pPr algn="ctr"/>
          </a:p>
        </p:txBody>
      </p:sp>
      <p:sp>
        <p:nvSpPr>
          <p:cNvPr id="91" name="TextBox 90"/>
          <p:cNvSpPr txBox="1"/>
          <p:nvPr/>
        </p:nvSpPr>
        <p:spPr>
          <a:xfrm>
            <a:off x="8476488" y="4581144"/>
            <a:ext cx="3099816" cy="34747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Human accountability</a:t>
            </a:r>
          </a:p>
        </p:txBody>
      </p:sp>
      <p:sp>
        <p:nvSpPr>
          <p:cNvPr id="92" name="Rounded Rectangle 91"/>
          <p:cNvSpPr/>
          <p:nvPr/>
        </p:nvSpPr>
        <p:spPr>
          <a:xfrm>
            <a:off x="356616" y="5321808"/>
            <a:ext cx="11475720" cy="530352"/>
          </a:xfrm>
          <a:prstGeom prst="roundRect">
            <a:avLst>
              <a:gd name="adj" fmla="val 13793"/>
            </a:avLst>
          </a:prstGeom>
          <a:solidFill>
            <a:srgbClr val="FBE8ED"/>
          </a:solidFill>
          <a:ln>
            <a:noFill/>
          </a:ln>
        </p:spPr>
        <p:txBody>
          <a:bodyPr rtlCol="0" anchor="ctr"/>
          <a:lstStyle/>
          <a:p>
            <a:pPr algn="ctr"/>
          </a:p>
        </p:txBody>
      </p:sp>
      <p:pic>
        <p:nvPicPr>
          <p:cNvPr id="93" name="Picture 92" descr="image.png"/>
          <p:cNvPicPr>
            <a:picLocks noChangeAspect="1"/>
          </p:cNvPicPr>
          <p:nvPr/>
        </p:nvPicPr>
        <p:blipFill>
          <a:blip r:embed="rId8"/>
          <a:stretch>
            <a:fillRect/>
          </a:stretch>
        </p:blipFill>
        <p:spPr>
          <a:xfrm>
            <a:off x="521208" y="5440680"/>
            <a:ext cx="292608" cy="292608"/>
          </a:xfrm>
          <a:prstGeom prst="rect">
            <a:avLst/>
          </a:prstGeom>
        </p:spPr>
      </p:pic>
      <p:sp>
        <p:nvSpPr>
          <p:cNvPr id="94" name="TextBox 93"/>
          <p:cNvSpPr txBox="1"/>
          <p:nvPr/>
        </p:nvSpPr>
        <p:spPr>
          <a:xfrm>
            <a:off x="932688" y="5321808"/>
            <a:ext cx="10789920" cy="530352"/>
          </a:xfrm>
          <a:prstGeom prst="rect">
            <a:avLst/>
          </a:prstGeom>
          <a:noFill/>
        </p:spPr>
        <p:txBody>
          <a:bodyPr wrap="square" lIns="0" tIns="0" rIns="0" bIns="0" anchor="ctr">
            <a:noAutofit/>
          </a:bodyPr>
          <a:lstStyle/>
          <a:p>
            <a:pPr algn="l">
              <a:spcAft>
                <a:spcPts val="0"/>
              </a:spcAft>
            </a:pPr>
            <a:r>
              <a:rPr sz="1250" b="1" i="0">
                <a:solidFill>
                  <a:srgbClr val="333D47"/>
                </a:solidFill>
                <a:latin typeface="Arial"/>
              </a:rPr>
              <a:t>Phase 1 avoids these additional front-office risks </a:t>
            </a:r>
            <a:r>
              <a:rPr sz="1250" b="0" i="0">
                <a:solidFill>
                  <a:srgbClr val="333D47"/>
                </a:solidFill>
                <a:latin typeface="Arial"/>
              </a:rPr>
              <a:t>by starting with a controlled internal workflow.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a:xfrm>
            <a:off x="356616" y="1143000"/>
            <a:ext cx="5943600" cy="1097280"/>
          </a:xfrm>
        </p:spPr>
        <p:txBody>
          <a:bodyPr lIns="0" tIns="0" rIns="0" bIns="0" anchor="t"/>
          <a:lstStyle/>
          <a:p>
            <a:pPr algn="l">
              <a:lnSpc>
                <a:spcPct val="92000"/>
              </a:lnSpc>
              <a:spcAft>
                <a:spcPts val="0"/>
              </a:spcAft>
            </a:pPr>
            <a:r>
              <a:rPr sz="4000" b="1" i="0">
                <a:solidFill>
                  <a:srgbClr val="FFFFFF"/>
                </a:solidFill>
                <a:latin typeface="Arial"/>
              </a:rPr>
              <a:t>Fund Phase 1.</a:t>
            </a:r>
          </a:p>
          <a:p>
            <a:pPr algn="l">
              <a:lnSpc>
                <a:spcPct val="92000"/>
              </a:lnSpc>
              <a:spcAft>
                <a:spcPts val="0"/>
              </a:spcAft>
            </a:pPr>
            <a:r>
              <a:rPr sz="4000" b="1" i="0">
                <a:solidFill>
                  <a:srgbClr val="FFFFFF"/>
                </a:solidFill>
                <a:latin typeface="Arial"/>
              </a:rPr>
              <a:t>Let the evidence decide.</a:t>
            </a:r>
          </a:p>
        </p:txBody>
      </p:sp>
      <p:sp>
        <p:nvSpPr>
          <p:cNvPr id="4" name="TextBox 3"/>
          <p:cNvSpPr txBox="1"/>
          <p:nvPr/>
        </p:nvSpPr>
        <p:spPr>
          <a:xfrm>
            <a:off x="356616" y="2542032"/>
            <a:ext cx="5852160" cy="329184"/>
          </a:xfrm>
          <a:prstGeom prst="rect">
            <a:avLst/>
          </a:prstGeom>
          <a:noFill/>
        </p:spPr>
        <p:txBody>
          <a:bodyPr wrap="square" lIns="0" tIns="0" rIns="0" bIns="0" anchor="t">
            <a:noAutofit/>
          </a:bodyPr>
          <a:lstStyle/>
          <a:p>
            <a:pPr algn="l">
              <a:spcAft>
                <a:spcPts val="0"/>
              </a:spcAft>
            </a:pPr>
            <a:r>
              <a:rPr sz="1500" b="0" i="0">
                <a:solidFill>
                  <a:srgbClr val="FFFFFF"/>
                </a:solidFill>
                <a:latin typeface="Arial"/>
              </a:rPr>
              <a:t>Phase 1 establishes whether Riley deserves to scale.</a:t>
            </a:r>
          </a:p>
        </p:txBody>
      </p:sp>
      <p:sp>
        <p:nvSpPr>
          <p:cNvPr id="5" name="TextBox 4"/>
          <p:cNvSpPr txBox="1"/>
          <p:nvPr/>
        </p:nvSpPr>
        <p:spPr>
          <a:xfrm>
            <a:off x="356616" y="299923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FUND</a:t>
            </a:r>
          </a:p>
        </p:txBody>
      </p:sp>
      <p:sp>
        <p:nvSpPr>
          <p:cNvPr id="6" name="TextBox 5"/>
          <p:cNvSpPr txBox="1"/>
          <p:nvPr/>
        </p:nvSpPr>
        <p:spPr>
          <a:xfrm>
            <a:off x="1417320" y="297180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Phase 1: one team, one workflow, minimum capabilities, about 3 months. Preliminary estimate ~US$20,000–60,000 incremental. Phase 2–3 costs scoped from Phase 1 results.</a:t>
            </a:r>
          </a:p>
        </p:txBody>
      </p:sp>
      <p:sp>
        <p:nvSpPr>
          <p:cNvPr id="7" name="TextBox 6"/>
          <p:cNvSpPr txBox="1"/>
          <p:nvPr/>
        </p:nvSpPr>
        <p:spPr>
          <a:xfrm>
            <a:off x="356616" y="373075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PEOPLE</a:t>
            </a:r>
          </a:p>
        </p:txBody>
      </p:sp>
      <p:sp>
        <p:nvSpPr>
          <p:cNvPr id="8" name="TextBox 7"/>
          <p:cNvSpPr txBox="1"/>
          <p:nvPr/>
        </p:nvSpPr>
        <p:spPr>
          <a:xfrm>
            <a:off x="1417320" y="370332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A business sponsor, a small build pod, a business quality reviewer, system and data owners, and Group Innovation Office mentorship.</a:t>
            </a:r>
          </a:p>
        </p:txBody>
      </p:sp>
      <p:sp>
        <p:nvSpPr>
          <p:cNvPr id="9" name="TextBox 8"/>
          <p:cNvSpPr txBox="1"/>
          <p:nvPr/>
        </p:nvSpPr>
        <p:spPr>
          <a:xfrm>
            <a:off x="356616" y="446227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LEARN</a:t>
            </a:r>
          </a:p>
        </p:txBody>
      </p:sp>
      <p:sp>
        <p:nvSpPr>
          <p:cNvPr id="10" name="TextBox 9"/>
          <p:cNvSpPr txBox="1"/>
          <p:nvPr/>
        </p:nvSpPr>
        <p:spPr>
          <a:xfrm>
            <a:off x="1417320" y="443484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Month 4: measured effort, quality, adoption and completed outputs. Month 7: whether AIA can add another approved capability underneath Riley without a new tool for employees.</a:t>
            </a:r>
          </a:p>
        </p:txBody>
      </p:sp>
      <p:sp>
        <p:nvSpPr>
          <p:cNvPr id="11" name="TextBox 10"/>
          <p:cNvSpPr txBox="1"/>
          <p:nvPr/>
        </p:nvSpPr>
        <p:spPr>
          <a:xfrm>
            <a:off x="356616" y="5285232"/>
            <a:ext cx="5897880" cy="640080"/>
          </a:xfrm>
          <a:prstGeom prst="rect">
            <a:avLst/>
          </a:prstGeom>
          <a:noFill/>
        </p:spPr>
        <p:txBody>
          <a:bodyPr wrap="square" lIns="0" tIns="0" rIns="0" bIns="0" anchor="t">
            <a:noAutofit/>
          </a:bodyPr>
          <a:lstStyle/>
          <a:p>
            <a:pPr algn="l">
              <a:lnSpc>
                <a:spcPct val="100000"/>
              </a:lnSpc>
              <a:spcAft>
                <a:spcPts val="0"/>
              </a:spcAft>
            </a:pPr>
            <a:r>
              <a:rPr sz="1550" b="1" i="0">
                <a:solidFill>
                  <a:srgbClr val="FFFFFF"/>
                </a:solidFill>
                <a:latin typeface="Arial"/>
              </a:rPr>
              <a:t>The ambition: one AI coworker for every AIA employee and agent. The first step: one internal workflow, measured.</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