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Accuracy</c:v>
                </c:pt>
              </c:strCache>
            </c:strRef>
          </c:tx>
          <c:spPr>
            <a:solidFill>
              <a:srgbClr val="C9CDD1"/>
            </a:solidFill>
          </c:spPr>
          <c:dPt>
            <c:idx val="0"/>
            <c:spPr>
              <a:solidFill>
                <a:srgbClr val="C9CDD1"/>
              </a:solidFill>
            </c:spPr>
          </c:dPt>
          <c:dPt>
            <c:idx val="1"/>
            <c:spPr>
              <a:solidFill>
                <a:srgbClr val="333D47"/>
              </a:solidFill>
            </c:spPr>
          </c:dPt>
          <c:dPt>
            <c:idx val="2"/>
            <c:spPr>
              <a:solidFill>
                <a:srgbClr val="C9CDD1"/>
              </a:solidFill>
            </c:spPr>
          </c:dPt>
          <c:dPt>
            <c:idx val="3"/>
            <c:spPr>
              <a:solidFill>
                <a:srgbClr val="333D47"/>
              </a:solidFill>
            </c:spPr>
          </c:dPt>
          <c:dPt>
            <c:idx val="4"/>
            <c:spPr>
              <a:solidFill>
                <a:srgbClr val="D31145"/>
              </a:solidFill>
            </c:spPr>
          </c:dPt>
          <c:cat>
            <c:strRef>
              <c:f>Sheet1!$A$2:$A$6</c:f>
              <c:strCache>
                <c:ptCount val="5"/>
                <c:pt idx="0">
                  <c:v>PaddleOCR Light
English only
19/51</c:v>
                </c:pt>
                <c:pt idx="1">
                  <c:v>PaddleOCR Light
+ Chinese*
26/51</c:v>
                </c:pt>
                <c:pt idx="2">
                  <c:v>Azure DI
English only
21/51</c:v>
                </c:pt>
                <c:pt idx="3">
                  <c:v>Azure DI
+ Chinese*
36/51</c:v>
                </c:pt>
                <c:pt idx="4">
                  <c:v>Azure DI
+ AOAI
45/51</c:v>
                </c:pt>
              </c:strCache>
            </c:strRef>
          </c:cat>
          <c:val>
            <c:numRef>
              <c:f>Sheet1!$B$2:$B$6</c:f>
              <c:numCache>
                <c:formatCode>General</c:formatCode>
                <c:ptCount val="5"/>
                <c:pt idx="0">
                  <c:v>37.3</c:v>
                </c:pt>
                <c:pt idx="1">
                  <c:v>51.0</c:v>
                </c:pt>
                <c:pt idx="2">
                  <c:v>41.2</c:v>
                </c:pt>
                <c:pt idx="3">
                  <c:v>70.6</c:v>
                </c:pt>
                <c:pt idx="4">
                  <c:v>88.2</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55"/>
        <c:overlap val="-8"/>
        <c:axId val="-2068027336"/>
        <c:axId val="-2113994440"/>
      </c:barChart>
      <c:catAx>
        <c:axId val="-2068027336"/>
        <c:scaling>
          <c:orientation val="minMax"/>
        </c:scaling>
        <c:delete val="0"/>
        <c:axPos val="b"/>
        <c:majorTickMark val="out"/>
        <c:minorTickMark val="none"/>
        <c:tickLblPos val="nextTo"/>
        <c:spPr>
          <a:ln>
            <a:solidFill>
              <a:srgbClr val="C9CDD1"/>
            </a:solidFill>
          </a:ln>
        </c:spPr>
        <c:txPr>
          <a:bodyPr/>
          <a:lstStyle/>
          <a:p>
            <a:pPr>
              <a:defRPr sz="1050"/>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crossAx val="-2068027336"/>
        <c:crosses val="autoZero"/>
      </c:valAx>
    </c:plotArea>
    <c:dispBlanksAs val="gap"/>
  </c:chart>
  <c:txPr>
    <a:bodyPr/>
    <a:lstStyle/>
    <a:p>
      <a:pPr>
        <a:defRPr sz="1200">
          <a:solidFill>
            <a:srgbClr val="333D47"/>
          </a:solidFill>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is OCR with hand-written extraction rules enough to replace Azure OpenAI (AOAI) for medical receipts, and what value does AOAI add? Every number comes from the saved benchmark results.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implementations: rules 37.3–41.2%, AOAI 88.2% (the first rules had no Chinese labels). With common Chinese labels added (retrospective baseline): rules 51.0–70.6%. Prompt v2: 96.1%, a development result. Rules must anticipate each new label, language and layout in code; AOAI follows plain-language instructions, which often cover varied wording, though this is not guaranteed for unseen layouts. Extra medical fields are potential, not yet benchmarked.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receipts: 7 printed, fictional test receipts photographed with a phone (English, bilingual and Traditional Chinese layouts) and 2 receipts from the first benchmark round. Six fields: doctor, registration number, patient, receipt number, service date, total; 51 fields are printed on the receipts and scored. Azure OpenAI deployment: gpt-5-mini.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 correct fields / 51 on the 9 receipts. The AOAI prompt was written before these receipts existed. The first rules knew English labels only (37.3–41.2%); on the Chinese and bilingual receipts the OCR read the values but the rules could not find them (e.g. the patient name 蔡嘉穎 was returned as the label 病人). The multilingual baseline adds common Traditional and Simplified Chinese translations of the existing labels and basic bilingual handling, nothing else (docs/MULTILINGUAL_BASELINE.md, committed before scoring). It fixed 7 fields on PaddleOCR Light and 15 on Azure DI and broke none. Remaining rule errors need new label types, labels inside lines, layout logic or OCR-tolerant matching; PaddleOCR Light gained less because its OCR glues words and mixes characters in bilingual labels. Retrospective: Chinese labels added after these receipts were examined (rules fixed before scoring); not an independent test. The rules tuned later on these receipts are not shown because that says nothing about new formats.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prompt 88.2% (45/51); prompt v2 96.1% (49/51). Prompt v2 was written after reviewing these errors, so this is a development result. The four fixes are already in the model's own reply, before any Python check, and appear the same with plain or row-grouped OCR text and with the photo attached; the Python checks changed no value. So the gain came from the prompt wording alone. Still wrong: the vet invoice doctor (two practitioners; OCR misread the signature) and the pharmacy service date (open ground-truth question). Registration number is printed on 6 of the 9 receipts. Prompt text: receipt_bench/di_aoai.py, commit 034d7d5.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to handle these 9 receipts the label vocabulary grew from 69 to 225 hand-written phrases (Chinese and bilingual labels, distractor labels, layout handling), and one change broke 1 field that was already correct. AOAI: one prompt revision fixed 4 fields and broke 0. Whether AOAI copes with layouts it has not seen is expected, not proven: it has not been tested on enough unseen receipts. Diagnosis-comment check (results/diagnosis): rules matched AOAI on 13/13 receipts, because the comments sat under clear labels.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initial accuracy (rules 37.3–41.2%, 51.0–70.6% with Chinese labels in the retrospective baseline; AOAI 88.2%; prompt v2 96.1%, development result); speed per receipt (PaddleOCR Light 13.9 s on Azure ML CPU, Azure DI 3.8 s, Azure DI + AOAI 6.2 s incl. network); AOAI tokens per receipt with the original prompt (602 input, 263 output); rule effort (69 -&gt; 225 label phrases) and the vet invoice sub-total error. Prices are not confirmed. Flexibility, auditability and model-update effects are expectations.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Potential only: extraction of these fields has not been built or benchmarked. The table shows text that Azure DI already read from our benchmark receipts (checked in the saved OCR output); it illustrates the target output, not AOAI results. Rules would need new labels and logic for every such detail. Possible uses depend on a pilot with ground truth, accuracy targets, a privacy review and cost checks.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receipts and 51 fields; 7 are printed, fictional test receipts. The original rules had no Chinese labels, so the initial gap overstates what rules can do; with common Chinese labels added (retrospective baseline, rules fixed before scoring but written after these receipts were examined) they reached 51.0–70.6%. Prompt v2 (and the rules) were tuned on the same receipts; the tuned rule accuracy is not shown for that reason, and 96.1% is a development result. Unseen test: only 4 handwritten Version 1 receipts were not used for tuning; on all 4, Azure DI read the handwritten year 2026 as 2020 (results/v1_heldout), an OCR error no extraction step can fix. Prices are not confirmed.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are sufficient where layouts are few and stable, fields have clear labels and the question is simple (for example whether a diagnosis comment is present). AOAI adds value where providers, layouts and languages vary, where fields lack consistent labels, and potentially for richer medical data (not yet benchmarked). Next steps: freeze the rules and prompt v2; test on 30+ unseen, real, anonymised receipts and count the rule changes needed; pilot medications, treatments, symptoms and diagnoses with ground truth; confirm prices.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1280160" cy="121920"/>
          </a:xfrm>
          <a:prstGeom prst="rect">
            <a:avLst/>
          </a:prstGeom>
        </p:spPr>
        <p:txBody>
          <a:bodyPr horzOverflow="overflow" lIns="0" tIns="0" rIns="0" bIns="0" wrap="none">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480560"/>
            <a:ext cx="6035040" cy="822960"/>
          </a:xfrm>
        </p:spPr>
        <p:txBody>
          <a:bodyPr/>
          <a:lstStyle/>
          <a:p>
            <a:r>
              <a:rPr>
                <a:latin typeface="Arial"/>
                <a:ea typeface="Microsoft JhengHei"/>
              </a:rPr>
              <a:t>Medical receipt extraction benchmark</a:t>
            </a:r>
          </a:p>
          <a:p>
            <a:r>
              <a:rPr>
                <a:latin typeface="Arial"/>
                <a:ea typeface="Microsoft JhengHei"/>
              </a:rPr>
              <a:t>9 receipts · 6 fields · rules vs AI extraction</a:t>
            </a:r>
          </a:p>
        </p:txBody>
      </p:sp>
      <p:sp>
        <p:nvSpPr>
          <p:cNvPr id="3" name="Text Placeholder 2"/>
          <p:cNvSpPr>
            <a:spLocks noGrp="1"/>
          </p:cNvSpPr>
          <p:nvPr>
            <p:ph type="body" idx="10" sz="quarter"/>
          </p:nvPr>
        </p:nvSpPr>
        <p:spPr/>
        <p:txBody>
          <a:bodyPr/>
          <a:lstStyle/>
          <a:p>
            <a:r>
              <a:rPr>
                <a:latin typeface="Arial"/>
                <a:ea typeface="Microsoft JhengHei"/>
              </a:rPr>
              <a:t>Can OCR Rules Replace Azure OpenAI?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The Answer in Brief</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Rules are enough for simple, clearly labelled checks, not as a general replacement for AOAI.</a:t>
            </a:r>
          </a:p>
        </p:txBody>
      </p:sp>
      <p:sp>
        <p:nvSpPr>
          <p:cNvPr id="12" name="Rectangle 11"/>
          <p:cNvSpPr/>
          <p:nvPr/>
        </p:nvSpPr>
        <p:spPr>
          <a:xfrm>
            <a:off x="356616" y="1783080"/>
            <a:ext cx="3931920" cy="3611880"/>
          </a:xfrm>
          <a:prstGeom prst="rect">
            <a:avLst/>
          </a:prstGeom>
          <a:solidFill>
            <a:srgbClr val="333D47"/>
          </a:solidFill>
          <a:ln>
            <a:noFill/>
          </a:ln>
        </p:spPr>
        <p:txBody>
          <a:bodyPr rtlCol="0" anchor="ctr" wrap="square" lIns="274320" rIns="274320" tIns="109728" bIns="109728"/>
          <a:lstStyle/>
          <a:p>
            <a:pPr algn="l" marL="0" indent="0">
              <a:spcAft>
                <a:spcPts val="1400"/>
              </a:spcAft>
              <a:buNone/>
            </a:pPr>
            <a:r>
              <a:rPr sz="2400" b="1" i="0">
                <a:solidFill>
                  <a:srgbClr val="FFFFFF"/>
                </a:solidFill>
                <a:latin typeface="Arial"/>
                <a:ea typeface="Microsoft JhengHei"/>
              </a:rPr>
              <a:t>Not as a general replacement.</a:t>
            </a:r>
          </a:p>
          <a:p>
            <a:pPr marL="0" indent="0" algn="l">
              <a:spcAft>
                <a:spcPts val="1000"/>
              </a:spcAft>
              <a:buNone/>
            </a:pPr>
            <a:r>
              <a:rPr sz="1500" b="0" i="0">
                <a:solidFill>
                  <a:srgbClr val="FFFFFF"/>
                </a:solidFill>
                <a:latin typeface="Arial"/>
                <a:ea typeface="Microsoft JhengHei"/>
              </a:rPr>
              <a:t>Rules work for simple, clearly labelled checks.</a:t>
            </a:r>
          </a:p>
          <a:p>
            <a:pPr marL="0" indent="0" algn="l">
              <a:spcAft>
                <a:spcPts val="0"/>
              </a:spcAft>
              <a:buNone/>
            </a:pPr>
            <a:r>
              <a:rPr sz="1500" b="0" i="0">
                <a:solidFill>
                  <a:srgbClr val="FFFFFF"/>
                </a:solidFill>
                <a:latin typeface="Arial"/>
                <a:ea typeface="Microsoft JhengHei"/>
              </a:rPr>
              <a:t>AOAI reduces the case-by-case logic we must write, and could unlock richer medical data.</a:t>
            </a:r>
          </a:p>
        </p:txBody>
      </p:sp>
      <p:sp>
        <p:nvSpPr>
          <p:cNvPr id="13" name="Rectangle 12"/>
          <p:cNvSpPr/>
          <p:nvPr/>
        </p:nvSpPr>
        <p:spPr>
          <a:xfrm>
            <a:off x="4526280" y="1783080"/>
            <a:ext cx="3383280" cy="1097280"/>
          </a:xfrm>
          <a:prstGeom prst="rect">
            <a:avLst/>
          </a:prstGeom>
          <a:solidFill>
            <a:srgbClr val="F2F2F2"/>
          </a:solidFill>
          <a:ln>
            <a:noFill/>
          </a:ln>
        </p:spPr>
        <p:txBody>
          <a:bodyPr rtlCol="0" anchor="ctr" wrap="square" lIns="182880" rIns="182880" tIns="109728" bIns="109728"/>
          <a:lstStyle/>
          <a:p>
            <a:pPr algn="l" marL="0" indent="0">
              <a:spcAft>
                <a:spcPts val="0"/>
              </a:spcAft>
              <a:buNone/>
            </a:pPr>
            <a:r>
              <a:rPr sz="2000" b="1" i="0">
                <a:solidFill>
                  <a:srgbClr val="D31145"/>
                </a:solidFill>
                <a:latin typeface="Arial"/>
                <a:ea typeface="Microsoft JhengHei"/>
              </a:rPr>
              <a:t>88.2% vs 51.0–70.6%</a:t>
            </a:r>
          </a:p>
        </p:txBody>
      </p:sp>
      <p:sp>
        <p:nvSpPr>
          <p:cNvPr id="14" name="TextBox 13"/>
          <p:cNvSpPr txBox="1"/>
          <p:nvPr/>
        </p:nvSpPr>
        <p:spPr>
          <a:xfrm>
            <a:off x="8092440" y="1783080"/>
            <a:ext cx="3739896" cy="1097280"/>
          </a:xfrm>
          <a:prstGeom prst="rect">
            <a:avLst/>
          </a:prstGeom>
          <a:noFill/>
        </p:spPr>
        <p:txBody>
          <a:bodyPr wrap="square" lIns="0" rIns="0" tIns="0" bIns="0" anchor="ctr"/>
          <a:lstStyle/>
          <a:p>
            <a:pPr marL="0" indent="0" algn="l">
              <a:spcAft>
                <a:spcPts val="0"/>
              </a:spcAft>
              <a:buNone/>
            </a:pPr>
            <a:r>
              <a:rPr sz="1400" b="0" i="0">
                <a:solidFill>
                  <a:srgbClr val="333D47"/>
                </a:solidFill>
                <a:latin typeface="Arial"/>
                <a:ea typeface="Microsoft JhengHei"/>
              </a:rPr>
              <a:t>Even with Chinese labels added (retrospective), rules trailed AOAI. The English-only first rules: 37.3–41.2%.</a:t>
            </a:r>
          </a:p>
        </p:txBody>
      </p:sp>
      <p:sp>
        <p:nvSpPr>
          <p:cNvPr id="15" name="Rectangle 14"/>
          <p:cNvSpPr/>
          <p:nvPr/>
        </p:nvSpPr>
        <p:spPr>
          <a:xfrm>
            <a:off x="4526280" y="3008376"/>
            <a:ext cx="3383280" cy="1097280"/>
          </a:xfrm>
          <a:prstGeom prst="rect">
            <a:avLst/>
          </a:prstGeom>
          <a:solidFill>
            <a:srgbClr val="F2F2F2"/>
          </a:solidFill>
          <a:ln>
            <a:noFill/>
          </a:ln>
        </p:spPr>
        <p:txBody>
          <a:bodyPr rtlCol="0" anchor="ctr" wrap="square" lIns="182880" rIns="182880" tIns="109728" bIns="109728"/>
          <a:lstStyle/>
          <a:p>
            <a:pPr algn="l" marL="0" indent="0">
              <a:spcAft>
                <a:spcPts val="0"/>
              </a:spcAft>
              <a:buNone/>
            </a:pPr>
            <a:r>
              <a:rPr sz="2000" b="1" i="0">
                <a:solidFill>
                  <a:srgbClr val="D31145"/>
                </a:solidFill>
                <a:latin typeface="Arial"/>
                <a:ea typeface="Microsoft JhengHei"/>
              </a:rPr>
              <a:t>96.1% (development)</a:t>
            </a:r>
          </a:p>
        </p:txBody>
      </p:sp>
      <p:sp>
        <p:nvSpPr>
          <p:cNvPr id="16" name="TextBox 15"/>
          <p:cNvSpPr txBox="1"/>
          <p:nvPr/>
        </p:nvSpPr>
        <p:spPr>
          <a:xfrm>
            <a:off x="8092440" y="3008376"/>
            <a:ext cx="3739896" cy="1097280"/>
          </a:xfrm>
          <a:prstGeom prst="rect">
            <a:avLst/>
          </a:prstGeom>
          <a:noFill/>
        </p:spPr>
        <p:txBody>
          <a:bodyPr wrap="square" lIns="0" rIns="0" tIns="0" bIns="0" anchor="ctr"/>
          <a:lstStyle/>
          <a:p>
            <a:pPr marL="0" indent="0" algn="l">
              <a:spcAft>
                <a:spcPts val="0"/>
              </a:spcAft>
              <a:buNone/>
            </a:pPr>
            <a:r>
              <a:rPr sz="1400" b="0" i="0">
                <a:solidFill>
                  <a:srgbClr val="333D47"/>
                </a:solidFill>
                <a:latin typeface="Arial"/>
                <a:ea typeface="Microsoft JhengHei"/>
              </a:rPr>
              <a:t>Clearer prompt instructions fixed four more fields. Not yet independently validated.</a:t>
            </a:r>
          </a:p>
        </p:txBody>
      </p:sp>
      <p:sp>
        <p:nvSpPr>
          <p:cNvPr id="17" name="Rectangle 16"/>
          <p:cNvSpPr/>
          <p:nvPr/>
        </p:nvSpPr>
        <p:spPr>
          <a:xfrm>
            <a:off x="4526280" y="4233672"/>
            <a:ext cx="3383280" cy="1097280"/>
          </a:xfrm>
          <a:prstGeom prst="rect">
            <a:avLst/>
          </a:prstGeom>
          <a:solidFill>
            <a:srgbClr val="F2F2F2"/>
          </a:solidFill>
          <a:ln>
            <a:noFill/>
          </a:ln>
        </p:spPr>
        <p:txBody>
          <a:bodyPr rtlCol="0" anchor="ctr" wrap="square" lIns="182880" rIns="182880" tIns="109728" bIns="109728"/>
          <a:lstStyle/>
          <a:p>
            <a:pPr algn="l" marL="0" indent="0">
              <a:spcAft>
                <a:spcPts val="0"/>
              </a:spcAft>
              <a:buNone/>
            </a:pPr>
            <a:r>
              <a:rPr sz="2000" b="1" i="0">
                <a:solidFill>
                  <a:srgbClr val="D31145"/>
                </a:solidFill>
                <a:latin typeface="Arial"/>
                <a:ea typeface="Microsoft JhengHei"/>
              </a:rPr>
              <a:t>Less logic to maintain</a:t>
            </a:r>
          </a:p>
        </p:txBody>
      </p:sp>
      <p:sp>
        <p:nvSpPr>
          <p:cNvPr id="18" name="TextBox 17"/>
          <p:cNvSpPr txBox="1"/>
          <p:nvPr/>
        </p:nvSpPr>
        <p:spPr>
          <a:xfrm>
            <a:off x="8092440" y="4233672"/>
            <a:ext cx="3739896" cy="1097280"/>
          </a:xfrm>
          <a:prstGeom prst="rect">
            <a:avLst/>
          </a:prstGeom>
          <a:noFill/>
        </p:spPr>
        <p:txBody>
          <a:bodyPr wrap="square" lIns="0" rIns="0" tIns="0" bIns="0" anchor="ctr"/>
          <a:lstStyle/>
          <a:p>
            <a:pPr marL="0" indent="0" algn="l">
              <a:spcAft>
                <a:spcPts val="0"/>
              </a:spcAft>
              <a:buNone/>
            </a:pPr>
            <a:r>
              <a:rPr sz="1400" b="0" i="0">
                <a:solidFill>
                  <a:srgbClr val="333D47"/>
                </a:solidFill>
                <a:latin typeface="Arial"/>
                <a:ea typeface="Microsoft JhengHei"/>
              </a:rPr>
              <a:t>Rules must anticipate every label, language and layout. AOAI works from plain-language instructions.</a:t>
            </a:r>
          </a:p>
        </p:txBody>
      </p:sp>
      <p:sp>
        <p:nvSpPr>
          <p:cNvPr id="19" name="TextBox 18"/>
          <p:cNvSpPr txBox="1"/>
          <p:nvPr/>
        </p:nvSpPr>
        <p:spPr>
          <a:xfrm>
            <a:off x="356616" y="553212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Small benchmark: 9 receipts. Development results are not independent validation.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What We Compared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Three ways to turn a receipt photo into six fields. Only the extraction step differs between rules and AI.</a:t>
            </a:r>
          </a:p>
        </p:txBody>
      </p:sp>
      <p:sp>
        <p:nvSpPr>
          <p:cNvPr id="12" name="TextBox 11"/>
          <p:cNvSpPr txBox="1"/>
          <p:nvPr/>
        </p:nvSpPr>
        <p:spPr>
          <a:xfrm>
            <a:off x="356616" y="1783080"/>
            <a:ext cx="2514600" cy="603504"/>
          </a:xfrm>
          <a:prstGeom prst="rect">
            <a:avLst/>
          </a:prstGeom>
          <a:noFill/>
        </p:spPr>
        <p:txBody>
          <a:bodyPr wrap="square" lIns="0" rIns="0" tIns="0" bIns="0" anchor="ctr"/>
          <a:lstStyle/>
          <a:p>
            <a:pPr marL="0" indent="0" algn="l">
              <a:spcAft>
                <a:spcPts val="0"/>
              </a:spcAft>
              <a:buNone/>
            </a:pPr>
            <a:r>
              <a:rPr sz="1500" b="1" i="0">
                <a:solidFill>
                  <a:srgbClr val="333D47"/>
                </a:solidFill>
                <a:latin typeface="Arial"/>
                <a:ea typeface="Microsoft JhengHei"/>
              </a:rPr>
              <a:t>PaddleOCR Light + rules</a:t>
            </a:r>
          </a:p>
        </p:txBody>
      </p:sp>
      <p:sp>
        <p:nvSpPr>
          <p:cNvPr id="13" name="Rectangle 12"/>
          <p:cNvSpPr/>
          <p:nvPr/>
        </p:nvSpPr>
        <p:spPr>
          <a:xfrm>
            <a:off x="2926080" y="1783080"/>
            <a:ext cx="32461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PaddleOCR Light</a:t>
            </a:r>
          </a:p>
          <a:p>
            <a:pPr marL="0" indent="0" algn="l">
              <a:spcAft>
                <a:spcPts val="0"/>
              </a:spcAft>
              <a:buNone/>
            </a:pPr>
            <a:r>
              <a:rPr sz="1100" b="0" i="0">
                <a:solidFill>
                  <a:srgbClr val="5F6770"/>
                </a:solidFill>
                <a:latin typeface="Arial"/>
                <a:ea typeface="Microsoft JhengHei"/>
              </a:rPr>
              <a:t>open source, own compute</a:t>
            </a:r>
          </a:p>
        </p:txBody>
      </p:sp>
      <p:sp>
        <p:nvSpPr>
          <p:cNvPr id="14" name="Right Arrow 13"/>
          <p:cNvSpPr/>
          <p:nvPr/>
        </p:nvSpPr>
        <p:spPr>
          <a:xfrm>
            <a:off x="6263640" y="1965960"/>
            <a:ext cx="365760" cy="237744"/>
          </a:xfrm>
          <a:prstGeom prst="rightArrow">
            <a:avLst/>
          </a:prstGeom>
          <a:solidFill>
            <a:srgbClr val="8C939A"/>
          </a:solidFill>
          <a:ln>
            <a:noFill/>
          </a:ln>
        </p:spPr>
        <p:txBody>
          <a:bodyPr rtlCol="0" anchor="ctr"/>
          <a:lstStyle/>
          <a:p>
            <a:pPr algn="ctr"/>
          </a:p>
        </p:txBody>
      </p:sp>
      <p:sp>
        <p:nvSpPr>
          <p:cNvPr id="15" name="Rectangle 14"/>
          <p:cNvSpPr/>
          <p:nvPr/>
        </p:nvSpPr>
        <p:spPr>
          <a:xfrm>
            <a:off x="6720840" y="1783080"/>
            <a:ext cx="30175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Hand-written rules</a:t>
            </a:r>
          </a:p>
        </p:txBody>
      </p:sp>
      <p:sp>
        <p:nvSpPr>
          <p:cNvPr id="16" name="Right Arrow 15"/>
          <p:cNvSpPr/>
          <p:nvPr/>
        </p:nvSpPr>
        <p:spPr>
          <a:xfrm>
            <a:off x="9829800" y="1965960"/>
            <a:ext cx="365760" cy="237744"/>
          </a:xfrm>
          <a:prstGeom prst="rightArrow">
            <a:avLst/>
          </a:prstGeom>
          <a:solidFill>
            <a:srgbClr val="8C939A"/>
          </a:solidFill>
          <a:ln>
            <a:noFill/>
          </a:ln>
        </p:spPr>
        <p:txBody>
          <a:bodyPr rtlCol="0" anchor="ctr"/>
          <a:lstStyle/>
          <a:p>
            <a:pPr algn="ctr"/>
          </a:p>
        </p:txBody>
      </p:sp>
      <p:sp>
        <p:nvSpPr>
          <p:cNvPr id="17" name="Rectangle 16"/>
          <p:cNvSpPr/>
          <p:nvPr/>
        </p:nvSpPr>
        <p:spPr>
          <a:xfrm>
            <a:off x="10287000" y="1783080"/>
            <a:ext cx="1545336" cy="603504"/>
          </a:xfrm>
          <a:prstGeom prst="rect">
            <a:avLst/>
          </a:prstGeom>
          <a:solidFill>
            <a:srgbClr val="F2F2F2"/>
          </a:solidFill>
          <a:ln>
            <a:noFill/>
          </a:ln>
        </p:spPr>
        <p:txBody>
          <a:bodyPr rtlCol="0" anchor="ctr" wrap="square" lIns="0" rIns="0" tIns="0" bIns="0"/>
          <a:lstStyle/>
          <a:p>
            <a:pPr algn="ctr" marL="0" indent="0">
              <a:spcAft>
                <a:spcPts val="0"/>
              </a:spcAft>
              <a:buNone/>
            </a:pPr>
            <a:r>
              <a:rPr sz="1350" b="1" i="0">
                <a:solidFill>
                  <a:srgbClr val="333D47"/>
                </a:solidFill>
                <a:latin typeface="Arial"/>
                <a:ea typeface="Microsoft JhengHei"/>
              </a:rPr>
              <a:t>6 fields</a:t>
            </a:r>
          </a:p>
        </p:txBody>
      </p:sp>
      <p:sp>
        <p:nvSpPr>
          <p:cNvPr id="18" name="TextBox 17"/>
          <p:cNvSpPr txBox="1"/>
          <p:nvPr/>
        </p:nvSpPr>
        <p:spPr>
          <a:xfrm>
            <a:off x="356616" y="2532888"/>
            <a:ext cx="2514600" cy="603504"/>
          </a:xfrm>
          <a:prstGeom prst="rect">
            <a:avLst/>
          </a:prstGeom>
          <a:noFill/>
        </p:spPr>
        <p:txBody>
          <a:bodyPr wrap="square" lIns="0" rIns="0" tIns="0" bIns="0" anchor="ctr"/>
          <a:lstStyle/>
          <a:p>
            <a:pPr marL="0" indent="0" algn="l">
              <a:spcAft>
                <a:spcPts val="0"/>
              </a:spcAft>
              <a:buNone/>
            </a:pPr>
            <a:r>
              <a:rPr sz="1500" b="1" i="0">
                <a:solidFill>
                  <a:srgbClr val="333D47"/>
                </a:solidFill>
                <a:latin typeface="Arial"/>
                <a:ea typeface="Microsoft JhengHei"/>
              </a:rPr>
              <a:t>Azure DI + rules</a:t>
            </a:r>
          </a:p>
        </p:txBody>
      </p:sp>
      <p:sp>
        <p:nvSpPr>
          <p:cNvPr id="19" name="Rectangle 18"/>
          <p:cNvSpPr/>
          <p:nvPr/>
        </p:nvSpPr>
        <p:spPr>
          <a:xfrm>
            <a:off x="2926080" y="2532888"/>
            <a:ext cx="32461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Azure Document Intelligence</a:t>
            </a:r>
          </a:p>
          <a:p>
            <a:pPr marL="0" indent="0" algn="l">
              <a:spcAft>
                <a:spcPts val="0"/>
              </a:spcAft>
              <a:buNone/>
            </a:pPr>
            <a:r>
              <a:rPr sz="1100" b="0" i="0">
                <a:solidFill>
                  <a:srgbClr val="5F6770"/>
                </a:solidFill>
                <a:latin typeface="Arial"/>
                <a:ea typeface="Microsoft JhengHei"/>
              </a:rPr>
              <a:t>cloud OCR</a:t>
            </a:r>
          </a:p>
        </p:txBody>
      </p:sp>
      <p:sp>
        <p:nvSpPr>
          <p:cNvPr id="20" name="Right Arrow 19"/>
          <p:cNvSpPr/>
          <p:nvPr/>
        </p:nvSpPr>
        <p:spPr>
          <a:xfrm>
            <a:off x="6263640" y="2715768"/>
            <a:ext cx="365760" cy="237744"/>
          </a:xfrm>
          <a:prstGeom prst="rightArrow">
            <a:avLst/>
          </a:prstGeom>
          <a:solidFill>
            <a:srgbClr val="8C939A"/>
          </a:solidFill>
          <a:ln>
            <a:noFill/>
          </a:ln>
        </p:spPr>
        <p:txBody>
          <a:bodyPr rtlCol="0" anchor="ctr"/>
          <a:lstStyle/>
          <a:p>
            <a:pPr algn="ctr"/>
          </a:p>
        </p:txBody>
      </p:sp>
      <p:sp>
        <p:nvSpPr>
          <p:cNvPr id="21" name="Rectangle 20"/>
          <p:cNvSpPr/>
          <p:nvPr/>
        </p:nvSpPr>
        <p:spPr>
          <a:xfrm>
            <a:off x="6720840" y="2532888"/>
            <a:ext cx="30175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Hand-written rules</a:t>
            </a:r>
          </a:p>
        </p:txBody>
      </p:sp>
      <p:sp>
        <p:nvSpPr>
          <p:cNvPr id="22" name="Right Arrow 21"/>
          <p:cNvSpPr/>
          <p:nvPr/>
        </p:nvSpPr>
        <p:spPr>
          <a:xfrm>
            <a:off x="9829800" y="2715768"/>
            <a:ext cx="365760" cy="237744"/>
          </a:xfrm>
          <a:prstGeom prst="rightArrow">
            <a:avLst/>
          </a:prstGeom>
          <a:solidFill>
            <a:srgbClr val="8C939A"/>
          </a:solidFill>
          <a:ln>
            <a:noFill/>
          </a:ln>
        </p:spPr>
        <p:txBody>
          <a:bodyPr rtlCol="0" anchor="ctr"/>
          <a:lstStyle/>
          <a:p>
            <a:pPr algn="ctr"/>
          </a:p>
        </p:txBody>
      </p:sp>
      <p:sp>
        <p:nvSpPr>
          <p:cNvPr id="23" name="Rectangle 22"/>
          <p:cNvSpPr/>
          <p:nvPr/>
        </p:nvSpPr>
        <p:spPr>
          <a:xfrm>
            <a:off x="10287000" y="2532888"/>
            <a:ext cx="1545336" cy="603504"/>
          </a:xfrm>
          <a:prstGeom prst="rect">
            <a:avLst/>
          </a:prstGeom>
          <a:solidFill>
            <a:srgbClr val="F2F2F2"/>
          </a:solidFill>
          <a:ln>
            <a:noFill/>
          </a:ln>
        </p:spPr>
        <p:txBody>
          <a:bodyPr rtlCol="0" anchor="ctr" wrap="square" lIns="0" rIns="0" tIns="0" bIns="0"/>
          <a:lstStyle/>
          <a:p>
            <a:pPr algn="ctr" marL="0" indent="0">
              <a:spcAft>
                <a:spcPts val="0"/>
              </a:spcAft>
              <a:buNone/>
            </a:pPr>
            <a:r>
              <a:rPr sz="1350" b="1" i="0">
                <a:solidFill>
                  <a:srgbClr val="333D47"/>
                </a:solidFill>
                <a:latin typeface="Arial"/>
                <a:ea typeface="Microsoft JhengHei"/>
              </a:rPr>
              <a:t>6 fields</a:t>
            </a:r>
          </a:p>
        </p:txBody>
      </p:sp>
      <p:sp>
        <p:nvSpPr>
          <p:cNvPr id="24" name="TextBox 23"/>
          <p:cNvSpPr txBox="1"/>
          <p:nvPr/>
        </p:nvSpPr>
        <p:spPr>
          <a:xfrm>
            <a:off x="356616" y="3282696"/>
            <a:ext cx="2514600" cy="603504"/>
          </a:xfrm>
          <a:prstGeom prst="rect">
            <a:avLst/>
          </a:prstGeom>
          <a:noFill/>
        </p:spPr>
        <p:txBody>
          <a:bodyPr wrap="square" lIns="0" rIns="0" tIns="0" bIns="0" anchor="ctr"/>
          <a:lstStyle/>
          <a:p>
            <a:pPr marL="0" indent="0" algn="l">
              <a:spcAft>
                <a:spcPts val="0"/>
              </a:spcAft>
              <a:buNone/>
            </a:pPr>
            <a:r>
              <a:rPr sz="1500" b="1" i="0">
                <a:solidFill>
                  <a:srgbClr val="D31145"/>
                </a:solidFill>
                <a:latin typeface="Arial"/>
                <a:ea typeface="Microsoft JhengHei"/>
              </a:rPr>
              <a:t>Azure DI + AOAI</a:t>
            </a:r>
          </a:p>
        </p:txBody>
      </p:sp>
      <p:sp>
        <p:nvSpPr>
          <p:cNvPr id="25" name="Rectangle 24"/>
          <p:cNvSpPr/>
          <p:nvPr/>
        </p:nvSpPr>
        <p:spPr>
          <a:xfrm>
            <a:off x="2926080" y="3282696"/>
            <a:ext cx="32461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Azure Document Intelligence</a:t>
            </a:r>
          </a:p>
          <a:p>
            <a:pPr marL="0" indent="0" algn="l">
              <a:spcAft>
                <a:spcPts val="0"/>
              </a:spcAft>
              <a:buNone/>
            </a:pPr>
            <a:r>
              <a:rPr sz="1100" b="0" i="0">
                <a:solidFill>
                  <a:srgbClr val="5F6770"/>
                </a:solidFill>
                <a:latin typeface="Arial"/>
                <a:ea typeface="Microsoft JhengHei"/>
              </a:rPr>
              <a:t>cloud OCR</a:t>
            </a:r>
          </a:p>
        </p:txBody>
      </p:sp>
      <p:sp>
        <p:nvSpPr>
          <p:cNvPr id="26" name="Right Arrow 25"/>
          <p:cNvSpPr/>
          <p:nvPr/>
        </p:nvSpPr>
        <p:spPr>
          <a:xfrm>
            <a:off x="6263640" y="3465576"/>
            <a:ext cx="365760" cy="237744"/>
          </a:xfrm>
          <a:prstGeom prst="rightArrow">
            <a:avLst/>
          </a:prstGeom>
          <a:solidFill>
            <a:srgbClr val="8C939A"/>
          </a:solidFill>
          <a:ln>
            <a:noFill/>
          </a:ln>
        </p:spPr>
        <p:txBody>
          <a:bodyPr rtlCol="0" anchor="ctr"/>
          <a:lstStyle/>
          <a:p>
            <a:pPr algn="ctr"/>
          </a:p>
        </p:txBody>
      </p:sp>
      <p:sp>
        <p:nvSpPr>
          <p:cNvPr id="27" name="Rectangle 26"/>
          <p:cNvSpPr/>
          <p:nvPr/>
        </p:nvSpPr>
        <p:spPr>
          <a:xfrm>
            <a:off x="6720840" y="3282696"/>
            <a:ext cx="3017520" cy="603504"/>
          </a:xfrm>
          <a:prstGeom prst="rect">
            <a:avLst/>
          </a:prstGeom>
          <a:solidFill>
            <a:srgbClr val="FFFFFF"/>
          </a:solidFill>
          <a:ln w="25400">
            <a:solidFill>
              <a:srgbClr val="D31145"/>
            </a:solidFill>
          </a:ln>
        </p:spPr>
        <p:txBody>
          <a:bodyPr rtlCol="0" anchor="ctr" wrap="square" lIns="137160" rIns="137160" tIns="109728" bIns="109728"/>
          <a:lstStyle/>
          <a:p>
            <a:pPr algn="l" marL="0" indent="0">
              <a:spcAft>
                <a:spcPts val="0"/>
              </a:spcAft>
              <a:buNone/>
            </a:pPr>
            <a:r>
              <a:rPr sz="1350" b="1" i="0">
                <a:solidFill>
                  <a:srgbClr val="D31145"/>
                </a:solidFill>
                <a:latin typeface="Arial"/>
                <a:ea typeface="Microsoft JhengHei"/>
              </a:rPr>
              <a:t>Azure OpenAI instructions</a:t>
            </a:r>
          </a:p>
        </p:txBody>
      </p:sp>
      <p:sp>
        <p:nvSpPr>
          <p:cNvPr id="28" name="Right Arrow 27"/>
          <p:cNvSpPr/>
          <p:nvPr/>
        </p:nvSpPr>
        <p:spPr>
          <a:xfrm>
            <a:off x="9829800" y="3465576"/>
            <a:ext cx="365760" cy="237744"/>
          </a:xfrm>
          <a:prstGeom prst="rightArrow">
            <a:avLst/>
          </a:prstGeom>
          <a:solidFill>
            <a:srgbClr val="8C939A"/>
          </a:solidFill>
          <a:ln>
            <a:noFill/>
          </a:ln>
        </p:spPr>
        <p:txBody>
          <a:bodyPr rtlCol="0" anchor="ctr"/>
          <a:lstStyle/>
          <a:p>
            <a:pPr algn="ctr"/>
          </a:p>
        </p:txBody>
      </p:sp>
      <p:sp>
        <p:nvSpPr>
          <p:cNvPr id="29" name="Rectangle 28"/>
          <p:cNvSpPr/>
          <p:nvPr/>
        </p:nvSpPr>
        <p:spPr>
          <a:xfrm>
            <a:off x="10287000" y="3282696"/>
            <a:ext cx="1545336" cy="603504"/>
          </a:xfrm>
          <a:prstGeom prst="rect">
            <a:avLst/>
          </a:prstGeom>
          <a:solidFill>
            <a:srgbClr val="F2F2F2"/>
          </a:solidFill>
          <a:ln>
            <a:noFill/>
          </a:ln>
        </p:spPr>
        <p:txBody>
          <a:bodyPr rtlCol="0" anchor="ctr" wrap="square" lIns="0" rIns="0" tIns="0" bIns="0"/>
          <a:lstStyle/>
          <a:p>
            <a:pPr algn="ctr" marL="0" indent="0">
              <a:spcAft>
                <a:spcPts val="0"/>
              </a:spcAft>
              <a:buNone/>
            </a:pPr>
            <a:r>
              <a:rPr sz="1350" b="1" i="0">
                <a:solidFill>
                  <a:srgbClr val="333D47"/>
                </a:solidFill>
                <a:latin typeface="Arial"/>
                <a:ea typeface="Microsoft JhengHei"/>
              </a:rPr>
              <a:t>6 fields</a:t>
            </a:r>
          </a:p>
        </p:txBody>
      </p:sp>
      <p:sp>
        <p:nvSpPr>
          <p:cNvPr id="30" name="TextBox 29"/>
          <p:cNvSpPr txBox="1"/>
          <p:nvPr/>
        </p:nvSpPr>
        <p:spPr>
          <a:xfrm>
            <a:off x="2926080" y="1481328"/>
            <a:ext cx="3246120" cy="274320"/>
          </a:xfrm>
          <a:prstGeom prst="rect">
            <a:avLst/>
          </a:prstGeom>
          <a:noFill/>
        </p:spPr>
        <p:txBody>
          <a:bodyPr wrap="square" lIns="0" rIns="0" tIns="0" bIns="0" anchor="t"/>
          <a:lstStyle/>
          <a:p>
            <a:pPr marL="0" indent="0" algn="l">
              <a:spcAft>
                <a:spcPts val="0"/>
              </a:spcAft>
              <a:buNone/>
            </a:pPr>
            <a:r>
              <a:rPr sz="1150" b="1" i="0">
                <a:solidFill>
                  <a:srgbClr val="5F6770"/>
                </a:solidFill>
                <a:latin typeface="Arial"/>
                <a:ea typeface="Microsoft JhengHei"/>
              </a:rPr>
              <a:t>1. Read the text (OCR)</a:t>
            </a:r>
          </a:p>
        </p:txBody>
      </p:sp>
      <p:sp>
        <p:nvSpPr>
          <p:cNvPr id="31" name="TextBox 30"/>
          <p:cNvSpPr txBox="1"/>
          <p:nvPr/>
        </p:nvSpPr>
        <p:spPr>
          <a:xfrm>
            <a:off x="6720840" y="1481328"/>
            <a:ext cx="3017520" cy="274320"/>
          </a:xfrm>
          <a:prstGeom prst="rect">
            <a:avLst/>
          </a:prstGeom>
          <a:noFill/>
        </p:spPr>
        <p:txBody>
          <a:bodyPr wrap="square" lIns="0" rIns="0" tIns="0" bIns="0" anchor="t"/>
          <a:lstStyle/>
          <a:p>
            <a:pPr marL="0" indent="0" algn="l">
              <a:spcAft>
                <a:spcPts val="0"/>
              </a:spcAft>
              <a:buNone/>
            </a:pPr>
            <a:r>
              <a:rPr sz="1150" b="1" i="0">
                <a:solidFill>
                  <a:srgbClr val="5F6770"/>
                </a:solidFill>
                <a:latin typeface="Arial"/>
                <a:ea typeface="Microsoft JhengHei"/>
              </a:rPr>
              <a:t>2. Find the fields</a:t>
            </a:r>
          </a:p>
        </p:txBody>
      </p:sp>
      <p:pic>
        <p:nvPicPr>
          <p:cNvPr id="32" name="Picture 31" descr="thumb_receipt1.jpg"/>
          <p:cNvPicPr>
            <a:picLocks noChangeAspect="1"/>
          </p:cNvPicPr>
          <p:nvPr/>
        </p:nvPicPr>
        <p:blipFill>
          <a:blip r:embed="rId3"/>
          <a:stretch>
            <a:fillRect/>
          </a:stretch>
        </p:blipFill>
        <p:spPr>
          <a:xfrm>
            <a:off x="356616" y="4114800"/>
            <a:ext cx="994409" cy="1325880"/>
          </a:xfrm>
          <a:prstGeom prst="rect">
            <a:avLst/>
          </a:prstGeom>
          <a:ln w="9525">
            <a:solidFill>
              <a:srgbClr val="BFBFBF"/>
            </a:solidFill>
          </a:ln>
        </p:spPr>
      </p:pic>
      <p:sp>
        <p:nvSpPr>
          <p:cNvPr id="33" name="TextBox 32"/>
          <p:cNvSpPr txBox="1"/>
          <p:nvPr/>
        </p:nvSpPr>
        <p:spPr>
          <a:xfrm>
            <a:off x="356616" y="5468112"/>
            <a:ext cx="1097280" cy="228600"/>
          </a:xfrm>
          <a:prstGeom prst="rect">
            <a:avLst/>
          </a:prstGeom>
          <a:noFill/>
        </p:spPr>
        <p:txBody>
          <a:bodyPr wrap="square" lIns="0" rIns="0" tIns="0" bIns="0" anchor="t"/>
          <a:lstStyle/>
          <a:p>
            <a:pPr marL="0" indent="0" algn="l">
              <a:spcAft>
                <a:spcPts val="0"/>
              </a:spcAft>
              <a:buNone/>
            </a:pPr>
            <a:r>
              <a:rPr sz="1050" b="0" i="0">
                <a:solidFill>
                  <a:srgbClr val="5F6770"/>
                </a:solidFill>
                <a:latin typeface="Arial"/>
                <a:ea typeface="Microsoft JhengHei"/>
              </a:rPr>
              <a:t>English</a:t>
            </a:r>
          </a:p>
        </p:txBody>
      </p:sp>
      <p:pic>
        <p:nvPicPr>
          <p:cNvPr id="34" name="Picture 33" descr="thumb_receipt3.jpg"/>
          <p:cNvPicPr>
            <a:picLocks noChangeAspect="1"/>
          </p:cNvPicPr>
          <p:nvPr/>
        </p:nvPicPr>
        <p:blipFill>
          <a:blip r:embed="rId4"/>
          <a:stretch>
            <a:fillRect/>
          </a:stretch>
        </p:blipFill>
        <p:spPr>
          <a:xfrm>
            <a:off x="1545336" y="4114800"/>
            <a:ext cx="994409" cy="1325880"/>
          </a:xfrm>
          <a:prstGeom prst="rect">
            <a:avLst/>
          </a:prstGeom>
          <a:ln w="9525">
            <a:solidFill>
              <a:srgbClr val="BFBFBF"/>
            </a:solidFill>
          </a:ln>
        </p:spPr>
      </p:pic>
      <p:sp>
        <p:nvSpPr>
          <p:cNvPr id="35" name="TextBox 34"/>
          <p:cNvSpPr txBox="1"/>
          <p:nvPr/>
        </p:nvSpPr>
        <p:spPr>
          <a:xfrm>
            <a:off x="1545336" y="5468112"/>
            <a:ext cx="1097280" cy="228600"/>
          </a:xfrm>
          <a:prstGeom prst="rect">
            <a:avLst/>
          </a:prstGeom>
          <a:noFill/>
        </p:spPr>
        <p:txBody>
          <a:bodyPr wrap="square" lIns="0" rIns="0" tIns="0" bIns="0" anchor="t"/>
          <a:lstStyle/>
          <a:p>
            <a:pPr marL="0" indent="0" algn="l">
              <a:spcAft>
                <a:spcPts val="0"/>
              </a:spcAft>
              <a:buNone/>
            </a:pPr>
            <a:r>
              <a:rPr sz="1050" b="0" i="0">
                <a:solidFill>
                  <a:srgbClr val="5F6770"/>
                </a:solidFill>
                <a:latin typeface="Arial"/>
                <a:ea typeface="Microsoft JhengHei"/>
              </a:rPr>
              <a:t>Bilingual</a:t>
            </a:r>
          </a:p>
        </p:txBody>
      </p:sp>
      <p:pic>
        <p:nvPicPr>
          <p:cNvPr id="36" name="Picture 35" descr="thumb_receipt4.jpg"/>
          <p:cNvPicPr>
            <a:picLocks noChangeAspect="1"/>
          </p:cNvPicPr>
          <p:nvPr/>
        </p:nvPicPr>
        <p:blipFill>
          <a:blip r:embed="rId5"/>
          <a:stretch>
            <a:fillRect/>
          </a:stretch>
        </p:blipFill>
        <p:spPr>
          <a:xfrm>
            <a:off x="2734056" y="4114800"/>
            <a:ext cx="994409" cy="1325880"/>
          </a:xfrm>
          <a:prstGeom prst="rect">
            <a:avLst/>
          </a:prstGeom>
          <a:ln w="9525">
            <a:solidFill>
              <a:srgbClr val="BFBFBF"/>
            </a:solidFill>
          </a:ln>
        </p:spPr>
      </p:pic>
      <p:sp>
        <p:nvSpPr>
          <p:cNvPr id="37" name="TextBox 36"/>
          <p:cNvSpPr txBox="1"/>
          <p:nvPr/>
        </p:nvSpPr>
        <p:spPr>
          <a:xfrm>
            <a:off x="2734056" y="5468112"/>
            <a:ext cx="1097280" cy="228600"/>
          </a:xfrm>
          <a:prstGeom prst="rect">
            <a:avLst/>
          </a:prstGeom>
          <a:noFill/>
        </p:spPr>
        <p:txBody>
          <a:bodyPr wrap="square" lIns="0" rIns="0" tIns="0" bIns="0" anchor="t"/>
          <a:lstStyle/>
          <a:p>
            <a:pPr marL="0" indent="0" algn="l">
              <a:spcAft>
                <a:spcPts val="0"/>
              </a:spcAft>
              <a:buNone/>
            </a:pPr>
            <a:r>
              <a:rPr sz="1050" b="0" i="0">
                <a:solidFill>
                  <a:srgbClr val="5F6770"/>
                </a:solidFill>
                <a:latin typeface="Arial"/>
                <a:ea typeface="Microsoft JhengHei"/>
              </a:rPr>
              <a:t>Chinese</a:t>
            </a:r>
          </a:p>
        </p:txBody>
      </p:sp>
      <p:sp>
        <p:nvSpPr>
          <p:cNvPr id="38" name="Rectangle 37"/>
          <p:cNvSpPr/>
          <p:nvPr/>
        </p:nvSpPr>
        <p:spPr>
          <a:xfrm>
            <a:off x="4023360" y="4114800"/>
            <a:ext cx="7808975" cy="1325880"/>
          </a:xfrm>
          <a:prstGeom prst="rect">
            <a:avLst/>
          </a:prstGeom>
          <a:solidFill>
            <a:srgbClr val="F2F2F2"/>
          </a:solidFill>
          <a:ln>
            <a:noFill/>
          </a:ln>
        </p:spPr>
        <p:txBody>
          <a:bodyPr rtlCol="0" anchor="ctr" wrap="square" lIns="228600" rIns="228600" tIns="109728" bIns="109728"/>
          <a:lstStyle/>
          <a:p>
            <a:pPr algn="l" marL="0" indent="0">
              <a:spcAft>
                <a:spcPts val="800"/>
              </a:spcAft>
              <a:buNone/>
            </a:pPr>
            <a:r>
              <a:rPr sz="1400" b="1" i="0">
                <a:solidFill>
                  <a:srgbClr val="333D47"/>
                </a:solidFill>
                <a:latin typeface="Arial"/>
                <a:ea typeface="Microsoft JhengHei"/>
              </a:rPr>
              <a:t>9 receipts</a:t>
            </a:r>
            <a:r>
              <a:rPr sz="1400" b="0" i="0">
                <a:solidFill>
                  <a:srgbClr val="333D47"/>
                </a:solidFill>
                <a:latin typeface="Arial"/>
                <a:ea typeface="Microsoft JhengHei"/>
              </a:rPr>
              <a:t>: 7 printed test receipts (English, bilingual, Chinese layouts) and 2 from the first benchmark round.</a:t>
            </a:r>
          </a:p>
          <a:p>
            <a:pPr marL="0" indent="0" algn="l">
              <a:spcAft>
                <a:spcPts val="0"/>
              </a:spcAft>
              <a:buNone/>
            </a:pPr>
            <a:r>
              <a:rPr sz="1400" b="1" i="0">
                <a:solidFill>
                  <a:srgbClr val="333D47"/>
                </a:solidFill>
                <a:latin typeface="Arial"/>
                <a:ea typeface="Microsoft JhengHei"/>
              </a:rPr>
              <a:t>51 fields scored</a:t>
            </a:r>
            <a:r>
              <a:rPr sz="1400" b="0" i="0">
                <a:solidFill>
                  <a:srgbClr val="333D47"/>
                </a:solidFill>
                <a:latin typeface="Arial"/>
                <a:ea typeface="Microsoft JhengHei"/>
              </a:rPr>
              <a:t>: doctor, registration no., patient, receipt no., service date, total.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Initial Results and a Fairer Rules Baseline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333D47"/>
            </a:solidFill>
          </a:ln>
        </p:spPr>
        <p:txBody>
          <a:bodyPr rtlCol="0" anchor="ctr" lIns="45720" rIns="45720" tIns="0" bIns="0"/>
          <a:lstStyle/>
          <a:p>
            <a:pPr algn="ctr"/>
            <a:r>
              <a:rPr sz="1050" b="1">
                <a:solidFill>
                  <a:srgbClr val="333D47"/>
                </a:solidFill>
                <a:latin typeface="Arial"/>
                <a:ea typeface="Microsoft JhengHei"/>
              </a:rPr>
              <a:t>MEASURED · BEFORE TUNING</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Even with Chinese labels added, rules trailed AOAI: 51.0–70.6% vs 88.2%.</a:t>
            </a:r>
          </a:p>
        </p:txBody>
      </p:sp>
      <p:graphicFrame>
        <p:nvGraphicFramePr>
          <p:cNvPr id="13" name="Chart 12"/>
          <p:cNvGraphicFramePr>
            <a:graphicFrameLocks noGrp="1"/>
          </p:cNvGraphicFramePr>
          <p:nvPr/>
        </p:nvGraphicFramePr>
        <p:xfrm>
          <a:off x="356616" y="1691640"/>
          <a:ext cx="6903720" cy="3703320"/>
        </p:xfrm>
        <a:graphic>
          <a:graphicData uri="http://schemas.openxmlformats.org/drawingml/2006/chart">
            <c:chart xmlns:c="http://schemas.openxmlformats.org/drawingml/2006/chart" r:id="rId3"/>
          </a:graphicData>
        </a:graphic>
      </p:graphicFrame>
      <p:sp>
        <p:nvSpPr>
          <p:cNvPr id="14" name="Rectangle 13"/>
          <p:cNvSpPr/>
          <p:nvPr/>
        </p:nvSpPr>
        <p:spPr>
          <a:xfrm>
            <a:off x="7498079" y="1783080"/>
            <a:ext cx="4334256" cy="1481328"/>
          </a:xfrm>
          <a:prstGeom prst="rect">
            <a:avLst/>
          </a:prstGeom>
          <a:solidFill>
            <a:srgbClr val="F2F2F2"/>
          </a:solidFill>
          <a:ln>
            <a:noFill/>
          </a:ln>
        </p:spPr>
        <p:txBody>
          <a:bodyPr rtlCol="0" anchor="t" wrap="square" lIns="182880" rIns="182880" tIns="109728" bIns="109728"/>
          <a:lstStyle/>
          <a:p>
            <a:pPr algn="l" marL="0" indent="0">
              <a:spcAft>
                <a:spcPts val="400"/>
              </a:spcAft>
              <a:buNone/>
            </a:pPr>
            <a:r>
              <a:rPr sz="1500" b="1" i="0">
                <a:solidFill>
                  <a:srgbClr val="333D47"/>
                </a:solidFill>
                <a:latin typeface="Arial"/>
                <a:ea typeface="Microsoft JhengHei"/>
              </a:rPr>
              <a:t>Why the first rules scored low</a:t>
            </a:r>
          </a:p>
          <a:p>
            <a:pPr marL="182880" indent="-182880" algn="l">
              <a:spcAft>
                <a:spcPts val="300"/>
              </a:spcAft>
              <a:buFont typeface="Arial"/>
              <a:buChar char="•"/>
            </a:pPr>
            <a:r>
              <a:rPr sz="1250" b="0" i="0">
                <a:solidFill>
                  <a:srgbClr val="333D47"/>
                </a:solidFill>
                <a:latin typeface="Arial"/>
                <a:ea typeface="Microsoft JhengHei"/>
              </a:rPr>
              <a:t>English labels only: no Chinese or bilingual labels.</a:t>
            </a:r>
          </a:p>
          <a:p>
            <a:pPr marL="182880" indent="-182880" algn="l">
              <a:spcAft>
                <a:spcPts val="300"/>
              </a:spcAft>
              <a:buFont typeface="Arial"/>
              <a:buChar char="•"/>
            </a:pPr>
            <a:r>
              <a:rPr sz="1250" b="0" i="0">
                <a:solidFill>
                  <a:srgbClr val="333D47"/>
                </a:solidFill>
                <a:latin typeface="Arial"/>
                <a:ea typeface="Microsoft JhengHei"/>
              </a:rPr>
              <a:t>The OCR read 蔡嘉穎; the rules returned the label 病人.</a:t>
            </a:r>
          </a:p>
        </p:txBody>
      </p:sp>
      <p:sp>
        <p:nvSpPr>
          <p:cNvPr id="15" name="Rectangle 14"/>
          <p:cNvSpPr/>
          <p:nvPr/>
        </p:nvSpPr>
        <p:spPr>
          <a:xfrm>
            <a:off x="7498079" y="3401568"/>
            <a:ext cx="4334256" cy="1600200"/>
          </a:xfrm>
          <a:prstGeom prst="rect">
            <a:avLst/>
          </a:prstGeom>
          <a:solidFill>
            <a:srgbClr val="FFFFFF"/>
          </a:solidFill>
          <a:ln w="25400">
            <a:solidFill>
              <a:srgbClr val="D31145"/>
            </a:solidFill>
          </a:ln>
        </p:spPr>
        <p:txBody>
          <a:bodyPr rtlCol="0" anchor="t" wrap="square" lIns="182880" rIns="182880" tIns="109728" bIns="109728"/>
          <a:lstStyle/>
          <a:p>
            <a:pPr algn="l" marL="0" indent="0">
              <a:spcAft>
                <a:spcPts val="400"/>
              </a:spcAft>
              <a:buNone/>
            </a:pPr>
            <a:r>
              <a:rPr sz="1500" b="1" i="0">
                <a:solidFill>
                  <a:srgbClr val="D31145"/>
                </a:solidFill>
                <a:latin typeface="Arial"/>
                <a:ea typeface="Microsoft JhengHei"/>
              </a:rPr>
              <a:t>With Chinese labels (retrospective*)</a:t>
            </a:r>
          </a:p>
          <a:p>
            <a:pPr marL="182880" indent="-182880" algn="l">
              <a:spcAft>
                <a:spcPts val="300"/>
              </a:spcAft>
              <a:buFont typeface="Arial"/>
              <a:buChar char="•"/>
            </a:pPr>
            <a:r>
              <a:rPr sz="1250" b="0" i="0">
                <a:solidFill>
                  <a:srgbClr val="333D47"/>
                </a:solidFill>
                <a:latin typeface="Arial"/>
                <a:ea typeface="Microsoft JhengHei"/>
              </a:rPr>
              <a:t>Common Chinese labels and basic bilingual handling: +15 fields on Azure DI, none broken.</a:t>
            </a:r>
          </a:p>
          <a:p>
            <a:pPr marL="182880" indent="-182880" algn="l">
              <a:spcAft>
                <a:spcPts val="300"/>
              </a:spcAft>
              <a:buFont typeface="Arial"/>
              <a:buChar char="•"/>
            </a:pPr>
            <a:r>
              <a:rPr sz="1250" b="0" i="0">
                <a:solidFill>
                  <a:srgbClr val="333D47"/>
                </a:solidFill>
                <a:latin typeface="Arial"/>
                <a:ea typeface="Microsoft JhengHei"/>
              </a:rPr>
              <a:t>The rest would need new label types, layout logic and OCR-tolerant matching.</a:t>
            </a:r>
          </a:p>
        </p:txBody>
      </p:sp>
      <p:sp>
        <p:nvSpPr>
          <p:cNvPr id="16" name="TextBox 15"/>
          <p:cNvSpPr txBox="1"/>
          <p:nvPr/>
        </p:nvSpPr>
        <p:spPr>
          <a:xfrm>
            <a:off x="356616" y="5504688"/>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 Retrospective: Chinese labels added after these receipts were examined (rules fixed before scoring); not an independent test. Accuracy = correct fields out of 51 on 9 receipts.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Improving AOAI: Clearer Instructions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333D47"/>
            </a:solidFill>
          </a:ln>
        </p:spPr>
        <p:txBody>
          <a:bodyPr rtlCol="0" anchor="ctr" lIns="45720" rIns="45720" tIns="0" bIns="0"/>
          <a:lstStyle/>
          <a:p>
            <a:pPr algn="ctr"/>
            <a:r>
              <a:rPr sz="1050" b="1">
                <a:solidFill>
                  <a:srgbClr val="333D47"/>
                </a:solidFill>
                <a:latin typeface="Arial"/>
                <a:ea typeface="Microsoft JhengHei"/>
              </a:rPr>
              <a:t>MEASURED · DEVELOPMENT SET</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Prompt v2 fixed four fields: 88.2% → 96.1%. A development result, not independent validation.</a:t>
            </a:r>
          </a:p>
        </p:txBody>
      </p:sp>
      <p:graphicFrame>
        <p:nvGraphicFramePr>
          <p:cNvPr id="13" name="Table 12"/>
          <p:cNvGraphicFramePr>
            <a:graphicFrameLocks noGrp="1"/>
          </p:cNvGraphicFramePr>
          <p:nvPr/>
        </p:nvGraphicFramePr>
        <p:xfrm>
          <a:off x="356616" y="1783080"/>
          <a:ext cx="7909560" cy="2871216"/>
        </p:xfrm>
        <a:graphic>
          <a:graphicData uri="http://schemas.openxmlformats.org/drawingml/2006/table">
            <a:tbl>
              <a:tblPr firstRow="0" bandRow="0">
                <a:tableStyleId>{2D5ABB26-0587-4C30-8999-92F81FD0307C}</a:tableStyleId>
              </a:tblPr>
              <a:tblGrid>
                <a:gridCol w="1600200"/>
                <a:gridCol w="2240280"/>
                <a:gridCol w="2423160"/>
                <a:gridCol w="1645920"/>
              </a:tblGrid>
              <a:tr h="457200">
                <a:tc>
                  <a:txBody>
                    <a:bodyPr wrap="square"/>
                    <a:lstStyle/>
                    <a:p>
                      <a:pPr algn="l"/>
                      <a:r>
                        <a:rPr sz="1300" b="1" i="0">
                          <a:solidFill>
                            <a:srgbClr val="FFFFFF"/>
                          </a:solidFill>
                          <a:latin typeface="Arial"/>
                          <a:ea typeface="Microsoft JhengHei"/>
                        </a:rPr>
                        <a:t>Field fixed</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Before</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Instruction added</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After</a:t>
                      </a:r>
                    </a:p>
                  </a:txBody>
                  <a:tcPr marL="91440" marR="91440" marT="45720" marB="45720" anchor="ctr">
                    <a:lnL w="0">
                      <a:noFill/>
                    </a:lnL>
                    <a:lnR w="0">
                      <a:noFill/>
                    </a:lnR>
                    <a:lnT w="0">
                      <a:noFill/>
                    </a:lnT>
                    <a:lnB w="0">
                      <a:noFill/>
                    </a:lnB>
                    <a:solidFill>
                      <a:srgbClr val="333D47"/>
                    </a:solidFill>
                  </a:tcPr>
                </a:tc>
              </a:tr>
              <a:tr h="603504">
                <a:tc>
                  <a:txBody>
                    <a:bodyPr wrap="square"/>
                    <a:lstStyle/>
                    <a:p>
                      <a:pPr algn="l"/>
                      <a:r>
                        <a:rPr sz="1250" b="1" i="0">
                          <a:solidFill>
                            <a:srgbClr val="333D47"/>
                          </a:solidFill>
                          <a:latin typeface="Arial"/>
                          <a:ea typeface="Microsoft JhengHei"/>
                        </a:rPr>
                        <a:t>Registration</a:t>
                      </a:r>
                    </a:p>
                    <a:p>
                      <a:pPr algn="l"/>
                      <a:r>
                        <a:rPr sz="1050" b="0" i="0">
                          <a:solidFill>
                            <a:srgbClr val="5F6770"/>
                          </a:solidFill>
                          <a:latin typeface="Arial"/>
                          <a:ea typeface="Microsoft JhengHei"/>
                        </a:rPr>
                        <a:t>GP receipt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150" b="0" i="0">
                          <a:solidFill>
                            <a:srgbClr val="333D47"/>
                          </a:solidFill>
                          <a:latin typeface="Arial"/>
                          <a:ea typeface="Microsoft JhengHei"/>
                        </a:rPr>
                        <a:t>MBBS (HK) · Reg. No. M17642</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150" b="0" i="1">
                          <a:solidFill>
                            <a:srgbClr val="333D47"/>
                          </a:solidFill>
                          <a:latin typeface="Arial"/>
                          <a:ea typeface="Microsoft JhengHei"/>
                        </a:rPr>
                        <a:t>“the identifier only, without its label”</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150" b="0" i="0">
                          <a:solidFill>
                            <a:srgbClr val="333D47"/>
                          </a:solidFill>
                          <a:latin typeface="Arial"/>
                          <a:ea typeface="Microsoft JhengHei"/>
                        </a:rPr>
                        <a:t>M17642</a:t>
                      </a:r>
                    </a:p>
                  </a:txBody>
                  <a:tcPr marL="91440" marR="91440" marT="45720" marB="45720" anchor="ctr">
                    <a:lnL w="0">
                      <a:noFill/>
                    </a:lnL>
                    <a:lnR w="0">
                      <a:noFill/>
                    </a:lnR>
                    <a:lnT w="0">
                      <a:noFill/>
                    </a:lnT>
                    <a:lnB w="19050" cmpd="sng">
                      <a:solidFill>
                        <a:srgbClr val="FFFFFF"/>
                      </a:solidFill>
                    </a:lnB>
                    <a:solidFill>
                      <a:srgbClr val="E6F2EA"/>
                    </a:solidFill>
                  </a:tcPr>
                </a:tc>
              </a:tr>
              <a:tr h="603504">
                <a:tc>
                  <a:txBody>
                    <a:bodyPr wrap="square"/>
                    <a:lstStyle/>
                    <a:p>
                      <a:pPr algn="l"/>
                      <a:r>
                        <a:rPr sz="1250" b="1" i="0">
                          <a:solidFill>
                            <a:srgbClr val="333D47"/>
                          </a:solidFill>
                          <a:latin typeface="Arial"/>
                          <a:ea typeface="Microsoft JhengHei"/>
                        </a:rPr>
                        <a:t>Doctor</a:t>
                      </a:r>
                    </a:p>
                    <a:p>
                      <a:pPr algn="l"/>
                      <a:r>
                        <a:rPr sz="1050" b="0" i="0">
                          <a:solidFill>
                            <a:srgbClr val="5F6770"/>
                          </a:solidFill>
                          <a:latin typeface="Arial"/>
                          <a:ea typeface="Microsoft JhengHei"/>
                        </a:rPr>
                        <a:t>Dental receipt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150" b="0" i="0">
                          <a:solidFill>
                            <a:srgbClr val="333D47"/>
                          </a:solidFill>
                          <a:latin typeface="Arial"/>
                          <a:ea typeface="Microsoft JhengHei"/>
                        </a:rPr>
                        <a:t>Dr. Ho Ching Yee, BDS (HK)</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150" b="0" i="1">
                          <a:solidFill>
                            <a:srgbClr val="333D47"/>
                          </a:solidFill>
                          <a:latin typeface="Arial"/>
                          <a:ea typeface="Microsoft JhengHei"/>
                        </a:rPr>
                        <a:t>“Leave out qualifications and post-nominals”</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150" b="0" i="0">
                          <a:solidFill>
                            <a:srgbClr val="333D47"/>
                          </a:solidFill>
                          <a:latin typeface="Arial"/>
                          <a:ea typeface="Microsoft JhengHei"/>
                        </a:rPr>
                        <a:t>Dr. Ho Ching Yee</a:t>
                      </a:r>
                    </a:p>
                  </a:txBody>
                  <a:tcPr marL="91440" marR="91440" marT="45720" marB="45720" anchor="ctr">
                    <a:lnL w="0">
                      <a:noFill/>
                    </a:lnL>
                    <a:lnR w="0">
                      <a:noFill/>
                    </a:lnR>
                    <a:lnT w="0">
                      <a:noFill/>
                    </a:lnT>
                    <a:lnB w="19050" cmpd="sng">
                      <a:solidFill>
                        <a:srgbClr val="FFFFFF"/>
                      </a:solidFill>
                    </a:lnB>
                    <a:solidFill>
                      <a:srgbClr val="E6F2EA"/>
                    </a:solidFill>
                  </a:tcPr>
                </a:tc>
              </a:tr>
              <a:tr h="603504">
                <a:tc>
                  <a:txBody>
                    <a:bodyPr wrap="square"/>
                    <a:lstStyle/>
                    <a:p>
                      <a:pPr algn="l"/>
                      <a:r>
                        <a:rPr sz="1250" b="1" i="0">
                          <a:solidFill>
                            <a:srgbClr val="333D47"/>
                          </a:solidFill>
                          <a:latin typeface="Arial"/>
                          <a:ea typeface="Microsoft JhengHei"/>
                        </a:rPr>
                        <a:t>Doctor</a:t>
                      </a:r>
                    </a:p>
                    <a:p>
                      <a:pPr algn="l"/>
                      <a:r>
                        <a:rPr sz="1050" b="0" i="0">
                          <a:solidFill>
                            <a:srgbClr val="5F6770"/>
                          </a:solidFill>
                          <a:latin typeface="Arial"/>
                          <a:ea typeface="Microsoft JhengHei"/>
                        </a:rPr>
                        <a:t>Pharmacy receipt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150" b="0" i="0">
                          <a:solidFill>
                            <a:srgbClr val="333D47"/>
                          </a:solidFill>
                          <a:latin typeface="Arial"/>
                          <a:ea typeface="Microsoft JhengHei"/>
                        </a:rPr>
                        <a:t>Dr Jessica Sterenborg Picton Medical Centre</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150" b="0" i="1">
                          <a:solidFill>
                            <a:srgbClr val="333D47"/>
                          </a:solidFill>
                          <a:latin typeface="Arial"/>
                          <a:ea typeface="Microsoft JhengHei"/>
                        </a:rPr>
                        <a:t>“clinic, hospital or practice names”</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150" b="0" i="0">
                          <a:solidFill>
                            <a:srgbClr val="333D47"/>
                          </a:solidFill>
                          <a:latin typeface="Arial"/>
                          <a:ea typeface="Microsoft JhengHei"/>
                        </a:rPr>
                        <a:t>Dr Jessica Sterenborg</a:t>
                      </a:r>
                    </a:p>
                  </a:txBody>
                  <a:tcPr marL="91440" marR="91440" marT="45720" marB="45720" anchor="ctr">
                    <a:lnL w="0">
                      <a:noFill/>
                    </a:lnL>
                    <a:lnR w="0">
                      <a:noFill/>
                    </a:lnR>
                    <a:lnT w="0">
                      <a:noFill/>
                    </a:lnT>
                    <a:lnB w="19050" cmpd="sng">
                      <a:solidFill>
                        <a:srgbClr val="FFFFFF"/>
                      </a:solidFill>
                    </a:lnB>
                    <a:solidFill>
                      <a:srgbClr val="E6F2EA"/>
                    </a:solidFill>
                  </a:tcPr>
                </a:tc>
              </a:tr>
              <a:tr h="603504">
                <a:tc>
                  <a:txBody>
                    <a:bodyPr wrap="square"/>
                    <a:lstStyle/>
                    <a:p>
                      <a:pPr algn="l"/>
                      <a:r>
                        <a:rPr sz="1250" b="1" i="0">
                          <a:solidFill>
                            <a:srgbClr val="333D47"/>
                          </a:solidFill>
                          <a:latin typeface="Arial"/>
                          <a:ea typeface="Microsoft JhengHei"/>
                        </a:rPr>
                        <a:t>Total</a:t>
                      </a:r>
                    </a:p>
                    <a:p>
                      <a:pPr algn="l"/>
                      <a:r>
                        <a:rPr sz="1050" b="0" i="0">
                          <a:solidFill>
                            <a:srgbClr val="5F6770"/>
                          </a:solidFill>
                          <a:latin typeface="Arial"/>
                          <a:ea typeface="Microsoft JhengHei"/>
                        </a:rPr>
                        <a:t>Vet receipt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150" b="0" i="0">
                          <a:solidFill>
                            <a:srgbClr val="333D47"/>
                          </a:solidFill>
                          <a:latin typeface="Arial"/>
                          <a:ea typeface="Microsoft JhengHei"/>
                        </a:rPr>
                        <a:t>HKD 1361.50</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150" b="0" i="1">
                          <a:solidFill>
                            <a:srgbClr val="333D47"/>
                          </a:solidFill>
                          <a:latin typeface="Arial"/>
                          <a:ea typeface="Microsoft JhengHei"/>
                        </a:rPr>
                        <a:t>“after any discounts, rounding or other adjustments”</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150" b="0" i="0">
                          <a:solidFill>
                            <a:srgbClr val="333D47"/>
                          </a:solidFill>
                          <a:latin typeface="Arial"/>
                          <a:ea typeface="Microsoft JhengHei"/>
                        </a:rPr>
                        <a:t>HKD 1361.00</a:t>
                      </a:r>
                    </a:p>
                  </a:txBody>
                  <a:tcPr marL="91440" marR="91440" marT="45720" marB="45720" anchor="ctr">
                    <a:lnL w="0">
                      <a:noFill/>
                    </a:lnL>
                    <a:lnR w="0">
                      <a:noFill/>
                    </a:lnR>
                    <a:lnT w="0">
                      <a:noFill/>
                    </a:lnT>
                    <a:lnB w="19050" cmpd="sng">
                      <a:solidFill>
                        <a:srgbClr val="FFFFFF"/>
                      </a:solidFill>
                    </a:lnB>
                    <a:solidFill>
                      <a:srgbClr val="E6F2EA"/>
                    </a:solidFill>
                  </a:tcPr>
                </a:tc>
              </a:tr>
            </a:tbl>
          </a:graphicData>
        </a:graphic>
      </p:graphicFrame>
      <p:graphicFrame>
        <p:nvGraphicFramePr>
          <p:cNvPr id="14" name="Table 13"/>
          <p:cNvGraphicFramePr>
            <a:graphicFrameLocks noGrp="1"/>
          </p:cNvGraphicFramePr>
          <p:nvPr/>
        </p:nvGraphicFramePr>
        <p:xfrm>
          <a:off x="8449056" y="1783080"/>
          <a:ext cx="3383280" cy="2761488"/>
        </p:xfrm>
        <a:graphic>
          <a:graphicData uri="http://schemas.openxmlformats.org/drawingml/2006/table">
            <a:tbl>
              <a:tblPr firstRow="0" bandRow="0">
                <a:tableStyleId>{2D5ABB26-0587-4C30-8999-92F81FD0307C}</a:tableStyleId>
              </a:tblPr>
              <a:tblGrid>
                <a:gridCol w="1371600"/>
                <a:gridCol w="1005840"/>
                <a:gridCol w="1005840"/>
              </a:tblGrid>
              <a:tr h="457200">
                <a:tc>
                  <a:txBody>
                    <a:bodyPr wrap="square"/>
                    <a:lstStyle/>
                    <a:p>
                      <a:pPr algn="l"/>
                      <a:r>
                        <a:rPr sz="1150" b="1" i="0">
                          <a:solidFill>
                            <a:srgbClr val="FFFFFF"/>
                          </a:solidFill>
                          <a:latin typeface="Arial"/>
                          <a:ea typeface="Microsoft JhengHei"/>
                        </a:rPr>
                        <a:t>AOAI by field</a:t>
                      </a:r>
                    </a:p>
                  </a:txBody>
                  <a:tcPr marL="91440" marR="91440" marT="45720" marB="45720" anchor="ctr">
                    <a:lnL w="0">
                      <a:noFill/>
                    </a:lnL>
                    <a:lnR w="0">
                      <a:noFill/>
                    </a:lnR>
                    <a:lnT w="0">
                      <a:noFill/>
                    </a:lnT>
                    <a:lnB w="0">
                      <a:noFill/>
                    </a:lnB>
                    <a:solidFill>
                      <a:srgbClr val="333D47"/>
                    </a:solidFill>
                  </a:tcPr>
                </a:tc>
                <a:tc>
                  <a:txBody>
                    <a:bodyPr wrap="square"/>
                    <a:lstStyle/>
                    <a:p>
                      <a:pPr algn="ctr"/>
                      <a:r>
                        <a:rPr sz="1150" b="1" i="0">
                          <a:solidFill>
                            <a:srgbClr val="FFFFFF"/>
                          </a:solidFill>
                          <a:latin typeface="Arial"/>
                          <a:ea typeface="Microsoft JhengHei"/>
                        </a:rPr>
                        <a:t>Original</a:t>
                      </a:r>
                    </a:p>
                  </a:txBody>
                  <a:tcPr marL="91440" marR="91440" marT="45720" marB="45720" anchor="ctr">
                    <a:lnL w="0">
                      <a:noFill/>
                    </a:lnL>
                    <a:lnR w="0">
                      <a:noFill/>
                    </a:lnR>
                    <a:lnT w="0">
                      <a:noFill/>
                    </a:lnT>
                    <a:lnB w="0">
                      <a:noFill/>
                    </a:lnB>
                    <a:solidFill>
                      <a:srgbClr val="333D47"/>
                    </a:solidFill>
                  </a:tcPr>
                </a:tc>
                <a:tc>
                  <a:txBody>
                    <a:bodyPr wrap="square"/>
                    <a:lstStyle/>
                    <a:p>
                      <a:pPr algn="ctr"/>
                      <a:r>
                        <a:rPr sz="1150" b="1" i="0">
                          <a:solidFill>
                            <a:srgbClr val="FFFFFF"/>
                          </a:solidFill>
                          <a:latin typeface="Arial"/>
                          <a:ea typeface="Microsoft JhengHei"/>
                        </a:rPr>
                        <a:t>Prompt v2</a:t>
                      </a:r>
                    </a:p>
                  </a:txBody>
                  <a:tcPr marL="91440" marR="91440" marT="45720" marB="45720" anchor="ctr">
                    <a:lnL w="0">
                      <a:noFill/>
                    </a:lnL>
                    <a:lnR w="0">
                      <a:noFill/>
                    </a:lnR>
                    <a:lnT w="0">
                      <a:noFill/>
                    </a:lnT>
                    <a:lnB w="0">
                      <a:noFill/>
                    </a:lnB>
                    <a:solidFill>
                      <a:srgbClr val="333D47"/>
                    </a:solidFill>
                  </a:tcPr>
                </a:tc>
              </a:tr>
              <a:tr h="384048">
                <a:tc>
                  <a:txBody>
                    <a:bodyPr wrap="square"/>
                    <a:lstStyle/>
                    <a:p>
                      <a:pPr algn="l"/>
                      <a:r>
                        <a:rPr sz="1200" b="1" i="0">
                          <a:solidFill>
                            <a:srgbClr val="333D47"/>
                          </a:solidFill>
                          <a:latin typeface="Arial"/>
                          <a:ea typeface="Microsoft JhengHei"/>
                        </a:rPr>
                        <a:t>Doctor</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0" i="0">
                          <a:solidFill>
                            <a:srgbClr val="333D47"/>
                          </a:solidFill>
                          <a:latin typeface="Arial"/>
                          <a:ea typeface="Microsoft JhengHei"/>
                        </a:rPr>
                        <a:t>67%</a:t>
                      </a:r>
                      <a:r>
                        <a:rPr sz="950" b="0" i="0">
                          <a:solidFill>
                            <a:srgbClr val="5F6770"/>
                          </a:solidFill>
                          <a:latin typeface="Arial"/>
                          <a:ea typeface="Microsoft JhengHei"/>
                        </a:rPr>
                        <a:t> 6/9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1" i="0">
                          <a:solidFill>
                            <a:srgbClr val="1E7B4A"/>
                          </a:solidFill>
                          <a:latin typeface="Arial"/>
                          <a:ea typeface="Microsoft JhengHei"/>
                        </a:rPr>
                        <a:t>89%</a:t>
                      </a:r>
                      <a:r>
                        <a:rPr sz="95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solidFill>
                      <a:srgbClr val="E6F2EA"/>
                    </a:solidFill>
                  </a:tcPr>
                </a:tc>
              </a:tr>
              <a:tr h="384048">
                <a:tc>
                  <a:txBody>
                    <a:bodyPr wrap="square"/>
                    <a:lstStyle/>
                    <a:p>
                      <a:pPr algn="l"/>
                      <a:r>
                        <a:rPr sz="1200" b="1" i="0">
                          <a:solidFill>
                            <a:srgbClr val="333D47"/>
                          </a:solidFill>
                          <a:latin typeface="Arial"/>
                          <a:ea typeface="Microsoft JhengHei"/>
                        </a:rPr>
                        <a:t>Registration*</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0" i="0">
                          <a:solidFill>
                            <a:srgbClr val="333D47"/>
                          </a:solidFill>
                          <a:latin typeface="Arial"/>
                          <a:ea typeface="Microsoft JhengHei"/>
                        </a:rPr>
                        <a:t>83%</a:t>
                      </a:r>
                      <a:r>
                        <a:rPr sz="950" b="0" i="0">
                          <a:solidFill>
                            <a:srgbClr val="5F6770"/>
                          </a:solidFill>
                          <a:latin typeface="Arial"/>
                          <a:ea typeface="Microsoft JhengHei"/>
                        </a:rPr>
                        <a:t> 5/6</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1" i="0">
                          <a:solidFill>
                            <a:srgbClr val="1E7B4A"/>
                          </a:solidFill>
                          <a:latin typeface="Arial"/>
                          <a:ea typeface="Microsoft JhengHei"/>
                        </a:rPr>
                        <a:t>100%</a:t>
                      </a:r>
                      <a:r>
                        <a:rPr sz="950" b="0" i="0">
                          <a:solidFill>
                            <a:srgbClr val="5F6770"/>
                          </a:solidFill>
                          <a:latin typeface="Arial"/>
                          <a:ea typeface="Microsoft JhengHei"/>
                        </a:rPr>
                        <a:t> 6/6</a:t>
                      </a:r>
                    </a:p>
                  </a:txBody>
                  <a:tcPr marL="91440" marR="91440" marT="45720" marB="45720" anchor="ctr">
                    <a:lnL w="0">
                      <a:noFill/>
                    </a:lnL>
                    <a:lnR w="0">
                      <a:noFill/>
                    </a:lnR>
                    <a:lnT w="0">
                      <a:noFill/>
                    </a:lnT>
                    <a:lnB w="9525" cmpd="sng">
                      <a:solidFill>
                        <a:srgbClr val="BFBFBF"/>
                      </a:solidFill>
                    </a:lnB>
                    <a:solidFill>
                      <a:srgbClr val="E6F2EA"/>
                    </a:solidFill>
                  </a:tcPr>
                </a:tc>
              </a:tr>
              <a:tr h="384048">
                <a:tc>
                  <a:txBody>
                    <a:bodyPr wrap="square"/>
                    <a:lstStyle/>
                    <a:p>
                      <a:pPr algn="l"/>
                      <a:r>
                        <a:rPr sz="1200" b="1" i="0">
                          <a:solidFill>
                            <a:srgbClr val="333D47"/>
                          </a:solidFill>
                          <a:latin typeface="Arial"/>
                          <a:ea typeface="Microsoft JhengHei"/>
                        </a:rPr>
                        <a:t>Patient</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0" i="0">
                          <a:solidFill>
                            <a:srgbClr val="333D47"/>
                          </a:solidFill>
                          <a:latin typeface="Arial"/>
                          <a:ea typeface="Microsoft JhengHei"/>
                        </a:rPr>
                        <a:t>100%</a:t>
                      </a:r>
                      <a:r>
                        <a:rPr sz="950" b="0" i="0">
                          <a:solidFill>
                            <a:srgbClr val="5F6770"/>
                          </a:solidFill>
                          <a:latin typeface="Arial"/>
                          <a:ea typeface="Microsoft JhengHei"/>
                        </a:rPr>
                        <a:t> 9/9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0" i="0">
                          <a:solidFill>
                            <a:srgbClr val="333D47"/>
                          </a:solidFill>
                          <a:latin typeface="Arial"/>
                          <a:ea typeface="Microsoft JhengHei"/>
                        </a:rPr>
                        <a:t>100%</a:t>
                      </a:r>
                      <a:r>
                        <a:rPr sz="950" b="0" i="0">
                          <a:solidFill>
                            <a:srgbClr val="5F6770"/>
                          </a:solidFill>
                          <a:latin typeface="Arial"/>
                          <a:ea typeface="Microsoft JhengHei"/>
                        </a:rPr>
                        <a:t> 9/9</a:t>
                      </a:r>
                    </a:p>
                  </a:txBody>
                  <a:tcPr marL="91440" marR="91440" marT="45720" marB="45720" anchor="ctr">
                    <a:lnL w="0">
                      <a:noFill/>
                    </a:lnL>
                    <a:lnR w="0">
                      <a:noFill/>
                    </a:lnR>
                    <a:lnT w="0">
                      <a:noFill/>
                    </a:lnT>
                    <a:lnB w="9525" cmpd="sng">
                      <a:solidFill>
                        <a:srgbClr val="BFBFBF"/>
                      </a:solidFill>
                    </a:lnB>
                    <a:noFill/>
                  </a:tcPr>
                </a:tc>
              </a:tr>
              <a:tr h="384048">
                <a:tc>
                  <a:txBody>
                    <a:bodyPr wrap="square"/>
                    <a:lstStyle/>
                    <a:p>
                      <a:pPr algn="l"/>
                      <a:r>
                        <a:rPr sz="1200" b="1" i="0">
                          <a:solidFill>
                            <a:srgbClr val="333D47"/>
                          </a:solidFill>
                          <a:latin typeface="Arial"/>
                          <a:ea typeface="Microsoft JhengHei"/>
                        </a:rPr>
                        <a:t>Receipt no.</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0" i="0">
                          <a:solidFill>
                            <a:srgbClr val="333D47"/>
                          </a:solidFill>
                          <a:latin typeface="Arial"/>
                          <a:ea typeface="Microsoft JhengHei"/>
                        </a:rPr>
                        <a:t>100%</a:t>
                      </a:r>
                      <a:r>
                        <a:rPr sz="950" b="0" i="0">
                          <a:solidFill>
                            <a:srgbClr val="5F6770"/>
                          </a:solidFill>
                          <a:latin typeface="Arial"/>
                          <a:ea typeface="Microsoft JhengHei"/>
                        </a:rPr>
                        <a:t> 9/9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0" i="0">
                          <a:solidFill>
                            <a:srgbClr val="333D47"/>
                          </a:solidFill>
                          <a:latin typeface="Arial"/>
                          <a:ea typeface="Microsoft JhengHei"/>
                        </a:rPr>
                        <a:t>100%</a:t>
                      </a:r>
                      <a:r>
                        <a:rPr sz="950" b="0" i="0">
                          <a:solidFill>
                            <a:srgbClr val="5F6770"/>
                          </a:solidFill>
                          <a:latin typeface="Arial"/>
                          <a:ea typeface="Microsoft JhengHei"/>
                        </a:rPr>
                        <a:t> 9/9</a:t>
                      </a:r>
                    </a:p>
                  </a:txBody>
                  <a:tcPr marL="91440" marR="91440" marT="45720" marB="45720" anchor="ctr">
                    <a:lnL w="0">
                      <a:noFill/>
                    </a:lnL>
                    <a:lnR w="0">
                      <a:noFill/>
                    </a:lnR>
                    <a:lnT w="0">
                      <a:noFill/>
                    </a:lnT>
                    <a:lnB w="9525" cmpd="sng">
                      <a:solidFill>
                        <a:srgbClr val="BFBFBF"/>
                      </a:solidFill>
                    </a:lnB>
                    <a:noFill/>
                  </a:tcPr>
                </a:tc>
              </a:tr>
              <a:tr h="384048">
                <a:tc>
                  <a:txBody>
                    <a:bodyPr wrap="square"/>
                    <a:lstStyle/>
                    <a:p>
                      <a:pPr algn="l"/>
                      <a:r>
                        <a:rPr sz="1200" b="1" i="0">
                          <a:solidFill>
                            <a:srgbClr val="333D47"/>
                          </a:solidFill>
                          <a:latin typeface="Arial"/>
                          <a:ea typeface="Microsoft JhengHei"/>
                        </a:rPr>
                        <a:t>Service date</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0" i="0">
                          <a:solidFill>
                            <a:srgbClr val="333D47"/>
                          </a:solidFill>
                          <a:latin typeface="Arial"/>
                          <a:ea typeface="Microsoft JhengHei"/>
                        </a:rPr>
                        <a:t>89%</a:t>
                      </a:r>
                      <a:r>
                        <a:rPr sz="95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0" i="0">
                          <a:solidFill>
                            <a:srgbClr val="333D47"/>
                          </a:solidFill>
                          <a:latin typeface="Arial"/>
                          <a:ea typeface="Microsoft JhengHei"/>
                        </a:rPr>
                        <a:t>89%</a:t>
                      </a:r>
                      <a:r>
                        <a:rPr sz="95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r>
              <a:tr h="384048">
                <a:tc>
                  <a:txBody>
                    <a:bodyPr wrap="square"/>
                    <a:lstStyle/>
                    <a:p>
                      <a:pPr algn="l"/>
                      <a:r>
                        <a:rPr sz="1200" b="1" i="0">
                          <a:solidFill>
                            <a:srgbClr val="333D47"/>
                          </a:solidFill>
                          <a:latin typeface="Arial"/>
                          <a:ea typeface="Microsoft JhengHei"/>
                        </a:rPr>
                        <a:t>Total</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0" i="0">
                          <a:solidFill>
                            <a:srgbClr val="333D47"/>
                          </a:solidFill>
                          <a:latin typeface="Arial"/>
                          <a:ea typeface="Microsoft JhengHei"/>
                        </a:rPr>
                        <a:t>89%</a:t>
                      </a:r>
                      <a:r>
                        <a:rPr sz="95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1" i="0">
                          <a:solidFill>
                            <a:srgbClr val="1E7B4A"/>
                          </a:solidFill>
                          <a:latin typeface="Arial"/>
                          <a:ea typeface="Microsoft JhengHei"/>
                        </a:rPr>
                        <a:t>100%</a:t>
                      </a:r>
                      <a:r>
                        <a:rPr sz="950" b="0" i="0">
                          <a:solidFill>
                            <a:srgbClr val="5F6770"/>
                          </a:solidFill>
                          <a:latin typeface="Arial"/>
                          <a:ea typeface="Microsoft JhengHei"/>
                        </a:rPr>
                        <a:t> 9/9</a:t>
                      </a:r>
                    </a:p>
                  </a:txBody>
                  <a:tcPr marL="91440" marR="91440" marT="45720" marB="45720" anchor="ctr">
                    <a:lnL w="0">
                      <a:noFill/>
                    </a:lnL>
                    <a:lnR w="0">
                      <a:noFill/>
                    </a:lnR>
                    <a:lnT w="0">
                      <a:noFill/>
                    </a:lnT>
                    <a:lnB w="9525" cmpd="sng">
                      <a:solidFill>
                        <a:srgbClr val="BFBFBF"/>
                      </a:solidFill>
                    </a:lnB>
                    <a:solidFill>
                      <a:srgbClr val="E6F2EA"/>
                    </a:solidFill>
                  </a:tcPr>
                </a:tc>
              </a:tr>
            </a:tbl>
          </a:graphicData>
        </a:graphic>
      </p:graphicFrame>
      <p:sp>
        <p:nvSpPr>
          <p:cNvPr id="15" name="TextBox 14"/>
          <p:cNvSpPr txBox="1"/>
          <p:nvPr/>
        </p:nvSpPr>
        <p:spPr>
          <a:xfrm>
            <a:off x="356616" y="493776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The gain came from the prompt wording; code checks, OCR layout and attaching the photo changed no result. * Registration is printed on 6 of 9 receipts.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The Key Difference: Maintenance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333D47"/>
            </a:solidFill>
          </a:ln>
        </p:spPr>
        <p:txBody>
          <a:bodyPr rtlCol="0" anchor="ctr" lIns="45720" rIns="45720" tIns="0" bIns="0"/>
          <a:lstStyle/>
          <a:p>
            <a:pPr algn="ctr"/>
            <a:r>
              <a:rPr sz="1050" b="1">
                <a:solidFill>
                  <a:srgbClr val="333D47"/>
                </a:solidFill>
                <a:latin typeface="Arial"/>
                <a:ea typeface="Microsoft JhengHei"/>
              </a:rPr>
              <a:t>MEASURED · DEVELOPMENT SET</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Rules need us to anticipate every case in code. AOAI can often cope through plain-language instructions.</a:t>
            </a:r>
          </a:p>
        </p:txBody>
      </p:sp>
      <p:sp>
        <p:nvSpPr>
          <p:cNvPr id="13" name="Rectangle 12"/>
          <p:cNvSpPr/>
          <p:nvPr/>
        </p:nvSpPr>
        <p:spPr>
          <a:xfrm>
            <a:off x="356616" y="1783080"/>
            <a:ext cx="5623560" cy="384048"/>
          </a:xfrm>
          <a:prstGeom prst="rect">
            <a:avLst/>
          </a:prstGeom>
          <a:solidFill>
            <a:srgbClr val="333D47"/>
          </a:solidFill>
          <a:ln>
            <a:noFill/>
          </a:ln>
        </p:spPr>
        <p:txBody>
          <a:bodyPr rtlCol="0" anchor="ctr" wrap="square" lIns="164592" rIns="164592" tIns="109728" bIns="109728"/>
          <a:lstStyle/>
          <a:p>
            <a:pPr algn="l" marL="0" indent="0">
              <a:spcAft>
                <a:spcPts val="0"/>
              </a:spcAft>
              <a:buNone/>
            </a:pPr>
            <a:r>
              <a:rPr sz="1600" b="1" i="0">
                <a:solidFill>
                  <a:srgbClr val="FFFFFF"/>
                </a:solidFill>
                <a:latin typeface="Arial"/>
                <a:ea typeface="Microsoft JhengHei"/>
              </a:rPr>
              <a:t>Manual extraction rules</a:t>
            </a:r>
          </a:p>
        </p:txBody>
      </p:sp>
      <p:sp>
        <p:nvSpPr>
          <p:cNvPr id="14" name="Rectangle 13"/>
          <p:cNvSpPr/>
          <p:nvPr/>
        </p:nvSpPr>
        <p:spPr>
          <a:xfrm>
            <a:off x="356616" y="2286000"/>
            <a:ext cx="1661160" cy="1051560"/>
          </a:xfrm>
          <a:prstGeom prst="rect">
            <a:avLst/>
          </a:prstGeom>
          <a:solidFill>
            <a:srgbClr val="F2F2F2"/>
          </a:solidFill>
          <a:ln>
            <a:noFill/>
          </a:ln>
        </p:spPr>
        <p:txBody>
          <a:bodyPr rtlCol="0" anchor="ctr" wrap="square" lIns="109728" rIns="109728" tIns="109728" bIns="109728"/>
          <a:lstStyle/>
          <a:p>
            <a:pPr algn="l" marL="0" indent="0">
              <a:spcAft>
                <a:spcPts val="0"/>
              </a:spcAft>
              <a:buNone/>
            </a:pPr>
            <a:r>
              <a:rPr sz="1250" b="0" i="0">
                <a:solidFill>
                  <a:srgbClr val="333D47"/>
                </a:solidFill>
                <a:latin typeface="Arial"/>
                <a:ea typeface="Microsoft JhengHei"/>
              </a:rPr>
              <a:t>A new label, language or layout appears</a:t>
            </a:r>
          </a:p>
        </p:txBody>
      </p:sp>
      <p:sp>
        <p:nvSpPr>
          <p:cNvPr id="15" name="Rectangle 14"/>
          <p:cNvSpPr/>
          <p:nvPr/>
        </p:nvSpPr>
        <p:spPr>
          <a:xfrm>
            <a:off x="2337816" y="2286000"/>
            <a:ext cx="1661160" cy="1051560"/>
          </a:xfrm>
          <a:prstGeom prst="rect">
            <a:avLst/>
          </a:prstGeom>
          <a:solidFill>
            <a:srgbClr val="F2F2F2"/>
          </a:solidFill>
          <a:ln>
            <a:noFill/>
          </a:ln>
        </p:spPr>
        <p:txBody>
          <a:bodyPr rtlCol="0" anchor="ctr" wrap="square" lIns="109728" rIns="109728" tIns="109728" bIns="109728"/>
          <a:lstStyle/>
          <a:p>
            <a:pPr algn="l" marL="0" indent="0">
              <a:spcAft>
                <a:spcPts val="0"/>
              </a:spcAft>
              <a:buNone/>
            </a:pPr>
            <a:r>
              <a:rPr sz="1250" b="0" i="0">
                <a:solidFill>
                  <a:srgbClr val="333D47"/>
                </a:solidFill>
                <a:latin typeface="Arial"/>
                <a:ea typeface="Microsoft JhengHei"/>
              </a:rPr>
              <a:t>A developer anticipates it and writes rule code</a:t>
            </a:r>
          </a:p>
        </p:txBody>
      </p:sp>
      <p:sp>
        <p:nvSpPr>
          <p:cNvPr id="16" name="Right Arrow 15"/>
          <p:cNvSpPr/>
          <p:nvPr/>
        </p:nvSpPr>
        <p:spPr>
          <a:xfrm>
            <a:off x="2063496" y="2697480"/>
            <a:ext cx="228600" cy="219456"/>
          </a:xfrm>
          <a:prstGeom prst="rightArrow">
            <a:avLst/>
          </a:prstGeom>
          <a:solidFill>
            <a:srgbClr val="8C939A"/>
          </a:solidFill>
          <a:ln>
            <a:noFill/>
          </a:ln>
        </p:spPr>
        <p:txBody>
          <a:bodyPr rtlCol="0" anchor="ctr"/>
          <a:lstStyle/>
          <a:p>
            <a:pPr algn="ctr"/>
          </a:p>
        </p:txBody>
      </p:sp>
      <p:sp>
        <p:nvSpPr>
          <p:cNvPr id="17" name="Rectangle 16"/>
          <p:cNvSpPr/>
          <p:nvPr/>
        </p:nvSpPr>
        <p:spPr>
          <a:xfrm>
            <a:off x="4319015" y="2286000"/>
            <a:ext cx="1661160" cy="1051560"/>
          </a:xfrm>
          <a:prstGeom prst="rect">
            <a:avLst/>
          </a:prstGeom>
          <a:solidFill>
            <a:srgbClr val="F2F2F2"/>
          </a:solidFill>
          <a:ln>
            <a:noFill/>
          </a:ln>
        </p:spPr>
        <p:txBody>
          <a:bodyPr rtlCol="0" anchor="ctr" wrap="square" lIns="109728" rIns="109728" tIns="109728" bIns="109728"/>
          <a:lstStyle/>
          <a:p>
            <a:pPr algn="l" marL="0" indent="0">
              <a:spcAft>
                <a:spcPts val="0"/>
              </a:spcAft>
              <a:buNone/>
            </a:pPr>
            <a:r>
              <a:rPr sz="1250" b="0" i="0">
                <a:solidFill>
                  <a:srgbClr val="333D47"/>
                </a:solidFill>
                <a:latin typeface="Arial"/>
                <a:ea typeface="Microsoft JhengHei"/>
              </a:rPr>
              <a:t>Retest every receipt; a change can break a working one</a:t>
            </a:r>
          </a:p>
        </p:txBody>
      </p:sp>
      <p:sp>
        <p:nvSpPr>
          <p:cNvPr id="18" name="Right Arrow 17"/>
          <p:cNvSpPr/>
          <p:nvPr/>
        </p:nvSpPr>
        <p:spPr>
          <a:xfrm>
            <a:off x="4044695" y="2697480"/>
            <a:ext cx="228600" cy="219456"/>
          </a:xfrm>
          <a:prstGeom prst="rightArrow">
            <a:avLst/>
          </a:prstGeom>
          <a:solidFill>
            <a:srgbClr val="8C939A"/>
          </a:solidFill>
          <a:ln>
            <a:noFill/>
          </a:ln>
        </p:spPr>
        <p:txBody>
          <a:bodyPr rtlCol="0" anchor="ctr"/>
          <a:lstStyle/>
          <a:p>
            <a:pPr algn="ctr"/>
          </a:p>
        </p:txBody>
      </p:sp>
      <p:sp>
        <p:nvSpPr>
          <p:cNvPr id="19" name="TextBox 18"/>
          <p:cNvSpPr txBox="1"/>
          <p:nvPr/>
        </p:nvSpPr>
        <p:spPr>
          <a:xfrm>
            <a:off x="356616" y="3456432"/>
            <a:ext cx="5623560" cy="822960"/>
          </a:xfrm>
          <a:prstGeom prst="rect">
            <a:avLst/>
          </a:prstGeom>
          <a:noFill/>
        </p:spPr>
        <p:txBody>
          <a:bodyPr wrap="square" lIns="137160" rIns="137160" tIns="109728" bIns="109728" anchor="t"/>
          <a:lstStyle/>
          <a:p>
            <a:pPr marL="0" indent="0" algn="l">
              <a:spcAft>
                <a:spcPts val="200"/>
              </a:spcAft>
              <a:buNone/>
            </a:pPr>
            <a:r>
              <a:rPr sz="1200" b="1" i="0">
                <a:solidFill>
                  <a:srgbClr val="5F6770"/>
                </a:solidFill>
                <a:latin typeface="Arial"/>
                <a:ea typeface="Microsoft JhengHei"/>
              </a:rPr>
              <a:t>Seen in this benchmark</a:t>
            </a:r>
          </a:p>
          <a:p>
            <a:pPr marL="182880" indent="-182880" algn="l">
              <a:spcAft>
                <a:spcPts val="200"/>
              </a:spcAft>
              <a:buFont typeface="Arial"/>
              <a:buChar char="•"/>
            </a:pPr>
            <a:r>
              <a:rPr sz="1250" b="0" i="0">
                <a:solidFill>
                  <a:srgbClr val="333D47"/>
                </a:solidFill>
                <a:latin typeface="Arial"/>
                <a:ea typeface="Microsoft JhengHei"/>
              </a:rPr>
              <a:t>69 → 225 label phrases written by hand</a:t>
            </a:r>
          </a:p>
          <a:p>
            <a:pPr marL="182880" indent="-182880" algn="l">
              <a:spcAft>
                <a:spcPts val="200"/>
              </a:spcAft>
              <a:buFont typeface="Arial"/>
              <a:buChar char="•"/>
            </a:pPr>
            <a:r>
              <a:rPr sz="1250" b="0" i="0">
                <a:solidFill>
                  <a:srgbClr val="333D47"/>
                </a:solidFill>
                <a:latin typeface="Arial"/>
                <a:ea typeface="Microsoft JhengHei"/>
              </a:rPr>
              <a:t>1 correct field broken by a rule change</a:t>
            </a:r>
          </a:p>
        </p:txBody>
      </p:sp>
      <p:sp>
        <p:nvSpPr>
          <p:cNvPr id="20" name="Rectangle 19"/>
          <p:cNvSpPr/>
          <p:nvPr/>
        </p:nvSpPr>
        <p:spPr>
          <a:xfrm>
            <a:off x="6208776" y="1783080"/>
            <a:ext cx="5623560" cy="384048"/>
          </a:xfrm>
          <a:prstGeom prst="rect">
            <a:avLst/>
          </a:prstGeom>
          <a:solidFill>
            <a:srgbClr val="D31145"/>
          </a:solidFill>
          <a:ln>
            <a:noFill/>
          </a:ln>
        </p:spPr>
        <p:txBody>
          <a:bodyPr rtlCol="0" anchor="ctr" wrap="square" lIns="164592" rIns="164592" tIns="109728" bIns="109728"/>
          <a:lstStyle/>
          <a:p>
            <a:pPr algn="l" marL="0" indent="0">
              <a:spcAft>
                <a:spcPts val="0"/>
              </a:spcAft>
              <a:buNone/>
            </a:pPr>
            <a:r>
              <a:rPr sz="1600" b="1" i="0">
                <a:solidFill>
                  <a:srgbClr val="FFFFFF"/>
                </a:solidFill>
                <a:latin typeface="Arial"/>
                <a:ea typeface="Microsoft JhengHei"/>
              </a:rPr>
              <a:t>AOAI extraction</a:t>
            </a:r>
          </a:p>
        </p:txBody>
      </p:sp>
      <p:sp>
        <p:nvSpPr>
          <p:cNvPr id="21" name="Rectangle 20"/>
          <p:cNvSpPr/>
          <p:nvPr/>
        </p:nvSpPr>
        <p:spPr>
          <a:xfrm>
            <a:off x="6208776" y="2286000"/>
            <a:ext cx="1661160" cy="1051560"/>
          </a:xfrm>
          <a:prstGeom prst="rect">
            <a:avLst/>
          </a:prstGeom>
          <a:solidFill>
            <a:srgbClr val="FFFFFF"/>
          </a:solidFill>
          <a:ln w="25400">
            <a:solidFill>
              <a:srgbClr val="D31145"/>
            </a:solidFill>
          </a:ln>
        </p:spPr>
        <p:txBody>
          <a:bodyPr rtlCol="0" anchor="ctr" wrap="square" lIns="109728" rIns="109728" tIns="109728" bIns="109728"/>
          <a:lstStyle/>
          <a:p>
            <a:pPr algn="l" marL="0" indent="0">
              <a:spcAft>
                <a:spcPts val="0"/>
              </a:spcAft>
              <a:buNone/>
            </a:pPr>
            <a:r>
              <a:rPr sz="1250" b="0" i="0">
                <a:solidFill>
                  <a:srgbClr val="333D47"/>
                </a:solidFill>
                <a:latin typeface="Arial"/>
                <a:ea typeface="Microsoft JhengHei"/>
              </a:rPr>
              <a:t>New wording appears</a:t>
            </a:r>
          </a:p>
        </p:txBody>
      </p:sp>
      <p:sp>
        <p:nvSpPr>
          <p:cNvPr id="22" name="Rectangle 21"/>
          <p:cNvSpPr/>
          <p:nvPr/>
        </p:nvSpPr>
        <p:spPr>
          <a:xfrm>
            <a:off x="8189976" y="2286000"/>
            <a:ext cx="1661160" cy="1051560"/>
          </a:xfrm>
          <a:prstGeom prst="rect">
            <a:avLst/>
          </a:prstGeom>
          <a:solidFill>
            <a:srgbClr val="FFFFFF"/>
          </a:solidFill>
          <a:ln w="25400">
            <a:solidFill>
              <a:srgbClr val="D31145"/>
            </a:solidFill>
          </a:ln>
        </p:spPr>
        <p:txBody>
          <a:bodyPr rtlCol="0" anchor="ctr" wrap="square" lIns="109728" rIns="109728" tIns="109728" bIns="109728"/>
          <a:lstStyle/>
          <a:p>
            <a:pPr algn="l" marL="0" indent="0">
              <a:spcAft>
                <a:spcPts val="0"/>
              </a:spcAft>
              <a:buNone/>
            </a:pPr>
            <a:r>
              <a:rPr sz="1250" b="0" i="0">
                <a:solidFill>
                  <a:srgbClr val="333D47"/>
                </a:solidFill>
                <a:latin typeface="Arial"/>
                <a:ea typeface="Microsoft JhengHei"/>
              </a:rPr>
              <a:t>Often handled by the existing instructions</a:t>
            </a:r>
          </a:p>
        </p:txBody>
      </p:sp>
      <p:sp>
        <p:nvSpPr>
          <p:cNvPr id="23" name="Right Arrow 22"/>
          <p:cNvSpPr/>
          <p:nvPr/>
        </p:nvSpPr>
        <p:spPr>
          <a:xfrm>
            <a:off x="7915656" y="2697480"/>
            <a:ext cx="228600" cy="219456"/>
          </a:xfrm>
          <a:prstGeom prst="rightArrow">
            <a:avLst/>
          </a:prstGeom>
          <a:solidFill>
            <a:srgbClr val="8C939A"/>
          </a:solidFill>
          <a:ln>
            <a:noFill/>
          </a:ln>
        </p:spPr>
        <p:txBody>
          <a:bodyPr rtlCol="0" anchor="ctr"/>
          <a:lstStyle/>
          <a:p>
            <a:pPr algn="ctr"/>
          </a:p>
        </p:txBody>
      </p:sp>
      <p:sp>
        <p:nvSpPr>
          <p:cNvPr id="24" name="Rectangle 23"/>
          <p:cNvSpPr/>
          <p:nvPr/>
        </p:nvSpPr>
        <p:spPr>
          <a:xfrm>
            <a:off x="10171176" y="2286000"/>
            <a:ext cx="1661160" cy="1051560"/>
          </a:xfrm>
          <a:prstGeom prst="rect">
            <a:avLst/>
          </a:prstGeom>
          <a:solidFill>
            <a:srgbClr val="FFFFFF"/>
          </a:solidFill>
          <a:ln w="25400">
            <a:solidFill>
              <a:srgbClr val="D31145"/>
            </a:solidFill>
          </a:ln>
        </p:spPr>
        <p:txBody>
          <a:bodyPr rtlCol="0" anchor="ctr" wrap="square" lIns="109728" rIns="109728" tIns="109728" bIns="109728"/>
          <a:lstStyle/>
          <a:p>
            <a:pPr algn="l" marL="0" indent="0">
              <a:spcAft>
                <a:spcPts val="0"/>
              </a:spcAft>
              <a:buNone/>
            </a:pPr>
            <a:r>
              <a:rPr sz="1250" b="0" i="0">
                <a:solidFill>
                  <a:srgbClr val="333D47"/>
                </a:solidFill>
                <a:latin typeface="Arial"/>
                <a:ea typeface="Microsoft JhengHei"/>
              </a:rPr>
              <a:t>If not: refine the instructions in plain language, rerun</a:t>
            </a:r>
          </a:p>
        </p:txBody>
      </p:sp>
      <p:sp>
        <p:nvSpPr>
          <p:cNvPr id="25" name="Right Arrow 24"/>
          <p:cNvSpPr/>
          <p:nvPr/>
        </p:nvSpPr>
        <p:spPr>
          <a:xfrm>
            <a:off x="9896856" y="2697480"/>
            <a:ext cx="228600" cy="219456"/>
          </a:xfrm>
          <a:prstGeom prst="rightArrow">
            <a:avLst/>
          </a:prstGeom>
          <a:solidFill>
            <a:srgbClr val="8C939A"/>
          </a:solidFill>
          <a:ln>
            <a:noFill/>
          </a:ln>
        </p:spPr>
        <p:txBody>
          <a:bodyPr rtlCol="0" anchor="ctr"/>
          <a:lstStyle/>
          <a:p>
            <a:pPr algn="ctr"/>
          </a:p>
        </p:txBody>
      </p:sp>
      <p:sp>
        <p:nvSpPr>
          <p:cNvPr id="26" name="TextBox 25"/>
          <p:cNvSpPr txBox="1"/>
          <p:nvPr/>
        </p:nvSpPr>
        <p:spPr>
          <a:xfrm>
            <a:off x="6208776" y="3456432"/>
            <a:ext cx="5623560" cy="822960"/>
          </a:xfrm>
          <a:prstGeom prst="rect">
            <a:avLst/>
          </a:prstGeom>
          <a:noFill/>
        </p:spPr>
        <p:txBody>
          <a:bodyPr wrap="square" lIns="137160" rIns="137160" tIns="109728" bIns="109728" anchor="t"/>
          <a:lstStyle/>
          <a:p>
            <a:pPr marL="0" indent="0" algn="l">
              <a:spcAft>
                <a:spcPts val="200"/>
              </a:spcAft>
              <a:buNone/>
            </a:pPr>
            <a:r>
              <a:rPr sz="1200" b="1" i="0">
                <a:solidFill>
                  <a:srgbClr val="5F6770"/>
                </a:solidFill>
                <a:latin typeface="Arial"/>
                <a:ea typeface="Microsoft JhengHei"/>
              </a:rPr>
              <a:t>Seen in this benchmark</a:t>
            </a:r>
          </a:p>
          <a:p>
            <a:pPr marL="182880" indent="-182880" algn="l">
              <a:spcAft>
                <a:spcPts val="200"/>
              </a:spcAft>
              <a:buFont typeface="Arial"/>
              <a:buChar char="•"/>
            </a:pPr>
            <a:r>
              <a:rPr sz="1250" b="0" i="0">
                <a:solidFill>
                  <a:srgbClr val="333D47"/>
                </a:solidFill>
                <a:latin typeface="Arial"/>
                <a:ea typeface="Microsoft JhengHei"/>
              </a:rPr>
              <a:t>One prompt revision: 4 fields fixed, 0 broken</a:t>
            </a:r>
          </a:p>
        </p:txBody>
      </p:sp>
      <p:sp>
        <p:nvSpPr>
          <p:cNvPr id="27" name="Rectangle 26"/>
          <p:cNvSpPr/>
          <p:nvPr/>
        </p:nvSpPr>
        <p:spPr>
          <a:xfrm>
            <a:off x="356616" y="4389120"/>
            <a:ext cx="11475720" cy="502920"/>
          </a:xfrm>
          <a:prstGeom prst="rect">
            <a:avLst/>
          </a:prstGeom>
          <a:solidFill>
            <a:srgbClr val="FFFFFF"/>
          </a:solidFill>
          <a:ln w="25400">
            <a:solidFill>
              <a:srgbClr val="D31145"/>
            </a:solidFill>
          </a:ln>
        </p:spPr>
        <p:txBody>
          <a:bodyPr rtlCol="0" anchor="ctr" wrap="square" lIns="182880" rIns="182880" tIns="109728" bIns="109728"/>
          <a:lstStyle/>
          <a:p>
            <a:pPr algn="l" marL="0" indent="0">
              <a:spcAft>
                <a:spcPts val="0"/>
              </a:spcAft>
              <a:buNone/>
            </a:pPr>
            <a:r>
              <a:rPr sz="1300" b="1" i="0">
                <a:solidFill>
                  <a:srgbClr val="D31145"/>
                </a:solidFill>
                <a:latin typeface="Arial"/>
                <a:ea typeface="Microsoft JhengHei"/>
              </a:rPr>
              <a:t>Not guaranteed: </a:t>
            </a:r>
            <a:r>
              <a:rPr sz="1300" b="0" i="0">
                <a:solidFill>
                  <a:srgbClr val="333D47"/>
                </a:solidFill>
                <a:latin typeface="Arial"/>
                <a:ea typeface="Microsoft JhengHei"/>
              </a:rPr>
              <a:t>AOAI has not been tested on enough unseen layouts. It still makes mistakes and needs testing and monitoring.</a:t>
            </a:r>
          </a:p>
        </p:txBody>
      </p:sp>
      <p:sp>
        <p:nvSpPr>
          <p:cNvPr id="28" name="Rectangle 27"/>
          <p:cNvSpPr/>
          <p:nvPr/>
        </p:nvSpPr>
        <p:spPr>
          <a:xfrm>
            <a:off x="356616" y="4983480"/>
            <a:ext cx="11475720" cy="502920"/>
          </a:xfrm>
          <a:prstGeom prst="rect">
            <a:avLst/>
          </a:prstGeom>
          <a:solidFill>
            <a:srgbClr val="F2F2F2"/>
          </a:solidFill>
          <a:ln>
            <a:noFill/>
          </a:ln>
        </p:spPr>
        <p:txBody>
          <a:bodyPr rtlCol="0" anchor="ctr" wrap="square" lIns="182880" rIns="182880" tIns="109728" bIns="109728"/>
          <a:lstStyle/>
          <a:p>
            <a:pPr algn="l" marL="0" indent="0">
              <a:spcAft>
                <a:spcPts val="0"/>
              </a:spcAft>
              <a:buNone/>
            </a:pPr>
            <a:r>
              <a:rPr sz="1300" b="1" i="0">
                <a:solidFill>
                  <a:srgbClr val="333D47"/>
                </a:solidFill>
                <a:latin typeface="Arial"/>
                <a:ea typeface="Microsoft JhengHei"/>
              </a:rPr>
              <a:t>Where rules were enough: </a:t>
            </a:r>
            <a:r>
              <a:rPr sz="1300" b="0" i="0">
                <a:solidFill>
                  <a:srgbClr val="333D47"/>
                </a:solidFill>
                <a:latin typeface="Arial"/>
                <a:ea typeface="Microsoft JhengHei"/>
              </a:rPr>
              <a:t>a yes/no check for a diagnosis comment under clear labels. Rules matched AOAI on 13/13 receipts (development result).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Advantages and Disadvantages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Rules win on cost, auditability and predictability; AOAI on accuracy, maintenance and flexibility.</a:t>
            </a:r>
          </a:p>
        </p:txBody>
      </p:sp>
      <p:graphicFrame>
        <p:nvGraphicFramePr>
          <p:cNvPr id="12" name="Table 11"/>
          <p:cNvGraphicFramePr>
            <a:graphicFrameLocks noGrp="1"/>
          </p:cNvGraphicFramePr>
          <p:nvPr/>
        </p:nvGraphicFramePr>
        <p:xfrm>
          <a:off x="356616" y="1783080"/>
          <a:ext cx="11475720" cy="3639312"/>
        </p:xfrm>
        <a:graphic>
          <a:graphicData uri="http://schemas.openxmlformats.org/drawingml/2006/table">
            <a:tbl>
              <a:tblPr firstRow="0" bandRow="0">
                <a:tableStyleId>{2D5ABB26-0587-4C30-8999-92F81FD0307C}</a:tableStyleId>
              </a:tblPr>
              <a:tblGrid>
                <a:gridCol w="1600200"/>
                <a:gridCol w="4251960"/>
                <a:gridCol w="4251960"/>
                <a:gridCol w="1371600"/>
              </a:tblGrid>
              <a:tr h="438912">
                <a:tc>
                  <a:txBody>
                    <a:bodyPr wrap="square"/>
                    <a:lstStyle/>
                    <a:p>
                      <a:pPr algn="l"/>
                      <a:r>
                        <a:rPr sz="1400" b="1" i="0">
                          <a:solidFill>
                            <a:srgbClr val="FFFFFF"/>
                          </a:solidFill>
                          <a:latin typeface="Arial"/>
                          <a:ea typeface="Microsoft JhengHei"/>
                        </a:rPr>
                        <a:t/>
                      </a:r>
                    </a:p>
                  </a:txBody>
                  <a:tcPr marL="91440" marR="91440" marT="45720" marB="45720" anchor="ctr">
                    <a:lnL w="0">
                      <a:noFill/>
                    </a:lnL>
                    <a:lnR w="0">
                      <a:noFill/>
                    </a:lnR>
                    <a:lnT w="0">
                      <a:noFill/>
                    </a:lnT>
                    <a:lnB w="0">
                      <a:noFill/>
                    </a:lnB>
                    <a:solidFill>
                      <a:srgbClr val="333D47"/>
                    </a:solidFill>
                  </a:tcPr>
                </a:tc>
                <a:tc>
                  <a:txBody>
                    <a:bodyPr wrap="square"/>
                    <a:lstStyle/>
                    <a:p>
                      <a:pPr algn="l"/>
                      <a:r>
                        <a:rPr sz="1400" b="1" i="0">
                          <a:solidFill>
                            <a:srgbClr val="FFFFFF"/>
                          </a:solidFill>
                          <a:latin typeface="Arial"/>
                          <a:ea typeface="Microsoft JhengHei"/>
                        </a:rPr>
                        <a:t>OCR +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400" b="1" i="0">
                          <a:solidFill>
                            <a:srgbClr val="FFFFFF"/>
                          </a:solidFill>
                          <a:latin typeface="Arial"/>
                          <a:ea typeface="Microsoft JhengHei"/>
                        </a:rPr>
                        <a:t>Azure DI + AOAI</a:t>
                      </a:r>
                    </a:p>
                  </a:txBody>
                  <a:tcPr marL="91440" marR="91440" marT="45720" marB="45720" anchor="ctr">
                    <a:lnL w="0">
                      <a:noFill/>
                    </a:lnL>
                    <a:lnR w="0">
                      <a:noFill/>
                    </a:lnR>
                    <a:lnT w="0">
                      <a:noFill/>
                    </a:lnT>
                    <a:lnB w="0">
                      <a:noFill/>
                    </a:lnB>
                    <a:solidFill>
                      <a:srgbClr val="333D47"/>
                    </a:solidFill>
                  </a:tcPr>
                </a:tc>
                <a:tc>
                  <a:txBody>
                    <a:bodyPr wrap="square"/>
                    <a:lstStyle/>
                    <a:p>
                      <a:pPr algn="l"/>
                      <a:r>
                        <a:rPr sz="1400" b="1" i="0">
                          <a:solidFill>
                            <a:srgbClr val="FFFFFF"/>
                          </a:solidFill>
                          <a:latin typeface="Arial"/>
                          <a:ea typeface="Microsoft JhengHei"/>
                        </a:rPr>
                        <a:t>Evidence</a:t>
                      </a:r>
                    </a:p>
                  </a:txBody>
                  <a:tcPr marL="91440" marR="91440" marT="45720" marB="45720" anchor="ctr">
                    <a:lnL w="0">
                      <a:noFill/>
                    </a:lnL>
                    <a:lnR w="0">
                      <a:noFill/>
                    </a:lnR>
                    <a:lnT w="0">
                      <a:noFill/>
                    </a:lnT>
                    <a:lnB w="0">
                      <a:noFill/>
                    </a:lnB>
                    <a:solidFill>
                      <a:srgbClr val="333D47"/>
                    </a:solidFill>
                  </a:tcPr>
                </a:tc>
              </a:tr>
              <a:tr h="457200">
                <a:tc>
                  <a:txBody>
                    <a:bodyPr wrap="square"/>
                    <a:lstStyle/>
                    <a:p>
                      <a:pPr algn="l"/>
                      <a:r>
                        <a:rPr sz="1300" b="1" i="0">
                          <a:solidFill>
                            <a:srgbClr val="333D47"/>
                          </a:solidFill>
                          <a:latin typeface="Arial"/>
                          <a:ea typeface="Microsoft JhengHei"/>
                        </a:rPr>
                        <a:t>Cost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PaddleOCR: own compute, no API fee (Azure DI: page fee)</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200" b="0" i="0">
                          <a:solidFill>
                            <a:srgbClr val="333D47"/>
                          </a:solidFill>
                          <a:latin typeface="Arial"/>
                          <a:ea typeface="Microsoft JhengHei"/>
                        </a:rPr>
                        <a:t>− Azure DI page fee + ~602 input / 263 output tokens per receipt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1">
                          <a:solidFill>
                            <a:srgbClr val="5F6770"/>
                          </a:solidFill>
                          <a:latin typeface="Arial"/>
                          <a:ea typeface="Microsoft JhengHei"/>
                        </a:rPr>
                        <a:t>Prices to confirm</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Speed</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PaddleOCR 13.9 s (CPU) · Azure DI 3.8 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6.2 s per receipt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0">
                          <a:solidFill>
                            <a:srgbClr val="333D47"/>
                          </a:solidFill>
                          <a:latin typeface="Arial"/>
                          <a:ea typeface="Microsoft JhengHei"/>
                        </a:rPr>
                        <a:t>Measured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Accuracy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− 37.3–41.2% English only; 51.0–70.6% with Chinese labels (retrospective)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+ 88.2% first; 96.1% with prompt v2 (development)</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100" b="0" i="0">
                          <a:solidFill>
                            <a:srgbClr val="333D47"/>
                          </a:solidFill>
                          <a:latin typeface="Arial"/>
                          <a:ea typeface="Microsoft JhengHei"/>
                        </a:rPr>
                        <a:t>Measured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Maintenance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New labels, languages and layouts need code and a full retest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Many changes made in plain-language instructions; still retest</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100" b="0" i="1">
                          <a:solidFill>
                            <a:srgbClr val="5F6770"/>
                          </a:solidFill>
                          <a:latin typeface="Arial"/>
                          <a:ea typeface="Microsoft JhengHei"/>
                        </a:rPr>
                        <a:t>Measured / expected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Flexibility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Finds only what it was written for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New fields can be requested in the prompt (not yet benchmarked)</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100" b="0" i="1">
                          <a:solidFill>
                            <a:srgbClr val="5F6770"/>
                          </a:solidFill>
                          <a:latin typeface="Arial"/>
                          <a:ea typeface="Microsoft JhengHei"/>
                        </a:rPr>
                        <a:t>Expected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Auditability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Every result traceable to a rule</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200" b="0" i="0">
                          <a:solidFill>
                            <a:srgbClr val="333D47"/>
                          </a:solidFill>
                          <a:latin typeface="Arial"/>
                          <a:ea typeface="Microsoft JhengHei"/>
                        </a:rPr>
                        <a:t>− Harder to explain; keep quoted evidence and logs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1">
                          <a:solidFill>
                            <a:srgbClr val="5F6770"/>
                          </a:solidFill>
                          <a:latin typeface="Arial"/>
                          <a:ea typeface="Microsoft JhengHei"/>
                        </a:rPr>
                        <a:t>Expected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Reliability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Same input, same output</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200" b="0" i="0">
                          <a:solidFill>
                            <a:srgbClr val="333D47"/>
                          </a:solidFill>
                          <a:latin typeface="Arial"/>
                          <a:ea typeface="Microsoft JhengHei"/>
                        </a:rPr>
                        <a:t>− Can return a confident wrong value (e.g. a sub total as the total); model updates need retesting</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1">
                          <a:solidFill>
                            <a:srgbClr val="5F6770"/>
                          </a:solidFill>
                          <a:latin typeface="Arial"/>
                          <a:ea typeface="Microsoft JhengHei"/>
                        </a:rPr>
                        <a:t>Measured / expected</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3" name="TextBox 12"/>
          <p:cNvSpPr txBox="1"/>
          <p:nvPr/>
        </p:nvSpPr>
        <p:spPr>
          <a:xfrm>
            <a:off x="356616" y="548640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Green = stronger side. First versions = before tuning; the first rules had no Chinese labels. Expected = not measured here.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Beyond Six Fields: What AOAI Could Unlock</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D31145"/>
            </a:solidFill>
          </a:ln>
        </p:spPr>
        <p:txBody>
          <a:bodyPr rtlCol="0" anchor="ctr" lIns="45720" rIns="45720" tIns="0" bIns="0"/>
          <a:lstStyle/>
          <a:p>
            <a:pPr algn="ctr"/>
            <a:r>
              <a:rPr sz="1050" b="1">
                <a:solidFill>
                  <a:srgbClr val="D31145"/>
                </a:solidFill>
                <a:latin typeface="Arial"/>
                <a:ea typeface="Microsoft JhengHei"/>
              </a:rPr>
              <a:t>POTENTIAL · NOT YET TESTED</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Our receipts already carry medical details. AOAI could turn them into data for analytics.</a:t>
            </a:r>
          </a:p>
        </p:txBody>
      </p:sp>
      <p:graphicFrame>
        <p:nvGraphicFramePr>
          <p:cNvPr id="13" name="Table 12"/>
          <p:cNvGraphicFramePr>
            <a:graphicFrameLocks noGrp="1"/>
          </p:cNvGraphicFramePr>
          <p:nvPr/>
        </p:nvGraphicFramePr>
        <p:xfrm>
          <a:off x="356616" y="1783080"/>
          <a:ext cx="5943600" cy="3163824"/>
        </p:xfrm>
        <a:graphic>
          <a:graphicData uri="http://schemas.openxmlformats.org/drawingml/2006/table">
            <a:tbl>
              <a:tblPr firstRow="0" bandRow="0">
                <a:tableStyleId>{2D5ABB26-0587-4C30-8999-92F81FD0307C}</a:tableStyleId>
              </a:tblPr>
              <a:tblGrid>
                <a:gridCol w="1417320"/>
                <a:gridCol w="2743200"/>
                <a:gridCol w="1783080"/>
              </a:tblGrid>
              <a:tr h="411480">
                <a:tc>
                  <a:txBody>
                    <a:bodyPr wrap="square"/>
                    <a:lstStyle/>
                    <a:p>
                      <a:pPr algn="l"/>
                      <a:r>
                        <a:rPr sz="1250" b="1" i="0">
                          <a:solidFill>
                            <a:srgbClr val="FFFFFF"/>
                          </a:solidFill>
                          <a:latin typeface="Arial"/>
                          <a:ea typeface="Microsoft JhengHei"/>
                        </a:rPr>
                        <a:t>Type</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Text already in our OCR</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Receipt</a:t>
                      </a:r>
                    </a:p>
                  </a:txBody>
                  <a:tcPr marL="91440" marR="91440" marT="45720" marB="45720" anchor="ctr">
                    <a:lnL w="0">
                      <a:noFill/>
                    </a:lnL>
                    <a:lnR w="0">
                      <a:noFill/>
                    </a:lnR>
                    <a:lnT w="0">
                      <a:noFill/>
                    </a:lnT>
                    <a:lnB w="0">
                      <a:noFill/>
                    </a:lnB>
                    <a:solidFill>
                      <a:srgbClr val="333D47"/>
                    </a:solidFill>
                  </a:tcPr>
                </a:tc>
              </a:tr>
              <a:tr h="393192">
                <a:tc>
                  <a:txBody>
                    <a:bodyPr wrap="square"/>
                    <a:lstStyle/>
                    <a:p>
                      <a:pPr algn="l"/>
                      <a:r>
                        <a:rPr sz="1200" b="1" i="0">
                          <a:solidFill>
                            <a:srgbClr val="D31145"/>
                          </a:solidFill>
                          <a:latin typeface="Arial"/>
                          <a:ea typeface="Microsoft JhengHei"/>
                        </a:rPr>
                        <a:t>Medication</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Omeprazole 20mg Capsules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Pharmacy</a:t>
                      </a:r>
                    </a:p>
                  </a:txBody>
                  <a:tcPr marL="91440" marR="91440" marT="45720" marB="45720" anchor="ctr">
                    <a:lnL w="0">
                      <a:noFill/>
                    </a:lnL>
                    <a:lnR w="0">
                      <a:noFill/>
                    </a:lnR>
                    <a:lnT w="0">
                      <a:noFill/>
                    </a:lnT>
                    <a:lnB w="9525" cmpd="sng">
                      <a:solidFill>
                        <a:srgbClr val="BFBFBF"/>
                      </a:solidFill>
                    </a:lnB>
                    <a:noFill/>
                  </a:tcPr>
                </a:tc>
              </a:tr>
              <a:tr h="393192">
                <a:tc>
                  <a:txBody>
                    <a:bodyPr wrap="square"/>
                    <a:lstStyle/>
                    <a:p>
                      <a:pPr algn="l"/>
                      <a:r>
                        <a:rPr sz="1200" b="1" i="0">
                          <a:solidFill>
                            <a:srgbClr val="D31145"/>
                          </a:solidFill>
                          <a:latin typeface="Arial"/>
                          <a:ea typeface="Microsoft JhengHei"/>
                        </a:rPr>
                        <a:t>Medication</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Metronidazole 50mg Tablet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Vet invoice</a:t>
                      </a:r>
                    </a:p>
                  </a:txBody>
                  <a:tcPr marL="91440" marR="91440" marT="45720" marB="45720" anchor="ctr">
                    <a:lnL w="0">
                      <a:noFill/>
                    </a:lnL>
                    <a:lnR w="0">
                      <a:noFill/>
                    </a:lnR>
                    <a:lnT w="0">
                      <a:noFill/>
                    </a:lnT>
                    <a:lnB w="9525" cmpd="sng">
                      <a:solidFill>
                        <a:srgbClr val="BFBFBF"/>
                      </a:solidFill>
                    </a:lnB>
                    <a:noFill/>
                  </a:tcPr>
                </a:tc>
              </a:tr>
              <a:tr h="393192">
                <a:tc>
                  <a:txBody>
                    <a:bodyPr wrap="square"/>
                    <a:lstStyle/>
                    <a:p>
                      <a:pPr algn="l"/>
                      <a:r>
                        <a:rPr sz="1200" b="1" i="0">
                          <a:solidFill>
                            <a:srgbClr val="D31145"/>
                          </a:solidFill>
                          <a:latin typeface="Arial"/>
                          <a:ea typeface="Microsoft JhengHei"/>
                        </a:rPr>
                        <a:t>Test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Chest X-ray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Hospital</a:t>
                      </a:r>
                    </a:p>
                  </a:txBody>
                  <a:tcPr marL="91440" marR="91440" marT="45720" marB="45720" anchor="ctr">
                    <a:lnL w="0">
                      <a:noFill/>
                    </a:lnL>
                    <a:lnR w="0">
                      <a:noFill/>
                    </a:lnR>
                    <a:lnT w="0">
                      <a:noFill/>
                    </a:lnT>
                    <a:lnB w="9525" cmpd="sng">
                      <a:solidFill>
                        <a:srgbClr val="BFBFBF"/>
                      </a:solidFill>
                    </a:lnB>
                    <a:noFill/>
                  </a:tcPr>
                </a:tc>
              </a:tr>
              <a:tr h="393192">
                <a:tc>
                  <a:txBody>
                    <a:bodyPr wrap="square"/>
                    <a:lstStyle/>
                    <a:p>
                      <a:pPr algn="l"/>
                      <a:r>
                        <a:rPr sz="1200" b="1" i="0">
                          <a:solidFill>
                            <a:srgbClr val="D31145"/>
                          </a:solidFill>
                          <a:latin typeface="Arial"/>
                          <a:ea typeface="Microsoft JhengHei"/>
                        </a:rPr>
                        <a:t>Treatment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針灸 (acupuncture)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Chinese medicine</a:t>
                      </a:r>
                    </a:p>
                  </a:txBody>
                  <a:tcPr marL="91440" marR="91440" marT="45720" marB="45720" anchor="ctr">
                    <a:lnL w="0">
                      <a:noFill/>
                    </a:lnL>
                    <a:lnR w="0">
                      <a:noFill/>
                    </a:lnR>
                    <a:lnT w="0">
                      <a:noFill/>
                    </a:lnT>
                    <a:lnB w="9525" cmpd="sng">
                      <a:solidFill>
                        <a:srgbClr val="BFBFBF"/>
                      </a:solidFill>
                    </a:lnB>
                    <a:noFill/>
                  </a:tcPr>
                </a:tc>
              </a:tr>
              <a:tr h="393192">
                <a:tc>
                  <a:txBody>
                    <a:bodyPr wrap="square"/>
                    <a:lstStyle/>
                    <a:p>
                      <a:pPr algn="l"/>
                      <a:r>
                        <a:rPr sz="1200" b="1" i="0">
                          <a:solidFill>
                            <a:srgbClr val="D31145"/>
                          </a:solidFill>
                          <a:latin typeface="Arial"/>
                          <a:ea typeface="Microsoft JhengHei"/>
                        </a:rPr>
                        <a:t>Treatment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Scaling and polishing</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Dental</a:t>
                      </a:r>
                    </a:p>
                  </a:txBody>
                  <a:tcPr marL="91440" marR="91440" marT="45720" marB="45720" anchor="ctr">
                    <a:lnL w="0">
                      <a:noFill/>
                    </a:lnL>
                    <a:lnR w="0">
                      <a:noFill/>
                    </a:lnR>
                    <a:lnT w="0">
                      <a:noFill/>
                    </a:lnT>
                    <a:lnB w="9525" cmpd="sng">
                      <a:solidFill>
                        <a:srgbClr val="BFBFBF"/>
                      </a:solidFill>
                    </a:lnB>
                    <a:noFill/>
                  </a:tcPr>
                </a:tc>
              </a:tr>
              <a:tr h="393192">
                <a:tc>
                  <a:txBody>
                    <a:bodyPr wrap="square"/>
                    <a:lstStyle/>
                    <a:p>
                      <a:pPr algn="l"/>
                      <a:r>
                        <a:rPr sz="1200" b="1" i="0">
                          <a:solidFill>
                            <a:srgbClr val="D31145"/>
                          </a:solidFill>
                          <a:latin typeface="Arial"/>
                          <a:ea typeface="Microsoft JhengHei"/>
                        </a:rPr>
                        <a:t>Symptom</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diarrhoea</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Vet invoice</a:t>
                      </a:r>
                    </a:p>
                  </a:txBody>
                  <a:tcPr marL="91440" marR="91440" marT="45720" marB="45720" anchor="ctr">
                    <a:lnL w="0">
                      <a:noFill/>
                    </a:lnL>
                    <a:lnR w="0">
                      <a:noFill/>
                    </a:lnR>
                    <a:lnT w="0">
                      <a:noFill/>
                    </a:lnT>
                    <a:lnB w="9525" cmpd="sng">
                      <a:solidFill>
                        <a:srgbClr val="BFBFBF"/>
                      </a:solidFill>
                    </a:lnB>
                    <a:noFill/>
                  </a:tcPr>
                </a:tc>
              </a:tr>
              <a:tr h="393192">
                <a:tc>
                  <a:txBody>
                    <a:bodyPr wrap="square"/>
                    <a:lstStyle/>
                    <a:p>
                      <a:pPr algn="l"/>
                      <a:r>
                        <a:rPr sz="1200" b="1" i="0">
                          <a:solidFill>
                            <a:srgbClr val="D31145"/>
                          </a:solidFill>
                          <a:latin typeface="Arial"/>
                          <a:ea typeface="Microsoft JhengHei"/>
                        </a:rPr>
                        <a:t>Diagnosis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Colitis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Vet invoice</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4" name="Right Arrow 13"/>
          <p:cNvSpPr/>
          <p:nvPr/>
        </p:nvSpPr>
        <p:spPr>
          <a:xfrm>
            <a:off x="6400800" y="3063240"/>
            <a:ext cx="411480" cy="365760"/>
          </a:xfrm>
          <a:prstGeom prst="rightArrow">
            <a:avLst/>
          </a:prstGeom>
          <a:solidFill>
            <a:srgbClr val="8C939A"/>
          </a:solidFill>
          <a:ln>
            <a:noFill/>
          </a:ln>
        </p:spPr>
        <p:txBody>
          <a:bodyPr rtlCol="0" anchor="ctr"/>
          <a:lstStyle/>
          <a:p>
            <a:pPr algn="ctr"/>
          </a:p>
        </p:txBody>
      </p:sp>
      <p:sp>
        <p:nvSpPr>
          <p:cNvPr id="15" name="Rectangle 14"/>
          <p:cNvSpPr/>
          <p:nvPr/>
        </p:nvSpPr>
        <p:spPr>
          <a:xfrm>
            <a:off x="6949440" y="1783080"/>
            <a:ext cx="4882896" cy="3108960"/>
          </a:xfrm>
          <a:prstGeom prst="rect">
            <a:avLst/>
          </a:prstGeom>
          <a:solidFill>
            <a:srgbClr val="F2F2F2"/>
          </a:solidFill>
          <a:ln>
            <a:noFill/>
          </a:ln>
        </p:spPr>
        <p:txBody>
          <a:bodyPr rtlCol="0" anchor="t" wrap="square" lIns="182880" rIns="182880" tIns="109728" bIns="109728"/>
          <a:lstStyle/>
          <a:p>
            <a:pPr algn="l" marL="0" indent="0">
              <a:spcAft>
                <a:spcPts val="400"/>
              </a:spcAft>
              <a:buNone/>
            </a:pPr>
            <a:r>
              <a:rPr sz="1500" b="1" i="0">
                <a:solidFill>
                  <a:srgbClr val="333D47"/>
                </a:solidFill>
                <a:latin typeface="Arial"/>
                <a:ea typeface="Microsoft JhengHei"/>
              </a:rPr>
              <a:t>Which could enable</a:t>
            </a:r>
          </a:p>
          <a:p>
            <a:pPr marL="182880" indent="-182880" algn="l">
              <a:spcAft>
                <a:spcPts val="300"/>
              </a:spcAft>
              <a:buFont typeface="Arial"/>
              <a:buChar char="•"/>
            </a:pPr>
            <a:r>
              <a:rPr sz="1500" b="0" i="0">
                <a:solidFill>
                  <a:srgbClr val="333D47"/>
                </a:solidFill>
                <a:latin typeface="Arial"/>
                <a:ea typeface="Microsoft JhengHei"/>
              </a:rPr>
              <a:t>Claims analytics by diagnosis, treatment and medication</a:t>
            </a:r>
          </a:p>
          <a:p>
            <a:pPr marL="182880" indent="-182880" algn="l">
              <a:spcAft>
                <a:spcPts val="300"/>
              </a:spcAft>
              <a:buFont typeface="Arial"/>
              <a:buChar char="•"/>
            </a:pPr>
            <a:r>
              <a:rPr sz="1500" b="0" i="0">
                <a:solidFill>
                  <a:srgbClr val="333D47"/>
                </a:solidFill>
                <a:latin typeface="Arial"/>
                <a:ea typeface="Microsoft JhengHei"/>
              </a:rPr>
              <a:t>Cost benchmarks per treatment and provider</a:t>
            </a:r>
          </a:p>
          <a:p>
            <a:pPr marL="182880" indent="-182880" algn="l">
              <a:spcAft>
                <a:spcPts val="300"/>
              </a:spcAft>
              <a:buFont typeface="Arial"/>
              <a:buChar char="•"/>
            </a:pPr>
            <a:r>
              <a:rPr sz="1500" b="0" i="0">
                <a:solidFill>
                  <a:srgbClr val="333D47"/>
                </a:solidFill>
                <a:latin typeface="Arial"/>
                <a:ea typeface="Microsoft JhengHei"/>
              </a:rPr>
              <a:t>Medication and treatment patterns over time</a:t>
            </a:r>
          </a:p>
          <a:p>
            <a:pPr marL="182880" indent="-182880" algn="l">
              <a:spcAft>
                <a:spcPts val="300"/>
              </a:spcAft>
              <a:buFont typeface="Arial"/>
              <a:buChar char="•"/>
            </a:pPr>
            <a:r>
              <a:rPr sz="1500" b="0" i="0">
                <a:solidFill>
                  <a:srgbClr val="333D47"/>
                </a:solidFill>
                <a:latin typeface="Arial"/>
                <a:ea typeface="Microsoft JhengHei"/>
              </a:rPr>
              <a:t>Consistency checks: does the treatment fit the diagnosis and amount?</a:t>
            </a:r>
          </a:p>
          <a:p>
            <a:pPr marL="182880" indent="-182880" algn="l">
              <a:spcAft>
                <a:spcPts val="300"/>
              </a:spcAft>
              <a:buFont typeface="Arial"/>
              <a:buChar char="•"/>
            </a:pPr>
            <a:r>
              <a:rPr sz="1500" b="0" i="0">
                <a:solidFill>
                  <a:srgbClr val="333D47"/>
                </a:solidFill>
                <a:latin typeface="Arial"/>
                <a:ea typeface="Microsoft JhengHei"/>
              </a:rPr>
              <a:t>Faster triage and fewer manual look-ups for reviewers</a:t>
            </a:r>
          </a:p>
        </p:txBody>
      </p:sp>
      <p:sp>
        <p:nvSpPr>
          <p:cNvPr id="16" name="Rectangle 15"/>
          <p:cNvSpPr/>
          <p:nvPr/>
        </p:nvSpPr>
        <p:spPr>
          <a:xfrm>
            <a:off x="356616" y="5074920"/>
            <a:ext cx="11475720" cy="457200"/>
          </a:xfrm>
          <a:prstGeom prst="rect">
            <a:avLst/>
          </a:prstGeom>
          <a:solidFill>
            <a:srgbClr val="FFFFFF"/>
          </a:solidFill>
          <a:ln w="25400">
            <a:solidFill>
              <a:srgbClr val="D31145"/>
            </a:solidFill>
          </a:ln>
        </p:spPr>
        <p:txBody>
          <a:bodyPr rtlCol="0" anchor="ctr" wrap="square" lIns="182880" rIns="182880" tIns="109728" bIns="109728"/>
          <a:lstStyle/>
          <a:p>
            <a:pPr algn="l" marL="0" indent="0">
              <a:spcAft>
                <a:spcPts val="0"/>
              </a:spcAft>
              <a:buNone/>
            </a:pPr>
            <a:r>
              <a:rPr sz="1300" b="1" i="0">
                <a:solidFill>
                  <a:srgbClr val="D31145"/>
                </a:solidFill>
                <a:latin typeface="Arial"/>
                <a:ea typeface="Microsoft JhengHei"/>
              </a:rPr>
              <a:t>Potential, not yet benchmarked. </a:t>
            </a:r>
            <a:r>
              <a:rPr sz="1300" b="0" i="0">
                <a:solidFill>
                  <a:srgbClr val="333D47"/>
                </a:solidFill>
                <a:latin typeface="Arial"/>
                <a:ea typeface="Microsoft JhengHei"/>
              </a:rPr>
              <a:t>Text shown is OCR input, not AOAI output. A pilot needs ground truth and a privacy review.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Limits of This Evidence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The direction is clear, but the numbers are not yet proof.</a:t>
            </a:r>
          </a:p>
        </p:txBody>
      </p:sp>
      <p:sp>
        <p:nvSpPr>
          <p:cNvPr id="12" name="Rectangle 11"/>
          <p:cNvSpPr/>
          <p:nvPr/>
        </p:nvSpPr>
        <p:spPr>
          <a:xfrm>
            <a:off x="356616" y="17830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1</a:t>
            </a:r>
          </a:p>
          <a:p>
            <a:pPr marL="0" indent="0" algn="l">
              <a:spcAft>
                <a:spcPts val="400"/>
              </a:spcAft>
              <a:buNone/>
            </a:pPr>
            <a:r>
              <a:rPr sz="1500" b="1" i="0">
                <a:solidFill>
                  <a:srgbClr val="333D47"/>
                </a:solidFill>
                <a:latin typeface="Arial"/>
                <a:ea typeface="Microsoft JhengHei"/>
              </a:rPr>
              <a:t>Small dataset</a:t>
            </a:r>
          </a:p>
          <a:p>
            <a:pPr marL="0" indent="0" algn="l">
              <a:spcAft>
                <a:spcPts val="0"/>
              </a:spcAft>
              <a:buNone/>
            </a:pPr>
            <a:r>
              <a:rPr sz="1300" b="0" i="0">
                <a:solidFill>
                  <a:srgbClr val="333D47"/>
                </a:solidFill>
                <a:latin typeface="Arial"/>
                <a:ea typeface="Microsoft JhengHei"/>
              </a:rPr>
              <a:t>9 receipts, 51 fields. 7 are printed test receipts.</a:t>
            </a:r>
          </a:p>
        </p:txBody>
      </p:sp>
      <p:sp>
        <p:nvSpPr>
          <p:cNvPr id="13" name="Rectangle 12"/>
          <p:cNvSpPr/>
          <p:nvPr/>
        </p:nvSpPr>
        <p:spPr>
          <a:xfrm>
            <a:off x="4273296" y="17830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2</a:t>
            </a:r>
          </a:p>
          <a:p>
            <a:pPr marL="0" indent="0" algn="l">
              <a:spcAft>
                <a:spcPts val="400"/>
              </a:spcAft>
              <a:buNone/>
            </a:pPr>
            <a:r>
              <a:rPr sz="1500" b="1" i="0">
                <a:solidFill>
                  <a:srgbClr val="333D47"/>
                </a:solidFill>
                <a:latin typeface="Arial"/>
                <a:ea typeface="Microsoft JhengHei"/>
              </a:rPr>
              <a:t>First rules lacked Chinese</a:t>
            </a:r>
          </a:p>
          <a:p>
            <a:pPr marL="0" indent="0" algn="l">
              <a:spcAft>
                <a:spcPts val="0"/>
              </a:spcAft>
              <a:buNone/>
            </a:pPr>
            <a:r>
              <a:rPr sz="1300" b="0" i="0">
                <a:solidFill>
                  <a:srgbClr val="333D47"/>
                </a:solidFill>
                <a:latin typeface="Arial"/>
                <a:ea typeface="Microsoft JhengHei"/>
              </a:rPr>
              <a:t>With Chinese labels added, rules reached 51.0–70.6% (retrospective, not an independent test).</a:t>
            </a:r>
          </a:p>
        </p:txBody>
      </p:sp>
      <p:sp>
        <p:nvSpPr>
          <p:cNvPr id="14" name="Rectangle 13"/>
          <p:cNvSpPr/>
          <p:nvPr/>
        </p:nvSpPr>
        <p:spPr>
          <a:xfrm>
            <a:off x="8189976" y="17830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3</a:t>
            </a:r>
          </a:p>
          <a:p>
            <a:pPr marL="0" indent="0" algn="l">
              <a:spcAft>
                <a:spcPts val="400"/>
              </a:spcAft>
              <a:buNone/>
            </a:pPr>
            <a:r>
              <a:rPr sz="1500" b="1" i="0">
                <a:solidFill>
                  <a:srgbClr val="333D47"/>
                </a:solidFill>
                <a:latin typeface="Arial"/>
                <a:ea typeface="Microsoft JhengHei"/>
              </a:rPr>
              <a:t>Tuned on the same receipts</a:t>
            </a:r>
          </a:p>
          <a:p>
            <a:pPr marL="0" indent="0" algn="l">
              <a:spcAft>
                <a:spcPts val="0"/>
              </a:spcAft>
              <a:buNone/>
            </a:pPr>
            <a:r>
              <a:rPr sz="1300" b="0" i="0">
                <a:solidFill>
                  <a:srgbClr val="333D47"/>
                </a:solidFill>
                <a:latin typeface="Arial"/>
                <a:ea typeface="Microsoft JhengHei"/>
              </a:rPr>
              <a:t>Prompt v2's 96.1% is a development result. Tuned rule scores are not shown.</a:t>
            </a:r>
          </a:p>
        </p:txBody>
      </p:sp>
      <p:sp>
        <p:nvSpPr>
          <p:cNvPr id="15" name="Rectangle 14"/>
          <p:cNvSpPr/>
          <p:nvPr/>
        </p:nvSpPr>
        <p:spPr>
          <a:xfrm>
            <a:off x="2314956" y="36118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4</a:t>
            </a:r>
          </a:p>
          <a:p>
            <a:pPr marL="0" indent="0" algn="l">
              <a:spcAft>
                <a:spcPts val="400"/>
              </a:spcAft>
              <a:buNone/>
            </a:pPr>
            <a:r>
              <a:rPr sz="1500" b="1" i="0">
                <a:solidFill>
                  <a:srgbClr val="333D47"/>
                </a:solidFill>
                <a:latin typeface="Arial"/>
                <a:ea typeface="Microsoft JhengHei"/>
              </a:rPr>
              <a:t>Little independent validation</a:t>
            </a:r>
          </a:p>
          <a:p>
            <a:pPr marL="0" indent="0" algn="l">
              <a:spcAft>
                <a:spcPts val="0"/>
              </a:spcAft>
              <a:buNone/>
            </a:pPr>
            <a:r>
              <a:rPr sz="1300" b="0" i="0">
                <a:solidFill>
                  <a:srgbClr val="333D47"/>
                </a:solidFill>
                <a:latin typeface="Arial"/>
                <a:ea typeface="Microsoft JhengHei"/>
              </a:rPr>
              <a:t>Only 4 unseen handwritten receipts. On all 4, Azure DI misread the year 2026 as 2020.</a:t>
            </a:r>
          </a:p>
        </p:txBody>
      </p:sp>
      <p:sp>
        <p:nvSpPr>
          <p:cNvPr id="16" name="Rectangle 15"/>
          <p:cNvSpPr/>
          <p:nvPr/>
        </p:nvSpPr>
        <p:spPr>
          <a:xfrm>
            <a:off x="6231636" y="36118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5</a:t>
            </a:r>
          </a:p>
          <a:p>
            <a:pPr marL="0" indent="0" algn="l">
              <a:spcAft>
                <a:spcPts val="400"/>
              </a:spcAft>
              <a:buNone/>
            </a:pPr>
            <a:r>
              <a:rPr sz="1500" b="1" i="0">
                <a:solidFill>
                  <a:srgbClr val="333D47"/>
                </a:solidFill>
                <a:latin typeface="Arial"/>
                <a:ea typeface="Microsoft JhengHei"/>
              </a:rPr>
              <a:t>Costs not confirmed</a:t>
            </a:r>
          </a:p>
          <a:p>
            <a:pPr marL="0" indent="0" algn="l">
              <a:spcAft>
                <a:spcPts val="0"/>
              </a:spcAft>
              <a:buNone/>
            </a:pPr>
            <a:r>
              <a:rPr sz="1300" b="0" i="0">
                <a:solidFill>
                  <a:srgbClr val="333D47"/>
                </a:solidFill>
                <a:latin typeface="Arial"/>
                <a:ea typeface="Microsoft JhengHei"/>
              </a:rPr>
              <a:t>Token counts are measured; Document Intelligence and gpt-5-mini prices are not.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Recommendation</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Use rules for simple, labelled checks. Use AOAI where receipts vary or richer data is needed.</a:t>
            </a:r>
          </a:p>
        </p:txBody>
      </p:sp>
      <p:sp>
        <p:nvSpPr>
          <p:cNvPr id="12" name="Rectangle 11"/>
          <p:cNvSpPr/>
          <p:nvPr/>
        </p:nvSpPr>
        <p:spPr>
          <a:xfrm>
            <a:off x="356616" y="1783080"/>
            <a:ext cx="5596128" cy="2103120"/>
          </a:xfrm>
          <a:prstGeom prst="rect">
            <a:avLst/>
          </a:prstGeom>
          <a:solidFill>
            <a:srgbClr val="E6F2EA"/>
          </a:solidFill>
          <a:ln>
            <a:noFill/>
          </a:ln>
        </p:spPr>
        <p:txBody>
          <a:bodyPr rtlCol="0" anchor="t" wrap="square" lIns="182880" rIns="182880" tIns="109728" bIns="109728"/>
          <a:lstStyle/>
          <a:p>
            <a:pPr algn="l" marL="0" indent="0">
              <a:spcAft>
                <a:spcPts val="400"/>
              </a:spcAft>
              <a:buNone/>
            </a:pPr>
            <a:r>
              <a:rPr sz="1500" b="1" i="0">
                <a:solidFill>
                  <a:srgbClr val="1E7B4A"/>
                </a:solidFill>
                <a:latin typeface="Arial"/>
                <a:ea typeface="Microsoft JhengHei"/>
              </a:rPr>
              <a:t>Simple OCR rules are sufficient when…</a:t>
            </a:r>
          </a:p>
          <a:p>
            <a:pPr marL="182880" indent="-182880" algn="l">
              <a:spcAft>
                <a:spcPts val="300"/>
              </a:spcAft>
              <a:buFont typeface="Arial"/>
              <a:buChar char="•"/>
            </a:pPr>
            <a:r>
              <a:rPr sz="1400" b="0" i="0">
                <a:solidFill>
                  <a:srgbClr val="333D47"/>
                </a:solidFill>
                <a:latin typeface="Arial"/>
                <a:ea typeface="Microsoft JhengHei"/>
              </a:rPr>
              <a:t>Layouts are few, known and stable</a:t>
            </a:r>
          </a:p>
          <a:p>
            <a:pPr marL="182880" indent="-182880" algn="l">
              <a:spcAft>
                <a:spcPts val="300"/>
              </a:spcAft>
              <a:buFont typeface="Arial"/>
              <a:buChar char="•"/>
            </a:pPr>
            <a:r>
              <a:rPr sz="1400" b="0" i="0">
                <a:solidFill>
                  <a:srgbClr val="333D47"/>
                </a:solidFill>
                <a:latin typeface="Arial"/>
                <a:ea typeface="Microsoft JhengHei"/>
              </a:rPr>
              <a:t>Fields have clear printed labels</a:t>
            </a:r>
          </a:p>
          <a:p>
            <a:pPr marL="182880" indent="-182880" algn="l">
              <a:spcAft>
                <a:spcPts val="300"/>
              </a:spcAft>
              <a:buFont typeface="Arial"/>
              <a:buChar char="•"/>
            </a:pPr>
            <a:r>
              <a:rPr sz="1400" b="0" i="0">
                <a:solidFill>
                  <a:srgbClr val="333D47"/>
                </a:solidFill>
                <a:latin typeface="Arial"/>
                <a:ea typeface="Microsoft JhengHei"/>
              </a:rPr>
              <a:t>The question is simple, e.g. is a diagnosis comment present?</a:t>
            </a:r>
          </a:p>
          <a:p>
            <a:pPr marL="182880" indent="-182880" algn="l">
              <a:spcAft>
                <a:spcPts val="300"/>
              </a:spcAft>
              <a:buFont typeface="Arial"/>
              <a:buChar char="•"/>
            </a:pPr>
            <a:r>
              <a:rPr sz="1400" b="0" i="0">
                <a:solidFill>
                  <a:srgbClr val="333D47"/>
                </a:solidFill>
                <a:latin typeface="Arial"/>
                <a:ea typeface="Microsoft JhengHei"/>
              </a:rPr>
              <a:t>No API fee and fully traceable output are required</a:t>
            </a:r>
          </a:p>
        </p:txBody>
      </p:sp>
      <p:sp>
        <p:nvSpPr>
          <p:cNvPr id="13" name="Rectangle 12"/>
          <p:cNvSpPr/>
          <p:nvPr/>
        </p:nvSpPr>
        <p:spPr>
          <a:xfrm>
            <a:off x="6236208" y="1783080"/>
            <a:ext cx="5596128" cy="2103120"/>
          </a:xfrm>
          <a:prstGeom prst="rect">
            <a:avLst/>
          </a:prstGeom>
          <a:solidFill>
            <a:srgbClr val="FFFFFF"/>
          </a:solidFill>
          <a:ln w="25400">
            <a:solidFill>
              <a:srgbClr val="D31145"/>
            </a:solidFill>
          </a:ln>
        </p:spPr>
        <p:txBody>
          <a:bodyPr rtlCol="0" anchor="t" wrap="square" lIns="182880" rIns="182880" tIns="109728" bIns="109728"/>
          <a:lstStyle/>
          <a:p>
            <a:pPr algn="l" marL="0" indent="0">
              <a:spcAft>
                <a:spcPts val="400"/>
              </a:spcAft>
              <a:buNone/>
            </a:pPr>
            <a:r>
              <a:rPr sz="1500" b="1" i="0">
                <a:solidFill>
                  <a:srgbClr val="D31145"/>
                </a:solidFill>
                <a:latin typeface="Arial"/>
                <a:ea typeface="Microsoft JhengHei"/>
              </a:rPr>
              <a:t>AOAI adds real value when…</a:t>
            </a:r>
          </a:p>
          <a:p>
            <a:pPr marL="182880" indent="-182880" algn="l">
              <a:spcAft>
                <a:spcPts val="300"/>
              </a:spcAft>
              <a:buFont typeface="Arial"/>
              <a:buChar char="•"/>
            </a:pPr>
            <a:r>
              <a:rPr sz="1400" b="0" i="0">
                <a:solidFill>
                  <a:srgbClr val="333D47"/>
                </a:solidFill>
                <a:latin typeface="Arial"/>
                <a:ea typeface="Microsoft JhengHei"/>
              </a:rPr>
              <a:t>Providers, layouts and languages vary (Chinese, bilingual)</a:t>
            </a:r>
          </a:p>
          <a:p>
            <a:pPr marL="182880" indent="-182880" algn="l">
              <a:spcAft>
                <a:spcPts val="300"/>
              </a:spcAft>
              <a:buFont typeface="Arial"/>
              <a:buChar char="•"/>
            </a:pPr>
            <a:r>
              <a:rPr sz="1400" b="0" i="0">
                <a:solidFill>
                  <a:srgbClr val="333D47"/>
                </a:solidFill>
                <a:latin typeface="Arial"/>
                <a:ea typeface="Microsoft JhengHei"/>
              </a:rPr>
              <a:t>Fields lack consistent labels: names with titles, totals vs subtotals</a:t>
            </a:r>
          </a:p>
          <a:p>
            <a:pPr marL="182880" indent="-182880" algn="l">
              <a:spcAft>
                <a:spcPts val="300"/>
              </a:spcAft>
              <a:buFont typeface="Arial"/>
              <a:buChar char="•"/>
            </a:pPr>
            <a:r>
              <a:rPr sz="1400" b="0" i="0">
                <a:solidFill>
                  <a:srgbClr val="333D47"/>
                </a:solidFill>
                <a:latin typeface="Arial"/>
                <a:ea typeface="Microsoft JhengHei"/>
              </a:rPr>
              <a:t>We want less scenario-specific code to maintain</a:t>
            </a:r>
          </a:p>
          <a:p>
            <a:pPr marL="182880" indent="-182880" algn="l">
              <a:spcAft>
                <a:spcPts val="300"/>
              </a:spcAft>
              <a:buFont typeface="Arial"/>
              <a:buChar char="•"/>
            </a:pPr>
            <a:r>
              <a:rPr sz="1400" b="0" i="0">
                <a:solidFill>
                  <a:srgbClr val="333D47"/>
                </a:solidFill>
                <a:latin typeface="Arial"/>
                <a:ea typeface="Microsoft JhengHei"/>
              </a:rPr>
              <a:t>Richer medical data is wanted (potential, not yet benchmarked)</a:t>
            </a:r>
          </a:p>
        </p:txBody>
      </p:sp>
      <p:sp>
        <p:nvSpPr>
          <p:cNvPr id="14" name="Rectangle 13"/>
          <p:cNvSpPr/>
          <p:nvPr/>
        </p:nvSpPr>
        <p:spPr>
          <a:xfrm>
            <a:off x="356616" y="4114800"/>
            <a:ext cx="2697480" cy="105156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1. Freeze</a:t>
            </a:r>
          </a:p>
          <a:p>
            <a:pPr marL="0" indent="0" algn="l">
              <a:spcAft>
                <a:spcPts val="0"/>
              </a:spcAft>
              <a:buNone/>
            </a:pPr>
            <a:r>
              <a:rPr sz="1250" b="0" i="0">
                <a:solidFill>
                  <a:srgbClr val="333D47"/>
                </a:solidFill>
                <a:latin typeface="Arial"/>
                <a:ea typeface="Microsoft JhengHei"/>
              </a:rPr>
              <a:t>the rules and AOAI prompt v2</a:t>
            </a:r>
          </a:p>
        </p:txBody>
      </p:sp>
      <p:sp>
        <p:nvSpPr>
          <p:cNvPr id="15" name="Rectangle 14"/>
          <p:cNvSpPr/>
          <p:nvPr/>
        </p:nvSpPr>
        <p:spPr>
          <a:xfrm>
            <a:off x="3282696" y="4114800"/>
            <a:ext cx="2697480" cy="105156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2. Validate</a:t>
            </a:r>
          </a:p>
          <a:p>
            <a:pPr marL="0" indent="0" algn="l">
              <a:spcAft>
                <a:spcPts val="0"/>
              </a:spcAft>
              <a:buNone/>
            </a:pPr>
            <a:r>
              <a:rPr sz="1250" b="0" i="0">
                <a:solidFill>
                  <a:srgbClr val="333D47"/>
                </a:solidFill>
                <a:latin typeface="Arial"/>
                <a:ea typeface="Microsoft JhengHei"/>
              </a:rPr>
              <a:t>30+ unseen, real, anonymised receipts; count rule changes</a:t>
            </a:r>
          </a:p>
        </p:txBody>
      </p:sp>
      <p:sp>
        <p:nvSpPr>
          <p:cNvPr id="16" name="Rectangle 15"/>
          <p:cNvSpPr/>
          <p:nvPr/>
        </p:nvSpPr>
        <p:spPr>
          <a:xfrm>
            <a:off x="6208776" y="4114800"/>
            <a:ext cx="2697480" cy="105156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3. Pilot extra fields</a:t>
            </a:r>
          </a:p>
          <a:p>
            <a:pPr marL="0" indent="0" algn="l">
              <a:spcAft>
                <a:spcPts val="0"/>
              </a:spcAft>
              <a:buNone/>
            </a:pPr>
            <a:r>
              <a:rPr sz="1250" b="0" i="0">
                <a:solidFill>
                  <a:srgbClr val="333D47"/>
                </a:solidFill>
                <a:latin typeface="Arial"/>
                <a:ea typeface="Microsoft JhengHei"/>
              </a:rPr>
              <a:t>medications, treatments, symptoms, diagnoses with ground truth</a:t>
            </a:r>
          </a:p>
        </p:txBody>
      </p:sp>
      <p:sp>
        <p:nvSpPr>
          <p:cNvPr id="17" name="Rectangle 16"/>
          <p:cNvSpPr/>
          <p:nvPr/>
        </p:nvSpPr>
        <p:spPr>
          <a:xfrm>
            <a:off x="9134856" y="4114800"/>
            <a:ext cx="2697480" cy="105156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4. Confirm cost</a:t>
            </a:r>
          </a:p>
          <a:p>
            <a:pPr marL="0" indent="0" algn="l">
              <a:spcAft>
                <a:spcPts val="0"/>
              </a:spcAft>
              <a:buNone/>
            </a:pPr>
            <a:r>
              <a:rPr sz="1250" b="0" i="0">
                <a:solidFill>
                  <a:srgbClr val="333D47"/>
                </a:solidFill>
                <a:latin typeface="Arial"/>
                <a:ea typeface="Microsoft JhengHei"/>
              </a:rPr>
              <a:t>Document Intelligence pages and gpt-5-mini tokens</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