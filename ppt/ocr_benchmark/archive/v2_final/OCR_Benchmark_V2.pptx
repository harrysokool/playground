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open-source OCR plus extraction rules with Azure Document Intelligence plus Azure OpenAI for extracting six fields from medical receipts: accuracy, the manual effort needed to reach it, and the ongoing maintenance effort.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receipts. Original and improved rules read the same OCR text. Improved rules were tuned using these 9 receipts. The AOAI prompt was not changed. Time = average per receipt (PaddleOCR: CPU on Azure ML compute; Azure: API call time incl. network).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pipeline: OCR text, then hand-written extraction rules. To reach 88.2% the rules were rewritten after reviewing the errors on these 9 receipts (label phrases 69 to 225). AI pipeline: the same kind of OCR text is passed to Azure OpenAI (gpt-5-mini) with one fixed prompt, which was not changed for these receipts, and it reached 88.2%. So on this benchmark the model did the job the rules were tuned to do. It still made mistakes, and it has not been tested on a large set of unseen receipts.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read the fields correctly with its unchanged prompt (6 of 6 fields on this receipt). Values: rules on PaddleOCR Light text;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6 of 6. DI + AOAI: 6 of 6 with no prompt change. The label vocabulary grew from 69 to 225 phrases (counted in extraction_general.py and extraction_improved.py). On the vet invoice (receipt 9) the original rules found receipt number 369303; after the changes they return 380048. Whether AOAI needs less maintenance on new layouts has not been tested yet.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chose the sub total (1361.50) instead of the total (1361.00). Across all 9 receipts AOAI got 6 of 51 fields wrong. Values: detail.csv, checked against the extraction JSON.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and time from summary.csv. The improved rules were tuned on these 9 receipts; the AOAI prompt was not changed. Lower maintenance for AOAI is the key implication of this benchmark, not a result proven in production. Running cost: DI page plus about 602 input / 263 output gpt-5-mini tokens per receipt; prices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(summary.csv, detail.csv): PaddleOCR Light + rules 37.3% with the original rules and 88.2% after tuning on these 9 receipts; label phrases 69 to 225; vet invoice receipt number 369303 correct before tuning, 380048 after. Azure DI + AOAI 88.2% with the prompt unchanged; 6 of 51 fields wrong, e.g. vet invoice total 1361.5 although the Azure DI text contains the correct 1361.00; 6.2 s vs 13.9 s per receipt. Expected, not measured: that new formats may need rule updates, that AOAI needs less rule maintenance, control, API fees and the upkeep AOAI still needs (validation, monitoring, prompt). AOAI is not maintenance free, and not every new layout will necessarily need a rule update. Prices are not yet confirmed.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finding: PaddleOCR Light reached 88.2% (and Azure DI 86.3%) only after the rules were rewritten for these receipts; Azure DI + AOAI reached 88.2% with no change to its prompt. The benchmark is small (9 receipts) and the improved rules were tuned on it, so this is not a production decision. Source: python/receipt_ocr_benchmark/results/v2/scores_improved (summary.csv, detail.csv)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4 approaches</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3054096"/>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62179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98348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Results: Same Accuracy, Different Effort</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reached 88.2% only after manual tuning. DI + AOAI reached 88.2% with its prompt unchanged.</a:t>
            </a:r>
          </a:p>
        </p:txBody>
      </p:sp>
      <p:graphicFrame>
        <p:nvGraphicFramePr>
          <p:cNvPr id="12" name="Table 11"/>
          <p:cNvGraphicFramePr>
            <a:graphicFrameLocks noGrp="1"/>
          </p:cNvGraphicFramePr>
          <p:nvPr/>
        </p:nvGraphicFramePr>
        <p:xfrm>
          <a:off x="356616" y="1783080"/>
          <a:ext cx="11475720" cy="3657600"/>
        </p:xfrm>
        <a:graphic>
          <a:graphicData uri="http://schemas.openxmlformats.org/drawingml/2006/table">
            <a:tbl>
              <a:tblPr firstRow="0" bandRow="0">
                <a:tableStyleId>{2D5ABB26-0587-4C30-8999-92F81FD0307C}</a:tableStyleId>
              </a:tblPr>
              <a:tblGrid>
                <a:gridCol w="3291840"/>
                <a:gridCol w="2606040"/>
                <a:gridCol w="2971800"/>
                <a:gridCol w="2606040"/>
              </a:tblGrid>
              <a:tr h="658368">
                <a:tc>
                  <a:txBody>
                    <a:bodyPr wrap="square"/>
                    <a:lstStyle/>
                    <a:p>
                      <a:pPr algn="l"/>
                      <a:r>
                        <a:rPr sz="16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ctr"/>
                      <a:r>
                        <a:rPr sz="1600" b="1" i="0">
                          <a:solidFill>
                            <a:srgbClr val="FFFFFF"/>
                          </a:solidFill>
                          <a:latin typeface="Arial"/>
                          <a:ea typeface="Microsoft JhengHei"/>
                        </a:rPr>
                        <a:t>Time per receipt</a:t>
                      </a:r>
                    </a:p>
                  </a:txBody>
                  <a:tcPr marL="91440" marR="91440" marT="45720" marB="45720" anchor="ctr">
                    <a:lnL w="0">
                      <a:noFill/>
                    </a:lnL>
                    <a:lnR w="0">
                      <a:noFill/>
                    </a:lnR>
                    <a:lnT w="0">
                      <a:noFill/>
                    </a:lnT>
                    <a:lnB w="0">
                      <a:noFill/>
                    </a:lnB>
                    <a:solidFill>
                      <a:srgbClr val="333D47"/>
                    </a:solidFill>
                  </a:tcPr>
                </a:tc>
              </a:tr>
              <a:tr h="749808">
                <a:tc>
                  <a:txBody>
                    <a:bodyPr wrap="square"/>
                    <a:lstStyle/>
                    <a:p>
                      <a:pPr algn="l"/>
                      <a:r>
                        <a:rPr sz="18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37.3%</a:t>
                      </a:r>
                      <a:r>
                        <a:rPr sz="1300" b="0" i="0">
                          <a:solidFill>
                            <a:srgbClr val="5F6770"/>
                          </a:solidFill>
                          <a:latin typeface="Arial"/>
                          <a:ea typeface="Microsoft JhengHei"/>
                        </a:rPr>
                        <a:t>  (19/51)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PaddleOCR Heavy</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29.4%</a:t>
                      </a:r>
                      <a:r>
                        <a:rPr sz="1300" b="0" i="0">
                          <a:solidFill>
                            <a:srgbClr val="5F6770"/>
                          </a:solidFill>
                          <a:latin typeface="Arial"/>
                          <a:ea typeface="Microsoft JhengHei"/>
                        </a:rPr>
                        <a:t>  (15/51)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64.7%</a:t>
                      </a:r>
                      <a:r>
                        <a:rPr sz="1300" b="0" i="0">
                          <a:solidFill>
                            <a:srgbClr val="5F6770"/>
                          </a:solidFill>
                          <a:latin typeface="Arial"/>
                          <a:ea typeface="Microsoft JhengHei"/>
                        </a:rPr>
                        <a:t>  (33/51)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53.3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41.2%</a:t>
                      </a:r>
                      <a:r>
                        <a:rPr sz="1300" b="0" i="0">
                          <a:solidFill>
                            <a:srgbClr val="5F6770"/>
                          </a:solidFill>
                          <a:latin typeface="Arial"/>
                          <a:ea typeface="Microsoft JhengHei"/>
                        </a:rPr>
                        <a:t>  (21/51)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1" i="0">
                          <a:solidFill>
                            <a:srgbClr val="D31145"/>
                          </a:solidFill>
                          <a:latin typeface="Arial"/>
                          <a:ea typeface="Microsoft JhengHei"/>
                        </a:rPr>
                        <a:t>86.3%</a:t>
                      </a:r>
                      <a:r>
                        <a:rPr sz="1300" b="0" i="0">
                          <a:solidFill>
                            <a:srgbClr val="5F6770"/>
                          </a:solidFill>
                          <a:latin typeface="Arial"/>
                          <a:ea typeface="Microsoft JhengHei"/>
                        </a:rPr>
                        <a:t>  (44/51)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r>
              <a:tr h="749808">
                <a:tc>
                  <a:txBody>
                    <a:bodyPr wrap="square"/>
                    <a:lstStyle/>
                    <a:p>
                      <a:pPr algn="l"/>
                      <a:r>
                        <a:rPr sz="18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88.2%</a:t>
                      </a:r>
                      <a:r>
                        <a:rPr sz="13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300" b="0" i="0">
                          <a:solidFill>
                            <a:srgbClr val="5F6770"/>
                          </a:solidFill>
                          <a:latin typeface="Arial"/>
                          <a:ea typeface="Microsoft JhengHei"/>
                        </a:rPr>
                        <a:t>No rules (prompt unchanged)</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Tuned using these 9 receipts, so not a measure of accuracy on new receipts. Accuracy = correct fields out of 51. All approaches processed all 9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AOAI Replaces the Manual Rule Layer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pipelines read the text the same way. Only the step that finds the fields changes.</a:t>
            </a:r>
          </a:p>
        </p:txBody>
      </p:sp>
      <p:sp>
        <p:nvSpPr>
          <p:cNvPr id="12" name="TextBox 11"/>
          <p:cNvSpPr txBox="1"/>
          <p:nvPr/>
        </p:nvSpPr>
        <p:spPr>
          <a:xfrm>
            <a:off x="356616" y="182880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Rule-based</a:t>
            </a:r>
          </a:p>
          <a:p>
            <a:pPr marL="0" indent="0" algn="l">
              <a:spcAft>
                <a:spcPts val="600"/>
              </a:spcAft>
              <a:buNone/>
            </a:pPr>
            <a:r>
              <a:rPr sz="1300" b="0" i="0">
                <a:solidFill>
                  <a:srgbClr val="5F6770"/>
                </a:solidFill>
                <a:latin typeface="Arial"/>
                <a:ea typeface="Microsoft JhengHei"/>
              </a:rPr>
              <a:t>PaddleOCR Light + improved rules</a:t>
            </a:r>
          </a:p>
          <a:p>
            <a:pPr marL="0" indent="0" algn="l">
              <a:spcAft>
                <a:spcPts val="0"/>
              </a:spcAft>
              <a:buNone/>
            </a:pPr>
            <a:r>
              <a:rPr sz="1500" b="1" i="0">
                <a:solidFill>
                  <a:srgbClr val="D31145"/>
                </a:solidFill>
                <a:latin typeface="Arial"/>
                <a:ea typeface="Microsoft JhengHei"/>
              </a:rPr>
              <a:t>88.2% after tuning</a:t>
            </a:r>
          </a:p>
        </p:txBody>
      </p:sp>
      <p:sp>
        <p:nvSpPr>
          <p:cNvPr id="13" name="Rectangle 12"/>
          <p:cNvSpPr/>
          <p:nvPr/>
        </p:nvSpPr>
        <p:spPr>
          <a:xfrm>
            <a:off x="301752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PaddleOCR Light</a:t>
            </a:r>
          </a:p>
        </p:txBody>
      </p:sp>
      <p:sp>
        <p:nvSpPr>
          <p:cNvPr id="14" name="Rectangle 13"/>
          <p:cNvSpPr/>
          <p:nvPr/>
        </p:nvSpPr>
        <p:spPr>
          <a:xfrm>
            <a:off x="6126479" y="182880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Extraction rules</a:t>
            </a:r>
          </a:p>
          <a:p>
            <a:pPr marL="0" indent="0" algn="l">
              <a:spcAft>
                <a:spcPts val="0"/>
              </a:spcAft>
              <a:buNone/>
            </a:pPr>
            <a:r>
              <a:rPr sz="1250" b="0" i="0">
                <a:solidFill>
                  <a:srgbClr val="333D47"/>
                </a:solidFill>
                <a:latin typeface="Arial"/>
                <a:ea typeface="Microsoft JhengHei"/>
              </a:rPr>
              <a:t>written and updated by hand (69 → 225 label phrases)</a:t>
            </a:r>
          </a:p>
        </p:txBody>
      </p:sp>
      <p:sp>
        <p:nvSpPr>
          <p:cNvPr id="15" name="Right Arrow 14"/>
          <p:cNvSpPr/>
          <p:nvPr/>
        </p:nvSpPr>
        <p:spPr>
          <a:xfrm>
            <a:off x="5705855" y="2240280"/>
            <a:ext cx="292607" cy="274320"/>
          </a:xfrm>
          <a:prstGeom prst="rightArrow">
            <a:avLst/>
          </a:prstGeom>
          <a:solidFill>
            <a:srgbClr val="5F6770"/>
          </a:solidFill>
          <a:ln>
            <a:noFill/>
          </a:ln>
        </p:spPr>
        <p:txBody>
          <a:bodyPr rtlCol="0" anchor="ctr"/>
          <a:lstStyle/>
          <a:p>
            <a:pPr algn="ctr"/>
          </a:p>
        </p:txBody>
      </p:sp>
      <p:sp>
        <p:nvSpPr>
          <p:cNvPr id="16" name="Rectangle 15"/>
          <p:cNvSpPr/>
          <p:nvPr/>
        </p:nvSpPr>
        <p:spPr>
          <a:xfrm>
            <a:off x="923544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17" name="Right Arrow 16"/>
          <p:cNvSpPr/>
          <p:nvPr/>
        </p:nvSpPr>
        <p:spPr>
          <a:xfrm>
            <a:off x="8814816" y="2240280"/>
            <a:ext cx="292607" cy="274320"/>
          </a:xfrm>
          <a:prstGeom prst="rightArrow">
            <a:avLst/>
          </a:prstGeom>
          <a:solidFill>
            <a:srgbClr val="5F6770"/>
          </a:solidFill>
          <a:ln>
            <a:noFill/>
          </a:ln>
        </p:spPr>
        <p:txBody>
          <a:bodyPr rtlCol="0" anchor="ctr"/>
          <a:lstStyle/>
          <a:p>
            <a:pPr algn="ctr"/>
          </a:p>
        </p:txBody>
      </p:sp>
      <p:sp>
        <p:nvSpPr>
          <p:cNvPr id="18" name="TextBox 17"/>
          <p:cNvSpPr txBox="1"/>
          <p:nvPr/>
        </p:nvSpPr>
        <p:spPr>
          <a:xfrm>
            <a:off x="356616" y="361188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AI extraction</a:t>
            </a:r>
          </a:p>
          <a:p>
            <a:pPr marL="0" indent="0" algn="l">
              <a:spcAft>
                <a:spcPts val="600"/>
              </a:spcAft>
              <a:buNone/>
            </a:pPr>
            <a:r>
              <a:rPr sz="1300" b="0" i="0">
                <a:solidFill>
                  <a:srgbClr val="5F6770"/>
                </a:solidFill>
                <a:latin typeface="Arial"/>
                <a:ea typeface="Microsoft JhengHei"/>
              </a:rPr>
              <a:t>Azure DI + AOAI</a:t>
            </a:r>
          </a:p>
          <a:p>
            <a:pPr marL="0" indent="0" algn="l">
              <a:spcAft>
                <a:spcPts val="0"/>
              </a:spcAft>
              <a:buNone/>
            </a:pPr>
            <a:r>
              <a:rPr sz="1500" b="1" i="0">
                <a:solidFill>
                  <a:srgbClr val="D31145"/>
                </a:solidFill>
                <a:latin typeface="Arial"/>
                <a:ea typeface="Microsoft JhengHei"/>
              </a:rPr>
              <a:t>88.2%, prompt unchanged</a:t>
            </a:r>
          </a:p>
        </p:txBody>
      </p:sp>
      <p:sp>
        <p:nvSpPr>
          <p:cNvPr id="19" name="Rectangle 18"/>
          <p:cNvSpPr/>
          <p:nvPr/>
        </p:nvSpPr>
        <p:spPr>
          <a:xfrm>
            <a:off x="301752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Azure DI</a:t>
            </a:r>
          </a:p>
        </p:txBody>
      </p:sp>
      <p:sp>
        <p:nvSpPr>
          <p:cNvPr id="20" name="Rectangle 19"/>
          <p:cNvSpPr/>
          <p:nvPr/>
        </p:nvSpPr>
        <p:spPr>
          <a:xfrm>
            <a:off x="6126479" y="361188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Azure OpenAI</a:t>
            </a:r>
          </a:p>
          <a:p>
            <a:pPr marL="0" indent="0" algn="l">
              <a:spcAft>
                <a:spcPts val="0"/>
              </a:spcAft>
              <a:buNone/>
            </a:pPr>
            <a:r>
              <a:rPr sz="1250" b="0" i="0">
                <a:solidFill>
                  <a:srgbClr val="333D47"/>
                </a:solidFill>
                <a:latin typeface="Arial"/>
                <a:ea typeface="Microsoft JhengHei"/>
              </a:rPr>
              <a:t>one fixed prompt, not changed for these receipts</a:t>
            </a:r>
          </a:p>
        </p:txBody>
      </p:sp>
      <p:sp>
        <p:nvSpPr>
          <p:cNvPr id="21" name="Right Arrow 20"/>
          <p:cNvSpPr/>
          <p:nvPr/>
        </p:nvSpPr>
        <p:spPr>
          <a:xfrm>
            <a:off x="5705855" y="4023359"/>
            <a:ext cx="292607" cy="274320"/>
          </a:xfrm>
          <a:prstGeom prst="rightArrow">
            <a:avLst/>
          </a:prstGeom>
          <a:solidFill>
            <a:srgbClr val="5F6770"/>
          </a:solidFill>
          <a:ln>
            <a:noFill/>
          </a:ln>
        </p:spPr>
        <p:txBody>
          <a:bodyPr rtlCol="0" anchor="ctr"/>
          <a:lstStyle/>
          <a:p>
            <a:pPr algn="ctr"/>
          </a:p>
        </p:txBody>
      </p:sp>
      <p:sp>
        <p:nvSpPr>
          <p:cNvPr id="22" name="Rectangle 21"/>
          <p:cNvSpPr/>
          <p:nvPr/>
        </p:nvSpPr>
        <p:spPr>
          <a:xfrm>
            <a:off x="923544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23" name="Right Arrow 22"/>
          <p:cNvSpPr/>
          <p:nvPr/>
        </p:nvSpPr>
        <p:spPr>
          <a:xfrm>
            <a:off x="8814816" y="4023359"/>
            <a:ext cx="292607" cy="274320"/>
          </a:xfrm>
          <a:prstGeom prst="rightArrow">
            <a:avLst/>
          </a:prstGeom>
          <a:solidFill>
            <a:srgbClr val="5F6770"/>
          </a:solidFill>
          <a:ln>
            <a:noFill/>
          </a:ln>
        </p:spPr>
        <p:txBody>
          <a:bodyPr rtlCol="0" anchor="ctr"/>
          <a:lstStyle/>
          <a:p>
            <a:pPr algn="ctr"/>
          </a:p>
        </p:txBody>
      </p:sp>
      <p:sp>
        <p:nvSpPr>
          <p:cNvPr id="24" name="Down Arrow 23"/>
          <p:cNvSpPr/>
          <p:nvPr/>
        </p:nvSpPr>
        <p:spPr>
          <a:xfrm>
            <a:off x="7223759" y="3017520"/>
            <a:ext cx="365760" cy="502920"/>
          </a:xfrm>
          <a:prstGeom prst="downArrow">
            <a:avLst/>
          </a:prstGeom>
          <a:solidFill>
            <a:srgbClr val="D31145"/>
          </a:solidFill>
          <a:ln>
            <a:noFill/>
          </a:ln>
        </p:spPr>
        <p:txBody>
          <a:bodyPr rtlCol="0" anchor="ctr"/>
          <a:lstStyle/>
          <a:p>
            <a:pPr algn="ctr"/>
          </a:p>
        </p:txBody>
      </p:sp>
      <p:sp>
        <p:nvSpPr>
          <p:cNvPr id="25" name="TextBox 24"/>
          <p:cNvSpPr txBox="1"/>
          <p:nvPr/>
        </p:nvSpPr>
        <p:spPr>
          <a:xfrm>
            <a:off x="7726679" y="3081528"/>
            <a:ext cx="2377440" cy="365760"/>
          </a:xfrm>
          <a:prstGeom prst="rect">
            <a:avLst/>
          </a:prstGeom>
          <a:noFill/>
        </p:spPr>
        <p:txBody>
          <a:bodyPr wrap="square" lIns="0" rIns="0" tIns="0" bIns="0" anchor="t"/>
          <a:lstStyle/>
          <a:p>
            <a:pPr marL="0" indent="0" algn="l">
              <a:spcAft>
                <a:spcPts val="0"/>
              </a:spcAft>
              <a:buNone/>
            </a:pPr>
            <a:r>
              <a:rPr sz="1400" b="0" i="1">
                <a:solidFill>
                  <a:srgbClr val="D31145"/>
                </a:solidFill>
                <a:latin typeface="Arial"/>
                <a:ea typeface="Microsoft JhengHei"/>
              </a:rPr>
              <a:t>replaced by</a:t>
            </a:r>
          </a:p>
        </p:txBody>
      </p:sp>
      <p:sp>
        <p:nvSpPr>
          <p:cNvPr id="26" name="Rectangle 25"/>
          <p:cNvSpPr/>
          <p:nvPr/>
        </p:nvSpPr>
        <p:spPr>
          <a:xfrm>
            <a:off x="356616" y="4983480"/>
            <a:ext cx="11475720" cy="685800"/>
          </a:xfrm>
          <a:prstGeom prst="rect">
            <a:avLst/>
          </a:prstGeom>
          <a:solidFill>
            <a:srgbClr val="F2F2F2"/>
          </a:solidFill>
          <a:ln>
            <a:noFill/>
          </a:ln>
        </p:spPr>
        <p:txBody>
          <a:bodyPr rtlCol="0" anchor="ctr" wrap="square" lIns="228600" rIns="228600" tIns="109728" bIns="109728"/>
          <a:lstStyle/>
          <a:p>
            <a:pPr algn="l" marL="0" indent="0">
              <a:spcAft>
                <a:spcPts val="0"/>
              </a:spcAft>
              <a:buNone/>
            </a:pPr>
            <a:r>
              <a:rPr sz="1600" b="1" i="0">
                <a:solidFill>
                  <a:srgbClr val="333D47"/>
                </a:solidFill>
                <a:latin typeface="Arial"/>
                <a:ea typeface="Microsoft JhengHei"/>
              </a:rPr>
              <a:t>AOAI replaces the manual rule layer. </a:t>
            </a:r>
            <a:r>
              <a:rPr sz="1500" b="0" i="0">
                <a:solidFill>
                  <a:srgbClr val="333D47"/>
                </a:solidFill>
                <a:latin typeface="Arial"/>
                <a:ea typeface="Microsoft JhengHei"/>
              </a:rPr>
              <a:t>It still makes mistakes (6 of 51 fields wrong) and has not yet been tested on a large set of unseen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the same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Reaching 88.2% With Rules Took Manual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new language or label wording had to be added by hand, and one change broke another receipt.</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improved rules 6/6, DI + AOAI 6/6 (prompt unchanged).</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New layouts</a:t>
            </a:r>
          </a:p>
          <a:p>
            <a:pPr marL="0" indent="0" algn="l">
              <a:spcAft>
                <a:spcPts val="0"/>
              </a:spcAft>
              <a:buNone/>
            </a:pPr>
            <a:r>
              <a:rPr sz="1300" b="0" i="0">
                <a:solidFill>
                  <a:srgbClr val="333D47"/>
                </a:solidFill>
                <a:latin typeface="Arial"/>
                <a:ea typeface="Microsoft JhengHei"/>
              </a:rPr>
              <a:t>will likely need more rule changes and a retest of every receipt</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picked the sub total instead of the total.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It Takes to Reach 88.2%</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Same accuracy. The difference is the manual work to get there, and to keep it there.</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12064">
                <a:tc>
                  <a:txBody>
                    <a:bodyPr wrap="square"/>
                    <a:lstStyle/>
                    <a:p>
                      <a:pPr algn="l"/>
                      <a:r>
                        <a:rPr sz="1400" b="1" i="0">
                          <a:solidFill>
                            <a:srgbClr val="333D47"/>
                          </a:solidFill>
                          <a:latin typeface="Arial"/>
                          <a:ea typeface="Microsoft JhengHei"/>
                        </a:rPr>
                        <a:t>Accuracy (9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1" i="0">
                          <a:solidFill>
                            <a:srgbClr val="D31145"/>
                          </a:solidFill>
                          <a:latin typeface="Arial"/>
                          <a:ea typeface="Microsoft JhengHei"/>
                        </a:rPr>
                        <a:t>88.2% (45/51)</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Effort to get there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None: prompt unchanged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Extraction logic</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69 → 225 label phrases to maintain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One fixed prompt</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New receipt layouts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Likely more rule updates and a regression test of every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Possibly no change; not yet tested</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Errors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incl. one regression caused by tuning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wrong fields, e.g. the vet invoice total</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Lower maintenance for AOAI is implied by this benchmark,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Pure OCR + Rules vs. Azure DI + AOAI: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reached 88.2%, AOAI with no prompt changes. "Measured" = this benchmark; the rest is expected.</a:t>
            </a:r>
          </a:p>
        </p:txBody>
      </p:sp>
      <p:sp>
        <p:nvSpPr>
          <p:cNvPr id="12" name="Rectangle 11"/>
          <p:cNvSpPr/>
          <p:nvPr/>
        </p:nvSpPr>
        <p:spPr>
          <a:xfrm>
            <a:off x="35661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Pure OCR + Rules (PaddleOCR Light)</a:t>
            </a:r>
          </a:p>
        </p:txBody>
      </p:sp>
      <p:sp>
        <p:nvSpPr>
          <p:cNvPr id="13" name="TextBox 12"/>
          <p:cNvSpPr txBox="1"/>
          <p:nvPr/>
        </p:nvSpPr>
        <p:spPr>
          <a:xfrm>
            <a:off x="35661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New formats may need manual rule updates, which can break working cases and add maintenance and testing.</a:t>
            </a:r>
          </a:p>
        </p:txBody>
      </p:sp>
      <p:sp>
        <p:nvSpPr>
          <p:cNvPr id="14" name="Rectangle 13"/>
          <p:cNvSpPr/>
          <p:nvPr/>
        </p:nvSpPr>
        <p:spPr>
          <a:xfrm>
            <a:off x="35661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after manual rule tuning (from 37.3%).</a:t>
            </a:r>
          </a:p>
          <a:p>
            <a:pPr marL="182880" indent="-182880" algn="l">
              <a:spcAft>
                <a:spcPts val="300"/>
              </a:spcAft>
              <a:buFont typeface="Arial"/>
              <a:buChar char="•"/>
            </a:pPr>
            <a:r>
              <a:rPr sz="1300" b="0" i="0">
                <a:solidFill>
                  <a:srgbClr val="333D47"/>
                </a:solidFill>
                <a:latin typeface="Arial"/>
                <a:ea typeface="Microsoft JhengHei"/>
              </a:rPr>
              <a:t>Full control; predictable on formats the rules know.</a:t>
            </a:r>
          </a:p>
          <a:p>
            <a:pPr marL="182880" indent="-182880" algn="l">
              <a:spcAft>
                <a:spcPts val="0"/>
              </a:spcAft>
              <a:buFont typeface="Arial"/>
              <a:buChar char="•"/>
            </a:pPr>
            <a:r>
              <a:rPr sz="1300" b="0" i="0">
                <a:solidFill>
                  <a:srgbClr val="333D47"/>
                </a:solidFill>
                <a:latin typeface="Arial"/>
                <a:ea typeface="Microsoft JhengHei"/>
              </a:rPr>
              <a:t>No API fees: open-source OCR on our own compute.</a:t>
            </a:r>
          </a:p>
        </p:txBody>
      </p:sp>
      <p:sp>
        <p:nvSpPr>
          <p:cNvPr id="15" name="Rectangle 14"/>
          <p:cNvSpPr/>
          <p:nvPr/>
        </p:nvSpPr>
        <p:spPr>
          <a:xfrm>
            <a:off x="35661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0" i="0">
                <a:solidFill>
                  <a:srgbClr val="333D47"/>
                </a:solidFill>
                <a:latin typeface="Arial"/>
                <a:ea typeface="Microsoft JhengHei"/>
              </a:rPr>
              <a:t>New formats and layouts may need rule updates by hand.</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change broke a receipt that was already correct.</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rules grew from 69 to 225 label phrases.</a:t>
            </a:r>
          </a:p>
        </p:txBody>
      </p:sp>
      <p:sp>
        <p:nvSpPr>
          <p:cNvPr id="16" name="Rectangle 15"/>
          <p:cNvSpPr/>
          <p:nvPr/>
        </p:nvSpPr>
        <p:spPr>
          <a:xfrm>
            <a:off x="623163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Azure DI + AOAI</a:t>
            </a:r>
          </a:p>
        </p:txBody>
      </p:sp>
      <p:sp>
        <p:nvSpPr>
          <p:cNvPr id="17" name="TextBox 16"/>
          <p:cNvSpPr txBox="1"/>
          <p:nvPr/>
        </p:nvSpPr>
        <p:spPr>
          <a:xfrm>
            <a:off x="623163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Less rule maintenance expected: accuracy depends mainly on the AI model, OCR output and prompt.</a:t>
            </a:r>
          </a:p>
        </p:txBody>
      </p:sp>
      <p:sp>
        <p:nvSpPr>
          <p:cNvPr id="18" name="Rectangle 17"/>
          <p:cNvSpPr/>
          <p:nvPr/>
        </p:nvSpPr>
        <p:spPr>
          <a:xfrm>
            <a:off x="623163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with no prompt changes.</a:t>
            </a:r>
          </a:p>
          <a:p>
            <a:pPr marL="182880" indent="-182880" algn="l">
              <a:spcAft>
                <a:spcPts val="300"/>
              </a:spcAft>
              <a:buFont typeface="Arial"/>
              <a:buChar char="•"/>
            </a:pPr>
            <a:r>
              <a:rPr sz="1300" b="0" i="0">
                <a:solidFill>
                  <a:srgbClr val="333D47"/>
                </a:solidFill>
                <a:latin typeface="Arial"/>
                <a:ea typeface="Microsoft JhengHei"/>
              </a:rPr>
              <a:t>Reads varied formats using existing model capabilities.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9" name="Rectangle 18"/>
          <p:cNvSpPr/>
          <p:nvPr/>
        </p:nvSpPr>
        <p:spPr>
          <a:xfrm>
            <a:off x="623163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still wrong on 6 of 51 fields, e.g. a total.</a:t>
            </a:r>
          </a:p>
          <a:p>
            <a:pPr marL="182880" indent="-182880" algn="l">
              <a:spcAft>
                <a:spcPts val="300"/>
              </a:spcAft>
              <a:buFont typeface="Arial"/>
              <a:buChar char="•"/>
            </a:pPr>
            <a:r>
              <a:rPr sz="1300" b="0" i="0">
                <a:solidFill>
                  <a:srgbClr val="333D47"/>
                </a:solidFill>
                <a:latin typeface="Arial"/>
                <a:ea typeface="Microsoft JhengHei"/>
              </a:rPr>
              <a:t>Less direct control: results depend on model, OCR, prompt.</a:t>
            </a:r>
          </a:p>
          <a:p>
            <a:pPr marL="182880" indent="-182880" algn="l">
              <a:spcAft>
                <a:spcPts val="0"/>
              </a:spcAft>
              <a:buFont typeface="Arial"/>
              <a:buChar char="•"/>
            </a:pPr>
            <a:r>
              <a:rPr sz="1300" b="0" i="0">
                <a:solidFill>
                  <a:srgbClr val="333D47"/>
                </a:solidFill>
                <a:latin typeface="Arial"/>
                <a:ea typeface="Microsoft JhengHei"/>
              </a:rPr>
              <a:t>API fees; needs validation, monitoring and prompt upkeep.</a:t>
            </a:r>
          </a:p>
        </p:txBody>
      </p:sp>
      <p:sp>
        <p:nvSpPr>
          <p:cNvPr id="20" name="Rectangle 19"/>
          <p:cNvSpPr/>
          <p:nvPr/>
        </p:nvSpPr>
        <p:spPr>
          <a:xfrm>
            <a:off x="356616" y="5486400"/>
            <a:ext cx="10607040" cy="411480"/>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400" b="1" i="0">
                <a:solidFill>
                  <a:srgbClr val="333D47"/>
                </a:solidFill>
                <a:latin typeface="Arial"/>
                <a:ea typeface="Microsoft JhengHei"/>
              </a:rPr>
              <a:t>Both reach 88.2% here. </a:t>
            </a:r>
            <a:r>
              <a:rPr sz="1400" b="0" i="0">
                <a:solidFill>
                  <a:srgbClr val="333D47"/>
                </a:solidFill>
                <a:latin typeface="Arial"/>
                <a:ea typeface="Microsoft JhengHei"/>
              </a:rPr>
              <a:t>The difference is where the maintenance effort sits, and how much of it we own.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50876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PaddleOCR Light + improved rules and Azure DI + AOAI both reached 88.2% on this benchmark.</a:t>
            </a:r>
          </a:p>
          <a:p>
            <a:pPr marL="182880" indent="-182880" algn="l">
              <a:spcAft>
                <a:spcPts val="600"/>
              </a:spcAft>
              <a:buFont typeface="Arial"/>
              <a:buChar char="•"/>
            </a:pPr>
            <a:r>
              <a:rPr sz="1600" b="0" i="0">
                <a:solidFill>
                  <a:srgbClr val="333D47"/>
                </a:solidFill>
                <a:latin typeface="Arial"/>
                <a:ea typeface="Microsoft JhengHei"/>
              </a:rPr>
              <a:t>PaddleOCR Light needed manual rule tuning to get there. Azure DI + AOAI reached the same accuracy without changing its prompt.</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the AOAI prompt.</a:t>
            </a:r>
          </a:p>
        </p:txBody>
      </p:sp>
      <p:sp>
        <p:nvSpPr>
          <p:cNvPr id="14" name="Rectangle 13"/>
          <p:cNvSpPr/>
          <p:nvPr/>
        </p:nvSpPr>
        <p:spPr>
          <a:xfrm>
            <a:off x="427329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52044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0292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improved rules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