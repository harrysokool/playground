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compare hand-written extraction rules with AI extraction (Azure OpenAI) for six fields on medical receipts: the development effort, the maintenance, and the ability to handle different receipt layouts.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Receipts: English, bilingual and Traditional Chinese layouts. Fields: doctor, registration number, patient, receipt number, service date, total. 51 fields were present on the receipts and scored. Step 1 (text recognition, OCR) turns the photo into text; step 2 (field extraction) picks the six values from that text, either with hand-written rules or with Azure OpenAI.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fields present on the 9 receipts. Azure DI + AOAI with the original prompt (88.2%) is the only figure measured before any tuning on these receipts. Prompt v2 (96.1%) was written after reviewing the errors on these receipts, so it is a development result. Rule accuracy is not shown: the original rules had no Chinese labels, so their scores mostly reflect missing language support, and the improved rules were tuned on these receipts. Held-out check on the Version 1 receipts: the improved rules scored the same as the original rules on the 4 unseen receipts (PaddleOCR Light 13/15, Azure DI 10/15 fields), and prompt v2 scored the same as the original prompt on 6 receipts (18/25). Time = average per receipt (PaddleOCR: CPU on Azure ML compute; Azure: API call time incl. network).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Rule-based pipeline: OCR text, then hand-written extraction rules. To handle these receipts the rules were rewritten after reviewing their errors (label phrases 69 to 225), mostly to add Chinese and bilingual labels. AI pipeline: the same kind of OCR text is passed to Azure OpenAI (gpt-5-mini) with one prompt; with the original prompt, written before these receipts, it reached 88.2%. So on this benchmark the model did the job the rules had to be tuned to do. It still made mistakes, and it has not been tested on a large set of unseen receipts.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8 (medical centre). Both OCR engines read the patient name and the doctor's name (checked in the raw OCR). The original rules matched 'Patient' and took the Chinese half of the label, 病人, as the name. The improved rules needed bilingual labels added by hand. AOAI, with its original prompt, read the fields correctly (6 of 6 fields on this receipt). Values: rules on PaddleOCR Light text; detail.csv, checked against the extraction JSON.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4 (Chinese medicine): the OCR read every value, but the original rules only knew English labels (0 of 6 fields). After adding Chinese labels by hand: 6 of 6. DI + AOAI with its original prompt: 6 of 6. The label vocabulary grew from 69 to 225 phrases (counted in extraction_general.py and extraction_improved.py). On the vet invoice (receipt 9) the original rules found receipt number 369303; after the changes they return 380048. On the 4 Version 1 receipts not used for tuning, the improved rules scored the same as the original rules (PaddleOCR Light 13/15, Azure DI 10/15 fields). Whether AOAI needs less maintenance on new layouts has not been tested yet.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 9 (vet invoice). The improved rules now take the payment table's 'Receipt #' (380048) instead of the invoice number. Both OCR engines read 'FPatient:' (a stray mark merged into the label), so no rule matched the patient label; AOAI still found the name. AOAI with the original prompt chose the sub total (1361.50) instead of the total (1361.00). Prompt v2 returns the correct total, but it was written after reviewing this error. Across all 9 receipts AOAI got 6 of 51 fields wrong with the original prompt and 2 with prompt v2 (development result). Values: detail.csv, checked against the extraction JSON.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Azure DI + AOAI 88.2% with the original prompt; 96.1% with prompt v2, a development result because the prompt was revised on these receipts. No accuracy is shown for the rules: the original rules had no Chinese labels, and the improved rules were tuned on these 9 receipts. Unseen receipts: the improved rules scored the same as the original rules on 4 Version 1 receipts, and prompt v2 the same as the original prompt on 6 (18/25). Lower maintenance for AOAI is the key implication of this benchmark, not a result proven in production. Running cost: DI page plus about 602 input / 263 output gpt-5-mini tokens per receipt (original prompt); prices are not yet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rules grew from 69 to 225 label phrases while being tuned on these 9 receipts; vet invoice receipt number 369303 correct before tuning, 380048 after; on 4 unseen receipts the tuned rules scored the same as the original rules. Azure DI + AOAI 88.2% with the original prompt; 6 of 51 fields wrong, e.g. vet invoice total 1361.5 although the Azure DI text contains the correct 1361.00; 6.2 s vs 13.9 s per receipt. Expected, not measured: that new formats need rule updates, that AOAI needs less rule maintenance, control, API fees and the upkeep AOAI still needs (validation, monitoring, prompt). AOAI is not maintenance free. Prices are not yet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finding: Azure DI + AOAI reached 88.2% with a prompt written before these receipts; a prompt revised on them reached 96.1% on the same receipts (development result, not validated). The rules handled these receipts only after being rewritten for them, and that tuning gave no gain on 4 unseen receipts. The benchmark is small (9 receipts), so this is not a production decision.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114800"/>
            <a:ext cx="6035040" cy="822960"/>
          </a:xfrm>
        </p:spPr>
        <p:txBody>
          <a:bodyPr/>
          <a:lstStyle/>
          <a:p>
            <a:r>
              <a:rPr>
                <a:latin typeface="Arial"/>
                <a:ea typeface="Microsoft JhengHei"/>
              </a:rPr>
              <a:t>Can Azure OpenAI replace hand-written extraction rules?</a:t>
            </a:r>
          </a:p>
          <a:p>
            <a:r>
              <a:rPr>
                <a:latin typeface="Arial"/>
                <a:ea typeface="Microsoft JhengHei"/>
              </a:rPr>
              <a:t>9 receipts · 6 fields · manual rules vs AI extraction</a:t>
            </a:r>
          </a:p>
        </p:txBody>
      </p:sp>
      <p:sp>
        <p:nvSpPr>
          <p:cNvPr id="3" name="Text Placeholder 2"/>
          <p:cNvSpPr>
            <a:spLocks noGrp="1"/>
          </p:cNvSpPr>
          <p:nvPr>
            <p:ph type="body" idx="10" sz="quarter"/>
          </p:nvPr>
        </p:nvSpPr>
        <p:spPr/>
        <p:txBody>
          <a:bodyPr/>
          <a:lstStyle/>
          <a:p>
            <a:r>
              <a:rPr>
                <a:latin typeface="Arial"/>
                <a:ea typeface="Microsoft JhengHei"/>
              </a:rPr>
              <a:t>Medical Receipt OCR Benchmark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Tested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9 receipts with different layouts and languages. Each approach reads the text, then finds 6 fields.</a:t>
            </a:r>
          </a:p>
        </p:txBody>
      </p:sp>
      <p:pic>
        <p:nvPicPr>
          <p:cNvPr id="12" name="Picture 11" descr="thumb_receipt1.jpg"/>
          <p:cNvPicPr>
            <a:picLocks noChangeAspect="1"/>
          </p:cNvPicPr>
          <p:nvPr/>
        </p:nvPicPr>
        <p:blipFill>
          <a:blip r:embed="rId3"/>
          <a:stretch>
            <a:fillRect/>
          </a:stretch>
        </p:blipFill>
        <p:spPr>
          <a:xfrm>
            <a:off x="356616" y="1783080"/>
            <a:ext cx="1920240" cy="2560320"/>
          </a:xfrm>
          <a:prstGeom prst="rect">
            <a:avLst/>
          </a:prstGeom>
          <a:ln w="9525">
            <a:solidFill>
              <a:srgbClr val="BFBFBF"/>
            </a:solidFill>
          </a:ln>
        </p:spPr>
      </p:pic>
      <p:sp>
        <p:nvSpPr>
          <p:cNvPr id="13" name="TextBox 12"/>
          <p:cNvSpPr txBox="1"/>
          <p:nvPr/>
        </p:nvSpPr>
        <p:spPr>
          <a:xfrm>
            <a:off x="3566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English</a:t>
            </a:r>
          </a:p>
        </p:txBody>
      </p:sp>
      <p:pic>
        <p:nvPicPr>
          <p:cNvPr id="14" name="Picture 13" descr="thumb_receipt3.jpg"/>
          <p:cNvPicPr>
            <a:picLocks noChangeAspect="1"/>
          </p:cNvPicPr>
          <p:nvPr/>
        </p:nvPicPr>
        <p:blipFill>
          <a:blip r:embed="rId4"/>
          <a:stretch>
            <a:fillRect/>
          </a:stretch>
        </p:blipFill>
        <p:spPr>
          <a:xfrm>
            <a:off x="2414016" y="1783080"/>
            <a:ext cx="1920240" cy="2560320"/>
          </a:xfrm>
          <a:prstGeom prst="rect">
            <a:avLst/>
          </a:prstGeom>
          <a:ln w="9525">
            <a:solidFill>
              <a:srgbClr val="BFBFBF"/>
            </a:solidFill>
          </a:ln>
        </p:spPr>
      </p:pic>
      <p:sp>
        <p:nvSpPr>
          <p:cNvPr id="15" name="TextBox 14"/>
          <p:cNvSpPr txBox="1"/>
          <p:nvPr/>
        </p:nvSpPr>
        <p:spPr>
          <a:xfrm>
            <a:off x="24140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Bilingual</a:t>
            </a:r>
          </a:p>
        </p:txBody>
      </p:sp>
      <p:pic>
        <p:nvPicPr>
          <p:cNvPr id="16" name="Picture 15" descr="thumb_receipt4.jpg"/>
          <p:cNvPicPr>
            <a:picLocks noChangeAspect="1"/>
          </p:cNvPicPr>
          <p:nvPr/>
        </p:nvPicPr>
        <p:blipFill>
          <a:blip r:embed="rId5"/>
          <a:stretch>
            <a:fillRect/>
          </a:stretch>
        </p:blipFill>
        <p:spPr>
          <a:xfrm>
            <a:off x="4471416" y="1783080"/>
            <a:ext cx="1920240" cy="2560320"/>
          </a:xfrm>
          <a:prstGeom prst="rect">
            <a:avLst/>
          </a:prstGeom>
          <a:ln w="9525">
            <a:solidFill>
              <a:srgbClr val="BFBFBF"/>
            </a:solidFill>
          </a:ln>
        </p:spPr>
      </p:pic>
      <p:sp>
        <p:nvSpPr>
          <p:cNvPr id="17" name="TextBox 16"/>
          <p:cNvSpPr txBox="1"/>
          <p:nvPr/>
        </p:nvSpPr>
        <p:spPr>
          <a:xfrm>
            <a:off x="4471416" y="4416552"/>
            <a:ext cx="1920240" cy="27432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a:t>
            </a:r>
          </a:p>
        </p:txBody>
      </p:sp>
      <p:graphicFrame>
        <p:nvGraphicFramePr>
          <p:cNvPr id="18" name="Table 17"/>
          <p:cNvGraphicFramePr>
            <a:graphicFrameLocks noGrp="1"/>
          </p:cNvGraphicFramePr>
          <p:nvPr/>
        </p:nvGraphicFramePr>
        <p:xfrm>
          <a:off x="6629400" y="1783080"/>
          <a:ext cx="5202936" cy="2706624"/>
        </p:xfrm>
        <a:graphic>
          <a:graphicData uri="http://schemas.openxmlformats.org/drawingml/2006/table">
            <a:tbl>
              <a:tblPr firstRow="0" bandRow="0">
                <a:tableStyleId>{2D5ABB26-0587-4C30-8999-92F81FD0307C}</a:tableStyleId>
              </a:tblPr>
              <a:tblGrid>
                <a:gridCol w="1965960"/>
                <a:gridCol w="1691640"/>
                <a:gridCol w="1545336"/>
              </a:tblGrid>
              <a:tr h="566928">
                <a:tc>
                  <a:txBody>
                    <a:bodyPr wrap="square"/>
                    <a:lstStyle/>
                    <a:p>
                      <a:pPr algn="l"/>
                      <a:r>
                        <a:rPr sz="13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1. Read text</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2. Find fields</a:t>
                      </a:r>
                    </a:p>
                  </a:txBody>
                  <a:tcPr marL="91440" marR="91440" marT="45720" marB="45720" anchor="ctr">
                    <a:lnL w="0">
                      <a:noFill/>
                    </a:lnL>
                    <a:lnR w="0">
                      <a:noFill/>
                    </a:lnR>
                    <a:lnT w="0">
                      <a:noFill/>
                    </a:lnT>
                    <a:lnB w="0">
                      <a:noFill/>
                    </a:lnB>
                    <a:solidFill>
                      <a:srgbClr val="333D47"/>
                    </a:solidFill>
                  </a:tcPr>
                </a:tc>
              </a:tr>
              <a:tr h="713232">
                <a:tc>
                  <a:txBody>
                    <a:bodyPr wrap="square"/>
                    <a:lstStyle/>
                    <a:p>
                      <a:pPr algn="l"/>
                      <a:r>
                        <a:rPr sz="1400" b="1" i="0">
                          <a:solidFill>
                            <a:srgbClr val="333D47"/>
                          </a:solidFill>
                          <a:latin typeface="Arial"/>
                          <a:ea typeface="Microsoft JhengHei"/>
                        </a:rPr>
                        <a:t>PaddleOCR Light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Open-source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713232">
                <a:tc>
                  <a:txBody>
                    <a:bodyPr wrap="square"/>
                    <a:lstStyle/>
                    <a:p>
                      <a:pPr algn="l"/>
                      <a:r>
                        <a:rPr sz="1400" b="1" i="0">
                          <a:solidFill>
                            <a:srgbClr val="333D47"/>
                          </a:solidFill>
                          <a:latin typeface="Arial"/>
                          <a:ea typeface="Microsoft JhengHei"/>
                        </a:rPr>
                        <a:t>Azure DI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Rules</a:t>
                      </a:r>
                    </a:p>
                  </a:txBody>
                  <a:tcPr marL="91440" marR="91440" marT="45720" marB="45720" anchor="ctr">
                    <a:lnL w="0">
                      <a:noFill/>
                    </a:lnL>
                    <a:lnR w="0">
                      <a:noFill/>
                    </a:lnR>
                    <a:lnT w="0">
                      <a:noFill/>
                    </a:lnT>
                    <a:lnB w="9525" cmpd="sng">
                      <a:solidFill>
                        <a:srgbClr val="BFBFBF"/>
                      </a:solidFill>
                    </a:lnB>
                    <a:noFill/>
                  </a:tcPr>
                </a:tc>
              </a:tr>
              <a:tr h="713232">
                <a:tc>
                  <a:txBody>
                    <a:bodyPr wrap="square"/>
                    <a:lstStyle/>
                    <a:p>
                      <a:pPr algn="l"/>
                      <a:r>
                        <a:rPr sz="1400" b="1" i="0">
                          <a:solidFill>
                            <a:srgbClr val="333D47"/>
                          </a:solidFill>
                          <a:latin typeface="Arial"/>
                          <a:ea typeface="Microsoft JhengHei"/>
                        </a:rPr>
                        <a:t>Azure DI + AOAI</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OCR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400" b="0" i="0">
                          <a:solidFill>
                            <a:srgbClr val="333D47"/>
                          </a:solidFill>
                          <a:latin typeface="Arial"/>
                          <a:ea typeface="Microsoft JhengHei"/>
                        </a:rPr>
                        <a:t>Azure OpenAI</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9" name="TextBox 18"/>
          <p:cNvSpPr txBox="1"/>
          <p:nvPr/>
        </p:nvSpPr>
        <p:spPr>
          <a:xfrm>
            <a:off x="6629400" y="4617720"/>
            <a:ext cx="5202936" cy="731520"/>
          </a:xfrm>
          <a:prstGeom prst="rect">
            <a:avLst/>
          </a:prstGeom>
          <a:noFill/>
        </p:spPr>
        <p:txBody>
          <a:bodyPr wrap="square" lIns="0" rIns="0" tIns="0" bIns="0" anchor="t"/>
          <a:lstStyle/>
          <a:p>
            <a:pPr marL="0" indent="0" algn="l">
              <a:spcAft>
                <a:spcPts val="0"/>
              </a:spcAft>
              <a:buNone/>
            </a:pPr>
            <a:r>
              <a:rPr sz="1300" b="0" i="0">
                <a:solidFill>
                  <a:srgbClr val="5F6770"/>
                </a:solidFill>
                <a:latin typeface="Arial"/>
                <a:ea typeface="Microsoft JhengHei"/>
              </a:rPr>
              <a:t>Fields: doctor, registration no., patient, receipt no., service date, total. 51 fields scored.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Results: One Fair Accuracy Figure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AI extraction reached 88.2% with a prompt written before these receipts: the only untuned result.</a:t>
            </a:r>
          </a:p>
        </p:txBody>
      </p:sp>
      <p:graphicFrame>
        <p:nvGraphicFramePr>
          <p:cNvPr id="12" name="Table 11"/>
          <p:cNvGraphicFramePr>
            <a:graphicFrameLocks noGrp="1"/>
          </p:cNvGraphicFramePr>
          <p:nvPr/>
        </p:nvGraphicFramePr>
        <p:xfrm>
          <a:off x="356616" y="1783080"/>
          <a:ext cx="11475720" cy="2962656"/>
        </p:xfrm>
        <a:graphic>
          <a:graphicData uri="http://schemas.openxmlformats.org/drawingml/2006/table">
            <a:tbl>
              <a:tblPr firstRow="0" bandRow="0">
                <a:tableStyleId>{2D5ABB26-0587-4C30-8999-92F81FD0307C}</a:tableStyleId>
              </a:tblPr>
              <a:tblGrid>
                <a:gridCol w="3383280"/>
                <a:gridCol w="2194560"/>
                <a:gridCol w="1691640"/>
                <a:gridCol w="4206240"/>
              </a:tblGrid>
              <a:tr h="548640">
                <a:tc>
                  <a:txBody>
                    <a:bodyPr wrap="square"/>
                    <a:lstStyle/>
                    <a:p>
                      <a:pPr algn="l"/>
                      <a:r>
                        <a:rPr sz="1500" b="1" i="0">
                          <a:solidFill>
                            <a:srgbClr val="FFFFFF"/>
                          </a:solidFill>
                          <a:latin typeface="Arial"/>
                          <a:ea typeface="Microsoft JhengHei"/>
                        </a:rPr>
                        <a:t>Approach</a:t>
                      </a:r>
                    </a:p>
                  </a:txBody>
                  <a:tcPr marL="91440" marR="91440" marT="45720" marB="45720" anchor="ctr">
                    <a:lnL w="0">
                      <a:noFill/>
                    </a:lnL>
                    <a:lnR w="0">
                      <a:noFill/>
                    </a:lnR>
                    <a:lnT w="0">
                      <a:noFill/>
                    </a:lnT>
                    <a:lnB w="0">
                      <a:noFill/>
                    </a:lnB>
                    <a:solidFill>
                      <a:srgbClr val="333D47"/>
                    </a:solidFill>
                  </a:tcPr>
                </a:tc>
                <a:tc>
                  <a:txBody>
                    <a:bodyPr wrap="square"/>
                    <a:lstStyle/>
                    <a:p>
                      <a:pPr algn="ctr"/>
                      <a:r>
                        <a:rPr sz="1500" b="1" i="0">
                          <a:solidFill>
                            <a:srgbClr val="FFFFFF"/>
                          </a:solidFill>
                          <a:latin typeface="Arial"/>
                          <a:ea typeface="Microsoft JhengHei"/>
                        </a:rPr>
                        <a:t>Accuracy (9 receipts)</a:t>
                      </a:r>
                    </a:p>
                  </a:txBody>
                  <a:tcPr marL="91440" marR="91440" marT="45720" marB="45720" anchor="ctr">
                    <a:lnL w="0">
                      <a:noFill/>
                    </a:lnL>
                    <a:lnR w="0">
                      <a:noFill/>
                    </a:lnR>
                    <a:lnT w="0">
                      <a:noFill/>
                    </a:lnT>
                    <a:lnB w="0">
                      <a:noFill/>
                    </a:lnB>
                    <a:solidFill>
                      <a:srgbClr val="333D47"/>
                    </a:solidFill>
                  </a:tcPr>
                </a:tc>
                <a:tc>
                  <a:txBody>
                    <a:bodyPr wrap="square"/>
                    <a:lstStyle/>
                    <a:p>
                      <a:pPr algn="ctr"/>
                      <a:r>
                        <a:rPr sz="1500" b="1" i="0">
                          <a:solidFill>
                            <a:srgbClr val="FFFFFF"/>
                          </a:solidFill>
                          <a:latin typeface="Arial"/>
                          <a:ea typeface="Microsoft JhengHei"/>
                        </a:rPr>
                        <a:t>Time / receipt</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How to read it</a:t>
                      </a:r>
                    </a:p>
                  </a:txBody>
                  <a:tcPr marL="91440" marR="91440" marT="45720" marB="45720" anchor="ctr">
                    <a:lnL w="0">
                      <a:noFill/>
                    </a:lnL>
                    <a:lnR w="0">
                      <a:noFill/>
                    </a:lnR>
                    <a:lnT w="0">
                      <a:noFill/>
                    </a:lnT>
                    <a:lnB w="0">
                      <a:noFill/>
                    </a:lnB>
                    <a:solidFill>
                      <a:srgbClr val="333D47"/>
                    </a:solidFill>
                  </a:tcPr>
                </a:tc>
              </a:tr>
              <a:tr h="603504">
                <a:tc>
                  <a:txBody>
                    <a:bodyPr wrap="square"/>
                    <a:lstStyle/>
                    <a:p>
                      <a:pPr algn="l"/>
                      <a:r>
                        <a:rPr sz="1600" b="1" i="0">
                          <a:solidFill>
                            <a:srgbClr val="333D47"/>
                          </a:solidFill>
                          <a:latin typeface="Arial"/>
                          <a:ea typeface="Microsoft JhengHei"/>
                        </a:rPr>
                        <a:t>PaddleOCR Light + rules</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Not shown</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800" b="0" i="0">
                          <a:solidFill>
                            <a:srgbClr val="333D47"/>
                          </a:solidFill>
                          <a:latin typeface="Arial"/>
                          <a:ea typeface="Microsoft JhengHei"/>
                        </a:rPr>
                        <a:t>13.9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00" b="0" i="0">
                          <a:solidFill>
                            <a:srgbClr val="5F6770"/>
                          </a:solidFill>
                          <a:latin typeface="Arial"/>
                          <a:ea typeface="Microsoft JhengHei"/>
                        </a:rPr>
                        <a:t>Rules tuned by hand on these receipts</a:t>
                      </a:r>
                    </a:p>
                  </a:txBody>
                  <a:tcPr marL="91440" marR="91440" marT="45720" marB="45720" anchor="ctr">
                    <a:lnL w="0">
                      <a:noFill/>
                    </a:lnL>
                    <a:lnR w="0">
                      <a:noFill/>
                    </a:lnR>
                    <a:lnT w="0">
                      <a:noFill/>
                    </a:lnT>
                    <a:lnB w="9525" cmpd="sng">
                      <a:solidFill>
                        <a:srgbClr val="BFBFBF"/>
                      </a:solidFill>
                    </a:lnB>
                    <a:noFill/>
                  </a:tcPr>
                </a:tc>
              </a:tr>
              <a:tr h="603504">
                <a:tc>
                  <a:txBody>
                    <a:bodyPr wrap="square"/>
                    <a:lstStyle/>
                    <a:p>
                      <a:pPr algn="l"/>
                      <a:r>
                        <a:rPr sz="1600" b="1" i="0">
                          <a:solidFill>
                            <a:srgbClr val="333D47"/>
                          </a:solidFill>
                          <a:latin typeface="Arial"/>
                          <a:ea typeface="Microsoft JhengHei"/>
                        </a:rPr>
                        <a:t>Azure DI + rules</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400" b="0" i="0">
                          <a:solidFill>
                            <a:srgbClr val="5F6770"/>
                          </a:solidFill>
                          <a:latin typeface="Arial"/>
                          <a:ea typeface="Microsoft JhengHei"/>
                        </a:rPr>
                        <a:t>Not shown</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800" b="0" i="0">
                          <a:solidFill>
                            <a:srgbClr val="333D47"/>
                          </a:solidFill>
                          <a:latin typeface="Arial"/>
                          <a:ea typeface="Microsoft JhengHei"/>
                        </a:rPr>
                        <a:t>3.8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00" b="0" i="0">
                          <a:solidFill>
                            <a:srgbClr val="5F6770"/>
                          </a:solidFill>
                          <a:latin typeface="Arial"/>
                          <a:ea typeface="Microsoft JhengHei"/>
                        </a:rPr>
                        <a:t>Rules tuned by hand on these receipts</a:t>
                      </a:r>
                    </a:p>
                  </a:txBody>
                  <a:tcPr marL="91440" marR="91440" marT="45720" marB="45720" anchor="ctr">
                    <a:lnL w="0">
                      <a:noFill/>
                    </a:lnL>
                    <a:lnR w="0">
                      <a:noFill/>
                    </a:lnR>
                    <a:lnT w="0">
                      <a:noFill/>
                    </a:lnT>
                    <a:lnB w="9525" cmpd="sng">
                      <a:solidFill>
                        <a:srgbClr val="BFBFBF"/>
                      </a:solidFill>
                    </a:lnB>
                    <a:noFill/>
                  </a:tcPr>
                </a:tc>
              </a:tr>
              <a:tr h="603504">
                <a:tc>
                  <a:txBody>
                    <a:bodyPr wrap="square"/>
                    <a:lstStyle/>
                    <a:p>
                      <a:pPr algn="l"/>
                      <a:r>
                        <a:rPr sz="1600" b="1" i="0">
                          <a:solidFill>
                            <a:srgbClr val="333D47"/>
                          </a:solidFill>
                          <a:latin typeface="Arial"/>
                          <a:ea typeface="Microsoft JhengHei"/>
                        </a:rPr>
                        <a:t>Azure DI + AOAI, original prompt</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2000" b="1" i="0">
                          <a:solidFill>
                            <a:srgbClr val="D31145"/>
                          </a:solidFill>
                          <a:latin typeface="Arial"/>
                          <a:ea typeface="Microsoft JhengHei"/>
                        </a:rPr>
                        <a:t>88.2%</a:t>
                      </a:r>
                      <a:r>
                        <a:rPr sz="1200" b="0" i="0">
                          <a:solidFill>
                            <a:srgbClr val="5F6770"/>
                          </a:solidFill>
                          <a:latin typeface="Arial"/>
                          <a:ea typeface="Microsoft JhengHei"/>
                        </a:rPr>
                        <a:t>  (45/51)</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ctr"/>
                      <a:r>
                        <a:rPr sz="1800" b="0" i="0">
                          <a:solidFill>
                            <a:srgbClr val="333D47"/>
                          </a:solidFill>
                          <a:latin typeface="Arial"/>
                          <a:ea typeface="Microsoft JhengHei"/>
                        </a:rPr>
                        <a:t>6.2 s</a:t>
                      </a:r>
                    </a:p>
                  </a:txBody>
                  <a:tcPr marL="91440" marR="91440" marT="45720" marB="45720" anchor="ctr">
                    <a:lnL w="0">
                      <a:noFill/>
                    </a:lnL>
                    <a:lnR w="0">
                      <a:noFill/>
                    </a:lnR>
                    <a:lnT w="0">
                      <a:noFill/>
                    </a:lnT>
                    <a:lnB w="9525" cmpd="sng">
                      <a:solidFill>
                        <a:srgbClr val="BFBFBF"/>
                      </a:solidFill>
                    </a:lnB>
                    <a:solidFill>
                      <a:srgbClr val="F2F2F2"/>
                    </a:solidFill>
                  </a:tcPr>
                </a:tc>
                <a:tc>
                  <a:txBody>
                    <a:bodyPr wrap="square"/>
                    <a:lstStyle/>
                    <a:p>
                      <a:pPr algn="l"/>
                      <a:r>
                        <a:rPr sz="1300" b="1" i="0">
                          <a:solidFill>
                            <a:srgbClr val="333D47"/>
                          </a:solidFill>
                          <a:latin typeface="Arial"/>
                          <a:ea typeface="Microsoft JhengHei"/>
                        </a:rPr>
                        <a:t>Prompt written before these receipts</a:t>
                      </a:r>
                    </a:p>
                  </a:txBody>
                  <a:tcPr marL="91440" marR="91440" marT="45720" marB="45720" anchor="ctr">
                    <a:lnL w="0">
                      <a:noFill/>
                    </a:lnL>
                    <a:lnR w="0">
                      <a:noFill/>
                    </a:lnR>
                    <a:lnT w="0">
                      <a:noFill/>
                    </a:lnT>
                    <a:lnB w="9525" cmpd="sng">
                      <a:solidFill>
                        <a:srgbClr val="BFBFBF"/>
                      </a:solidFill>
                    </a:lnB>
                    <a:solidFill>
                      <a:srgbClr val="F2F2F2"/>
                    </a:solidFill>
                  </a:tcPr>
                </a:tc>
              </a:tr>
              <a:tr h="603504">
                <a:tc>
                  <a:txBody>
                    <a:bodyPr wrap="square"/>
                    <a:lstStyle/>
                    <a:p>
                      <a:pPr algn="l"/>
                      <a:r>
                        <a:rPr sz="1600" b="1" i="0">
                          <a:solidFill>
                            <a:srgbClr val="333D47"/>
                          </a:solidFill>
                          <a:latin typeface="Arial"/>
                          <a:ea typeface="Microsoft JhengHei"/>
                        </a:rPr>
                        <a:t>Azure DI + AOAI, prompt v2</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2000" b="0" i="0">
                          <a:solidFill>
                            <a:srgbClr val="333D47"/>
                          </a:solidFill>
                          <a:latin typeface="Arial"/>
                          <a:ea typeface="Microsoft JhengHei"/>
                        </a:rPr>
                        <a:t>96.1%*</a:t>
                      </a:r>
                      <a:r>
                        <a:rPr sz="1200" b="0" i="0">
                          <a:solidFill>
                            <a:srgbClr val="5F6770"/>
                          </a:solidFill>
                          <a:latin typeface="Arial"/>
                          <a:ea typeface="Microsoft JhengHei"/>
                        </a:rPr>
                        <a:t>  (49/51)</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800" b="0" i="0">
                          <a:solidFill>
                            <a:srgbClr val="333D47"/>
                          </a:solidFill>
                          <a:latin typeface="Arial"/>
                          <a:ea typeface="Microsoft JhengHei"/>
                        </a:rPr>
                        <a:t>6.4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00" b="0" i="0">
                          <a:solidFill>
                            <a:srgbClr val="5F6770"/>
                          </a:solidFill>
                          <a:latin typeface="Arial"/>
                          <a:ea typeface="Microsoft JhengHei"/>
                        </a:rPr>
                        <a:t>Development result: prompt tuned on these receipts</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Rectangle 12"/>
          <p:cNvSpPr/>
          <p:nvPr/>
        </p:nvSpPr>
        <p:spPr>
          <a:xfrm>
            <a:off x="356616" y="4892040"/>
            <a:ext cx="11475720" cy="566928"/>
          </a:xfrm>
          <a:prstGeom prst="rect">
            <a:avLst/>
          </a:prstGeom>
          <a:solidFill>
            <a:srgbClr val="F2F2F2"/>
          </a:solidFill>
          <a:ln>
            <a:noFill/>
          </a:ln>
        </p:spPr>
        <p:txBody>
          <a:bodyPr rtlCol="0" anchor="ctr" wrap="square" lIns="164592" rIns="164592" tIns="109728" bIns="109728"/>
          <a:lstStyle/>
          <a:p>
            <a:pPr algn="l" marL="0" indent="0">
              <a:spcAft>
                <a:spcPts val="0"/>
              </a:spcAft>
              <a:buNone/>
            </a:pPr>
            <a:r>
              <a:rPr sz="1300" b="1" i="0">
                <a:solidFill>
                  <a:srgbClr val="333D47"/>
                </a:solidFill>
                <a:latin typeface="Arial"/>
                <a:ea typeface="Microsoft JhengHei"/>
              </a:rPr>
              <a:t>Unseen receipts (Version 1): </a:t>
            </a:r>
            <a:r>
              <a:rPr sz="1300" b="0" i="0">
                <a:solidFill>
                  <a:srgbClr val="333D47"/>
                </a:solidFill>
                <a:latin typeface="Arial"/>
                <a:ea typeface="Microsoft JhengHei"/>
              </a:rPr>
              <a:t>tuning did not carry over. The improved rules scored the same as the original rules on 4 unseen receipts, and prompt v2 the same as the original prompt on 6 receipts. Too few to rank approaches.</a:t>
            </a:r>
          </a:p>
        </p:txBody>
      </p:sp>
      <p:sp>
        <p:nvSpPr>
          <p:cNvPr id="14" name="TextBox 13"/>
          <p:cNvSpPr txBox="1"/>
          <p:nvPr/>
        </p:nvSpPr>
        <p:spPr>
          <a:xfrm>
            <a:off x="356616" y="5559552"/>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Rules: no accuracy shown (original rules had no Chinese labels; improved rules were tuned on these receipts). * Not independently validated.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AOAI Replaces the Manual Rule Layer</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pipelines read the text the same way. Only the step that finds the fields changes.</a:t>
            </a:r>
          </a:p>
        </p:txBody>
      </p:sp>
      <p:sp>
        <p:nvSpPr>
          <p:cNvPr id="12" name="TextBox 11"/>
          <p:cNvSpPr txBox="1"/>
          <p:nvPr/>
        </p:nvSpPr>
        <p:spPr>
          <a:xfrm>
            <a:off x="356616" y="1828800"/>
            <a:ext cx="2514600" cy="1097280"/>
          </a:xfrm>
          <a:prstGeom prst="rect">
            <a:avLst/>
          </a:prstGeom>
          <a:noFill/>
        </p:spPr>
        <p:txBody>
          <a:bodyPr wrap="square" lIns="0" rIns="0" tIns="0" bIns="0" anchor="ctr"/>
          <a:lstStyle/>
          <a:p>
            <a:pPr marL="0" indent="0" algn="l">
              <a:spcAft>
                <a:spcPts val="200"/>
              </a:spcAft>
              <a:buNone/>
            </a:pPr>
            <a:r>
              <a:rPr sz="1800" b="1" i="0">
                <a:solidFill>
                  <a:srgbClr val="333D47"/>
                </a:solidFill>
                <a:latin typeface="Arial"/>
                <a:ea typeface="Microsoft JhengHei"/>
              </a:rPr>
              <a:t>Rule-based</a:t>
            </a:r>
          </a:p>
          <a:p>
            <a:pPr marL="0" indent="0" algn="l">
              <a:spcAft>
                <a:spcPts val="600"/>
              </a:spcAft>
              <a:buNone/>
            </a:pPr>
            <a:r>
              <a:rPr sz="1300" b="0" i="0">
                <a:solidFill>
                  <a:srgbClr val="5F6770"/>
                </a:solidFill>
                <a:latin typeface="Arial"/>
                <a:ea typeface="Microsoft JhengHei"/>
              </a:rPr>
              <a:t>PaddleOCR Light + rules</a:t>
            </a:r>
          </a:p>
          <a:p>
            <a:pPr marL="0" indent="0" algn="l">
              <a:spcAft>
                <a:spcPts val="0"/>
              </a:spcAft>
              <a:buNone/>
            </a:pPr>
            <a:r>
              <a:rPr sz="1500" b="1" i="0">
                <a:solidFill>
                  <a:srgbClr val="D31145"/>
                </a:solidFill>
                <a:latin typeface="Arial"/>
                <a:ea typeface="Microsoft JhengHei"/>
              </a:rPr>
              <a:t>tuned by hand for these layouts</a:t>
            </a:r>
          </a:p>
        </p:txBody>
      </p:sp>
      <p:sp>
        <p:nvSpPr>
          <p:cNvPr id="13" name="Rectangle 12"/>
          <p:cNvSpPr/>
          <p:nvPr/>
        </p:nvSpPr>
        <p:spPr>
          <a:xfrm>
            <a:off x="3017520" y="182880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PaddleOCR Light</a:t>
            </a:r>
          </a:p>
        </p:txBody>
      </p:sp>
      <p:sp>
        <p:nvSpPr>
          <p:cNvPr id="14" name="Rectangle 13"/>
          <p:cNvSpPr/>
          <p:nvPr/>
        </p:nvSpPr>
        <p:spPr>
          <a:xfrm>
            <a:off x="6126479" y="1828800"/>
            <a:ext cx="2560320" cy="109728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400"/>
              </a:spcAft>
              <a:buNone/>
            </a:pPr>
            <a:r>
              <a:rPr sz="1600" b="1" i="0">
                <a:solidFill>
                  <a:srgbClr val="D31145"/>
                </a:solidFill>
                <a:latin typeface="Arial"/>
                <a:ea typeface="Microsoft JhengHei"/>
              </a:rPr>
              <a:t>Extraction rules</a:t>
            </a:r>
          </a:p>
          <a:p>
            <a:pPr marL="0" indent="0" algn="l">
              <a:spcAft>
                <a:spcPts val="0"/>
              </a:spcAft>
              <a:buNone/>
            </a:pPr>
            <a:r>
              <a:rPr sz="1250" b="0" i="0">
                <a:solidFill>
                  <a:srgbClr val="333D47"/>
                </a:solidFill>
                <a:latin typeface="Arial"/>
                <a:ea typeface="Microsoft JhengHei"/>
              </a:rPr>
              <a:t>written and updated by hand (69 → 225 label phrases)</a:t>
            </a:r>
          </a:p>
        </p:txBody>
      </p:sp>
      <p:sp>
        <p:nvSpPr>
          <p:cNvPr id="15" name="Right Arrow 14"/>
          <p:cNvSpPr/>
          <p:nvPr/>
        </p:nvSpPr>
        <p:spPr>
          <a:xfrm>
            <a:off x="5705855" y="2240280"/>
            <a:ext cx="292607" cy="274320"/>
          </a:xfrm>
          <a:prstGeom prst="rightArrow">
            <a:avLst/>
          </a:prstGeom>
          <a:solidFill>
            <a:srgbClr val="5F6770"/>
          </a:solidFill>
          <a:ln>
            <a:noFill/>
          </a:ln>
        </p:spPr>
        <p:txBody>
          <a:bodyPr rtlCol="0" anchor="ctr"/>
          <a:lstStyle/>
          <a:p>
            <a:pPr algn="ctr"/>
          </a:p>
        </p:txBody>
      </p:sp>
      <p:sp>
        <p:nvSpPr>
          <p:cNvPr id="16" name="Rectangle 15"/>
          <p:cNvSpPr/>
          <p:nvPr/>
        </p:nvSpPr>
        <p:spPr>
          <a:xfrm>
            <a:off x="9235440" y="182880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17" name="Right Arrow 16"/>
          <p:cNvSpPr/>
          <p:nvPr/>
        </p:nvSpPr>
        <p:spPr>
          <a:xfrm>
            <a:off x="8814816" y="2240280"/>
            <a:ext cx="292607" cy="274320"/>
          </a:xfrm>
          <a:prstGeom prst="rightArrow">
            <a:avLst/>
          </a:prstGeom>
          <a:solidFill>
            <a:srgbClr val="5F6770"/>
          </a:solidFill>
          <a:ln>
            <a:noFill/>
          </a:ln>
        </p:spPr>
        <p:txBody>
          <a:bodyPr rtlCol="0" anchor="ctr"/>
          <a:lstStyle/>
          <a:p>
            <a:pPr algn="ctr"/>
          </a:p>
        </p:txBody>
      </p:sp>
      <p:sp>
        <p:nvSpPr>
          <p:cNvPr id="18" name="TextBox 17"/>
          <p:cNvSpPr txBox="1"/>
          <p:nvPr/>
        </p:nvSpPr>
        <p:spPr>
          <a:xfrm>
            <a:off x="356616" y="3611880"/>
            <a:ext cx="2514600" cy="1097280"/>
          </a:xfrm>
          <a:prstGeom prst="rect">
            <a:avLst/>
          </a:prstGeom>
          <a:noFill/>
        </p:spPr>
        <p:txBody>
          <a:bodyPr wrap="square" lIns="0" rIns="0" tIns="0" bIns="0" anchor="ctr"/>
          <a:lstStyle/>
          <a:p>
            <a:pPr marL="0" indent="0" algn="l">
              <a:spcAft>
                <a:spcPts val="200"/>
              </a:spcAft>
              <a:buNone/>
            </a:pPr>
            <a:r>
              <a:rPr sz="1800" b="1" i="0">
                <a:solidFill>
                  <a:srgbClr val="333D47"/>
                </a:solidFill>
                <a:latin typeface="Arial"/>
                <a:ea typeface="Microsoft JhengHei"/>
              </a:rPr>
              <a:t>AI extraction</a:t>
            </a:r>
          </a:p>
          <a:p>
            <a:pPr marL="0" indent="0" algn="l">
              <a:spcAft>
                <a:spcPts val="600"/>
              </a:spcAft>
              <a:buNone/>
            </a:pPr>
            <a:r>
              <a:rPr sz="1300" b="0" i="0">
                <a:solidFill>
                  <a:srgbClr val="5F6770"/>
                </a:solidFill>
                <a:latin typeface="Arial"/>
                <a:ea typeface="Microsoft JhengHei"/>
              </a:rPr>
              <a:t>Azure DI + AOAI</a:t>
            </a:r>
          </a:p>
          <a:p>
            <a:pPr marL="0" indent="0" algn="l">
              <a:spcAft>
                <a:spcPts val="0"/>
              </a:spcAft>
              <a:buNone/>
            </a:pPr>
            <a:r>
              <a:rPr sz="1500" b="1" i="0">
                <a:solidFill>
                  <a:srgbClr val="D31145"/>
                </a:solidFill>
                <a:latin typeface="Arial"/>
                <a:ea typeface="Microsoft JhengHei"/>
              </a:rPr>
              <a:t>88.2%, original prompt</a:t>
            </a:r>
          </a:p>
        </p:txBody>
      </p:sp>
      <p:sp>
        <p:nvSpPr>
          <p:cNvPr id="19" name="Rectangle 18"/>
          <p:cNvSpPr/>
          <p:nvPr/>
        </p:nvSpPr>
        <p:spPr>
          <a:xfrm>
            <a:off x="3017520" y="361188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Read text (OCR)</a:t>
            </a:r>
          </a:p>
          <a:p>
            <a:pPr marL="0" indent="0" algn="l">
              <a:spcAft>
                <a:spcPts val="0"/>
              </a:spcAft>
              <a:buNone/>
            </a:pPr>
            <a:r>
              <a:rPr sz="1250" b="0" i="0">
                <a:solidFill>
                  <a:srgbClr val="5F6770"/>
                </a:solidFill>
                <a:latin typeface="Arial"/>
                <a:ea typeface="Microsoft JhengHei"/>
              </a:rPr>
              <a:t>Azure DI</a:t>
            </a:r>
          </a:p>
        </p:txBody>
      </p:sp>
      <p:sp>
        <p:nvSpPr>
          <p:cNvPr id="20" name="Rectangle 19"/>
          <p:cNvSpPr/>
          <p:nvPr/>
        </p:nvSpPr>
        <p:spPr>
          <a:xfrm>
            <a:off x="6126479" y="3611880"/>
            <a:ext cx="2560320" cy="1097280"/>
          </a:xfrm>
          <a:prstGeom prst="rect">
            <a:avLst/>
          </a:prstGeom>
          <a:solidFill>
            <a:srgbClr val="FFFFFF"/>
          </a:solidFill>
          <a:ln w="25400">
            <a:solidFill>
              <a:srgbClr val="D31145"/>
            </a:solidFill>
          </a:ln>
        </p:spPr>
        <p:txBody>
          <a:bodyPr rtlCol="0" anchor="ctr" wrap="square" lIns="146304" rIns="146304" tIns="109728" bIns="109728"/>
          <a:lstStyle/>
          <a:p>
            <a:pPr algn="l" marL="0" indent="0">
              <a:spcAft>
                <a:spcPts val="400"/>
              </a:spcAft>
              <a:buNone/>
            </a:pPr>
            <a:r>
              <a:rPr sz="1600" b="1" i="0">
                <a:solidFill>
                  <a:srgbClr val="D31145"/>
                </a:solidFill>
                <a:latin typeface="Arial"/>
                <a:ea typeface="Microsoft JhengHei"/>
              </a:rPr>
              <a:t>Azure OpenAI</a:t>
            </a:r>
          </a:p>
          <a:p>
            <a:pPr marL="0" indent="0" algn="l">
              <a:spcAft>
                <a:spcPts val="0"/>
              </a:spcAft>
              <a:buNone/>
            </a:pPr>
            <a:r>
              <a:rPr sz="1250" b="0" i="0">
                <a:solidFill>
                  <a:srgbClr val="333D47"/>
                </a:solidFill>
                <a:latin typeface="Arial"/>
                <a:ea typeface="Microsoft JhengHei"/>
              </a:rPr>
              <a:t>one prompt, written before these receipts</a:t>
            </a:r>
          </a:p>
        </p:txBody>
      </p:sp>
      <p:sp>
        <p:nvSpPr>
          <p:cNvPr id="21" name="Right Arrow 20"/>
          <p:cNvSpPr/>
          <p:nvPr/>
        </p:nvSpPr>
        <p:spPr>
          <a:xfrm>
            <a:off x="5705855" y="4023359"/>
            <a:ext cx="292607" cy="274320"/>
          </a:xfrm>
          <a:prstGeom prst="rightArrow">
            <a:avLst/>
          </a:prstGeom>
          <a:solidFill>
            <a:srgbClr val="5F6770"/>
          </a:solidFill>
          <a:ln>
            <a:noFill/>
          </a:ln>
        </p:spPr>
        <p:txBody>
          <a:bodyPr rtlCol="0" anchor="ctr"/>
          <a:lstStyle/>
          <a:p>
            <a:pPr algn="ctr"/>
          </a:p>
        </p:txBody>
      </p:sp>
      <p:sp>
        <p:nvSpPr>
          <p:cNvPr id="22" name="Rectangle 21"/>
          <p:cNvSpPr/>
          <p:nvPr/>
        </p:nvSpPr>
        <p:spPr>
          <a:xfrm>
            <a:off x="9235440" y="3611880"/>
            <a:ext cx="2560320" cy="1097280"/>
          </a:xfrm>
          <a:prstGeom prst="rect">
            <a:avLst/>
          </a:prstGeom>
          <a:solidFill>
            <a:srgbClr val="F2F2F2"/>
          </a:solidFill>
          <a:ln>
            <a:noFill/>
          </a:ln>
        </p:spPr>
        <p:txBody>
          <a:bodyPr rtlCol="0" anchor="ctr" wrap="square" lIns="146304" rIns="146304" tIns="109728" bIns="109728"/>
          <a:lstStyle/>
          <a:p>
            <a:pPr algn="l" marL="0" indent="0">
              <a:spcAft>
                <a:spcPts val="400"/>
              </a:spcAft>
              <a:buNone/>
            </a:pPr>
            <a:r>
              <a:rPr sz="1600" b="1" i="0">
                <a:solidFill>
                  <a:srgbClr val="333D47"/>
                </a:solidFill>
                <a:latin typeface="Arial"/>
                <a:ea typeface="Microsoft JhengHei"/>
              </a:rPr>
              <a:t>6 fields</a:t>
            </a:r>
          </a:p>
          <a:p>
            <a:pPr marL="0" indent="0" algn="l">
              <a:spcAft>
                <a:spcPts val="0"/>
              </a:spcAft>
              <a:buNone/>
            </a:pPr>
            <a:r>
              <a:rPr sz="1250" b="0" i="0">
                <a:solidFill>
                  <a:srgbClr val="5F6770"/>
                </a:solidFill>
                <a:latin typeface="Arial"/>
                <a:ea typeface="Microsoft JhengHei"/>
              </a:rPr>
              <a:t>doctor, patient, total, …</a:t>
            </a:r>
          </a:p>
        </p:txBody>
      </p:sp>
      <p:sp>
        <p:nvSpPr>
          <p:cNvPr id="23" name="Right Arrow 22"/>
          <p:cNvSpPr/>
          <p:nvPr/>
        </p:nvSpPr>
        <p:spPr>
          <a:xfrm>
            <a:off x="8814816" y="4023359"/>
            <a:ext cx="292607" cy="274320"/>
          </a:xfrm>
          <a:prstGeom prst="rightArrow">
            <a:avLst/>
          </a:prstGeom>
          <a:solidFill>
            <a:srgbClr val="5F6770"/>
          </a:solidFill>
          <a:ln>
            <a:noFill/>
          </a:ln>
        </p:spPr>
        <p:txBody>
          <a:bodyPr rtlCol="0" anchor="ctr"/>
          <a:lstStyle/>
          <a:p>
            <a:pPr algn="ctr"/>
          </a:p>
        </p:txBody>
      </p:sp>
      <p:sp>
        <p:nvSpPr>
          <p:cNvPr id="24" name="Down Arrow 23"/>
          <p:cNvSpPr/>
          <p:nvPr/>
        </p:nvSpPr>
        <p:spPr>
          <a:xfrm>
            <a:off x="7223759" y="3017520"/>
            <a:ext cx="365760" cy="502920"/>
          </a:xfrm>
          <a:prstGeom prst="downArrow">
            <a:avLst/>
          </a:prstGeom>
          <a:solidFill>
            <a:srgbClr val="D31145"/>
          </a:solidFill>
          <a:ln>
            <a:noFill/>
          </a:ln>
        </p:spPr>
        <p:txBody>
          <a:bodyPr rtlCol="0" anchor="ctr"/>
          <a:lstStyle/>
          <a:p>
            <a:pPr algn="ctr"/>
          </a:p>
        </p:txBody>
      </p:sp>
      <p:sp>
        <p:nvSpPr>
          <p:cNvPr id="25" name="TextBox 24"/>
          <p:cNvSpPr txBox="1"/>
          <p:nvPr/>
        </p:nvSpPr>
        <p:spPr>
          <a:xfrm>
            <a:off x="7726679" y="3081528"/>
            <a:ext cx="2377440" cy="365760"/>
          </a:xfrm>
          <a:prstGeom prst="rect">
            <a:avLst/>
          </a:prstGeom>
          <a:noFill/>
        </p:spPr>
        <p:txBody>
          <a:bodyPr wrap="square" lIns="0" rIns="0" tIns="0" bIns="0" anchor="t"/>
          <a:lstStyle/>
          <a:p>
            <a:pPr marL="0" indent="0" algn="l">
              <a:spcAft>
                <a:spcPts val="0"/>
              </a:spcAft>
              <a:buNone/>
            </a:pPr>
            <a:r>
              <a:rPr sz="1400" b="0" i="1">
                <a:solidFill>
                  <a:srgbClr val="D31145"/>
                </a:solidFill>
                <a:latin typeface="Arial"/>
                <a:ea typeface="Microsoft JhengHei"/>
              </a:rPr>
              <a:t>replaced by</a:t>
            </a:r>
          </a:p>
        </p:txBody>
      </p:sp>
      <p:sp>
        <p:nvSpPr>
          <p:cNvPr id="26" name="Rectangle 25"/>
          <p:cNvSpPr/>
          <p:nvPr/>
        </p:nvSpPr>
        <p:spPr>
          <a:xfrm>
            <a:off x="356616" y="4983480"/>
            <a:ext cx="11475720" cy="685800"/>
          </a:xfrm>
          <a:prstGeom prst="rect">
            <a:avLst/>
          </a:prstGeom>
          <a:solidFill>
            <a:srgbClr val="F2F2F2"/>
          </a:solidFill>
          <a:ln>
            <a:noFill/>
          </a:ln>
        </p:spPr>
        <p:txBody>
          <a:bodyPr rtlCol="0" anchor="ctr" wrap="square" lIns="228600" rIns="228600" tIns="109728" bIns="109728"/>
          <a:lstStyle/>
          <a:p>
            <a:pPr algn="l" marL="0" indent="0">
              <a:spcAft>
                <a:spcPts val="0"/>
              </a:spcAft>
              <a:buNone/>
            </a:pPr>
            <a:r>
              <a:rPr sz="1600" b="1" i="0">
                <a:solidFill>
                  <a:srgbClr val="333D47"/>
                </a:solidFill>
                <a:latin typeface="Arial"/>
                <a:ea typeface="Microsoft JhengHei"/>
              </a:rPr>
              <a:t>AOAI replaces the manual rule layer. </a:t>
            </a:r>
            <a:r>
              <a:rPr sz="1500" b="0" i="0">
                <a:solidFill>
                  <a:srgbClr val="333D47"/>
                </a:solidFill>
                <a:latin typeface="Arial"/>
                <a:ea typeface="Microsoft JhengHei"/>
              </a:rPr>
              <a:t>It still makes mistakes (6 of 51 fields wrong with the original prompt) and has not yet been tested on a large set of unseen receipts.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1: The OCR Was Right, the Rules Were Wrong</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Both OCR engines read the names. The original rules took the label 病人 as the patient's name.</a:t>
            </a:r>
          </a:p>
        </p:txBody>
      </p:sp>
      <p:pic>
        <p:nvPicPr>
          <p:cNvPr id="12" name="Picture 11" descr="crop_receipt8.jpg"/>
          <p:cNvPicPr>
            <a:picLocks noChangeAspect="1"/>
          </p:cNvPicPr>
          <p:nvPr/>
        </p:nvPicPr>
        <p:blipFill>
          <a:blip r:embed="rId3"/>
          <a:stretch>
            <a:fillRect/>
          </a:stretch>
        </p:blipFill>
        <p:spPr>
          <a:xfrm>
            <a:off x="356616" y="1783080"/>
            <a:ext cx="5120640" cy="3499846"/>
          </a:xfrm>
          <a:prstGeom prst="rect">
            <a:avLst/>
          </a:prstGeom>
          <a:ln w="9525">
            <a:solidFill>
              <a:srgbClr val="BFBFBF"/>
            </a:solidFill>
          </a:ln>
        </p:spPr>
      </p:pic>
      <p:graphicFrame>
        <p:nvGraphicFramePr>
          <p:cNvPr id="13" name="Table 12"/>
          <p:cNvGraphicFramePr>
            <a:graphicFrameLocks noGrp="1"/>
          </p:cNvGraphicFramePr>
          <p:nvPr/>
        </p:nvGraphicFramePr>
        <p:xfrm>
          <a:off x="5760720" y="1783080"/>
          <a:ext cx="6071616" cy="188366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58368">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病人</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蔡嘉穎</a:t>
                      </a:r>
                    </a:p>
                  </a:txBody>
                  <a:tcPr marL="91440" marR="91440" marT="45720" marB="45720" anchor="ctr">
                    <a:lnL w="0">
                      <a:noFill/>
                    </a:lnL>
                    <a:lnR w="0">
                      <a:noFill/>
                    </a:lnR>
                    <a:lnT w="0">
                      <a:noFill/>
                    </a:lnT>
                    <a:lnB w="19050" cmpd="sng">
                      <a:solidFill>
                        <a:srgbClr val="FFFFFF"/>
                      </a:solidFill>
                    </a:lnB>
                    <a:solidFill>
                      <a:srgbClr val="E6F2EA"/>
                    </a:solidFill>
                  </a:tcPr>
                </a:tc>
              </a:tr>
              <a:tr h="658368">
                <a:tc>
                  <a:txBody>
                    <a:bodyPr wrap="square"/>
                    <a:lstStyle/>
                    <a:p>
                      <a:pPr algn="l"/>
                      <a:r>
                        <a:rPr sz="1400" b="1" i="0">
                          <a:solidFill>
                            <a:srgbClr val="333D47"/>
                          </a:solidFill>
                          <a:latin typeface="Arial"/>
                          <a:ea typeface="Microsoft JhengHei"/>
                        </a:rPr>
                        <a:t>Doctor</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Dr. Siu Ka Wai</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sp>
        <p:nvSpPr>
          <p:cNvPr id="14" name="TextBox 13"/>
          <p:cNvSpPr txBox="1"/>
          <p:nvPr/>
        </p:nvSpPr>
        <p:spPr>
          <a:xfrm>
            <a:off x="5760720" y="3886200"/>
            <a:ext cx="6071616" cy="1463040"/>
          </a:xfrm>
          <a:prstGeom prst="rect">
            <a:avLst/>
          </a:prstGeom>
          <a:noFill/>
        </p:spPr>
        <p:txBody>
          <a:bodyPr wrap="square" lIns="0" rIns="0" tIns="0" bIns="0" anchor="t"/>
          <a:lstStyle/>
          <a:p>
            <a:pPr marL="182880" indent="-182880" algn="l">
              <a:spcAft>
                <a:spcPts val="600"/>
              </a:spcAft>
              <a:buFont typeface="Arial"/>
              <a:buChar char="•"/>
            </a:pPr>
            <a:r>
              <a:rPr sz="1400" b="0" i="0">
                <a:solidFill>
                  <a:srgbClr val="333D47"/>
                </a:solidFill>
                <a:latin typeface="Arial"/>
                <a:ea typeface="Microsoft JhengHei"/>
              </a:rPr>
              <a:t>Original rules: took the Chinese label 病人 ("patient") as the patient's name.</a:t>
            </a:r>
          </a:p>
          <a:p>
            <a:pPr marL="182880" indent="-182880" algn="l">
              <a:spcAft>
                <a:spcPts val="600"/>
              </a:spcAft>
              <a:buFont typeface="Arial"/>
              <a:buChar char="•"/>
            </a:pPr>
            <a:r>
              <a:rPr sz="1400" b="0" i="0">
                <a:solidFill>
                  <a:srgbClr val="333D47"/>
                </a:solidFill>
                <a:latin typeface="Arial"/>
                <a:ea typeface="Microsoft JhengHei"/>
              </a:rPr>
              <a:t>Improved rules: fixed by adding bilingual labels by hand.</a:t>
            </a:r>
          </a:p>
          <a:p>
            <a:pPr marL="182880" indent="-182880" algn="l">
              <a:spcAft>
                <a:spcPts val="0"/>
              </a:spcAft>
              <a:buFont typeface="Arial"/>
              <a:buChar char="•"/>
            </a:pPr>
            <a:r>
              <a:rPr sz="1400" b="0" i="0">
                <a:solidFill>
                  <a:srgbClr val="333D47"/>
                </a:solidFill>
                <a:latin typeface="Arial"/>
                <a:ea typeface="Microsoft JhengHei"/>
              </a:rPr>
              <a:t>AOAI: correct with its original prompt; no change needed.</a:t>
            </a:r>
          </a:p>
        </p:txBody>
      </p:sp>
      <p:sp>
        <p:nvSpPr>
          <p:cNvPr id="15" name="TextBox 14"/>
          <p:cNvSpPr txBox="1"/>
          <p:nvPr/>
        </p:nvSpPr>
        <p:spPr>
          <a:xfrm>
            <a:off x="356616" y="56235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Bilingual medical centre receipt. Rules shown on PaddleOCR Light text; Azure DI with the original rules made the same patient error. DI + AOAI = original prompt.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2: Every New Layout Meant Manual Rule Work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Each label wording was added by hand, one change broke a receipt, and the tuning did not carry over.</a:t>
            </a:r>
          </a:p>
        </p:txBody>
      </p:sp>
      <p:pic>
        <p:nvPicPr>
          <p:cNvPr id="12" name="Picture 11" descr="crop_receipt4.jpg"/>
          <p:cNvPicPr>
            <a:picLocks noChangeAspect="1"/>
          </p:cNvPicPr>
          <p:nvPr/>
        </p:nvPicPr>
        <p:blipFill>
          <a:blip r:embed="rId3"/>
          <a:stretch>
            <a:fillRect/>
          </a:stretch>
        </p:blipFill>
        <p:spPr>
          <a:xfrm>
            <a:off x="356616" y="1783080"/>
            <a:ext cx="4206240" cy="2392748"/>
          </a:xfrm>
          <a:prstGeom prst="rect">
            <a:avLst/>
          </a:prstGeom>
          <a:ln w="9525">
            <a:solidFill>
              <a:srgbClr val="BFBFBF"/>
            </a:solidFill>
          </a:ln>
        </p:spPr>
      </p:pic>
      <p:sp>
        <p:nvSpPr>
          <p:cNvPr id="13" name="TextBox 12"/>
          <p:cNvSpPr txBox="1"/>
          <p:nvPr/>
        </p:nvSpPr>
        <p:spPr>
          <a:xfrm>
            <a:off x="356616" y="4389120"/>
            <a:ext cx="4206240" cy="685800"/>
          </a:xfrm>
          <a:prstGeom prst="rect">
            <a:avLst/>
          </a:prstGeom>
          <a:noFill/>
        </p:spPr>
        <p:txBody>
          <a:bodyPr wrap="square" lIns="0" rIns="0" tIns="0" bIns="0" anchor="t"/>
          <a:lstStyle/>
          <a:p>
            <a:pPr marL="0" indent="0" algn="l">
              <a:spcAft>
                <a:spcPts val="0"/>
              </a:spcAft>
              <a:buNone/>
            </a:pPr>
            <a:r>
              <a:rPr sz="1200" b="0" i="0">
                <a:solidFill>
                  <a:srgbClr val="5F6770"/>
                </a:solidFill>
                <a:latin typeface="Arial"/>
                <a:ea typeface="Microsoft JhengHei"/>
              </a:rPr>
              <a:t>Chinese medicine receipt: original rules 0/6 fields; after Chinese labels were added by hand 6/6; DI + AOAI 6/6 (original prompt).</a:t>
            </a:r>
          </a:p>
        </p:txBody>
      </p:sp>
      <p:sp>
        <p:nvSpPr>
          <p:cNvPr id="14" name="Rectangle 13"/>
          <p:cNvSpPr/>
          <p:nvPr/>
        </p:nvSpPr>
        <p:spPr>
          <a:xfrm>
            <a:off x="484632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69 → 225</a:t>
            </a:r>
          </a:p>
          <a:p>
            <a:pPr marL="0" indent="0" algn="l">
              <a:spcAft>
                <a:spcPts val="0"/>
              </a:spcAft>
              <a:buNone/>
            </a:pPr>
            <a:r>
              <a:rPr sz="1300" b="0" i="0">
                <a:solidFill>
                  <a:srgbClr val="333D47"/>
                </a:solidFill>
                <a:latin typeface="Arial"/>
                <a:ea typeface="Microsoft JhengHei"/>
              </a:rPr>
              <a:t>label phrases in the rules, added by hand after reviewing the errors</a:t>
            </a:r>
          </a:p>
        </p:txBody>
      </p:sp>
      <p:sp>
        <p:nvSpPr>
          <p:cNvPr id="15" name="Rectangle 14"/>
          <p:cNvSpPr/>
          <p:nvPr/>
        </p:nvSpPr>
        <p:spPr>
          <a:xfrm>
            <a:off x="722376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369303 → 380048</a:t>
            </a:r>
          </a:p>
          <a:p>
            <a:pPr marL="0" indent="0" algn="l">
              <a:spcAft>
                <a:spcPts val="0"/>
              </a:spcAft>
              <a:buNone/>
            </a:pPr>
            <a:r>
              <a:rPr sz="1300" b="0" i="0">
                <a:solidFill>
                  <a:srgbClr val="333D47"/>
                </a:solidFill>
                <a:latin typeface="Arial"/>
                <a:ea typeface="Microsoft JhengHei"/>
              </a:rPr>
              <a:t>vet invoice receipt number: correct before the changes, wrong after (a regression)</a:t>
            </a:r>
          </a:p>
        </p:txBody>
      </p:sp>
      <p:sp>
        <p:nvSpPr>
          <p:cNvPr id="16" name="Rectangle 15"/>
          <p:cNvSpPr/>
          <p:nvPr/>
        </p:nvSpPr>
        <p:spPr>
          <a:xfrm>
            <a:off x="9601200" y="1783080"/>
            <a:ext cx="2240280" cy="2514600"/>
          </a:xfrm>
          <a:prstGeom prst="rect">
            <a:avLst/>
          </a:prstGeom>
          <a:solidFill>
            <a:srgbClr val="F2F2F2"/>
          </a:solidFill>
          <a:ln>
            <a:noFill/>
          </a:ln>
        </p:spPr>
        <p:txBody>
          <a:bodyPr rtlCol="0" anchor="t" wrap="square" lIns="182880" rIns="182880" tIns="109728" bIns="109728"/>
          <a:lstStyle/>
          <a:p>
            <a:pPr algn="l" marL="0" indent="0">
              <a:spcAft>
                <a:spcPts val="800"/>
              </a:spcAft>
              <a:buNone/>
            </a:pPr>
            <a:r>
              <a:rPr sz="2200" b="1" i="0">
                <a:solidFill>
                  <a:srgbClr val="D31145"/>
                </a:solidFill>
                <a:latin typeface="Arial"/>
                <a:ea typeface="Microsoft JhengHei"/>
              </a:rPr>
              <a:t>No gain</a:t>
            </a:r>
          </a:p>
          <a:p>
            <a:pPr marL="0" indent="0" algn="l">
              <a:spcAft>
                <a:spcPts val="0"/>
              </a:spcAft>
              <a:buNone/>
            </a:pPr>
            <a:r>
              <a:rPr sz="1300" b="0" i="0">
                <a:solidFill>
                  <a:srgbClr val="333D47"/>
                </a:solidFill>
                <a:latin typeface="Arial"/>
                <a:ea typeface="Microsoft JhengHei"/>
              </a:rPr>
              <a:t>on 4 unseen receipts: the tuned rules scored the same as the original rules</a:t>
            </a:r>
          </a:p>
        </p:txBody>
      </p:sp>
      <p:sp>
        <p:nvSpPr>
          <p:cNvPr id="17" name="TextBox 16"/>
          <p:cNvSpPr txBox="1"/>
          <p:nvPr/>
        </p:nvSpPr>
        <p:spPr>
          <a:xfrm>
            <a:off x="4846320" y="4434840"/>
            <a:ext cx="6986016" cy="1005840"/>
          </a:xfrm>
          <a:prstGeom prst="rect">
            <a:avLst/>
          </a:prstGeom>
          <a:noFill/>
        </p:spPr>
        <p:txBody>
          <a:bodyPr wrap="square" lIns="0" rIns="0" tIns="0" bIns="0" anchor="t"/>
          <a:lstStyle/>
          <a:p>
            <a:pPr marL="0" indent="0" algn="l">
              <a:spcAft>
                <a:spcPts val="0"/>
              </a:spcAft>
              <a:buNone/>
            </a:pPr>
            <a:r>
              <a:rPr sz="1400" b="0" i="0">
                <a:solidFill>
                  <a:srgbClr val="333D47"/>
                </a:solidFill>
                <a:latin typeface="Arial"/>
                <a:ea typeface="Microsoft JhengHei"/>
              </a:rPr>
              <a:t>With its original prompt, DI + AOAI needed none of these changes for these receipts. Whether that holds for new layouts still needs to be tested.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Example 3: AOAI Still Makes Mistakes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On the vet invoice, the improved rules and AOAI each got a different field wrong.</a:t>
            </a:r>
          </a:p>
        </p:txBody>
      </p:sp>
      <p:pic>
        <p:nvPicPr>
          <p:cNvPr id="12" name="Picture 11" descr="crop_receipt9_top.jpg"/>
          <p:cNvPicPr>
            <a:picLocks noChangeAspect="1"/>
          </p:cNvPicPr>
          <p:nvPr/>
        </p:nvPicPr>
        <p:blipFill>
          <a:blip r:embed="rId3"/>
          <a:stretch>
            <a:fillRect/>
          </a:stretch>
        </p:blipFill>
        <p:spPr>
          <a:xfrm>
            <a:off x="356616" y="1783080"/>
            <a:ext cx="5120640" cy="601605"/>
          </a:xfrm>
          <a:prstGeom prst="rect">
            <a:avLst/>
          </a:prstGeom>
          <a:ln w="9525">
            <a:solidFill>
              <a:srgbClr val="BFBFBF"/>
            </a:solidFill>
          </a:ln>
        </p:spPr>
      </p:pic>
      <p:pic>
        <p:nvPicPr>
          <p:cNvPr id="13" name="Picture 12" descr="crop_receipt9_pay.jpg"/>
          <p:cNvPicPr>
            <a:picLocks noChangeAspect="1"/>
          </p:cNvPicPr>
          <p:nvPr/>
        </p:nvPicPr>
        <p:blipFill>
          <a:blip r:embed="rId4"/>
          <a:stretch>
            <a:fillRect/>
          </a:stretch>
        </p:blipFill>
        <p:spPr>
          <a:xfrm>
            <a:off x="356616" y="2521845"/>
            <a:ext cx="5120640" cy="2243512"/>
          </a:xfrm>
          <a:prstGeom prst="rect">
            <a:avLst/>
          </a:prstGeom>
          <a:ln w="9525">
            <a:solidFill>
              <a:srgbClr val="BFBFBF"/>
            </a:solidFill>
          </a:ln>
        </p:spPr>
      </p:pic>
      <p:graphicFrame>
        <p:nvGraphicFramePr>
          <p:cNvPr id="14" name="Table 13"/>
          <p:cNvGraphicFramePr>
            <a:graphicFrameLocks noGrp="1"/>
          </p:cNvGraphicFramePr>
          <p:nvPr/>
        </p:nvGraphicFramePr>
        <p:xfrm>
          <a:off x="5760720" y="1783080"/>
          <a:ext cx="6071616" cy="2432304"/>
        </p:xfrm>
        <a:graphic>
          <a:graphicData uri="http://schemas.openxmlformats.org/drawingml/2006/table">
            <a:tbl>
              <a:tblPr firstRow="0" bandRow="0">
                <a:tableStyleId>{2D5ABB26-0587-4C30-8999-92F81FD0307C}</a:tableStyleId>
              </a:tblPr>
              <a:tblGrid>
                <a:gridCol w="1051560"/>
                <a:gridCol w="1280160"/>
                <a:gridCol w="1234440"/>
                <a:gridCol w="1234440"/>
                <a:gridCol w="1271016"/>
              </a:tblGrid>
              <a:tr h="566928">
                <a:tc>
                  <a:txBody>
                    <a:bodyPr wrap="square"/>
                    <a:lstStyle/>
                    <a:p>
                      <a:pPr algn="l"/>
                      <a:r>
                        <a:rPr sz="1250" b="1" i="0">
                          <a:solidFill>
                            <a:srgbClr val="FFFFFF"/>
                          </a:solidFill>
                          <a:latin typeface="Arial"/>
                          <a:ea typeface="Microsoft JhengHei"/>
                        </a:rPr>
                        <a:t>Field</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Correct</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Original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Improved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DI + AOAI</a:t>
                      </a:r>
                    </a:p>
                  </a:txBody>
                  <a:tcPr marL="91440" marR="91440" marT="45720" marB="45720" anchor="ctr">
                    <a:lnL w="0">
                      <a:noFill/>
                    </a:lnL>
                    <a:lnR w="0">
                      <a:noFill/>
                    </a:lnR>
                    <a:lnT w="0">
                      <a:noFill/>
                    </a:lnT>
                    <a:lnB w="0">
                      <a:noFill/>
                    </a:lnB>
                    <a:solidFill>
                      <a:srgbClr val="333D47"/>
                    </a:solidFill>
                  </a:tcPr>
                </a:tc>
              </a:tr>
              <a:tr h="621792">
                <a:tc>
                  <a:txBody>
                    <a:bodyPr wrap="square"/>
                    <a:lstStyle/>
                    <a:p>
                      <a:pPr algn="l"/>
                      <a:r>
                        <a:rPr sz="1400" b="1" i="0">
                          <a:solidFill>
                            <a:srgbClr val="333D47"/>
                          </a:solidFill>
                          <a:latin typeface="Arial"/>
                          <a:ea typeface="Microsoft JhengHei"/>
                        </a:rPr>
                        <a:t>Receipt no.</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380048</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369303</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Patient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D31145"/>
                          </a:solidFill>
                          <a:latin typeface="Arial"/>
                          <a:ea typeface="Microsoft JhengHei"/>
                        </a:rPr>
                        <a:t>✗ </a:t>
                      </a:r>
                      <a:r>
                        <a:rPr sz="1400" b="0" i="0">
                          <a:solidFill>
                            <a:srgbClr val="5F6770"/>
                          </a:solidFill>
                          <a:latin typeface="Arial"/>
                          <a:ea typeface="Microsoft JhengHei"/>
                        </a:rPr>
                        <a:t>not found</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Fuk Jai</a:t>
                      </a:r>
                    </a:p>
                  </a:txBody>
                  <a:tcPr marL="91440" marR="91440" marT="45720" marB="45720" anchor="ctr">
                    <a:lnL w="0">
                      <a:noFill/>
                    </a:lnL>
                    <a:lnR w="0">
                      <a:noFill/>
                    </a:lnR>
                    <a:lnT w="0">
                      <a:noFill/>
                    </a:lnT>
                    <a:lnB w="19050" cmpd="sng">
                      <a:solidFill>
                        <a:srgbClr val="FFFFFF"/>
                      </a:solidFill>
                    </a:lnB>
                    <a:solidFill>
                      <a:srgbClr val="E6F2EA"/>
                    </a:solidFill>
                  </a:tcPr>
                </a:tc>
              </a:tr>
              <a:tr h="621792">
                <a:tc>
                  <a:txBody>
                    <a:bodyPr wrap="square"/>
                    <a:lstStyle/>
                    <a:p>
                      <a:pPr algn="l"/>
                      <a:r>
                        <a:rPr sz="1400" b="1" i="0">
                          <a:solidFill>
                            <a:srgbClr val="333D47"/>
                          </a:solidFill>
                          <a:latin typeface="Arial"/>
                          <a:ea typeface="Microsoft JhengHei"/>
                        </a:rPr>
                        <a:t>Total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0" i="0">
                          <a:solidFill>
                            <a:srgbClr val="333D47"/>
                          </a:solidFill>
                          <a:latin typeface="Arial"/>
                          <a:ea typeface="Microsoft JhengHei"/>
                        </a:rPr>
                        <a:t>1361</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1E7B4A"/>
                          </a:solidFill>
                          <a:latin typeface="Arial"/>
                          <a:ea typeface="Microsoft JhengHei"/>
                        </a:rPr>
                        <a:t>✓ </a:t>
                      </a:r>
                      <a:r>
                        <a:rPr sz="1400" b="0" i="0">
                          <a:solidFill>
                            <a:srgbClr val="333D47"/>
                          </a:solidFill>
                          <a:latin typeface="Arial"/>
                          <a:ea typeface="Microsoft JhengHei"/>
                        </a:rPr>
                        <a:t>1361.0</a:t>
                      </a:r>
                    </a:p>
                  </a:txBody>
                  <a:tcPr marL="91440" marR="91440" marT="45720" marB="45720" anchor="ctr">
                    <a:lnL w="0">
                      <a:noFill/>
                    </a:lnL>
                    <a:lnR w="0">
                      <a:noFill/>
                    </a:lnR>
                    <a:lnT w="0">
                      <a:noFill/>
                    </a:lnT>
                    <a:lnB w="19050" cmpd="sng">
                      <a:solidFill>
                        <a:srgbClr val="FFFFFF"/>
                      </a:solidFill>
                    </a:lnB>
                    <a:solidFill>
                      <a:srgbClr val="E6F2EA"/>
                    </a:solidFill>
                  </a:tcPr>
                </a:tc>
                <a:tc>
                  <a:txBody>
                    <a:bodyPr wrap="square"/>
                    <a:lstStyle/>
                    <a:p>
                      <a:pPr algn="l"/>
                      <a:r>
                        <a:rPr sz="1400" b="1" i="0">
                          <a:solidFill>
                            <a:srgbClr val="D31145"/>
                          </a:solidFill>
                          <a:latin typeface="Arial"/>
                          <a:ea typeface="Microsoft JhengHei"/>
                        </a:rPr>
                        <a:t>✗ </a:t>
                      </a:r>
                      <a:r>
                        <a:rPr sz="1400" b="0" i="0">
                          <a:solidFill>
                            <a:srgbClr val="333D47"/>
                          </a:solidFill>
                          <a:latin typeface="Arial"/>
                          <a:ea typeface="Microsoft JhengHei"/>
                        </a:rPr>
                        <a:t>1361.5</a:t>
                      </a:r>
                    </a:p>
                  </a:txBody>
                  <a:tcPr marL="91440" marR="91440" marT="45720" marB="45720" anchor="ctr">
                    <a:lnL w="0">
                      <a:noFill/>
                    </a:lnL>
                    <a:lnR w="0">
                      <a:noFill/>
                    </a:lnR>
                    <a:lnT w="0">
                      <a:noFill/>
                    </a:lnT>
                    <a:lnB w="19050" cmpd="sng">
                      <a:solidFill>
                        <a:srgbClr val="FFFFFF"/>
                      </a:solidFill>
                    </a:lnB>
                    <a:solidFill>
                      <a:srgbClr val="FBE7EC"/>
                    </a:solidFill>
                  </a:tcPr>
                </a:tc>
              </a:tr>
            </a:tbl>
          </a:graphicData>
        </a:graphic>
      </p:graphicFrame>
      <p:sp>
        <p:nvSpPr>
          <p:cNvPr id="15" name="TextBox 14"/>
          <p:cNvSpPr txBox="1"/>
          <p:nvPr/>
        </p:nvSpPr>
        <p:spPr>
          <a:xfrm>
            <a:off x="5760720" y="4343400"/>
            <a:ext cx="6071616" cy="1097280"/>
          </a:xfrm>
          <a:prstGeom prst="rect">
            <a:avLst/>
          </a:prstGeom>
          <a:noFill/>
        </p:spPr>
        <p:txBody>
          <a:bodyPr wrap="square" lIns="0" rIns="0" tIns="0" bIns="0" anchor="t"/>
          <a:lstStyle/>
          <a:p>
            <a:pPr marL="182880" indent="-182880" algn="l">
              <a:spcAft>
                <a:spcPts val="400"/>
              </a:spcAft>
              <a:buFont typeface="Arial"/>
              <a:buChar char="•"/>
            </a:pPr>
            <a:r>
              <a:rPr sz="1300" b="0" i="0">
                <a:solidFill>
                  <a:srgbClr val="333D47"/>
                </a:solidFill>
                <a:latin typeface="Arial"/>
                <a:ea typeface="Microsoft JhengHei"/>
              </a:rPr>
              <a:t>Improved rules: picked the payment receipt number.</a:t>
            </a:r>
          </a:p>
          <a:p>
            <a:pPr marL="182880" indent="-182880" algn="l">
              <a:spcAft>
                <a:spcPts val="400"/>
              </a:spcAft>
              <a:buFont typeface="Arial"/>
              <a:buChar char="•"/>
            </a:pPr>
            <a:r>
              <a:rPr sz="1300" b="0" i="0">
                <a:solidFill>
                  <a:srgbClr val="333D47"/>
                </a:solidFill>
                <a:latin typeface="Arial"/>
                <a:ea typeface="Microsoft JhengHei"/>
              </a:rPr>
              <a:t>Rules: the OCR read "FPatient:", so the patient label was missed.</a:t>
            </a:r>
          </a:p>
          <a:p>
            <a:pPr marL="182880" indent="-182880" algn="l">
              <a:spcAft>
                <a:spcPts val="0"/>
              </a:spcAft>
              <a:buFont typeface="Arial"/>
              <a:buChar char="•"/>
            </a:pPr>
            <a:r>
              <a:rPr sz="1300" b="0" i="0">
                <a:solidFill>
                  <a:srgbClr val="333D47"/>
                </a:solidFill>
                <a:latin typeface="Arial"/>
                <a:ea typeface="Microsoft JhengHei"/>
              </a:rPr>
              <a:t>AOAI (original prompt): picked the sub total. Prompt v2 fixes it, but was tuned on this receipt.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Development Effort and Maintenance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difference is the manual work to handle each layout, and to keep it working.</a:t>
            </a:r>
          </a:p>
        </p:txBody>
      </p:sp>
      <p:graphicFrame>
        <p:nvGraphicFramePr>
          <p:cNvPr id="12" name="Table 11"/>
          <p:cNvGraphicFramePr>
            <a:graphicFrameLocks noGrp="1"/>
          </p:cNvGraphicFramePr>
          <p:nvPr/>
        </p:nvGraphicFramePr>
        <p:xfrm>
          <a:off x="356616" y="1783080"/>
          <a:ext cx="11475720" cy="3621024"/>
        </p:xfrm>
        <a:graphic>
          <a:graphicData uri="http://schemas.openxmlformats.org/drawingml/2006/table">
            <a:tbl>
              <a:tblPr firstRow="0" bandRow="0">
                <a:tableStyleId>{2D5ABB26-0587-4C30-8999-92F81FD0307C}</a:tableStyleId>
              </a:tblPr>
              <a:tblGrid>
                <a:gridCol w="2743200"/>
                <a:gridCol w="4343400"/>
                <a:gridCol w="4389120"/>
              </a:tblGrid>
              <a:tr h="548640">
                <a:tc>
                  <a:txBody>
                    <a:bodyPr wrap="square"/>
                    <a:lstStyle/>
                    <a:p>
                      <a:pPr algn="l"/>
                      <a:r>
                        <a:rPr sz="15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PaddleOCR Light +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5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r>
              <a:tr h="512064">
                <a:tc>
                  <a:txBody>
                    <a:bodyPr wrap="square"/>
                    <a:lstStyle/>
                    <a:p>
                      <a:pPr algn="l"/>
                      <a:r>
                        <a:rPr sz="1350" b="1" i="0">
                          <a:solidFill>
                            <a:srgbClr val="333D47"/>
                          </a:solidFill>
                          <a:latin typeface="Arial"/>
                          <a:ea typeface="Microsoft JhengHei"/>
                        </a:rPr>
                        <a:t>Accuracy (9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Not a fair measure: rules tuned on these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D31145"/>
                          </a:solidFill>
                          <a:latin typeface="Arial"/>
                          <a:ea typeface="Microsoft JhengHei"/>
                        </a:rPr>
                        <a:t>88.2% original prompt; 96.1% prompt v2 (development)</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Effort to get there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Rules rewritten by hand after reviewing errors on these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None for the original prompt; one revision for prompt v2</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Extraction logic</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69 → 225 label phrases to maintain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One prompt and a few general checks</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Unseen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Tuning gave no gain (4 receipts)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Prompt v2 gave no gain (6 receipts)</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Errors seen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A rule change broke a receipt that was already correct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 of 51 fields wrong (original prompt), e.g. a total</a:t>
                      </a:r>
                    </a:p>
                  </a:txBody>
                  <a:tcPr marL="91440" marR="91440" marT="45720" marB="45720" anchor="ctr">
                    <a:lnL w="0">
                      <a:noFill/>
                    </a:lnL>
                    <a:lnR w="0">
                      <a:noFill/>
                    </a:lnR>
                    <a:lnT w="0">
                      <a:noFill/>
                    </a:lnT>
                    <a:lnB w="9525" cmpd="sng">
                      <a:solidFill>
                        <a:srgbClr val="BFBFBF"/>
                      </a:solidFill>
                    </a:lnB>
                    <a:noFill/>
                  </a:tcPr>
                </a:tc>
              </a:tr>
              <a:tr h="512064">
                <a:tc>
                  <a:txBody>
                    <a:bodyPr wrap="square"/>
                    <a:lstStyle/>
                    <a:p>
                      <a:pPr algn="l"/>
                      <a:r>
                        <a:rPr sz="1350" b="1" i="0">
                          <a:solidFill>
                            <a:srgbClr val="333D47"/>
                          </a:solidFill>
                          <a:latin typeface="Arial"/>
                          <a:ea typeface="Microsoft JhengHei"/>
                        </a:rPr>
                        <a:t>Time and running 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13.9 s, own compute, no API fee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350" b="0" i="0">
                          <a:solidFill>
                            <a:srgbClr val="333D47"/>
                          </a:solidFill>
                          <a:latin typeface="Arial"/>
                          <a:ea typeface="Microsoft JhengHei"/>
                        </a:rPr>
                        <a:t>6.2 s, Azure fees per receipt (to confirm)</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44068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The main question is not API price but who maintains the extraction logic as layouts change. Lower maintenance for AOAI is implied by this benchmark, not yet proven.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Manual Rules vs. AI Extraction: Pros and Cons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"Measured" = this benchmark; the rest is expected.</a:t>
            </a:r>
          </a:p>
        </p:txBody>
      </p:sp>
      <p:sp>
        <p:nvSpPr>
          <p:cNvPr id="12" name="Rectangle 11"/>
          <p:cNvSpPr/>
          <p:nvPr/>
        </p:nvSpPr>
        <p:spPr>
          <a:xfrm>
            <a:off x="35661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Manual extraction rules (PaddleOCR Light)</a:t>
            </a:r>
          </a:p>
        </p:txBody>
      </p:sp>
      <p:sp>
        <p:nvSpPr>
          <p:cNvPr id="13" name="TextBox 12"/>
          <p:cNvSpPr txBox="1"/>
          <p:nvPr/>
        </p:nvSpPr>
        <p:spPr>
          <a:xfrm>
            <a:off x="356616" y="2267712"/>
            <a:ext cx="5600700" cy="566928"/>
          </a:xfrm>
          <a:prstGeom prst="rect">
            <a:avLst/>
          </a:prstGeom>
          <a:noFill/>
        </p:spPr>
        <p:txBody>
          <a:bodyPr wrap="square" lIns="0" rIns="0" tIns="0" bIns="0" anchor="ctr"/>
          <a:lstStyle/>
          <a:p>
            <a:pPr marL="0" indent="0" algn="l">
              <a:spcAft>
                <a:spcPts val="0"/>
              </a:spcAft>
              <a:buNone/>
            </a:pPr>
            <a:r>
              <a:rPr sz="1300" b="1" i="0">
                <a:solidFill>
                  <a:srgbClr val="333D47"/>
                </a:solidFill>
                <a:latin typeface="Arial"/>
                <a:ea typeface="Microsoft JhengHei"/>
              </a:rPr>
              <a:t>New formats need manual rule updates, which can break working cases and add maintenance and testing.</a:t>
            </a:r>
          </a:p>
        </p:txBody>
      </p:sp>
      <p:sp>
        <p:nvSpPr>
          <p:cNvPr id="14" name="Rectangle 13"/>
          <p:cNvSpPr/>
          <p:nvPr/>
        </p:nvSpPr>
        <p:spPr>
          <a:xfrm>
            <a:off x="356616" y="2907792"/>
            <a:ext cx="5600700" cy="1225296"/>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0" i="0">
                <a:solidFill>
                  <a:srgbClr val="333D47"/>
                </a:solidFill>
                <a:latin typeface="Arial"/>
                <a:ea typeface="Microsoft JhengHei"/>
              </a:rPr>
              <a:t>Full control; transparent and predictable on formats the rules know.</a:t>
            </a:r>
          </a:p>
          <a:p>
            <a:pPr marL="182880" indent="-182880" algn="l">
              <a:spcAft>
                <a:spcPts val="300"/>
              </a:spcAft>
              <a:buFont typeface="Arial"/>
              <a:buChar char="•"/>
            </a:pPr>
            <a:r>
              <a:rPr sz="1300" b="0" i="0">
                <a:solidFill>
                  <a:srgbClr val="333D47"/>
                </a:solidFill>
                <a:latin typeface="Arial"/>
                <a:ea typeface="Microsoft JhengHei"/>
              </a:rPr>
              <a:t>No API fees: open-source OCR on our own compute.</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the OCR read the values; the misses were missing labels.</a:t>
            </a:r>
          </a:p>
        </p:txBody>
      </p:sp>
      <p:sp>
        <p:nvSpPr>
          <p:cNvPr id="15" name="Rectangle 14"/>
          <p:cNvSpPr/>
          <p:nvPr/>
        </p:nvSpPr>
        <p:spPr>
          <a:xfrm>
            <a:off x="356616" y="4206240"/>
            <a:ext cx="5600700" cy="1225296"/>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0" i="0">
                <a:solidFill>
                  <a:srgbClr val="333D47"/>
                </a:solidFill>
                <a:latin typeface="Arial"/>
                <a:ea typeface="Microsoft JhengHei"/>
              </a:rPr>
              <a:t>Each new format or language needs rule updates by hand.</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a rule change broke a receipt that was already correct.</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69 → 225 label phrases; no gain on unseen receipts.</a:t>
            </a:r>
          </a:p>
        </p:txBody>
      </p:sp>
      <p:sp>
        <p:nvSpPr>
          <p:cNvPr id="16" name="Rectangle 15"/>
          <p:cNvSpPr/>
          <p:nvPr/>
        </p:nvSpPr>
        <p:spPr>
          <a:xfrm>
            <a:off x="6231636" y="1783080"/>
            <a:ext cx="5600700" cy="411480"/>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AI extraction (Azure DI + AOAI)</a:t>
            </a:r>
          </a:p>
        </p:txBody>
      </p:sp>
      <p:sp>
        <p:nvSpPr>
          <p:cNvPr id="17" name="TextBox 16"/>
          <p:cNvSpPr txBox="1"/>
          <p:nvPr/>
        </p:nvSpPr>
        <p:spPr>
          <a:xfrm>
            <a:off x="6231636" y="2267712"/>
            <a:ext cx="5600700" cy="566928"/>
          </a:xfrm>
          <a:prstGeom prst="rect">
            <a:avLst/>
          </a:prstGeom>
          <a:noFill/>
        </p:spPr>
        <p:txBody>
          <a:bodyPr wrap="square" lIns="0" rIns="0" tIns="0" bIns="0" anchor="ctr"/>
          <a:lstStyle/>
          <a:p>
            <a:pPr marL="0" indent="0" algn="l">
              <a:spcAft>
                <a:spcPts val="0"/>
              </a:spcAft>
              <a:buNone/>
            </a:pPr>
            <a:r>
              <a:rPr sz="1300" b="1" i="0">
                <a:solidFill>
                  <a:srgbClr val="333D47"/>
                </a:solidFill>
                <a:latin typeface="Arial"/>
                <a:ea typeface="Microsoft JhengHei"/>
              </a:rPr>
              <a:t>Less rule maintenance expected: accuracy depends mainly on the AI model, OCR output and prompt.</a:t>
            </a:r>
          </a:p>
        </p:txBody>
      </p:sp>
      <p:sp>
        <p:nvSpPr>
          <p:cNvPr id="18" name="Rectangle 17"/>
          <p:cNvSpPr/>
          <p:nvPr/>
        </p:nvSpPr>
        <p:spPr>
          <a:xfrm>
            <a:off x="6231636" y="2907792"/>
            <a:ext cx="5600700" cy="1225296"/>
          </a:xfrm>
          <a:prstGeom prst="rect">
            <a:avLst/>
          </a:prstGeom>
          <a:solidFill>
            <a:srgbClr val="E6F2EA"/>
          </a:solidFill>
          <a:ln>
            <a:noFill/>
          </a:ln>
        </p:spPr>
        <p:txBody>
          <a:bodyPr rtlCol="0" anchor="t" wrap="square" lIns="164592" rIns="164592" tIns="109728" bIns="109728"/>
          <a:lstStyle/>
          <a:p>
            <a:pPr algn="l" marL="0" indent="0">
              <a:spcAft>
                <a:spcPts val="400"/>
              </a:spcAft>
              <a:buNone/>
            </a:pPr>
            <a:r>
              <a:rPr sz="1500" b="1" i="0">
                <a:solidFill>
                  <a:srgbClr val="1E7B4A"/>
                </a:solidFill>
                <a:latin typeface="Arial"/>
                <a:ea typeface="Microsoft JhengHei"/>
              </a:rPr>
              <a:t>Pros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88.2% with a prompt written before these receipts.</a:t>
            </a:r>
          </a:p>
          <a:p>
            <a:pPr marL="182880" indent="-182880" algn="l">
              <a:spcAft>
                <a:spcPts val="300"/>
              </a:spcAft>
              <a:buFont typeface="Arial"/>
              <a:buChar char="•"/>
            </a:pPr>
            <a:r>
              <a:rPr sz="1300" b="0" i="0">
                <a:solidFill>
                  <a:srgbClr val="333D47"/>
                </a:solidFill>
                <a:latin typeface="Arial"/>
                <a:ea typeface="Microsoft JhengHei"/>
              </a:rPr>
              <a:t>Reads varied formats using existing model capabilities.</a:t>
            </a:r>
          </a:p>
          <a:p>
            <a:pPr marL="182880" indent="-182880" algn="l">
              <a:spcAft>
                <a:spcPts val="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faster, 6.2 s vs 13.9 s per receipt.</a:t>
            </a:r>
          </a:p>
        </p:txBody>
      </p:sp>
      <p:sp>
        <p:nvSpPr>
          <p:cNvPr id="19" name="Rectangle 18"/>
          <p:cNvSpPr/>
          <p:nvPr/>
        </p:nvSpPr>
        <p:spPr>
          <a:xfrm>
            <a:off x="6231636" y="4206240"/>
            <a:ext cx="5600700" cy="1225296"/>
          </a:xfrm>
          <a:prstGeom prst="rect">
            <a:avLst/>
          </a:prstGeom>
          <a:solidFill>
            <a:srgbClr val="FBE7EC"/>
          </a:solidFill>
          <a:ln>
            <a:noFill/>
          </a:ln>
        </p:spPr>
        <p:txBody>
          <a:bodyPr rtlCol="0" anchor="t" wrap="square" lIns="164592" rIns="164592" tIns="109728" bIns="109728"/>
          <a:lstStyle/>
          <a:p>
            <a:pPr algn="l" marL="0" indent="0">
              <a:spcAft>
                <a:spcPts val="400"/>
              </a:spcAft>
              <a:buNone/>
            </a:pPr>
            <a:r>
              <a:rPr sz="1500" b="1" i="0">
                <a:solidFill>
                  <a:srgbClr val="D31145"/>
                </a:solidFill>
                <a:latin typeface="Arial"/>
                <a:ea typeface="Microsoft JhengHei"/>
              </a:rPr>
              <a:t>Cons</a:t>
            </a:r>
          </a:p>
          <a:p>
            <a:pPr marL="182880" indent="-182880" algn="l">
              <a:spcAft>
                <a:spcPts val="300"/>
              </a:spcAft>
              <a:buFont typeface="Arial"/>
              <a:buChar char="•"/>
            </a:pPr>
            <a:r>
              <a:rPr sz="1300" b="1" i="0">
                <a:solidFill>
                  <a:srgbClr val="333D47"/>
                </a:solidFill>
                <a:latin typeface="Arial"/>
                <a:ea typeface="Microsoft JhengHei"/>
              </a:rPr>
              <a:t>Measured: </a:t>
            </a:r>
            <a:r>
              <a:rPr sz="1300" b="0" i="0">
                <a:solidFill>
                  <a:srgbClr val="333D47"/>
                </a:solidFill>
                <a:latin typeface="Arial"/>
                <a:ea typeface="Microsoft JhengHei"/>
              </a:rPr>
              <a:t>still wrong on 6 of 51 fields, e.g. a total.</a:t>
            </a:r>
          </a:p>
          <a:p>
            <a:pPr marL="182880" indent="-182880" algn="l">
              <a:spcAft>
                <a:spcPts val="300"/>
              </a:spcAft>
              <a:buFont typeface="Arial"/>
              <a:buChar char="•"/>
            </a:pPr>
            <a:r>
              <a:rPr sz="1300" b="0" i="0">
                <a:solidFill>
                  <a:srgbClr val="333D47"/>
                </a:solidFill>
                <a:latin typeface="Arial"/>
                <a:ea typeface="Microsoft JhengHei"/>
              </a:rPr>
              <a:t>Less direct control: results depend on model, OCR, prompt.</a:t>
            </a:r>
          </a:p>
          <a:p>
            <a:pPr marL="182880" indent="-182880" algn="l">
              <a:spcAft>
                <a:spcPts val="0"/>
              </a:spcAft>
              <a:buFont typeface="Arial"/>
              <a:buChar char="•"/>
            </a:pPr>
            <a:r>
              <a:rPr sz="1300" b="0" i="0">
                <a:solidFill>
                  <a:srgbClr val="333D47"/>
                </a:solidFill>
                <a:latin typeface="Arial"/>
                <a:ea typeface="Microsoft JhengHei"/>
              </a:rPr>
              <a:t>API fees; needs validation, monitoring and prompt upkeep.</a:t>
            </a:r>
          </a:p>
        </p:txBody>
      </p:sp>
      <p:sp>
        <p:nvSpPr>
          <p:cNvPr id="20" name="Rectangle 19"/>
          <p:cNvSpPr/>
          <p:nvPr/>
        </p:nvSpPr>
        <p:spPr>
          <a:xfrm>
            <a:off x="356616" y="5486400"/>
            <a:ext cx="10607040" cy="411480"/>
          </a:xfrm>
          <a:prstGeom prst="rect">
            <a:avLst/>
          </a:prstGeom>
          <a:solidFill>
            <a:srgbClr val="F2F2F2"/>
          </a:solidFill>
          <a:ln>
            <a:noFill/>
          </a:ln>
        </p:spPr>
        <p:txBody>
          <a:bodyPr rtlCol="0" anchor="ctr" wrap="square" lIns="164592" rIns="164592" tIns="109728" bIns="109728"/>
          <a:lstStyle/>
          <a:p>
            <a:pPr algn="l" marL="0" indent="0">
              <a:spcAft>
                <a:spcPts val="0"/>
              </a:spcAft>
              <a:buNone/>
            </a:pPr>
            <a:r>
              <a:rPr sz="1400" b="1" i="0">
                <a:solidFill>
                  <a:srgbClr val="333D47"/>
                </a:solidFill>
                <a:latin typeface="Arial"/>
                <a:ea typeface="Microsoft JhengHei"/>
              </a:rPr>
              <a:t>Neither is maintenance free. </a:t>
            </a:r>
            <a:r>
              <a:rPr sz="1400" b="0" i="0">
                <a:solidFill>
                  <a:srgbClr val="333D47"/>
                </a:solidFill>
                <a:latin typeface="Arial"/>
                <a:ea typeface="Microsoft JhengHei"/>
              </a:rPr>
              <a:t>The difference is where the effort sits: rules for every layout, or one prompt plus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Conclusion and Next Steps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real trade-off: maintain extraction rules ourselves, or let AI replace that layer.</a:t>
            </a:r>
          </a:p>
        </p:txBody>
      </p:sp>
      <p:sp>
        <p:nvSpPr>
          <p:cNvPr id="12" name="Rectangle 11"/>
          <p:cNvSpPr/>
          <p:nvPr/>
        </p:nvSpPr>
        <p:spPr>
          <a:xfrm>
            <a:off x="356616" y="1783080"/>
            <a:ext cx="11475720" cy="1600200"/>
          </a:xfrm>
          <a:prstGeom prst="rect">
            <a:avLst/>
          </a:prstGeom>
          <a:solidFill>
            <a:srgbClr val="F2F2F2"/>
          </a:solidFill>
          <a:ln>
            <a:noFill/>
          </a:ln>
        </p:spPr>
        <p:txBody>
          <a:bodyPr rtlCol="0" anchor="t" wrap="square" lIns="274320" rIns="274320" tIns="109728" bIns="109728"/>
          <a:lstStyle/>
          <a:p>
            <a:pPr algn="l" marL="182880" indent="-182880">
              <a:spcAft>
                <a:spcPts val="600"/>
              </a:spcAft>
              <a:buFont typeface="Arial"/>
              <a:buChar char="•"/>
            </a:pPr>
            <a:r>
              <a:rPr sz="1600" b="0" i="0">
                <a:solidFill>
                  <a:srgbClr val="333D47"/>
                </a:solidFill>
                <a:latin typeface="Arial"/>
                <a:ea typeface="Microsoft JhengHei"/>
              </a:rPr>
              <a:t>Azure DI + AOAI reached 88.2% with a prompt written before these receipts. A tuned prompt reached 96.1% on the same receipts: a development result, not validated.</a:t>
            </a:r>
          </a:p>
          <a:p>
            <a:pPr marL="182880" indent="-182880" algn="l">
              <a:spcAft>
                <a:spcPts val="600"/>
              </a:spcAft>
              <a:buFont typeface="Arial"/>
              <a:buChar char="•"/>
            </a:pPr>
            <a:r>
              <a:rPr sz="1600" b="0" i="0">
                <a:solidFill>
                  <a:srgbClr val="333D47"/>
                </a:solidFill>
                <a:latin typeface="Arial"/>
                <a:ea typeface="Microsoft JhengHei"/>
              </a:rPr>
              <a:t>The rules worked only after hand-tuning for these layouts, and the tuning did not help on unseen receipts.</a:t>
            </a:r>
          </a:p>
          <a:p>
            <a:pPr marL="182880" indent="-182880" algn="l">
              <a:spcAft>
                <a:spcPts val="0"/>
              </a:spcAft>
              <a:buFont typeface="Arial"/>
              <a:buChar char="•"/>
            </a:pPr>
            <a:r>
              <a:rPr sz="1600" b="1" i="0">
                <a:solidFill>
                  <a:srgbClr val="333D47"/>
                </a:solidFill>
                <a:latin typeface="Arial"/>
                <a:ea typeface="Microsoft JhengHei"/>
              </a:rPr>
              <a:t>So the choice is whether to keep writing and maintaining extraction rules, or to use AI for that layer.</a:t>
            </a:r>
          </a:p>
        </p:txBody>
      </p:sp>
      <p:sp>
        <p:nvSpPr>
          <p:cNvPr id="13" name="Rectangle 12"/>
          <p:cNvSpPr/>
          <p:nvPr/>
        </p:nvSpPr>
        <p:spPr>
          <a:xfrm>
            <a:off x="35661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1. Freeze both</a:t>
            </a:r>
          </a:p>
          <a:p>
            <a:pPr marL="0" indent="0" algn="l">
              <a:spcAft>
                <a:spcPts val="0"/>
              </a:spcAft>
              <a:buNone/>
            </a:pPr>
            <a:r>
              <a:rPr sz="1400" b="0" i="0">
                <a:solidFill>
                  <a:srgbClr val="333D47"/>
                </a:solidFill>
                <a:latin typeface="Arial"/>
                <a:ea typeface="Microsoft JhengHei"/>
              </a:rPr>
              <a:t>Lock the improved rules and AOAI prompt v2.</a:t>
            </a:r>
          </a:p>
        </p:txBody>
      </p:sp>
      <p:sp>
        <p:nvSpPr>
          <p:cNvPr id="14" name="Rectangle 13"/>
          <p:cNvSpPr/>
          <p:nvPr/>
        </p:nvSpPr>
        <p:spPr>
          <a:xfrm>
            <a:off x="427329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2. Test on unseen receipts</a:t>
            </a:r>
          </a:p>
          <a:p>
            <a:pPr marL="0" indent="0" algn="l">
              <a:spcAft>
                <a:spcPts val="0"/>
              </a:spcAft>
              <a:buNone/>
            </a:pPr>
            <a:r>
              <a:rPr sz="1400" b="0" i="0">
                <a:solidFill>
                  <a:srgbClr val="333D47"/>
                </a:solidFill>
                <a:latin typeface="Arial"/>
                <a:ea typeface="Microsoft JhengHei"/>
              </a:rPr>
              <a:t>30+ real, anonymised receipts. Measure accuracy and count the rule changes needed.</a:t>
            </a:r>
          </a:p>
        </p:txBody>
      </p:sp>
      <p:sp>
        <p:nvSpPr>
          <p:cNvPr id="15" name="Rectangle 14"/>
          <p:cNvSpPr/>
          <p:nvPr/>
        </p:nvSpPr>
        <p:spPr>
          <a:xfrm>
            <a:off x="8189976" y="3611880"/>
            <a:ext cx="3642360" cy="1280160"/>
          </a:xfrm>
          <a:prstGeom prst="rect">
            <a:avLst/>
          </a:prstGeom>
          <a:solidFill>
            <a:srgbClr val="F2F2F2"/>
          </a:solidFill>
          <a:ln>
            <a:noFill/>
          </a:ln>
        </p:spPr>
        <p:txBody>
          <a:bodyPr rtlCol="0" anchor="t" wrap="square" lIns="201168" rIns="201168" tIns="109728" bIns="109728"/>
          <a:lstStyle/>
          <a:p>
            <a:pPr algn="l" marL="0" indent="0">
              <a:spcAft>
                <a:spcPts val="600"/>
              </a:spcAft>
              <a:buNone/>
            </a:pPr>
            <a:r>
              <a:rPr sz="1600" b="1" i="0">
                <a:solidFill>
                  <a:srgbClr val="D31145"/>
                </a:solidFill>
                <a:latin typeface="Arial"/>
                <a:ea typeface="Microsoft JhengHei"/>
              </a:rPr>
              <a:t>3. Then compare cost</a:t>
            </a:r>
          </a:p>
          <a:p>
            <a:pPr marL="0" indent="0" algn="l">
              <a:spcAft>
                <a:spcPts val="0"/>
              </a:spcAft>
              <a:buNone/>
            </a:pPr>
            <a:r>
              <a:rPr sz="1400" b="0" i="0">
                <a:solidFill>
                  <a:srgbClr val="333D47"/>
                </a:solidFill>
                <a:latin typeface="Arial"/>
                <a:ea typeface="Microsoft JhengHei"/>
              </a:rPr>
              <a:t>Compute, Document Intelligence pages and gpt-5-mini tokens.</a:t>
            </a:r>
          </a:p>
        </p:txBody>
      </p:sp>
      <p:sp>
        <p:nvSpPr>
          <p:cNvPr id="16" name="TextBox 15"/>
          <p:cNvSpPr txBox="1"/>
          <p:nvPr/>
        </p:nvSpPr>
        <p:spPr>
          <a:xfrm>
            <a:off x="356616" y="512064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Limitation: 9 receipts, mostly printed mock receipts; the rules and prompt v2 were tuned on them. AOAI still makes mistakes and has not been tested on a large unseen set.</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