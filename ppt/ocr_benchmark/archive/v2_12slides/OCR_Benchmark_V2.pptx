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Accuracy</c:v>
                </c:pt>
              </c:strCache>
            </c:strRef>
          </c:tx>
          <c:dPt>
            <c:idx val="0"/>
            <c:spPr>
              <a:solidFill>
                <a:srgbClr val="A6ABB0"/>
              </a:solidFill>
              <a:ln>
                <a:noFill/>
              </a:ln>
            </c:spPr>
          </c:dPt>
          <c:dPt>
            <c:idx val="1"/>
            <c:spPr>
              <a:solidFill>
                <a:srgbClr val="A6ABB0"/>
              </a:solidFill>
              <a:ln>
                <a:noFill/>
              </a:ln>
            </c:spPr>
          </c:dPt>
          <c:dPt>
            <c:idx val="2"/>
            <c:spPr>
              <a:solidFill>
                <a:srgbClr val="A6ABB0"/>
              </a:solidFill>
              <a:ln>
                <a:noFill/>
              </a:ln>
            </c:spPr>
          </c:dPt>
          <c:dPt>
            <c:idx val="3"/>
            <c:spPr>
              <a:solidFill>
                <a:srgbClr val="D31145"/>
              </a:solidFill>
              <a:ln>
                <a:noFill/>
              </a:ln>
            </c:spPr>
          </c:dPt>
          <c:cat>
            <c:strRef>
              <c:f>Sheet1!$A$2:$A$5</c:f>
              <c:strCache>
                <c:ptCount val="4"/>
                <c:pt idx="0">
                  <c:v>PaddleOCR Light
19/51</c:v>
                </c:pt>
                <c:pt idx="1">
                  <c:v>PaddleOCR Heavy
15/51</c:v>
                </c:pt>
                <c:pt idx="2">
                  <c:v>Azure DI
21/51</c:v>
                </c:pt>
                <c:pt idx="3">
                  <c:v>Azure DI + AOAI
45/51</c:v>
                </c:pt>
              </c:strCache>
            </c:strRef>
          </c:cat>
          <c:val>
            <c:numRef>
              <c:f>Sheet1!$B$2:$B$5</c:f>
              <c:numCache>
                <c:formatCode>General</c:formatCode>
                <c:ptCount val="4"/>
                <c:pt idx="0">
                  <c:v>0.373</c:v>
                </c:pt>
                <c:pt idx="1">
                  <c:v>0.294</c:v>
                </c:pt>
                <c:pt idx="2">
                  <c:v>0.41200000000000003</c:v>
                </c:pt>
                <c:pt idx="3">
                  <c:v>0.882</c:v>
                </c:pt>
              </c:numCache>
            </c:numRef>
          </c:val>
        </c:ser>
        <c:dLbls>
          <c:numFmt formatCode="0.0%" sourceLinked="0"/>
          <c:txPr>
            <a:bodyPr/>
            <a:lstStyle/>
            <a:p>
              <a:pPr>
                <a:defRPr sz="1300" b="1">
                  <a:solidFill>
                    <a:srgbClr val="333D47"/>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A6ABB0"/>
            </a:solidFill>
          </a:ln>
        </c:spPr>
        <c:txPr>
          <a:bodyPr/>
          <a:lstStyle/>
          <a:p>
            <a:pPr>
              <a:defRPr sz="1200">
                <a:latin typeface="Arial"/>
              </a:defRPr>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Original rules</c:v>
                </c:pt>
              </c:strCache>
            </c:strRef>
          </c:tx>
          <c:spPr>
            <a:solidFill>
              <a:srgbClr val="A6ABB0"/>
            </a:solidFill>
          </c:spPr>
          <c:dPt>
            <c:idx val="0"/>
            <c:spPr>
              <a:solidFill>
                <a:srgbClr val="A6ABB0"/>
              </a:solidFill>
              <a:ln>
                <a:noFill/>
              </a:ln>
            </c:spPr>
          </c:dPt>
          <c:dPt>
            <c:idx val="1"/>
            <c:spPr>
              <a:solidFill>
                <a:srgbClr val="A6ABB0"/>
              </a:solidFill>
              <a:ln>
                <a:noFill/>
              </a:ln>
            </c:spPr>
          </c:dPt>
          <c:dPt>
            <c:idx val="2"/>
            <c:spPr>
              <a:solidFill>
                <a:srgbClr val="A6ABB0"/>
              </a:solidFill>
              <a:ln>
                <a:noFill/>
              </a:ln>
            </c:spPr>
          </c:dPt>
          <c:cat>
            <c:strRef>
              <c:f>Sheet1!$A$2:$A$5</c:f>
              <c:strCache>
                <c:ptCount val="4"/>
                <c:pt idx="0">
                  <c:v>PaddleOCR Light</c:v>
                </c:pt>
                <c:pt idx="1">
                  <c:v>PaddleOCR Heavy</c:v>
                </c:pt>
                <c:pt idx="2">
                  <c:v>Azure DI</c:v>
                </c:pt>
                <c:pt idx="3">
                  <c:v>Azure DI + AOAI</c:v>
                </c:pt>
              </c:strCache>
            </c:strRef>
          </c:cat>
          <c:val>
            <c:numRef>
              <c:f>Sheet1!$B$2:$B$5</c:f>
              <c:numCache>
                <c:formatCode>General</c:formatCode>
                <c:ptCount val="4"/>
                <c:pt idx="0">
                  <c:v>0.373</c:v>
                </c:pt>
                <c:pt idx="1">
                  <c:v>0.294</c:v>
                </c:pt>
                <c:pt idx="2">
                  <c:v>0.41200000000000003</c:v>
                </c:pt>
              </c:numCache>
            </c:numRef>
          </c:val>
        </c:ser>
        <c:ser>
          <c:idx val="1"/>
          <c:order val="1"/>
          <c:tx>
            <c:strRef>
              <c:f>Sheet1!$C$1</c:f>
              <c:strCache>
                <c:ptCount val="1"/>
                <c:pt idx="0">
                  <c:v>Improved rules (tuned on these receipts)</c:v>
                </c:pt>
              </c:strCache>
            </c:strRef>
          </c:tx>
          <c:spPr>
            <a:solidFill>
              <a:srgbClr val="D31145"/>
            </a:solidFill>
          </c:spPr>
          <c:dPt>
            <c:idx val="0"/>
            <c:spPr>
              <a:solidFill>
                <a:srgbClr val="D31145"/>
              </a:solidFill>
              <a:ln>
                <a:noFill/>
              </a:ln>
            </c:spPr>
          </c:dPt>
          <c:dPt>
            <c:idx val="1"/>
            <c:spPr>
              <a:solidFill>
                <a:srgbClr val="D31145"/>
              </a:solidFill>
              <a:ln>
                <a:noFill/>
              </a:ln>
            </c:spPr>
          </c:dPt>
          <c:dPt>
            <c:idx val="2"/>
            <c:spPr>
              <a:solidFill>
                <a:srgbClr val="D31145"/>
              </a:solidFill>
              <a:ln>
                <a:noFill/>
              </a:ln>
            </c:spPr>
          </c:dPt>
          <c:cat>
            <c:strRef>
              <c:f>Sheet1!$A$2:$A$5</c:f>
              <c:strCache>
                <c:ptCount val="4"/>
                <c:pt idx="0">
                  <c:v>PaddleOCR Light</c:v>
                </c:pt>
                <c:pt idx="1">
                  <c:v>PaddleOCR Heavy</c:v>
                </c:pt>
                <c:pt idx="2">
                  <c:v>Azure DI</c:v>
                </c:pt>
                <c:pt idx="3">
                  <c:v>Azure DI + AOAI</c:v>
                </c:pt>
              </c:strCache>
            </c:strRef>
          </c:cat>
          <c:val>
            <c:numRef>
              <c:f>Sheet1!$C$2:$C$5</c:f>
              <c:numCache>
                <c:formatCode>General</c:formatCode>
                <c:ptCount val="4"/>
                <c:pt idx="0">
                  <c:v>0.882</c:v>
                </c:pt>
                <c:pt idx="1">
                  <c:v>0.647</c:v>
                </c:pt>
                <c:pt idx="2">
                  <c:v>0.863</c:v>
                </c:pt>
              </c:numCache>
            </c:numRef>
          </c:val>
        </c:ser>
        <c:ser>
          <c:idx val="2"/>
          <c:order val="2"/>
          <c:tx>
            <c:strRef>
              <c:f>Sheet1!$D$1</c:f>
              <c:strCache>
                <c:ptCount val="1"/>
                <c:pt idx="0">
                  <c:v>AOAI (unchanged prompt)</c:v>
                </c:pt>
              </c:strCache>
            </c:strRef>
          </c:tx>
          <c:spPr>
            <a:solidFill>
              <a:srgbClr val="333D47"/>
            </a:solidFill>
          </c:spPr>
          <c:dPt>
            <c:idx val="3"/>
            <c:spPr>
              <a:solidFill>
                <a:srgbClr val="333D47"/>
              </a:solidFill>
              <a:ln>
                <a:noFill/>
              </a:ln>
            </c:spPr>
          </c:dPt>
          <c:cat>
            <c:strRef>
              <c:f>Sheet1!$A$2:$A$5</c:f>
              <c:strCache>
                <c:ptCount val="4"/>
                <c:pt idx="0">
                  <c:v>PaddleOCR Light</c:v>
                </c:pt>
                <c:pt idx="1">
                  <c:v>PaddleOCR Heavy</c:v>
                </c:pt>
                <c:pt idx="2">
                  <c:v>Azure DI</c:v>
                </c:pt>
                <c:pt idx="3">
                  <c:v>Azure DI + AOAI</c:v>
                </c:pt>
              </c:strCache>
            </c:strRef>
          </c:cat>
          <c:val>
            <c:numRef>
              <c:f>Sheet1!$D$2:$D$5</c:f>
              <c:numCache>
                <c:formatCode>General</c:formatCode>
                <c:ptCount val="4"/>
                <c:pt idx="3">
                  <c:v>0.882</c:v>
                </c:pt>
              </c:numCache>
            </c:numRef>
          </c:val>
        </c:ser>
        <c:dLbls>
          <c:numFmt formatCode="0.0%" sourceLinked="0"/>
          <c:txPr>
            <a:bodyPr/>
            <a:lstStyle/>
            <a:p>
              <a:pPr>
                <a:defRPr sz="1300" b="1">
                  <a:solidFill>
                    <a:srgbClr val="333D47"/>
                  </a:solidFill>
                  <a:latin typeface="Aria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A6ABB0"/>
            </a:solidFill>
          </a:ln>
        </c:spPr>
        <c:txPr>
          <a:bodyPr/>
          <a:lstStyle/>
          <a:p>
            <a:pPr>
              <a:defRPr sz="1200">
                <a:latin typeface="Arial"/>
              </a:defRPr>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crossAx val="-2068027336"/>
        <c:crosses val="autoZero"/>
      </c:valAx>
    </c:plotArea>
    <c:legend>
      <c:legendPos val="t"/>
      <c:overlay val="0"/>
      <c:txPr>
        <a:bodyPr/>
        <a:lstStyle/>
        <a:p>
          <a:pPr>
            <a:defRPr sz="1200"/>
          </a:pPr>
        </a:p>
      </c:txPr>
    </c:legend>
    <c:dispBlanksAs val="gap"/>
  </c:chart>
  <c:txPr>
    <a:bodyPr/>
    <a:lstStyle/>
    <a:p>
      <a:pPr>
        <a:defRPr sz="1200">
          <a:solidFill>
            <a:srgbClr val="333D47"/>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Seconds</c:v>
                </c:pt>
              </c:strCache>
            </c:strRef>
          </c:tx>
          <c:dPt>
            <c:idx val="0"/>
            <c:spPr>
              <a:solidFill>
                <a:srgbClr val="D31145"/>
              </a:solidFill>
              <a:ln>
                <a:noFill/>
              </a:ln>
            </c:spPr>
          </c:dPt>
          <c:dPt>
            <c:idx val="1"/>
            <c:spPr>
              <a:solidFill>
                <a:srgbClr val="A6ABB0"/>
              </a:solidFill>
              <a:ln>
                <a:noFill/>
              </a:ln>
            </c:spPr>
          </c:dPt>
          <c:dPt>
            <c:idx val="2"/>
            <c:spPr>
              <a:solidFill>
                <a:srgbClr val="D31145"/>
              </a:solidFill>
              <a:ln>
                <a:noFill/>
              </a:ln>
            </c:spPr>
          </c:dPt>
          <c:dPt>
            <c:idx val="3"/>
            <c:spPr>
              <a:solidFill>
                <a:srgbClr val="D31145"/>
              </a:solidFill>
              <a:ln>
                <a:noFill/>
              </a:ln>
            </c:spPr>
          </c:dPt>
          <c:cat>
            <c:strRef>
              <c:f>Sheet1!$A$2:$A$5</c:f>
              <c:strCache>
                <c:ptCount val="4"/>
                <c:pt idx="0">
                  <c:v>PaddleOCR Light</c:v>
                </c:pt>
                <c:pt idx="1">
                  <c:v>PaddleOCR Heavy</c:v>
                </c:pt>
                <c:pt idx="2">
                  <c:v>Azure DI</c:v>
                </c:pt>
                <c:pt idx="3">
                  <c:v>Azure DI + AOAI</c:v>
                </c:pt>
              </c:strCache>
            </c:strRef>
          </c:cat>
          <c:val>
            <c:numRef>
              <c:f>Sheet1!$B$2:$B$5</c:f>
              <c:numCache>
                <c:formatCode>General</c:formatCode>
                <c:ptCount val="4"/>
                <c:pt idx="0">
                  <c:v>13.9</c:v>
                </c:pt>
                <c:pt idx="1">
                  <c:v>53.3</c:v>
                </c:pt>
                <c:pt idx="2">
                  <c:v>3.8</c:v>
                </c:pt>
                <c:pt idx="3">
                  <c:v>6.2</c:v>
                </c:pt>
              </c:numCache>
            </c:numRef>
          </c:val>
        </c:ser>
        <c:dLbls>
          <c:numFmt formatCode="0.0&quot; s&quot;" sourceLinked="0"/>
          <c:txPr>
            <a:bodyPr/>
            <a:lstStyle/>
            <a:p>
              <a:pPr>
                <a:defRPr sz="1300" b="1">
                  <a:solidFill>
                    <a:srgbClr val="333D47"/>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A6ABB0"/>
            </a:solidFill>
          </a:ln>
        </c:spPr>
        <c:txPr>
          <a:bodyPr/>
          <a:lstStyle/>
          <a:p>
            <a:pPr>
              <a:defRPr sz="1200">
                <a:latin typeface="Arial"/>
              </a:defRPr>
            </a:pPr>
          </a:p>
        </c:txPr>
        <c:crossAx val="-2113994440"/>
        <c:crosses val="autoZero"/>
        <c:auto val="1"/>
        <c:lblAlgn val="ctr"/>
        <c:lblOffset val="100"/>
        <c:noMultiLvlLbl val="0"/>
      </c:catAx>
      <c:valAx>
        <c:axId val="-2113994440"/>
        <c:scaling>
          <c:max val="63.9036"/>
          <c:min val="0.0"/>
        </c:scaling>
        <c:delete/>
        <c:axPos val="b"/>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decide whether Azure Document Intelligence plus Azure OpenAI is worth its cost and complexity compared with OCR plus fixed rules. All figures come from the Version 2 benchmark results.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focus on six fields a claim needs. The question is not only accuracy but also cost, speed, reliability and how much ongoing effort each option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51 fields that exist on them (fields not printed on a receipt are excluded). Three OCR engines feed the same fixed rules; the fourth approach replaces the rules with Azure OpenAI. The improved rules were written after examining these receipts, so their scores are tuned results.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Shown: three of the nine benchmark images. The full set: GP clinic, specialist, hospital invoice, Chinese medicine, dental, physiotherapy, medical centre (new, photographed); a vet invoice and a New Zealand pharmacy receipt (from Version 1). Images: python/receipt_ocr_benchmark/data/receipts_v2/printable_images.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fields that exist on the receipts. The OCR engines read most of the text correctly; the original fixed rules then failed to pick the fields on new, bilingual and Chinese layouts (see FINAL_ANALYSIS.md).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Receipt8 (medical centre). Labels such as 'Patient 病人' put the value in a separate block. The original rules took the Chinese label '病人' as the patient's name and missed other fields; Azure DI with the original rules also returned '主診醫生' as the doctor. The improved rules strip label translations; AOAI read the text correctly with its unchanged prompt. Values from detail.csv, checked against the extraction JSON.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Receipt4 (Traditional Chinese medicine). Every value was read correctly by the OCR, but the original rules only knew English labels. The improved rules add Traditional Chinese labels (病人姓名, 主診中醫師, 註冊中醫編號, 診症日期, 合計) and Chinese dates. AOAI's date is shown as it returned it (2026年6月9日); the scorer reads it as the same date.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vs improved rules on the same OCR text; Azure DI + AOAI is unchanged. The improved rules were written after examining these nine receipts, so their scores are tuned results, not accuracy on unseen receipts. The AOAI prompt was not changed.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Receipt9 (vet invoice carried over from Version 1). The improved rules now reach the 'Receipt #' column in the payments table (380048) instead of the invoice number; the ground truth uses the invoice number (an open policy question). The OCR glued a stray 'F' to 'FClinician' and 'FPatient', so no rule recognises those labels. AOAI chose the sub total 1361.50 instead of the total 1361.00, and both clinicians are expected by the ground truth. Separately, PaddleOCR Heavy detected only 3 and 0 text blocks on receipts 2 and 5, so no rule could help there.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seconds per receipt. PaddleOCR = CPU on Azure ML compute; Azure = API call time including network. Rule extraction adds 4–10 ms (original rules 10.2 ms, improved 4.1 ms on average). AOAI tokens are averages over the 9 receipts. Prices (compute, Document Intelligence pages, gpt-5-mini tokens) are not yet confirmed.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from FINAL_ANALYSIS.md and RULES_COMPARISON.md in python/receipt_ocr_benchmark/results/v2.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receipts (51 fields) are not enough for a production decision, and the improved rules were tuned on them. A fair comparison freezes both candidates first, then tests on unseen, representative receipts and also counts the effort to keep rules working on new layouts. Source: python/receipt_ocr_benchmark/results/v2/scores_improved (detail.csv, summary.csv)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5760720" cy="822960"/>
          </a:xfrm>
        </p:spPr>
        <p:txBody>
          <a:bodyPr/>
          <a:lstStyle/>
          <a:p>
            <a:r>
              <a:rPr>
                <a:latin typeface="Arial"/>
                <a:ea typeface="Microsoft JhengHei"/>
              </a:rPr>
              <a:t>Traditional OCR with rules vs Azure AI extraction</a:t>
            </a:r>
          </a:p>
          <a:p>
            <a:r>
              <a:rPr>
                <a:latin typeface="Arial"/>
                <a:ea typeface="Microsoft JhengHei"/>
              </a:rPr>
              <a:t>Version 2 results · 9 receipts · 51 scored fields</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Business Problem and Objective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Every medical claim needs the same few fields from a receipt; we tested how well that can be automated.</a:t>
            </a:r>
          </a:p>
        </p:txBody>
      </p:sp>
      <p:sp>
        <p:nvSpPr>
          <p:cNvPr id="12" name="Rectangle 11"/>
          <p:cNvSpPr/>
          <p:nvPr/>
        </p:nvSpPr>
        <p:spPr>
          <a:xfrm>
            <a:off x="356616" y="1828800"/>
            <a:ext cx="5120640" cy="2926080"/>
          </a:xfrm>
          <a:prstGeom prst="rect">
            <a:avLst/>
          </a:prstGeom>
          <a:solidFill>
            <a:srgbClr val="F2F2F2"/>
          </a:solidFill>
          <a:ln>
            <a:noFill/>
          </a:ln>
        </p:spPr>
        <p:txBody>
          <a:bodyPr rtlCol="0" anchor="t" wrap="square" lIns="256032" rIns="256032" tIns="109728" bIns="109728"/>
          <a:lstStyle/>
          <a:p>
            <a:pPr algn="l" marL="0" indent="0">
              <a:spcAft>
                <a:spcPts val="1000"/>
              </a:spcAft>
              <a:buNone/>
            </a:pPr>
            <a:r>
              <a:rPr sz="1100" b="1" i="0">
                <a:solidFill>
                  <a:srgbClr val="5F6770"/>
                </a:solidFill>
                <a:latin typeface="Arial"/>
                <a:ea typeface="Microsoft JhengHei"/>
              </a:rPr>
              <a:t>THE QUESTION</a:t>
            </a:r>
          </a:p>
          <a:p>
            <a:pPr marL="0" indent="0" algn="l">
              <a:spcAft>
                <a:spcPts val="1400"/>
              </a:spcAft>
              <a:buNone/>
            </a:pPr>
            <a:r>
              <a:rPr sz="2100" b="1" i="0">
                <a:solidFill>
                  <a:srgbClr val="D31145"/>
                </a:solidFill>
                <a:latin typeface="Arial"/>
                <a:ea typeface="Microsoft JhengHei"/>
              </a:rPr>
              <a:t>Is Azure Document Intelligence + Azure OpenAI worth its extra cost and complexity?</a:t>
            </a:r>
          </a:p>
          <a:p>
            <a:pPr marL="0" indent="0" algn="l">
              <a:spcAft>
                <a:spcPts val="0"/>
              </a:spcAft>
              <a:buNone/>
            </a:pPr>
            <a:r>
              <a:rPr sz="1400" b="0" i="0">
                <a:solidFill>
                  <a:srgbClr val="333D47"/>
                </a:solidFill>
                <a:latin typeface="Arial"/>
                <a:ea typeface="Microsoft JhengHei"/>
              </a:rPr>
              <a:t>Compared with open-source OCR plus fixed extraction rules that run on our own compute.</a:t>
            </a:r>
          </a:p>
        </p:txBody>
      </p:sp>
      <p:sp>
        <p:nvSpPr>
          <p:cNvPr id="13" name="Rectangle 12"/>
          <p:cNvSpPr/>
          <p:nvPr/>
        </p:nvSpPr>
        <p:spPr>
          <a:xfrm>
            <a:off x="5751576" y="1828800"/>
            <a:ext cx="2743200" cy="2926080"/>
          </a:xfrm>
          <a:prstGeom prst="rect">
            <a:avLst/>
          </a:prstGeom>
          <a:solidFill>
            <a:srgbClr val="F2F2F2"/>
          </a:solidFill>
          <a:ln>
            <a:noFill/>
          </a:ln>
        </p:spPr>
        <p:txBody>
          <a:bodyPr rtlCol="0" anchor="t" wrap="square" lIns="256032" rIns="256032" tIns="109728" bIns="109728"/>
          <a:lstStyle/>
          <a:p>
            <a:pPr algn="l" marL="0" indent="0">
              <a:spcAft>
                <a:spcPts val="1000"/>
              </a:spcAft>
              <a:buNone/>
            </a:pPr>
            <a:r>
              <a:rPr sz="1100" b="1" i="0">
                <a:solidFill>
                  <a:srgbClr val="5F6770"/>
                </a:solidFill>
                <a:latin typeface="Arial"/>
                <a:ea typeface="Microsoft JhengHei"/>
              </a:rPr>
              <a:t>SIX FIELDS PER RECEIPT</a:t>
            </a:r>
          </a:p>
          <a:p>
            <a:pPr marL="164592" indent="-164592" algn="l">
              <a:spcAft>
                <a:spcPts val="600"/>
              </a:spcAft>
              <a:buFont typeface="Arial"/>
              <a:buChar char="•"/>
            </a:pPr>
            <a:r>
              <a:rPr sz="1400" b="0" i="0">
                <a:solidFill>
                  <a:srgbClr val="333D47"/>
                </a:solidFill>
                <a:latin typeface="Arial"/>
                <a:ea typeface="Microsoft JhengHei"/>
              </a:rPr>
              <a:t>Doctor name</a:t>
            </a:r>
          </a:p>
          <a:p>
            <a:pPr marL="164592" indent="-164592" algn="l">
              <a:spcAft>
                <a:spcPts val="600"/>
              </a:spcAft>
              <a:buFont typeface="Arial"/>
              <a:buChar char="•"/>
            </a:pPr>
            <a:r>
              <a:rPr sz="1400" b="0" i="0">
                <a:solidFill>
                  <a:srgbClr val="333D47"/>
                </a:solidFill>
                <a:latin typeface="Arial"/>
                <a:ea typeface="Microsoft JhengHei"/>
              </a:rPr>
              <a:t>Registration number</a:t>
            </a:r>
          </a:p>
          <a:p>
            <a:pPr marL="164592" indent="-164592" algn="l">
              <a:spcAft>
                <a:spcPts val="600"/>
              </a:spcAft>
              <a:buFont typeface="Arial"/>
              <a:buChar char="•"/>
            </a:pPr>
            <a:r>
              <a:rPr sz="1400" b="0" i="0">
                <a:solidFill>
                  <a:srgbClr val="333D47"/>
                </a:solidFill>
                <a:latin typeface="Arial"/>
                <a:ea typeface="Microsoft JhengHei"/>
              </a:rPr>
              <a:t>Patient name</a:t>
            </a:r>
          </a:p>
          <a:p>
            <a:pPr marL="164592" indent="-164592" algn="l">
              <a:spcAft>
                <a:spcPts val="600"/>
              </a:spcAft>
              <a:buFont typeface="Arial"/>
              <a:buChar char="•"/>
            </a:pPr>
            <a:r>
              <a:rPr sz="1400" b="0" i="0">
                <a:solidFill>
                  <a:srgbClr val="333D47"/>
                </a:solidFill>
                <a:latin typeface="Arial"/>
                <a:ea typeface="Microsoft JhengHei"/>
              </a:rPr>
              <a:t>Receipt number</a:t>
            </a:r>
          </a:p>
          <a:p>
            <a:pPr marL="164592" indent="-164592" algn="l">
              <a:spcAft>
                <a:spcPts val="600"/>
              </a:spcAft>
              <a:buFont typeface="Arial"/>
              <a:buChar char="•"/>
            </a:pPr>
            <a:r>
              <a:rPr sz="1400" b="0" i="0">
                <a:solidFill>
                  <a:srgbClr val="333D47"/>
                </a:solidFill>
                <a:latin typeface="Arial"/>
                <a:ea typeface="Microsoft JhengHei"/>
              </a:rPr>
              <a:t>Service date</a:t>
            </a:r>
          </a:p>
          <a:p>
            <a:pPr marL="164592" indent="-164592" algn="l">
              <a:spcAft>
                <a:spcPts val="600"/>
              </a:spcAft>
              <a:buFont typeface="Arial"/>
              <a:buChar char="•"/>
            </a:pPr>
            <a:r>
              <a:rPr sz="1400" b="0" i="0">
                <a:solidFill>
                  <a:srgbClr val="333D47"/>
                </a:solidFill>
                <a:latin typeface="Arial"/>
                <a:ea typeface="Microsoft JhengHei"/>
              </a:rPr>
              <a:t>Total amount</a:t>
            </a:r>
          </a:p>
        </p:txBody>
      </p:sp>
      <p:sp>
        <p:nvSpPr>
          <p:cNvPr id="14" name="Rectangle 13"/>
          <p:cNvSpPr/>
          <p:nvPr/>
        </p:nvSpPr>
        <p:spPr>
          <a:xfrm>
            <a:off x="8769096" y="1828800"/>
            <a:ext cx="3063240" cy="2926080"/>
          </a:xfrm>
          <a:prstGeom prst="rect">
            <a:avLst/>
          </a:prstGeom>
          <a:solidFill>
            <a:srgbClr val="F2F2F2"/>
          </a:solidFill>
          <a:ln>
            <a:noFill/>
          </a:ln>
        </p:spPr>
        <p:txBody>
          <a:bodyPr rtlCol="0" anchor="t" wrap="square" lIns="256032" rIns="256032" tIns="109728" bIns="109728"/>
          <a:lstStyle/>
          <a:p>
            <a:pPr algn="l" marL="0" indent="0">
              <a:spcAft>
                <a:spcPts val="1000"/>
              </a:spcAft>
              <a:buNone/>
            </a:pPr>
            <a:r>
              <a:rPr sz="1100" b="1" i="0">
                <a:solidFill>
                  <a:srgbClr val="5F6770"/>
                </a:solidFill>
                <a:latin typeface="Arial"/>
                <a:ea typeface="Microsoft JhengHei"/>
              </a:rPr>
              <a:t>JUDGED ON</a:t>
            </a:r>
          </a:p>
          <a:p>
            <a:pPr marL="164592" indent="-164592" algn="l">
              <a:spcAft>
                <a:spcPts val="600"/>
              </a:spcAft>
              <a:buFont typeface="Arial"/>
              <a:buChar char="•"/>
            </a:pPr>
            <a:r>
              <a:rPr sz="1400" b="0" i="0">
                <a:solidFill>
                  <a:srgbClr val="333D47"/>
                </a:solidFill>
                <a:latin typeface="Arial"/>
                <a:ea typeface="Microsoft JhengHei"/>
              </a:rPr>
              <a:t>Accuracy</a:t>
            </a:r>
          </a:p>
          <a:p>
            <a:pPr marL="164592" indent="-164592" algn="l">
              <a:spcAft>
                <a:spcPts val="600"/>
              </a:spcAft>
              <a:buFont typeface="Arial"/>
              <a:buChar char="•"/>
            </a:pPr>
            <a:r>
              <a:rPr sz="1400" b="0" i="0">
                <a:solidFill>
                  <a:srgbClr val="333D47"/>
                </a:solidFill>
                <a:latin typeface="Arial"/>
                <a:ea typeface="Microsoft JhengHei"/>
              </a:rPr>
              <a:t>Speed</a:t>
            </a:r>
          </a:p>
          <a:p>
            <a:pPr marL="164592" indent="-164592" algn="l">
              <a:spcAft>
                <a:spcPts val="600"/>
              </a:spcAft>
              <a:buFont typeface="Arial"/>
              <a:buChar char="•"/>
            </a:pPr>
            <a:r>
              <a:rPr sz="1400" b="0" i="0">
                <a:solidFill>
                  <a:srgbClr val="333D47"/>
                </a:solidFill>
                <a:latin typeface="Arial"/>
                <a:ea typeface="Microsoft JhengHei"/>
              </a:rPr>
              <a:t>Reliability</a:t>
            </a:r>
          </a:p>
          <a:p>
            <a:pPr marL="164592" indent="-164592" algn="l">
              <a:spcAft>
                <a:spcPts val="600"/>
              </a:spcAft>
              <a:buFont typeface="Arial"/>
              <a:buChar char="•"/>
            </a:pPr>
            <a:r>
              <a:rPr sz="1400" b="0" i="0">
                <a:solidFill>
                  <a:srgbClr val="333D47"/>
                </a:solidFill>
                <a:latin typeface="Arial"/>
                <a:ea typeface="Microsoft JhengHei"/>
              </a:rPr>
              <a:t>Cost</a:t>
            </a:r>
          </a:p>
          <a:p>
            <a:pPr marL="164592" indent="-164592" algn="l">
              <a:spcAft>
                <a:spcPts val="600"/>
              </a:spcAft>
              <a:buFont typeface="Arial"/>
              <a:buChar char="•"/>
            </a:pPr>
            <a:r>
              <a:rPr sz="1400" b="0" i="0">
                <a:solidFill>
                  <a:srgbClr val="333D47"/>
                </a:solidFill>
                <a:latin typeface="Arial"/>
                <a:ea typeface="Microsoft JhengHei"/>
              </a:rPr>
              <a:t>Maintenance effort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Methodology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Two steps per receipt: read the text (OCR), then find the six fields. We changed one step at a time.</a:t>
            </a:r>
          </a:p>
        </p:txBody>
      </p:sp>
      <p:sp>
        <p:nvSpPr>
          <p:cNvPr id="12" name="TextBox 11"/>
          <p:cNvSpPr txBox="1"/>
          <p:nvPr/>
        </p:nvSpPr>
        <p:spPr>
          <a:xfrm>
            <a:off x="2697480" y="1737360"/>
            <a:ext cx="3840480" cy="274320"/>
          </a:xfrm>
          <a:prstGeom prst="rect">
            <a:avLst/>
          </a:prstGeom>
          <a:noFill/>
        </p:spPr>
        <p:txBody>
          <a:bodyPr wrap="square" lIns="0" rIns="0" tIns="0" bIns="0" anchor="t"/>
          <a:lstStyle/>
          <a:p>
            <a:pPr marL="0" indent="0" algn="l">
              <a:spcAft>
                <a:spcPts val="0"/>
              </a:spcAft>
              <a:buNone/>
            </a:pPr>
            <a:r>
              <a:rPr sz="1100" b="1" i="0">
                <a:solidFill>
                  <a:srgbClr val="5F6770"/>
                </a:solidFill>
                <a:latin typeface="Arial"/>
                <a:ea typeface="Microsoft JhengHei"/>
              </a:rPr>
              <a:t>STEP 1 · READ THE TEXT (OCR)</a:t>
            </a:r>
          </a:p>
        </p:txBody>
      </p:sp>
      <p:sp>
        <p:nvSpPr>
          <p:cNvPr id="13" name="TextBox 12"/>
          <p:cNvSpPr txBox="1"/>
          <p:nvPr/>
        </p:nvSpPr>
        <p:spPr>
          <a:xfrm>
            <a:off x="6812280" y="1737360"/>
            <a:ext cx="3840480" cy="274320"/>
          </a:xfrm>
          <a:prstGeom prst="rect">
            <a:avLst/>
          </a:prstGeom>
          <a:noFill/>
        </p:spPr>
        <p:txBody>
          <a:bodyPr wrap="square" lIns="0" rIns="0" tIns="0" bIns="0" anchor="t"/>
          <a:lstStyle/>
          <a:p>
            <a:pPr marL="0" indent="0" algn="l">
              <a:spcAft>
                <a:spcPts val="0"/>
              </a:spcAft>
              <a:buNone/>
            </a:pPr>
            <a:r>
              <a:rPr sz="1100" b="1" i="0">
                <a:solidFill>
                  <a:srgbClr val="5F6770"/>
                </a:solidFill>
                <a:latin typeface="Arial"/>
                <a:ea typeface="Microsoft JhengHei"/>
              </a:rPr>
              <a:t>STEP 2 · FIND THE SIX FIELDS</a:t>
            </a:r>
          </a:p>
        </p:txBody>
      </p:sp>
      <p:sp>
        <p:nvSpPr>
          <p:cNvPr id="14" name="Oval 13"/>
          <p:cNvSpPr/>
          <p:nvPr/>
        </p:nvSpPr>
        <p:spPr>
          <a:xfrm>
            <a:off x="356616" y="2240279"/>
            <a:ext cx="384048" cy="384048"/>
          </a:xfrm>
          <a:prstGeom prst="ellipse">
            <a:avLst/>
          </a:prstGeom>
          <a:solidFill>
            <a:srgbClr val="333D47"/>
          </a:solidFill>
          <a:ln>
            <a:noFill/>
          </a:ln>
        </p:spPr>
        <p:txBody>
          <a:bodyPr rtlCol="0" anchor="ctr"/>
          <a:lstStyle/>
          <a:p>
            <a:pPr algn="ctr"/>
            <a:r>
              <a:rPr sz="1400" b="1">
                <a:solidFill>
                  <a:srgbClr val="FFFFFF"/>
                </a:solidFill>
                <a:latin typeface="Arial"/>
                <a:ea typeface="Microsoft JhengHei"/>
              </a:rPr>
              <a:t>1</a:t>
            </a:r>
          </a:p>
        </p:txBody>
      </p:sp>
      <p:sp>
        <p:nvSpPr>
          <p:cNvPr id="15" name="TextBox 14"/>
          <p:cNvSpPr txBox="1"/>
          <p:nvPr/>
        </p:nvSpPr>
        <p:spPr>
          <a:xfrm>
            <a:off x="868680" y="2103120"/>
            <a:ext cx="1737360" cy="658368"/>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PaddleOCR Light</a:t>
            </a:r>
          </a:p>
        </p:txBody>
      </p:sp>
      <p:sp>
        <p:nvSpPr>
          <p:cNvPr id="16" name="Rectangle 15"/>
          <p:cNvSpPr/>
          <p:nvPr/>
        </p:nvSpPr>
        <p:spPr>
          <a:xfrm>
            <a:off x="2697480" y="2103120"/>
            <a:ext cx="3840480" cy="658368"/>
          </a:xfrm>
          <a:prstGeom prst="rect">
            <a:avLst/>
          </a:prstGeom>
          <a:solidFill>
            <a:srgbClr val="F2F2F2"/>
          </a:solidFill>
          <a:ln>
            <a:noFill/>
          </a:ln>
        </p:spPr>
        <p:txBody>
          <a:bodyPr rtlCol="0" anchor="ctr" wrap="square" lIns="146304" rIns="146304" tIns="109728" bIns="109728"/>
          <a:lstStyle/>
          <a:p>
            <a:pPr algn="l" marL="0" indent="0">
              <a:spcAft>
                <a:spcPts val="0"/>
              </a:spcAft>
              <a:buNone/>
            </a:pPr>
            <a:r>
              <a:rPr sz="1300" b="0" i="0">
                <a:solidFill>
                  <a:srgbClr val="333D47"/>
                </a:solidFill>
                <a:latin typeface="Arial"/>
                <a:ea typeface="Microsoft JhengHei"/>
              </a:rPr>
              <a:t>Open-source OCR, small model</a:t>
            </a:r>
          </a:p>
        </p:txBody>
      </p:sp>
      <p:sp>
        <p:nvSpPr>
          <p:cNvPr id="17" name="Rectangle 16"/>
          <p:cNvSpPr/>
          <p:nvPr/>
        </p:nvSpPr>
        <p:spPr>
          <a:xfrm>
            <a:off x="6812280" y="2103120"/>
            <a:ext cx="3840480" cy="658368"/>
          </a:xfrm>
          <a:prstGeom prst="rect">
            <a:avLst/>
          </a:prstGeom>
          <a:solidFill>
            <a:srgbClr val="F2F2F2"/>
          </a:solidFill>
          <a:ln>
            <a:noFill/>
          </a:ln>
        </p:spPr>
        <p:txBody>
          <a:bodyPr rtlCol="0" anchor="ctr" wrap="square" lIns="146304" rIns="146304" tIns="109728" bIns="109728"/>
          <a:lstStyle/>
          <a:p>
            <a:pPr algn="l" marL="0" indent="0">
              <a:spcAft>
                <a:spcPts val="0"/>
              </a:spcAft>
              <a:buNone/>
            </a:pPr>
            <a:r>
              <a:rPr sz="1300" b="0" i="0">
                <a:solidFill>
                  <a:srgbClr val="333D47"/>
                </a:solidFill>
                <a:latin typeface="Arial"/>
                <a:ea typeface="Microsoft JhengHei"/>
              </a:rPr>
              <a:t>Rules: original, then improved</a:t>
            </a:r>
          </a:p>
        </p:txBody>
      </p:sp>
      <p:sp>
        <p:nvSpPr>
          <p:cNvPr id="18" name="Chevron 17"/>
          <p:cNvSpPr/>
          <p:nvPr/>
        </p:nvSpPr>
        <p:spPr>
          <a:xfrm>
            <a:off x="6565392" y="2286000"/>
            <a:ext cx="201168" cy="292608"/>
          </a:xfrm>
          <a:prstGeom prst="chevron">
            <a:avLst/>
          </a:prstGeom>
          <a:solidFill>
            <a:srgbClr val="A6ABB0"/>
          </a:solidFill>
          <a:ln>
            <a:noFill/>
          </a:ln>
        </p:spPr>
        <p:txBody>
          <a:bodyPr rtlCol="0" anchor="ctr"/>
          <a:lstStyle/>
          <a:p>
            <a:pPr algn="ctr"/>
          </a:p>
        </p:txBody>
      </p:sp>
      <p:sp>
        <p:nvSpPr>
          <p:cNvPr id="19" name="Oval 18"/>
          <p:cNvSpPr/>
          <p:nvPr/>
        </p:nvSpPr>
        <p:spPr>
          <a:xfrm>
            <a:off x="356616" y="3026663"/>
            <a:ext cx="384048" cy="384048"/>
          </a:xfrm>
          <a:prstGeom prst="ellipse">
            <a:avLst/>
          </a:prstGeom>
          <a:solidFill>
            <a:srgbClr val="333D47"/>
          </a:solidFill>
          <a:ln>
            <a:noFill/>
          </a:ln>
        </p:spPr>
        <p:txBody>
          <a:bodyPr rtlCol="0" anchor="ctr"/>
          <a:lstStyle/>
          <a:p>
            <a:pPr algn="ctr"/>
            <a:r>
              <a:rPr sz="1400" b="1">
                <a:solidFill>
                  <a:srgbClr val="FFFFFF"/>
                </a:solidFill>
                <a:latin typeface="Arial"/>
                <a:ea typeface="Microsoft JhengHei"/>
              </a:rPr>
              <a:t>2</a:t>
            </a:r>
          </a:p>
        </p:txBody>
      </p:sp>
      <p:sp>
        <p:nvSpPr>
          <p:cNvPr id="20" name="TextBox 19"/>
          <p:cNvSpPr txBox="1"/>
          <p:nvPr/>
        </p:nvSpPr>
        <p:spPr>
          <a:xfrm>
            <a:off x="868680" y="2889503"/>
            <a:ext cx="1737360" cy="658368"/>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PaddleOCR Heavy</a:t>
            </a:r>
          </a:p>
        </p:txBody>
      </p:sp>
      <p:sp>
        <p:nvSpPr>
          <p:cNvPr id="21" name="Rectangle 20"/>
          <p:cNvSpPr/>
          <p:nvPr/>
        </p:nvSpPr>
        <p:spPr>
          <a:xfrm>
            <a:off x="2697480" y="2889503"/>
            <a:ext cx="3840480" cy="658368"/>
          </a:xfrm>
          <a:prstGeom prst="rect">
            <a:avLst/>
          </a:prstGeom>
          <a:solidFill>
            <a:srgbClr val="F2F2F2"/>
          </a:solidFill>
          <a:ln>
            <a:noFill/>
          </a:ln>
        </p:spPr>
        <p:txBody>
          <a:bodyPr rtlCol="0" anchor="ctr" wrap="square" lIns="146304" rIns="146304" tIns="109728" bIns="109728"/>
          <a:lstStyle/>
          <a:p>
            <a:pPr algn="l" marL="0" indent="0">
              <a:spcAft>
                <a:spcPts val="0"/>
              </a:spcAft>
              <a:buNone/>
            </a:pPr>
            <a:r>
              <a:rPr sz="1300" b="0" i="0">
                <a:solidFill>
                  <a:srgbClr val="333D47"/>
                </a:solidFill>
                <a:latin typeface="Arial"/>
                <a:ea typeface="Microsoft JhengHei"/>
              </a:rPr>
              <a:t>Open-source OCR, large model</a:t>
            </a:r>
          </a:p>
        </p:txBody>
      </p:sp>
      <p:sp>
        <p:nvSpPr>
          <p:cNvPr id="22" name="Rectangle 21"/>
          <p:cNvSpPr/>
          <p:nvPr/>
        </p:nvSpPr>
        <p:spPr>
          <a:xfrm>
            <a:off x="6812280" y="2889503"/>
            <a:ext cx="3840480" cy="658368"/>
          </a:xfrm>
          <a:prstGeom prst="rect">
            <a:avLst/>
          </a:prstGeom>
          <a:solidFill>
            <a:srgbClr val="F2F2F2"/>
          </a:solidFill>
          <a:ln>
            <a:noFill/>
          </a:ln>
        </p:spPr>
        <p:txBody>
          <a:bodyPr rtlCol="0" anchor="ctr" wrap="square" lIns="146304" rIns="146304" tIns="109728" bIns="109728"/>
          <a:lstStyle/>
          <a:p>
            <a:pPr algn="l" marL="0" indent="0">
              <a:spcAft>
                <a:spcPts val="0"/>
              </a:spcAft>
              <a:buNone/>
            </a:pPr>
            <a:r>
              <a:rPr sz="1300" b="0" i="0">
                <a:solidFill>
                  <a:srgbClr val="333D47"/>
                </a:solidFill>
                <a:latin typeface="Arial"/>
                <a:ea typeface="Microsoft JhengHei"/>
              </a:rPr>
              <a:t>Rules: original, then improved</a:t>
            </a:r>
          </a:p>
        </p:txBody>
      </p:sp>
      <p:sp>
        <p:nvSpPr>
          <p:cNvPr id="23" name="Chevron 22"/>
          <p:cNvSpPr/>
          <p:nvPr/>
        </p:nvSpPr>
        <p:spPr>
          <a:xfrm>
            <a:off x="6565392" y="3072384"/>
            <a:ext cx="201168" cy="292608"/>
          </a:xfrm>
          <a:prstGeom prst="chevron">
            <a:avLst/>
          </a:prstGeom>
          <a:solidFill>
            <a:srgbClr val="A6ABB0"/>
          </a:solidFill>
          <a:ln>
            <a:noFill/>
          </a:ln>
        </p:spPr>
        <p:txBody>
          <a:bodyPr rtlCol="0" anchor="ctr"/>
          <a:lstStyle/>
          <a:p>
            <a:pPr algn="ctr"/>
          </a:p>
        </p:txBody>
      </p:sp>
      <p:sp>
        <p:nvSpPr>
          <p:cNvPr id="24" name="Oval 23"/>
          <p:cNvSpPr/>
          <p:nvPr/>
        </p:nvSpPr>
        <p:spPr>
          <a:xfrm>
            <a:off x="356616" y="3813048"/>
            <a:ext cx="384048" cy="384048"/>
          </a:xfrm>
          <a:prstGeom prst="ellipse">
            <a:avLst/>
          </a:prstGeom>
          <a:solidFill>
            <a:srgbClr val="333D47"/>
          </a:solidFill>
          <a:ln>
            <a:noFill/>
          </a:ln>
        </p:spPr>
        <p:txBody>
          <a:bodyPr rtlCol="0" anchor="ctr"/>
          <a:lstStyle/>
          <a:p>
            <a:pPr algn="ctr"/>
            <a:r>
              <a:rPr sz="1400" b="1">
                <a:solidFill>
                  <a:srgbClr val="FFFFFF"/>
                </a:solidFill>
                <a:latin typeface="Arial"/>
                <a:ea typeface="Microsoft JhengHei"/>
              </a:rPr>
              <a:t>3</a:t>
            </a:r>
          </a:p>
        </p:txBody>
      </p:sp>
      <p:sp>
        <p:nvSpPr>
          <p:cNvPr id="25" name="TextBox 24"/>
          <p:cNvSpPr txBox="1"/>
          <p:nvPr/>
        </p:nvSpPr>
        <p:spPr>
          <a:xfrm>
            <a:off x="868680" y="3675887"/>
            <a:ext cx="1737360" cy="658368"/>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Azure DI</a:t>
            </a:r>
          </a:p>
        </p:txBody>
      </p:sp>
      <p:sp>
        <p:nvSpPr>
          <p:cNvPr id="26" name="Rectangle 25"/>
          <p:cNvSpPr/>
          <p:nvPr/>
        </p:nvSpPr>
        <p:spPr>
          <a:xfrm>
            <a:off x="2697480" y="3675887"/>
            <a:ext cx="3840480" cy="658368"/>
          </a:xfrm>
          <a:prstGeom prst="rect">
            <a:avLst/>
          </a:prstGeom>
          <a:solidFill>
            <a:srgbClr val="D31145"/>
          </a:solidFill>
          <a:ln>
            <a:noFill/>
          </a:ln>
        </p:spPr>
        <p:txBody>
          <a:bodyPr rtlCol="0" anchor="ctr" wrap="square" lIns="146304" rIns="146304" tIns="109728" bIns="109728"/>
          <a:lstStyle/>
          <a:p>
            <a:pPr algn="l" marL="0" indent="0">
              <a:spcAft>
                <a:spcPts val="0"/>
              </a:spcAft>
              <a:buNone/>
            </a:pPr>
            <a:r>
              <a:rPr sz="1300" b="1" i="0">
                <a:solidFill>
                  <a:srgbClr val="FFFFFF"/>
                </a:solidFill>
                <a:latin typeface="Arial"/>
                <a:ea typeface="Microsoft JhengHei"/>
              </a:rPr>
              <a:t>Cloud OCR (prebuilt-read)</a:t>
            </a:r>
          </a:p>
        </p:txBody>
      </p:sp>
      <p:sp>
        <p:nvSpPr>
          <p:cNvPr id="27" name="Rectangle 26"/>
          <p:cNvSpPr/>
          <p:nvPr/>
        </p:nvSpPr>
        <p:spPr>
          <a:xfrm>
            <a:off x="6812280" y="3675887"/>
            <a:ext cx="3840480" cy="658368"/>
          </a:xfrm>
          <a:prstGeom prst="rect">
            <a:avLst/>
          </a:prstGeom>
          <a:solidFill>
            <a:srgbClr val="F2F2F2"/>
          </a:solidFill>
          <a:ln>
            <a:noFill/>
          </a:ln>
        </p:spPr>
        <p:txBody>
          <a:bodyPr rtlCol="0" anchor="ctr" wrap="square" lIns="146304" rIns="146304" tIns="109728" bIns="109728"/>
          <a:lstStyle/>
          <a:p>
            <a:pPr algn="l" marL="0" indent="0">
              <a:spcAft>
                <a:spcPts val="0"/>
              </a:spcAft>
              <a:buNone/>
            </a:pPr>
            <a:r>
              <a:rPr sz="1300" b="0" i="0">
                <a:solidFill>
                  <a:srgbClr val="333D47"/>
                </a:solidFill>
                <a:latin typeface="Arial"/>
                <a:ea typeface="Microsoft JhengHei"/>
              </a:rPr>
              <a:t>Rules: original, then improved</a:t>
            </a:r>
          </a:p>
        </p:txBody>
      </p:sp>
      <p:sp>
        <p:nvSpPr>
          <p:cNvPr id="28" name="Chevron 27"/>
          <p:cNvSpPr/>
          <p:nvPr/>
        </p:nvSpPr>
        <p:spPr>
          <a:xfrm>
            <a:off x="6565392" y="3858768"/>
            <a:ext cx="201168" cy="292608"/>
          </a:xfrm>
          <a:prstGeom prst="chevron">
            <a:avLst/>
          </a:prstGeom>
          <a:solidFill>
            <a:srgbClr val="A6ABB0"/>
          </a:solidFill>
          <a:ln>
            <a:noFill/>
          </a:ln>
        </p:spPr>
        <p:txBody>
          <a:bodyPr rtlCol="0" anchor="ctr"/>
          <a:lstStyle/>
          <a:p>
            <a:pPr algn="ctr"/>
          </a:p>
        </p:txBody>
      </p:sp>
      <p:sp>
        <p:nvSpPr>
          <p:cNvPr id="29" name="Oval 28"/>
          <p:cNvSpPr/>
          <p:nvPr/>
        </p:nvSpPr>
        <p:spPr>
          <a:xfrm>
            <a:off x="356616" y="4599432"/>
            <a:ext cx="384048" cy="384048"/>
          </a:xfrm>
          <a:prstGeom prst="ellipse">
            <a:avLst/>
          </a:prstGeom>
          <a:solidFill>
            <a:srgbClr val="333D47"/>
          </a:solidFill>
          <a:ln>
            <a:noFill/>
          </a:ln>
        </p:spPr>
        <p:txBody>
          <a:bodyPr rtlCol="0" anchor="ctr"/>
          <a:lstStyle/>
          <a:p>
            <a:pPr algn="ctr"/>
            <a:r>
              <a:rPr sz="1400" b="1">
                <a:solidFill>
                  <a:srgbClr val="FFFFFF"/>
                </a:solidFill>
                <a:latin typeface="Arial"/>
                <a:ea typeface="Microsoft JhengHei"/>
              </a:rPr>
              <a:t>4</a:t>
            </a:r>
          </a:p>
        </p:txBody>
      </p:sp>
      <p:sp>
        <p:nvSpPr>
          <p:cNvPr id="30" name="TextBox 29"/>
          <p:cNvSpPr txBox="1"/>
          <p:nvPr/>
        </p:nvSpPr>
        <p:spPr>
          <a:xfrm>
            <a:off x="868680" y="4462272"/>
            <a:ext cx="1737360" cy="658368"/>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Azure DI + AOAI</a:t>
            </a:r>
          </a:p>
        </p:txBody>
      </p:sp>
      <p:sp>
        <p:nvSpPr>
          <p:cNvPr id="31" name="Rectangle 30"/>
          <p:cNvSpPr/>
          <p:nvPr/>
        </p:nvSpPr>
        <p:spPr>
          <a:xfrm>
            <a:off x="2697480" y="4462272"/>
            <a:ext cx="3840480" cy="658368"/>
          </a:xfrm>
          <a:prstGeom prst="rect">
            <a:avLst/>
          </a:prstGeom>
          <a:solidFill>
            <a:srgbClr val="D31145"/>
          </a:solidFill>
          <a:ln>
            <a:noFill/>
          </a:ln>
        </p:spPr>
        <p:txBody>
          <a:bodyPr rtlCol="0" anchor="ctr" wrap="square" lIns="146304" rIns="146304" tIns="109728" bIns="109728"/>
          <a:lstStyle/>
          <a:p>
            <a:pPr algn="l" marL="0" indent="0">
              <a:spcAft>
                <a:spcPts val="0"/>
              </a:spcAft>
              <a:buNone/>
            </a:pPr>
            <a:r>
              <a:rPr sz="1300" b="1" i="0">
                <a:solidFill>
                  <a:srgbClr val="FFFFFF"/>
                </a:solidFill>
                <a:latin typeface="Arial"/>
                <a:ea typeface="Microsoft JhengHei"/>
              </a:rPr>
              <a:t>Cloud OCR (prebuilt-read)</a:t>
            </a:r>
          </a:p>
        </p:txBody>
      </p:sp>
      <p:sp>
        <p:nvSpPr>
          <p:cNvPr id="32" name="Rectangle 31"/>
          <p:cNvSpPr/>
          <p:nvPr/>
        </p:nvSpPr>
        <p:spPr>
          <a:xfrm>
            <a:off x="6812280" y="4462272"/>
            <a:ext cx="3840480" cy="658368"/>
          </a:xfrm>
          <a:prstGeom prst="rect">
            <a:avLst/>
          </a:prstGeom>
          <a:solidFill>
            <a:srgbClr val="D31145"/>
          </a:solidFill>
          <a:ln>
            <a:noFill/>
          </a:ln>
        </p:spPr>
        <p:txBody>
          <a:bodyPr rtlCol="0" anchor="ctr" wrap="square" lIns="146304" rIns="146304" tIns="109728" bIns="109728"/>
          <a:lstStyle/>
          <a:p>
            <a:pPr algn="l" marL="0" indent="0">
              <a:spcAft>
                <a:spcPts val="0"/>
              </a:spcAft>
              <a:buNone/>
            </a:pPr>
            <a:r>
              <a:rPr sz="1300" b="1" i="0">
                <a:solidFill>
                  <a:srgbClr val="FFFFFF"/>
                </a:solidFill>
                <a:latin typeface="Arial"/>
                <a:ea typeface="Microsoft JhengHei"/>
              </a:rPr>
              <a:t>Azure OpenAI gpt-5-mini (prompt unchanged)</a:t>
            </a:r>
          </a:p>
        </p:txBody>
      </p:sp>
      <p:sp>
        <p:nvSpPr>
          <p:cNvPr id="33" name="Chevron 32"/>
          <p:cNvSpPr/>
          <p:nvPr/>
        </p:nvSpPr>
        <p:spPr>
          <a:xfrm>
            <a:off x="6565392" y="4645152"/>
            <a:ext cx="201168" cy="292608"/>
          </a:xfrm>
          <a:prstGeom prst="chevron">
            <a:avLst/>
          </a:prstGeom>
          <a:solidFill>
            <a:srgbClr val="A6ABB0"/>
          </a:solidFill>
          <a:ln>
            <a:noFill/>
          </a:ln>
        </p:spPr>
        <p:txBody>
          <a:bodyPr rtlCol="0" anchor="ctr"/>
          <a:lstStyle/>
          <a:p>
            <a:pPr algn="ctr"/>
          </a:p>
        </p:txBody>
      </p:sp>
      <p:sp>
        <p:nvSpPr>
          <p:cNvPr id="34" name="TextBox 33"/>
          <p:cNvSpPr txBox="1"/>
          <p:nvPr/>
        </p:nvSpPr>
        <p:spPr>
          <a:xfrm>
            <a:off x="10881360" y="2103120"/>
            <a:ext cx="960120" cy="3017520"/>
          </a:xfrm>
          <a:prstGeom prst="rect">
            <a:avLst/>
          </a:prstGeom>
          <a:noFill/>
        </p:spPr>
        <p:txBody>
          <a:bodyPr wrap="square" tIns="91440" bIns="91440" anchor="t"/>
          <a:lstStyle/>
          <a:p>
            <a:pPr marL="0" indent="0" algn="l">
              <a:spcAft>
                <a:spcPts val="600"/>
              </a:spcAft>
              <a:buNone/>
            </a:pPr>
            <a:r>
              <a:rPr sz="1300" b="1" i="0">
                <a:solidFill>
                  <a:srgbClr val="333D47"/>
                </a:solidFill>
                <a:latin typeface="Arial"/>
                <a:ea typeface="Microsoft JhengHei"/>
              </a:rPr>
              <a:t>9 receipts</a:t>
            </a:r>
          </a:p>
          <a:p>
            <a:pPr marL="0" indent="0" algn="l">
              <a:spcAft>
                <a:spcPts val="600"/>
              </a:spcAft>
              <a:buNone/>
            </a:pPr>
            <a:r>
              <a:rPr sz="1300" b="1" i="0">
                <a:solidFill>
                  <a:srgbClr val="333D47"/>
                </a:solidFill>
                <a:latin typeface="Arial"/>
                <a:ea typeface="Microsoft JhengHei"/>
              </a:rPr>
              <a:t>51 fields scored</a:t>
            </a:r>
          </a:p>
          <a:p>
            <a:pPr marL="0" indent="0" algn="l">
              <a:spcAft>
                <a:spcPts val="0"/>
              </a:spcAft>
              <a:buNone/>
            </a:pPr>
            <a:r>
              <a:rPr sz="1100" b="0" i="0">
                <a:solidFill>
                  <a:srgbClr val="5F6770"/>
                </a:solidFill>
                <a:latin typeface="Arial"/>
                <a:ea typeface="Microsoft JhengHei"/>
              </a:rPr>
              <a:t>Red = paid Azure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The Receipts: Different Layouts and Languages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Seven new printed receipts photographed by phone, plus two receipts carried over from Version 1.</a:t>
            </a:r>
          </a:p>
        </p:txBody>
      </p:sp>
      <p:pic>
        <p:nvPicPr>
          <p:cNvPr id="12" name="Picture 11" descr="thumb_receipt1.jpg"/>
          <p:cNvPicPr>
            <a:picLocks noChangeAspect="1"/>
          </p:cNvPicPr>
          <p:nvPr/>
        </p:nvPicPr>
        <p:blipFill>
          <a:blip r:embed="rId3"/>
          <a:stretch>
            <a:fillRect/>
          </a:stretch>
        </p:blipFill>
        <p:spPr>
          <a:xfrm>
            <a:off x="356616" y="1783080"/>
            <a:ext cx="2514600" cy="3352800"/>
          </a:xfrm>
          <a:prstGeom prst="rect">
            <a:avLst/>
          </a:prstGeom>
          <a:ln w="9525">
            <a:solidFill>
              <a:srgbClr val="BFBFBF"/>
            </a:solidFill>
          </a:ln>
        </p:spPr>
      </p:pic>
      <p:sp>
        <p:nvSpPr>
          <p:cNvPr id="13" name="TextBox 12"/>
          <p:cNvSpPr txBox="1"/>
          <p:nvPr/>
        </p:nvSpPr>
        <p:spPr>
          <a:xfrm>
            <a:off x="356616" y="5209032"/>
            <a:ext cx="2514600" cy="274320"/>
          </a:xfrm>
          <a:prstGeom prst="rect">
            <a:avLst/>
          </a:prstGeom>
          <a:noFill/>
        </p:spPr>
        <p:txBody>
          <a:bodyPr wrap="square" lIns="0" rIns="0" tIns="0" bIns="0" anchor="t"/>
          <a:lstStyle/>
          <a:p>
            <a:pPr marL="0" indent="0" algn="l">
              <a:spcAft>
                <a:spcPts val="0"/>
              </a:spcAft>
              <a:buNone/>
            </a:pPr>
            <a:r>
              <a:rPr sz="1100" b="0" i="0">
                <a:solidFill>
                  <a:srgbClr val="5F6770"/>
                </a:solidFill>
                <a:latin typeface="Arial"/>
                <a:ea typeface="Microsoft JhengHei"/>
              </a:rPr>
              <a:t>GP clinic · English</a:t>
            </a:r>
          </a:p>
        </p:txBody>
      </p:sp>
      <p:pic>
        <p:nvPicPr>
          <p:cNvPr id="14" name="Picture 13" descr="thumb_receipt3.jpg"/>
          <p:cNvPicPr>
            <a:picLocks noChangeAspect="1"/>
          </p:cNvPicPr>
          <p:nvPr/>
        </p:nvPicPr>
        <p:blipFill>
          <a:blip r:embed="rId4"/>
          <a:stretch>
            <a:fillRect/>
          </a:stretch>
        </p:blipFill>
        <p:spPr>
          <a:xfrm>
            <a:off x="3054096" y="1783080"/>
            <a:ext cx="2514600" cy="3352800"/>
          </a:xfrm>
          <a:prstGeom prst="rect">
            <a:avLst/>
          </a:prstGeom>
          <a:ln w="9525">
            <a:solidFill>
              <a:srgbClr val="BFBFBF"/>
            </a:solidFill>
          </a:ln>
        </p:spPr>
      </p:pic>
      <p:sp>
        <p:nvSpPr>
          <p:cNvPr id="15" name="TextBox 14"/>
          <p:cNvSpPr txBox="1"/>
          <p:nvPr/>
        </p:nvSpPr>
        <p:spPr>
          <a:xfrm>
            <a:off x="3054096" y="5209032"/>
            <a:ext cx="2514600" cy="274320"/>
          </a:xfrm>
          <a:prstGeom prst="rect">
            <a:avLst/>
          </a:prstGeom>
          <a:noFill/>
        </p:spPr>
        <p:txBody>
          <a:bodyPr wrap="square" lIns="0" rIns="0" tIns="0" bIns="0" anchor="t"/>
          <a:lstStyle/>
          <a:p>
            <a:pPr marL="0" indent="0" algn="l">
              <a:spcAft>
                <a:spcPts val="0"/>
              </a:spcAft>
              <a:buNone/>
            </a:pPr>
            <a:r>
              <a:rPr sz="1100" b="0" i="0">
                <a:solidFill>
                  <a:srgbClr val="5F6770"/>
                </a:solidFill>
                <a:latin typeface="Arial"/>
                <a:ea typeface="Microsoft JhengHei"/>
              </a:rPr>
              <a:t>Hospital invoice · bilingual</a:t>
            </a:r>
          </a:p>
        </p:txBody>
      </p:sp>
      <p:pic>
        <p:nvPicPr>
          <p:cNvPr id="16" name="Picture 15" descr="thumb_receipt4.jpg"/>
          <p:cNvPicPr>
            <a:picLocks noChangeAspect="1"/>
          </p:cNvPicPr>
          <p:nvPr/>
        </p:nvPicPr>
        <p:blipFill>
          <a:blip r:embed="rId5"/>
          <a:stretch>
            <a:fillRect/>
          </a:stretch>
        </p:blipFill>
        <p:spPr>
          <a:xfrm>
            <a:off x="5751576" y="1783080"/>
            <a:ext cx="2514600" cy="3352800"/>
          </a:xfrm>
          <a:prstGeom prst="rect">
            <a:avLst/>
          </a:prstGeom>
          <a:ln w="9525">
            <a:solidFill>
              <a:srgbClr val="BFBFBF"/>
            </a:solidFill>
          </a:ln>
        </p:spPr>
      </p:pic>
      <p:sp>
        <p:nvSpPr>
          <p:cNvPr id="17" name="TextBox 16"/>
          <p:cNvSpPr txBox="1"/>
          <p:nvPr/>
        </p:nvSpPr>
        <p:spPr>
          <a:xfrm>
            <a:off x="5751576" y="5209032"/>
            <a:ext cx="2514600" cy="274320"/>
          </a:xfrm>
          <a:prstGeom prst="rect">
            <a:avLst/>
          </a:prstGeom>
          <a:noFill/>
        </p:spPr>
        <p:txBody>
          <a:bodyPr wrap="square" lIns="0" rIns="0" tIns="0" bIns="0" anchor="t"/>
          <a:lstStyle/>
          <a:p>
            <a:pPr marL="0" indent="0" algn="l">
              <a:spcAft>
                <a:spcPts val="0"/>
              </a:spcAft>
              <a:buNone/>
            </a:pPr>
            <a:r>
              <a:rPr sz="1100" b="0" i="0">
                <a:solidFill>
                  <a:srgbClr val="5F6770"/>
                </a:solidFill>
                <a:latin typeface="Arial"/>
                <a:ea typeface="Microsoft JhengHei"/>
              </a:rPr>
              <a:t>Chinese medicine · Chinese</a:t>
            </a:r>
          </a:p>
        </p:txBody>
      </p:sp>
      <p:sp>
        <p:nvSpPr>
          <p:cNvPr id="18" name="Rectangle 17"/>
          <p:cNvSpPr/>
          <p:nvPr/>
        </p:nvSpPr>
        <p:spPr>
          <a:xfrm>
            <a:off x="8503920" y="1783080"/>
            <a:ext cx="3328416" cy="3703320"/>
          </a:xfrm>
          <a:prstGeom prst="rect">
            <a:avLst/>
          </a:prstGeom>
          <a:solidFill>
            <a:srgbClr val="F2F2F2"/>
          </a:solidFill>
          <a:ln>
            <a:noFill/>
          </a:ln>
        </p:spPr>
        <p:txBody>
          <a:bodyPr rtlCol="0" anchor="t" wrap="square" lIns="228600" rIns="228600" tIns="109728" bIns="109728"/>
          <a:lstStyle/>
          <a:p>
            <a:pPr algn="l" marL="0" indent="0">
              <a:spcAft>
                <a:spcPts val="800"/>
              </a:spcAft>
              <a:buNone/>
            </a:pPr>
            <a:r>
              <a:rPr sz="1100" b="1" i="0">
                <a:solidFill>
                  <a:srgbClr val="5F6770"/>
                </a:solidFill>
                <a:latin typeface="Arial"/>
                <a:ea typeface="Microsoft JhengHei"/>
              </a:rPr>
              <a:t>ALL NINE RECEIPTS</a:t>
            </a:r>
          </a:p>
          <a:p>
            <a:pPr marL="164592" indent="-164592" algn="l">
              <a:spcAft>
                <a:spcPts val="500"/>
              </a:spcAft>
              <a:buFont typeface="Arial"/>
              <a:buChar char="•"/>
            </a:pPr>
            <a:r>
              <a:rPr sz="1250" b="0" i="0">
                <a:solidFill>
                  <a:srgbClr val="333D47"/>
                </a:solidFill>
                <a:latin typeface="Arial"/>
                <a:ea typeface="Microsoft JhengHei"/>
              </a:rPr>
              <a:t>English: GP, specialist, physiotherapy</a:t>
            </a:r>
          </a:p>
          <a:p>
            <a:pPr marL="164592" indent="-164592" algn="l">
              <a:spcAft>
                <a:spcPts val="500"/>
              </a:spcAft>
              <a:buFont typeface="Arial"/>
              <a:buChar char="•"/>
            </a:pPr>
            <a:r>
              <a:rPr sz="1250" b="0" i="0">
                <a:solidFill>
                  <a:srgbClr val="333D47"/>
                </a:solidFill>
                <a:latin typeface="Arial"/>
                <a:ea typeface="Microsoft JhengHei"/>
              </a:rPr>
              <a:t>Bilingual: hospital, dental, medical centre</a:t>
            </a:r>
          </a:p>
          <a:p>
            <a:pPr marL="164592" indent="-164592" algn="l">
              <a:spcAft>
                <a:spcPts val="500"/>
              </a:spcAft>
              <a:buFont typeface="Arial"/>
              <a:buChar char="•"/>
            </a:pPr>
            <a:r>
              <a:rPr sz="1250" b="0" i="0">
                <a:solidFill>
                  <a:srgbClr val="333D47"/>
                </a:solidFill>
                <a:latin typeface="Arial"/>
                <a:ea typeface="Microsoft JhengHei"/>
              </a:rPr>
              <a:t>Traditional Chinese: Chinese medicine</a:t>
            </a:r>
          </a:p>
          <a:p>
            <a:pPr marL="164592" indent="-164592" algn="l">
              <a:spcAft>
                <a:spcPts val="1200"/>
              </a:spcAft>
              <a:buFont typeface="Arial"/>
              <a:buChar char="•"/>
            </a:pPr>
            <a:r>
              <a:rPr sz="1250" b="0" i="0">
                <a:solidFill>
                  <a:srgbClr val="333D47"/>
                </a:solidFill>
                <a:latin typeface="Arial"/>
                <a:ea typeface="Microsoft JhengHei"/>
              </a:rPr>
              <a:t>From Version 1: vet invoice, NZ pharmacy</a:t>
            </a:r>
          </a:p>
          <a:p>
            <a:pPr marL="0" indent="0" algn="l">
              <a:spcAft>
                <a:spcPts val="0"/>
              </a:spcAft>
              <a:buNone/>
            </a:pPr>
            <a:r>
              <a:rPr sz="1200" b="0" i="0">
                <a:solidFill>
                  <a:srgbClr val="5F6770"/>
                </a:solidFill>
                <a:latin typeface="Arial"/>
                <a:ea typeface="Microsoft JhengHei"/>
              </a:rPr>
              <a:t>Several include distractors such as referring doctors, issue dates, patient numbers, insurer payments and balances.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Accuracy with the Original Rules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Azure DI + AOAI 88.2%; the three rule-based approaches 29.4–41.2%.</a:t>
            </a:r>
          </a:p>
        </p:txBody>
      </p:sp>
      <p:graphicFrame>
        <p:nvGraphicFramePr>
          <p:cNvPr id="12" name="Chart 11"/>
          <p:cNvGraphicFramePr>
            <a:graphicFrameLocks noGrp="1"/>
          </p:cNvGraphicFramePr>
          <p:nvPr/>
        </p:nvGraphicFramePr>
        <p:xfrm>
          <a:off x="356616" y="1783080"/>
          <a:ext cx="6949440" cy="3794760"/>
        </p:xfrm>
        <a:graphic>
          <a:graphicData uri="http://schemas.openxmlformats.org/drawingml/2006/chart">
            <c:chart xmlns:c="http://schemas.openxmlformats.org/drawingml/2006/chart" r:id="rId3"/>
          </a:graphicData>
        </a:graphic>
      </p:graphicFrame>
      <p:sp>
        <p:nvSpPr>
          <p:cNvPr id="13" name="Rectangle 12"/>
          <p:cNvSpPr/>
          <p:nvPr/>
        </p:nvSpPr>
        <p:spPr>
          <a:xfrm>
            <a:off x="7589520" y="1828800"/>
            <a:ext cx="4242816" cy="3611880"/>
          </a:xfrm>
          <a:prstGeom prst="rect">
            <a:avLst/>
          </a:prstGeom>
          <a:solidFill>
            <a:srgbClr val="F2F2F2"/>
          </a:solidFill>
          <a:ln>
            <a:noFill/>
          </a:ln>
        </p:spPr>
        <p:txBody>
          <a:bodyPr rtlCol="0" anchor="t" wrap="square" lIns="228600" rIns="228600" tIns="109728" bIns="109728"/>
          <a:lstStyle/>
          <a:p>
            <a:pPr algn="l" marL="0" indent="0">
              <a:spcAft>
                <a:spcPts val="800"/>
              </a:spcAft>
              <a:buNone/>
            </a:pPr>
            <a:r>
              <a:rPr sz="1100" b="1" i="0">
                <a:solidFill>
                  <a:srgbClr val="5F6770"/>
                </a:solidFill>
                <a:latin typeface="Arial"/>
                <a:ea typeface="Microsoft JhengHei"/>
              </a:rPr>
              <a:t>TWO DIFFERENT STEPS</a:t>
            </a:r>
          </a:p>
          <a:p>
            <a:pPr marL="0" indent="0" algn="l">
              <a:spcAft>
                <a:spcPts val="200"/>
              </a:spcAft>
              <a:buNone/>
            </a:pPr>
            <a:r>
              <a:rPr sz="1500" b="1" i="0">
                <a:solidFill>
                  <a:srgbClr val="333D47"/>
                </a:solidFill>
                <a:latin typeface="Arial"/>
                <a:ea typeface="Microsoft JhengHei"/>
              </a:rPr>
              <a:t>Text recognition (OCR)</a:t>
            </a:r>
          </a:p>
          <a:p>
            <a:pPr marL="0" indent="0" algn="l">
              <a:spcAft>
                <a:spcPts val="1200"/>
              </a:spcAft>
              <a:buNone/>
            </a:pPr>
            <a:r>
              <a:rPr sz="1250" b="0" i="0">
                <a:solidFill>
                  <a:srgbClr val="333D47"/>
                </a:solidFill>
                <a:latin typeface="Arial"/>
                <a:ea typeface="Microsoft JhengHei"/>
              </a:rPr>
              <a:t>Azure DI and PaddleOCR Light read almost every value correctly on the new receipts.</a:t>
            </a:r>
          </a:p>
          <a:p>
            <a:pPr marL="0" indent="0" algn="l">
              <a:spcAft>
                <a:spcPts val="200"/>
              </a:spcAft>
              <a:buNone/>
            </a:pPr>
            <a:r>
              <a:rPr sz="1500" b="1" i="0">
                <a:solidFill>
                  <a:srgbClr val="333D47"/>
                </a:solidFill>
                <a:latin typeface="Arial"/>
                <a:ea typeface="Microsoft JhengHei"/>
              </a:rPr>
              <a:t>Field extraction</a:t>
            </a:r>
          </a:p>
          <a:p>
            <a:pPr marL="0" indent="0" algn="l">
              <a:spcAft>
                <a:spcPts val="0"/>
              </a:spcAft>
              <a:buNone/>
            </a:pPr>
            <a:r>
              <a:rPr sz="1250" b="0" i="0">
                <a:solidFill>
                  <a:srgbClr val="333D47"/>
                </a:solidFill>
                <a:latin typeface="Arial"/>
                <a:ea typeface="Microsoft JhengHei"/>
              </a:rPr>
              <a:t>The original rules only knew English labels and missed bilingual and Chinese layouts. This is where most errors came from.</a:t>
            </a:r>
          </a:p>
        </p:txBody>
      </p:sp>
      <p:sp>
        <p:nvSpPr>
          <p:cNvPr id="14" name="TextBox 13"/>
          <p:cNvSpPr txBox="1"/>
          <p:nvPr/>
        </p:nvSpPr>
        <p:spPr>
          <a:xfrm>
            <a:off x="356616" y="5669280"/>
            <a:ext cx="10607040" cy="274320"/>
          </a:xfrm>
          <a:prstGeom prst="rect">
            <a:avLst/>
          </a:prstGeom>
          <a:noFill/>
        </p:spPr>
        <p:txBody>
          <a:bodyPr wrap="square" lIns="0" rIns="0" tIns="0" bIns="0" anchor="t"/>
          <a:lstStyle/>
          <a:p>
            <a:pPr marL="0" indent="0" algn="l">
              <a:spcAft>
                <a:spcPts val="0"/>
              </a:spcAft>
              <a:buNone/>
            </a:pPr>
            <a:r>
              <a:rPr sz="1000" b="0" i="1">
                <a:solidFill>
                  <a:srgbClr val="5F6770"/>
                </a:solidFill>
                <a:latin typeface="Arial"/>
                <a:ea typeface="Microsoft JhengHei"/>
              </a:rPr>
              <a:t>9 receipts, 51 applicable fields. Source: python/receipt_ocr_benchmark/results/v2/scores_improved (detail.csv, summary.csv) and extraction 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Bilingual Labels (Medical Centre)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The original rules read the Chinese half of a label as the value; the improved rules and AOAI do not.</a:t>
            </a:r>
          </a:p>
        </p:txBody>
      </p:sp>
      <p:pic>
        <p:nvPicPr>
          <p:cNvPr id="12" name="Picture 11" descr="thumb_receipt8_marked.jpg"/>
          <p:cNvPicPr>
            <a:picLocks noChangeAspect="1"/>
          </p:cNvPicPr>
          <p:nvPr/>
        </p:nvPicPr>
        <p:blipFill>
          <a:blip r:embed="rId3"/>
          <a:stretch>
            <a:fillRect/>
          </a:stretch>
        </p:blipFill>
        <p:spPr>
          <a:xfrm>
            <a:off x="356616" y="1783080"/>
            <a:ext cx="1143000" cy="1524000"/>
          </a:xfrm>
          <a:prstGeom prst="rect">
            <a:avLst/>
          </a:prstGeom>
          <a:ln w="9525">
            <a:solidFill>
              <a:srgbClr val="BFBFBF"/>
            </a:solidFill>
          </a:ln>
        </p:spPr>
      </p:pic>
      <p:pic>
        <p:nvPicPr>
          <p:cNvPr id="13" name="Picture 12" descr="crop_receipt8.jpg"/>
          <p:cNvPicPr>
            <a:picLocks noChangeAspect="1"/>
          </p:cNvPicPr>
          <p:nvPr/>
        </p:nvPicPr>
        <p:blipFill>
          <a:blip r:embed="rId4"/>
          <a:stretch>
            <a:fillRect/>
          </a:stretch>
        </p:blipFill>
        <p:spPr>
          <a:xfrm>
            <a:off x="1682496" y="1783080"/>
            <a:ext cx="4297680" cy="3004824"/>
          </a:xfrm>
          <a:prstGeom prst="rect">
            <a:avLst/>
          </a:prstGeom>
          <a:ln w="9525">
            <a:solidFill>
              <a:srgbClr val="BFBFBF"/>
            </a:solidFill>
          </a:ln>
        </p:spPr>
      </p:pic>
      <p:graphicFrame>
        <p:nvGraphicFramePr>
          <p:cNvPr id="14" name="Table 13"/>
          <p:cNvGraphicFramePr>
            <a:graphicFrameLocks noGrp="1"/>
          </p:cNvGraphicFramePr>
          <p:nvPr/>
        </p:nvGraphicFramePr>
        <p:xfrm>
          <a:off x="6163056" y="1783080"/>
          <a:ext cx="5669280" cy="3081528"/>
        </p:xfrm>
        <a:graphic>
          <a:graphicData uri="http://schemas.openxmlformats.org/drawingml/2006/table">
            <a:tbl>
              <a:tblPr firstRow="0" bandRow="0">
                <a:tableStyleId>{2D5ABB26-0587-4C30-8999-92F81FD0307C}</a:tableStyleId>
              </a:tblPr>
              <a:tblGrid>
                <a:gridCol w="914400"/>
                <a:gridCol w="1051560"/>
                <a:gridCol w="1188720"/>
                <a:gridCol w="1188720"/>
                <a:gridCol w="1325880"/>
              </a:tblGrid>
              <a:tr h="566928">
                <a:tc>
                  <a:txBody>
                    <a:bodyPr wrap="square"/>
                    <a:lstStyle/>
                    <a:p>
                      <a:pPr algn="l"/>
                      <a:r>
                        <a:rPr sz="1000" b="1" i="0">
                          <a:solidFill>
                            <a:srgbClr val="FFFFFF"/>
                          </a:solidFill>
                          <a:latin typeface="Arial"/>
                          <a:ea typeface="Microsoft JhengHei"/>
                        </a:rPr>
                        <a:t>Field</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Correct value</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Original rules
(PaddleOCR Light)</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Improved rules
(PaddleOCR Light)</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Azure DI + AOAI</a:t>
                      </a:r>
                    </a:p>
                  </a:txBody>
                  <a:tcPr marL="73152" marR="73152" marT="45720" marB="45720" anchor="ctr">
                    <a:lnL w="0">
                      <a:noFill/>
                    </a:lnL>
                    <a:lnR w="0">
                      <a:noFill/>
                    </a:lnR>
                    <a:lnT w="0">
                      <a:noFill/>
                    </a:lnT>
                    <a:lnB w="0">
                      <a:noFill/>
                    </a:lnB>
                    <a:solidFill>
                      <a:srgbClr val="333D47"/>
                    </a:solidFill>
                  </a:tcPr>
                </a:tc>
              </a:tr>
              <a:tr h="502920">
                <a:tc>
                  <a:txBody>
                    <a:bodyPr wrap="square"/>
                    <a:lstStyle/>
                    <a:p>
                      <a:pPr algn="l"/>
                      <a:r>
                        <a:rPr sz="1050" b="1" i="0">
                          <a:solidFill>
                            <a:srgbClr val="333D47"/>
                          </a:solidFill>
                          <a:latin typeface="Arial"/>
                          <a:ea typeface="Microsoft JhengHei"/>
                        </a:rPr>
                        <a:t>Patient</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蔡嘉穎</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333D47"/>
                          </a:solidFill>
                          <a:latin typeface="Arial"/>
                          <a:ea typeface="Microsoft JhengHei"/>
                        </a:rPr>
                        <a:t>病人</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蔡嘉穎</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蔡嘉穎</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Doctor</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Dr. Siu Ka Wai</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Dr. Siu Ka Wai</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Dr. Siu Ka Wai</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Reg. no.</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M19903</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M19903</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M19903</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Receipt no.</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MC-2609-3391</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MC-2609-3391</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MC-2609-3391</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Service date</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2026-09-03</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2026-09-03</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2026-09-03</a:t>
                      </a:r>
                    </a:p>
                  </a:txBody>
                  <a:tcPr marL="73152" marR="73152" marT="45720" marB="45720" anchor="ctr">
                    <a:lnL w="0">
                      <a:noFill/>
                    </a:lnL>
                    <a:lnR w="0">
                      <a:noFill/>
                    </a:lnR>
                    <a:lnT w="0">
                      <a:noFill/>
                    </a:lnT>
                    <a:lnB w="19050" cmpd="sng">
                      <a:solidFill>
                        <a:srgbClr val="FFFFFF"/>
                      </a:solidFill>
                    </a:lnB>
                    <a:solidFill>
                      <a:srgbClr val="E6F2EA"/>
                    </a:solidFill>
                  </a:tcPr>
                </a:tc>
              </a:tr>
            </a:tbl>
          </a:graphicData>
        </a:graphic>
      </p:graphicFrame>
      <p:sp>
        <p:nvSpPr>
          <p:cNvPr id="15" name="TextBox 14"/>
          <p:cNvSpPr txBox="1"/>
          <p:nvPr/>
        </p:nvSpPr>
        <p:spPr>
          <a:xfrm>
            <a:off x="356616" y="5669280"/>
            <a:ext cx="10607040" cy="274320"/>
          </a:xfrm>
          <a:prstGeom prst="rect">
            <a:avLst/>
          </a:prstGeom>
          <a:noFill/>
        </p:spPr>
        <p:txBody>
          <a:bodyPr wrap="square" lIns="0" rIns="0" tIns="0" bIns="0" anchor="t"/>
          <a:lstStyle/>
          <a:p>
            <a:pPr marL="0" indent="0" algn="l">
              <a:spcAft>
                <a:spcPts val="0"/>
              </a:spcAft>
              <a:buNone/>
            </a:pPr>
            <a:r>
              <a:rPr sz="1000" b="0" i="1">
                <a:solidFill>
                  <a:srgbClr val="5F6770"/>
                </a:solidFill>
                <a:latin typeface="Arial"/>
                <a:ea typeface="Microsoft JhengHei"/>
              </a:rPr>
              <a:t>Rules shown on PaddleOCR Light text; Azure DI with the original rules made the same patient error. ✓ correct · ✗ wrong or missing.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Chinese-Only Receipt (Chinese Medicine)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The original rules found nothing; the improved rules and AOAI found all six fields.</a:t>
            </a:r>
          </a:p>
        </p:txBody>
      </p:sp>
      <p:pic>
        <p:nvPicPr>
          <p:cNvPr id="12" name="Picture 11" descr="thumb_receipt4_marked.jpg"/>
          <p:cNvPicPr>
            <a:picLocks noChangeAspect="1"/>
          </p:cNvPicPr>
          <p:nvPr/>
        </p:nvPicPr>
        <p:blipFill>
          <a:blip r:embed="rId3"/>
          <a:stretch>
            <a:fillRect/>
          </a:stretch>
        </p:blipFill>
        <p:spPr>
          <a:xfrm>
            <a:off x="356616" y="1783080"/>
            <a:ext cx="1143000" cy="1524000"/>
          </a:xfrm>
          <a:prstGeom prst="rect">
            <a:avLst/>
          </a:prstGeom>
          <a:ln w="9525">
            <a:solidFill>
              <a:srgbClr val="BFBFBF"/>
            </a:solidFill>
          </a:ln>
        </p:spPr>
      </p:pic>
      <p:pic>
        <p:nvPicPr>
          <p:cNvPr id="13" name="Picture 12" descr="crop_receipt4.jpg"/>
          <p:cNvPicPr>
            <a:picLocks noChangeAspect="1"/>
          </p:cNvPicPr>
          <p:nvPr/>
        </p:nvPicPr>
        <p:blipFill>
          <a:blip r:embed="rId4"/>
          <a:stretch>
            <a:fillRect/>
          </a:stretch>
        </p:blipFill>
        <p:spPr>
          <a:xfrm>
            <a:off x="1682496" y="1783080"/>
            <a:ext cx="4297680" cy="3220872"/>
          </a:xfrm>
          <a:prstGeom prst="rect">
            <a:avLst/>
          </a:prstGeom>
          <a:ln w="9525">
            <a:solidFill>
              <a:srgbClr val="BFBFBF"/>
            </a:solidFill>
          </a:ln>
        </p:spPr>
      </p:pic>
      <p:graphicFrame>
        <p:nvGraphicFramePr>
          <p:cNvPr id="14" name="Table 13"/>
          <p:cNvGraphicFramePr>
            <a:graphicFrameLocks noGrp="1"/>
          </p:cNvGraphicFramePr>
          <p:nvPr/>
        </p:nvGraphicFramePr>
        <p:xfrm>
          <a:off x="6163056" y="1783080"/>
          <a:ext cx="5669280" cy="3081528"/>
        </p:xfrm>
        <a:graphic>
          <a:graphicData uri="http://schemas.openxmlformats.org/drawingml/2006/table">
            <a:tbl>
              <a:tblPr firstRow="0" bandRow="0">
                <a:tableStyleId>{2D5ABB26-0587-4C30-8999-92F81FD0307C}</a:tableStyleId>
              </a:tblPr>
              <a:tblGrid>
                <a:gridCol w="914400"/>
                <a:gridCol w="1051560"/>
                <a:gridCol w="1188720"/>
                <a:gridCol w="1188720"/>
                <a:gridCol w="1325880"/>
              </a:tblGrid>
              <a:tr h="566928">
                <a:tc>
                  <a:txBody>
                    <a:bodyPr wrap="square"/>
                    <a:lstStyle/>
                    <a:p>
                      <a:pPr algn="l"/>
                      <a:r>
                        <a:rPr sz="1000" b="1" i="0">
                          <a:solidFill>
                            <a:srgbClr val="FFFFFF"/>
                          </a:solidFill>
                          <a:latin typeface="Arial"/>
                          <a:ea typeface="Microsoft JhengHei"/>
                        </a:rPr>
                        <a:t>Field</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Correct value</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Original rules
(PaddleOCR Light)</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Improved rules
(PaddleOCR Light)</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Azure DI + AOAI</a:t>
                      </a:r>
                    </a:p>
                  </a:txBody>
                  <a:tcPr marL="73152" marR="73152" marT="45720" marB="45720" anchor="ctr">
                    <a:lnL w="0">
                      <a:noFill/>
                    </a:lnL>
                    <a:lnR w="0">
                      <a:noFill/>
                    </a:lnR>
                    <a:lnT w="0">
                      <a:noFill/>
                    </a:lnT>
                    <a:lnB w="0">
                      <a:noFill/>
                    </a:lnB>
                    <a:solidFill>
                      <a:srgbClr val="333D47"/>
                    </a:solidFill>
                  </a:tcPr>
                </a:tc>
              </a:tr>
              <a:tr h="502920">
                <a:tc>
                  <a:txBody>
                    <a:bodyPr wrap="square"/>
                    <a:lstStyle/>
                    <a:p>
                      <a:pPr algn="l"/>
                      <a:r>
                        <a:rPr sz="1050" b="1" i="0">
                          <a:solidFill>
                            <a:srgbClr val="333D47"/>
                          </a:solidFill>
                          <a:latin typeface="Arial"/>
                          <a:ea typeface="Microsoft JhengHei"/>
                        </a:rPr>
                        <a:t>Patient</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麥詠琳</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麥詠琳</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麥詠琳</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Doctor</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葉卓謙</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葉卓謙</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葉卓謙</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Reg. no.</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006821</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006821</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006821</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Service date</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2026-06-09</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2026-06-09</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2026年6月9日</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Total amount</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790</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790.0</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790.0</a:t>
                      </a:r>
                    </a:p>
                  </a:txBody>
                  <a:tcPr marL="73152" marR="73152" marT="45720" marB="45720" anchor="ctr">
                    <a:lnL w="0">
                      <a:noFill/>
                    </a:lnL>
                    <a:lnR w="0">
                      <a:noFill/>
                    </a:lnR>
                    <a:lnT w="0">
                      <a:noFill/>
                    </a:lnT>
                    <a:lnB w="19050" cmpd="sng">
                      <a:solidFill>
                        <a:srgbClr val="FFFFFF"/>
                      </a:solidFill>
                    </a:lnB>
                    <a:solidFill>
                      <a:srgbClr val="E6F2EA"/>
                    </a:solidFill>
                  </a:tcPr>
                </a:tc>
              </a:tr>
            </a:tbl>
          </a:graphicData>
        </a:graphic>
      </p:graphicFrame>
      <p:sp>
        <p:nvSpPr>
          <p:cNvPr id="15" name="TextBox 14"/>
          <p:cNvSpPr txBox="1"/>
          <p:nvPr/>
        </p:nvSpPr>
        <p:spPr>
          <a:xfrm>
            <a:off x="356616" y="5669280"/>
            <a:ext cx="10607040" cy="274320"/>
          </a:xfrm>
          <a:prstGeom prst="rect">
            <a:avLst/>
          </a:prstGeom>
          <a:noFill/>
        </p:spPr>
        <p:txBody>
          <a:bodyPr wrap="square" lIns="0" rIns="0" tIns="0" bIns="0" anchor="t"/>
          <a:lstStyle/>
          <a:p>
            <a:pPr marL="0" indent="0" algn="l">
              <a:spcAft>
                <a:spcPts val="0"/>
              </a:spcAft>
              <a:buNone/>
            </a:pPr>
            <a:r>
              <a:rPr sz="1000" b="0" i="1">
                <a:solidFill>
                  <a:srgbClr val="5F6770"/>
                </a:solidFill>
                <a:latin typeface="Arial"/>
                <a:ea typeface="Microsoft JhengHei"/>
              </a:rPr>
              <a:t>Rules shown on PaddleOCR Light text; Azure DI and Heavy behaved the same. ✓ correct · ✗ wrong or missing.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Accuracy Before and After Improving the Rules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Improved rules lifted PaddleOCR Light to 88.2% and Azure DI to 86.3% — on the receipts they were tuned on.</a:t>
            </a:r>
          </a:p>
        </p:txBody>
      </p:sp>
      <p:graphicFrame>
        <p:nvGraphicFramePr>
          <p:cNvPr id="12" name="Chart 11"/>
          <p:cNvGraphicFramePr>
            <a:graphicFrameLocks noGrp="1"/>
          </p:cNvGraphicFramePr>
          <p:nvPr/>
        </p:nvGraphicFramePr>
        <p:xfrm>
          <a:off x="356616" y="1737360"/>
          <a:ext cx="7132320" cy="3840480"/>
        </p:xfrm>
        <a:graphic>
          <a:graphicData uri="http://schemas.openxmlformats.org/drawingml/2006/chart">
            <c:chart xmlns:c="http://schemas.openxmlformats.org/drawingml/2006/chart" r:id="rId3"/>
          </a:graphicData>
        </a:graphic>
      </p:graphicFrame>
      <p:graphicFrame>
        <p:nvGraphicFramePr>
          <p:cNvPr id="13" name="Table 12"/>
          <p:cNvGraphicFramePr>
            <a:graphicFrameLocks noGrp="1"/>
          </p:cNvGraphicFramePr>
          <p:nvPr/>
        </p:nvGraphicFramePr>
        <p:xfrm>
          <a:off x="7726679" y="1828800"/>
          <a:ext cx="4114800" cy="2103120"/>
        </p:xfrm>
        <a:graphic>
          <a:graphicData uri="http://schemas.openxmlformats.org/drawingml/2006/table">
            <a:tbl>
              <a:tblPr firstRow="0" bandRow="0">
                <a:tableStyleId>{2D5ABB26-0587-4C30-8999-92F81FD0307C}</a:tableStyleId>
              </a:tblPr>
              <a:tblGrid>
                <a:gridCol w="2651760"/>
                <a:gridCol w="1463040"/>
              </a:tblGrid>
              <a:tr h="457200">
                <a:tc>
                  <a:txBody>
                    <a:bodyPr wrap="square"/>
                    <a:lstStyle/>
                    <a:p>
                      <a:pPr algn="l"/>
                      <a:r>
                        <a:rPr sz="1100" b="1" i="0">
                          <a:solidFill>
                            <a:srgbClr val="FFFFFF"/>
                          </a:solidFill>
                          <a:latin typeface="Arial"/>
                          <a:ea typeface="Microsoft JhengHei"/>
                        </a:rPr>
                        <a:t>7 new receipts</a:t>
                      </a:r>
                    </a:p>
                  </a:txBody>
                  <a:tcPr marL="73152" marR="73152" marT="45720" marB="45720" anchor="ctr">
                    <a:solidFill>
                      <a:srgbClr val="333D47"/>
                    </a:solidFill>
                  </a:tcPr>
                </a:tc>
                <a:tc>
                  <a:txBody>
                    <a:bodyPr wrap="square"/>
                    <a:lstStyle/>
                    <a:p>
                      <a:pPr algn="ctr"/>
                      <a:r>
                        <a:rPr sz="1100" b="1" i="0">
                          <a:solidFill>
                            <a:srgbClr val="FFFFFF"/>
                          </a:solidFill>
                          <a:latin typeface="Arial"/>
                          <a:ea typeface="Microsoft JhengHei"/>
                        </a:rPr>
                        <a:t>Correct</a:t>
                      </a:r>
                    </a:p>
                  </a:txBody>
                  <a:tcPr marL="73152" marR="73152" marT="45720" marB="45720" anchor="ctr">
                    <a:solidFill>
                      <a:srgbClr val="333D47"/>
                    </a:solidFill>
                  </a:tcPr>
                </a:tc>
              </a:tr>
              <a:tr h="411480">
                <a:tc>
                  <a:txBody>
                    <a:bodyPr wrap="square"/>
                    <a:lstStyle/>
                    <a:p>
                      <a:pPr algn="l"/>
                      <a:r>
                        <a:rPr sz="1150" b="0" i="0">
                          <a:solidFill>
                            <a:srgbClr val="333D47"/>
                          </a:solidFill>
                          <a:latin typeface="Arial"/>
                          <a:ea typeface="Microsoft JhengHei"/>
                        </a:rPr>
                        <a:t>PaddleOCR Light (improved)</a:t>
                      </a:r>
                    </a:p>
                  </a:txBody>
                  <a:tcPr marL="73152" marR="73152" marT="45720" marB="45720" anchor="ctr">
                    <a:lnL w="0">
                      <a:noFill/>
                    </a:lnL>
                    <a:lnR w="0">
                      <a:noFill/>
                    </a:lnR>
                    <a:lnT w="0">
                      <a:noFill/>
                    </a:lnT>
                    <a:lnB w="9525" cmpd="sng">
                      <a:solidFill>
                        <a:srgbClr val="BFBFBF"/>
                      </a:solidFill>
                    </a:lnB>
                    <a:noFill/>
                  </a:tcPr>
                </a:tc>
                <a:tc>
                  <a:txBody>
                    <a:bodyPr wrap="square"/>
                    <a:lstStyle/>
                    <a:p>
                      <a:pPr algn="ctr"/>
                      <a:r>
                        <a:rPr sz="1200" b="1" i="0">
                          <a:solidFill>
                            <a:srgbClr val="333D47"/>
                          </a:solidFill>
                          <a:latin typeface="Arial"/>
                          <a:ea typeface="Microsoft JhengHei"/>
                        </a:rPr>
                        <a:t>41/41</a:t>
                      </a:r>
                    </a:p>
                  </a:txBody>
                  <a:tcPr marL="73152" marR="73152" marT="45720" marB="45720" anchor="ctr">
                    <a:lnL w="0">
                      <a:noFill/>
                    </a:lnL>
                    <a:lnR w="0">
                      <a:noFill/>
                    </a:lnR>
                    <a:lnT w="0">
                      <a:noFill/>
                    </a:lnT>
                    <a:lnB w="9525" cmpd="sng">
                      <a:solidFill>
                        <a:srgbClr val="BFBFBF"/>
                      </a:solidFill>
                    </a:lnB>
                    <a:noFill/>
                  </a:tcPr>
                </a:tc>
              </a:tr>
              <a:tr h="411480">
                <a:tc>
                  <a:txBody>
                    <a:bodyPr wrap="square"/>
                    <a:lstStyle/>
                    <a:p>
                      <a:pPr algn="l"/>
                      <a:r>
                        <a:rPr sz="1150" b="0" i="0">
                          <a:solidFill>
                            <a:srgbClr val="333D47"/>
                          </a:solidFill>
                          <a:latin typeface="Arial"/>
                          <a:ea typeface="Microsoft JhengHei"/>
                        </a:rPr>
                        <a:t>Azure DI (improved)</a:t>
                      </a:r>
                    </a:p>
                  </a:txBody>
                  <a:tcPr marL="73152" marR="73152" marT="45720" marB="45720" anchor="ctr">
                    <a:lnL w="0">
                      <a:noFill/>
                    </a:lnL>
                    <a:lnR w="0">
                      <a:noFill/>
                    </a:lnR>
                    <a:lnT w="0">
                      <a:noFill/>
                    </a:lnT>
                    <a:lnB w="9525" cmpd="sng">
                      <a:solidFill>
                        <a:srgbClr val="BFBFBF"/>
                      </a:solidFill>
                    </a:lnB>
                    <a:noFill/>
                  </a:tcPr>
                </a:tc>
                <a:tc>
                  <a:txBody>
                    <a:bodyPr wrap="square"/>
                    <a:lstStyle/>
                    <a:p>
                      <a:pPr algn="ctr"/>
                      <a:r>
                        <a:rPr sz="1200" b="1" i="0">
                          <a:solidFill>
                            <a:srgbClr val="333D47"/>
                          </a:solidFill>
                          <a:latin typeface="Arial"/>
                          <a:ea typeface="Microsoft JhengHei"/>
                        </a:rPr>
                        <a:t>40/41</a:t>
                      </a:r>
                    </a:p>
                  </a:txBody>
                  <a:tcPr marL="73152" marR="73152" marT="45720" marB="45720" anchor="ctr">
                    <a:lnL w="0">
                      <a:noFill/>
                    </a:lnL>
                    <a:lnR w="0">
                      <a:noFill/>
                    </a:lnR>
                    <a:lnT w="0">
                      <a:noFill/>
                    </a:lnT>
                    <a:lnB w="9525" cmpd="sng">
                      <a:solidFill>
                        <a:srgbClr val="BFBFBF"/>
                      </a:solidFill>
                    </a:lnB>
                    <a:noFill/>
                  </a:tcPr>
                </a:tc>
              </a:tr>
              <a:tr h="411480">
                <a:tc>
                  <a:txBody>
                    <a:bodyPr wrap="square"/>
                    <a:lstStyle/>
                    <a:p>
                      <a:pPr algn="l"/>
                      <a:r>
                        <a:rPr sz="1150" b="0" i="0">
                          <a:solidFill>
                            <a:srgbClr val="333D47"/>
                          </a:solidFill>
                          <a:latin typeface="Arial"/>
                          <a:ea typeface="Microsoft JhengHei"/>
                        </a:rPr>
                        <a:t>PaddleOCR Heavy (improved)</a:t>
                      </a:r>
                    </a:p>
                  </a:txBody>
                  <a:tcPr marL="73152" marR="73152" marT="45720" marB="45720" anchor="ctr">
                    <a:lnL w="0">
                      <a:noFill/>
                    </a:lnL>
                    <a:lnR w="0">
                      <a:noFill/>
                    </a:lnR>
                    <a:lnT w="0">
                      <a:noFill/>
                    </a:lnT>
                    <a:lnB w="9525" cmpd="sng">
                      <a:solidFill>
                        <a:srgbClr val="BFBFBF"/>
                      </a:solidFill>
                    </a:lnB>
                    <a:noFill/>
                  </a:tcPr>
                </a:tc>
                <a:tc>
                  <a:txBody>
                    <a:bodyPr wrap="square"/>
                    <a:lstStyle/>
                    <a:p>
                      <a:pPr algn="ctr"/>
                      <a:r>
                        <a:rPr sz="1200" b="1" i="0">
                          <a:solidFill>
                            <a:srgbClr val="333D47"/>
                          </a:solidFill>
                          <a:latin typeface="Arial"/>
                          <a:ea typeface="Microsoft JhengHei"/>
                        </a:rPr>
                        <a:t>29/41</a:t>
                      </a:r>
                    </a:p>
                  </a:txBody>
                  <a:tcPr marL="73152" marR="73152" marT="45720" marB="45720" anchor="ctr">
                    <a:lnL w="0">
                      <a:noFill/>
                    </a:lnL>
                    <a:lnR w="0">
                      <a:noFill/>
                    </a:lnR>
                    <a:lnT w="0">
                      <a:noFill/>
                    </a:lnT>
                    <a:lnB w="9525" cmpd="sng">
                      <a:solidFill>
                        <a:srgbClr val="BFBFBF"/>
                      </a:solidFill>
                    </a:lnB>
                    <a:noFill/>
                  </a:tcPr>
                </a:tc>
              </a:tr>
              <a:tr h="411480">
                <a:tc>
                  <a:txBody>
                    <a:bodyPr wrap="square"/>
                    <a:lstStyle/>
                    <a:p>
                      <a:pPr algn="l"/>
                      <a:r>
                        <a:rPr sz="1150" b="0" i="0">
                          <a:solidFill>
                            <a:srgbClr val="333D47"/>
                          </a:solidFill>
                          <a:latin typeface="Arial"/>
                          <a:ea typeface="Microsoft JhengHei"/>
                        </a:rPr>
                        <a:t>Azure DI + AOAI</a:t>
                      </a:r>
                    </a:p>
                  </a:txBody>
                  <a:tcPr marL="73152" marR="73152" marT="45720" marB="45720" anchor="ctr">
                    <a:lnL w="0">
                      <a:noFill/>
                    </a:lnL>
                    <a:lnR w="0">
                      <a:noFill/>
                    </a:lnR>
                    <a:lnT w="0">
                      <a:noFill/>
                    </a:lnT>
                    <a:lnB w="9525" cmpd="sng">
                      <a:solidFill>
                        <a:srgbClr val="BFBFBF"/>
                      </a:solidFill>
                    </a:lnB>
                    <a:noFill/>
                  </a:tcPr>
                </a:tc>
                <a:tc>
                  <a:txBody>
                    <a:bodyPr wrap="square"/>
                    <a:lstStyle/>
                    <a:p>
                      <a:pPr algn="ctr"/>
                      <a:r>
                        <a:rPr sz="1200" b="1" i="0">
                          <a:solidFill>
                            <a:srgbClr val="333D47"/>
                          </a:solidFill>
                          <a:latin typeface="Arial"/>
                          <a:ea typeface="Microsoft JhengHei"/>
                        </a:rPr>
                        <a:t>39/41</a:t>
                      </a:r>
                    </a:p>
                  </a:txBody>
                  <a:tcPr marL="73152" marR="73152" marT="45720" marB="45720" anchor="ctr">
                    <a:lnL w="0">
                      <a:noFill/>
                    </a:lnL>
                    <a:lnR w="0">
                      <a:noFill/>
                    </a:lnR>
                    <a:lnT w="0">
                      <a:noFill/>
                    </a:lnT>
                    <a:lnB w="9525" cmpd="sng">
                      <a:solidFill>
                        <a:srgbClr val="BFBFBF"/>
                      </a:solidFill>
                    </a:lnB>
                    <a:noFill/>
                  </a:tcPr>
                </a:tc>
              </a:tr>
            </a:tbl>
          </a:graphicData>
        </a:graphic>
      </p:graphicFrame>
      <p:sp>
        <p:nvSpPr>
          <p:cNvPr id="14" name="Rectangle 13"/>
          <p:cNvSpPr/>
          <p:nvPr/>
        </p:nvSpPr>
        <p:spPr>
          <a:xfrm>
            <a:off x="7726679" y="4160520"/>
            <a:ext cx="4114800" cy="1325880"/>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200" b="1" i="0">
                <a:solidFill>
                  <a:srgbClr val="D31145"/>
                </a:solidFill>
                <a:latin typeface="Arial"/>
                <a:ea typeface="Microsoft JhengHei"/>
              </a:rPr>
              <a:t>Read with care</a:t>
            </a:r>
          </a:p>
          <a:p>
            <a:pPr marL="0" indent="0" algn="l">
              <a:spcAft>
                <a:spcPts val="0"/>
              </a:spcAft>
              <a:buNone/>
            </a:pPr>
            <a:r>
              <a:rPr sz="1150" b="0" i="0">
                <a:solidFill>
                  <a:srgbClr val="333D47"/>
                </a:solidFill>
                <a:latin typeface="Arial"/>
                <a:ea typeface="Microsoft JhengHei"/>
              </a:rPr>
              <a:t>Equal scores here do not mean equal accuracy on unfamiliar receipts: the rules were tuned on these receipts, the AOAI prompt was not.</a:t>
            </a:r>
          </a:p>
        </p:txBody>
      </p:sp>
      <p:sp>
        <p:nvSpPr>
          <p:cNvPr id="15" name="TextBox 14"/>
          <p:cNvSpPr txBox="1"/>
          <p:nvPr/>
        </p:nvSpPr>
        <p:spPr>
          <a:xfrm>
            <a:off x="356616" y="5669280"/>
            <a:ext cx="10607040" cy="274320"/>
          </a:xfrm>
          <a:prstGeom prst="rect">
            <a:avLst/>
          </a:prstGeom>
          <a:noFill/>
        </p:spPr>
        <p:txBody>
          <a:bodyPr wrap="square" lIns="0" rIns="0" tIns="0" bIns="0" anchor="t"/>
          <a:lstStyle/>
          <a:p>
            <a:pPr marL="0" indent="0" algn="l">
              <a:spcAft>
                <a:spcPts val="0"/>
              </a:spcAft>
              <a:buNone/>
            </a:pPr>
            <a:r>
              <a:rPr sz="1000" b="0" i="1">
                <a:solidFill>
                  <a:srgbClr val="5F6770"/>
                </a:solidFill>
                <a:latin typeface="Arial"/>
                <a:ea typeface="Microsoft JhengHei"/>
              </a:rPr>
              <a:t>51 applicable fields per approach. Source: python/receipt_ocr_benchmark/results/v2/scores_improved (detail.csv, summary.csv) and extraction 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What Still Goes Wrong (Vet Invoice)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Each approach fails differently: a rule change picked the wrong number, AOAI picked the subtotal.</a:t>
            </a:r>
          </a:p>
        </p:txBody>
      </p:sp>
      <p:pic>
        <p:nvPicPr>
          <p:cNvPr id="12" name="Picture 11" descr="thumb_receipt9_marked.jpg"/>
          <p:cNvPicPr>
            <a:picLocks noChangeAspect="1"/>
          </p:cNvPicPr>
          <p:nvPr/>
        </p:nvPicPr>
        <p:blipFill>
          <a:blip r:embed="rId3"/>
          <a:stretch>
            <a:fillRect/>
          </a:stretch>
        </p:blipFill>
        <p:spPr>
          <a:xfrm>
            <a:off x="356616" y="1783080"/>
            <a:ext cx="1143000" cy="1524000"/>
          </a:xfrm>
          <a:prstGeom prst="rect">
            <a:avLst/>
          </a:prstGeom>
          <a:ln w="9525">
            <a:solidFill>
              <a:srgbClr val="BFBFBF"/>
            </a:solidFill>
          </a:ln>
        </p:spPr>
      </p:pic>
      <p:pic>
        <p:nvPicPr>
          <p:cNvPr id="13" name="Picture 12" descr="crop_receipt9.jpg"/>
          <p:cNvPicPr>
            <a:picLocks noChangeAspect="1"/>
          </p:cNvPicPr>
          <p:nvPr/>
        </p:nvPicPr>
        <p:blipFill>
          <a:blip r:embed="rId4"/>
          <a:stretch>
            <a:fillRect/>
          </a:stretch>
        </p:blipFill>
        <p:spPr>
          <a:xfrm>
            <a:off x="1682496" y="1783080"/>
            <a:ext cx="4297680" cy="566092"/>
          </a:xfrm>
          <a:prstGeom prst="rect">
            <a:avLst/>
          </a:prstGeom>
          <a:ln w="9525">
            <a:solidFill>
              <a:srgbClr val="BFBFBF"/>
            </a:solidFill>
          </a:ln>
        </p:spPr>
      </p:pic>
      <p:pic>
        <p:nvPicPr>
          <p:cNvPr id="14" name="Picture 13" descr="crop_receipt9_b.jpg"/>
          <p:cNvPicPr>
            <a:picLocks noChangeAspect="1"/>
          </p:cNvPicPr>
          <p:nvPr/>
        </p:nvPicPr>
        <p:blipFill>
          <a:blip r:embed="rId5"/>
          <a:stretch>
            <a:fillRect/>
          </a:stretch>
        </p:blipFill>
        <p:spPr>
          <a:xfrm>
            <a:off x="1682496" y="2486332"/>
            <a:ext cx="4297680" cy="1933417"/>
          </a:xfrm>
          <a:prstGeom prst="rect">
            <a:avLst/>
          </a:prstGeom>
          <a:ln w="9525">
            <a:solidFill>
              <a:srgbClr val="BFBFBF"/>
            </a:solidFill>
          </a:ln>
        </p:spPr>
      </p:pic>
      <p:graphicFrame>
        <p:nvGraphicFramePr>
          <p:cNvPr id="15" name="Table 14"/>
          <p:cNvGraphicFramePr>
            <a:graphicFrameLocks noGrp="1"/>
          </p:cNvGraphicFramePr>
          <p:nvPr/>
        </p:nvGraphicFramePr>
        <p:xfrm>
          <a:off x="6163056" y="1783080"/>
          <a:ext cx="5669280" cy="2578608"/>
        </p:xfrm>
        <a:graphic>
          <a:graphicData uri="http://schemas.openxmlformats.org/drawingml/2006/table">
            <a:tbl>
              <a:tblPr firstRow="0" bandRow="0">
                <a:tableStyleId>{2D5ABB26-0587-4C30-8999-92F81FD0307C}</a:tableStyleId>
              </a:tblPr>
              <a:tblGrid>
                <a:gridCol w="914400"/>
                <a:gridCol w="1051560"/>
                <a:gridCol w="1188720"/>
                <a:gridCol w="1188720"/>
                <a:gridCol w="1325880"/>
              </a:tblGrid>
              <a:tr h="566928">
                <a:tc>
                  <a:txBody>
                    <a:bodyPr wrap="square"/>
                    <a:lstStyle/>
                    <a:p>
                      <a:pPr algn="l"/>
                      <a:r>
                        <a:rPr sz="1000" b="1" i="0">
                          <a:solidFill>
                            <a:srgbClr val="FFFFFF"/>
                          </a:solidFill>
                          <a:latin typeface="Arial"/>
                          <a:ea typeface="Microsoft JhengHei"/>
                        </a:rPr>
                        <a:t>Field</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Correct value</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Original rules
(PaddleOCR Light)</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Improved rules
(PaddleOCR Light)</a:t>
                      </a:r>
                    </a:p>
                  </a:txBody>
                  <a:tcPr marL="73152" marR="73152" marT="45720" marB="45720" anchor="ctr">
                    <a:lnL w="0">
                      <a:noFill/>
                    </a:lnL>
                    <a:lnR w="0">
                      <a:noFill/>
                    </a:lnR>
                    <a:lnT w="0">
                      <a:noFill/>
                    </a:lnT>
                    <a:lnB w="0">
                      <a:noFill/>
                    </a:lnB>
                    <a:solidFill>
                      <a:srgbClr val="333D47"/>
                    </a:solidFill>
                  </a:tcPr>
                </a:tc>
                <a:tc>
                  <a:txBody>
                    <a:bodyPr wrap="square"/>
                    <a:lstStyle/>
                    <a:p>
                      <a:pPr algn="l"/>
                      <a:r>
                        <a:rPr sz="1000" b="1" i="0">
                          <a:solidFill>
                            <a:srgbClr val="FFFFFF"/>
                          </a:solidFill>
                          <a:latin typeface="Arial"/>
                          <a:ea typeface="Microsoft JhengHei"/>
                        </a:rPr>
                        <a:t>Azure DI + AOAI</a:t>
                      </a:r>
                    </a:p>
                  </a:txBody>
                  <a:tcPr marL="73152" marR="73152" marT="45720" marB="45720" anchor="ctr">
                    <a:lnL w="0">
                      <a:noFill/>
                    </a:lnL>
                    <a:lnR w="0">
                      <a:noFill/>
                    </a:lnR>
                    <a:lnT w="0">
                      <a:noFill/>
                    </a:lnT>
                    <a:lnB w="0">
                      <a:noFill/>
                    </a:lnB>
                    <a:solidFill>
                      <a:srgbClr val="333D47"/>
                    </a:solidFill>
                  </a:tcPr>
                </a:tc>
              </a:tr>
              <a:tr h="502920">
                <a:tc>
                  <a:txBody>
                    <a:bodyPr wrap="square"/>
                    <a:lstStyle/>
                    <a:p>
                      <a:pPr algn="l"/>
                      <a:r>
                        <a:rPr sz="1050" b="1" i="0">
                          <a:solidFill>
                            <a:srgbClr val="333D47"/>
                          </a:solidFill>
                          <a:latin typeface="Arial"/>
                          <a:ea typeface="Microsoft JhengHei"/>
                        </a:rPr>
                        <a:t>Receipt no.</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369303</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369303</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D31145"/>
                          </a:solidFill>
                          <a:latin typeface="Arial"/>
                          <a:ea typeface="Microsoft JhengHei"/>
                        </a:rPr>
                        <a:t>✗ </a:t>
                      </a:r>
                      <a:r>
                        <a:rPr sz="1050" b="0" i="0">
                          <a:solidFill>
                            <a:srgbClr val="333D47"/>
                          </a:solidFill>
                          <a:latin typeface="Arial"/>
                          <a:ea typeface="Microsoft JhengHei"/>
                        </a:rPr>
                        <a:t>380048</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369303</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Patient</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Fuk Jai</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Fuk Jai</a:t>
                      </a:r>
                    </a:p>
                  </a:txBody>
                  <a:tcPr marL="73152" marR="73152" marT="45720" marB="45720" anchor="ctr">
                    <a:lnL w="0">
                      <a:noFill/>
                    </a:lnL>
                    <a:lnR w="0">
                      <a:noFill/>
                    </a:lnR>
                    <a:lnT w="0">
                      <a:noFill/>
                    </a:lnT>
                    <a:lnB w="19050" cmpd="sng">
                      <a:solidFill>
                        <a:srgbClr val="FFFFFF"/>
                      </a:solidFill>
                    </a:lnB>
                    <a:solidFill>
                      <a:srgbClr val="E6F2EA"/>
                    </a:solidFill>
                  </a:tcPr>
                </a:tc>
              </a:tr>
              <a:tr h="502920">
                <a:tc>
                  <a:txBody>
                    <a:bodyPr wrap="square"/>
                    <a:lstStyle/>
                    <a:p>
                      <a:pPr algn="l"/>
                      <a:r>
                        <a:rPr sz="1050" b="1" i="0">
                          <a:solidFill>
                            <a:srgbClr val="333D47"/>
                          </a:solidFill>
                          <a:latin typeface="Arial"/>
                          <a:ea typeface="Microsoft JhengHei"/>
                        </a:rPr>
                        <a:t>Doctor</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Angel Tseng, Lok Yi Choi</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D31145"/>
                          </a:solidFill>
                          <a:latin typeface="Arial"/>
                          <a:ea typeface="Microsoft JhengHei"/>
                        </a:rPr>
                        <a:t>✗ </a:t>
                      </a:r>
                      <a:r>
                        <a:rPr sz="1050" b="0" i="0">
                          <a:solidFill>
                            <a:srgbClr val="5F6770"/>
                          </a:solidFill>
                          <a:latin typeface="Arial"/>
                          <a:ea typeface="Microsoft JhengHei"/>
                        </a:rPr>
                        <a:t>(not found)</a:t>
                      </a:r>
                    </a:p>
                  </a:txBody>
                  <a:tcPr marL="73152" marR="73152" marT="45720" marB="45720" anchor="ctr">
                    <a:lnL w="0">
                      <a:noFill/>
                    </a:lnL>
                    <a:lnR w="0">
                      <a:noFill/>
                    </a:lnR>
                    <a:lnT w="0">
                      <a:noFill/>
                    </a:lnT>
                    <a:lnB w="19050" cmpd="sng">
                      <a:solidFill>
                        <a:srgbClr val="FFFFFF"/>
                      </a:solidFill>
                    </a:lnB>
                    <a:solidFill>
                      <a:srgbClr val="FBE7EC"/>
                    </a:solidFill>
                  </a:tcPr>
                </a:tc>
                <a:tc>
                  <a:txBody>
                    <a:bodyPr wrap="square"/>
                    <a:lstStyle/>
                    <a:p>
                      <a:pPr algn="l"/>
                      <a:r>
                        <a:rPr sz="1050" b="1" i="0">
                          <a:solidFill>
                            <a:srgbClr val="D31145"/>
                          </a:solidFill>
                          <a:latin typeface="Arial"/>
                          <a:ea typeface="Microsoft JhengHei"/>
                        </a:rPr>
                        <a:t>✗ </a:t>
                      </a:r>
                      <a:r>
                        <a:rPr sz="1050" b="0" i="0">
                          <a:solidFill>
                            <a:srgbClr val="333D47"/>
                          </a:solidFill>
                          <a:latin typeface="Arial"/>
                          <a:ea typeface="Microsoft JhengHei"/>
                        </a:rPr>
                        <a:t>Angel Tseng</a:t>
                      </a:r>
                    </a:p>
                  </a:txBody>
                  <a:tcPr marL="73152" marR="73152" marT="45720" marB="45720" anchor="ctr">
                    <a:lnL w="0">
                      <a:noFill/>
                    </a:lnL>
                    <a:lnR w="0">
                      <a:noFill/>
                    </a:lnR>
                    <a:lnT w="0">
                      <a:noFill/>
                    </a:lnT>
                    <a:lnB w="19050" cmpd="sng">
                      <a:solidFill>
                        <a:srgbClr val="FFFFFF"/>
                      </a:solidFill>
                    </a:lnB>
                    <a:solidFill>
                      <a:srgbClr val="FBE7EC"/>
                    </a:solidFill>
                  </a:tcPr>
                </a:tc>
              </a:tr>
              <a:tr h="502920">
                <a:tc>
                  <a:txBody>
                    <a:bodyPr wrap="square"/>
                    <a:lstStyle/>
                    <a:p>
                      <a:pPr algn="l"/>
                      <a:r>
                        <a:rPr sz="1050" b="1" i="0">
                          <a:solidFill>
                            <a:srgbClr val="333D47"/>
                          </a:solidFill>
                          <a:latin typeface="Arial"/>
                          <a:ea typeface="Microsoft JhengHei"/>
                        </a:rPr>
                        <a:t>Total amount</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0" i="0">
                          <a:solidFill>
                            <a:srgbClr val="333D47"/>
                          </a:solidFill>
                          <a:latin typeface="Arial"/>
                          <a:ea typeface="Microsoft JhengHei"/>
                        </a:rPr>
                        <a:t>1361</a:t>
                      </a:r>
                    </a:p>
                  </a:txBody>
                  <a:tcPr marL="73152" marR="73152" marT="45720" marB="45720" anchor="ctr">
                    <a:lnL w="0">
                      <a:noFill/>
                    </a:lnL>
                    <a:lnR w="0">
                      <a:noFill/>
                    </a:lnR>
                    <a:lnT w="0">
                      <a:noFill/>
                    </a:lnT>
                    <a:lnB w="19050" cmpd="sng">
                      <a:solidFill>
                        <a:srgbClr val="FFFFFF"/>
                      </a:solidFill>
                    </a:lnB>
                    <a:no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1361.0</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1E7B4A"/>
                          </a:solidFill>
                          <a:latin typeface="Arial"/>
                          <a:ea typeface="Microsoft JhengHei"/>
                        </a:rPr>
                        <a:t>✓ </a:t>
                      </a:r>
                      <a:r>
                        <a:rPr sz="1050" b="0" i="0">
                          <a:solidFill>
                            <a:srgbClr val="333D47"/>
                          </a:solidFill>
                          <a:latin typeface="Arial"/>
                          <a:ea typeface="Microsoft JhengHei"/>
                        </a:rPr>
                        <a:t>1361.0</a:t>
                      </a:r>
                    </a:p>
                  </a:txBody>
                  <a:tcPr marL="73152" marR="73152" marT="45720" marB="45720" anchor="ctr">
                    <a:lnL w="0">
                      <a:noFill/>
                    </a:lnL>
                    <a:lnR w="0">
                      <a:noFill/>
                    </a:lnR>
                    <a:lnT w="0">
                      <a:noFill/>
                    </a:lnT>
                    <a:lnB w="19050" cmpd="sng">
                      <a:solidFill>
                        <a:srgbClr val="FFFFFF"/>
                      </a:solidFill>
                    </a:lnB>
                    <a:solidFill>
                      <a:srgbClr val="E6F2EA"/>
                    </a:solidFill>
                  </a:tcPr>
                </a:tc>
                <a:tc>
                  <a:txBody>
                    <a:bodyPr wrap="square"/>
                    <a:lstStyle/>
                    <a:p>
                      <a:pPr algn="l"/>
                      <a:r>
                        <a:rPr sz="1050" b="1" i="0">
                          <a:solidFill>
                            <a:srgbClr val="D31145"/>
                          </a:solidFill>
                          <a:latin typeface="Arial"/>
                          <a:ea typeface="Microsoft JhengHei"/>
                        </a:rPr>
                        <a:t>✗ </a:t>
                      </a:r>
                      <a:r>
                        <a:rPr sz="1050" b="0" i="0">
                          <a:solidFill>
                            <a:srgbClr val="333D47"/>
                          </a:solidFill>
                          <a:latin typeface="Arial"/>
                          <a:ea typeface="Microsoft JhengHei"/>
                        </a:rPr>
                        <a:t>1361.5</a:t>
                      </a:r>
                    </a:p>
                  </a:txBody>
                  <a:tcPr marL="73152" marR="73152" marT="45720" marB="45720" anchor="ctr">
                    <a:lnL w="0">
                      <a:noFill/>
                    </a:lnL>
                    <a:lnR w="0">
                      <a:noFill/>
                    </a:lnR>
                    <a:lnT w="0">
                      <a:noFill/>
                    </a:lnT>
                    <a:lnB w="19050" cmpd="sng">
                      <a:solidFill>
                        <a:srgbClr val="FFFFFF"/>
                      </a:solidFill>
                    </a:lnB>
                    <a:solidFill>
                      <a:srgbClr val="FBE7EC"/>
                    </a:solidFill>
                  </a:tcPr>
                </a:tc>
              </a:tr>
            </a:tbl>
          </a:graphicData>
        </a:graphic>
      </p:graphicFrame>
      <p:sp>
        <p:nvSpPr>
          <p:cNvPr id="16" name="TextBox 15"/>
          <p:cNvSpPr txBox="1"/>
          <p:nvPr/>
        </p:nvSpPr>
        <p:spPr>
          <a:xfrm>
            <a:off x="356616" y="5669280"/>
            <a:ext cx="10607040" cy="274320"/>
          </a:xfrm>
          <a:prstGeom prst="rect">
            <a:avLst/>
          </a:prstGeom>
          <a:noFill/>
        </p:spPr>
        <p:txBody>
          <a:bodyPr wrap="square" lIns="0" rIns="0" tIns="0" bIns="0" anchor="t"/>
          <a:lstStyle/>
          <a:p>
            <a:pPr marL="0" indent="0" algn="l">
              <a:spcAft>
                <a:spcPts val="0"/>
              </a:spcAft>
              <a:buNone/>
            </a:pPr>
            <a:r>
              <a:rPr sz="1000" b="0" i="1">
                <a:solidFill>
                  <a:srgbClr val="5F6770"/>
                </a:solidFill>
                <a:latin typeface="Arial"/>
                <a:ea typeface="Microsoft JhengHei"/>
              </a:rPr>
              <a:t>PaddleOCR Heavy also found almost no text on two photos (3 and 0 text blocks): an OCR failure no rule can fix. ✓ correct · ✗ wrong or missing.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Speed, Reliability and Cost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Azure DI is fastest (3.8 s); every approach processed all 9 receipts.</a:t>
            </a:r>
          </a:p>
        </p:txBody>
      </p:sp>
      <p:graphicFrame>
        <p:nvGraphicFramePr>
          <p:cNvPr id="12" name="Chart 11"/>
          <p:cNvGraphicFramePr>
            <a:graphicFrameLocks noGrp="1"/>
          </p:cNvGraphicFramePr>
          <p:nvPr/>
        </p:nvGraphicFramePr>
        <p:xfrm>
          <a:off x="356616" y="1737360"/>
          <a:ext cx="6949440" cy="3840480"/>
        </p:xfrm>
        <a:graphic>
          <a:graphicData uri="http://schemas.openxmlformats.org/drawingml/2006/chart">
            <c:chart xmlns:c="http://schemas.openxmlformats.org/drawingml/2006/chart" r:id="rId3"/>
          </a:graphicData>
        </a:graphic>
      </p:graphicFrame>
      <p:sp>
        <p:nvSpPr>
          <p:cNvPr id="13" name="Rectangle 12"/>
          <p:cNvSpPr/>
          <p:nvPr/>
        </p:nvSpPr>
        <p:spPr>
          <a:xfrm>
            <a:off x="7589520" y="1783080"/>
            <a:ext cx="4242816" cy="1417320"/>
          </a:xfrm>
          <a:prstGeom prst="rect">
            <a:avLst/>
          </a:prstGeom>
          <a:solidFill>
            <a:srgbClr val="F2F2F2"/>
          </a:solidFill>
          <a:ln>
            <a:noFill/>
          </a:ln>
        </p:spPr>
        <p:txBody>
          <a:bodyPr rtlCol="0" anchor="t" wrap="square" lIns="201168" rIns="201168" tIns="109728" bIns="109728"/>
          <a:lstStyle/>
          <a:p>
            <a:pPr algn="l" marL="0" indent="0">
              <a:spcAft>
                <a:spcPts val="400"/>
              </a:spcAft>
              <a:buNone/>
            </a:pPr>
            <a:r>
              <a:rPr sz="1100" b="1" i="0">
                <a:solidFill>
                  <a:srgbClr val="5F6770"/>
                </a:solidFill>
                <a:latin typeface="Arial"/>
                <a:ea typeface="Microsoft JhengHei"/>
              </a:rPr>
              <a:t>RELIABILITY</a:t>
            </a:r>
          </a:p>
          <a:p>
            <a:pPr marL="0" indent="0" algn="l">
              <a:spcAft>
                <a:spcPts val="200"/>
              </a:spcAft>
              <a:buNone/>
            </a:pPr>
            <a:r>
              <a:rPr sz="3000" b="1" i="0">
                <a:solidFill>
                  <a:srgbClr val="D31145"/>
                </a:solidFill>
                <a:latin typeface="Arial"/>
                <a:ea typeface="Microsoft JhengHei"/>
              </a:rPr>
              <a:t>9 / 9</a:t>
            </a:r>
          </a:p>
          <a:p>
            <a:pPr marL="0" indent="0" algn="l">
              <a:spcAft>
                <a:spcPts val="0"/>
              </a:spcAft>
              <a:buNone/>
            </a:pPr>
            <a:r>
              <a:rPr sz="1200" b="0" i="0">
                <a:solidFill>
                  <a:srgbClr val="333D47"/>
                </a:solidFill>
                <a:latin typeface="Arial"/>
                <a:ea typeface="Microsoft JhengHei"/>
              </a:rPr>
              <a:t>receipts processed by every approach, no failed requests</a:t>
            </a:r>
          </a:p>
        </p:txBody>
      </p:sp>
      <p:sp>
        <p:nvSpPr>
          <p:cNvPr id="14" name="Rectangle 13"/>
          <p:cNvSpPr/>
          <p:nvPr/>
        </p:nvSpPr>
        <p:spPr>
          <a:xfrm>
            <a:off x="7589520" y="3383280"/>
            <a:ext cx="4242816" cy="210312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100" b="1" i="0">
                <a:solidFill>
                  <a:srgbClr val="5F6770"/>
                </a:solidFill>
                <a:latin typeface="Arial"/>
                <a:ea typeface="Microsoft JhengHei"/>
              </a:rPr>
              <a:t>COST DRIVERS (MEASURED)</a:t>
            </a:r>
          </a:p>
          <a:p>
            <a:pPr marL="164592" indent="-164592" algn="l">
              <a:spcAft>
                <a:spcPts val="400"/>
              </a:spcAft>
              <a:buFont typeface="Arial"/>
              <a:buChar char="•"/>
            </a:pPr>
            <a:r>
              <a:rPr sz="1200" b="0" i="0">
                <a:solidFill>
                  <a:srgbClr val="333D47"/>
                </a:solidFill>
                <a:latin typeface="Arial"/>
                <a:ea typeface="Microsoft JhengHei"/>
              </a:rPr>
              <a:t>Rules: 4–10 ms of CPU per receipt</a:t>
            </a:r>
          </a:p>
          <a:p>
            <a:pPr marL="164592" indent="-164592" algn="l">
              <a:spcAft>
                <a:spcPts val="400"/>
              </a:spcAft>
              <a:buFont typeface="Arial"/>
              <a:buChar char="•"/>
            </a:pPr>
            <a:r>
              <a:rPr sz="1200" b="0" i="0">
                <a:solidFill>
                  <a:srgbClr val="333D47"/>
                </a:solidFill>
                <a:latin typeface="Arial"/>
                <a:ea typeface="Microsoft JhengHei"/>
              </a:rPr>
              <a:t>PaddleOCR: CPU time on our compute; no per-call fee</a:t>
            </a:r>
          </a:p>
          <a:p>
            <a:pPr marL="164592" indent="-164592" algn="l">
              <a:spcAft>
                <a:spcPts val="400"/>
              </a:spcAft>
              <a:buFont typeface="Arial"/>
              <a:buChar char="•"/>
            </a:pPr>
            <a:r>
              <a:rPr sz="1200" b="0" i="0">
                <a:solidFill>
                  <a:srgbClr val="333D47"/>
                </a:solidFill>
                <a:latin typeface="Arial"/>
                <a:ea typeface="Microsoft JhengHei"/>
              </a:rPr>
              <a:t>AOAI: about 602 input + 263 output tokens per receipt</a:t>
            </a:r>
          </a:p>
          <a:p>
            <a:pPr marL="0" indent="0" algn="l">
              <a:spcAft>
                <a:spcPts val="0"/>
              </a:spcAft>
              <a:buNone/>
            </a:pPr>
            <a:r>
              <a:rPr sz="1200" b="1" i="0">
                <a:solidFill>
                  <a:srgbClr val="D31145"/>
                </a:solidFill>
                <a:latin typeface="Arial"/>
                <a:ea typeface="Microsoft JhengHei"/>
              </a:rPr>
              <a:t>Prices still to be confirmed</a:t>
            </a:r>
          </a:p>
        </p:txBody>
      </p:sp>
      <p:sp>
        <p:nvSpPr>
          <p:cNvPr id="15" name="TextBox 14"/>
          <p:cNvSpPr txBox="1"/>
          <p:nvPr/>
        </p:nvSpPr>
        <p:spPr>
          <a:xfrm>
            <a:off x="356616" y="5669280"/>
            <a:ext cx="10607040" cy="274320"/>
          </a:xfrm>
          <a:prstGeom prst="rect">
            <a:avLst/>
          </a:prstGeom>
          <a:noFill/>
        </p:spPr>
        <p:txBody>
          <a:bodyPr wrap="square" lIns="0" rIns="0" tIns="0" bIns="0" anchor="t"/>
          <a:lstStyle/>
          <a:p>
            <a:pPr marL="0" indent="0" algn="l">
              <a:spcAft>
                <a:spcPts val="0"/>
              </a:spcAft>
              <a:buNone/>
            </a:pPr>
            <a:r>
              <a:rPr sz="1000" b="0" i="1">
                <a:solidFill>
                  <a:srgbClr val="5F6770"/>
                </a:solidFill>
                <a:latin typeface="Arial"/>
                <a:ea typeface="Microsoft JhengHei"/>
              </a:rPr>
              <a:t>Times measure different things (CPU vs API call incl. network); receipts were processed one at a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Key Findings and Trade-offs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Most errors came from field extraction, not OCR; better rules close the gap on known layouts.</a:t>
            </a:r>
          </a:p>
        </p:txBody>
      </p:sp>
      <p:sp>
        <p:nvSpPr>
          <p:cNvPr id="12" name="Oval 11"/>
          <p:cNvSpPr/>
          <p:nvPr/>
        </p:nvSpPr>
        <p:spPr>
          <a:xfrm>
            <a:off x="356616" y="1901952"/>
            <a:ext cx="365760" cy="365760"/>
          </a:xfrm>
          <a:prstGeom prst="ellipse">
            <a:avLst/>
          </a:prstGeom>
          <a:solidFill>
            <a:srgbClr val="D31145"/>
          </a:solidFill>
          <a:ln>
            <a:noFill/>
          </a:ln>
        </p:spPr>
        <p:txBody>
          <a:bodyPr rtlCol="0" anchor="ctr"/>
          <a:lstStyle/>
          <a:p>
            <a:pPr algn="ctr"/>
            <a:r>
              <a:rPr sz="1300" b="1">
                <a:solidFill>
                  <a:srgbClr val="FFFFFF"/>
                </a:solidFill>
                <a:latin typeface="Arial"/>
                <a:ea typeface="Microsoft JhengHei"/>
              </a:rPr>
              <a:t>1</a:t>
            </a:r>
          </a:p>
        </p:txBody>
      </p:sp>
      <p:sp>
        <p:nvSpPr>
          <p:cNvPr id="13" name="TextBox 12"/>
          <p:cNvSpPr txBox="1"/>
          <p:nvPr/>
        </p:nvSpPr>
        <p:spPr>
          <a:xfrm>
            <a:off x="868680" y="1828800"/>
            <a:ext cx="5760720" cy="658368"/>
          </a:xfrm>
          <a:prstGeom prst="rect">
            <a:avLst/>
          </a:prstGeom>
          <a:noFill/>
        </p:spPr>
        <p:txBody>
          <a:bodyPr wrap="square" lIns="0" rIns="0" tIns="0" bIns="0" anchor="t"/>
          <a:lstStyle/>
          <a:p>
            <a:pPr marL="0" indent="0" algn="l">
              <a:spcAft>
                <a:spcPts val="200"/>
              </a:spcAft>
              <a:buNone/>
            </a:pPr>
            <a:r>
              <a:rPr sz="1400" b="1" i="0">
                <a:solidFill>
                  <a:srgbClr val="333D47"/>
                </a:solidFill>
                <a:latin typeface="Arial"/>
                <a:ea typeface="Microsoft JhengHei"/>
              </a:rPr>
              <a:t>OCR was mostly right</a:t>
            </a:r>
          </a:p>
          <a:p>
            <a:pPr marL="0" indent="0" algn="l">
              <a:spcAft>
                <a:spcPts val="0"/>
              </a:spcAft>
              <a:buNone/>
            </a:pPr>
            <a:r>
              <a:rPr sz="1200" b="0" i="0">
                <a:solidFill>
                  <a:srgbClr val="5F6770"/>
                </a:solidFill>
                <a:latin typeface="Arial"/>
                <a:ea typeface="Microsoft JhengHei"/>
              </a:rPr>
              <a:t>On the new receipts, Azure DI and PaddleOCR Light read almost every value.</a:t>
            </a:r>
          </a:p>
        </p:txBody>
      </p:sp>
      <p:sp>
        <p:nvSpPr>
          <p:cNvPr id="14" name="Oval 13"/>
          <p:cNvSpPr/>
          <p:nvPr/>
        </p:nvSpPr>
        <p:spPr>
          <a:xfrm>
            <a:off x="356616" y="2633472"/>
            <a:ext cx="365760" cy="365760"/>
          </a:xfrm>
          <a:prstGeom prst="ellipse">
            <a:avLst/>
          </a:prstGeom>
          <a:solidFill>
            <a:srgbClr val="D31145"/>
          </a:solidFill>
          <a:ln>
            <a:noFill/>
          </a:ln>
        </p:spPr>
        <p:txBody>
          <a:bodyPr rtlCol="0" anchor="ctr"/>
          <a:lstStyle/>
          <a:p>
            <a:pPr algn="ctr"/>
            <a:r>
              <a:rPr sz="1300" b="1">
                <a:solidFill>
                  <a:srgbClr val="FFFFFF"/>
                </a:solidFill>
                <a:latin typeface="Arial"/>
                <a:ea typeface="Microsoft JhengHei"/>
              </a:rPr>
              <a:t>2</a:t>
            </a:r>
          </a:p>
        </p:txBody>
      </p:sp>
      <p:sp>
        <p:nvSpPr>
          <p:cNvPr id="15" name="TextBox 14"/>
          <p:cNvSpPr txBox="1"/>
          <p:nvPr/>
        </p:nvSpPr>
        <p:spPr>
          <a:xfrm>
            <a:off x="868680" y="2560320"/>
            <a:ext cx="5760720" cy="658368"/>
          </a:xfrm>
          <a:prstGeom prst="rect">
            <a:avLst/>
          </a:prstGeom>
          <a:noFill/>
        </p:spPr>
        <p:txBody>
          <a:bodyPr wrap="square" lIns="0" rIns="0" tIns="0" bIns="0" anchor="t"/>
          <a:lstStyle/>
          <a:p>
            <a:pPr marL="0" indent="0" algn="l">
              <a:spcAft>
                <a:spcPts val="200"/>
              </a:spcAft>
              <a:buNone/>
            </a:pPr>
            <a:r>
              <a:rPr sz="1400" b="1" i="0">
                <a:solidFill>
                  <a:srgbClr val="333D47"/>
                </a:solidFill>
                <a:latin typeface="Arial"/>
                <a:ea typeface="Microsoft JhengHei"/>
              </a:rPr>
              <a:t>Original rules were weak</a:t>
            </a:r>
          </a:p>
          <a:p>
            <a:pPr marL="0" indent="0" algn="l">
              <a:spcAft>
                <a:spcPts val="0"/>
              </a:spcAft>
              <a:buNone/>
            </a:pPr>
            <a:r>
              <a:rPr sz="1200" b="0" i="0">
                <a:solidFill>
                  <a:srgbClr val="5F6770"/>
                </a:solidFill>
                <a:latin typeface="Arial"/>
                <a:ea typeface="Microsoft JhengHei"/>
              </a:rPr>
              <a:t>English-only labels: 37.3–41.2% for Light and DI.</a:t>
            </a:r>
          </a:p>
        </p:txBody>
      </p:sp>
      <p:sp>
        <p:nvSpPr>
          <p:cNvPr id="16" name="Oval 15"/>
          <p:cNvSpPr/>
          <p:nvPr/>
        </p:nvSpPr>
        <p:spPr>
          <a:xfrm>
            <a:off x="356616" y="3364992"/>
            <a:ext cx="365760" cy="365760"/>
          </a:xfrm>
          <a:prstGeom prst="ellipse">
            <a:avLst/>
          </a:prstGeom>
          <a:solidFill>
            <a:srgbClr val="D31145"/>
          </a:solidFill>
          <a:ln>
            <a:noFill/>
          </a:ln>
        </p:spPr>
        <p:txBody>
          <a:bodyPr rtlCol="0" anchor="ctr"/>
          <a:lstStyle/>
          <a:p>
            <a:pPr algn="ctr"/>
            <a:r>
              <a:rPr sz="1300" b="1">
                <a:solidFill>
                  <a:srgbClr val="FFFFFF"/>
                </a:solidFill>
                <a:latin typeface="Arial"/>
                <a:ea typeface="Microsoft JhengHei"/>
              </a:rPr>
              <a:t>3</a:t>
            </a:r>
          </a:p>
        </p:txBody>
      </p:sp>
      <p:sp>
        <p:nvSpPr>
          <p:cNvPr id="17" name="TextBox 16"/>
          <p:cNvSpPr txBox="1"/>
          <p:nvPr/>
        </p:nvSpPr>
        <p:spPr>
          <a:xfrm>
            <a:off x="868680" y="3291840"/>
            <a:ext cx="5760720" cy="658368"/>
          </a:xfrm>
          <a:prstGeom prst="rect">
            <a:avLst/>
          </a:prstGeom>
          <a:noFill/>
        </p:spPr>
        <p:txBody>
          <a:bodyPr wrap="square" lIns="0" rIns="0" tIns="0" bIns="0" anchor="t"/>
          <a:lstStyle/>
          <a:p>
            <a:pPr marL="0" indent="0" algn="l">
              <a:spcAft>
                <a:spcPts val="200"/>
              </a:spcAft>
              <a:buNone/>
            </a:pPr>
            <a:r>
              <a:rPr sz="1400" b="1" i="0">
                <a:solidFill>
                  <a:srgbClr val="333D47"/>
                </a:solidFill>
                <a:latin typeface="Arial"/>
                <a:ea typeface="Microsoft JhengHei"/>
              </a:rPr>
              <a:t>Rules can be improved</a:t>
            </a:r>
          </a:p>
          <a:p>
            <a:pPr marL="0" indent="0" algn="l">
              <a:spcAft>
                <a:spcPts val="0"/>
              </a:spcAft>
              <a:buNone/>
            </a:pPr>
            <a:r>
              <a:rPr sz="1200" b="0" i="0">
                <a:solidFill>
                  <a:srgbClr val="5F6770"/>
                </a:solidFill>
                <a:latin typeface="Arial"/>
                <a:ea typeface="Microsoft JhengHei"/>
              </a:rPr>
              <a:t>Tuned rules: Light 88.2%, DI 86.3%; label vocabulary grew about 3×.</a:t>
            </a:r>
          </a:p>
        </p:txBody>
      </p:sp>
      <p:sp>
        <p:nvSpPr>
          <p:cNvPr id="18" name="Oval 17"/>
          <p:cNvSpPr/>
          <p:nvPr/>
        </p:nvSpPr>
        <p:spPr>
          <a:xfrm>
            <a:off x="356616" y="4096512"/>
            <a:ext cx="365760" cy="365760"/>
          </a:xfrm>
          <a:prstGeom prst="ellipse">
            <a:avLst/>
          </a:prstGeom>
          <a:solidFill>
            <a:srgbClr val="D31145"/>
          </a:solidFill>
          <a:ln>
            <a:noFill/>
          </a:ln>
        </p:spPr>
        <p:txBody>
          <a:bodyPr rtlCol="0" anchor="ctr"/>
          <a:lstStyle/>
          <a:p>
            <a:pPr algn="ctr"/>
            <a:r>
              <a:rPr sz="1300" b="1">
                <a:solidFill>
                  <a:srgbClr val="FFFFFF"/>
                </a:solidFill>
                <a:latin typeface="Arial"/>
                <a:ea typeface="Microsoft JhengHei"/>
              </a:rPr>
              <a:t>4</a:t>
            </a:r>
          </a:p>
        </p:txBody>
      </p:sp>
      <p:sp>
        <p:nvSpPr>
          <p:cNvPr id="19" name="TextBox 18"/>
          <p:cNvSpPr txBox="1"/>
          <p:nvPr/>
        </p:nvSpPr>
        <p:spPr>
          <a:xfrm>
            <a:off x="868680" y="4023360"/>
            <a:ext cx="5760720" cy="658368"/>
          </a:xfrm>
          <a:prstGeom prst="rect">
            <a:avLst/>
          </a:prstGeom>
          <a:noFill/>
        </p:spPr>
        <p:txBody>
          <a:bodyPr wrap="square" lIns="0" rIns="0" tIns="0" bIns="0" anchor="t"/>
          <a:lstStyle/>
          <a:p>
            <a:pPr marL="0" indent="0" algn="l">
              <a:spcAft>
                <a:spcPts val="200"/>
              </a:spcAft>
              <a:buNone/>
            </a:pPr>
            <a:r>
              <a:rPr sz="1400" b="1" i="0">
                <a:solidFill>
                  <a:srgbClr val="333D47"/>
                </a:solidFill>
                <a:latin typeface="Arial"/>
                <a:ea typeface="Microsoft JhengHei"/>
              </a:rPr>
              <a:t>AOAI handled new layouts as-is</a:t>
            </a:r>
          </a:p>
          <a:p>
            <a:pPr marL="0" indent="0" algn="l">
              <a:spcAft>
                <a:spcPts val="0"/>
              </a:spcAft>
              <a:buNone/>
            </a:pPr>
            <a:r>
              <a:rPr sz="1200" b="0" i="0">
                <a:solidFill>
                  <a:srgbClr val="5F6770"/>
                </a:solidFill>
                <a:latin typeface="Arial"/>
                <a:ea typeface="Microsoft JhengHei"/>
              </a:rPr>
              <a:t>88.2% with a prompt never tuned to these receipts.</a:t>
            </a:r>
          </a:p>
        </p:txBody>
      </p:sp>
      <p:sp>
        <p:nvSpPr>
          <p:cNvPr id="20" name="Oval 19"/>
          <p:cNvSpPr/>
          <p:nvPr/>
        </p:nvSpPr>
        <p:spPr>
          <a:xfrm>
            <a:off x="356616" y="4828032"/>
            <a:ext cx="365760" cy="365760"/>
          </a:xfrm>
          <a:prstGeom prst="ellipse">
            <a:avLst/>
          </a:prstGeom>
          <a:solidFill>
            <a:srgbClr val="D31145"/>
          </a:solidFill>
          <a:ln>
            <a:noFill/>
          </a:ln>
        </p:spPr>
        <p:txBody>
          <a:bodyPr rtlCol="0" anchor="ctr"/>
          <a:lstStyle/>
          <a:p>
            <a:pPr algn="ctr"/>
            <a:r>
              <a:rPr sz="1300" b="1">
                <a:solidFill>
                  <a:srgbClr val="FFFFFF"/>
                </a:solidFill>
                <a:latin typeface="Arial"/>
                <a:ea typeface="Microsoft JhengHei"/>
              </a:rPr>
              <a:t>5</a:t>
            </a:r>
          </a:p>
        </p:txBody>
      </p:sp>
      <p:sp>
        <p:nvSpPr>
          <p:cNvPr id="21" name="TextBox 20"/>
          <p:cNvSpPr txBox="1"/>
          <p:nvPr/>
        </p:nvSpPr>
        <p:spPr>
          <a:xfrm>
            <a:off x="868680" y="4754880"/>
            <a:ext cx="5760720" cy="658368"/>
          </a:xfrm>
          <a:prstGeom prst="rect">
            <a:avLst/>
          </a:prstGeom>
          <a:noFill/>
        </p:spPr>
        <p:txBody>
          <a:bodyPr wrap="square" lIns="0" rIns="0" tIns="0" bIns="0" anchor="t"/>
          <a:lstStyle/>
          <a:p>
            <a:pPr marL="0" indent="0" algn="l">
              <a:spcAft>
                <a:spcPts val="200"/>
              </a:spcAft>
              <a:buNone/>
            </a:pPr>
            <a:r>
              <a:rPr sz="1400" b="1" i="0">
                <a:solidFill>
                  <a:srgbClr val="333D47"/>
                </a:solidFill>
                <a:latin typeface="Arial"/>
                <a:ea typeface="Microsoft JhengHei"/>
              </a:rPr>
              <a:t>Heavy adds nothing</a:t>
            </a:r>
          </a:p>
          <a:p>
            <a:pPr marL="0" indent="0" algn="l">
              <a:spcAft>
                <a:spcPts val="0"/>
              </a:spcAft>
              <a:buNone/>
            </a:pPr>
            <a:r>
              <a:rPr sz="1200" b="0" i="0">
                <a:solidFill>
                  <a:srgbClr val="5F6770"/>
                </a:solidFill>
                <a:latin typeface="Arial"/>
                <a:ea typeface="Microsoft JhengHei"/>
              </a:rPr>
              <a:t>Lowest accuracy and slowest (53.3 s); OCR failed on two photos.</a:t>
            </a:r>
          </a:p>
        </p:txBody>
      </p:sp>
      <p:graphicFrame>
        <p:nvGraphicFramePr>
          <p:cNvPr id="22" name="Table 21"/>
          <p:cNvGraphicFramePr>
            <a:graphicFrameLocks noGrp="1"/>
          </p:cNvGraphicFramePr>
          <p:nvPr/>
        </p:nvGraphicFramePr>
        <p:xfrm>
          <a:off x="6903720" y="1828800"/>
          <a:ext cx="4928616" cy="3200400"/>
        </p:xfrm>
        <a:graphic>
          <a:graphicData uri="http://schemas.openxmlformats.org/drawingml/2006/table">
            <a:tbl>
              <a:tblPr firstRow="0" bandRow="0">
                <a:tableStyleId>{2D5ABB26-0587-4C30-8999-92F81FD0307C}</a:tableStyleId>
              </a:tblPr>
              <a:tblGrid>
                <a:gridCol w="1417320"/>
                <a:gridCol w="1737360"/>
                <a:gridCol w="1773936"/>
              </a:tblGrid>
              <a:tr h="457200">
                <a:tc>
                  <a:txBody>
                    <a:bodyPr wrap="square"/>
                    <a:lstStyle/>
                    <a:p>
                      <a:pPr algn="l"/>
                      <a:r>
                        <a:rPr sz="1100" b="1" i="0">
                          <a:solidFill>
                            <a:srgbClr val="FFFFFF"/>
                          </a:solidFill>
                          <a:latin typeface="Arial"/>
                          <a:ea typeface="Microsoft JhengHei"/>
                        </a:rPr>
                        <a:t/>
                      </a:r>
                    </a:p>
                  </a:txBody>
                  <a:tcPr marL="73152" marR="73152" marT="45720" marB="45720" anchor="ctr">
                    <a:lnL w="0">
                      <a:noFill/>
                    </a:lnL>
                    <a:lnR w="0">
                      <a:noFill/>
                    </a:lnR>
                    <a:lnT w="0">
                      <a:noFill/>
                    </a:lnT>
                    <a:lnB w="0">
                      <a:noFill/>
                    </a:lnB>
                    <a:solidFill>
                      <a:srgbClr val="333D47"/>
                    </a:solidFill>
                  </a:tcPr>
                </a:tc>
                <a:tc>
                  <a:txBody>
                    <a:bodyPr wrap="square"/>
                    <a:lstStyle/>
                    <a:p>
                      <a:pPr algn="l"/>
                      <a:r>
                        <a:rPr sz="1100" b="1" i="0">
                          <a:solidFill>
                            <a:srgbClr val="FFFFFF"/>
                          </a:solidFill>
                          <a:latin typeface="Arial"/>
                          <a:ea typeface="Microsoft JhengHei"/>
                        </a:rPr>
                        <a:t>PaddleOCR Light + improved rules</a:t>
                      </a:r>
                    </a:p>
                  </a:txBody>
                  <a:tcPr marL="73152" marR="73152" marT="45720" marB="45720" anchor="ctr">
                    <a:lnL w="0">
                      <a:noFill/>
                    </a:lnL>
                    <a:lnR w="0">
                      <a:noFill/>
                    </a:lnR>
                    <a:lnT w="0">
                      <a:noFill/>
                    </a:lnT>
                    <a:lnB w="0">
                      <a:noFill/>
                    </a:lnB>
                    <a:solidFill>
                      <a:srgbClr val="333D47"/>
                    </a:solidFill>
                  </a:tcPr>
                </a:tc>
                <a:tc>
                  <a:txBody>
                    <a:bodyPr wrap="square"/>
                    <a:lstStyle/>
                    <a:p>
                      <a:pPr algn="l"/>
                      <a:r>
                        <a:rPr sz="1100" b="1" i="0">
                          <a:solidFill>
                            <a:srgbClr val="FFFFFF"/>
                          </a:solidFill>
                          <a:latin typeface="Arial"/>
                          <a:ea typeface="Microsoft JhengHei"/>
                        </a:rPr>
                        <a:t>Azure DI + AOAI</a:t>
                      </a:r>
                    </a:p>
                  </a:txBody>
                  <a:tcPr marL="73152" marR="73152" marT="45720" marB="45720" anchor="ctr">
                    <a:lnL w="0">
                      <a:noFill/>
                    </a:lnL>
                    <a:lnR w="0">
                      <a:noFill/>
                    </a:lnR>
                    <a:lnT w="0">
                      <a:noFill/>
                    </a:lnT>
                    <a:lnB w="0">
                      <a:noFill/>
                    </a:lnB>
                    <a:solidFill>
                      <a:srgbClr val="333D47"/>
                    </a:solidFill>
                  </a:tcPr>
                </a:tc>
              </a:tr>
              <a:tr h="685800">
                <a:tc>
                  <a:txBody>
                    <a:bodyPr wrap="square"/>
                    <a:lstStyle/>
                    <a:p>
                      <a:pPr algn="l"/>
                      <a:r>
                        <a:rPr sz="1150" b="1" i="0">
                          <a:solidFill>
                            <a:srgbClr val="333D47"/>
                          </a:solidFill>
                          <a:latin typeface="Arial"/>
                          <a:ea typeface="Microsoft JhengHei"/>
                        </a:rPr>
                        <a:t>Runs where</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Our compute, offline</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Azure cloud services</a:t>
                      </a:r>
                    </a:p>
                  </a:txBody>
                  <a:tcPr marL="73152" marR="73152" marT="45720" marB="45720" anchor="ctr">
                    <a:lnL w="0">
                      <a:noFill/>
                    </a:lnL>
                    <a:lnR w="0">
                      <a:noFill/>
                    </a:lnR>
                    <a:lnT w="0">
                      <a:noFill/>
                    </a:lnT>
                    <a:lnB w="9525" cmpd="sng">
                      <a:solidFill>
                        <a:srgbClr val="BFBFBF"/>
                      </a:solidFill>
                    </a:lnB>
                    <a:noFill/>
                  </a:tcPr>
                </a:tc>
              </a:tr>
              <a:tr h="685800">
                <a:tc>
                  <a:txBody>
                    <a:bodyPr wrap="square"/>
                    <a:lstStyle/>
                    <a:p>
                      <a:pPr algn="l"/>
                      <a:r>
                        <a:rPr sz="1150" b="1" i="0">
                          <a:solidFill>
                            <a:srgbClr val="333D47"/>
                          </a:solidFill>
                          <a:latin typeface="Arial"/>
                          <a:ea typeface="Microsoft JhengHei"/>
                        </a:rPr>
                        <a:t>Per-request fee</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None (compute only)</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DI pages + AOAI tokens</a:t>
                      </a:r>
                    </a:p>
                  </a:txBody>
                  <a:tcPr marL="73152" marR="73152" marT="45720" marB="45720" anchor="ctr">
                    <a:lnL w="0">
                      <a:noFill/>
                    </a:lnL>
                    <a:lnR w="0">
                      <a:noFill/>
                    </a:lnR>
                    <a:lnT w="0">
                      <a:noFill/>
                    </a:lnT>
                    <a:lnB w="9525" cmpd="sng">
                      <a:solidFill>
                        <a:srgbClr val="BFBFBF"/>
                      </a:solidFill>
                    </a:lnB>
                    <a:noFill/>
                  </a:tcPr>
                </a:tc>
              </a:tr>
              <a:tr h="685800">
                <a:tc>
                  <a:txBody>
                    <a:bodyPr wrap="square"/>
                    <a:lstStyle/>
                    <a:p>
                      <a:pPr algn="l"/>
                      <a:r>
                        <a:rPr sz="1150" b="1" i="0">
                          <a:solidFill>
                            <a:srgbClr val="333D47"/>
                          </a:solidFill>
                          <a:latin typeface="Arial"/>
                          <a:ea typeface="Microsoft JhengHei"/>
                        </a:rPr>
                        <a:t>New layouts</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Needs new rules</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Handled by the prompt</a:t>
                      </a:r>
                    </a:p>
                  </a:txBody>
                  <a:tcPr marL="73152" marR="73152" marT="45720" marB="45720" anchor="ctr">
                    <a:lnL w="0">
                      <a:noFill/>
                    </a:lnL>
                    <a:lnR w="0">
                      <a:noFill/>
                    </a:lnR>
                    <a:lnT w="0">
                      <a:noFill/>
                    </a:lnT>
                    <a:lnB w="9525" cmpd="sng">
                      <a:solidFill>
                        <a:srgbClr val="BFBFBF"/>
                      </a:solidFill>
                    </a:lnB>
                    <a:noFill/>
                  </a:tcPr>
                </a:tc>
              </a:tr>
              <a:tr h="685800">
                <a:tc>
                  <a:txBody>
                    <a:bodyPr wrap="square"/>
                    <a:lstStyle/>
                    <a:p>
                      <a:pPr algn="l"/>
                      <a:r>
                        <a:rPr sz="1150" b="1" i="0">
                          <a:solidFill>
                            <a:srgbClr val="333D47"/>
                          </a:solidFill>
                          <a:latin typeface="Arial"/>
                          <a:ea typeface="Microsoft JhengHei"/>
                        </a:rPr>
                        <a:t>Main risk</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Rule maintenance</a:t>
                      </a:r>
                    </a:p>
                  </a:txBody>
                  <a:tcPr marL="73152" marR="73152"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Cost, model variability</a:t>
                      </a:r>
                    </a:p>
                  </a:txBody>
                  <a:tcPr marL="73152" marR="73152" marT="45720" marB="45720" anchor="ctr">
                    <a:lnL w="0">
                      <a:noFill/>
                    </a:lnL>
                    <a:lnR w="0">
                      <a:noFill/>
                    </a:lnR>
                    <a:lnT w="0">
                      <a:noFill/>
                    </a:lnT>
                    <a:lnB w="9525" cmpd="sng">
                      <a:solidFill>
                        <a:srgbClr val="BFBFBF"/>
                      </a:solidFill>
                    </a:lnB>
                    <a:no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Recommendation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600" b="0" i="0">
                <a:solidFill>
                  <a:srgbClr val="D31145"/>
                </a:solidFill>
                <a:latin typeface="Arial"/>
                <a:ea typeface="Microsoft JhengHei"/>
              </a:rPr>
              <a:t>Keep two candidates and decide on a larger set of receipts that neither has seen.</a:t>
            </a:r>
          </a:p>
        </p:txBody>
      </p:sp>
      <p:sp>
        <p:nvSpPr>
          <p:cNvPr id="12" name="Rectangle 11"/>
          <p:cNvSpPr/>
          <p:nvPr/>
        </p:nvSpPr>
        <p:spPr>
          <a:xfrm>
            <a:off x="356616" y="1828800"/>
            <a:ext cx="5600700" cy="1463040"/>
          </a:xfrm>
          <a:prstGeom prst="rect">
            <a:avLst/>
          </a:prstGeom>
          <a:solidFill>
            <a:srgbClr val="FBE7EC"/>
          </a:solidFill>
          <a:ln>
            <a:noFill/>
          </a:ln>
        </p:spPr>
        <p:txBody>
          <a:bodyPr rtlCol="0" anchor="t" wrap="square" lIns="228600" rIns="228600" tIns="109728" bIns="109728"/>
          <a:lstStyle/>
          <a:p>
            <a:pPr algn="l" marL="0" indent="0">
              <a:spcAft>
                <a:spcPts val="600"/>
              </a:spcAft>
              <a:buNone/>
            </a:pPr>
            <a:r>
              <a:rPr sz="1100" b="1" i="0">
                <a:solidFill>
                  <a:srgbClr val="5F6770"/>
                </a:solidFill>
                <a:latin typeface="Arial"/>
                <a:ea typeface="Microsoft JhengHei"/>
              </a:rPr>
              <a:t>CANDIDATE 1</a:t>
            </a:r>
          </a:p>
          <a:p>
            <a:pPr marL="0" indent="0" algn="l">
              <a:spcAft>
                <a:spcPts val="600"/>
              </a:spcAft>
              <a:buNone/>
            </a:pPr>
            <a:r>
              <a:rPr sz="1500" b="1" i="0">
                <a:solidFill>
                  <a:srgbClr val="D31145"/>
                </a:solidFill>
                <a:latin typeface="Arial"/>
                <a:ea typeface="Microsoft JhengHei"/>
              </a:rPr>
              <a:t>PaddleOCR Light + improved rules  </a:t>
            </a:r>
            <a:r>
              <a:rPr sz="1250" b="1" i="0">
                <a:solidFill>
                  <a:srgbClr val="333D47"/>
                </a:solidFill>
                <a:latin typeface="Arial"/>
                <a:ea typeface="Microsoft JhengHei"/>
              </a:rPr>
              <a:t>88.2% (tuned) · 13.9 s</a:t>
            </a:r>
          </a:p>
          <a:p>
            <a:pPr marL="0" indent="0" algn="l">
              <a:spcAft>
                <a:spcPts val="0"/>
              </a:spcAft>
              <a:buNone/>
            </a:pPr>
            <a:r>
              <a:rPr sz="1250" b="0" i="0">
                <a:solidFill>
                  <a:srgbClr val="333D47"/>
                </a:solidFill>
                <a:latin typeface="Arial"/>
                <a:ea typeface="Microsoft JhengHei"/>
              </a:rPr>
              <a:t>Offline, no per-request charges; needs rules maintained for each new layout.</a:t>
            </a:r>
          </a:p>
        </p:txBody>
      </p:sp>
      <p:sp>
        <p:nvSpPr>
          <p:cNvPr id="13" name="Rectangle 12"/>
          <p:cNvSpPr/>
          <p:nvPr/>
        </p:nvSpPr>
        <p:spPr>
          <a:xfrm>
            <a:off x="6231636" y="1828800"/>
            <a:ext cx="5600700" cy="1463040"/>
          </a:xfrm>
          <a:prstGeom prst="rect">
            <a:avLst/>
          </a:prstGeom>
          <a:solidFill>
            <a:srgbClr val="FBE7EC"/>
          </a:solidFill>
          <a:ln>
            <a:noFill/>
          </a:ln>
        </p:spPr>
        <p:txBody>
          <a:bodyPr rtlCol="0" anchor="t" wrap="square" lIns="228600" rIns="228600" tIns="109728" bIns="109728"/>
          <a:lstStyle/>
          <a:p>
            <a:pPr algn="l" marL="0" indent="0">
              <a:spcAft>
                <a:spcPts val="600"/>
              </a:spcAft>
              <a:buNone/>
            </a:pPr>
            <a:r>
              <a:rPr sz="1100" b="1" i="0">
                <a:solidFill>
                  <a:srgbClr val="5F6770"/>
                </a:solidFill>
                <a:latin typeface="Arial"/>
                <a:ea typeface="Microsoft JhengHei"/>
              </a:rPr>
              <a:t>CANDIDATE 2</a:t>
            </a:r>
          </a:p>
          <a:p>
            <a:pPr marL="0" indent="0" algn="l">
              <a:spcAft>
                <a:spcPts val="600"/>
              </a:spcAft>
              <a:buNone/>
            </a:pPr>
            <a:r>
              <a:rPr sz="1500" b="1" i="0">
                <a:solidFill>
                  <a:srgbClr val="D31145"/>
                </a:solidFill>
                <a:latin typeface="Arial"/>
                <a:ea typeface="Microsoft JhengHei"/>
              </a:rPr>
              <a:t>Azure DI + AOAI  </a:t>
            </a:r>
            <a:r>
              <a:rPr sz="1250" b="1" i="0">
                <a:solidFill>
                  <a:srgbClr val="333D47"/>
                </a:solidFill>
                <a:latin typeface="Arial"/>
                <a:ea typeface="Microsoft JhengHei"/>
              </a:rPr>
              <a:t>88.2% · 6.2 s</a:t>
            </a:r>
          </a:p>
          <a:p>
            <a:pPr marL="0" indent="0" algn="l">
              <a:spcAft>
                <a:spcPts val="0"/>
              </a:spcAft>
              <a:buNone/>
            </a:pPr>
            <a:r>
              <a:rPr sz="1250" b="0" i="0">
                <a:solidFill>
                  <a:srgbClr val="333D47"/>
                </a:solidFill>
                <a:latin typeface="Arial"/>
                <a:ea typeface="Microsoft JhengHei"/>
              </a:rPr>
              <a:t>Flexible on varied layouts with an unchanged prompt; API costs and run-to-run variability.</a:t>
            </a:r>
          </a:p>
        </p:txBody>
      </p:sp>
      <p:sp>
        <p:nvSpPr>
          <p:cNvPr id="14" name="Rectangle 13"/>
          <p:cNvSpPr/>
          <p:nvPr/>
        </p:nvSpPr>
        <p:spPr>
          <a:xfrm>
            <a:off x="356616" y="3566160"/>
            <a:ext cx="11475720" cy="457200"/>
          </a:xfrm>
          <a:prstGeom prst="rect">
            <a:avLst/>
          </a:prstGeom>
          <a:solidFill>
            <a:srgbClr val="333D47"/>
          </a:solidFill>
          <a:ln>
            <a:noFill/>
          </a:ln>
        </p:spPr>
        <p:txBody>
          <a:bodyPr rtlCol="0" anchor="ctr" wrap="square" lIns="182880" rIns="182880" tIns="109728" bIns="109728"/>
          <a:lstStyle/>
          <a:p>
            <a:pPr algn="l" marL="0" indent="0">
              <a:spcAft>
                <a:spcPts val="0"/>
              </a:spcAft>
              <a:buNone/>
            </a:pPr>
            <a:r>
              <a:rPr sz="1350" b="1" i="0">
                <a:solidFill>
                  <a:srgbClr val="FFFFFF"/>
                </a:solidFill>
                <a:latin typeface="Arial"/>
                <a:ea typeface="Microsoft JhengHei"/>
              </a:rPr>
              <a:t>Limitation:  </a:t>
            </a:r>
            <a:r>
              <a:rPr sz="1350" b="0" i="0">
                <a:solidFill>
                  <a:srgbClr val="FFFFFF"/>
                </a:solidFill>
                <a:latin typeface="Arial"/>
                <a:ea typeface="Microsoft JhengHei"/>
              </a:rPr>
              <a:t>9 receipts, mostly mock and printed; the improved rules were tuned on them.</a:t>
            </a:r>
          </a:p>
        </p:txBody>
      </p:sp>
      <p:sp>
        <p:nvSpPr>
          <p:cNvPr id="15" name="Rectangle 14"/>
          <p:cNvSpPr/>
          <p:nvPr/>
        </p:nvSpPr>
        <p:spPr>
          <a:xfrm>
            <a:off x="356616" y="4251960"/>
            <a:ext cx="3642360" cy="109728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000" b="1" i="0">
                <a:solidFill>
                  <a:srgbClr val="5F6770"/>
                </a:solidFill>
                <a:latin typeface="Arial"/>
                <a:ea typeface="Microsoft JhengHei"/>
              </a:rPr>
              <a:t>NEXT STEP 1</a:t>
            </a:r>
          </a:p>
          <a:p>
            <a:pPr marL="0" indent="0" algn="l">
              <a:spcAft>
                <a:spcPts val="300"/>
              </a:spcAft>
              <a:buNone/>
            </a:pPr>
            <a:r>
              <a:rPr sz="1400" b="1" i="0">
                <a:solidFill>
                  <a:srgbClr val="333D47"/>
                </a:solidFill>
                <a:latin typeface="Arial"/>
                <a:ea typeface="Microsoft JhengHei"/>
              </a:rPr>
              <a:t>Freeze both</a:t>
            </a:r>
          </a:p>
          <a:p>
            <a:pPr marL="0" indent="0" algn="l">
              <a:spcAft>
                <a:spcPts val="0"/>
              </a:spcAft>
              <a:buNone/>
            </a:pPr>
            <a:r>
              <a:rPr sz="1200" b="0" i="0">
                <a:solidFill>
                  <a:srgbClr val="5F6770"/>
                </a:solidFill>
                <a:latin typeface="Arial"/>
                <a:ea typeface="Microsoft JhengHei"/>
              </a:rPr>
              <a:t>Lock the improved rules and the AOAI prompt before any new test</a:t>
            </a:r>
          </a:p>
        </p:txBody>
      </p:sp>
      <p:sp>
        <p:nvSpPr>
          <p:cNvPr id="16" name="Rectangle 15"/>
          <p:cNvSpPr/>
          <p:nvPr/>
        </p:nvSpPr>
        <p:spPr>
          <a:xfrm>
            <a:off x="4273296" y="4251960"/>
            <a:ext cx="3642360" cy="109728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000" b="1" i="0">
                <a:solidFill>
                  <a:srgbClr val="5F6770"/>
                </a:solidFill>
                <a:latin typeface="Arial"/>
                <a:ea typeface="Microsoft JhengHei"/>
              </a:rPr>
              <a:t>NEXT STEP 2</a:t>
            </a:r>
          </a:p>
          <a:p>
            <a:pPr marL="0" indent="0" algn="l">
              <a:spcAft>
                <a:spcPts val="300"/>
              </a:spcAft>
              <a:buNone/>
            </a:pPr>
            <a:r>
              <a:rPr sz="1400" b="1" i="0">
                <a:solidFill>
                  <a:srgbClr val="333D47"/>
                </a:solidFill>
                <a:latin typeface="Arial"/>
                <a:ea typeface="Microsoft JhengHei"/>
              </a:rPr>
              <a:t>Test on unseen receipts</a:t>
            </a:r>
          </a:p>
          <a:p>
            <a:pPr marL="0" indent="0" algn="l">
              <a:spcAft>
                <a:spcPts val="0"/>
              </a:spcAft>
              <a:buNone/>
            </a:pPr>
            <a:r>
              <a:rPr sz="1200" b="0" i="0">
                <a:solidFill>
                  <a:srgbClr val="5F6770"/>
                </a:solidFill>
                <a:latin typeface="Arial"/>
                <a:ea typeface="Microsoft JhengHei"/>
              </a:rPr>
              <a:t>30+ real, anonymised receipts; count rule fixes needed per new layout</a:t>
            </a:r>
          </a:p>
        </p:txBody>
      </p:sp>
      <p:sp>
        <p:nvSpPr>
          <p:cNvPr id="17" name="Rectangle 16"/>
          <p:cNvSpPr/>
          <p:nvPr/>
        </p:nvSpPr>
        <p:spPr>
          <a:xfrm>
            <a:off x="8189976" y="4251960"/>
            <a:ext cx="3642360" cy="109728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000" b="1" i="0">
                <a:solidFill>
                  <a:srgbClr val="5F6770"/>
                </a:solidFill>
                <a:latin typeface="Arial"/>
                <a:ea typeface="Microsoft JhengHei"/>
              </a:rPr>
              <a:t>NEXT STEP 3</a:t>
            </a:r>
          </a:p>
          <a:p>
            <a:pPr marL="0" indent="0" algn="l">
              <a:spcAft>
                <a:spcPts val="300"/>
              </a:spcAft>
              <a:buNone/>
            </a:pPr>
            <a:r>
              <a:rPr sz="1400" b="1" i="0">
                <a:solidFill>
                  <a:srgbClr val="333D47"/>
                </a:solidFill>
                <a:latin typeface="Arial"/>
                <a:ea typeface="Microsoft JhengHei"/>
              </a:rPr>
              <a:t>Confirm prices</a:t>
            </a:r>
          </a:p>
          <a:p>
            <a:pPr marL="0" indent="0" algn="l">
              <a:spcAft>
                <a:spcPts val="0"/>
              </a:spcAft>
              <a:buNone/>
            </a:pPr>
            <a:r>
              <a:rPr sz="1200" b="0" i="0">
                <a:solidFill>
                  <a:srgbClr val="5F6770"/>
                </a:solidFill>
                <a:latin typeface="Arial"/>
                <a:ea typeface="Microsoft JhengHei"/>
              </a:rPr>
              <a:t>Compute rate, Document Intelligence pages, gpt-5-mini tokens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