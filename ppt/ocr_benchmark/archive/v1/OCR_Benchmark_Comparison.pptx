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c:v>
                </c:pt>
              </c:strCache>
            </c:strRef>
          </c:tx>
          <c:dPt>
            <c:idx val="0"/>
            <c:spPr>
              <a:solidFill>
                <a:srgbClr val="D31145"/>
              </a:solidFill>
              <a:ln>
                <a:noFill/>
              </a:ln>
            </c:spPr>
          </c:dPt>
          <c:dPt>
            <c:idx val="1"/>
            <c:spPr>
              <a:solidFill>
                <a:srgbClr val="D31145"/>
              </a:solidFill>
              <a:ln>
                <a:noFill/>
              </a:ln>
            </c:spPr>
          </c:dPt>
          <c:dPt>
            <c:idx val="2"/>
            <c:spPr>
              <a:solidFill>
                <a:srgbClr val="A6ABB0"/>
              </a:solidFill>
              <a:ln>
                <a:noFill/>
              </a:ln>
            </c:spPr>
          </c:dPt>
          <c:dPt>
            <c:idx val="3"/>
            <c:spPr>
              <a:solidFill>
                <a:srgbClr val="D31145"/>
              </a:solidFill>
              <a:ln>
                <a:noFill/>
              </a:ln>
            </c:spPr>
          </c:dPt>
          <c:cat>
            <c:strRef>
              <c:f>Sheet1!$A$2:$A$5</c:f>
              <c:strCache>
                <c:ptCount val="4"/>
                <c:pt idx="0">
                  <c:v>PaddleOCR Light
18/25</c:v>
                </c:pt>
                <c:pt idx="1">
                  <c:v>PaddleOCR Heavy
18/25</c:v>
                </c:pt>
                <c:pt idx="2">
                  <c:v>Azure DI
15/25</c:v>
                </c:pt>
                <c:pt idx="3">
                  <c:v>Azure DI + AOAI
18/25</c:v>
                </c:pt>
              </c:strCache>
            </c:strRef>
          </c:cat>
          <c:val>
            <c:numRef>
              <c:f>Sheet1!$B$2:$B$5</c:f>
              <c:numCache>
                <c:formatCode>General</c:formatCode>
                <c:ptCount val="4"/>
                <c:pt idx="0">
                  <c:v>0.72</c:v>
                </c:pt>
                <c:pt idx="1">
                  <c:v>0.72</c:v>
                </c:pt>
                <c:pt idx="2">
                  <c:v>0.6</c:v>
                </c:pt>
                <c:pt idx="3">
                  <c:v>0.72</c:v>
                </c:pt>
              </c:numCache>
            </c:numRef>
          </c:val>
        </c:ser>
        <c:dLbls>
          <c:numFmt formatCode="0%" sourceLinked="0"/>
          <c:txPr>
            <a:bodyPr/>
            <a:lstStyle/>
            <a:p>
              <a:pPr>
                <a:defRPr sz="1400" b="1">
                  <a:solidFill>
                    <a:srgbClr val="333D47"/>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A6ABB0"/>
            </a:solidFill>
          </a:ln>
        </c:spPr>
        <c:txPr>
          <a:bodyPr/>
          <a:lstStyle/>
          <a:p>
            <a:pPr>
              <a:defRPr sz="1200">
                <a:latin typeface="Arial"/>
              </a:defRPr>
            </a:pPr>
          </a:p>
        </c:txPr>
        <c:crossAx val="-2113994440"/>
        <c:crosses val="autoZero"/>
        <c:auto val="1"/>
        <c:lblAlgn val="ctr"/>
        <c:lblOffset val="100"/>
        <c:noMultiLvlLbl val="0"/>
      </c:catAx>
      <c:valAx>
        <c:axId val="-2113994440"/>
        <c:scaling>
          <c:max val="1.0"/>
          <c:min val="0.0"/>
        </c:scaling>
        <c:delete/>
        <c:axPos val="l"/>
        <c:majorTickMark val="out"/>
        <c:minorTickMark val="none"/>
        <c:tickLblPos val="nextTo"/>
        <c:crossAx val="-2068027336"/>
        <c:crosses val="autoZero"/>
      </c:valAx>
    </c:plotArea>
    <c:dispBlanksAs val="gap"/>
  </c:chart>
  <c:txPr>
    <a:bodyPr/>
    <a:lstStyle/>
    <a:p>
      <a:pPr>
        <a:defRPr sz="1200">
          <a:solidFill>
            <a:srgbClr val="333D47"/>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dPt>
            <c:idx val="0"/>
            <c:spPr>
              <a:solidFill>
                <a:srgbClr val="D31145"/>
              </a:solidFill>
              <a:ln>
                <a:noFill/>
              </a:ln>
            </c:spPr>
          </c:dPt>
          <c:dPt>
            <c:idx val="1"/>
            <c:spPr>
              <a:solidFill>
                <a:srgbClr val="A6ABB0"/>
              </a:solidFill>
              <a:ln>
                <a:noFill/>
              </a:ln>
            </c:spPr>
          </c:dPt>
          <c:dPt>
            <c:idx val="2"/>
            <c:spPr>
              <a:solidFill>
                <a:srgbClr val="D31145"/>
              </a:solidFill>
              <a:ln>
                <a:noFill/>
              </a:ln>
            </c:spPr>
          </c:dPt>
          <c:dPt>
            <c:idx val="3"/>
            <c:spPr>
              <a:solidFill>
                <a:srgbClr val="D31145"/>
              </a:solidFill>
              <a:ln>
                <a:noFill/>
              </a:ln>
            </c:spPr>
          </c:dPt>
          <c:cat>
            <c:strRef>
              <c:f>Sheet1!$A$2:$A$5</c:f>
              <c:strCache>
                <c:ptCount val="4"/>
                <c:pt idx="0">
                  <c:v>PaddleOCR Light</c:v>
                </c:pt>
                <c:pt idx="1">
                  <c:v>PaddleOCR Heavy</c:v>
                </c:pt>
                <c:pt idx="2">
                  <c:v>Azure DI</c:v>
                </c:pt>
                <c:pt idx="3">
                  <c:v>Azure DI + AOAI</c:v>
                </c:pt>
              </c:strCache>
            </c:strRef>
          </c:cat>
          <c:val>
            <c:numRef>
              <c:f>Sheet1!$B$2:$B$5</c:f>
              <c:numCache>
                <c:formatCode>General</c:formatCode>
                <c:ptCount val="4"/>
                <c:pt idx="0">
                  <c:v>8.7</c:v>
                </c:pt>
                <c:pt idx="1">
                  <c:v>35.8</c:v>
                </c:pt>
                <c:pt idx="2">
                  <c:v>2.6</c:v>
                </c:pt>
                <c:pt idx="3">
                  <c:v>5.4</c:v>
                </c:pt>
              </c:numCache>
            </c:numRef>
          </c:val>
        </c:ser>
        <c:dLbls>
          <c:numFmt formatCode="0.0&quot; s&quot;" sourceLinked="0"/>
          <c:txPr>
            <a:bodyPr/>
            <a:lstStyle/>
            <a:p>
              <a:pPr>
                <a:defRPr sz="1400" b="1">
                  <a:solidFill>
                    <a:srgbClr val="333D47"/>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A6ABB0"/>
            </a:solidFill>
          </a:ln>
        </c:spPr>
        <c:txPr>
          <a:bodyPr/>
          <a:lstStyle/>
          <a:p>
            <a:pPr>
              <a:defRPr sz="1200">
                <a:latin typeface="Arial"/>
              </a:defRPr>
            </a:pPr>
          </a:p>
        </c:txPr>
        <c:crossAx val="-2113994440"/>
        <c:crosses val="autoZero"/>
        <c:auto val="1"/>
        <c:lblAlgn val="ctr"/>
        <c:lblOffset val="100"/>
        <c:noMultiLvlLbl val="0"/>
      </c:catAx>
      <c:valAx>
        <c:axId val="-2113994440"/>
        <c:scaling>
          <c:max val="42.24399999999999"/>
          <c:min val="0.0"/>
        </c:scaling>
        <c:delete/>
        <c:axPos val="b"/>
        <c:majorTickMark val="out"/>
        <c:minorTickMark val="none"/>
        <c:tickLblPos val="nextTo"/>
        <c:crossAx val="-2068027336"/>
        <c:crosses val="autoZero"/>
      </c:valAx>
    </c:plotArea>
    <c:dispBlanksAs val="gap"/>
  </c:chart>
  <c:txPr>
    <a:bodyPr/>
    <a:lstStyle/>
    <a:p>
      <a:pPr>
        <a:defRPr sz="1200">
          <a:solidFill>
            <a:srgbClr val="333D47"/>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answers one question: is Azure Document Intelligence plus Azure OpenAI worth its extra cost and complexity compared with simpler OCR options? All results come from a benchmark on six mock receipts.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know whether the more expensive Azure AI pipeline (Document Intelligence plus OpenAI) is justified. All four approaches read the same six mock receipts and were scored against one hand-checked answer key, field by field. We looked at accuracy, speed, reliability and cost.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approach has two steps: OCR turns the image into text, then an extraction step finds the six fields. The first three use the same fixed extraction rules, so they differ only in the OCR engine. The fourth replaces the rules with Azure OpenAI. Grey boxes run on our own compute with no per-call fee; red boxes are paid Azure API calls.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is the share of fields that are present on the receipts and were extracted correctly. Of the 36 receipt-field combinations, 25 have a value on the receipt; the rest (for example registration number, which appears on none) are excluded. PaddleOCR Light, Heavy and Azure DI + AOAI each got 18 of 25 right. With only 6 receipts, one field is worth 4 percentage points, so the tie is not conclusive.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amount was extracted correctly by every approach on every receipt. Azure DI + AOAI found all four patient names and all three receipt numbers, including fields without a clear label. PaddleOCR read the handwritten dates correctly on five of six receipts. Both Azure DI approaches got only one date right because Azure DI read the handwritten year 2026 as 2020 on four receipts.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Average seconds per receipt. PaddleOCR runs on a CPU on our Azure ML compute; the Azure services are timed as the full API call including network. Azure DI + AOAI is 2.3 s of OCR plus 3.1 s of OpenAI. PaddleOCR Heavy is about four times slower than Light for the same accuracy. Receipts were processed one at a time, so this is not a test of throughput at volume. Earlier reliability problems (a PaddleOCR Heavy crash and Azure OpenAI timeouts in an older version) were fixed before the final 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findings. Prices are not yet confirmed, so the cost table shows only what we measured: compute hours for PaddleOCR, pages for Azure DI, and tokens for Azure OpenAI per 1,000 receipts. Once we have our VM hourly rate, the Document Intelligence page price and the gpt-5-mini token prices, each cell becomes a simple multiplication.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evidence, Azure DI plus Azure OpenAI is not yet shown to be worth its extra cost: it ties with PaddleOCR Light. We recommend dropping PaddleOCR Heavy and Azure DI with rules alone, and testing the two remaining candidates on a larger, representative set of real, anonymised receipts once pricing is confirmed. Combining PaddleOCR Light with Azure OpenAI is an idea worth testing, but it has not been tested yet.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114800"/>
            <a:ext cx="5760720" cy="822960"/>
          </a:xfrm>
        </p:spPr>
        <p:txBody>
          <a:bodyPr/>
          <a:lstStyle/>
          <a:p>
            <a:r>
              <a:rPr>
                <a:latin typeface="Arial"/>
              </a:rPr>
              <a:t>Comparing traditional OCR with Azure AI solutions</a:t>
            </a:r>
          </a:p>
          <a:p>
            <a:r>
              <a:rPr>
                <a:latin typeface="Arial"/>
              </a:rPr>
              <a:t>Results from 6 mock medical receipts · October 2026</a:t>
            </a:r>
          </a:p>
        </p:txBody>
      </p:sp>
      <p:sp>
        <p:nvSpPr>
          <p:cNvPr id="3" name="Text Placeholder 2"/>
          <p:cNvSpPr>
            <a:spLocks noGrp="1"/>
          </p:cNvSpPr>
          <p:nvPr>
            <p:ph type="body" idx="10" sz="quarter"/>
          </p:nvPr>
        </p:nvSpPr>
        <p:spPr/>
        <p:txBody>
          <a:bodyPr/>
          <a:lstStyle/>
          <a:p>
            <a:r>
              <a:rPr>
                <a:latin typeface="Arial"/>
              </a:rPr>
              <a:t>Receipt OCR Benchmark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Objective and Methodology</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Bef>
                <a:spcPts val="0"/>
              </a:spcBef>
              <a:spcAft>
                <a:spcPts val="0"/>
              </a:spcAft>
              <a:buNone/>
            </a:pPr>
            <a:r>
              <a:rPr sz="1600" b="0" i="0">
                <a:solidFill>
                  <a:srgbClr val="D31145"/>
                </a:solidFill>
                <a:latin typeface="Arial"/>
              </a:rPr>
              <a:t>We tested four approaches on the same receipts, fields and scoring to support a build-or-buy decision.</a:t>
            </a:r>
          </a:p>
        </p:txBody>
      </p:sp>
      <p:sp>
        <p:nvSpPr>
          <p:cNvPr id="12" name="Rectangle 11"/>
          <p:cNvSpPr/>
          <p:nvPr/>
        </p:nvSpPr>
        <p:spPr>
          <a:xfrm>
            <a:off x="356616" y="1828800"/>
            <a:ext cx="3429000" cy="3611880"/>
          </a:xfrm>
          <a:prstGeom prst="rect">
            <a:avLst/>
          </a:prstGeom>
          <a:solidFill>
            <a:srgbClr val="F2F2F2"/>
          </a:solidFill>
          <a:ln>
            <a:noFill/>
          </a:ln>
        </p:spPr>
        <p:txBody>
          <a:bodyPr rtlCol="0" anchor="t" wrap="square" lIns="228600" rIns="228600" tIns="109728" bIns="109728"/>
          <a:lstStyle/>
          <a:p>
            <a:pPr algn="l" marL="0" indent="0">
              <a:spcBef>
                <a:spcPts val="0"/>
              </a:spcBef>
              <a:spcAft>
                <a:spcPts val="1000"/>
              </a:spcAft>
              <a:buNone/>
            </a:pPr>
            <a:r>
              <a:rPr sz="1100" b="1" i="0">
                <a:solidFill>
                  <a:srgbClr val="5F6770"/>
                </a:solidFill>
                <a:latin typeface="Arial"/>
              </a:rPr>
              <a:t>BUSINESS QUESTION</a:t>
            </a:r>
          </a:p>
          <a:p>
            <a:pPr marL="0" indent="0" algn="l">
              <a:spcBef>
                <a:spcPts val="0"/>
              </a:spcBef>
              <a:spcAft>
                <a:spcPts val="1400"/>
              </a:spcAft>
              <a:buNone/>
            </a:pPr>
            <a:r>
              <a:rPr sz="2000" b="1" i="0">
                <a:solidFill>
                  <a:srgbClr val="D31145"/>
                </a:solidFill>
                <a:latin typeface="Arial"/>
              </a:rPr>
              <a:t>Is Azure Document Intelligence + Azure OpenAI worth its additional cost and complexity?</a:t>
            </a:r>
          </a:p>
          <a:p>
            <a:pPr marL="0" indent="0" algn="l">
              <a:spcBef>
                <a:spcPts val="0"/>
              </a:spcBef>
              <a:spcAft>
                <a:spcPts val="0"/>
              </a:spcAft>
              <a:buNone/>
            </a:pPr>
            <a:r>
              <a:rPr sz="1400" b="0" i="0">
                <a:solidFill>
                  <a:srgbClr val="333D47"/>
                </a:solidFill>
                <a:latin typeface="Arial"/>
              </a:rPr>
              <a:t>Compared with simpler OCR solutions that run on our own compute.</a:t>
            </a:r>
          </a:p>
        </p:txBody>
      </p:sp>
      <p:sp>
        <p:nvSpPr>
          <p:cNvPr id="13" name="Rectangle 12"/>
          <p:cNvSpPr/>
          <p:nvPr/>
        </p:nvSpPr>
        <p:spPr>
          <a:xfrm>
            <a:off x="4059936" y="1828800"/>
            <a:ext cx="3749039" cy="1668780"/>
          </a:xfrm>
          <a:prstGeom prst="rect">
            <a:avLst/>
          </a:prstGeom>
          <a:solidFill>
            <a:srgbClr val="F2F2F2"/>
          </a:solidFill>
          <a:ln>
            <a:noFill/>
          </a:ln>
        </p:spPr>
        <p:txBody>
          <a:bodyPr rtlCol="0" anchor="t" wrap="square" lIns="201168" rIns="201168" tIns="109728" bIns="109728"/>
          <a:lstStyle/>
          <a:p>
            <a:pPr algn="l" marL="0" indent="0">
              <a:spcBef>
                <a:spcPts val="0"/>
              </a:spcBef>
              <a:spcAft>
                <a:spcPts val="800"/>
              </a:spcAft>
              <a:buNone/>
            </a:pPr>
            <a:r>
              <a:rPr sz="1500" b="1" i="0">
                <a:solidFill>
                  <a:srgbClr val="D31145"/>
                </a:solidFill>
                <a:latin typeface="Arial"/>
              </a:rPr>
              <a:t>Dataset</a:t>
            </a:r>
          </a:p>
          <a:p>
            <a:pPr marL="164592" indent="-164592" algn="l">
              <a:spcBef>
                <a:spcPts val="0"/>
              </a:spcBef>
              <a:spcAft>
                <a:spcPts val="400"/>
              </a:spcAft>
              <a:buFont typeface="Arial"/>
              <a:buChar char="•"/>
            </a:pPr>
            <a:r>
              <a:rPr sz="1300" b="0" i="0">
                <a:solidFill>
                  <a:srgbClr val="333D47"/>
                </a:solidFill>
                <a:latin typeface="Arial"/>
              </a:rPr>
              <a:t>6 mock medical receipts in 4 layouts</a:t>
            </a:r>
          </a:p>
          <a:p>
            <a:pPr marL="164592" indent="-164592" algn="l">
              <a:spcBef>
                <a:spcPts val="0"/>
              </a:spcBef>
              <a:spcAft>
                <a:spcPts val="400"/>
              </a:spcAft>
              <a:buFont typeface="Arial"/>
              <a:buChar char="•"/>
            </a:pPr>
            <a:r>
              <a:rPr sz="1300" b="0" i="0">
                <a:solidFill>
                  <a:srgbClr val="333D47"/>
                </a:solidFill>
                <a:latin typeface="Arial"/>
              </a:rPr>
              <a:t>4 handwritten, 2 printed</a:t>
            </a:r>
          </a:p>
        </p:txBody>
      </p:sp>
      <p:sp>
        <p:nvSpPr>
          <p:cNvPr id="14" name="Rectangle 13"/>
          <p:cNvSpPr/>
          <p:nvPr/>
        </p:nvSpPr>
        <p:spPr>
          <a:xfrm>
            <a:off x="8083296" y="1828800"/>
            <a:ext cx="3749039" cy="1668780"/>
          </a:xfrm>
          <a:prstGeom prst="rect">
            <a:avLst/>
          </a:prstGeom>
          <a:solidFill>
            <a:srgbClr val="F2F2F2"/>
          </a:solidFill>
          <a:ln>
            <a:noFill/>
          </a:ln>
        </p:spPr>
        <p:txBody>
          <a:bodyPr rtlCol="0" anchor="t" wrap="square" lIns="201168" rIns="201168" tIns="109728" bIns="109728"/>
          <a:lstStyle/>
          <a:p>
            <a:pPr algn="l" marL="0" indent="0">
              <a:spcBef>
                <a:spcPts val="0"/>
              </a:spcBef>
              <a:spcAft>
                <a:spcPts val="800"/>
              </a:spcAft>
              <a:buNone/>
            </a:pPr>
            <a:r>
              <a:rPr sz="1500" b="1" i="0">
                <a:solidFill>
                  <a:srgbClr val="D31145"/>
                </a:solidFill>
                <a:latin typeface="Arial"/>
              </a:rPr>
              <a:t>Fields evaluated</a:t>
            </a:r>
          </a:p>
          <a:p>
            <a:pPr marL="164592" indent="-164592" algn="l">
              <a:spcBef>
                <a:spcPts val="0"/>
              </a:spcBef>
              <a:spcAft>
                <a:spcPts val="400"/>
              </a:spcAft>
              <a:buFont typeface="Arial"/>
              <a:buChar char="•"/>
            </a:pPr>
            <a:r>
              <a:rPr sz="1300" b="0" i="0">
                <a:solidFill>
                  <a:srgbClr val="333D47"/>
                </a:solidFill>
                <a:latin typeface="Arial"/>
              </a:rPr>
              <a:t>Doctor name, patient name, receipt number</a:t>
            </a:r>
          </a:p>
          <a:p>
            <a:pPr marL="164592" indent="-164592" algn="l">
              <a:spcBef>
                <a:spcPts val="0"/>
              </a:spcBef>
              <a:spcAft>
                <a:spcPts val="400"/>
              </a:spcAft>
              <a:buFont typeface="Arial"/>
              <a:buChar char="•"/>
            </a:pPr>
            <a:r>
              <a:rPr sz="1300" b="0" i="0">
                <a:solidFill>
                  <a:srgbClr val="333D47"/>
                </a:solidFill>
                <a:latin typeface="Arial"/>
              </a:rPr>
              <a:t>Service date, total amount, registration number</a:t>
            </a:r>
          </a:p>
        </p:txBody>
      </p:sp>
      <p:sp>
        <p:nvSpPr>
          <p:cNvPr id="15" name="Rectangle 14"/>
          <p:cNvSpPr/>
          <p:nvPr/>
        </p:nvSpPr>
        <p:spPr>
          <a:xfrm>
            <a:off x="4059936" y="3771900"/>
            <a:ext cx="3749039" cy="1668780"/>
          </a:xfrm>
          <a:prstGeom prst="rect">
            <a:avLst/>
          </a:prstGeom>
          <a:solidFill>
            <a:srgbClr val="F2F2F2"/>
          </a:solidFill>
          <a:ln>
            <a:noFill/>
          </a:ln>
        </p:spPr>
        <p:txBody>
          <a:bodyPr rtlCol="0" anchor="t" wrap="square" lIns="201168" rIns="201168" tIns="109728" bIns="109728"/>
          <a:lstStyle/>
          <a:p>
            <a:pPr algn="l" marL="0" indent="0">
              <a:spcBef>
                <a:spcPts val="0"/>
              </a:spcBef>
              <a:spcAft>
                <a:spcPts val="800"/>
              </a:spcAft>
              <a:buNone/>
            </a:pPr>
            <a:r>
              <a:rPr sz="1500" b="1" i="0">
                <a:solidFill>
                  <a:srgbClr val="D31145"/>
                </a:solidFill>
                <a:latin typeface="Arial"/>
              </a:rPr>
              <a:t>Approaches compared</a:t>
            </a:r>
          </a:p>
          <a:p>
            <a:pPr marL="164592" indent="-164592" algn="l">
              <a:spcBef>
                <a:spcPts val="0"/>
              </a:spcBef>
              <a:spcAft>
                <a:spcPts val="400"/>
              </a:spcAft>
              <a:buFont typeface="Arial"/>
              <a:buChar char="•"/>
            </a:pPr>
            <a:r>
              <a:rPr sz="1300" b="0" i="0">
                <a:solidFill>
                  <a:srgbClr val="333D47"/>
                </a:solidFill>
                <a:latin typeface="Arial"/>
              </a:rPr>
              <a:t>PaddleOCR Light and Heavy</a:t>
            </a:r>
          </a:p>
          <a:p>
            <a:pPr marL="164592" indent="-164592" algn="l">
              <a:spcBef>
                <a:spcPts val="0"/>
              </a:spcBef>
              <a:spcAft>
                <a:spcPts val="400"/>
              </a:spcAft>
              <a:buFont typeface="Arial"/>
              <a:buChar char="•"/>
            </a:pPr>
            <a:r>
              <a:rPr sz="1300" b="0" i="0">
                <a:solidFill>
                  <a:srgbClr val="333D47"/>
                </a:solidFill>
                <a:latin typeface="Arial"/>
              </a:rPr>
              <a:t>Azure DI, and Azure DI + Azure OpenAI</a:t>
            </a:r>
          </a:p>
        </p:txBody>
      </p:sp>
      <p:sp>
        <p:nvSpPr>
          <p:cNvPr id="16" name="Rectangle 15"/>
          <p:cNvSpPr/>
          <p:nvPr/>
        </p:nvSpPr>
        <p:spPr>
          <a:xfrm>
            <a:off x="8083296" y="3771900"/>
            <a:ext cx="3749039" cy="1668780"/>
          </a:xfrm>
          <a:prstGeom prst="rect">
            <a:avLst/>
          </a:prstGeom>
          <a:solidFill>
            <a:srgbClr val="F2F2F2"/>
          </a:solidFill>
          <a:ln>
            <a:noFill/>
          </a:ln>
        </p:spPr>
        <p:txBody>
          <a:bodyPr rtlCol="0" anchor="t" wrap="square" lIns="201168" rIns="201168" tIns="109728" bIns="109728"/>
          <a:lstStyle/>
          <a:p>
            <a:pPr algn="l" marL="0" indent="0">
              <a:spcBef>
                <a:spcPts val="0"/>
              </a:spcBef>
              <a:spcAft>
                <a:spcPts val="800"/>
              </a:spcAft>
              <a:buNone/>
            </a:pPr>
            <a:r>
              <a:rPr sz="1500" b="1" i="0">
                <a:solidFill>
                  <a:srgbClr val="D31145"/>
                </a:solidFill>
                <a:latin typeface="Arial"/>
              </a:rPr>
              <a:t>Evaluation criteria</a:t>
            </a:r>
          </a:p>
          <a:p>
            <a:pPr marL="164592" indent="-164592" algn="l">
              <a:spcBef>
                <a:spcPts val="0"/>
              </a:spcBef>
              <a:spcAft>
                <a:spcPts val="400"/>
              </a:spcAft>
              <a:buFont typeface="Arial"/>
              <a:buChar char="•"/>
            </a:pPr>
            <a:r>
              <a:rPr sz="1300" b="0" i="0">
                <a:solidFill>
                  <a:srgbClr val="333D47"/>
                </a:solidFill>
                <a:latin typeface="Arial"/>
              </a:rPr>
              <a:t>Accuracy · Speed · Reliability · Cost</a:t>
            </a:r>
          </a:p>
        </p:txBody>
      </p:sp>
      <p:sp>
        <p:nvSpPr>
          <p:cNvPr id="17" name="TextBox 16"/>
          <p:cNvSpPr txBox="1"/>
          <p:nvPr/>
        </p:nvSpPr>
        <p:spPr>
          <a:xfrm>
            <a:off x="356616" y="5669280"/>
            <a:ext cx="10515600" cy="274320"/>
          </a:xfrm>
          <a:prstGeom prst="rect">
            <a:avLst/>
          </a:prstGeom>
          <a:noFill/>
        </p:spPr>
        <p:txBody>
          <a:bodyPr wrap="square" lIns="0" rIns="0" tIns="0" bIns="0" anchor="t"/>
          <a:lstStyle/>
          <a:p>
            <a:pPr marL="0" indent="0" algn="l">
              <a:spcBef>
                <a:spcPts val="0"/>
              </a:spcBef>
              <a:spcAft>
                <a:spcPts val="0"/>
              </a:spcAft>
              <a:buNone/>
            </a:pPr>
            <a:r>
              <a:rPr sz="1000" b="0" i="1">
                <a:solidFill>
                  <a:srgbClr val="5F6770"/>
                </a:solidFill>
                <a:latin typeface="Arial"/>
              </a:rPr>
              <a:t>Every receipt × field was marked correct or wrong against one hand-checked answer key (36 cells; 25 have a value on the receipt).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Four Approaches Compared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Bef>
                <a:spcPts val="0"/>
              </a:spcBef>
              <a:spcAft>
                <a:spcPts val="0"/>
              </a:spcAft>
              <a:buNone/>
            </a:pPr>
            <a:r>
              <a:rPr sz="1600" b="0" i="0">
                <a:solidFill>
                  <a:srgbClr val="D31145"/>
                </a:solidFill>
                <a:latin typeface="Arial"/>
              </a:rPr>
              <a:t>Each approach reads the receipt (OCR), then finds the six fields; they differ in where each step runs.</a:t>
            </a:r>
          </a:p>
        </p:txBody>
      </p:sp>
      <p:sp>
        <p:nvSpPr>
          <p:cNvPr id="12" name="TextBox 11"/>
          <p:cNvSpPr txBox="1"/>
          <p:nvPr/>
        </p:nvSpPr>
        <p:spPr>
          <a:xfrm>
            <a:off x="3108960" y="1719072"/>
            <a:ext cx="3246120" cy="274320"/>
          </a:xfrm>
          <a:prstGeom prst="rect">
            <a:avLst/>
          </a:prstGeom>
          <a:noFill/>
        </p:spPr>
        <p:txBody>
          <a:bodyPr wrap="square" lIns="0" rIns="0" tIns="0" bIns="0" anchor="t"/>
          <a:lstStyle/>
          <a:p>
            <a:pPr marL="0" indent="0" algn="l">
              <a:spcBef>
                <a:spcPts val="0"/>
              </a:spcBef>
              <a:spcAft>
                <a:spcPts val="0"/>
              </a:spcAft>
              <a:buNone/>
            </a:pPr>
            <a:r>
              <a:rPr sz="1100" b="1" i="0">
                <a:solidFill>
                  <a:srgbClr val="5F6770"/>
                </a:solidFill>
                <a:latin typeface="Arial"/>
              </a:rPr>
              <a:t>STEP 1 · OCR: read the text</a:t>
            </a:r>
          </a:p>
        </p:txBody>
      </p:sp>
      <p:sp>
        <p:nvSpPr>
          <p:cNvPr id="13" name="TextBox 12"/>
          <p:cNvSpPr txBox="1"/>
          <p:nvPr/>
        </p:nvSpPr>
        <p:spPr>
          <a:xfrm>
            <a:off x="6903719" y="1719072"/>
            <a:ext cx="3246120" cy="274320"/>
          </a:xfrm>
          <a:prstGeom prst="rect">
            <a:avLst/>
          </a:prstGeom>
          <a:noFill/>
        </p:spPr>
        <p:txBody>
          <a:bodyPr wrap="square" lIns="0" rIns="0" tIns="0" bIns="0" anchor="t"/>
          <a:lstStyle/>
          <a:p>
            <a:pPr marL="0" indent="0" algn="l">
              <a:spcBef>
                <a:spcPts val="0"/>
              </a:spcBef>
              <a:spcAft>
                <a:spcPts val="0"/>
              </a:spcAft>
              <a:buNone/>
            </a:pPr>
            <a:r>
              <a:rPr sz="1100" b="1" i="0">
                <a:solidFill>
                  <a:srgbClr val="5F6770"/>
                </a:solidFill>
                <a:latin typeface="Arial"/>
              </a:rPr>
              <a:t>STEP 2 · Extract the six fields</a:t>
            </a:r>
          </a:p>
        </p:txBody>
      </p:sp>
      <p:sp>
        <p:nvSpPr>
          <p:cNvPr id="14" name="TextBox 13"/>
          <p:cNvSpPr txBox="1"/>
          <p:nvPr/>
        </p:nvSpPr>
        <p:spPr>
          <a:xfrm>
            <a:off x="10698480" y="1719072"/>
            <a:ext cx="1133856" cy="274320"/>
          </a:xfrm>
          <a:prstGeom prst="rect">
            <a:avLst/>
          </a:prstGeom>
          <a:noFill/>
        </p:spPr>
        <p:txBody>
          <a:bodyPr wrap="square" lIns="0" rIns="0" tIns="0" bIns="0" anchor="t"/>
          <a:lstStyle/>
          <a:p>
            <a:pPr marL="0" indent="0" algn="l">
              <a:spcBef>
                <a:spcPts val="0"/>
              </a:spcBef>
              <a:spcAft>
                <a:spcPts val="0"/>
              </a:spcAft>
              <a:buNone/>
            </a:pPr>
            <a:r>
              <a:rPr sz="1100" b="1" i="0">
                <a:solidFill>
                  <a:srgbClr val="5F6770"/>
                </a:solidFill>
                <a:latin typeface="Arial"/>
              </a:rPr>
              <a:t>RESULT</a:t>
            </a:r>
          </a:p>
        </p:txBody>
      </p:sp>
      <p:sp>
        <p:nvSpPr>
          <p:cNvPr id="15" name="Oval 14"/>
          <p:cNvSpPr/>
          <p:nvPr/>
        </p:nvSpPr>
        <p:spPr>
          <a:xfrm>
            <a:off x="356616" y="2212848"/>
            <a:ext cx="384048" cy="384048"/>
          </a:xfrm>
          <a:prstGeom prst="ellipse">
            <a:avLst/>
          </a:prstGeom>
          <a:solidFill>
            <a:srgbClr val="333D47"/>
          </a:solidFill>
          <a:ln>
            <a:noFill/>
          </a:ln>
        </p:spPr>
        <p:txBody>
          <a:bodyPr rtlCol="0" anchor="ctr" lIns="0" rIns="0" tIns="0" bIns="0"/>
          <a:lstStyle/>
          <a:p>
            <a:pPr algn="ctr"/>
            <a:r>
              <a:rPr sz="1400" b="1">
                <a:solidFill>
                  <a:srgbClr val="FFFFFF"/>
                </a:solidFill>
                <a:latin typeface="Arial"/>
              </a:rPr>
              <a:t>1</a:t>
            </a:r>
          </a:p>
        </p:txBody>
      </p:sp>
      <p:sp>
        <p:nvSpPr>
          <p:cNvPr id="16" name="TextBox 15"/>
          <p:cNvSpPr txBox="1"/>
          <p:nvPr/>
        </p:nvSpPr>
        <p:spPr>
          <a:xfrm>
            <a:off x="868680" y="2057400"/>
            <a:ext cx="2057400" cy="694944"/>
          </a:xfrm>
          <a:prstGeom prst="rect">
            <a:avLst/>
          </a:prstGeom>
          <a:noFill/>
        </p:spPr>
        <p:txBody>
          <a:bodyPr wrap="square" lIns="0" rIns="0" tIns="0" bIns="0" anchor="ctr"/>
          <a:lstStyle/>
          <a:p>
            <a:pPr marL="0" indent="0" algn="l">
              <a:spcBef>
                <a:spcPts val="0"/>
              </a:spcBef>
              <a:spcAft>
                <a:spcPts val="0"/>
              </a:spcAft>
              <a:buNone/>
            </a:pPr>
            <a:r>
              <a:rPr sz="1500" b="1" i="0">
                <a:solidFill>
                  <a:srgbClr val="333D47"/>
                </a:solidFill>
                <a:latin typeface="Arial"/>
              </a:rPr>
              <a:t>PaddleOCR Light</a:t>
            </a:r>
          </a:p>
        </p:txBody>
      </p:sp>
      <p:sp>
        <p:nvSpPr>
          <p:cNvPr id="17" name="Rectangle 16"/>
          <p:cNvSpPr/>
          <p:nvPr/>
        </p:nvSpPr>
        <p:spPr>
          <a:xfrm>
            <a:off x="3108960" y="2057400"/>
            <a:ext cx="3246120" cy="694944"/>
          </a:xfrm>
          <a:prstGeom prst="rect">
            <a:avLst/>
          </a:prstGeom>
          <a:solidFill>
            <a:srgbClr val="F2F2F2"/>
          </a:solidFill>
          <a:ln>
            <a:noFill/>
          </a:ln>
        </p:spPr>
        <p:txBody>
          <a:bodyPr rtlCol="0" anchor="ctr" wrap="square" lIns="146304" rIns="146304" tIns="109728" bIns="109728"/>
          <a:lstStyle/>
          <a:p>
            <a:pPr algn="l" marL="0" indent="0">
              <a:spcBef>
                <a:spcPts val="0"/>
              </a:spcBef>
              <a:spcAft>
                <a:spcPts val="200"/>
              </a:spcAft>
              <a:buNone/>
            </a:pPr>
            <a:r>
              <a:rPr sz="1300" b="1" i="0">
                <a:solidFill>
                  <a:srgbClr val="333D47"/>
                </a:solidFill>
                <a:latin typeface="Arial"/>
              </a:rPr>
              <a:t>PaddleOCR Light</a:t>
            </a:r>
          </a:p>
          <a:p>
            <a:pPr marL="0" indent="0" algn="l">
              <a:spcBef>
                <a:spcPts val="0"/>
              </a:spcBef>
              <a:spcAft>
                <a:spcPts val="0"/>
              </a:spcAft>
              <a:buNone/>
            </a:pPr>
            <a:r>
              <a:rPr sz="1200" b="0" i="0">
                <a:solidFill>
                  <a:srgbClr val="5F6770"/>
                </a:solidFill>
                <a:latin typeface="Arial"/>
              </a:rPr>
              <a:t>Open-source OCR, small model</a:t>
            </a:r>
          </a:p>
        </p:txBody>
      </p:sp>
      <p:sp>
        <p:nvSpPr>
          <p:cNvPr id="18" name="Chevron 17"/>
          <p:cNvSpPr/>
          <p:nvPr/>
        </p:nvSpPr>
        <p:spPr>
          <a:xfrm>
            <a:off x="6483095" y="2240280"/>
            <a:ext cx="292608" cy="329184"/>
          </a:xfrm>
          <a:prstGeom prst="chevron">
            <a:avLst/>
          </a:prstGeom>
          <a:solidFill>
            <a:srgbClr val="A6ABB0"/>
          </a:solidFill>
          <a:ln>
            <a:noFill/>
          </a:ln>
        </p:spPr>
        <p:txBody>
          <a:bodyPr rtlCol="0" anchor="ctr"/>
          <a:lstStyle/>
          <a:p>
            <a:pPr algn="ctr"/>
          </a:p>
        </p:txBody>
      </p:sp>
      <p:sp>
        <p:nvSpPr>
          <p:cNvPr id="19" name="Rectangle 18"/>
          <p:cNvSpPr/>
          <p:nvPr/>
        </p:nvSpPr>
        <p:spPr>
          <a:xfrm>
            <a:off x="6903719" y="2057400"/>
            <a:ext cx="3246120" cy="694944"/>
          </a:xfrm>
          <a:prstGeom prst="rect">
            <a:avLst/>
          </a:prstGeom>
          <a:solidFill>
            <a:srgbClr val="F2F2F2"/>
          </a:solidFill>
          <a:ln>
            <a:noFill/>
          </a:ln>
        </p:spPr>
        <p:txBody>
          <a:bodyPr rtlCol="0" anchor="ctr" wrap="square" lIns="146304" rIns="146304" tIns="109728" bIns="109728"/>
          <a:lstStyle/>
          <a:p>
            <a:pPr algn="l" marL="0" indent="0">
              <a:spcBef>
                <a:spcPts val="0"/>
              </a:spcBef>
              <a:spcAft>
                <a:spcPts val="200"/>
              </a:spcAft>
              <a:buNone/>
            </a:pPr>
            <a:r>
              <a:rPr sz="1300" b="1" i="0">
                <a:solidFill>
                  <a:srgbClr val="333D47"/>
                </a:solidFill>
                <a:latin typeface="Arial"/>
              </a:rPr>
              <a:t>General rules</a:t>
            </a:r>
          </a:p>
          <a:p>
            <a:pPr marL="0" indent="0" algn="l">
              <a:spcBef>
                <a:spcPts val="0"/>
              </a:spcBef>
              <a:spcAft>
                <a:spcPts val="0"/>
              </a:spcAft>
              <a:buNone/>
            </a:pPr>
            <a:r>
              <a:rPr sz="1200" b="0" i="0">
                <a:solidFill>
                  <a:srgbClr val="5F6770"/>
                </a:solidFill>
                <a:latin typeface="Arial"/>
              </a:rPr>
              <a:t>Same fixed rules</a:t>
            </a:r>
          </a:p>
        </p:txBody>
      </p:sp>
      <p:sp>
        <p:nvSpPr>
          <p:cNvPr id="20" name="Chevron 19"/>
          <p:cNvSpPr/>
          <p:nvPr/>
        </p:nvSpPr>
        <p:spPr>
          <a:xfrm>
            <a:off x="10277855" y="2240280"/>
            <a:ext cx="292608" cy="329184"/>
          </a:xfrm>
          <a:prstGeom prst="chevron">
            <a:avLst/>
          </a:prstGeom>
          <a:solidFill>
            <a:srgbClr val="A6ABB0"/>
          </a:solidFill>
          <a:ln>
            <a:noFill/>
          </a:ln>
        </p:spPr>
        <p:txBody>
          <a:bodyPr rtlCol="0" anchor="ctr"/>
          <a:lstStyle/>
          <a:p>
            <a:pPr algn="ctr"/>
          </a:p>
        </p:txBody>
      </p:sp>
      <p:sp>
        <p:nvSpPr>
          <p:cNvPr id="21" name="Rectangle 20"/>
          <p:cNvSpPr/>
          <p:nvPr/>
        </p:nvSpPr>
        <p:spPr>
          <a:xfrm>
            <a:off x="10698480" y="2057400"/>
            <a:ext cx="1133856" cy="694944"/>
          </a:xfrm>
          <a:prstGeom prst="rect">
            <a:avLst/>
          </a:prstGeom>
          <a:solidFill>
            <a:srgbClr val="FBE7EC"/>
          </a:solidFill>
          <a:ln>
            <a:noFill/>
          </a:ln>
        </p:spPr>
        <p:txBody>
          <a:bodyPr rtlCol="0" anchor="ctr" wrap="square" lIns="146304" rIns="146304" tIns="109728" bIns="109728"/>
          <a:lstStyle/>
          <a:p>
            <a:pPr algn="l" marL="0" indent="0">
              <a:spcBef>
                <a:spcPts val="0"/>
              </a:spcBef>
              <a:spcAft>
                <a:spcPts val="0"/>
              </a:spcAft>
              <a:buNone/>
            </a:pPr>
            <a:r>
              <a:rPr sz="1300" b="1" i="0">
                <a:solidFill>
                  <a:srgbClr val="333D47"/>
                </a:solidFill>
                <a:latin typeface="Arial"/>
              </a:rPr>
              <a:t>6 fields</a:t>
            </a:r>
          </a:p>
        </p:txBody>
      </p:sp>
      <p:sp>
        <p:nvSpPr>
          <p:cNvPr id="22" name="Oval 21"/>
          <p:cNvSpPr/>
          <p:nvPr/>
        </p:nvSpPr>
        <p:spPr>
          <a:xfrm>
            <a:off x="356616" y="3090672"/>
            <a:ext cx="384048" cy="384048"/>
          </a:xfrm>
          <a:prstGeom prst="ellipse">
            <a:avLst/>
          </a:prstGeom>
          <a:solidFill>
            <a:srgbClr val="333D47"/>
          </a:solidFill>
          <a:ln>
            <a:noFill/>
          </a:ln>
        </p:spPr>
        <p:txBody>
          <a:bodyPr rtlCol="0" anchor="ctr" lIns="0" rIns="0" tIns="0" bIns="0"/>
          <a:lstStyle/>
          <a:p>
            <a:pPr algn="ctr"/>
            <a:r>
              <a:rPr sz="1400" b="1">
                <a:solidFill>
                  <a:srgbClr val="FFFFFF"/>
                </a:solidFill>
                <a:latin typeface="Arial"/>
              </a:rPr>
              <a:t>2</a:t>
            </a:r>
          </a:p>
        </p:txBody>
      </p:sp>
      <p:sp>
        <p:nvSpPr>
          <p:cNvPr id="23" name="TextBox 22"/>
          <p:cNvSpPr txBox="1"/>
          <p:nvPr/>
        </p:nvSpPr>
        <p:spPr>
          <a:xfrm>
            <a:off x="868680" y="2935224"/>
            <a:ext cx="2057400" cy="694944"/>
          </a:xfrm>
          <a:prstGeom prst="rect">
            <a:avLst/>
          </a:prstGeom>
          <a:noFill/>
        </p:spPr>
        <p:txBody>
          <a:bodyPr wrap="square" lIns="0" rIns="0" tIns="0" bIns="0" anchor="ctr"/>
          <a:lstStyle/>
          <a:p>
            <a:pPr marL="0" indent="0" algn="l">
              <a:spcBef>
                <a:spcPts val="0"/>
              </a:spcBef>
              <a:spcAft>
                <a:spcPts val="0"/>
              </a:spcAft>
              <a:buNone/>
            </a:pPr>
            <a:r>
              <a:rPr sz="1500" b="1" i="0">
                <a:solidFill>
                  <a:srgbClr val="333D47"/>
                </a:solidFill>
                <a:latin typeface="Arial"/>
              </a:rPr>
              <a:t>PaddleOCR Heavy</a:t>
            </a:r>
          </a:p>
        </p:txBody>
      </p:sp>
      <p:sp>
        <p:nvSpPr>
          <p:cNvPr id="24" name="Rectangle 23"/>
          <p:cNvSpPr/>
          <p:nvPr/>
        </p:nvSpPr>
        <p:spPr>
          <a:xfrm>
            <a:off x="3108960" y="2935224"/>
            <a:ext cx="3246120" cy="694944"/>
          </a:xfrm>
          <a:prstGeom prst="rect">
            <a:avLst/>
          </a:prstGeom>
          <a:solidFill>
            <a:srgbClr val="F2F2F2"/>
          </a:solidFill>
          <a:ln>
            <a:noFill/>
          </a:ln>
        </p:spPr>
        <p:txBody>
          <a:bodyPr rtlCol="0" anchor="ctr" wrap="square" lIns="146304" rIns="146304" tIns="109728" bIns="109728"/>
          <a:lstStyle/>
          <a:p>
            <a:pPr algn="l" marL="0" indent="0">
              <a:spcBef>
                <a:spcPts val="0"/>
              </a:spcBef>
              <a:spcAft>
                <a:spcPts val="200"/>
              </a:spcAft>
              <a:buNone/>
            </a:pPr>
            <a:r>
              <a:rPr sz="1300" b="1" i="0">
                <a:solidFill>
                  <a:srgbClr val="333D47"/>
                </a:solidFill>
                <a:latin typeface="Arial"/>
              </a:rPr>
              <a:t>PaddleOCR Heavy</a:t>
            </a:r>
          </a:p>
          <a:p>
            <a:pPr marL="0" indent="0" algn="l">
              <a:spcBef>
                <a:spcPts val="0"/>
              </a:spcBef>
              <a:spcAft>
                <a:spcPts val="0"/>
              </a:spcAft>
              <a:buNone/>
            </a:pPr>
            <a:r>
              <a:rPr sz="1200" b="0" i="0">
                <a:solidFill>
                  <a:srgbClr val="5F6770"/>
                </a:solidFill>
                <a:latin typeface="Arial"/>
              </a:rPr>
              <a:t>Open-source OCR, large model</a:t>
            </a:r>
          </a:p>
        </p:txBody>
      </p:sp>
      <p:sp>
        <p:nvSpPr>
          <p:cNvPr id="25" name="Chevron 24"/>
          <p:cNvSpPr/>
          <p:nvPr/>
        </p:nvSpPr>
        <p:spPr>
          <a:xfrm>
            <a:off x="6483095" y="3118104"/>
            <a:ext cx="292608" cy="329184"/>
          </a:xfrm>
          <a:prstGeom prst="chevron">
            <a:avLst/>
          </a:prstGeom>
          <a:solidFill>
            <a:srgbClr val="A6ABB0"/>
          </a:solidFill>
          <a:ln>
            <a:noFill/>
          </a:ln>
        </p:spPr>
        <p:txBody>
          <a:bodyPr rtlCol="0" anchor="ctr"/>
          <a:lstStyle/>
          <a:p>
            <a:pPr algn="ctr"/>
          </a:p>
        </p:txBody>
      </p:sp>
      <p:sp>
        <p:nvSpPr>
          <p:cNvPr id="26" name="Rectangle 25"/>
          <p:cNvSpPr/>
          <p:nvPr/>
        </p:nvSpPr>
        <p:spPr>
          <a:xfrm>
            <a:off x="6903719" y="2935224"/>
            <a:ext cx="3246120" cy="694944"/>
          </a:xfrm>
          <a:prstGeom prst="rect">
            <a:avLst/>
          </a:prstGeom>
          <a:solidFill>
            <a:srgbClr val="F2F2F2"/>
          </a:solidFill>
          <a:ln>
            <a:noFill/>
          </a:ln>
        </p:spPr>
        <p:txBody>
          <a:bodyPr rtlCol="0" anchor="ctr" wrap="square" lIns="146304" rIns="146304" tIns="109728" bIns="109728"/>
          <a:lstStyle/>
          <a:p>
            <a:pPr algn="l" marL="0" indent="0">
              <a:spcBef>
                <a:spcPts val="0"/>
              </a:spcBef>
              <a:spcAft>
                <a:spcPts val="200"/>
              </a:spcAft>
              <a:buNone/>
            </a:pPr>
            <a:r>
              <a:rPr sz="1300" b="1" i="0">
                <a:solidFill>
                  <a:srgbClr val="333D47"/>
                </a:solidFill>
                <a:latin typeface="Arial"/>
              </a:rPr>
              <a:t>General rules</a:t>
            </a:r>
          </a:p>
          <a:p>
            <a:pPr marL="0" indent="0" algn="l">
              <a:spcBef>
                <a:spcPts val="0"/>
              </a:spcBef>
              <a:spcAft>
                <a:spcPts val="0"/>
              </a:spcAft>
              <a:buNone/>
            </a:pPr>
            <a:r>
              <a:rPr sz="1200" b="0" i="0">
                <a:solidFill>
                  <a:srgbClr val="5F6770"/>
                </a:solidFill>
                <a:latin typeface="Arial"/>
              </a:rPr>
              <a:t>Same fixed rules</a:t>
            </a:r>
          </a:p>
        </p:txBody>
      </p:sp>
      <p:sp>
        <p:nvSpPr>
          <p:cNvPr id="27" name="Chevron 26"/>
          <p:cNvSpPr/>
          <p:nvPr/>
        </p:nvSpPr>
        <p:spPr>
          <a:xfrm>
            <a:off x="10277855" y="3118104"/>
            <a:ext cx="292608" cy="329184"/>
          </a:xfrm>
          <a:prstGeom prst="chevron">
            <a:avLst/>
          </a:prstGeom>
          <a:solidFill>
            <a:srgbClr val="A6ABB0"/>
          </a:solidFill>
          <a:ln>
            <a:noFill/>
          </a:ln>
        </p:spPr>
        <p:txBody>
          <a:bodyPr rtlCol="0" anchor="ctr"/>
          <a:lstStyle/>
          <a:p>
            <a:pPr algn="ctr"/>
          </a:p>
        </p:txBody>
      </p:sp>
      <p:sp>
        <p:nvSpPr>
          <p:cNvPr id="28" name="Rectangle 27"/>
          <p:cNvSpPr/>
          <p:nvPr/>
        </p:nvSpPr>
        <p:spPr>
          <a:xfrm>
            <a:off x="10698480" y="2935224"/>
            <a:ext cx="1133856" cy="694944"/>
          </a:xfrm>
          <a:prstGeom prst="rect">
            <a:avLst/>
          </a:prstGeom>
          <a:solidFill>
            <a:srgbClr val="FBE7EC"/>
          </a:solidFill>
          <a:ln>
            <a:noFill/>
          </a:ln>
        </p:spPr>
        <p:txBody>
          <a:bodyPr rtlCol="0" anchor="ctr" wrap="square" lIns="146304" rIns="146304" tIns="109728" bIns="109728"/>
          <a:lstStyle/>
          <a:p>
            <a:pPr algn="l" marL="0" indent="0">
              <a:spcBef>
                <a:spcPts val="0"/>
              </a:spcBef>
              <a:spcAft>
                <a:spcPts val="0"/>
              </a:spcAft>
              <a:buNone/>
            </a:pPr>
            <a:r>
              <a:rPr sz="1300" b="1" i="0">
                <a:solidFill>
                  <a:srgbClr val="333D47"/>
                </a:solidFill>
                <a:latin typeface="Arial"/>
              </a:rPr>
              <a:t>6 fields</a:t>
            </a:r>
          </a:p>
        </p:txBody>
      </p:sp>
      <p:sp>
        <p:nvSpPr>
          <p:cNvPr id="29" name="Oval 28"/>
          <p:cNvSpPr/>
          <p:nvPr/>
        </p:nvSpPr>
        <p:spPr>
          <a:xfrm>
            <a:off x="356616" y="3968496"/>
            <a:ext cx="384048" cy="384048"/>
          </a:xfrm>
          <a:prstGeom prst="ellipse">
            <a:avLst/>
          </a:prstGeom>
          <a:solidFill>
            <a:srgbClr val="333D47"/>
          </a:solidFill>
          <a:ln>
            <a:noFill/>
          </a:ln>
        </p:spPr>
        <p:txBody>
          <a:bodyPr rtlCol="0" anchor="ctr" lIns="0" rIns="0" tIns="0" bIns="0"/>
          <a:lstStyle/>
          <a:p>
            <a:pPr algn="ctr"/>
            <a:r>
              <a:rPr sz="1400" b="1">
                <a:solidFill>
                  <a:srgbClr val="FFFFFF"/>
                </a:solidFill>
                <a:latin typeface="Arial"/>
              </a:rPr>
              <a:t>3</a:t>
            </a:r>
          </a:p>
        </p:txBody>
      </p:sp>
      <p:sp>
        <p:nvSpPr>
          <p:cNvPr id="30" name="TextBox 29"/>
          <p:cNvSpPr txBox="1"/>
          <p:nvPr/>
        </p:nvSpPr>
        <p:spPr>
          <a:xfrm>
            <a:off x="868680" y="3813048"/>
            <a:ext cx="2057400" cy="694944"/>
          </a:xfrm>
          <a:prstGeom prst="rect">
            <a:avLst/>
          </a:prstGeom>
          <a:noFill/>
        </p:spPr>
        <p:txBody>
          <a:bodyPr wrap="square" lIns="0" rIns="0" tIns="0" bIns="0" anchor="ctr"/>
          <a:lstStyle/>
          <a:p>
            <a:pPr marL="0" indent="0" algn="l">
              <a:spcBef>
                <a:spcPts val="0"/>
              </a:spcBef>
              <a:spcAft>
                <a:spcPts val="0"/>
              </a:spcAft>
              <a:buNone/>
            </a:pPr>
            <a:r>
              <a:rPr sz="1500" b="1" i="0">
                <a:solidFill>
                  <a:srgbClr val="333D47"/>
                </a:solidFill>
                <a:latin typeface="Arial"/>
              </a:rPr>
              <a:t>Azure DI</a:t>
            </a:r>
          </a:p>
        </p:txBody>
      </p:sp>
      <p:sp>
        <p:nvSpPr>
          <p:cNvPr id="31" name="Rectangle 30"/>
          <p:cNvSpPr/>
          <p:nvPr/>
        </p:nvSpPr>
        <p:spPr>
          <a:xfrm>
            <a:off x="3108960" y="3813048"/>
            <a:ext cx="3246120" cy="694944"/>
          </a:xfrm>
          <a:prstGeom prst="rect">
            <a:avLst/>
          </a:prstGeom>
          <a:solidFill>
            <a:srgbClr val="D31145"/>
          </a:solidFill>
          <a:ln>
            <a:noFill/>
          </a:ln>
        </p:spPr>
        <p:txBody>
          <a:bodyPr rtlCol="0" anchor="ctr" wrap="square" lIns="146304" rIns="146304" tIns="109728" bIns="109728"/>
          <a:lstStyle/>
          <a:p>
            <a:pPr algn="l" marL="0" indent="0">
              <a:spcBef>
                <a:spcPts val="0"/>
              </a:spcBef>
              <a:spcAft>
                <a:spcPts val="200"/>
              </a:spcAft>
              <a:buNone/>
            </a:pPr>
            <a:r>
              <a:rPr sz="1300" b="1" i="0">
                <a:solidFill>
                  <a:srgbClr val="FFFFFF"/>
                </a:solidFill>
                <a:latin typeface="Arial"/>
              </a:rPr>
              <a:t>Azure Document Intelligence</a:t>
            </a:r>
          </a:p>
          <a:p>
            <a:pPr marL="0" indent="0" algn="l">
              <a:spcBef>
                <a:spcPts val="0"/>
              </a:spcBef>
              <a:spcAft>
                <a:spcPts val="0"/>
              </a:spcAft>
              <a:buNone/>
            </a:pPr>
            <a:r>
              <a:rPr sz="1200" b="0" i="0">
                <a:solidFill>
                  <a:srgbClr val="FFFFFF"/>
                </a:solidFill>
                <a:latin typeface="Arial"/>
              </a:rPr>
              <a:t>Cloud OCR (prebuilt-read)</a:t>
            </a:r>
          </a:p>
        </p:txBody>
      </p:sp>
      <p:sp>
        <p:nvSpPr>
          <p:cNvPr id="32" name="Chevron 31"/>
          <p:cNvSpPr/>
          <p:nvPr/>
        </p:nvSpPr>
        <p:spPr>
          <a:xfrm>
            <a:off x="6483095" y="3995928"/>
            <a:ext cx="292608" cy="329184"/>
          </a:xfrm>
          <a:prstGeom prst="chevron">
            <a:avLst/>
          </a:prstGeom>
          <a:solidFill>
            <a:srgbClr val="A6ABB0"/>
          </a:solidFill>
          <a:ln>
            <a:noFill/>
          </a:ln>
        </p:spPr>
        <p:txBody>
          <a:bodyPr rtlCol="0" anchor="ctr"/>
          <a:lstStyle/>
          <a:p>
            <a:pPr algn="ctr"/>
          </a:p>
        </p:txBody>
      </p:sp>
      <p:sp>
        <p:nvSpPr>
          <p:cNvPr id="33" name="Rectangle 32"/>
          <p:cNvSpPr/>
          <p:nvPr/>
        </p:nvSpPr>
        <p:spPr>
          <a:xfrm>
            <a:off x="6903719" y="3813048"/>
            <a:ext cx="3246120" cy="694944"/>
          </a:xfrm>
          <a:prstGeom prst="rect">
            <a:avLst/>
          </a:prstGeom>
          <a:solidFill>
            <a:srgbClr val="F2F2F2"/>
          </a:solidFill>
          <a:ln>
            <a:noFill/>
          </a:ln>
        </p:spPr>
        <p:txBody>
          <a:bodyPr rtlCol="0" anchor="ctr" wrap="square" lIns="146304" rIns="146304" tIns="109728" bIns="109728"/>
          <a:lstStyle/>
          <a:p>
            <a:pPr algn="l" marL="0" indent="0">
              <a:spcBef>
                <a:spcPts val="0"/>
              </a:spcBef>
              <a:spcAft>
                <a:spcPts val="200"/>
              </a:spcAft>
              <a:buNone/>
            </a:pPr>
            <a:r>
              <a:rPr sz="1300" b="1" i="0">
                <a:solidFill>
                  <a:srgbClr val="333D47"/>
                </a:solidFill>
                <a:latin typeface="Arial"/>
              </a:rPr>
              <a:t>General rules</a:t>
            </a:r>
          </a:p>
          <a:p>
            <a:pPr marL="0" indent="0" algn="l">
              <a:spcBef>
                <a:spcPts val="0"/>
              </a:spcBef>
              <a:spcAft>
                <a:spcPts val="0"/>
              </a:spcAft>
              <a:buNone/>
            </a:pPr>
            <a:r>
              <a:rPr sz="1200" b="0" i="0">
                <a:solidFill>
                  <a:srgbClr val="5F6770"/>
                </a:solidFill>
                <a:latin typeface="Arial"/>
              </a:rPr>
              <a:t>Same fixed rules</a:t>
            </a:r>
          </a:p>
        </p:txBody>
      </p:sp>
      <p:sp>
        <p:nvSpPr>
          <p:cNvPr id="34" name="Chevron 33"/>
          <p:cNvSpPr/>
          <p:nvPr/>
        </p:nvSpPr>
        <p:spPr>
          <a:xfrm>
            <a:off x="10277855" y="3995928"/>
            <a:ext cx="292608" cy="329184"/>
          </a:xfrm>
          <a:prstGeom prst="chevron">
            <a:avLst/>
          </a:prstGeom>
          <a:solidFill>
            <a:srgbClr val="A6ABB0"/>
          </a:solidFill>
          <a:ln>
            <a:noFill/>
          </a:ln>
        </p:spPr>
        <p:txBody>
          <a:bodyPr rtlCol="0" anchor="ctr"/>
          <a:lstStyle/>
          <a:p>
            <a:pPr algn="ctr"/>
          </a:p>
        </p:txBody>
      </p:sp>
      <p:sp>
        <p:nvSpPr>
          <p:cNvPr id="35" name="Rectangle 34"/>
          <p:cNvSpPr/>
          <p:nvPr/>
        </p:nvSpPr>
        <p:spPr>
          <a:xfrm>
            <a:off x="10698480" y="3813048"/>
            <a:ext cx="1133856" cy="694944"/>
          </a:xfrm>
          <a:prstGeom prst="rect">
            <a:avLst/>
          </a:prstGeom>
          <a:solidFill>
            <a:srgbClr val="FBE7EC"/>
          </a:solidFill>
          <a:ln>
            <a:noFill/>
          </a:ln>
        </p:spPr>
        <p:txBody>
          <a:bodyPr rtlCol="0" anchor="ctr" wrap="square" lIns="146304" rIns="146304" tIns="109728" bIns="109728"/>
          <a:lstStyle/>
          <a:p>
            <a:pPr algn="l" marL="0" indent="0">
              <a:spcBef>
                <a:spcPts val="0"/>
              </a:spcBef>
              <a:spcAft>
                <a:spcPts val="0"/>
              </a:spcAft>
              <a:buNone/>
            </a:pPr>
            <a:r>
              <a:rPr sz="1300" b="1" i="0">
                <a:solidFill>
                  <a:srgbClr val="333D47"/>
                </a:solidFill>
                <a:latin typeface="Arial"/>
              </a:rPr>
              <a:t>6 fields</a:t>
            </a:r>
          </a:p>
        </p:txBody>
      </p:sp>
      <p:sp>
        <p:nvSpPr>
          <p:cNvPr id="36" name="Oval 35"/>
          <p:cNvSpPr/>
          <p:nvPr/>
        </p:nvSpPr>
        <p:spPr>
          <a:xfrm>
            <a:off x="356616" y="4846320"/>
            <a:ext cx="384048" cy="384048"/>
          </a:xfrm>
          <a:prstGeom prst="ellipse">
            <a:avLst/>
          </a:prstGeom>
          <a:solidFill>
            <a:srgbClr val="333D47"/>
          </a:solidFill>
          <a:ln>
            <a:noFill/>
          </a:ln>
        </p:spPr>
        <p:txBody>
          <a:bodyPr rtlCol="0" anchor="ctr" lIns="0" rIns="0" tIns="0" bIns="0"/>
          <a:lstStyle/>
          <a:p>
            <a:pPr algn="ctr"/>
            <a:r>
              <a:rPr sz="1400" b="1">
                <a:solidFill>
                  <a:srgbClr val="FFFFFF"/>
                </a:solidFill>
                <a:latin typeface="Arial"/>
              </a:rPr>
              <a:t>4</a:t>
            </a:r>
          </a:p>
        </p:txBody>
      </p:sp>
      <p:sp>
        <p:nvSpPr>
          <p:cNvPr id="37" name="TextBox 36"/>
          <p:cNvSpPr txBox="1"/>
          <p:nvPr/>
        </p:nvSpPr>
        <p:spPr>
          <a:xfrm>
            <a:off x="868680" y="4690872"/>
            <a:ext cx="2057400" cy="694944"/>
          </a:xfrm>
          <a:prstGeom prst="rect">
            <a:avLst/>
          </a:prstGeom>
          <a:noFill/>
        </p:spPr>
        <p:txBody>
          <a:bodyPr wrap="square" lIns="0" rIns="0" tIns="0" bIns="0" anchor="ctr"/>
          <a:lstStyle/>
          <a:p>
            <a:pPr marL="0" indent="0" algn="l">
              <a:spcBef>
                <a:spcPts val="0"/>
              </a:spcBef>
              <a:spcAft>
                <a:spcPts val="0"/>
              </a:spcAft>
              <a:buNone/>
            </a:pPr>
            <a:r>
              <a:rPr sz="1500" b="1" i="0">
                <a:solidFill>
                  <a:srgbClr val="333D47"/>
                </a:solidFill>
                <a:latin typeface="Arial"/>
              </a:rPr>
              <a:t>Azure DI + AOAI</a:t>
            </a:r>
          </a:p>
        </p:txBody>
      </p:sp>
      <p:sp>
        <p:nvSpPr>
          <p:cNvPr id="38" name="Rectangle 37"/>
          <p:cNvSpPr/>
          <p:nvPr/>
        </p:nvSpPr>
        <p:spPr>
          <a:xfrm>
            <a:off x="3108960" y="4690872"/>
            <a:ext cx="3246120" cy="694944"/>
          </a:xfrm>
          <a:prstGeom prst="rect">
            <a:avLst/>
          </a:prstGeom>
          <a:solidFill>
            <a:srgbClr val="D31145"/>
          </a:solidFill>
          <a:ln>
            <a:noFill/>
          </a:ln>
        </p:spPr>
        <p:txBody>
          <a:bodyPr rtlCol="0" anchor="ctr" wrap="square" lIns="146304" rIns="146304" tIns="109728" bIns="109728"/>
          <a:lstStyle/>
          <a:p>
            <a:pPr algn="l" marL="0" indent="0">
              <a:spcBef>
                <a:spcPts val="0"/>
              </a:spcBef>
              <a:spcAft>
                <a:spcPts val="200"/>
              </a:spcAft>
              <a:buNone/>
            </a:pPr>
            <a:r>
              <a:rPr sz="1300" b="1" i="0">
                <a:solidFill>
                  <a:srgbClr val="FFFFFF"/>
                </a:solidFill>
                <a:latin typeface="Arial"/>
              </a:rPr>
              <a:t>Azure Document Intelligence</a:t>
            </a:r>
          </a:p>
          <a:p>
            <a:pPr marL="0" indent="0" algn="l">
              <a:spcBef>
                <a:spcPts val="0"/>
              </a:spcBef>
              <a:spcAft>
                <a:spcPts val="0"/>
              </a:spcAft>
              <a:buNone/>
            </a:pPr>
            <a:r>
              <a:rPr sz="1200" b="0" i="0">
                <a:solidFill>
                  <a:srgbClr val="FFFFFF"/>
                </a:solidFill>
                <a:latin typeface="Arial"/>
              </a:rPr>
              <a:t>Cloud OCR (prebuilt-read)</a:t>
            </a:r>
          </a:p>
        </p:txBody>
      </p:sp>
      <p:sp>
        <p:nvSpPr>
          <p:cNvPr id="39" name="Chevron 38"/>
          <p:cNvSpPr/>
          <p:nvPr/>
        </p:nvSpPr>
        <p:spPr>
          <a:xfrm>
            <a:off x="6483095" y="4873752"/>
            <a:ext cx="292608" cy="329184"/>
          </a:xfrm>
          <a:prstGeom prst="chevron">
            <a:avLst/>
          </a:prstGeom>
          <a:solidFill>
            <a:srgbClr val="A6ABB0"/>
          </a:solidFill>
          <a:ln>
            <a:noFill/>
          </a:ln>
        </p:spPr>
        <p:txBody>
          <a:bodyPr rtlCol="0" anchor="ctr"/>
          <a:lstStyle/>
          <a:p>
            <a:pPr algn="ctr"/>
          </a:p>
        </p:txBody>
      </p:sp>
      <p:sp>
        <p:nvSpPr>
          <p:cNvPr id="40" name="Rectangle 39"/>
          <p:cNvSpPr/>
          <p:nvPr/>
        </p:nvSpPr>
        <p:spPr>
          <a:xfrm>
            <a:off x="6903719" y="4690872"/>
            <a:ext cx="3246120" cy="694944"/>
          </a:xfrm>
          <a:prstGeom prst="rect">
            <a:avLst/>
          </a:prstGeom>
          <a:solidFill>
            <a:srgbClr val="D31145"/>
          </a:solidFill>
          <a:ln>
            <a:noFill/>
          </a:ln>
        </p:spPr>
        <p:txBody>
          <a:bodyPr rtlCol="0" anchor="ctr" wrap="square" lIns="146304" rIns="146304" tIns="109728" bIns="109728"/>
          <a:lstStyle/>
          <a:p>
            <a:pPr algn="l" marL="0" indent="0">
              <a:spcBef>
                <a:spcPts val="0"/>
              </a:spcBef>
              <a:spcAft>
                <a:spcPts val="200"/>
              </a:spcAft>
              <a:buNone/>
            </a:pPr>
            <a:r>
              <a:rPr sz="1300" b="1" i="0">
                <a:solidFill>
                  <a:srgbClr val="FFFFFF"/>
                </a:solidFill>
                <a:latin typeface="Arial"/>
              </a:rPr>
              <a:t>Azure OpenAI (gpt-5-mini)</a:t>
            </a:r>
          </a:p>
          <a:p>
            <a:pPr marL="0" indent="0" algn="l">
              <a:spcBef>
                <a:spcPts val="0"/>
              </a:spcBef>
              <a:spcAft>
                <a:spcPts val="0"/>
              </a:spcAft>
              <a:buNone/>
            </a:pPr>
            <a:r>
              <a:rPr sz="1200" b="0" i="0">
                <a:solidFill>
                  <a:srgbClr val="FFFFFF"/>
                </a:solidFill>
                <a:latin typeface="Arial"/>
              </a:rPr>
              <a:t>LLM reads the text</a:t>
            </a:r>
          </a:p>
        </p:txBody>
      </p:sp>
      <p:sp>
        <p:nvSpPr>
          <p:cNvPr id="41" name="Chevron 40"/>
          <p:cNvSpPr/>
          <p:nvPr/>
        </p:nvSpPr>
        <p:spPr>
          <a:xfrm>
            <a:off x="10277855" y="4873752"/>
            <a:ext cx="292608" cy="329184"/>
          </a:xfrm>
          <a:prstGeom prst="chevron">
            <a:avLst/>
          </a:prstGeom>
          <a:solidFill>
            <a:srgbClr val="A6ABB0"/>
          </a:solidFill>
          <a:ln>
            <a:noFill/>
          </a:ln>
        </p:spPr>
        <p:txBody>
          <a:bodyPr rtlCol="0" anchor="ctr"/>
          <a:lstStyle/>
          <a:p>
            <a:pPr algn="ctr"/>
          </a:p>
        </p:txBody>
      </p:sp>
      <p:sp>
        <p:nvSpPr>
          <p:cNvPr id="42" name="Rectangle 41"/>
          <p:cNvSpPr/>
          <p:nvPr/>
        </p:nvSpPr>
        <p:spPr>
          <a:xfrm>
            <a:off x="10698480" y="4690872"/>
            <a:ext cx="1133856" cy="694944"/>
          </a:xfrm>
          <a:prstGeom prst="rect">
            <a:avLst/>
          </a:prstGeom>
          <a:solidFill>
            <a:srgbClr val="FBE7EC"/>
          </a:solidFill>
          <a:ln>
            <a:noFill/>
          </a:ln>
        </p:spPr>
        <p:txBody>
          <a:bodyPr rtlCol="0" anchor="ctr" wrap="square" lIns="146304" rIns="146304" tIns="109728" bIns="109728"/>
          <a:lstStyle/>
          <a:p>
            <a:pPr algn="l" marL="0" indent="0">
              <a:spcBef>
                <a:spcPts val="0"/>
              </a:spcBef>
              <a:spcAft>
                <a:spcPts val="0"/>
              </a:spcAft>
              <a:buNone/>
            </a:pPr>
            <a:r>
              <a:rPr sz="1300" b="1" i="0">
                <a:solidFill>
                  <a:srgbClr val="333D47"/>
                </a:solidFill>
                <a:latin typeface="Arial"/>
              </a:rPr>
              <a:t>6 fields</a:t>
            </a:r>
          </a:p>
        </p:txBody>
      </p:sp>
      <p:sp>
        <p:nvSpPr>
          <p:cNvPr id="43" name="Rectangle 42"/>
          <p:cNvSpPr/>
          <p:nvPr/>
        </p:nvSpPr>
        <p:spPr>
          <a:xfrm>
            <a:off x="3108960" y="5605272"/>
            <a:ext cx="201168" cy="201168"/>
          </a:xfrm>
          <a:prstGeom prst="rect">
            <a:avLst/>
          </a:prstGeom>
          <a:solidFill>
            <a:srgbClr val="F2F2F2"/>
          </a:solidFill>
          <a:ln>
            <a:solidFill>
              <a:srgbClr val="A6ABB0"/>
            </a:solidFill>
          </a:ln>
        </p:spPr>
        <p:txBody>
          <a:bodyPr rtlCol="0" anchor="ctr"/>
          <a:lstStyle/>
          <a:p>
            <a:pPr algn="ctr"/>
          </a:p>
        </p:txBody>
      </p:sp>
      <p:sp>
        <p:nvSpPr>
          <p:cNvPr id="44" name="TextBox 43"/>
          <p:cNvSpPr txBox="1"/>
          <p:nvPr/>
        </p:nvSpPr>
        <p:spPr>
          <a:xfrm>
            <a:off x="3401568" y="5550408"/>
            <a:ext cx="3291840" cy="310896"/>
          </a:xfrm>
          <a:prstGeom prst="rect">
            <a:avLst/>
          </a:prstGeom>
          <a:noFill/>
        </p:spPr>
        <p:txBody>
          <a:bodyPr wrap="square" lIns="0" rIns="0" tIns="0" bIns="0" anchor="ctr"/>
          <a:lstStyle/>
          <a:p>
            <a:pPr marL="0" indent="0" algn="l">
              <a:spcBef>
                <a:spcPts val="0"/>
              </a:spcBef>
              <a:spcAft>
                <a:spcPts val="0"/>
              </a:spcAft>
              <a:buNone/>
            </a:pPr>
            <a:r>
              <a:rPr sz="1200" b="0" i="0">
                <a:solidFill>
                  <a:srgbClr val="5F6770"/>
                </a:solidFill>
                <a:latin typeface="Arial"/>
              </a:rPr>
              <a:t>Runs on our own compute (no per-call fee)</a:t>
            </a:r>
          </a:p>
        </p:txBody>
      </p:sp>
      <p:sp>
        <p:nvSpPr>
          <p:cNvPr id="45" name="Rectangle 44"/>
          <p:cNvSpPr/>
          <p:nvPr/>
        </p:nvSpPr>
        <p:spPr>
          <a:xfrm>
            <a:off x="7040879" y="5605272"/>
            <a:ext cx="201168" cy="201168"/>
          </a:xfrm>
          <a:prstGeom prst="rect">
            <a:avLst/>
          </a:prstGeom>
          <a:solidFill>
            <a:srgbClr val="D31145"/>
          </a:solidFill>
          <a:ln>
            <a:noFill/>
          </a:ln>
        </p:spPr>
        <p:txBody>
          <a:bodyPr rtlCol="0" anchor="ctr"/>
          <a:lstStyle/>
          <a:p>
            <a:pPr algn="ctr"/>
          </a:p>
        </p:txBody>
      </p:sp>
      <p:sp>
        <p:nvSpPr>
          <p:cNvPr id="46" name="TextBox 45"/>
          <p:cNvSpPr txBox="1"/>
          <p:nvPr/>
        </p:nvSpPr>
        <p:spPr>
          <a:xfrm>
            <a:off x="7333488" y="5550408"/>
            <a:ext cx="2926080" cy="310896"/>
          </a:xfrm>
          <a:prstGeom prst="rect">
            <a:avLst/>
          </a:prstGeom>
          <a:noFill/>
        </p:spPr>
        <p:txBody>
          <a:bodyPr wrap="square" lIns="0" rIns="0" tIns="0" bIns="0" anchor="ctr"/>
          <a:lstStyle/>
          <a:p>
            <a:pPr marL="0" indent="0" algn="l">
              <a:spcBef>
                <a:spcPts val="0"/>
              </a:spcBef>
              <a:spcAft>
                <a:spcPts val="0"/>
              </a:spcAft>
              <a:buNone/>
            </a:pPr>
            <a:r>
              <a:rPr sz="1200" b="0" i="0">
                <a:solidFill>
                  <a:srgbClr val="5F6770"/>
                </a:solidFill>
                <a:latin typeface="Arial"/>
              </a:rPr>
              <a:t>Paid Azure API call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Accuracy Comparison</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Bef>
                <a:spcPts val="0"/>
              </a:spcBef>
              <a:spcAft>
                <a:spcPts val="0"/>
              </a:spcAft>
              <a:buNone/>
            </a:pPr>
            <a:r>
              <a:rPr sz="1600" b="0" i="0">
                <a:solidFill>
                  <a:srgbClr val="D31145"/>
                </a:solidFill>
                <a:latin typeface="Arial"/>
              </a:rPr>
              <a:t>Three approaches tie at 72% accuracy; Azure DI with rules alone is lowest at 60%.</a:t>
            </a:r>
          </a:p>
        </p:txBody>
      </p:sp>
      <p:graphicFrame>
        <p:nvGraphicFramePr>
          <p:cNvPr id="12" name="Accuracy chart"/>
          <p:cNvGraphicFramePr>
            <a:graphicFrameLocks noGrp="1"/>
          </p:cNvGraphicFramePr>
          <p:nvPr/>
        </p:nvGraphicFramePr>
        <p:xfrm>
          <a:off x="356616" y="1783080"/>
          <a:ext cx="7040880" cy="3794760"/>
        </p:xfrm>
        <a:graphic>
          <a:graphicData uri="http://schemas.openxmlformats.org/drawingml/2006/chart">
            <c:chart xmlns:c="http://schemas.openxmlformats.org/drawingml/2006/chart" r:id="rId3"/>
          </a:graphicData>
        </a:graphic>
      </p:graphicFrame>
      <p:sp>
        <p:nvSpPr>
          <p:cNvPr id="13" name="Rectangle 12"/>
          <p:cNvSpPr/>
          <p:nvPr/>
        </p:nvSpPr>
        <p:spPr>
          <a:xfrm>
            <a:off x="7717536" y="1828800"/>
            <a:ext cx="4114800" cy="3611880"/>
          </a:xfrm>
          <a:prstGeom prst="rect">
            <a:avLst/>
          </a:prstGeom>
          <a:solidFill>
            <a:srgbClr val="F2F2F2"/>
          </a:solidFill>
          <a:ln>
            <a:noFill/>
          </a:ln>
        </p:spPr>
        <p:txBody>
          <a:bodyPr rtlCol="0" anchor="t" wrap="square" lIns="228600" rIns="228600" tIns="109728" bIns="109728"/>
          <a:lstStyle/>
          <a:p>
            <a:pPr algn="l" marL="0" indent="0">
              <a:spcBef>
                <a:spcPts val="0"/>
              </a:spcBef>
              <a:spcAft>
                <a:spcPts val="800"/>
              </a:spcAft>
              <a:buNone/>
            </a:pPr>
            <a:r>
              <a:rPr sz="1100" b="1" i="0">
                <a:solidFill>
                  <a:srgbClr val="5F6770"/>
                </a:solidFill>
                <a:latin typeface="Arial"/>
              </a:rPr>
              <a:t>HOW ACCURACY IS MEASURED</a:t>
            </a:r>
          </a:p>
          <a:p>
            <a:pPr marL="0" indent="0" algn="l">
              <a:spcBef>
                <a:spcPts val="0"/>
              </a:spcBef>
              <a:spcAft>
                <a:spcPts val="1200"/>
              </a:spcAft>
              <a:buNone/>
            </a:pPr>
            <a:r>
              <a:rPr sz="1500" b="1" i="0">
                <a:solidFill>
                  <a:srgbClr val="333D47"/>
                </a:solidFill>
                <a:latin typeface="Arial"/>
              </a:rPr>
              <a:t>Correct fields ÷ fields that exist on the receipts</a:t>
            </a:r>
          </a:p>
          <a:p>
            <a:pPr marL="164592" indent="-164592" algn="l">
              <a:spcBef>
                <a:spcPts val="0"/>
              </a:spcBef>
              <a:spcAft>
                <a:spcPts val="800"/>
              </a:spcAft>
              <a:buFont typeface="Arial"/>
              <a:buChar char="•"/>
            </a:pPr>
            <a:r>
              <a:rPr sz="1300" b="0" i="0">
                <a:solidFill>
                  <a:srgbClr val="333D47"/>
                </a:solidFill>
                <a:latin typeface="Arial"/>
              </a:rPr>
              <a:t>25 of 36 receipt-field cells have a value; fields not on a receipt are excluded</a:t>
            </a:r>
          </a:p>
          <a:p>
            <a:pPr marL="164592" indent="-164592" algn="l">
              <a:spcBef>
                <a:spcPts val="0"/>
              </a:spcBef>
              <a:spcAft>
                <a:spcPts val="800"/>
              </a:spcAft>
              <a:buFont typeface="Arial"/>
              <a:buChar char="•"/>
            </a:pPr>
            <a:r>
              <a:rPr sz="1300" b="0" i="0">
                <a:solidFill>
                  <a:srgbClr val="333D47"/>
                </a:solidFill>
                <a:latin typeface="Arial"/>
              </a:rPr>
              <a:t>A missing value or a failed receipt counts as wrong</a:t>
            </a:r>
          </a:p>
          <a:p>
            <a:pPr marL="164592" indent="-164592" algn="l">
              <a:spcBef>
                <a:spcPts val="0"/>
              </a:spcBef>
              <a:spcAft>
                <a:spcPts val="0"/>
              </a:spcAft>
              <a:buFont typeface="Arial"/>
              <a:buChar char="•"/>
            </a:pPr>
            <a:r>
              <a:rPr sz="1300" b="0" i="0">
                <a:solidFill>
                  <a:srgbClr val="333D47"/>
                </a:solidFill>
                <a:latin typeface="Arial"/>
              </a:rPr>
              <a:t>Values given for fields not on the receipt are counted separately: 1 for Azure DI + AOAI, 0 for the others</a:t>
            </a:r>
          </a:p>
        </p:txBody>
      </p:sp>
      <p:sp>
        <p:nvSpPr>
          <p:cNvPr id="14" name="TextBox 13"/>
          <p:cNvSpPr txBox="1"/>
          <p:nvPr/>
        </p:nvSpPr>
        <p:spPr>
          <a:xfrm>
            <a:off x="356616" y="5669280"/>
            <a:ext cx="10515600" cy="274320"/>
          </a:xfrm>
          <a:prstGeom prst="rect">
            <a:avLst/>
          </a:prstGeom>
          <a:noFill/>
        </p:spPr>
        <p:txBody>
          <a:bodyPr wrap="square" lIns="0" rIns="0" tIns="0" bIns="0" anchor="t"/>
          <a:lstStyle/>
          <a:p>
            <a:pPr marL="0" indent="0" algn="l">
              <a:spcBef>
                <a:spcPts val="0"/>
              </a:spcBef>
              <a:spcAft>
                <a:spcPts val="0"/>
              </a:spcAft>
              <a:buNone/>
            </a:pPr>
            <a:r>
              <a:rPr sz="1000" b="0" i="1">
                <a:solidFill>
                  <a:srgbClr val="5F6770"/>
                </a:solidFill>
                <a:latin typeface="Arial"/>
              </a:rPr>
              <a:t>Based on 6 mock receipts: one field = 4 percentage points, so small differences are not conclusive.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Accuracy by Field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Bef>
                <a:spcPts val="0"/>
              </a:spcBef>
              <a:spcAft>
                <a:spcPts val="0"/>
              </a:spcAft>
              <a:buNone/>
            </a:pPr>
            <a:r>
              <a:rPr sz="1600" b="0" i="0">
                <a:solidFill>
                  <a:srgbClr val="D31145"/>
                </a:solidFill>
                <a:latin typeface="Arial"/>
              </a:rPr>
              <a:t>Totals are solved by all four; Azure OpenAI finds more names and numbers, PaddleOCR reads handwritten dates.</a:t>
            </a:r>
          </a:p>
        </p:txBody>
      </p:sp>
      <p:graphicFrame>
        <p:nvGraphicFramePr>
          <p:cNvPr id="12" name="Table 11"/>
          <p:cNvGraphicFramePr>
            <a:graphicFrameLocks noGrp="1"/>
          </p:cNvGraphicFramePr>
          <p:nvPr/>
        </p:nvGraphicFramePr>
        <p:xfrm>
          <a:off x="356616" y="1828800"/>
          <a:ext cx="7205472" cy="3547872"/>
        </p:xfrm>
        <a:graphic>
          <a:graphicData uri="http://schemas.openxmlformats.org/drawingml/2006/table">
            <a:tbl>
              <a:tblPr firstRow="0" bandRow="0">
                <a:tableStyleId>{2D5ABB26-0587-4C30-8999-92F81FD0307C}</a:tableStyleId>
              </a:tblPr>
              <a:tblGrid>
                <a:gridCol w="2011680"/>
                <a:gridCol w="1298448"/>
                <a:gridCol w="1298448"/>
                <a:gridCol w="1298448"/>
                <a:gridCol w="1298448"/>
              </a:tblGrid>
              <a:tr h="566928">
                <a:tc>
                  <a:txBody>
                    <a:bodyPr wrap="square"/>
                    <a:lstStyle/>
                    <a:p>
                      <a:pPr algn="l"/>
                      <a:r>
                        <a:rPr sz="1300" b="1" i="0">
                          <a:solidFill>
                            <a:srgbClr val="FFFFFF"/>
                          </a:solidFill>
                          <a:latin typeface="Arial"/>
                        </a:rPr>
                        <a:t>Field</a:t>
                      </a:r>
                    </a:p>
                  </a:txBody>
                  <a:tcPr marL="91440" marR="91440" marT="54864" marB="54864" anchor="ctr">
                    <a:lnL w="0">
                      <a:noFill/>
                    </a:lnL>
                    <a:lnR w="0">
                      <a:noFill/>
                    </a:lnR>
                    <a:lnT w="0">
                      <a:noFill/>
                    </a:lnT>
                    <a:lnB w="0">
                      <a:noFill/>
                    </a:lnB>
                    <a:solidFill>
                      <a:srgbClr val="333D47"/>
                    </a:solidFill>
                  </a:tcPr>
                </a:tc>
                <a:tc>
                  <a:txBody>
                    <a:bodyPr wrap="square"/>
                    <a:lstStyle/>
                    <a:p>
                      <a:pPr algn="ctr"/>
                      <a:r>
                        <a:rPr sz="1200" b="1" i="0">
                          <a:solidFill>
                            <a:srgbClr val="FFFFFF"/>
                          </a:solidFill>
                          <a:latin typeface="Arial"/>
                        </a:rPr>
                        <a:t>PaddleOCR Light</a:t>
                      </a:r>
                    </a:p>
                  </a:txBody>
                  <a:tcPr marL="91440" marR="91440" marT="54864" marB="54864" anchor="ctr">
                    <a:lnL w="0">
                      <a:noFill/>
                    </a:lnL>
                    <a:lnR w="0">
                      <a:noFill/>
                    </a:lnR>
                    <a:lnT w="0">
                      <a:noFill/>
                    </a:lnT>
                    <a:lnB w="0">
                      <a:noFill/>
                    </a:lnB>
                    <a:solidFill>
                      <a:srgbClr val="333D47"/>
                    </a:solidFill>
                  </a:tcPr>
                </a:tc>
                <a:tc>
                  <a:txBody>
                    <a:bodyPr wrap="square"/>
                    <a:lstStyle/>
                    <a:p>
                      <a:pPr algn="ctr"/>
                      <a:r>
                        <a:rPr sz="1200" b="1" i="0">
                          <a:solidFill>
                            <a:srgbClr val="FFFFFF"/>
                          </a:solidFill>
                          <a:latin typeface="Arial"/>
                        </a:rPr>
                        <a:t>PaddleOCR Heavy</a:t>
                      </a:r>
                    </a:p>
                  </a:txBody>
                  <a:tcPr marL="91440" marR="91440" marT="54864" marB="54864" anchor="ctr">
                    <a:lnL w="0">
                      <a:noFill/>
                    </a:lnL>
                    <a:lnR w="0">
                      <a:noFill/>
                    </a:lnR>
                    <a:lnT w="0">
                      <a:noFill/>
                    </a:lnT>
                    <a:lnB w="0">
                      <a:noFill/>
                    </a:lnB>
                    <a:solidFill>
                      <a:srgbClr val="333D47"/>
                    </a:solidFill>
                  </a:tcPr>
                </a:tc>
                <a:tc>
                  <a:txBody>
                    <a:bodyPr wrap="square"/>
                    <a:lstStyle/>
                    <a:p>
                      <a:pPr algn="ctr"/>
                      <a:r>
                        <a:rPr sz="1200" b="1" i="0">
                          <a:solidFill>
                            <a:srgbClr val="FFFFFF"/>
                          </a:solidFill>
                          <a:latin typeface="Arial"/>
                        </a:rPr>
                        <a:t>Azure DI</a:t>
                      </a:r>
                    </a:p>
                  </a:txBody>
                  <a:tcPr marL="91440" marR="91440" marT="54864" marB="54864" anchor="ctr">
                    <a:lnL w="0">
                      <a:noFill/>
                    </a:lnL>
                    <a:lnR w="0">
                      <a:noFill/>
                    </a:lnR>
                    <a:lnT w="0">
                      <a:noFill/>
                    </a:lnT>
                    <a:lnB w="0">
                      <a:noFill/>
                    </a:lnB>
                    <a:solidFill>
                      <a:srgbClr val="333D47"/>
                    </a:solidFill>
                  </a:tcPr>
                </a:tc>
                <a:tc>
                  <a:txBody>
                    <a:bodyPr wrap="square"/>
                    <a:lstStyle/>
                    <a:p>
                      <a:pPr algn="ctr"/>
                      <a:r>
                        <a:rPr sz="1200" b="1" i="0">
                          <a:solidFill>
                            <a:srgbClr val="FFFFFF"/>
                          </a:solidFill>
                          <a:latin typeface="Arial"/>
                        </a:rPr>
                        <a:t>Azure DI + AOAI</a:t>
                      </a:r>
                    </a:p>
                  </a:txBody>
                  <a:tcPr marL="91440" marR="91440" marT="54864" marB="54864" anchor="ctr">
                    <a:lnL w="0">
                      <a:noFill/>
                    </a:lnL>
                    <a:lnR w="0">
                      <a:noFill/>
                    </a:lnR>
                    <a:lnT w="0">
                      <a:noFill/>
                    </a:lnT>
                    <a:lnB w="0">
                      <a:noFill/>
                    </a:lnB>
                    <a:solidFill>
                      <a:srgbClr val="333D47"/>
                    </a:solidFill>
                  </a:tcPr>
                </a:tc>
              </a:tr>
              <a:tr h="512064">
                <a:tc>
                  <a:txBody>
                    <a:bodyPr wrap="square"/>
                    <a:lstStyle/>
                    <a:p>
                      <a:pPr algn="l"/>
                      <a:r>
                        <a:rPr sz="1300" b="1" i="0">
                          <a:solidFill>
                            <a:srgbClr val="333D47"/>
                          </a:solidFill>
                          <a:latin typeface="Arial"/>
                        </a:rPr>
                        <a:t>Total amount</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6/6</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6/6</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6/6</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6/6</a:t>
                      </a:r>
                    </a:p>
                  </a:txBody>
                  <a:tcPr marL="91440" marR="91440" marT="54864" marB="54864" anchor="ctr">
                    <a:lnL w="0">
                      <a:noFill/>
                    </a:lnL>
                    <a:lnR w="0">
                      <a:noFill/>
                    </a:lnR>
                    <a:lnT w="0">
                      <a:noFill/>
                    </a:lnT>
                    <a:lnB w="9525" cmpd="sng">
                      <a:solidFill>
                        <a:srgbClr val="BFBFBF"/>
                      </a:solidFill>
                    </a:lnB>
                    <a:noFill/>
                  </a:tcPr>
                </a:tc>
              </a:tr>
              <a:tr h="512064">
                <a:tc>
                  <a:txBody>
                    <a:bodyPr wrap="square"/>
                    <a:lstStyle/>
                    <a:p>
                      <a:pPr algn="l"/>
                      <a:r>
                        <a:rPr sz="1300" b="1" i="0">
                          <a:solidFill>
                            <a:srgbClr val="333D47"/>
                          </a:solidFill>
                          <a:latin typeface="Arial"/>
                        </a:rPr>
                        <a:t>Patient name</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2/4</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2/4</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2/4</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1" i="0">
                          <a:solidFill>
                            <a:srgbClr val="D31145"/>
                          </a:solidFill>
                          <a:latin typeface="Arial"/>
                        </a:rPr>
                        <a:t>4/4</a:t>
                      </a:r>
                    </a:p>
                  </a:txBody>
                  <a:tcPr marL="91440" marR="91440" marT="54864" marB="54864" anchor="ctr">
                    <a:lnL w="0">
                      <a:noFill/>
                    </a:lnL>
                    <a:lnR w="0">
                      <a:noFill/>
                    </a:lnR>
                    <a:lnT w="0">
                      <a:noFill/>
                    </a:lnT>
                    <a:lnB w="9525" cmpd="sng">
                      <a:solidFill>
                        <a:srgbClr val="BFBFBF"/>
                      </a:solidFill>
                    </a:lnB>
                    <a:solidFill>
                      <a:srgbClr val="FBE7EC"/>
                    </a:solidFill>
                  </a:tcPr>
                </a:tc>
              </a:tr>
              <a:tr h="512064">
                <a:tc>
                  <a:txBody>
                    <a:bodyPr wrap="square"/>
                    <a:lstStyle/>
                    <a:p>
                      <a:pPr algn="l"/>
                      <a:r>
                        <a:rPr sz="1300" b="1" i="0">
                          <a:solidFill>
                            <a:srgbClr val="333D47"/>
                          </a:solidFill>
                          <a:latin typeface="Arial"/>
                        </a:rPr>
                        <a:t>Receipt number</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2/3</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2/3</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2/3</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1" i="0">
                          <a:solidFill>
                            <a:srgbClr val="D31145"/>
                          </a:solidFill>
                          <a:latin typeface="Arial"/>
                        </a:rPr>
                        <a:t>3/3</a:t>
                      </a:r>
                    </a:p>
                  </a:txBody>
                  <a:tcPr marL="91440" marR="91440" marT="54864" marB="54864" anchor="ctr">
                    <a:lnL w="0">
                      <a:noFill/>
                    </a:lnL>
                    <a:lnR w="0">
                      <a:noFill/>
                    </a:lnR>
                    <a:lnT w="0">
                      <a:noFill/>
                    </a:lnT>
                    <a:lnB w="9525" cmpd="sng">
                      <a:solidFill>
                        <a:srgbClr val="BFBFBF"/>
                      </a:solidFill>
                    </a:lnB>
                    <a:solidFill>
                      <a:srgbClr val="FBE7EC"/>
                    </a:solidFill>
                  </a:tcPr>
                </a:tc>
              </a:tr>
              <a:tr h="512064">
                <a:tc>
                  <a:txBody>
                    <a:bodyPr wrap="square"/>
                    <a:lstStyle/>
                    <a:p>
                      <a:pPr algn="l"/>
                      <a:r>
                        <a:rPr sz="1300" b="1" i="0">
                          <a:solidFill>
                            <a:srgbClr val="333D47"/>
                          </a:solidFill>
                          <a:latin typeface="Arial"/>
                        </a:rPr>
                        <a:t>Doctor name</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3/6</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3/6</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1" i="0">
                          <a:solidFill>
                            <a:srgbClr val="D31145"/>
                          </a:solidFill>
                          <a:latin typeface="Arial"/>
                        </a:rPr>
                        <a:t>4/6</a:t>
                      </a:r>
                    </a:p>
                  </a:txBody>
                  <a:tcPr marL="91440" marR="91440" marT="54864" marB="54864" anchor="ctr">
                    <a:lnL w="0">
                      <a:noFill/>
                    </a:lnL>
                    <a:lnR w="0">
                      <a:noFill/>
                    </a:lnR>
                    <a:lnT w="0">
                      <a:noFill/>
                    </a:lnT>
                    <a:lnB w="9525" cmpd="sng">
                      <a:solidFill>
                        <a:srgbClr val="BFBFBF"/>
                      </a:solidFill>
                    </a:lnB>
                    <a:solidFill>
                      <a:srgbClr val="FBE7EC"/>
                    </a:solidFill>
                  </a:tcPr>
                </a:tc>
                <a:tc>
                  <a:txBody>
                    <a:bodyPr wrap="square"/>
                    <a:lstStyle/>
                    <a:p>
                      <a:pPr algn="ctr"/>
                      <a:r>
                        <a:rPr sz="1400" b="1" i="0">
                          <a:solidFill>
                            <a:srgbClr val="D31145"/>
                          </a:solidFill>
                          <a:latin typeface="Arial"/>
                        </a:rPr>
                        <a:t>4/6</a:t>
                      </a:r>
                    </a:p>
                  </a:txBody>
                  <a:tcPr marL="91440" marR="91440" marT="54864" marB="54864" anchor="ctr">
                    <a:lnL w="0">
                      <a:noFill/>
                    </a:lnL>
                    <a:lnR w="0">
                      <a:noFill/>
                    </a:lnR>
                    <a:lnT w="0">
                      <a:noFill/>
                    </a:lnT>
                    <a:lnB w="9525" cmpd="sng">
                      <a:solidFill>
                        <a:srgbClr val="BFBFBF"/>
                      </a:solidFill>
                    </a:lnB>
                    <a:solidFill>
                      <a:srgbClr val="FBE7EC"/>
                    </a:solidFill>
                  </a:tcPr>
                </a:tc>
              </a:tr>
              <a:tr h="512064">
                <a:tc>
                  <a:txBody>
                    <a:bodyPr wrap="square"/>
                    <a:lstStyle/>
                    <a:p>
                      <a:pPr algn="l"/>
                      <a:r>
                        <a:rPr sz="1300" b="1" i="0">
                          <a:solidFill>
                            <a:srgbClr val="333D47"/>
                          </a:solidFill>
                          <a:latin typeface="Arial"/>
                        </a:rPr>
                        <a:t>Service date</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1" i="0">
                          <a:solidFill>
                            <a:srgbClr val="D31145"/>
                          </a:solidFill>
                          <a:latin typeface="Arial"/>
                        </a:rPr>
                        <a:t>5/6</a:t>
                      </a:r>
                    </a:p>
                  </a:txBody>
                  <a:tcPr marL="91440" marR="91440" marT="54864" marB="54864" anchor="ctr">
                    <a:lnL w="0">
                      <a:noFill/>
                    </a:lnL>
                    <a:lnR w="0">
                      <a:noFill/>
                    </a:lnR>
                    <a:lnT w="0">
                      <a:noFill/>
                    </a:lnT>
                    <a:lnB w="9525" cmpd="sng">
                      <a:solidFill>
                        <a:srgbClr val="BFBFBF"/>
                      </a:solidFill>
                    </a:lnB>
                    <a:solidFill>
                      <a:srgbClr val="FBE7EC"/>
                    </a:solidFill>
                  </a:tcPr>
                </a:tc>
                <a:tc>
                  <a:txBody>
                    <a:bodyPr wrap="square"/>
                    <a:lstStyle/>
                    <a:p>
                      <a:pPr algn="ctr"/>
                      <a:r>
                        <a:rPr sz="1400" b="1" i="0">
                          <a:solidFill>
                            <a:srgbClr val="D31145"/>
                          </a:solidFill>
                          <a:latin typeface="Arial"/>
                        </a:rPr>
                        <a:t>5/6</a:t>
                      </a:r>
                    </a:p>
                  </a:txBody>
                  <a:tcPr marL="91440" marR="91440" marT="54864" marB="54864" anchor="ctr">
                    <a:lnL w="0">
                      <a:noFill/>
                    </a:lnL>
                    <a:lnR w="0">
                      <a:noFill/>
                    </a:lnR>
                    <a:lnT w="0">
                      <a:noFill/>
                    </a:lnT>
                    <a:lnB w="9525" cmpd="sng">
                      <a:solidFill>
                        <a:srgbClr val="BFBFBF"/>
                      </a:solidFill>
                    </a:lnB>
                    <a:solidFill>
                      <a:srgbClr val="FBE7EC"/>
                    </a:solidFill>
                  </a:tcPr>
                </a:tc>
                <a:tc>
                  <a:txBody>
                    <a:bodyPr wrap="square"/>
                    <a:lstStyle/>
                    <a:p>
                      <a:pPr algn="ctr"/>
                      <a:r>
                        <a:rPr sz="1400" b="0" i="0">
                          <a:solidFill>
                            <a:srgbClr val="333D47"/>
                          </a:solidFill>
                          <a:latin typeface="Arial"/>
                        </a:rPr>
                        <a:t>1/6</a:t>
                      </a:r>
                    </a:p>
                  </a:txBody>
                  <a:tcPr marL="91440" marR="91440" marT="54864" marB="54864" anchor="ctr">
                    <a:lnL w="0">
                      <a:noFill/>
                    </a:lnL>
                    <a:lnR w="0">
                      <a:noFill/>
                    </a:lnR>
                    <a:lnT w="0">
                      <a:noFill/>
                    </a:lnT>
                    <a:lnB w="9525" cmpd="sng">
                      <a:solidFill>
                        <a:srgbClr val="BFBFBF"/>
                      </a:solidFill>
                    </a:lnB>
                    <a:noFill/>
                  </a:tcPr>
                </a:tc>
                <a:tc>
                  <a:txBody>
                    <a:bodyPr wrap="square"/>
                    <a:lstStyle/>
                    <a:p>
                      <a:pPr algn="ctr"/>
                      <a:r>
                        <a:rPr sz="1400" b="0" i="0">
                          <a:solidFill>
                            <a:srgbClr val="333D47"/>
                          </a:solidFill>
                          <a:latin typeface="Arial"/>
                        </a:rPr>
                        <a:t>1/6</a:t>
                      </a:r>
                    </a:p>
                  </a:txBody>
                  <a:tcPr marL="91440" marR="91440" marT="54864" marB="54864" anchor="ctr">
                    <a:lnL w="0">
                      <a:noFill/>
                    </a:lnL>
                    <a:lnR w="0">
                      <a:noFill/>
                    </a:lnR>
                    <a:lnT w="0">
                      <a:noFill/>
                    </a:lnT>
                    <a:lnB w="9525" cmpd="sng">
                      <a:solidFill>
                        <a:srgbClr val="BFBFBF"/>
                      </a:solidFill>
                    </a:lnB>
                    <a:noFill/>
                  </a:tcPr>
                </a:tc>
              </a:tr>
              <a:tr h="420624">
                <a:tc>
                  <a:txBody>
                    <a:bodyPr wrap="square"/>
                    <a:lstStyle/>
                    <a:p>
                      <a:pPr algn="l"/>
                      <a:r>
                        <a:rPr sz="1200" b="0" i="0">
                          <a:solidFill>
                            <a:srgbClr val="5F6770"/>
                          </a:solidFill>
                          <a:latin typeface="Arial"/>
                        </a:rPr>
                        <a:t>Registration number</a:t>
                      </a:r>
                    </a:p>
                  </a:txBody>
                  <a:tcPr marL="91440" marR="91440" marT="54864" marB="54864" anchor="ctr">
                    <a:lnL w="0">
                      <a:noFill/>
                    </a:lnL>
                    <a:lnR w="0">
                      <a:noFill/>
                    </a:lnR>
                    <a:lnT w="0">
                      <a:noFill/>
                    </a:lnT>
                    <a:lnB w="0">
                      <a:noFill/>
                    </a:lnB>
                    <a:noFill/>
                  </a:tcPr>
                </a:tc>
                <a:tc gridSpan="4">
                  <a:txBody>
                    <a:bodyPr wrap="square"/>
                    <a:lstStyle/>
                    <a:p>
                      <a:pPr algn="ctr"/>
                      <a:r>
                        <a:rPr sz="1200" b="0" i="1">
                          <a:solidFill>
                            <a:srgbClr val="5F6770"/>
                          </a:solidFill>
                          <a:latin typeface="Arial"/>
                        </a:rPr>
                        <a:t>Not on any receipt, so not scored</a:t>
                      </a:r>
                    </a:p>
                  </a:txBody>
                  <a:tcPr marL="91440" marR="91440" marT="54864" marB="54864" anchor="ctr">
                    <a:lnL w="0">
                      <a:noFill/>
                    </a:lnL>
                    <a:lnR w="0">
                      <a:noFill/>
                    </a:lnR>
                    <a:lnT w="0">
                      <a:noFill/>
                    </a:lnT>
                    <a:lnB w="0">
                      <a:noFill/>
                    </a:lnB>
                    <a:noFill/>
                  </a:tcPr>
                </a:tc>
                <a:tc hMerge="1">
                  <a:txBody>
                    <a:bodyPr/>
                    <a:lstStyle/>
                    <a:p/>
                  </a:txBody>
                  <a:tcPr>
                    <a:lnL w="0">
                      <a:noFill/>
                    </a:lnL>
                    <a:lnR w="0">
                      <a:noFill/>
                    </a:lnR>
                    <a:lnT w="0">
                      <a:noFill/>
                    </a:lnT>
                    <a:lnB w="0">
                      <a:noFill/>
                    </a:lnB>
                  </a:tcPr>
                </a:tc>
                <a:tc hMerge="1">
                  <a:txBody>
                    <a:bodyPr/>
                    <a:lstStyle/>
                    <a:p/>
                  </a:txBody>
                  <a:tcPr>
                    <a:lnL w="0">
                      <a:noFill/>
                    </a:lnL>
                    <a:lnR w="0">
                      <a:noFill/>
                    </a:lnR>
                    <a:lnT w="0">
                      <a:noFill/>
                    </a:lnT>
                    <a:lnB w="0">
                      <a:noFill/>
                    </a:lnB>
                  </a:tcPr>
                </a:tc>
                <a:tc hMerge="1">
                  <a:txBody>
                    <a:bodyPr/>
                    <a:lstStyle/>
                    <a:p/>
                  </a:txBody>
                  <a:tcPr>
                    <a:lnL w="0">
                      <a:noFill/>
                    </a:lnL>
                    <a:lnR w="0">
                      <a:noFill/>
                    </a:lnR>
                    <a:lnT w="0">
                      <a:noFill/>
                    </a:lnT>
                    <a:lnB w="0">
                      <a:noFill/>
                    </a:lnB>
                  </a:tcPr>
                </a:tc>
              </a:tr>
            </a:tbl>
          </a:graphicData>
        </a:graphic>
      </p:graphicFrame>
      <p:sp>
        <p:nvSpPr>
          <p:cNvPr id="13" name="Rectangle 12"/>
          <p:cNvSpPr/>
          <p:nvPr/>
        </p:nvSpPr>
        <p:spPr>
          <a:xfrm>
            <a:off x="7772400" y="1828800"/>
            <a:ext cx="4059936" cy="3657600"/>
          </a:xfrm>
          <a:prstGeom prst="rect">
            <a:avLst/>
          </a:prstGeom>
          <a:solidFill>
            <a:srgbClr val="F2F2F2"/>
          </a:solidFill>
          <a:ln>
            <a:noFill/>
          </a:ln>
        </p:spPr>
        <p:txBody>
          <a:bodyPr rtlCol="0" anchor="t" wrap="square" lIns="228600" rIns="228600" tIns="109728" bIns="109728"/>
          <a:lstStyle/>
          <a:p>
            <a:pPr algn="l" marL="0" indent="0">
              <a:spcBef>
                <a:spcPts val="0"/>
              </a:spcBef>
              <a:spcAft>
                <a:spcPts val="1000"/>
              </a:spcAft>
              <a:buNone/>
            </a:pPr>
            <a:r>
              <a:rPr sz="1100" b="1" i="0">
                <a:solidFill>
                  <a:srgbClr val="5F6770"/>
                </a:solidFill>
                <a:latin typeface="Arial"/>
              </a:rPr>
              <a:t>WHAT STANDS OUT</a:t>
            </a:r>
          </a:p>
          <a:p>
            <a:pPr marL="164592" indent="-164592" algn="l">
              <a:spcBef>
                <a:spcPts val="0"/>
              </a:spcBef>
              <a:spcAft>
                <a:spcPts val="1000"/>
              </a:spcAft>
              <a:buFont typeface="Arial"/>
              <a:buChar char="•"/>
            </a:pPr>
            <a:r>
              <a:rPr sz="1300" b="0" i="0">
                <a:solidFill>
                  <a:srgbClr val="333D47"/>
                </a:solidFill>
                <a:latin typeface="Arial"/>
              </a:rPr>
              <a:t>Total amount: correct on all receipts for all four approaches</a:t>
            </a:r>
          </a:p>
          <a:p>
            <a:pPr marL="164592" indent="-164592" algn="l">
              <a:spcBef>
                <a:spcPts val="0"/>
              </a:spcBef>
              <a:spcAft>
                <a:spcPts val="1000"/>
              </a:spcAft>
              <a:buFont typeface="Arial"/>
              <a:buChar char="•"/>
            </a:pPr>
            <a:r>
              <a:rPr sz="1300" b="0" i="0">
                <a:solidFill>
                  <a:srgbClr val="333D47"/>
                </a:solidFill>
                <a:latin typeface="Arial"/>
              </a:rPr>
              <a:t>Azure DI + AOAI found all 4 patient names and all 3 receipt numbers</a:t>
            </a:r>
          </a:p>
          <a:p>
            <a:pPr marL="164592" indent="-164592" algn="l">
              <a:spcBef>
                <a:spcPts val="0"/>
              </a:spcBef>
              <a:spcAft>
                <a:spcPts val="1000"/>
              </a:spcAft>
              <a:buFont typeface="Arial"/>
              <a:buChar char="•"/>
            </a:pPr>
            <a:r>
              <a:rPr sz="1300" b="0" i="0">
                <a:solidFill>
                  <a:srgbClr val="333D47"/>
                </a:solidFill>
                <a:latin typeface="Arial"/>
              </a:rPr>
              <a:t>PaddleOCR read handwritten dates correctly (5/6)</a:t>
            </a:r>
          </a:p>
          <a:p>
            <a:pPr marL="164592" indent="-164592" algn="l">
              <a:spcBef>
                <a:spcPts val="0"/>
              </a:spcBef>
              <a:spcAft>
                <a:spcPts val="0"/>
              </a:spcAft>
              <a:buFont typeface="Arial"/>
              <a:buChar char="•"/>
            </a:pPr>
            <a:r>
              <a:rPr sz="1300" b="0" i="0">
                <a:solidFill>
                  <a:srgbClr val="333D47"/>
                </a:solidFill>
                <a:latin typeface="Arial"/>
              </a:rPr>
              <a:t>Both Azure DI approaches: 1/6 dates, because Azure DI read the handwritten year 2026 as 2020</a:t>
            </a:r>
          </a:p>
        </p:txBody>
      </p:sp>
      <p:sp>
        <p:nvSpPr>
          <p:cNvPr id="14" name="TextBox 13"/>
          <p:cNvSpPr txBox="1"/>
          <p:nvPr/>
        </p:nvSpPr>
        <p:spPr>
          <a:xfrm>
            <a:off x="356616" y="5669280"/>
            <a:ext cx="10515600" cy="274320"/>
          </a:xfrm>
          <a:prstGeom prst="rect">
            <a:avLst/>
          </a:prstGeom>
          <a:noFill/>
        </p:spPr>
        <p:txBody>
          <a:bodyPr wrap="square" lIns="0" rIns="0" tIns="0" bIns="0" anchor="t"/>
          <a:lstStyle/>
          <a:p>
            <a:pPr marL="0" indent="0" algn="l">
              <a:spcBef>
                <a:spcPts val="0"/>
              </a:spcBef>
              <a:spcAft>
                <a:spcPts val="0"/>
              </a:spcAft>
              <a:buNone/>
            </a:pPr>
            <a:r>
              <a:rPr sz="1000" b="0" i="1">
                <a:solidFill>
                  <a:srgbClr val="5F6770"/>
                </a:solidFill>
                <a:latin typeface="Arial"/>
              </a:rPr>
              <a:t>Highlighted = best result for that field. Cells show correct / receipts where the field exists.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Processing Speed and Reliability</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Bef>
                <a:spcPts val="0"/>
              </a:spcBef>
              <a:spcAft>
                <a:spcPts val="0"/>
              </a:spcAft>
              <a:buNone/>
            </a:pPr>
            <a:r>
              <a:rPr sz="1600" b="0" i="0">
                <a:solidFill>
                  <a:srgbClr val="D31145"/>
                </a:solidFill>
                <a:latin typeface="Arial"/>
              </a:rPr>
              <a:t>Azure DI is fastest; every approach processed all 6 receipts without errors.</a:t>
            </a:r>
          </a:p>
        </p:txBody>
      </p:sp>
      <p:graphicFrame>
        <p:nvGraphicFramePr>
          <p:cNvPr id="12" name="Speed chart"/>
          <p:cNvGraphicFramePr>
            <a:graphicFrameLocks noGrp="1"/>
          </p:cNvGraphicFramePr>
          <p:nvPr/>
        </p:nvGraphicFramePr>
        <p:xfrm>
          <a:off x="356616" y="1783080"/>
          <a:ext cx="7040880" cy="3749039"/>
        </p:xfrm>
        <a:graphic>
          <a:graphicData uri="http://schemas.openxmlformats.org/drawingml/2006/chart">
            <c:chart xmlns:c="http://schemas.openxmlformats.org/drawingml/2006/chart" r:id="rId3"/>
          </a:graphicData>
        </a:graphic>
      </p:graphicFrame>
      <p:sp>
        <p:nvSpPr>
          <p:cNvPr id="13" name="TextBox 12"/>
          <p:cNvSpPr txBox="1"/>
          <p:nvPr/>
        </p:nvSpPr>
        <p:spPr>
          <a:xfrm>
            <a:off x="356616" y="1664208"/>
            <a:ext cx="7040880" cy="274320"/>
          </a:xfrm>
          <a:prstGeom prst="rect">
            <a:avLst/>
          </a:prstGeom>
          <a:noFill/>
        </p:spPr>
        <p:txBody>
          <a:bodyPr wrap="square" lIns="0" rIns="0" tIns="0" bIns="0" anchor="t"/>
          <a:lstStyle/>
          <a:p>
            <a:pPr marL="0" indent="0" algn="l">
              <a:spcBef>
                <a:spcPts val="0"/>
              </a:spcBef>
              <a:spcAft>
                <a:spcPts val="0"/>
              </a:spcAft>
              <a:buNone/>
            </a:pPr>
            <a:r>
              <a:rPr sz="1100" b="1" i="0">
                <a:solidFill>
                  <a:srgbClr val="5F6770"/>
                </a:solidFill>
                <a:latin typeface="Arial"/>
              </a:rPr>
              <a:t>AVERAGE SECONDS PER RECEIPT</a:t>
            </a:r>
          </a:p>
        </p:txBody>
      </p:sp>
      <p:sp>
        <p:nvSpPr>
          <p:cNvPr id="14" name="Rectangle 13"/>
          <p:cNvSpPr/>
          <p:nvPr/>
        </p:nvSpPr>
        <p:spPr>
          <a:xfrm>
            <a:off x="7717536" y="1828800"/>
            <a:ext cx="4114800" cy="3611880"/>
          </a:xfrm>
          <a:prstGeom prst="rect">
            <a:avLst/>
          </a:prstGeom>
          <a:solidFill>
            <a:srgbClr val="F2F2F2"/>
          </a:solidFill>
          <a:ln>
            <a:noFill/>
          </a:ln>
        </p:spPr>
        <p:txBody>
          <a:bodyPr rtlCol="0" anchor="t" wrap="square" lIns="228600" rIns="228600" tIns="109728" bIns="109728"/>
          <a:lstStyle/>
          <a:p>
            <a:pPr algn="l" marL="0" indent="0">
              <a:spcBef>
                <a:spcPts val="0"/>
              </a:spcBef>
              <a:spcAft>
                <a:spcPts val="600"/>
              </a:spcAft>
              <a:buNone/>
            </a:pPr>
            <a:r>
              <a:rPr sz="1100" b="1" i="0">
                <a:solidFill>
                  <a:srgbClr val="5F6770"/>
                </a:solidFill>
                <a:latin typeface="Arial"/>
              </a:rPr>
              <a:t>RELIABILITY</a:t>
            </a:r>
          </a:p>
          <a:p>
            <a:pPr marL="0" indent="0" algn="l">
              <a:spcBef>
                <a:spcPts val="0"/>
              </a:spcBef>
              <a:spcAft>
                <a:spcPts val="200"/>
              </a:spcAft>
              <a:buNone/>
            </a:pPr>
            <a:r>
              <a:rPr sz="4000" b="1" i="0">
                <a:solidFill>
                  <a:srgbClr val="D31145"/>
                </a:solidFill>
                <a:latin typeface="Arial"/>
              </a:rPr>
              <a:t>6 / 6</a:t>
            </a:r>
          </a:p>
          <a:p>
            <a:pPr marL="0" indent="0" algn="l">
              <a:spcBef>
                <a:spcPts val="0"/>
              </a:spcBef>
              <a:spcAft>
                <a:spcPts val="1400"/>
              </a:spcAft>
              <a:buNone/>
            </a:pPr>
            <a:r>
              <a:rPr sz="1400" b="0" i="0">
                <a:solidFill>
                  <a:srgbClr val="333D47"/>
                </a:solidFill>
                <a:latin typeface="Arial"/>
              </a:rPr>
              <a:t>receipts processed by every approach, no errors or timeouts</a:t>
            </a:r>
          </a:p>
          <a:p>
            <a:pPr marL="164592" indent="-164592" algn="l">
              <a:spcBef>
                <a:spcPts val="0"/>
              </a:spcBef>
              <a:spcAft>
                <a:spcPts val="800"/>
              </a:spcAft>
              <a:buFont typeface="Arial"/>
              <a:buChar char="•"/>
            </a:pPr>
            <a:r>
              <a:rPr sz="1300" b="0" i="0">
                <a:solidFill>
                  <a:srgbClr val="333D47"/>
                </a:solidFill>
                <a:latin typeface="Arial"/>
              </a:rPr>
              <a:t>PaddleOCR Heavy needed a library version fix to run on Azure CPU</a:t>
            </a:r>
          </a:p>
          <a:p>
            <a:pPr marL="164592" indent="-164592" algn="l">
              <a:spcBef>
                <a:spcPts val="0"/>
              </a:spcBef>
              <a:spcAft>
                <a:spcPts val="0"/>
              </a:spcAft>
              <a:buFont typeface="Arial"/>
              <a:buChar char="•"/>
            </a:pPr>
            <a:r>
              <a:rPr sz="1300" b="0" i="0">
                <a:solidFill>
                  <a:srgbClr val="333D47"/>
                </a:solidFill>
                <a:latin typeface="Arial"/>
              </a:rPr>
              <a:t>Older Azure OpenAI setup timed out; the final version took 3 s per call</a:t>
            </a:r>
          </a:p>
        </p:txBody>
      </p:sp>
      <p:sp>
        <p:nvSpPr>
          <p:cNvPr id="15" name="TextBox 14"/>
          <p:cNvSpPr txBox="1"/>
          <p:nvPr/>
        </p:nvSpPr>
        <p:spPr>
          <a:xfrm>
            <a:off x="356616" y="5669280"/>
            <a:ext cx="11475720" cy="274320"/>
          </a:xfrm>
          <a:prstGeom prst="rect">
            <a:avLst/>
          </a:prstGeom>
          <a:noFill/>
        </p:spPr>
        <p:txBody>
          <a:bodyPr wrap="square" lIns="0" rIns="0" tIns="0" bIns="0" anchor="t"/>
          <a:lstStyle/>
          <a:p>
            <a:pPr marL="0" indent="0" algn="l">
              <a:spcBef>
                <a:spcPts val="0"/>
              </a:spcBef>
              <a:spcAft>
                <a:spcPts val="0"/>
              </a:spcAft>
              <a:buNone/>
            </a:pPr>
            <a:r>
              <a:rPr sz="1000" b="0" i="1">
                <a:solidFill>
                  <a:srgbClr val="5F6770"/>
                </a:solidFill>
                <a:latin typeface="Arial"/>
              </a:rPr>
              <a:t>Times reflect different methods: PaddleOCR = CPU time on Azure ML compute; Azure = API call incl. network. One receipt at a time; not measured at volume.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Main Findings and Cost Considerations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Bef>
                <a:spcPts val="0"/>
              </a:spcBef>
              <a:spcAft>
                <a:spcPts val="0"/>
              </a:spcAft>
              <a:buNone/>
            </a:pPr>
            <a:r>
              <a:rPr sz="1600" b="0" i="0">
                <a:solidFill>
                  <a:srgbClr val="D31145"/>
                </a:solidFill>
                <a:latin typeface="Arial"/>
              </a:rPr>
              <a:t>Azure OpenAI lifts Azure DI from 60% to 72%, but PaddleOCR Light reaches the same accuracy without API calls.</a:t>
            </a:r>
          </a:p>
        </p:txBody>
      </p:sp>
      <p:sp>
        <p:nvSpPr>
          <p:cNvPr id="12" name="Oval 11"/>
          <p:cNvSpPr/>
          <p:nvPr/>
        </p:nvSpPr>
        <p:spPr>
          <a:xfrm>
            <a:off x="356616" y="1901952"/>
            <a:ext cx="365760" cy="365760"/>
          </a:xfrm>
          <a:prstGeom prst="ellipse">
            <a:avLst/>
          </a:prstGeom>
          <a:solidFill>
            <a:srgbClr val="D31145"/>
          </a:solidFill>
          <a:ln>
            <a:noFill/>
          </a:ln>
        </p:spPr>
        <p:txBody>
          <a:bodyPr rtlCol="0" anchor="ctr" lIns="0" rIns="0" tIns="0" bIns="0"/>
          <a:lstStyle/>
          <a:p>
            <a:pPr algn="ctr"/>
            <a:r>
              <a:rPr sz="1300" b="1">
                <a:solidFill>
                  <a:srgbClr val="FFFFFF"/>
                </a:solidFill>
                <a:latin typeface="Arial"/>
              </a:rPr>
              <a:t>1</a:t>
            </a:r>
          </a:p>
        </p:txBody>
      </p:sp>
      <p:sp>
        <p:nvSpPr>
          <p:cNvPr id="13" name="TextBox 12"/>
          <p:cNvSpPr txBox="1"/>
          <p:nvPr/>
        </p:nvSpPr>
        <p:spPr>
          <a:xfrm>
            <a:off x="868680" y="1828800"/>
            <a:ext cx="5349240" cy="658368"/>
          </a:xfrm>
          <a:prstGeom prst="rect">
            <a:avLst/>
          </a:prstGeom>
          <a:noFill/>
        </p:spPr>
        <p:txBody>
          <a:bodyPr wrap="square" lIns="0" rIns="0" tIns="0" bIns="0" anchor="t"/>
          <a:lstStyle/>
          <a:p>
            <a:pPr marL="0" indent="0" algn="l">
              <a:spcBef>
                <a:spcPts val="0"/>
              </a:spcBef>
              <a:spcAft>
                <a:spcPts val="200"/>
              </a:spcAft>
              <a:buNone/>
            </a:pPr>
            <a:r>
              <a:rPr sz="1400" b="1" i="0">
                <a:solidFill>
                  <a:srgbClr val="333D47"/>
                </a:solidFill>
                <a:latin typeface="Arial"/>
              </a:rPr>
              <a:t>Heavy adds nothing</a:t>
            </a:r>
          </a:p>
          <a:p>
            <a:pPr marL="0" indent="0" algn="l">
              <a:spcBef>
                <a:spcPts val="0"/>
              </a:spcBef>
              <a:spcAft>
                <a:spcPts val="0"/>
              </a:spcAft>
              <a:buNone/>
            </a:pPr>
            <a:r>
              <a:rPr sz="1200" b="0" i="0">
                <a:solidFill>
                  <a:srgbClr val="5F6770"/>
                </a:solidFill>
                <a:latin typeface="Arial"/>
              </a:rPr>
              <a:t>PaddleOCR Heavy matched Light at 72% but was about 4× slower.</a:t>
            </a:r>
          </a:p>
        </p:txBody>
      </p:sp>
      <p:sp>
        <p:nvSpPr>
          <p:cNvPr id="14" name="Oval 13"/>
          <p:cNvSpPr/>
          <p:nvPr/>
        </p:nvSpPr>
        <p:spPr>
          <a:xfrm>
            <a:off x="356616" y="2633472"/>
            <a:ext cx="365760" cy="365760"/>
          </a:xfrm>
          <a:prstGeom prst="ellipse">
            <a:avLst/>
          </a:prstGeom>
          <a:solidFill>
            <a:srgbClr val="D31145"/>
          </a:solidFill>
          <a:ln>
            <a:noFill/>
          </a:ln>
        </p:spPr>
        <p:txBody>
          <a:bodyPr rtlCol="0" anchor="ctr" lIns="0" rIns="0" tIns="0" bIns="0"/>
          <a:lstStyle/>
          <a:p>
            <a:pPr algn="ctr"/>
            <a:r>
              <a:rPr sz="1300" b="1">
                <a:solidFill>
                  <a:srgbClr val="FFFFFF"/>
                </a:solidFill>
                <a:latin typeface="Arial"/>
              </a:rPr>
              <a:t>2</a:t>
            </a:r>
          </a:p>
        </p:txBody>
      </p:sp>
      <p:sp>
        <p:nvSpPr>
          <p:cNvPr id="15" name="TextBox 14"/>
          <p:cNvSpPr txBox="1"/>
          <p:nvPr/>
        </p:nvSpPr>
        <p:spPr>
          <a:xfrm>
            <a:off x="868680" y="2560320"/>
            <a:ext cx="5349240" cy="658368"/>
          </a:xfrm>
          <a:prstGeom prst="rect">
            <a:avLst/>
          </a:prstGeom>
          <a:noFill/>
        </p:spPr>
        <p:txBody>
          <a:bodyPr wrap="square" lIns="0" rIns="0" tIns="0" bIns="0" anchor="t"/>
          <a:lstStyle/>
          <a:p>
            <a:pPr marL="0" indent="0" algn="l">
              <a:spcBef>
                <a:spcPts val="0"/>
              </a:spcBef>
              <a:spcAft>
                <a:spcPts val="200"/>
              </a:spcAft>
              <a:buNone/>
            </a:pPr>
            <a:r>
              <a:rPr sz="1400" b="1" i="0">
                <a:solidFill>
                  <a:srgbClr val="333D47"/>
                </a:solidFill>
                <a:latin typeface="Arial"/>
              </a:rPr>
              <a:t>Azure OpenAI helps DI</a:t>
            </a:r>
          </a:p>
          <a:p>
            <a:pPr marL="0" indent="0" algn="l">
              <a:spcBef>
                <a:spcPts val="0"/>
              </a:spcBef>
              <a:spcAft>
                <a:spcPts val="0"/>
              </a:spcAft>
              <a:buNone/>
            </a:pPr>
            <a:r>
              <a:rPr sz="1200" b="0" i="0">
                <a:solidFill>
                  <a:srgbClr val="5F6770"/>
                </a:solidFill>
                <a:latin typeface="Arial"/>
              </a:rPr>
              <a:t>Accuracy rose from 60% to 72% over Azure DI alone.</a:t>
            </a:r>
          </a:p>
        </p:txBody>
      </p:sp>
      <p:sp>
        <p:nvSpPr>
          <p:cNvPr id="16" name="Oval 15"/>
          <p:cNvSpPr/>
          <p:nvPr/>
        </p:nvSpPr>
        <p:spPr>
          <a:xfrm>
            <a:off x="356616" y="3364992"/>
            <a:ext cx="365760" cy="365760"/>
          </a:xfrm>
          <a:prstGeom prst="ellipse">
            <a:avLst/>
          </a:prstGeom>
          <a:solidFill>
            <a:srgbClr val="D31145"/>
          </a:solidFill>
          <a:ln>
            <a:noFill/>
          </a:ln>
        </p:spPr>
        <p:txBody>
          <a:bodyPr rtlCol="0" anchor="ctr" lIns="0" rIns="0" tIns="0" bIns="0"/>
          <a:lstStyle/>
          <a:p>
            <a:pPr algn="ctr"/>
            <a:r>
              <a:rPr sz="1300" b="1">
                <a:solidFill>
                  <a:srgbClr val="FFFFFF"/>
                </a:solidFill>
                <a:latin typeface="Arial"/>
              </a:rPr>
              <a:t>3</a:t>
            </a:r>
          </a:p>
        </p:txBody>
      </p:sp>
      <p:sp>
        <p:nvSpPr>
          <p:cNvPr id="17" name="TextBox 16"/>
          <p:cNvSpPr txBox="1"/>
          <p:nvPr/>
        </p:nvSpPr>
        <p:spPr>
          <a:xfrm>
            <a:off x="868680" y="3291840"/>
            <a:ext cx="5349240" cy="658368"/>
          </a:xfrm>
          <a:prstGeom prst="rect">
            <a:avLst/>
          </a:prstGeom>
          <a:noFill/>
        </p:spPr>
        <p:txBody>
          <a:bodyPr wrap="square" lIns="0" rIns="0" tIns="0" bIns="0" anchor="t"/>
          <a:lstStyle/>
          <a:p>
            <a:pPr marL="0" indent="0" algn="l">
              <a:spcBef>
                <a:spcPts val="0"/>
              </a:spcBef>
              <a:spcAft>
                <a:spcPts val="200"/>
              </a:spcAft>
              <a:buNone/>
            </a:pPr>
            <a:r>
              <a:rPr sz="1400" b="1" i="0">
                <a:solidFill>
                  <a:srgbClr val="333D47"/>
                </a:solidFill>
                <a:latin typeface="Arial"/>
              </a:rPr>
              <a:t>Better on unclear layouts</a:t>
            </a:r>
          </a:p>
          <a:p>
            <a:pPr marL="0" indent="0" algn="l">
              <a:spcBef>
                <a:spcPts val="0"/>
              </a:spcBef>
              <a:spcAft>
                <a:spcPts val="0"/>
              </a:spcAft>
              <a:buNone/>
            </a:pPr>
            <a:r>
              <a:rPr sz="1200" b="0" i="0">
                <a:solidFill>
                  <a:srgbClr val="5F6770"/>
                </a:solidFill>
                <a:latin typeface="Arial"/>
              </a:rPr>
              <a:t>The LLM found names and numbers the fixed rules missed.</a:t>
            </a:r>
          </a:p>
        </p:txBody>
      </p:sp>
      <p:sp>
        <p:nvSpPr>
          <p:cNvPr id="18" name="Oval 17"/>
          <p:cNvSpPr/>
          <p:nvPr/>
        </p:nvSpPr>
        <p:spPr>
          <a:xfrm>
            <a:off x="356616" y="4096512"/>
            <a:ext cx="365760" cy="365760"/>
          </a:xfrm>
          <a:prstGeom prst="ellipse">
            <a:avLst/>
          </a:prstGeom>
          <a:solidFill>
            <a:srgbClr val="D31145"/>
          </a:solidFill>
          <a:ln>
            <a:noFill/>
          </a:ln>
        </p:spPr>
        <p:txBody>
          <a:bodyPr rtlCol="0" anchor="ctr" lIns="0" rIns="0" tIns="0" bIns="0"/>
          <a:lstStyle/>
          <a:p>
            <a:pPr algn="ctr"/>
            <a:r>
              <a:rPr sz="1300" b="1">
                <a:solidFill>
                  <a:srgbClr val="FFFFFF"/>
                </a:solidFill>
                <a:latin typeface="Arial"/>
              </a:rPr>
              <a:t>4</a:t>
            </a:r>
          </a:p>
        </p:txBody>
      </p:sp>
      <p:sp>
        <p:nvSpPr>
          <p:cNvPr id="19" name="TextBox 18"/>
          <p:cNvSpPr txBox="1"/>
          <p:nvPr/>
        </p:nvSpPr>
        <p:spPr>
          <a:xfrm>
            <a:off x="868680" y="4023360"/>
            <a:ext cx="5349240" cy="658368"/>
          </a:xfrm>
          <a:prstGeom prst="rect">
            <a:avLst/>
          </a:prstGeom>
          <a:noFill/>
        </p:spPr>
        <p:txBody>
          <a:bodyPr wrap="square" lIns="0" rIns="0" tIns="0" bIns="0" anchor="t"/>
          <a:lstStyle/>
          <a:p>
            <a:pPr marL="0" indent="0" algn="l">
              <a:spcBef>
                <a:spcPts val="0"/>
              </a:spcBef>
              <a:spcAft>
                <a:spcPts val="200"/>
              </a:spcAft>
              <a:buNone/>
            </a:pPr>
            <a:r>
              <a:rPr sz="1400" b="1" i="0">
                <a:solidFill>
                  <a:srgbClr val="333D47"/>
                </a:solidFill>
                <a:latin typeface="Arial"/>
              </a:rPr>
              <a:t>Limited by DI's OCR</a:t>
            </a:r>
          </a:p>
          <a:p>
            <a:pPr marL="0" indent="0" algn="l">
              <a:spcBef>
                <a:spcPts val="0"/>
              </a:spcBef>
              <a:spcAft>
                <a:spcPts val="0"/>
              </a:spcAft>
              <a:buNone/>
            </a:pPr>
            <a:r>
              <a:rPr sz="1200" b="0" i="0">
                <a:solidFill>
                  <a:srgbClr val="5F6770"/>
                </a:solidFill>
                <a:latin typeface="Arial"/>
              </a:rPr>
              <a:t>4 of its 7 errors came from DI misreading handwritten years.</a:t>
            </a:r>
          </a:p>
        </p:txBody>
      </p:sp>
      <p:sp>
        <p:nvSpPr>
          <p:cNvPr id="20" name="Oval 19"/>
          <p:cNvSpPr/>
          <p:nvPr/>
        </p:nvSpPr>
        <p:spPr>
          <a:xfrm>
            <a:off x="356616" y="4828032"/>
            <a:ext cx="365760" cy="365760"/>
          </a:xfrm>
          <a:prstGeom prst="ellipse">
            <a:avLst/>
          </a:prstGeom>
          <a:solidFill>
            <a:srgbClr val="D31145"/>
          </a:solidFill>
          <a:ln>
            <a:noFill/>
          </a:ln>
        </p:spPr>
        <p:txBody>
          <a:bodyPr rtlCol="0" anchor="ctr" lIns="0" rIns="0" tIns="0" bIns="0"/>
          <a:lstStyle/>
          <a:p>
            <a:pPr algn="ctr"/>
            <a:r>
              <a:rPr sz="1300" b="1">
                <a:solidFill>
                  <a:srgbClr val="FFFFFF"/>
                </a:solidFill>
                <a:latin typeface="Arial"/>
              </a:rPr>
              <a:t>5</a:t>
            </a:r>
          </a:p>
        </p:txBody>
      </p:sp>
      <p:sp>
        <p:nvSpPr>
          <p:cNvPr id="21" name="TextBox 20"/>
          <p:cNvSpPr txBox="1"/>
          <p:nvPr/>
        </p:nvSpPr>
        <p:spPr>
          <a:xfrm>
            <a:off x="868680" y="4754880"/>
            <a:ext cx="5349240" cy="658368"/>
          </a:xfrm>
          <a:prstGeom prst="rect">
            <a:avLst/>
          </a:prstGeom>
          <a:noFill/>
        </p:spPr>
        <p:txBody>
          <a:bodyPr wrap="square" lIns="0" rIns="0" tIns="0" bIns="0" anchor="t"/>
          <a:lstStyle/>
          <a:p>
            <a:pPr marL="0" indent="0" algn="l">
              <a:spcBef>
                <a:spcPts val="0"/>
              </a:spcBef>
              <a:spcAft>
                <a:spcPts val="200"/>
              </a:spcAft>
              <a:buNone/>
            </a:pPr>
            <a:r>
              <a:rPr sz="1400" b="1" i="0">
                <a:solidFill>
                  <a:srgbClr val="333D47"/>
                </a:solidFill>
                <a:latin typeface="Arial"/>
              </a:rPr>
              <a:t>Light matches it</a:t>
            </a:r>
          </a:p>
          <a:p>
            <a:pPr marL="0" indent="0" algn="l">
              <a:spcBef>
                <a:spcPts val="0"/>
              </a:spcBef>
              <a:spcAft>
                <a:spcPts val="0"/>
              </a:spcAft>
              <a:buNone/>
            </a:pPr>
            <a:r>
              <a:rPr sz="1200" b="0" i="0">
                <a:solidFill>
                  <a:srgbClr val="5F6770"/>
                </a:solidFill>
                <a:latin typeface="Arial"/>
              </a:rPr>
              <a:t>PaddleOCR Light: 72% with no paid API calls (compute still costs).</a:t>
            </a:r>
          </a:p>
        </p:txBody>
      </p:sp>
      <p:sp>
        <p:nvSpPr>
          <p:cNvPr id="22" name="TextBox 21"/>
          <p:cNvSpPr txBox="1"/>
          <p:nvPr/>
        </p:nvSpPr>
        <p:spPr>
          <a:xfrm>
            <a:off x="6492240" y="1755648"/>
            <a:ext cx="5340096" cy="292608"/>
          </a:xfrm>
          <a:prstGeom prst="rect">
            <a:avLst/>
          </a:prstGeom>
          <a:noFill/>
        </p:spPr>
        <p:txBody>
          <a:bodyPr wrap="square" lIns="0" rIns="0" tIns="0" bIns="0" anchor="t"/>
          <a:lstStyle/>
          <a:p>
            <a:pPr marL="0" indent="0" algn="l">
              <a:spcBef>
                <a:spcPts val="0"/>
              </a:spcBef>
              <a:spcAft>
                <a:spcPts val="0"/>
              </a:spcAft>
              <a:buNone/>
            </a:pPr>
            <a:r>
              <a:rPr sz="1100" b="1" i="0">
                <a:solidFill>
                  <a:srgbClr val="5F6770"/>
                </a:solidFill>
                <a:latin typeface="Arial"/>
              </a:rPr>
              <a:t>COST DRIVERS PER 1,000 RECEIPTS (MEASURED)</a:t>
            </a:r>
          </a:p>
        </p:txBody>
      </p:sp>
      <p:graphicFrame>
        <p:nvGraphicFramePr>
          <p:cNvPr id="23" name="Table 22"/>
          <p:cNvGraphicFramePr>
            <a:graphicFrameLocks noGrp="1"/>
          </p:cNvGraphicFramePr>
          <p:nvPr/>
        </p:nvGraphicFramePr>
        <p:xfrm>
          <a:off x="6492240" y="2084831"/>
          <a:ext cx="5340096" cy="2487168"/>
        </p:xfrm>
        <a:graphic>
          <a:graphicData uri="http://schemas.openxmlformats.org/drawingml/2006/table">
            <a:tbl>
              <a:tblPr firstRow="0" bandRow="0">
                <a:tableStyleId>{2D5ABB26-0587-4C30-8999-92F81FD0307C}</a:tableStyleId>
              </a:tblPr>
              <a:tblGrid>
                <a:gridCol w="1737360"/>
                <a:gridCol w="2212848"/>
                <a:gridCol w="1389888"/>
              </a:tblGrid>
              <a:tr h="402336">
                <a:tc>
                  <a:txBody>
                    <a:bodyPr wrap="square"/>
                    <a:lstStyle/>
                    <a:p>
                      <a:pPr algn="l"/>
                      <a:r>
                        <a:rPr sz="1200" b="1" i="0">
                          <a:solidFill>
                            <a:srgbClr val="FFFFFF"/>
                          </a:solidFill>
                          <a:latin typeface="Arial"/>
                        </a:rPr>
                        <a:t>Approach</a:t>
                      </a:r>
                    </a:p>
                  </a:txBody>
                  <a:tcPr marL="91440" marR="91440" marT="54864" marB="54864" anchor="ctr">
                    <a:lnL w="0">
                      <a:noFill/>
                    </a:lnL>
                    <a:lnR w="0">
                      <a:noFill/>
                    </a:lnR>
                    <a:lnT w="0">
                      <a:noFill/>
                    </a:lnT>
                    <a:lnB w="0">
                      <a:noFill/>
                    </a:lnB>
                    <a:solidFill>
                      <a:srgbClr val="333D47"/>
                    </a:solidFill>
                  </a:tcPr>
                </a:tc>
                <a:tc>
                  <a:txBody>
                    <a:bodyPr wrap="square"/>
                    <a:lstStyle/>
                    <a:p>
                      <a:pPr algn="l"/>
                      <a:r>
                        <a:rPr sz="1200" b="1" i="0">
                          <a:solidFill>
                            <a:srgbClr val="FFFFFF"/>
                          </a:solidFill>
                          <a:latin typeface="Arial"/>
                        </a:rPr>
                        <a:t>Usage</a:t>
                      </a:r>
                    </a:p>
                  </a:txBody>
                  <a:tcPr marL="91440" marR="91440" marT="54864" marB="54864" anchor="ctr">
                    <a:lnL w="0">
                      <a:noFill/>
                    </a:lnL>
                    <a:lnR w="0">
                      <a:noFill/>
                    </a:lnR>
                    <a:lnT w="0">
                      <a:noFill/>
                    </a:lnT>
                    <a:lnB w="0">
                      <a:noFill/>
                    </a:lnB>
                    <a:solidFill>
                      <a:srgbClr val="333D47"/>
                    </a:solidFill>
                  </a:tcPr>
                </a:tc>
                <a:tc>
                  <a:txBody>
                    <a:bodyPr wrap="square"/>
                    <a:lstStyle/>
                    <a:p>
                      <a:pPr algn="l"/>
                      <a:r>
                        <a:rPr sz="1200" b="1" i="0">
                          <a:solidFill>
                            <a:srgbClr val="FFFFFF"/>
                          </a:solidFill>
                          <a:latin typeface="Arial"/>
                        </a:rPr>
                        <a:t>Price</a:t>
                      </a:r>
                    </a:p>
                  </a:txBody>
                  <a:tcPr marL="91440" marR="91440" marT="54864" marB="54864" anchor="ctr">
                    <a:lnL w="0">
                      <a:noFill/>
                    </a:lnL>
                    <a:lnR w="0">
                      <a:noFill/>
                    </a:lnR>
                    <a:lnT w="0">
                      <a:noFill/>
                    </a:lnT>
                    <a:lnB w="0">
                      <a:noFill/>
                    </a:lnB>
                    <a:solidFill>
                      <a:srgbClr val="333D47"/>
                    </a:solidFill>
                  </a:tcPr>
                </a:tc>
              </a:tr>
              <a:tr h="475488">
                <a:tc>
                  <a:txBody>
                    <a:bodyPr wrap="square"/>
                    <a:lstStyle/>
                    <a:p>
                      <a:pPr algn="l"/>
                      <a:r>
                        <a:rPr sz="1200" b="1" i="0">
                          <a:solidFill>
                            <a:srgbClr val="333D47"/>
                          </a:solidFill>
                          <a:latin typeface="Arial"/>
                        </a:rPr>
                        <a:t>PaddleOCR Light</a:t>
                      </a:r>
                    </a:p>
                  </a:txBody>
                  <a:tcPr marL="91440" marR="91440" marT="54864" marB="54864"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rPr>
                        <a:t>2.4 VM-hours</a:t>
                      </a:r>
                    </a:p>
                  </a:txBody>
                  <a:tcPr marL="91440" marR="91440" marT="54864" marB="54864" anchor="ctr">
                    <a:lnL w="0">
                      <a:noFill/>
                    </a:lnL>
                    <a:lnR w="0">
                      <a:noFill/>
                    </a:lnR>
                    <a:lnT w="0">
                      <a:noFill/>
                    </a:lnT>
                    <a:lnB w="9525" cmpd="sng">
                      <a:solidFill>
                        <a:srgbClr val="BFBFBF"/>
                      </a:solidFill>
                    </a:lnB>
                    <a:noFill/>
                  </a:tcPr>
                </a:tc>
                <a:tc>
                  <a:txBody>
                    <a:bodyPr wrap="square"/>
                    <a:lstStyle/>
                    <a:p>
                      <a:pPr algn="l"/>
                      <a:r>
                        <a:rPr sz="1200" b="1" i="0">
                          <a:solidFill>
                            <a:srgbClr val="D31145"/>
                          </a:solidFill>
                          <a:latin typeface="Arial"/>
                        </a:rPr>
                        <a:t>Pending</a:t>
                      </a:r>
                    </a:p>
                  </a:txBody>
                  <a:tcPr marL="91440" marR="91440" marT="54864" marB="54864" anchor="ctr">
                    <a:lnL w="0">
                      <a:noFill/>
                    </a:lnL>
                    <a:lnR w="0">
                      <a:noFill/>
                    </a:lnR>
                    <a:lnT w="0">
                      <a:noFill/>
                    </a:lnT>
                    <a:lnB w="9525" cmpd="sng">
                      <a:solidFill>
                        <a:srgbClr val="BFBFBF"/>
                      </a:solidFill>
                    </a:lnB>
                    <a:noFill/>
                  </a:tcPr>
                </a:tc>
              </a:tr>
              <a:tr h="475488">
                <a:tc>
                  <a:txBody>
                    <a:bodyPr wrap="square"/>
                    <a:lstStyle/>
                    <a:p>
                      <a:pPr algn="l"/>
                      <a:r>
                        <a:rPr sz="1200" b="1" i="0">
                          <a:solidFill>
                            <a:srgbClr val="333D47"/>
                          </a:solidFill>
                          <a:latin typeface="Arial"/>
                        </a:rPr>
                        <a:t>PaddleOCR Heavy</a:t>
                      </a:r>
                    </a:p>
                  </a:txBody>
                  <a:tcPr marL="91440" marR="91440" marT="54864" marB="54864"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rPr>
                        <a:t>9.9 VM-hours</a:t>
                      </a:r>
                    </a:p>
                  </a:txBody>
                  <a:tcPr marL="91440" marR="91440" marT="54864" marB="54864" anchor="ctr">
                    <a:lnL w="0">
                      <a:noFill/>
                    </a:lnL>
                    <a:lnR w="0">
                      <a:noFill/>
                    </a:lnR>
                    <a:lnT w="0">
                      <a:noFill/>
                    </a:lnT>
                    <a:lnB w="9525" cmpd="sng">
                      <a:solidFill>
                        <a:srgbClr val="BFBFBF"/>
                      </a:solidFill>
                    </a:lnB>
                    <a:noFill/>
                  </a:tcPr>
                </a:tc>
                <a:tc>
                  <a:txBody>
                    <a:bodyPr wrap="square"/>
                    <a:lstStyle/>
                    <a:p>
                      <a:pPr algn="l"/>
                      <a:r>
                        <a:rPr sz="1200" b="1" i="0">
                          <a:solidFill>
                            <a:srgbClr val="D31145"/>
                          </a:solidFill>
                          <a:latin typeface="Arial"/>
                        </a:rPr>
                        <a:t>Pending</a:t>
                      </a:r>
                    </a:p>
                  </a:txBody>
                  <a:tcPr marL="91440" marR="91440" marT="54864" marB="54864" anchor="ctr">
                    <a:lnL w="0">
                      <a:noFill/>
                    </a:lnL>
                    <a:lnR w="0">
                      <a:noFill/>
                    </a:lnR>
                    <a:lnT w="0">
                      <a:noFill/>
                    </a:lnT>
                    <a:lnB w="9525" cmpd="sng">
                      <a:solidFill>
                        <a:srgbClr val="BFBFBF"/>
                      </a:solidFill>
                    </a:lnB>
                    <a:noFill/>
                  </a:tcPr>
                </a:tc>
              </a:tr>
              <a:tr h="475488">
                <a:tc>
                  <a:txBody>
                    <a:bodyPr wrap="square"/>
                    <a:lstStyle/>
                    <a:p>
                      <a:pPr algn="l"/>
                      <a:r>
                        <a:rPr sz="1200" b="1" i="0">
                          <a:solidFill>
                            <a:srgbClr val="333D47"/>
                          </a:solidFill>
                          <a:latin typeface="Arial"/>
                        </a:rPr>
                        <a:t>Azure DI</a:t>
                      </a:r>
                    </a:p>
                  </a:txBody>
                  <a:tcPr marL="91440" marR="91440" marT="54864" marB="54864"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rPr>
                        <a:t>1,000 DI pages</a:t>
                      </a:r>
                    </a:p>
                  </a:txBody>
                  <a:tcPr marL="91440" marR="91440" marT="54864" marB="54864" anchor="ctr">
                    <a:lnL w="0">
                      <a:noFill/>
                    </a:lnL>
                    <a:lnR w="0">
                      <a:noFill/>
                    </a:lnR>
                    <a:lnT w="0">
                      <a:noFill/>
                    </a:lnT>
                    <a:lnB w="9525" cmpd="sng">
                      <a:solidFill>
                        <a:srgbClr val="BFBFBF"/>
                      </a:solidFill>
                    </a:lnB>
                    <a:noFill/>
                  </a:tcPr>
                </a:tc>
                <a:tc>
                  <a:txBody>
                    <a:bodyPr wrap="square"/>
                    <a:lstStyle/>
                    <a:p>
                      <a:pPr algn="l"/>
                      <a:r>
                        <a:rPr sz="1200" b="1" i="0">
                          <a:solidFill>
                            <a:srgbClr val="D31145"/>
                          </a:solidFill>
                          <a:latin typeface="Arial"/>
                        </a:rPr>
                        <a:t>Pending</a:t>
                      </a:r>
                    </a:p>
                  </a:txBody>
                  <a:tcPr marL="91440" marR="91440" marT="54864" marB="54864" anchor="ctr">
                    <a:lnL w="0">
                      <a:noFill/>
                    </a:lnL>
                    <a:lnR w="0">
                      <a:noFill/>
                    </a:lnR>
                    <a:lnT w="0">
                      <a:noFill/>
                    </a:lnT>
                    <a:lnB w="9525" cmpd="sng">
                      <a:solidFill>
                        <a:srgbClr val="BFBFBF"/>
                      </a:solidFill>
                    </a:lnB>
                    <a:noFill/>
                  </a:tcPr>
                </a:tc>
              </a:tr>
              <a:tr h="658368">
                <a:tc>
                  <a:txBody>
                    <a:bodyPr wrap="square"/>
                    <a:lstStyle/>
                    <a:p>
                      <a:pPr algn="l"/>
                      <a:r>
                        <a:rPr sz="1200" b="1" i="0">
                          <a:solidFill>
                            <a:srgbClr val="333D47"/>
                          </a:solidFill>
                          <a:latin typeface="Arial"/>
                        </a:rPr>
                        <a:t>Azure DI + AOAI</a:t>
                      </a:r>
                    </a:p>
                  </a:txBody>
                  <a:tcPr marL="91440" marR="91440" marT="54864" marB="54864"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rPr>
                        <a:t>1,000 DI pages + 0.55M input / 0.28M output tokens</a:t>
                      </a:r>
                    </a:p>
                  </a:txBody>
                  <a:tcPr marL="91440" marR="91440" marT="54864" marB="54864" anchor="ctr">
                    <a:lnL w="0">
                      <a:noFill/>
                    </a:lnL>
                    <a:lnR w="0">
                      <a:noFill/>
                    </a:lnR>
                    <a:lnT w="0">
                      <a:noFill/>
                    </a:lnT>
                    <a:lnB w="9525" cmpd="sng">
                      <a:solidFill>
                        <a:srgbClr val="BFBFBF"/>
                      </a:solidFill>
                    </a:lnB>
                    <a:noFill/>
                  </a:tcPr>
                </a:tc>
                <a:tc>
                  <a:txBody>
                    <a:bodyPr wrap="square"/>
                    <a:lstStyle/>
                    <a:p>
                      <a:pPr algn="l"/>
                      <a:r>
                        <a:rPr sz="1200" b="1" i="0">
                          <a:solidFill>
                            <a:srgbClr val="D31145"/>
                          </a:solidFill>
                          <a:latin typeface="Arial"/>
                        </a:rPr>
                        <a:t>Pending</a:t>
                      </a:r>
                    </a:p>
                  </a:txBody>
                  <a:tcPr marL="91440" marR="91440" marT="54864" marB="54864" anchor="ctr">
                    <a:lnL w="0">
                      <a:noFill/>
                    </a:lnL>
                    <a:lnR w="0">
                      <a:noFill/>
                    </a:lnR>
                    <a:lnT w="0">
                      <a:noFill/>
                    </a:lnT>
                    <a:lnB w="9525" cmpd="sng">
                      <a:solidFill>
                        <a:srgbClr val="BFBFBF"/>
                      </a:solidFill>
                    </a:lnB>
                    <a:noFill/>
                  </a:tcPr>
                </a:tc>
              </a:tr>
            </a:tbl>
          </a:graphicData>
        </a:graphic>
      </p:graphicFrame>
      <p:sp>
        <p:nvSpPr>
          <p:cNvPr id="24" name="TextBox 23"/>
          <p:cNvSpPr txBox="1"/>
          <p:nvPr/>
        </p:nvSpPr>
        <p:spPr>
          <a:xfrm>
            <a:off x="6492240" y="5120640"/>
            <a:ext cx="5340096" cy="502920"/>
          </a:xfrm>
          <a:prstGeom prst="rect">
            <a:avLst/>
          </a:prstGeom>
          <a:noFill/>
        </p:spPr>
        <p:txBody>
          <a:bodyPr wrap="square" lIns="0" rIns="0" tIns="0" bIns="0" anchor="t"/>
          <a:lstStyle/>
          <a:p>
            <a:pPr marL="0" indent="0" algn="l">
              <a:spcBef>
                <a:spcPts val="0"/>
              </a:spcBef>
              <a:spcAft>
                <a:spcPts val="0"/>
              </a:spcAft>
              <a:buNone/>
            </a:pPr>
            <a:r>
              <a:rPr sz="1100" b="0" i="1">
                <a:solidFill>
                  <a:srgbClr val="5F6770"/>
                </a:solidFill>
                <a:latin typeface="Arial"/>
              </a:rPr>
              <a:t>Prices needed: Azure ML VM hourly rate, Document Intelligence Read price per 1,000 pages, gpt-5-mini price per 1M tokens.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rPr>
              <a:t>Conclusion and Recommendation</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Bef>
                <a:spcPts val="0"/>
              </a:spcBef>
              <a:spcAft>
                <a:spcPts val="0"/>
              </a:spcAft>
              <a:buNone/>
            </a:pPr>
            <a:r>
              <a:rPr sz="1600" b="0" i="0">
                <a:solidFill>
                  <a:srgbClr val="D31145"/>
                </a:solidFill>
                <a:latin typeface="Arial"/>
              </a:rPr>
              <a:t>Keep two candidates and test them on a larger, representative set before choosing a production solution.</a:t>
            </a:r>
          </a:p>
        </p:txBody>
      </p:sp>
      <p:sp>
        <p:nvSpPr>
          <p:cNvPr id="12" name="Rectangle 11"/>
          <p:cNvSpPr/>
          <p:nvPr/>
        </p:nvSpPr>
        <p:spPr>
          <a:xfrm>
            <a:off x="356616" y="1828800"/>
            <a:ext cx="5600700" cy="1783080"/>
          </a:xfrm>
          <a:prstGeom prst="rect">
            <a:avLst/>
          </a:prstGeom>
          <a:solidFill>
            <a:srgbClr val="FBE7EC"/>
          </a:solidFill>
          <a:ln>
            <a:noFill/>
          </a:ln>
        </p:spPr>
        <p:txBody>
          <a:bodyPr rtlCol="0" anchor="t" wrap="square" lIns="228600" rIns="228600" tIns="109728" bIns="109728"/>
          <a:lstStyle/>
          <a:p>
            <a:pPr algn="l" marL="0" indent="0">
              <a:spcBef>
                <a:spcPts val="0"/>
              </a:spcBef>
              <a:spcAft>
                <a:spcPts val="800"/>
              </a:spcAft>
              <a:buNone/>
            </a:pPr>
            <a:r>
              <a:rPr sz="1100" b="1" i="0">
                <a:solidFill>
                  <a:srgbClr val="5F6770"/>
                </a:solidFill>
                <a:latin typeface="Arial"/>
              </a:rPr>
              <a:t>KEEP AS CANDIDATES</a:t>
            </a:r>
          </a:p>
          <a:p>
            <a:pPr marL="0" indent="0" algn="l">
              <a:spcBef>
                <a:spcPts val="0"/>
              </a:spcBef>
              <a:spcAft>
                <a:spcPts val="300"/>
              </a:spcAft>
              <a:buNone/>
            </a:pPr>
            <a:r>
              <a:rPr sz="1500" b="1" i="0">
                <a:solidFill>
                  <a:srgbClr val="D31145"/>
                </a:solidFill>
                <a:latin typeface="Arial"/>
              </a:rPr>
              <a:t>PaddleOCR Light  </a:t>
            </a:r>
            <a:r>
              <a:rPr sz="1300" b="1" i="0">
                <a:solidFill>
                  <a:srgbClr val="333D47"/>
                </a:solidFill>
                <a:latin typeface="Arial"/>
              </a:rPr>
              <a:t>72% · 8.7 s</a:t>
            </a:r>
          </a:p>
          <a:p>
            <a:pPr marL="0" indent="0" algn="l">
              <a:spcBef>
                <a:spcPts val="0"/>
              </a:spcBef>
              <a:spcAft>
                <a:spcPts val="1200"/>
              </a:spcAft>
              <a:buNone/>
            </a:pPr>
            <a:r>
              <a:rPr sz="1300" b="0" i="0">
                <a:solidFill>
                  <a:srgbClr val="5F6770"/>
                </a:solidFill>
                <a:latin typeface="Arial"/>
              </a:rPr>
              <a:t>No API fees, runs offline, best on handwritten dates</a:t>
            </a:r>
          </a:p>
          <a:p>
            <a:pPr marL="0" indent="0" algn="l">
              <a:spcBef>
                <a:spcPts val="0"/>
              </a:spcBef>
              <a:spcAft>
                <a:spcPts val="300"/>
              </a:spcAft>
              <a:buNone/>
            </a:pPr>
            <a:r>
              <a:rPr sz="1500" b="1" i="0">
                <a:solidFill>
                  <a:srgbClr val="D31145"/>
                </a:solidFill>
                <a:latin typeface="Arial"/>
              </a:rPr>
              <a:t>Azure DI + AOAI  </a:t>
            </a:r>
            <a:r>
              <a:rPr sz="1300" b="1" i="0">
                <a:solidFill>
                  <a:srgbClr val="333D47"/>
                </a:solidFill>
                <a:latin typeface="Arial"/>
              </a:rPr>
              <a:t>72% · 5.4 s</a:t>
            </a:r>
          </a:p>
          <a:p>
            <a:pPr marL="0" indent="0" algn="l">
              <a:spcBef>
                <a:spcPts val="0"/>
              </a:spcBef>
              <a:spcAft>
                <a:spcPts val="1200"/>
              </a:spcAft>
              <a:buNone/>
            </a:pPr>
            <a:r>
              <a:rPr sz="1300" b="0" i="0">
                <a:solidFill>
                  <a:srgbClr val="5F6770"/>
                </a:solidFill>
                <a:latin typeface="Arial"/>
              </a:rPr>
              <a:t>Best on names and receipt numbers; paid per receipt</a:t>
            </a:r>
          </a:p>
        </p:txBody>
      </p:sp>
      <p:sp>
        <p:nvSpPr>
          <p:cNvPr id="13" name="Rectangle 12"/>
          <p:cNvSpPr/>
          <p:nvPr/>
        </p:nvSpPr>
        <p:spPr>
          <a:xfrm>
            <a:off x="6231636" y="1828800"/>
            <a:ext cx="5600700" cy="1783080"/>
          </a:xfrm>
          <a:prstGeom prst="rect">
            <a:avLst/>
          </a:prstGeom>
          <a:solidFill>
            <a:srgbClr val="F2F2F2"/>
          </a:solidFill>
          <a:ln>
            <a:noFill/>
          </a:ln>
        </p:spPr>
        <p:txBody>
          <a:bodyPr rtlCol="0" anchor="t" wrap="square" lIns="228600" rIns="228600" tIns="109728" bIns="109728"/>
          <a:lstStyle/>
          <a:p>
            <a:pPr algn="l" marL="0" indent="0">
              <a:spcBef>
                <a:spcPts val="0"/>
              </a:spcBef>
              <a:spcAft>
                <a:spcPts val="800"/>
              </a:spcAft>
              <a:buNone/>
            </a:pPr>
            <a:r>
              <a:rPr sz="1100" b="1" i="0">
                <a:solidFill>
                  <a:srgbClr val="5F6770"/>
                </a:solidFill>
                <a:latin typeface="Arial"/>
              </a:rPr>
              <a:t>WEAKER ON THIS DATASET</a:t>
            </a:r>
          </a:p>
          <a:p>
            <a:pPr marL="0" indent="0" algn="l">
              <a:spcBef>
                <a:spcPts val="0"/>
              </a:spcBef>
              <a:spcAft>
                <a:spcPts val="300"/>
              </a:spcAft>
              <a:buNone/>
            </a:pPr>
            <a:r>
              <a:rPr sz="1500" b="1" i="0">
                <a:solidFill>
                  <a:srgbClr val="333D47"/>
                </a:solidFill>
                <a:latin typeface="Arial"/>
              </a:rPr>
              <a:t>PaddleOCR Heavy  </a:t>
            </a:r>
            <a:r>
              <a:rPr sz="1300" b="1" i="0">
                <a:solidFill>
                  <a:srgbClr val="333D47"/>
                </a:solidFill>
                <a:latin typeface="Arial"/>
              </a:rPr>
              <a:t>72% · 35.8 s</a:t>
            </a:r>
          </a:p>
          <a:p>
            <a:pPr marL="0" indent="0" algn="l">
              <a:spcBef>
                <a:spcPts val="0"/>
              </a:spcBef>
              <a:spcAft>
                <a:spcPts val="1200"/>
              </a:spcAft>
              <a:buNone/>
            </a:pPr>
            <a:r>
              <a:rPr sz="1300" b="0" i="0">
                <a:solidFill>
                  <a:srgbClr val="5F6770"/>
                </a:solidFill>
                <a:latin typeface="Arial"/>
              </a:rPr>
              <a:t>Same accuracy as Light, about 4× slower</a:t>
            </a:r>
          </a:p>
          <a:p>
            <a:pPr marL="0" indent="0" algn="l">
              <a:spcBef>
                <a:spcPts val="0"/>
              </a:spcBef>
              <a:spcAft>
                <a:spcPts val="300"/>
              </a:spcAft>
              <a:buNone/>
            </a:pPr>
            <a:r>
              <a:rPr sz="1500" b="1" i="0">
                <a:solidFill>
                  <a:srgbClr val="333D47"/>
                </a:solidFill>
                <a:latin typeface="Arial"/>
              </a:rPr>
              <a:t>Azure DI alone  </a:t>
            </a:r>
            <a:r>
              <a:rPr sz="1300" b="1" i="0">
                <a:solidFill>
                  <a:srgbClr val="333D47"/>
                </a:solidFill>
                <a:latin typeface="Arial"/>
              </a:rPr>
              <a:t>60% · 2.6 s</a:t>
            </a:r>
          </a:p>
          <a:p>
            <a:pPr marL="0" indent="0" algn="l">
              <a:spcBef>
                <a:spcPts val="0"/>
              </a:spcBef>
              <a:spcAft>
                <a:spcPts val="1200"/>
              </a:spcAft>
              <a:buNone/>
            </a:pPr>
            <a:r>
              <a:rPr sz="1300" b="0" i="0">
                <a:solidFill>
                  <a:srgbClr val="5F6770"/>
                </a:solidFill>
                <a:latin typeface="Arial"/>
              </a:rPr>
              <a:t>Fastest, but the lowest accuracy</a:t>
            </a:r>
          </a:p>
        </p:txBody>
      </p:sp>
      <p:sp>
        <p:nvSpPr>
          <p:cNvPr id="14" name="Rectangle 13"/>
          <p:cNvSpPr/>
          <p:nvPr/>
        </p:nvSpPr>
        <p:spPr>
          <a:xfrm>
            <a:off x="356616" y="3840480"/>
            <a:ext cx="11475720" cy="457200"/>
          </a:xfrm>
          <a:prstGeom prst="rect">
            <a:avLst/>
          </a:prstGeom>
          <a:solidFill>
            <a:srgbClr val="333D47"/>
          </a:solidFill>
          <a:ln>
            <a:noFill/>
          </a:ln>
        </p:spPr>
        <p:txBody>
          <a:bodyPr rtlCol="0" anchor="ctr" wrap="square" lIns="182880" rIns="182880" tIns="109728" bIns="109728"/>
          <a:lstStyle/>
          <a:p>
            <a:pPr algn="l" marL="0" indent="0">
              <a:spcBef>
                <a:spcPts val="0"/>
              </a:spcBef>
              <a:spcAft>
                <a:spcPts val="0"/>
              </a:spcAft>
              <a:buNone/>
            </a:pPr>
            <a:r>
              <a:rPr sz="1400" b="1" i="0">
                <a:solidFill>
                  <a:srgbClr val="FFFFFF"/>
                </a:solidFill>
                <a:latin typeface="Arial"/>
              </a:rPr>
              <a:t>Important:  </a:t>
            </a:r>
            <a:r>
              <a:rPr sz="1400" b="0" i="0">
                <a:solidFill>
                  <a:srgbClr val="FFFFFF"/>
                </a:solidFill>
                <a:latin typeface="Arial"/>
              </a:rPr>
              <a:t>6 mock receipts are not enough to select a production solution.</a:t>
            </a:r>
          </a:p>
        </p:txBody>
      </p:sp>
      <p:sp>
        <p:nvSpPr>
          <p:cNvPr id="15" name="Rectangle 14"/>
          <p:cNvSpPr/>
          <p:nvPr/>
        </p:nvSpPr>
        <p:spPr>
          <a:xfrm>
            <a:off x="356616" y="4572000"/>
            <a:ext cx="3642360" cy="1097280"/>
          </a:xfrm>
          <a:prstGeom prst="rect">
            <a:avLst/>
          </a:prstGeom>
          <a:solidFill>
            <a:srgbClr val="F2F2F2"/>
          </a:solidFill>
          <a:ln>
            <a:noFill/>
          </a:ln>
        </p:spPr>
        <p:txBody>
          <a:bodyPr rtlCol="0" anchor="t" wrap="square" lIns="182880" rIns="182880" tIns="109728" bIns="109728"/>
          <a:lstStyle/>
          <a:p>
            <a:pPr algn="l" marL="0" indent="0">
              <a:spcBef>
                <a:spcPts val="0"/>
              </a:spcBef>
              <a:spcAft>
                <a:spcPts val="400"/>
              </a:spcAft>
              <a:buNone/>
            </a:pPr>
            <a:r>
              <a:rPr sz="1000" b="1" i="0">
                <a:solidFill>
                  <a:srgbClr val="5F6770"/>
                </a:solidFill>
                <a:latin typeface="Arial"/>
              </a:rPr>
              <a:t>NEXT STEP 1</a:t>
            </a:r>
          </a:p>
          <a:p>
            <a:pPr marL="0" indent="0" algn="l">
              <a:spcBef>
                <a:spcPts val="0"/>
              </a:spcBef>
              <a:spcAft>
                <a:spcPts val="300"/>
              </a:spcAft>
              <a:buNone/>
            </a:pPr>
            <a:r>
              <a:rPr sz="1400" b="1" i="0">
                <a:solidFill>
                  <a:srgbClr val="333D47"/>
                </a:solidFill>
                <a:latin typeface="Arial"/>
              </a:rPr>
              <a:t>Test on more receipts</a:t>
            </a:r>
          </a:p>
          <a:p>
            <a:pPr marL="0" indent="0" algn="l">
              <a:spcBef>
                <a:spcPts val="0"/>
              </a:spcBef>
              <a:spcAft>
                <a:spcPts val="0"/>
              </a:spcAft>
              <a:buNone/>
            </a:pPr>
            <a:r>
              <a:rPr sz="1200" b="0" i="0">
                <a:solidFill>
                  <a:srgbClr val="5F6770"/>
                </a:solidFill>
                <a:latin typeface="Arial"/>
              </a:rPr>
              <a:t>Run both candidates on a larger, representative set of real, anonymised receipts</a:t>
            </a:r>
          </a:p>
        </p:txBody>
      </p:sp>
      <p:sp>
        <p:nvSpPr>
          <p:cNvPr id="16" name="Rectangle 15"/>
          <p:cNvSpPr/>
          <p:nvPr/>
        </p:nvSpPr>
        <p:spPr>
          <a:xfrm>
            <a:off x="4273296" y="4572000"/>
            <a:ext cx="3642360" cy="1097280"/>
          </a:xfrm>
          <a:prstGeom prst="rect">
            <a:avLst/>
          </a:prstGeom>
          <a:solidFill>
            <a:srgbClr val="F2F2F2"/>
          </a:solidFill>
          <a:ln>
            <a:noFill/>
          </a:ln>
        </p:spPr>
        <p:txBody>
          <a:bodyPr rtlCol="0" anchor="t" wrap="square" lIns="182880" rIns="182880" tIns="109728" bIns="109728"/>
          <a:lstStyle/>
          <a:p>
            <a:pPr algn="l" marL="0" indent="0">
              <a:spcBef>
                <a:spcPts val="0"/>
              </a:spcBef>
              <a:spcAft>
                <a:spcPts val="400"/>
              </a:spcAft>
              <a:buNone/>
            </a:pPr>
            <a:r>
              <a:rPr sz="1000" b="1" i="0">
                <a:solidFill>
                  <a:srgbClr val="5F6770"/>
                </a:solidFill>
                <a:latin typeface="Arial"/>
              </a:rPr>
              <a:t>NEXT STEP 2</a:t>
            </a:r>
          </a:p>
          <a:p>
            <a:pPr marL="0" indent="0" algn="l">
              <a:spcBef>
                <a:spcPts val="0"/>
              </a:spcBef>
              <a:spcAft>
                <a:spcPts val="300"/>
              </a:spcAft>
              <a:buNone/>
            </a:pPr>
            <a:r>
              <a:rPr sz="1400" b="1" i="0">
                <a:solidFill>
                  <a:srgbClr val="333D47"/>
                </a:solidFill>
                <a:latin typeface="Arial"/>
              </a:rPr>
              <a:t>Confirm pricing</a:t>
            </a:r>
          </a:p>
          <a:p>
            <a:pPr marL="0" indent="0" algn="l">
              <a:spcBef>
                <a:spcPts val="0"/>
              </a:spcBef>
              <a:spcAft>
                <a:spcPts val="0"/>
              </a:spcAft>
              <a:buNone/>
            </a:pPr>
            <a:r>
              <a:rPr sz="1200" b="0" i="0">
                <a:solidFill>
                  <a:srgbClr val="5F6770"/>
                </a:solidFill>
                <a:latin typeface="Arial"/>
              </a:rPr>
              <a:t>VM rate, Document Intelligence page price and gpt-5-mini token prices</a:t>
            </a:r>
          </a:p>
        </p:txBody>
      </p:sp>
      <p:sp>
        <p:nvSpPr>
          <p:cNvPr id="17" name="Rectangle 16"/>
          <p:cNvSpPr/>
          <p:nvPr/>
        </p:nvSpPr>
        <p:spPr>
          <a:xfrm>
            <a:off x="8189976" y="4572000"/>
            <a:ext cx="3642360" cy="1097280"/>
          </a:xfrm>
          <a:prstGeom prst="rect">
            <a:avLst/>
          </a:prstGeom>
          <a:solidFill>
            <a:srgbClr val="F2F2F2"/>
          </a:solidFill>
          <a:ln>
            <a:noFill/>
          </a:ln>
        </p:spPr>
        <p:txBody>
          <a:bodyPr rtlCol="0" anchor="t" wrap="square" lIns="182880" rIns="182880" tIns="109728" bIns="109728"/>
          <a:lstStyle/>
          <a:p>
            <a:pPr algn="l" marL="0" indent="0">
              <a:spcBef>
                <a:spcPts val="0"/>
              </a:spcBef>
              <a:spcAft>
                <a:spcPts val="400"/>
              </a:spcAft>
              <a:buNone/>
            </a:pPr>
            <a:r>
              <a:rPr sz="1000" b="1" i="0">
                <a:solidFill>
                  <a:srgbClr val="5F6770"/>
                </a:solidFill>
                <a:latin typeface="Arial"/>
              </a:rPr>
              <a:t>NEXT STEP 3</a:t>
            </a:r>
          </a:p>
          <a:p>
            <a:pPr marL="0" indent="0" algn="l">
              <a:spcBef>
                <a:spcPts val="0"/>
              </a:spcBef>
              <a:spcAft>
                <a:spcPts val="300"/>
              </a:spcAft>
              <a:buNone/>
            </a:pPr>
            <a:r>
              <a:rPr sz="1400" b="1" i="0">
                <a:solidFill>
                  <a:srgbClr val="333D47"/>
                </a:solidFill>
                <a:latin typeface="Arial"/>
              </a:rPr>
              <a:t>Optional experiment</a:t>
            </a:r>
          </a:p>
          <a:p>
            <a:pPr marL="0" indent="0" algn="l">
              <a:spcBef>
                <a:spcPts val="0"/>
              </a:spcBef>
              <a:spcAft>
                <a:spcPts val="0"/>
              </a:spcAft>
              <a:buNone/>
            </a:pPr>
            <a:r>
              <a:rPr sz="1200" b="0" i="0">
                <a:solidFill>
                  <a:srgbClr val="5F6770"/>
                </a:solidFill>
                <a:latin typeface="Arial"/>
              </a:rPr>
              <a:t>PaddleOCR Light + Azure OpenAI: an idea, not yet tested</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