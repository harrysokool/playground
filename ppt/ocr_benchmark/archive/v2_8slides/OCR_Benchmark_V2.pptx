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open-source OCR plus extraction rules with Azure Document Intelligence plus Azure OpenAI for extracting six fields from medical receipts, on accuracy, speed, cost drivers and maintenance.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receipts. Original and improved rules read the same OCR text. Improved rules were tuned using these 9 receipts. The AOAI prompt was not changed. Time = average per receipt (PaddleOCR: CPU on Azure ML compute; Azure: API call time incl. network).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recognise bilingual labels. AOAI read the fields correctly with its unchanged prompt. Values: rules on PaddleOCR Light text;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6 of 6.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chose the sub total (1361.50) instead of the total (1361.00). Values: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and time from summary.csv. AOAI tokens are averages over the 9 receipts. Prices for compute, Document Intelligence pages and gpt-5-mini tokens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finding: PaddleOCR Light reached 88.2% and Azure DI 86.3% only after the rules were rewritten for these receipts; Azure DI + AOAI reached 88.2% with no change. The benchmark is small (9 receipts) and the improved rules were tuned on it, so this is not a production decision.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open-source OCR with rules match Azure AI at extracting receipt fields?</a:t>
            </a:r>
          </a:p>
          <a:p>
            <a:r>
              <a:rPr>
                <a:latin typeface="Arial"/>
                <a:ea typeface="Microsoft JhengHei"/>
              </a:rPr>
              <a:t>9 receipts · 6 fields · 4 approaches</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3054096"/>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98348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Results: Field Accuracy and Speed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Improving the rules raised PaddleOCR Light from 37.3% to 88.2%. AOAI reached 88.2% without changes.</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firstRow="0" bandRow="0">
                <a:tableStyleId>{2D5ABB26-0587-4C30-8999-92F81FD0307C}</a:tableStyleId>
              </a:tblPr>
              <a:tblGrid>
                <a:gridCol w="3291840"/>
                <a:gridCol w="2606040"/>
                <a:gridCol w="2971800"/>
                <a:gridCol w="2606040"/>
              </a:tblGrid>
              <a:tr h="658368">
                <a:tc>
                  <a:txBody>
                    <a:bodyPr wrap="square"/>
                    <a:lstStyle/>
                    <a:p>
                      <a:pPr algn="l"/>
                      <a:r>
                        <a:rPr sz="16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Time per receipt</a:t>
                      </a:r>
                    </a:p>
                  </a:txBody>
                  <a:tcPr marL="91440" marR="91440" marT="45720" marB="45720" anchor="ctr">
                    <a:lnL w="0">
                      <a:noFill/>
                    </a:lnL>
                    <a:lnR w="0">
                      <a:noFill/>
                    </a:lnR>
                    <a:lnT w="0">
                      <a:noFill/>
                    </a:lnT>
                    <a:lnB w="0">
                      <a:noFill/>
                    </a:lnB>
                    <a:solidFill>
                      <a:srgbClr val="333D47"/>
                    </a:solidFill>
                  </a:tcPr>
                </a:tc>
              </a:tr>
              <a:tr h="749808">
                <a:tc>
                  <a:txBody>
                    <a:bodyPr wrap="square"/>
                    <a:lstStyle/>
                    <a:p>
                      <a:pPr algn="l"/>
                      <a:r>
                        <a:rPr sz="18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37.3%</a:t>
                      </a:r>
                      <a:r>
                        <a:rPr sz="13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29.4%</a:t>
                      </a:r>
                      <a:r>
                        <a:rPr sz="1300" b="0" i="0">
                          <a:solidFill>
                            <a:srgbClr val="5F6770"/>
                          </a:solidFill>
                          <a:latin typeface="Arial"/>
                          <a:ea typeface="Microsoft JhengHei"/>
                        </a:rPr>
                        <a:t>  (15/51)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64.7%</a:t>
                      </a:r>
                      <a:r>
                        <a:rPr sz="1300" b="0" i="0">
                          <a:solidFill>
                            <a:srgbClr val="5F6770"/>
                          </a:solidFill>
                          <a:latin typeface="Arial"/>
                          <a:ea typeface="Microsoft JhengHei"/>
                        </a:rPr>
                        <a:t>  (33/51)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53.3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41.2%</a:t>
                      </a:r>
                      <a:r>
                        <a:rPr sz="13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86.3%</a:t>
                      </a:r>
                      <a:r>
                        <a:rPr sz="13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300" b="0" i="0">
                          <a:solidFill>
                            <a:srgbClr val="5F6770"/>
                          </a:solidFill>
                          <a:latin typeface="Arial"/>
                          <a:ea typeface="Microsoft JhengHei"/>
                        </a:rPr>
                        <a:t>Not applicable (prompt unchanged)</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Tuned using these 9 receipts, so not a measure of accuracy on new receipts. Accuracy = correct fields out of 51.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Why Accuracy Improved: The Rules, Not the OCR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OCR read the text correctly. The original rules picked the wrong text.</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8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0"/>
              </a:spcAft>
              <a:buFont typeface="Arial"/>
              <a:buChar char="•"/>
            </a:pPr>
            <a:r>
              <a:rPr sz="1400" b="0" i="0">
                <a:solidFill>
                  <a:srgbClr val="333D47"/>
                </a:solidFill>
                <a:latin typeface="Arial"/>
                <a:ea typeface="Microsoft JhengHei"/>
              </a:rPr>
              <a:t>Improved rules: added bilingual labels, so the label and the value are kept apart.</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The Trade-off: Rules Need Manual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High accuracy came from rewriting the rules by hand, and one fix broke another receipt.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4572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improved rules 6/6.</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may need more rule changes and retesting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AOAI used the same prompt for every receipt. Whether that means less maintenance on new layouts still needs to be tested.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Where Errors Remain: Both Approaches Make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picked the sub total instead of the total.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Practical Comparison of the Two Candidates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Similar accuracy on these receipts; they differ in cost, speed and how new layouts are handled.</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firstRow="0" bandRow="0">
                <a:tableStyleId>{2D5ABB26-0587-4C30-8999-92F81FD0307C}</a:tableStyleId>
              </a:tblPr>
              <a:tblGrid>
                <a:gridCol w="2834640"/>
                <a:gridCol w="4297680"/>
                <a:gridCol w="434340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12064">
                <a:tc>
                  <a:txBody>
                    <a:bodyPr wrap="square"/>
                    <a:lstStyle/>
                    <a:p>
                      <a:pPr algn="l"/>
                      <a:r>
                        <a:rPr sz="1400" b="1" i="0">
                          <a:solidFill>
                            <a:srgbClr val="333D47"/>
                          </a:solidFill>
                          <a:latin typeface="Arial"/>
                          <a:ea typeface="Microsoft JhengHei"/>
                        </a:rPr>
                        <a:t>Accuracy (these 9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88.2% (45/51), tuned</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88.2% (45/51), prompt unchanged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400" b="1" i="0">
                          <a:solidFill>
                            <a:srgbClr val="333D47"/>
                          </a:solidFill>
                          <a:latin typeface="Arial"/>
                          <a:ea typeface="Microsoft JhengHei"/>
                        </a:rPr>
                        <a:t>Time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400" b="1" i="0">
                          <a:solidFill>
                            <a:srgbClr val="333D47"/>
                          </a:solidFill>
                          <a:latin typeface="Arial"/>
                          <a:ea typeface="Microsoft JhengHei"/>
                        </a:rPr>
                        <a:t>Where it runs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Our own compute, offline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cloud services</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400" b="1" i="0">
                          <a:solidFill>
                            <a:srgbClr val="333D47"/>
                          </a:solidFill>
                          <a:latin typeface="Arial"/>
                          <a:ea typeface="Microsoft JhengHei"/>
                        </a:rPr>
                        <a:t>Cost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CPU time only,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DI page + about 602 input / 263 output tokens (prices to confirm)</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40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Edit rules and retest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Same prompt; still to be tested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400" b="1" i="0">
                          <a:solidFill>
                            <a:srgbClr val="333D47"/>
                          </a:solidFill>
                          <a:latin typeface="Arial"/>
                          <a:ea typeface="Microsoft JhengHei"/>
                        </a:rPr>
                        <a:t>Main risk</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Maintenance and regressions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API cost and model variability</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5778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Both approaches read the receipt text well; the differences are in finding the fields.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can reach high accuracy, but only with ongoing manual work. That is the decision to make.</a:t>
            </a:r>
          </a:p>
        </p:txBody>
      </p:sp>
      <p:sp>
        <p:nvSpPr>
          <p:cNvPr id="12" name="Rectangle 11"/>
          <p:cNvSpPr/>
          <p:nvPr/>
        </p:nvSpPr>
        <p:spPr>
          <a:xfrm>
            <a:off x="356616" y="1783080"/>
            <a:ext cx="11475720" cy="1417320"/>
          </a:xfrm>
          <a:prstGeom prst="rect">
            <a:avLst/>
          </a:prstGeom>
          <a:solidFill>
            <a:srgbClr val="F2F2F2"/>
          </a:solidFill>
          <a:ln>
            <a:noFill/>
          </a:ln>
        </p:spPr>
        <p:txBody>
          <a:bodyPr rtlCol="0" anchor="t" wrap="square" lIns="274320" rIns="274320" tIns="109728" bIns="109728"/>
          <a:lstStyle/>
          <a:p>
            <a:pPr algn="l" marL="0" indent="0">
              <a:spcAft>
                <a:spcPts val="600"/>
              </a:spcAft>
              <a:buNone/>
            </a:pPr>
            <a:r>
              <a:rPr sz="1900" b="1" i="0">
                <a:solidFill>
                  <a:srgbClr val="333D47"/>
                </a:solidFill>
                <a:latin typeface="Arial"/>
                <a:ea typeface="Microsoft JhengHei"/>
              </a:rPr>
              <a:t>The question is not only which method is most accurate.</a:t>
            </a:r>
          </a:p>
          <a:p>
            <a:pPr marL="0" indent="0" algn="l">
              <a:spcAft>
                <a:spcPts val="0"/>
              </a:spcAft>
              <a:buNone/>
            </a:pPr>
            <a:r>
              <a:rPr sz="1600" b="0" i="0">
                <a:solidFill>
                  <a:srgbClr val="333D47"/>
                </a:solidFill>
                <a:latin typeface="Arial"/>
                <a:ea typeface="Microsoft JhengHei"/>
              </a:rPr>
              <a:t>It is whether we want to keep updating extraction rules each time an unfamiliar receipt layout appears, or pay per request for a model that may handle new layouts without changes.</a:t>
            </a:r>
          </a:p>
        </p:txBody>
      </p:sp>
      <p:sp>
        <p:nvSpPr>
          <p:cNvPr id="13" name="Rectangle 12"/>
          <p:cNvSpPr/>
          <p:nvPr/>
        </p:nvSpPr>
        <p:spPr>
          <a:xfrm>
            <a:off x="356616" y="342900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the AOAI prompt.</a:t>
            </a:r>
          </a:p>
        </p:txBody>
      </p:sp>
      <p:sp>
        <p:nvSpPr>
          <p:cNvPr id="14" name="Rectangle 13"/>
          <p:cNvSpPr/>
          <p:nvPr/>
        </p:nvSpPr>
        <p:spPr>
          <a:xfrm>
            <a:off x="4273296" y="342900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new receipts</a:t>
            </a:r>
          </a:p>
          <a:p>
            <a:pPr marL="0" indent="0" algn="l">
              <a:spcAft>
                <a:spcPts val="0"/>
              </a:spcAft>
              <a:buNone/>
            </a:pPr>
            <a:r>
              <a:rPr sz="1400" b="0" i="0">
                <a:solidFill>
                  <a:srgbClr val="333D47"/>
                </a:solidFill>
                <a:latin typeface="Arial"/>
                <a:ea typeface="Microsoft JhengHei"/>
              </a:rPr>
              <a:t>30+ real, anonymised receipts not seen before. Count the rule changes needed.</a:t>
            </a:r>
          </a:p>
        </p:txBody>
      </p:sp>
      <p:sp>
        <p:nvSpPr>
          <p:cNvPr id="15" name="Rectangle 14"/>
          <p:cNvSpPr/>
          <p:nvPr/>
        </p:nvSpPr>
        <p:spPr>
          <a:xfrm>
            <a:off x="8189976" y="342900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Confirm prices</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49834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improved rules were tuned on them. Candidates for further testing: PaddleOCR Light + improved rules, and Azure DI + AOAI.</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