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hand-written extraction rules with AI extraction (Azure OpenAI) for six fields on medical receipts: the development effort, the maintenance, and the ability to handle different receipt layouts.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Version 2 receipts, before anything was changed for them. The original extraction rules knew English labels only, with no Chinese or bilingual labels, although four of the receipts are Chinese or bilingual. On those receipts the OCR read the values but the rules could not find them (see example 1). The AOAI prompt was written before these receipts existed. So this compares initial implementations, not the maximum capability of each approach. Time = average per receipt (PaddleOCR: CPU on Azure ML compute; Azure: API call time incl. network).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changes were made after reviewing the errors on these 9 receipts, so the scores are development results, not independent validation. Rules: rewritten by hand (label phrases 69 to 225: Chinese and bilingual labels, distractor labels, layout handling); on PaddleOCR Light text this fixed 27 fields and broke 1, on Azure DI text it fixed 24 and broke 1. AOAI: prompt v2 with clearer field definitions fixed 4 fields and broke 0. The row layout and Python checks added at the same time changed no result (see the prompt v2 slide). A small held-out check on Version 1 receipts (4-6 receipts, mostly handwritten) is too small to say whether either approach generalises better, so it is not shown on the slides.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results after tuning on these 9 receipts, not independent validation. Counts from results/v2/scores_aoai_improved/detail.csv, checked against the per-field percentages in summary.csv. Registration number is printed on 6 of the 9 receipts, so it has 6 applicable receipts; every other field has 9. All three approaches miss the vet invoice's doctor (two practitioners, and the OCR misread the signature) and the pharmacy receipt's service date (print date vs item date, an open ground-truth question). The rules also miss patient and receipt number on the vet invoice and the pharmacy receipt (an OCR artefact on the label, a payment receipt number, no labels); Azure DI + rules also misses one total.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prompt 88.2% (45/51); prompt v2 96.1% (49/51), a development result because prompt v2 was written after reviewing these errors. The four fixes are in the model's own reply (before any Python check) in all three prompt v2 runs. Credit: prompt wording only. The Python checks changed 0 values; plain-text OCR input (49/51) scores the same as the row layout (49/51); attaching the photo also scores 49/51. Remaining errors: the vet invoice doctor (two practitioners; OCR misread the signature) and the pharmacy service date (open ground-truth question). Prompt text: receipt_bench/di_aoai.py (SYSTEM_PROMPT and SYSTEM_PROMPT_V2, commit 034d7d5).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with its original prompt, read the fields correctly (6 of 6 fields on this receipt). Values: rules on PaddleOCR Light text; detail.csv, checked against the extraction JSON.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by hand: 6 of 6. DI + AOAI with its original prompt: 6 of 6.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with the original prompt chose the sub total (1361.50) instead of the total (1361.00). Prompt v2 returns the correct total, but it was written after reviewing this error. Values: detail.csv, checked against the extraction JSON.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Effort: the rules were rewritten by hand after reviewing the errors on these receipts (label phrases 69 to 225); the AOAI prompt was revised once. Side effects on these receipts: the rule changes broke 1 correct field on PaddleOCR Light text, the prompt revision broke 0. Lower maintenance for AOAI on new layouts is the key implication of this benchmark, not a result proven in production. Running cost: DI page plus about 602 input / 263 output gpt-5-mini tokens per receipt (original prompt); prices are not yet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rules grew from 69 to 225 label phrases while being tuned on these 9 receipts; vet invoice receipt number 369303 correct before tuning, 380048 after. Azure DI + AOAI had the highest accuracy before any tuning; it still made mistakes, e.g. vet invoice total 1361.5 although the Azure DI text contains the correct 1361.00; 6.2 s vs 13.9 s per receipt. Expected, not measured: that new formats need rule updates, that AOAI needs less rule maintenance, control, API fees and the upkeep AOAI still needs (validation, monitoring, prompt). AOAI is not maintenance free. Prices are not yet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implementations: Azure DI + AOAI 88.2%, rules 37.3% and 41.2%, the gap mostly from missing Chinese support in the rules. After reviewing these receipts: rules 88.2% and 86.3%, AOAI prompt v2 96.1%, all development results. The benchmark is small (9 receipts), so this is not a production decision. A small held-out check on Version 1 receipts (4-6 receipts, mostly handwritten) is too small to say whether either approach generalises better, so it is not shown on the slides.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manual rules vs AI extraction</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2706624"/>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71323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61772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Initial Results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Before any tuning on these 9 receipts, AI extraction was far ahead of the first rule sets.</a:t>
            </a:r>
          </a:p>
        </p:txBody>
      </p:sp>
      <p:graphicFrame>
        <p:nvGraphicFramePr>
          <p:cNvPr id="12" name="Table 11"/>
          <p:cNvGraphicFramePr>
            <a:graphicFrameLocks noGrp="1"/>
          </p:cNvGraphicFramePr>
          <p:nvPr/>
        </p:nvGraphicFramePr>
        <p:xfrm>
          <a:off x="356616" y="1783080"/>
          <a:ext cx="7178040" cy="3035808"/>
        </p:xfrm>
        <a:graphic>
          <a:graphicData uri="http://schemas.openxmlformats.org/drawingml/2006/table">
            <a:tbl>
              <a:tblPr firstRow="0" bandRow="0">
                <a:tableStyleId>{2D5ABB26-0587-4C30-8999-92F81FD0307C}</a:tableStyleId>
              </a:tblPr>
              <a:tblGrid>
                <a:gridCol w="3246120"/>
                <a:gridCol w="2240280"/>
                <a:gridCol w="1691640"/>
              </a:tblGrid>
              <a:tr h="566928">
                <a:tc>
                  <a:txBody>
                    <a:bodyPr wrap="square"/>
                    <a:lstStyle/>
                    <a:p>
                      <a:pPr algn="l"/>
                      <a:r>
                        <a:rPr sz="15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500" b="1" i="0">
                          <a:solidFill>
                            <a:srgbClr val="FFFFFF"/>
                          </a:solidFill>
                          <a:latin typeface="Arial"/>
                          <a:ea typeface="Microsoft JhengHei"/>
                        </a:rPr>
                        <a:t>Accuracy</a:t>
                      </a:r>
                    </a:p>
                  </a:txBody>
                  <a:tcPr marL="91440" marR="91440" marT="45720" marB="45720" anchor="ctr">
                    <a:lnL w="0">
                      <a:noFill/>
                    </a:lnL>
                    <a:lnR w="0">
                      <a:noFill/>
                    </a:lnR>
                    <a:lnT w="0">
                      <a:noFill/>
                    </a:lnT>
                    <a:lnB w="0">
                      <a:noFill/>
                    </a:lnB>
                    <a:solidFill>
                      <a:srgbClr val="333D47"/>
                    </a:solidFill>
                  </a:tcPr>
                </a:tc>
                <a:tc>
                  <a:txBody>
                    <a:bodyPr wrap="square"/>
                    <a:lstStyle/>
                    <a:p>
                      <a:pPr algn="ctr"/>
                      <a:r>
                        <a:rPr sz="1500" b="1" i="0">
                          <a:solidFill>
                            <a:srgbClr val="FFFFFF"/>
                          </a:solidFill>
                          <a:latin typeface="Arial"/>
                          <a:ea typeface="Microsoft JhengHei"/>
                        </a:rPr>
                        <a:t>Time / receipt</a:t>
                      </a:r>
                    </a:p>
                  </a:txBody>
                  <a:tcPr marL="91440" marR="91440" marT="45720" marB="45720" anchor="ctr">
                    <a:lnL w="0">
                      <a:noFill/>
                    </a:lnL>
                    <a:lnR w="0">
                      <a:noFill/>
                    </a:lnR>
                    <a:lnT w="0">
                      <a:noFill/>
                    </a:lnT>
                    <a:lnB w="0">
                      <a:noFill/>
                    </a:lnB>
                    <a:solidFill>
                      <a:srgbClr val="333D47"/>
                    </a:solidFill>
                  </a:tcPr>
                </a:tc>
              </a:tr>
              <a:tr h="822960">
                <a:tc>
                  <a:txBody>
                    <a:bodyPr wrap="square"/>
                    <a:lstStyle/>
                    <a:p>
                      <a:pPr algn="l"/>
                      <a:r>
                        <a:rPr sz="1700" b="1" i="0">
                          <a:solidFill>
                            <a:srgbClr val="333D47"/>
                          </a:solidFill>
                          <a:latin typeface="Arial"/>
                          <a:ea typeface="Microsoft JhengHei"/>
                        </a:rPr>
                        <a:t>PaddleOCR Light + rules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400" b="1" i="0">
                          <a:solidFill>
                            <a:srgbClr val="333D47"/>
                          </a:solidFill>
                          <a:latin typeface="Arial"/>
                          <a:ea typeface="Microsoft JhengHei"/>
                        </a:rPr>
                        <a:t>37.3%</a:t>
                      </a:r>
                      <a:r>
                        <a:rPr sz="1200" b="0" i="0">
                          <a:solidFill>
                            <a:srgbClr val="5F6770"/>
                          </a:solidFill>
                          <a:latin typeface="Arial"/>
                          <a:ea typeface="Microsoft JhengHei"/>
                        </a:rPr>
                        <a:t>  (19/51)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r>
              <a:tr h="822960">
                <a:tc>
                  <a:txBody>
                    <a:bodyPr wrap="square"/>
                    <a:lstStyle/>
                    <a:p>
                      <a:pPr algn="l"/>
                      <a:r>
                        <a:rPr sz="1700" b="1" i="0">
                          <a:solidFill>
                            <a:srgbClr val="333D47"/>
                          </a:solidFill>
                          <a:latin typeface="Arial"/>
                          <a:ea typeface="Microsoft JhengHei"/>
                        </a:rPr>
                        <a:t>Azure DI + rules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400" b="1" i="0">
                          <a:solidFill>
                            <a:srgbClr val="333D47"/>
                          </a:solidFill>
                          <a:latin typeface="Arial"/>
                          <a:ea typeface="Microsoft JhengHei"/>
                        </a:rPr>
                        <a:t>41.2%</a:t>
                      </a:r>
                      <a:r>
                        <a:rPr sz="1200" b="0" i="0">
                          <a:solidFill>
                            <a:srgbClr val="5F6770"/>
                          </a:solidFill>
                          <a:latin typeface="Arial"/>
                          <a:ea typeface="Microsoft JhengHei"/>
                        </a:rPr>
                        <a:t>  (21/51)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r>
              <a:tr h="822960">
                <a:tc>
                  <a:txBody>
                    <a:bodyPr wrap="square"/>
                    <a:lstStyle/>
                    <a:p>
                      <a:pPr algn="l"/>
                      <a:r>
                        <a:rPr sz="17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400" b="1" i="0">
                          <a:solidFill>
                            <a:srgbClr val="D31145"/>
                          </a:solidFill>
                          <a:latin typeface="Arial"/>
                          <a:ea typeface="Microsoft JhengHei"/>
                        </a:rPr>
                        <a:t>88.2%</a:t>
                      </a:r>
                      <a:r>
                        <a:rPr sz="12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8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Rectangle 12"/>
          <p:cNvSpPr/>
          <p:nvPr/>
        </p:nvSpPr>
        <p:spPr>
          <a:xfrm>
            <a:off x="7818120" y="1783080"/>
            <a:ext cx="4014215" cy="3035808"/>
          </a:xfrm>
          <a:prstGeom prst="rect">
            <a:avLst/>
          </a:prstGeom>
          <a:solidFill>
            <a:srgbClr val="F2F2F2"/>
          </a:solidFill>
          <a:ln>
            <a:noFill/>
          </a:ln>
        </p:spPr>
        <p:txBody>
          <a:bodyPr rtlCol="0" anchor="t" wrap="square" lIns="228600" rIns="228600" tIns="109728" bIns="109728"/>
          <a:lstStyle/>
          <a:p>
            <a:pPr algn="l" marL="0" indent="0">
              <a:spcAft>
                <a:spcPts val="800"/>
              </a:spcAft>
              <a:buNone/>
            </a:pPr>
            <a:r>
              <a:rPr sz="1600" b="1" i="0">
                <a:solidFill>
                  <a:srgbClr val="D31145"/>
                </a:solidFill>
                <a:latin typeface="Arial"/>
                <a:ea typeface="Microsoft JhengHei"/>
              </a:rPr>
              <a:t>Why the rules scored low</a:t>
            </a:r>
          </a:p>
          <a:p>
            <a:pPr marL="182880" indent="-182880" algn="l">
              <a:spcAft>
                <a:spcPts val="600"/>
              </a:spcAft>
              <a:buFont typeface="Arial"/>
              <a:buChar char="•"/>
            </a:pPr>
            <a:r>
              <a:rPr sz="1400" b="0" i="0">
                <a:solidFill>
                  <a:srgbClr val="333D47"/>
                </a:solidFill>
                <a:latin typeface="Arial"/>
                <a:ea typeface="Microsoft JhengHei"/>
              </a:rPr>
              <a:t>The original rules knew English labels only: no Chinese or bilingual labels.</a:t>
            </a:r>
          </a:p>
          <a:p>
            <a:pPr marL="182880" indent="-182880" algn="l">
              <a:spcAft>
                <a:spcPts val="600"/>
              </a:spcAft>
              <a:buFont typeface="Arial"/>
              <a:buChar char="•"/>
            </a:pPr>
            <a:r>
              <a:rPr sz="1400" b="0" i="0">
                <a:solidFill>
                  <a:srgbClr val="333D47"/>
                </a:solidFill>
                <a:latin typeface="Arial"/>
                <a:ea typeface="Microsoft JhengHei"/>
              </a:rPr>
              <a:t>On Chinese and bilingual receipts the OCR read the values, but the rules could not find them.</a:t>
            </a:r>
          </a:p>
          <a:p>
            <a:pPr marL="182880" indent="-182880" algn="l">
              <a:spcAft>
                <a:spcPts val="0"/>
              </a:spcAft>
              <a:buFont typeface="Arial"/>
              <a:buChar char="•"/>
            </a:pPr>
            <a:r>
              <a:rPr sz="1400" b="1" i="0">
                <a:solidFill>
                  <a:srgbClr val="333D47"/>
                </a:solidFill>
                <a:latin typeface="Arial"/>
                <a:ea typeface="Microsoft JhengHei"/>
              </a:rPr>
              <a:t>So this compares initial implementations, not the best each approach can do.</a:t>
            </a:r>
          </a:p>
        </p:txBody>
      </p:sp>
      <p:sp>
        <p:nvSpPr>
          <p:cNvPr id="14" name="TextBox 13"/>
          <p:cNvSpPr txBox="1"/>
          <p:nvPr/>
        </p:nvSpPr>
        <p:spPr>
          <a:xfrm>
            <a:off x="356616" y="50749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Accuracy = correct fields out of 51. The AOAI prompt was written before these receipts. All approaches processed all 9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How We Improved Accuracy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approaches improved after reviewing these receipts. Changing rules took far more work than changing a prompt.</a:t>
            </a:r>
          </a:p>
        </p:txBody>
      </p:sp>
      <p:graphicFrame>
        <p:nvGraphicFramePr>
          <p:cNvPr id="12" name="Table 11"/>
          <p:cNvGraphicFramePr>
            <a:graphicFrameLocks noGrp="1"/>
          </p:cNvGraphicFramePr>
          <p:nvPr/>
        </p:nvGraphicFramePr>
        <p:xfrm>
          <a:off x="356616" y="1783080"/>
          <a:ext cx="11475719" cy="2560320"/>
        </p:xfrm>
        <a:graphic>
          <a:graphicData uri="http://schemas.openxmlformats.org/drawingml/2006/table">
            <a:tbl>
              <a:tblPr firstRow="0" bandRow="0">
                <a:tableStyleId>{2D5ABB26-0587-4C30-8999-92F81FD0307C}</a:tableStyleId>
              </a:tblPr>
              <a:tblGrid>
                <a:gridCol w="2788920"/>
                <a:gridCol w="5074920"/>
                <a:gridCol w="1874519"/>
                <a:gridCol w="1737360"/>
              </a:tblGrid>
              <a:tr h="566928">
                <a:tc>
                  <a:txBody>
                    <a:bodyPr wrap="square"/>
                    <a:lstStyle/>
                    <a:p>
                      <a:pPr algn="l"/>
                      <a:r>
                        <a:rPr sz="14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What we changed</a:t>
                      </a:r>
                    </a:p>
                  </a:txBody>
                  <a:tcPr marL="91440" marR="91440" marT="45720" marB="45720" anchor="ctr">
                    <a:lnL w="0">
                      <a:noFill/>
                    </a:lnL>
                    <a:lnR w="0">
                      <a:noFill/>
                    </a:lnR>
                    <a:lnT w="0">
                      <a:noFill/>
                    </a:lnT>
                    <a:lnB w="0">
                      <a:noFill/>
                    </a:lnB>
                    <a:solidFill>
                      <a:srgbClr val="333D47"/>
                    </a:solidFill>
                  </a:tcPr>
                </a:tc>
                <a:tc>
                  <a:txBody>
                    <a:bodyPr wrap="square"/>
                    <a:lstStyle/>
                    <a:p>
                      <a:pPr algn="ctr"/>
                      <a:r>
                        <a:rPr sz="1400" b="1" i="0">
                          <a:solidFill>
                            <a:srgbClr val="FFFFFF"/>
                          </a:solidFill>
                          <a:latin typeface="Arial"/>
                          <a:ea typeface="Microsoft JhengHei"/>
                        </a:rPr>
                        <a:t>Development score</a:t>
                      </a:r>
                    </a:p>
                  </a:txBody>
                  <a:tcPr marL="91440" marR="91440" marT="45720" marB="45720" anchor="ctr">
                    <a:lnL w="0">
                      <a:noFill/>
                    </a:lnL>
                    <a:lnR w="0">
                      <a:noFill/>
                    </a:lnR>
                    <a:lnT w="0">
                      <a:noFill/>
                    </a:lnT>
                    <a:lnB w="0">
                      <a:noFill/>
                    </a:lnB>
                    <a:solidFill>
                      <a:srgbClr val="333D47"/>
                    </a:solidFill>
                  </a:tcPr>
                </a:tc>
                <a:tc>
                  <a:txBody>
                    <a:bodyPr wrap="square"/>
                    <a:lstStyle/>
                    <a:p>
                      <a:pPr algn="ctr"/>
                      <a:r>
                        <a:rPr sz="1400" b="1" i="0">
                          <a:solidFill>
                            <a:srgbClr val="FFFFFF"/>
                          </a:solidFill>
                          <a:latin typeface="Arial"/>
                          <a:ea typeface="Microsoft JhengHei"/>
                        </a:rPr>
                        <a:t>Fixed / broke</a:t>
                      </a:r>
                    </a:p>
                  </a:txBody>
                  <a:tcPr marL="91440" marR="91440" marT="45720" marB="45720" anchor="ctr">
                    <a:lnL w="0">
                      <a:noFill/>
                    </a:lnL>
                    <a:lnR w="0">
                      <a:noFill/>
                    </a:lnR>
                    <a:lnT w="0">
                      <a:noFill/>
                    </a:lnT>
                    <a:lnB w="0">
                      <a:noFill/>
                    </a:lnB>
                    <a:solidFill>
                      <a:srgbClr val="333D47"/>
                    </a:solidFill>
                  </a:tcPr>
                </a:tc>
              </a:tr>
              <a:tr h="713232">
                <a:tc>
                  <a:txBody>
                    <a:bodyPr wrap="square"/>
                    <a:lstStyle/>
                    <a:p>
                      <a:pPr algn="l"/>
                      <a:r>
                        <a:rPr sz="1500" b="1" i="0">
                          <a:solidFill>
                            <a:srgbClr val="333D47"/>
                          </a:solidFill>
                          <a:latin typeface="Arial"/>
                          <a:ea typeface="Microsoft JhengHei"/>
                        </a:rPr>
                        <a:t>PaddleOCR Light + rules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333D47"/>
                          </a:solidFill>
                          <a:latin typeface="Arial"/>
                          <a:ea typeface="Microsoft JhengHei"/>
                        </a:rPr>
                        <a:t>Rewrote the rules by hand: Chinese and bilingual labels, distractor labels, layouts (69 → 225 label phrases)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333D47"/>
                          </a:solidFill>
                          <a:latin typeface="Arial"/>
                          <a:ea typeface="Microsoft JhengHei"/>
                        </a:rPr>
                        <a:t>88.2%</a:t>
                      </a:r>
                      <a:r>
                        <a:rPr sz="11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+27</a:t>
                      </a:r>
                      <a:r>
                        <a:rPr sz="1600" b="0" i="0">
                          <a:solidFill>
                            <a:srgbClr val="333D47"/>
                          </a:solidFill>
                          <a:latin typeface="Arial"/>
                          <a:ea typeface="Microsoft JhengHei"/>
                        </a:rPr>
                        <a:t> / </a:t>
                      </a:r>
                      <a:r>
                        <a:rPr sz="1600" b="1" i="0">
                          <a:solidFill>
                            <a:srgbClr val="D31145"/>
                          </a:solidFill>
                          <a:latin typeface="Arial"/>
                          <a:ea typeface="Microsoft JhengHei"/>
                        </a:rPr>
                        <a:t>−1</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500" b="1" i="0">
                          <a:solidFill>
                            <a:srgbClr val="333D47"/>
                          </a:solidFill>
                          <a:latin typeface="Arial"/>
                          <a:ea typeface="Microsoft JhengHei"/>
                        </a:rPr>
                        <a:t>Azure DI + rules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333D47"/>
                          </a:solidFill>
                          <a:latin typeface="Arial"/>
                          <a:ea typeface="Microsoft JhengHei"/>
                        </a:rPr>
                        <a:t>The same rule changes, on Azure DI text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333D47"/>
                          </a:solidFill>
                          <a:latin typeface="Arial"/>
                          <a:ea typeface="Microsoft JhengHei"/>
                        </a:rPr>
                        <a:t>86.3%</a:t>
                      </a:r>
                      <a:r>
                        <a:rPr sz="1100" b="0" i="0">
                          <a:solidFill>
                            <a:srgbClr val="5F6770"/>
                          </a:solidFill>
                          <a:latin typeface="Arial"/>
                          <a:ea typeface="Microsoft JhengHei"/>
                        </a:rPr>
                        <a:t>  (44/51)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+24</a:t>
                      </a:r>
                      <a:r>
                        <a:rPr sz="1600" b="0" i="0">
                          <a:solidFill>
                            <a:srgbClr val="333D47"/>
                          </a:solidFill>
                          <a:latin typeface="Arial"/>
                          <a:ea typeface="Microsoft JhengHei"/>
                        </a:rPr>
                        <a:t> / </a:t>
                      </a:r>
                      <a:r>
                        <a:rPr sz="1600" b="1" i="0">
                          <a:solidFill>
                            <a:srgbClr val="D31145"/>
                          </a:solidFill>
                          <a:latin typeface="Arial"/>
                          <a:ea typeface="Microsoft JhengHei"/>
                        </a:rPr>
                        <a:t>−1</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500" b="1" i="0">
                          <a:solidFill>
                            <a:srgbClr val="333D47"/>
                          </a:solidFill>
                          <a:latin typeface="Arial"/>
                          <a:ea typeface="Microsoft JhengHei"/>
                        </a:rPr>
                        <a:t>Azure DI + AOAI, prompt v2</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l"/>
                      <a:r>
                        <a:rPr sz="1300" b="0" i="0">
                          <a:solidFill>
                            <a:srgbClr val="333D47"/>
                          </a:solidFill>
                          <a:latin typeface="Arial"/>
                          <a:ea typeface="Microsoft JhengHei"/>
                        </a:rPr>
                        <a:t>Revised the prompt wording: clearer definitions of each field</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96.1%</a:t>
                      </a:r>
                      <a:r>
                        <a:rPr sz="1100" b="0" i="0">
                          <a:solidFill>
                            <a:srgbClr val="5F6770"/>
                          </a:solidFill>
                          <a:latin typeface="Arial"/>
                          <a:ea typeface="Microsoft JhengHei"/>
                        </a:rPr>
                        <a:t>  (49/51)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600" b="1" i="0">
                          <a:solidFill>
                            <a:srgbClr val="1E7B4A"/>
                          </a:solidFill>
                          <a:latin typeface="Arial"/>
                          <a:ea typeface="Microsoft JhengHei"/>
                        </a:rPr>
                        <a:t>+4</a:t>
                      </a:r>
                      <a:r>
                        <a:rPr sz="1600" b="0" i="0">
                          <a:solidFill>
                            <a:srgbClr val="333D47"/>
                          </a:solidFill>
                          <a:latin typeface="Arial"/>
                          <a:ea typeface="Microsoft JhengHei"/>
                        </a:rPr>
                        <a:t> / </a:t>
                      </a:r>
                      <a:r>
                        <a:rPr sz="1600" b="0" i="0">
                          <a:solidFill>
                            <a:srgbClr val="333D47"/>
                          </a:solidFill>
                          <a:latin typeface="Arial"/>
                          <a:ea typeface="Microsoft JhengHei"/>
                        </a:rPr>
                        <a:t>−0</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Rectangle 12"/>
          <p:cNvSpPr/>
          <p:nvPr/>
        </p:nvSpPr>
        <p:spPr>
          <a:xfrm>
            <a:off x="356616" y="4526280"/>
            <a:ext cx="5623560" cy="868680"/>
          </a:xfrm>
          <a:prstGeom prst="rect">
            <a:avLst/>
          </a:prstGeom>
          <a:solidFill>
            <a:srgbClr val="F2F2F2"/>
          </a:solidFill>
          <a:ln>
            <a:noFill/>
          </a:ln>
        </p:spPr>
        <p:txBody>
          <a:bodyPr rtlCol="0" anchor="t" wrap="square" lIns="182880" rIns="182880" tIns="109728" bIns="109728"/>
          <a:lstStyle/>
          <a:p>
            <a:pPr algn="l" marL="0" indent="0">
              <a:spcAft>
                <a:spcPts val="300"/>
              </a:spcAft>
              <a:buNone/>
            </a:pPr>
            <a:r>
              <a:rPr sz="1500" b="1" i="0">
                <a:solidFill>
                  <a:srgbClr val="D31145"/>
                </a:solidFill>
                <a:latin typeface="Arial"/>
                <a:ea typeface="Microsoft JhengHei"/>
              </a:rPr>
              <a:t>Changing rules</a:t>
            </a:r>
          </a:p>
          <a:p>
            <a:pPr marL="0" indent="0" algn="l">
              <a:spcAft>
                <a:spcPts val="0"/>
              </a:spcAft>
              <a:buNone/>
            </a:pPr>
            <a:r>
              <a:rPr sz="1300" b="0" i="0">
                <a:solidFill>
                  <a:srgbClr val="333D47"/>
                </a:solidFill>
                <a:latin typeface="Arial"/>
                <a:ea typeface="Microsoft JhengHei"/>
              </a:rPr>
              <a:t>Code and vocabulary for every new wording or language, then a retest of every receipt. One change broke a receipt that was already correct.</a:t>
            </a:r>
          </a:p>
        </p:txBody>
      </p:sp>
      <p:sp>
        <p:nvSpPr>
          <p:cNvPr id="14" name="Rectangle 13"/>
          <p:cNvSpPr/>
          <p:nvPr/>
        </p:nvSpPr>
        <p:spPr>
          <a:xfrm>
            <a:off x="6208776" y="4526280"/>
            <a:ext cx="5623560" cy="868680"/>
          </a:xfrm>
          <a:prstGeom prst="rect">
            <a:avLst/>
          </a:prstGeom>
          <a:solidFill>
            <a:srgbClr val="F2F2F2"/>
          </a:solidFill>
          <a:ln>
            <a:noFill/>
          </a:ln>
        </p:spPr>
        <p:txBody>
          <a:bodyPr rtlCol="0" anchor="t" wrap="square" lIns="182880" rIns="182880" tIns="109728" bIns="109728"/>
          <a:lstStyle/>
          <a:p>
            <a:pPr algn="l" marL="0" indent="0">
              <a:spcAft>
                <a:spcPts val="300"/>
              </a:spcAft>
              <a:buNone/>
            </a:pPr>
            <a:r>
              <a:rPr sz="1500" b="1" i="0">
                <a:solidFill>
                  <a:srgbClr val="D31145"/>
                </a:solidFill>
                <a:latin typeface="Arial"/>
                <a:ea typeface="Microsoft JhengHei"/>
              </a:rPr>
              <a:t>Changing the AI prompt</a:t>
            </a:r>
          </a:p>
          <a:p>
            <a:pPr marL="0" indent="0" algn="l">
              <a:spcAft>
                <a:spcPts val="0"/>
              </a:spcAft>
              <a:buNone/>
            </a:pPr>
            <a:r>
              <a:rPr sz="1300" b="0" i="0">
                <a:solidFill>
                  <a:srgbClr val="333D47"/>
                </a:solidFill>
                <a:latin typeface="Arial"/>
                <a:ea typeface="Microsoft JhengHei"/>
              </a:rPr>
              <a:t>Plain-language edits to one prompt, then a rerun. No field broke on these receipts.</a:t>
            </a:r>
          </a:p>
        </p:txBody>
      </p:sp>
      <p:sp>
        <p:nvSpPr>
          <p:cNvPr id="15" name="TextBox 14"/>
          <p:cNvSpPr txBox="1"/>
          <p:nvPr/>
        </p:nvSpPr>
        <p:spPr>
          <a:xfrm>
            <a:off x="356616" y="5504688"/>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results: every change was made after reviewing these 9 receipts, so these scores are not independent validation.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Accuracy by Field (Development Results)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After tuning, all three approaches miss the same two fields; the rules also miss patient and receipt numbers.</a:t>
            </a:r>
          </a:p>
        </p:txBody>
      </p:sp>
      <p:graphicFrame>
        <p:nvGraphicFramePr>
          <p:cNvPr id="12" name="Table 11"/>
          <p:cNvGraphicFramePr>
            <a:graphicFrameLocks noGrp="1"/>
          </p:cNvGraphicFramePr>
          <p:nvPr/>
        </p:nvGraphicFramePr>
        <p:xfrm>
          <a:off x="356616" y="1783080"/>
          <a:ext cx="11475720" cy="3310128"/>
        </p:xfrm>
        <a:graphic>
          <a:graphicData uri="http://schemas.openxmlformats.org/drawingml/2006/table">
            <a:tbl>
              <a:tblPr firstRow="0" bandRow="0">
                <a:tableStyleId>{2D5ABB26-0587-4C30-8999-92F81FD0307C}</a:tableStyleId>
              </a:tblPr>
              <a:tblGrid>
                <a:gridCol w="2514600"/>
                <a:gridCol w="1417320"/>
                <a:gridCol w="2514600"/>
                <a:gridCol w="2514600"/>
                <a:gridCol w="2514600"/>
              </a:tblGrid>
              <a:tr h="566928">
                <a:tc>
                  <a:txBody>
                    <a:bodyPr wrap="square"/>
                    <a:lstStyle/>
                    <a:p>
                      <a:pPr algn="l"/>
                      <a:r>
                        <a:rPr sz="130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Receipts</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PaddleOCR Light +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Azure DI +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Azure DI + AOAI, prompt v2</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400" b="1" i="0">
                          <a:solidFill>
                            <a:srgbClr val="333D47"/>
                          </a:solidFill>
                          <a:latin typeface="Arial"/>
                          <a:ea typeface="Microsoft JhengHei"/>
                        </a:rPr>
                        <a:t>Registration no.</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6*</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r>
              <a:tr h="457200">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r h="457200">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r h="457200">
                <a:tc>
                  <a:txBody>
                    <a:bodyPr wrap="square"/>
                    <a:lstStyle/>
                    <a:p>
                      <a:pPr algn="l"/>
                      <a:r>
                        <a:rPr sz="1400" b="1" i="0">
                          <a:solidFill>
                            <a:srgbClr val="333D47"/>
                          </a:solidFill>
                          <a:latin typeface="Arial"/>
                          <a:ea typeface="Microsoft JhengHei"/>
                        </a:rPr>
                        <a:t>Service date</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bl>
          </a:graphicData>
        </a:graphic>
      </p:graphicFrame>
      <p:sp>
        <p:nvSpPr>
          <p:cNvPr id="13" name="TextBox 12"/>
          <p:cNvSpPr txBox="1"/>
          <p:nvPr/>
        </p:nvSpPr>
        <p:spPr>
          <a:xfrm>
            <a:off x="356616" y="51663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results after tuning on these 9 receipts, not independent validation. * Registration number is printed on 6 of the 9 receipts; every other field on all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Changed in AOAI Prompt V2</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88.2% → 96.1%: four fields fixed, all by clearer prompt wording. Nothing else changed a result.</a:t>
            </a:r>
          </a:p>
        </p:txBody>
      </p:sp>
      <p:graphicFrame>
        <p:nvGraphicFramePr>
          <p:cNvPr id="12" name="Table 11"/>
          <p:cNvGraphicFramePr>
            <a:graphicFrameLocks noGrp="1"/>
          </p:cNvGraphicFramePr>
          <p:nvPr/>
        </p:nvGraphicFramePr>
        <p:xfrm>
          <a:off x="356616" y="1783080"/>
          <a:ext cx="11475719" cy="2770632"/>
        </p:xfrm>
        <a:graphic>
          <a:graphicData uri="http://schemas.openxmlformats.org/drawingml/2006/table">
            <a:tbl>
              <a:tblPr firstRow="0" bandRow="0">
                <a:tableStyleId>{2D5ABB26-0587-4C30-8999-92F81FD0307C}</a:tableStyleId>
              </a:tblPr>
              <a:tblGrid>
                <a:gridCol w="1828800"/>
                <a:gridCol w="3520440"/>
                <a:gridCol w="3749039"/>
                <a:gridCol w="2377440"/>
              </a:tblGrid>
              <a:tr h="502920">
                <a:tc>
                  <a:txBody>
                    <a:bodyPr wrap="square"/>
                    <a:lstStyle/>
                    <a:p>
                      <a:pPr algn="l"/>
                      <a:r>
                        <a:rPr sz="1300" b="1" i="0">
                          <a:solidFill>
                            <a:srgbClr val="FFFFFF"/>
                          </a:solidFill>
                          <a:latin typeface="Arial"/>
                          <a:ea typeface="Microsoft JhengHei"/>
                        </a:rPr>
                        <a:t>Field fixed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Original prompt replied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Prompt v2 wording added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Prompt v2 replied</a:t>
                      </a:r>
                    </a:p>
                  </a:txBody>
                  <a:tcPr marL="91440" marR="91440" marT="45720" marB="45720" anchor="ctr">
                    <a:lnL w="0">
                      <a:noFill/>
                    </a:lnL>
                    <a:lnR w="0">
                      <a:noFill/>
                    </a:lnR>
                    <a:lnT w="0">
                      <a:noFill/>
                    </a:lnT>
                    <a:lnB w="0">
                      <a:noFill/>
                    </a:lnB>
                    <a:solidFill>
                      <a:srgbClr val="333D47"/>
                    </a:solidFill>
                  </a:tcPr>
                </a:tc>
              </a:tr>
              <a:tr h="566928">
                <a:tc>
                  <a:txBody>
                    <a:bodyPr wrap="square"/>
                    <a:lstStyle/>
                    <a:p>
                      <a:pPr algn="l"/>
                      <a:r>
                        <a:rPr sz="1300" b="1" i="0">
                          <a:solidFill>
                            <a:srgbClr val="333D47"/>
                          </a:solidFill>
                          <a:latin typeface="Arial"/>
                          <a:ea typeface="Microsoft JhengHei"/>
                        </a:rPr>
                        <a:t>Registration no.</a:t>
                      </a:r>
                    </a:p>
                    <a:p>
                      <a:pPr algn="l"/>
                      <a:r>
                        <a:rPr sz="1100" b="0" i="0">
                          <a:solidFill>
                            <a:srgbClr val="5F6770"/>
                          </a:solidFill>
                          <a:latin typeface="Arial"/>
                          <a:ea typeface="Microsoft JhengHei"/>
                        </a:rPr>
                        <a:t>GP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MBBS (HK) · Reg. No. M17642</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“the identifier only, without its label”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M17642</a:t>
                      </a:r>
                    </a:p>
                  </a:txBody>
                  <a:tcPr marL="91440" marR="91440" marT="45720" marB="45720" anchor="ctr">
                    <a:lnL w="0">
                      <a:noFill/>
                    </a:lnL>
                    <a:lnR w="0">
                      <a:noFill/>
                    </a:lnR>
                    <a:lnT w="0">
                      <a:noFill/>
                    </a:lnT>
                    <a:lnB w="19050" cmpd="sng">
                      <a:solidFill>
                        <a:srgbClr val="FFFFFF"/>
                      </a:solidFill>
                    </a:lnB>
                    <a:solidFill>
                      <a:srgbClr val="E6F2EA"/>
                    </a:solidFill>
                  </a:tcPr>
                </a:tc>
              </a:tr>
              <a:tr h="566928">
                <a:tc>
                  <a:txBody>
                    <a:bodyPr wrap="square"/>
                    <a:lstStyle/>
                    <a:p>
                      <a:pPr algn="l"/>
                      <a:r>
                        <a:rPr sz="1300" b="1" i="0">
                          <a:solidFill>
                            <a:srgbClr val="333D47"/>
                          </a:solidFill>
                          <a:latin typeface="Arial"/>
                          <a:ea typeface="Microsoft JhengHei"/>
                        </a:rPr>
                        <a:t>Doctor</a:t>
                      </a:r>
                    </a:p>
                    <a:p>
                      <a:pPr algn="l"/>
                      <a:r>
                        <a:rPr sz="1100" b="0" i="0">
                          <a:solidFill>
                            <a:srgbClr val="5F6770"/>
                          </a:solidFill>
                          <a:latin typeface="Arial"/>
                          <a:ea typeface="Microsoft JhengHei"/>
                        </a:rPr>
                        <a:t>Dental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Dr. Ho Ching Yee, BDS (HK)</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“Leave out qualifications and post-nominals”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Dr. Ho Ching Yee</a:t>
                      </a:r>
                    </a:p>
                  </a:txBody>
                  <a:tcPr marL="91440" marR="91440" marT="45720" marB="45720" anchor="ctr">
                    <a:lnL w="0">
                      <a:noFill/>
                    </a:lnL>
                    <a:lnR w="0">
                      <a:noFill/>
                    </a:lnR>
                    <a:lnT w="0">
                      <a:noFill/>
                    </a:lnT>
                    <a:lnB w="19050" cmpd="sng">
                      <a:solidFill>
                        <a:srgbClr val="FFFFFF"/>
                      </a:solidFill>
                    </a:lnB>
                    <a:solidFill>
                      <a:srgbClr val="E6F2EA"/>
                    </a:solidFill>
                  </a:tcPr>
                </a:tc>
              </a:tr>
              <a:tr h="566928">
                <a:tc>
                  <a:txBody>
                    <a:bodyPr wrap="square"/>
                    <a:lstStyle/>
                    <a:p>
                      <a:pPr algn="l"/>
                      <a:r>
                        <a:rPr sz="1300" b="1" i="0">
                          <a:solidFill>
                            <a:srgbClr val="333D47"/>
                          </a:solidFill>
                          <a:latin typeface="Arial"/>
                          <a:ea typeface="Microsoft JhengHei"/>
                        </a:rPr>
                        <a:t>Doctor</a:t>
                      </a:r>
                    </a:p>
                    <a:p>
                      <a:pPr algn="l"/>
                      <a:r>
                        <a:rPr sz="1100" b="0" i="0">
                          <a:solidFill>
                            <a:srgbClr val="5F6770"/>
                          </a:solidFill>
                          <a:latin typeface="Arial"/>
                          <a:ea typeface="Microsoft JhengHei"/>
                        </a:rPr>
                        <a:t>Pharmacy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Dr Jessica Sterenborg Picton Medical Centre</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“clinic, hospital or practice names”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Dr Jessica Sterenborg</a:t>
                      </a:r>
                    </a:p>
                  </a:txBody>
                  <a:tcPr marL="91440" marR="91440" marT="45720" marB="45720" anchor="ctr">
                    <a:lnL w="0">
                      <a:noFill/>
                    </a:lnL>
                    <a:lnR w="0">
                      <a:noFill/>
                    </a:lnR>
                    <a:lnT w="0">
                      <a:noFill/>
                    </a:lnT>
                    <a:lnB w="19050" cmpd="sng">
                      <a:solidFill>
                        <a:srgbClr val="FFFFFF"/>
                      </a:solidFill>
                    </a:lnB>
                    <a:solidFill>
                      <a:srgbClr val="E6F2EA"/>
                    </a:solidFill>
                  </a:tcPr>
                </a:tc>
              </a:tr>
              <a:tr h="566928">
                <a:tc>
                  <a:txBody>
                    <a:bodyPr wrap="square"/>
                    <a:lstStyle/>
                    <a:p>
                      <a:pPr algn="l"/>
                      <a:r>
                        <a:rPr sz="1300" b="1" i="0">
                          <a:solidFill>
                            <a:srgbClr val="333D47"/>
                          </a:solidFill>
                          <a:latin typeface="Arial"/>
                          <a:ea typeface="Microsoft JhengHei"/>
                        </a:rPr>
                        <a:t>Total</a:t>
                      </a:r>
                    </a:p>
                    <a:p>
                      <a:pPr algn="l"/>
                      <a:r>
                        <a:rPr sz="1100" b="0" i="0">
                          <a:solidFill>
                            <a:srgbClr val="5F6770"/>
                          </a:solidFill>
                          <a:latin typeface="Arial"/>
                          <a:ea typeface="Microsoft JhengHei"/>
                        </a:rPr>
                        <a:t>Vet invoice</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HKD 1361.50</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“after any discounts, rounding or other adjustments”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HKD 1361.00</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3" name="Rectangle 12"/>
          <p:cNvSpPr/>
          <p:nvPr/>
        </p:nvSpPr>
        <p:spPr>
          <a:xfrm>
            <a:off x="356616" y="4709160"/>
            <a:ext cx="2731770" cy="68580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200"/>
              </a:spcAft>
              <a:buNone/>
            </a:pPr>
            <a:r>
              <a:rPr sz="1400" b="1" i="0">
                <a:solidFill>
                  <a:srgbClr val="D31145"/>
                </a:solidFill>
                <a:latin typeface="Arial"/>
                <a:ea typeface="Microsoft JhengHei"/>
              </a:rPr>
              <a:t>Prompt wording</a:t>
            </a:r>
          </a:p>
          <a:p>
            <a:pPr marL="0" indent="0" algn="l">
              <a:spcAft>
                <a:spcPts val="0"/>
              </a:spcAft>
              <a:buNone/>
            </a:pPr>
            <a:r>
              <a:rPr sz="1250" b="0" i="0">
                <a:solidFill>
                  <a:srgbClr val="333D47"/>
                </a:solidFill>
                <a:latin typeface="Arial"/>
                <a:ea typeface="Microsoft JhengHei"/>
              </a:rPr>
              <a:t>4 fields fixed</a:t>
            </a:r>
          </a:p>
        </p:txBody>
      </p:sp>
      <p:sp>
        <p:nvSpPr>
          <p:cNvPr id="14" name="Rectangle 13"/>
          <p:cNvSpPr/>
          <p:nvPr/>
        </p:nvSpPr>
        <p:spPr>
          <a:xfrm>
            <a:off x="3271266" y="4709160"/>
            <a:ext cx="2731770" cy="685800"/>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400" b="1" i="0">
                <a:solidFill>
                  <a:srgbClr val="333D47"/>
                </a:solidFill>
                <a:latin typeface="Arial"/>
                <a:ea typeface="Microsoft JhengHei"/>
              </a:rPr>
              <a:t>Python checks</a:t>
            </a:r>
          </a:p>
          <a:p>
            <a:pPr marL="0" indent="0" algn="l">
              <a:spcAft>
                <a:spcPts val="0"/>
              </a:spcAft>
              <a:buNone/>
            </a:pPr>
            <a:r>
              <a:rPr sz="1250" b="0" i="0">
                <a:solidFill>
                  <a:srgbClr val="5F6770"/>
                </a:solidFill>
                <a:latin typeface="Arial"/>
                <a:ea typeface="Microsoft JhengHei"/>
              </a:rPr>
              <a:t>changed 0 values</a:t>
            </a:r>
          </a:p>
        </p:txBody>
      </p:sp>
      <p:sp>
        <p:nvSpPr>
          <p:cNvPr id="15" name="Rectangle 14"/>
          <p:cNvSpPr/>
          <p:nvPr/>
        </p:nvSpPr>
        <p:spPr>
          <a:xfrm>
            <a:off x="6185916" y="4709160"/>
            <a:ext cx="2731770" cy="685800"/>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400" b="1" i="0">
                <a:solidFill>
                  <a:srgbClr val="333D47"/>
                </a:solidFill>
                <a:latin typeface="Arial"/>
                <a:ea typeface="Microsoft JhengHei"/>
              </a:rPr>
              <a:t>OCR row layout</a:t>
            </a:r>
          </a:p>
          <a:p>
            <a:pPr marL="0" indent="0" algn="l">
              <a:spcAft>
                <a:spcPts val="0"/>
              </a:spcAft>
              <a:buNone/>
            </a:pPr>
            <a:r>
              <a:rPr sz="1250" b="0" i="0">
                <a:solidFill>
                  <a:srgbClr val="5F6770"/>
                </a:solidFill>
                <a:latin typeface="Arial"/>
                <a:ea typeface="Microsoft JhengHei"/>
              </a:rPr>
              <a:t>plain text also 49/51</a:t>
            </a:r>
          </a:p>
        </p:txBody>
      </p:sp>
      <p:sp>
        <p:nvSpPr>
          <p:cNvPr id="16" name="Rectangle 15"/>
          <p:cNvSpPr/>
          <p:nvPr/>
        </p:nvSpPr>
        <p:spPr>
          <a:xfrm>
            <a:off x="9100566" y="4709160"/>
            <a:ext cx="2731770" cy="685800"/>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400" b="1" i="0">
                <a:solidFill>
                  <a:srgbClr val="333D47"/>
                </a:solidFill>
                <a:latin typeface="Arial"/>
                <a:ea typeface="Microsoft JhengHei"/>
              </a:rPr>
              <a:t>Photo attached</a:t>
            </a:r>
          </a:p>
          <a:p>
            <a:pPr marL="0" indent="0" algn="l">
              <a:spcAft>
                <a:spcPts val="0"/>
              </a:spcAft>
              <a:buNone/>
            </a:pPr>
            <a:r>
              <a:rPr sz="1250" b="0" i="0">
                <a:solidFill>
                  <a:srgbClr val="5F6770"/>
                </a:solidFill>
                <a:latin typeface="Arial"/>
                <a:ea typeface="Microsoft JhengHei"/>
              </a:rPr>
              <a:t>also 49/51</a:t>
            </a:r>
          </a:p>
        </p:txBody>
      </p:sp>
      <p:sp>
        <p:nvSpPr>
          <p:cNvPr id="17" name="TextBox 16"/>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 prompt v2 was written after reviewing these errors. Still wrong: the vet invoice doctor and the pharmacy service 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its original prompt; no change needed.</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 DI + AOAI = original prompt.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Every New Layout Meant Manual Rule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Each label wording was added by hand, and one change broke a receipt that was already correct.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after Chinese labels were added by hand 6/6; DI + AOAI 6/6 (original prompt).</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will likely need more rule changes and a retest of every receipt</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With its original prompt, DI + AOAI needed none of these changes for these receipts. Whether that holds for new layouts still needs to be tested.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(original prompt): picked the sub total instead of the total.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Development Effort and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difference is the manual work to handle each layout, and to keep it working.</a:t>
            </a:r>
          </a:p>
        </p:txBody>
      </p:sp>
      <p:graphicFrame>
        <p:nvGraphicFramePr>
          <p:cNvPr id="12" name="Table 11"/>
          <p:cNvGraphicFramePr>
            <a:graphicFrameLocks noGrp="1"/>
          </p:cNvGraphicFramePr>
          <p:nvPr/>
        </p:nvGraphicFramePr>
        <p:xfrm>
          <a:off x="356616" y="1783080"/>
          <a:ext cx="11475720" cy="3383280"/>
        </p:xfrm>
        <a:graphic>
          <a:graphicData uri="http://schemas.openxmlformats.org/drawingml/2006/table">
            <a:tbl>
              <a:tblPr firstRow="0" bandRow="0">
                <a:tableStyleId>{2D5ABB26-0587-4C30-8999-92F81FD0307C}</a:tableStyleId>
              </a:tblPr>
              <a:tblGrid>
                <a:gridCol w="2743200"/>
                <a:gridCol w="4343400"/>
                <a:gridCol w="438912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66928">
                <a:tc>
                  <a:txBody>
                    <a:bodyPr wrap="square"/>
                    <a:lstStyle/>
                    <a:p>
                      <a:pPr algn="l"/>
                      <a:r>
                        <a:rPr sz="1400" b="1" i="0">
                          <a:solidFill>
                            <a:srgbClr val="333D47"/>
                          </a:solidFill>
                          <a:latin typeface="Arial"/>
                          <a:ea typeface="Microsoft JhengHei"/>
                        </a:rPr>
                        <a:t>Effort to improve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 rewritten by hand after reviewing errors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One prompt revision after reviewing errors</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What a change looks like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Code and label lists (69 → 225 phrases)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Prompt wording and a few general checks</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Side effects seen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1 correct field broken by the rule changes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0 correct fields broken by the prompt revision</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Likely more rule updates and a regression test of every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Possibly no change; not yet tested</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Time and 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13.9 s, own compute,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6.2 s, Azure fees per receipt (to confirm)</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3492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as layouts change. Lower maintenance for AOAI is implied by this benchmark, not yet proven.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Manual Rules vs. AI Extraction: Pros and Cons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"Measured" = this benchmark; the rest is expected.</a:t>
            </a:r>
          </a:p>
        </p:txBody>
      </p:sp>
      <p:sp>
        <p:nvSpPr>
          <p:cNvPr id="12" name="Rectangle 11"/>
          <p:cNvSpPr/>
          <p:nvPr/>
        </p:nvSpPr>
        <p:spPr>
          <a:xfrm>
            <a:off x="35661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Manual extraction rules (PaddleOCR Light)</a:t>
            </a:r>
          </a:p>
        </p:txBody>
      </p:sp>
      <p:sp>
        <p:nvSpPr>
          <p:cNvPr id="13" name="TextBox 12"/>
          <p:cNvSpPr txBox="1"/>
          <p:nvPr/>
        </p:nvSpPr>
        <p:spPr>
          <a:xfrm>
            <a:off x="35661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New formats need manual rule updates, which can break working cases and add maintenance and testing.</a:t>
            </a:r>
          </a:p>
        </p:txBody>
      </p:sp>
      <p:sp>
        <p:nvSpPr>
          <p:cNvPr id="14" name="Rectangle 13"/>
          <p:cNvSpPr/>
          <p:nvPr/>
        </p:nvSpPr>
        <p:spPr>
          <a:xfrm>
            <a:off x="35661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0" i="0">
                <a:solidFill>
                  <a:srgbClr val="333D47"/>
                </a:solidFill>
                <a:latin typeface="Arial"/>
                <a:ea typeface="Microsoft JhengHei"/>
              </a:rPr>
              <a:t>Full control; transparent and predictable on formats the rules know.</a:t>
            </a:r>
          </a:p>
          <a:p>
            <a:pPr marL="182880" indent="-182880" algn="l">
              <a:spcAft>
                <a:spcPts val="300"/>
              </a:spcAft>
              <a:buFont typeface="Arial"/>
              <a:buChar char="•"/>
            </a:pPr>
            <a:r>
              <a:rPr sz="1300" b="0" i="0">
                <a:solidFill>
                  <a:srgbClr val="333D47"/>
                </a:solidFill>
                <a:latin typeface="Arial"/>
                <a:ea typeface="Microsoft JhengHei"/>
              </a:rPr>
              <a:t>No API fees: open-source OCR on our own compute.</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the OCR read the values; the misses were missing labels.</a:t>
            </a:r>
          </a:p>
        </p:txBody>
      </p:sp>
      <p:sp>
        <p:nvSpPr>
          <p:cNvPr id="15" name="Rectangle 14"/>
          <p:cNvSpPr/>
          <p:nvPr/>
        </p:nvSpPr>
        <p:spPr>
          <a:xfrm>
            <a:off x="35661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0" i="0">
                <a:solidFill>
                  <a:srgbClr val="333D47"/>
                </a:solidFill>
                <a:latin typeface="Arial"/>
                <a:ea typeface="Microsoft JhengHei"/>
              </a:rPr>
              <a:t>Each new format or language needs rule updates by hand.</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a rule change broke a receipt that was already correct.</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69 → 225 label phrases added by hand.</a:t>
            </a:r>
          </a:p>
        </p:txBody>
      </p:sp>
      <p:sp>
        <p:nvSpPr>
          <p:cNvPr id="16" name="Rectangle 15"/>
          <p:cNvSpPr/>
          <p:nvPr/>
        </p:nvSpPr>
        <p:spPr>
          <a:xfrm>
            <a:off x="623163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AI extraction (Azure DI + AOAI)</a:t>
            </a:r>
          </a:p>
        </p:txBody>
      </p:sp>
      <p:sp>
        <p:nvSpPr>
          <p:cNvPr id="17" name="TextBox 16"/>
          <p:cNvSpPr txBox="1"/>
          <p:nvPr/>
        </p:nvSpPr>
        <p:spPr>
          <a:xfrm>
            <a:off x="623163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Less rule maintenance expected: accuracy depends mainly on the AI model, OCR output and prompt.</a:t>
            </a:r>
          </a:p>
        </p:txBody>
      </p:sp>
      <p:sp>
        <p:nvSpPr>
          <p:cNvPr id="18" name="Rectangle 17"/>
          <p:cNvSpPr/>
          <p:nvPr/>
        </p:nvSpPr>
        <p:spPr>
          <a:xfrm>
            <a:off x="623163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highest accuracy before any tuning on these receipts.</a:t>
            </a:r>
          </a:p>
          <a:p>
            <a:pPr marL="182880" indent="-182880" algn="l">
              <a:spcAft>
                <a:spcPts val="300"/>
              </a:spcAft>
              <a:buFont typeface="Arial"/>
              <a:buChar char="•"/>
            </a:pPr>
            <a:r>
              <a:rPr sz="1300" b="0" i="0">
                <a:solidFill>
                  <a:srgbClr val="333D47"/>
                </a:solidFill>
                <a:latin typeface="Arial"/>
                <a:ea typeface="Microsoft JhengHei"/>
              </a:rPr>
              <a:t>Reads varied formats using existing model capabilities.</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faster, 6.2 s vs 13.9 s per receipt.</a:t>
            </a:r>
          </a:p>
        </p:txBody>
      </p:sp>
      <p:sp>
        <p:nvSpPr>
          <p:cNvPr id="19" name="Rectangle 18"/>
          <p:cNvSpPr/>
          <p:nvPr/>
        </p:nvSpPr>
        <p:spPr>
          <a:xfrm>
            <a:off x="623163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still makes mistakes, e.g. a sub total taken as the total.</a:t>
            </a:r>
          </a:p>
          <a:p>
            <a:pPr marL="182880" indent="-182880" algn="l">
              <a:spcAft>
                <a:spcPts val="300"/>
              </a:spcAft>
              <a:buFont typeface="Arial"/>
              <a:buChar char="•"/>
            </a:pPr>
            <a:r>
              <a:rPr sz="1300" b="0" i="0">
                <a:solidFill>
                  <a:srgbClr val="333D47"/>
                </a:solidFill>
                <a:latin typeface="Arial"/>
                <a:ea typeface="Microsoft JhengHei"/>
              </a:rPr>
              <a:t>Less direct control: results depend on model, OCR, prompt.</a:t>
            </a:r>
          </a:p>
          <a:p>
            <a:pPr marL="182880" indent="-182880" algn="l">
              <a:spcAft>
                <a:spcPts val="0"/>
              </a:spcAft>
              <a:buFont typeface="Arial"/>
              <a:buChar char="•"/>
            </a:pPr>
            <a:r>
              <a:rPr sz="1300" b="0" i="0">
                <a:solidFill>
                  <a:srgbClr val="333D47"/>
                </a:solidFill>
                <a:latin typeface="Arial"/>
                <a:ea typeface="Microsoft JhengHei"/>
              </a:rPr>
              <a:t>API fees; needs validation, monitoring and prompt upkeep.</a:t>
            </a:r>
          </a:p>
        </p:txBody>
      </p:sp>
      <p:sp>
        <p:nvSpPr>
          <p:cNvPr id="20" name="Rectangle 19"/>
          <p:cNvSpPr/>
          <p:nvPr/>
        </p:nvSpPr>
        <p:spPr>
          <a:xfrm>
            <a:off x="356616" y="5486400"/>
            <a:ext cx="10607040" cy="411480"/>
          </a:xfrm>
          <a:prstGeom prst="rect">
            <a:avLst/>
          </a:prstGeom>
          <a:solidFill>
            <a:srgbClr val="F2F2F2"/>
          </a:solidFill>
          <a:ln>
            <a:noFill/>
          </a:ln>
        </p:spPr>
        <p:txBody>
          <a:bodyPr rtlCol="0" anchor="ctr" wrap="square" lIns="164592" rIns="164592" tIns="109728" bIns="109728"/>
          <a:lstStyle/>
          <a:p>
            <a:pPr algn="l" marL="0" indent="0">
              <a:spcAft>
                <a:spcPts val="0"/>
              </a:spcAft>
              <a:buNone/>
            </a:pPr>
            <a:r>
              <a:rPr sz="1400" b="1" i="0">
                <a:solidFill>
                  <a:srgbClr val="333D47"/>
                </a:solidFill>
                <a:latin typeface="Arial"/>
                <a:ea typeface="Microsoft JhengHei"/>
              </a:rPr>
              <a:t>Neither is maintenance free. </a:t>
            </a:r>
            <a:r>
              <a:rPr sz="1400" b="0" i="0">
                <a:solidFill>
                  <a:srgbClr val="333D47"/>
                </a:solidFill>
                <a:latin typeface="Arial"/>
                <a:ea typeface="Microsoft JhengHei"/>
              </a:rPr>
              <a:t>The difference is where the effort sits: rules for every layout, or one prompt plus validation.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600200"/>
          </a:xfrm>
          <a:prstGeom prst="rect">
            <a:avLst/>
          </a:prstGeom>
          <a:solidFill>
            <a:srgbClr val="F2F2F2"/>
          </a:solidFill>
          <a:ln>
            <a:noFill/>
          </a:ln>
        </p:spPr>
        <p:txBody>
          <a:bodyPr rtlCol="0" anchor="t" wrap="square" lIns="274320" rIns="274320" tIns="109728" bIns="109728"/>
          <a:lstStyle/>
          <a:p>
            <a:pPr algn="l" marL="182880" indent="-182880">
              <a:spcAft>
                <a:spcPts val="600"/>
              </a:spcAft>
              <a:buFont typeface="Arial"/>
              <a:buChar char="•"/>
            </a:pPr>
            <a:r>
              <a:rPr sz="1600" b="0" i="0">
                <a:solidFill>
                  <a:srgbClr val="333D47"/>
                </a:solidFill>
                <a:latin typeface="Arial"/>
                <a:ea typeface="Microsoft JhengHei"/>
              </a:rPr>
              <a:t>Initial implementations: AI extraction led by a wide margin, mainly because the first rules had no Chinese support.</a:t>
            </a:r>
          </a:p>
          <a:p>
            <a:pPr marL="182880" indent="-182880" algn="l">
              <a:spcAft>
                <a:spcPts val="600"/>
              </a:spcAft>
              <a:buFont typeface="Arial"/>
              <a:buChar char="•"/>
            </a:pPr>
            <a:r>
              <a:rPr sz="1600" b="0" i="0">
                <a:solidFill>
                  <a:srgbClr val="333D47"/>
                </a:solidFill>
                <a:latin typeface="Arial"/>
                <a:ea typeface="Microsoft JhengHei"/>
              </a:rPr>
              <a:t>After reviewing these receipts both improved. Rules needed code and vocabulary changes; AI needed one prompt revision. Neither is validated on unseen receipts.</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AOAI prompt v2.</a:t>
            </a:r>
          </a:p>
        </p:txBody>
      </p:sp>
      <p:sp>
        <p:nvSpPr>
          <p:cNvPr id="14" name="Rectangle 13"/>
          <p:cNvSpPr/>
          <p:nvPr/>
        </p:nvSpPr>
        <p:spPr>
          <a:xfrm>
            <a:off x="427329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1206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rules and prompt v2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