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compare open-source OCR plus extraction rules with Azure Document Intelligence plus Azure OpenAI for extracting six fields from medical receipts: accuracy, the manual effort needed to reach it, and the ongoing maintenance effort.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Receipts: English, bilingual and Traditional Chinese layouts. Fields: doctor, registration number, patient, receipt number, service date, total. 51 fields were present on the receipts and scored. Step 1 (text recognition, OCR) turns the photo into text; step 2 (field extraction) picks the six values from that text, either with hand-written rules or with Azure OpenAI.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fields present on the 9 receipts. Original and improved rules read the same OCR text. Improved rules were tuned using these 9 receipts. The AOAI prompt was not changed. Time = average per receipt (PaddleOCR: CPU on Azure ML compute; Azure: API call time incl. network).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Rule-based pipeline: OCR text, then hand-written extraction rules. To reach 88.2% the rules were rewritten after reviewing the errors on these 9 receipts (label phrases 69 to 225). AI pipeline: the same kind of OCR text is passed to Azure OpenAI (gpt-5-mini) with one fixed prompt, which was not changed for these receipts, and it reached 88.2%. So on this benchmark the model did the job the rules were tuned to do. It still made mistakes, and it has not been tested on a large set of unseen receipts.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8 (medical centre). Both OCR engines read the patient name and the doctor's name (checked in the raw OCR). The original rules matched 'Patient' and took the Chinese half of the label, 病人, as the name. The improved rules needed bilingual labels added by hand. AOAI read the fields correctly with its unchanged prompt (6 of 6 fields on this receipt). Values: rules on PaddleOCR Light text; detail.csv, checked against the extraction JSON.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4 (Chinese medicine): the OCR read every value, but the original rules only knew English labels (0 of 6 fields). After adding Chinese labels: 6 of 6. DI + AOAI: 6 of 6 with no prompt change. The label vocabulary grew from 69 to 225 phrases (counted in extraction_general.py and extraction_improved.py). On the vet invoice (receipt 9) the original rules found receipt number 369303; after the changes they return 380048. Whether AOAI needs less maintenance on new layouts has not been tested yet.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9 (vet invoice). The improved rules now take the payment table's 'Receipt #' (380048) instead of the invoice number. Both OCR engines read 'FPatient:' (a stray mark merged into the label), so no rule matched the patient label; AOAI still found the name. AOAI chose the sub total (1361.50) instead of the total (1361.00). Across all 9 receipts AOAI got 6 of 51 fields wrong. Values: detail.csv, checked against the extraction JSON.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and time from summary.csv. The improved rules were tuned on these 9 receipts; the AOAI prompt was not changed. Lower maintenance for AOAI is the key implication of this benchmark, not a result proven in production. Running cost: DI page plus about 602 input / 263 output gpt-5-mini tokens per receipt; prices are not yet confirmed.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finding: PaddleOCR Light reached 88.2% (and Azure DI 86.3%) only after the rules were rewritten for these receipts; Azure DI + AOAI reached 88.2% with no change to its prompt. The benchmark is small (9 receipts) and the improved rules were tuned on it, so this is not a production decision.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6035040" cy="822960"/>
          </a:xfrm>
        </p:spPr>
        <p:txBody>
          <a:bodyPr/>
          <a:lstStyle/>
          <a:p>
            <a:r>
              <a:rPr>
                <a:latin typeface="Arial"/>
                <a:ea typeface="Microsoft JhengHei"/>
              </a:rPr>
              <a:t>Can Azure OpenAI replace hand-written extraction rules?</a:t>
            </a:r>
          </a:p>
          <a:p>
            <a:r>
              <a:rPr>
                <a:latin typeface="Arial"/>
                <a:ea typeface="Microsoft JhengHei"/>
              </a:rPr>
              <a:t>9 receipts · 6 fields · 4 approaches</a:t>
            </a:r>
          </a:p>
        </p:txBody>
      </p:sp>
      <p:sp>
        <p:nvSpPr>
          <p:cNvPr id="3" name="Text Placeholder 2"/>
          <p:cNvSpPr>
            <a:spLocks noGrp="1"/>
          </p:cNvSpPr>
          <p:nvPr>
            <p:ph type="body" idx="10" sz="quarter"/>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Tested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9 receipts with different layouts and languages. Each approach reads the text, then finds 6 fields.</a:t>
            </a:r>
          </a:p>
        </p:txBody>
      </p:sp>
      <p:pic>
        <p:nvPicPr>
          <p:cNvPr id="12" name="Picture 11" descr="thumb_receipt1.jpg"/>
          <p:cNvPicPr>
            <a:picLocks noChangeAspect="1"/>
          </p:cNvPicPr>
          <p:nvPr/>
        </p:nvPicPr>
        <p:blipFill>
          <a:blip r:embed="rId3"/>
          <a:stretch>
            <a:fillRect/>
          </a:stretch>
        </p:blipFill>
        <p:spPr>
          <a:xfrm>
            <a:off x="356616" y="1783080"/>
            <a:ext cx="1920240" cy="2560320"/>
          </a:xfrm>
          <a:prstGeom prst="rect">
            <a:avLst/>
          </a:prstGeom>
          <a:ln w="9525">
            <a:solidFill>
              <a:srgbClr val="BFBFBF"/>
            </a:solidFill>
          </a:ln>
        </p:spPr>
      </p:pic>
      <p:sp>
        <p:nvSpPr>
          <p:cNvPr id="13" name="TextBox 12"/>
          <p:cNvSpPr txBox="1"/>
          <p:nvPr/>
        </p:nvSpPr>
        <p:spPr>
          <a:xfrm>
            <a:off x="3566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English</a:t>
            </a:r>
          </a:p>
        </p:txBody>
      </p:sp>
      <p:pic>
        <p:nvPicPr>
          <p:cNvPr id="14" name="Picture 13" descr="thumb_receipt3.jpg"/>
          <p:cNvPicPr>
            <a:picLocks noChangeAspect="1"/>
          </p:cNvPicPr>
          <p:nvPr/>
        </p:nvPicPr>
        <p:blipFill>
          <a:blip r:embed="rId4"/>
          <a:stretch>
            <a:fillRect/>
          </a:stretch>
        </p:blipFill>
        <p:spPr>
          <a:xfrm>
            <a:off x="2414016" y="1783080"/>
            <a:ext cx="1920240" cy="2560320"/>
          </a:xfrm>
          <a:prstGeom prst="rect">
            <a:avLst/>
          </a:prstGeom>
          <a:ln w="9525">
            <a:solidFill>
              <a:srgbClr val="BFBFBF"/>
            </a:solidFill>
          </a:ln>
        </p:spPr>
      </p:pic>
      <p:sp>
        <p:nvSpPr>
          <p:cNvPr id="15" name="TextBox 14"/>
          <p:cNvSpPr txBox="1"/>
          <p:nvPr/>
        </p:nvSpPr>
        <p:spPr>
          <a:xfrm>
            <a:off x="24140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Bilingual</a:t>
            </a:r>
          </a:p>
        </p:txBody>
      </p:sp>
      <p:pic>
        <p:nvPicPr>
          <p:cNvPr id="16" name="Picture 15" descr="thumb_receipt4.jpg"/>
          <p:cNvPicPr>
            <a:picLocks noChangeAspect="1"/>
          </p:cNvPicPr>
          <p:nvPr/>
        </p:nvPicPr>
        <p:blipFill>
          <a:blip r:embed="rId5"/>
          <a:stretch>
            <a:fillRect/>
          </a:stretch>
        </p:blipFill>
        <p:spPr>
          <a:xfrm>
            <a:off x="4471416" y="1783080"/>
            <a:ext cx="1920240" cy="2560320"/>
          </a:xfrm>
          <a:prstGeom prst="rect">
            <a:avLst/>
          </a:prstGeom>
          <a:ln w="9525">
            <a:solidFill>
              <a:srgbClr val="BFBFBF"/>
            </a:solidFill>
          </a:ln>
        </p:spPr>
      </p:pic>
      <p:sp>
        <p:nvSpPr>
          <p:cNvPr id="17" name="TextBox 16"/>
          <p:cNvSpPr txBox="1"/>
          <p:nvPr/>
        </p:nvSpPr>
        <p:spPr>
          <a:xfrm>
            <a:off x="44714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a:t>
            </a:r>
          </a:p>
        </p:txBody>
      </p:sp>
      <p:graphicFrame>
        <p:nvGraphicFramePr>
          <p:cNvPr id="18" name="Table 17"/>
          <p:cNvGraphicFramePr>
            <a:graphicFrameLocks noGrp="1"/>
          </p:cNvGraphicFramePr>
          <p:nvPr/>
        </p:nvGraphicFramePr>
        <p:xfrm>
          <a:off x="6629400" y="1783080"/>
          <a:ext cx="5202936" cy="3054096"/>
        </p:xfrm>
        <a:graphic>
          <a:graphicData uri="http://schemas.openxmlformats.org/drawingml/2006/table">
            <a:tbl>
              <a:tblPr firstRow="0" bandRow="0">
                <a:tableStyleId>{2D5ABB26-0587-4C30-8999-92F81FD0307C}</a:tableStyleId>
              </a:tblPr>
              <a:tblGrid>
                <a:gridCol w="1965960"/>
                <a:gridCol w="1691640"/>
                <a:gridCol w="1545336"/>
              </a:tblGrid>
              <a:tr h="566928">
                <a:tc>
                  <a:txBody>
                    <a:bodyPr wrap="square"/>
                    <a:lstStyle/>
                    <a:p>
                      <a:pPr algn="l"/>
                      <a:r>
                        <a:rPr sz="13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1. Read text</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2. Find fields</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PaddleOCR Heavy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OpenAI</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9" name="TextBox 18"/>
          <p:cNvSpPr txBox="1"/>
          <p:nvPr/>
        </p:nvSpPr>
        <p:spPr>
          <a:xfrm>
            <a:off x="6629400" y="4983480"/>
            <a:ext cx="5202936" cy="731520"/>
          </a:xfrm>
          <a:prstGeom prst="rect">
            <a:avLst/>
          </a:prstGeom>
          <a:noFill/>
        </p:spPr>
        <p:txBody>
          <a:bodyPr wrap="square" lIns="0" rIns="0" tIns="0" bIns="0" anchor="t"/>
          <a:lstStyle/>
          <a:p>
            <a:pPr marL="0" indent="0" algn="l">
              <a:spcAft>
                <a:spcPts val="0"/>
              </a:spcAft>
              <a:buNone/>
            </a:pPr>
            <a:r>
              <a:rPr sz="1300" b="0" i="0">
                <a:solidFill>
                  <a:srgbClr val="5F6770"/>
                </a:solidFill>
                <a:latin typeface="Arial"/>
                <a:ea typeface="Microsoft JhengHei"/>
              </a:rPr>
              <a:t>Fields: doctor, registration no., patient, receipt no., service date, total. 51 fields scored.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Results: Same Accuracy, Different Effort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reached 88.2% only after manual tuning. DI + AOAI reached 88.2% with its prompt unchanged.</a:t>
            </a:r>
          </a:p>
        </p:txBody>
      </p:sp>
      <p:graphicFrame>
        <p:nvGraphicFramePr>
          <p:cNvPr id="12" name="Table 11"/>
          <p:cNvGraphicFramePr>
            <a:graphicFrameLocks noGrp="1"/>
          </p:cNvGraphicFramePr>
          <p:nvPr/>
        </p:nvGraphicFramePr>
        <p:xfrm>
          <a:off x="356616" y="1783080"/>
          <a:ext cx="11475720" cy="3657600"/>
        </p:xfrm>
        <a:graphic>
          <a:graphicData uri="http://schemas.openxmlformats.org/drawingml/2006/table">
            <a:tbl>
              <a:tblPr firstRow="0" bandRow="0">
                <a:tableStyleId>{2D5ABB26-0587-4C30-8999-92F81FD0307C}</a:tableStyleId>
              </a:tblPr>
              <a:tblGrid>
                <a:gridCol w="3291840"/>
                <a:gridCol w="2606040"/>
                <a:gridCol w="2971800"/>
                <a:gridCol w="2606040"/>
              </a:tblGrid>
              <a:tr h="658368">
                <a:tc>
                  <a:txBody>
                    <a:bodyPr wrap="square"/>
                    <a:lstStyle/>
                    <a:p>
                      <a:pPr algn="l"/>
                      <a:r>
                        <a:rPr sz="16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Time per receipt</a:t>
                      </a:r>
                    </a:p>
                  </a:txBody>
                  <a:tcPr marL="91440" marR="91440" marT="45720" marB="45720" anchor="ctr">
                    <a:lnL w="0">
                      <a:noFill/>
                    </a:lnL>
                    <a:lnR w="0">
                      <a:noFill/>
                    </a:lnR>
                    <a:lnT w="0">
                      <a:noFill/>
                    </a:lnT>
                    <a:lnB w="0">
                      <a:noFill/>
                    </a:lnB>
                    <a:solidFill>
                      <a:srgbClr val="333D47"/>
                    </a:solidFill>
                  </a:tcPr>
                </a:tc>
              </a:tr>
              <a:tr h="749808">
                <a:tc>
                  <a:txBody>
                    <a:bodyPr wrap="square"/>
                    <a:lstStyle/>
                    <a:p>
                      <a:pPr algn="l"/>
                      <a:r>
                        <a:rPr sz="18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37.3%</a:t>
                      </a:r>
                      <a:r>
                        <a:rPr sz="1300" b="0" i="0">
                          <a:solidFill>
                            <a:srgbClr val="5F6770"/>
                          </a:solidFill>
                          <a:latin typeface="Arial"/>
                          <a:ea typeface="Microsoft JhengHei"/>
                        </a:rPr>
                        <a:t>  (19/51)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13.9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PaddleOCR Heavy</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29.4%</a:t>
                      </a:r>
                      <a:r>
                        <a:rPr sz="1300" b="0" i="0">
                          <a:solidFill>
                            <a:srgbClr val="5F6770"/>
                          </a:solidFill>
                          <a:latin typeface="Arial"/>
                          <a:ea typeface="Microsoft JhengHei"/>
                        </a:rPr>
                        <a:t>  (15/51)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64.7%</a:t>
                      </a:r>
                      <a:r>
                        <a:rPr sz="1300" b="0" i="0">
                          <a:solidFill>
                            <a:srgbClr val="5F6770"/>
                          </a:solidFill>
                          <a:latin typeface="Arial"/>
                          <a:ea typeface="Microsoft JhengHei"/>
                        </a:rPr>
                        <a:t>  (33/51)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53.3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41.2%</a:t>
                      </a:r>
                      <a:r>
                        <a:rPr sz="1300" b="0" i="0">
                          <a:solidFill>
                            <a:srgbClr val="5F6770"/>
                          </a:solidFill>
                          <a:latin typeface="Arial"/>
                          <a:ea typeface="Microsoft JhengHei"/>
                        </a:rPr>
                        <a:t>  (21/51)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D31145"/>
                          </a:solidFill>
                          <a:latin typeface="Arial"/>
                          <a:ea typeface="Microsoft JhengHei"/>
                        </a:rPr>
                        <a:t>86.3%</a:t>
                      </a:r>
                      <a:r>
                        <a:rPr sz="1300" b="0" i="0">
                          <a:solidFill>
                            <a:srgbClr val="5F6770"/>
                          </a:solidFill>
                          <a:latin typeface="Arial"/>
                          <a:ea typeface="Microsoft JhengHei"/>
                        </a:rPr>
                        <a:t>  (44/51)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3.8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300" b="0" i="0">
                          <a:solidFill>
                            <a:srgbClr val="5F6770"/>
                          </a:solidFill>
                          <a:latin typeface="Arial"/>
                          <a:ea typeface="Microsoft JhengHei"/>
                        </a:rPr>
                        <a:t>No rules (prompt unchanged)</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13" name="TextBox 12"/>
          <p:cNvSpPr txBox="1"/>
          <p:nvPr/>
        </p:nvSpPr>
        <p:spPr>
          <a:xfrm>
            <a:off x="356616" y="54406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 Tuned using these 9 receipts, so not a measure of accuracy on new receipts. Accuracy = correct fields out of 51. All approaches processed all 9 receipts.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AOAI Replaces the Manual Rule Layer</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pipelines read the text the same way. Only the step that finds the fields changes.</a:t>
            </a:r>
          </a:p>
        </p:txBody>
      </p:sp>
      <p:sp>
        <p:nvSpPr>
          <p:cNvPr id="12" name="TextBox 11"/>
          <p:cNvSpPr txBox="1"/>
          <p:nvPr/>
        </p:nvSpPr>
        <p:spPr>
          <a:xfrm>
            <a:off x="356616" y="1828800"/>
            <a:ext cx="2514600" cy="1097280"/>
          </a:xfrm>
          <a:prstGeom prst="rect">
            <a:avLst/>
          </a:prstGeom>
          <a:noFill/>
        </p:spPr>
        <p:txBody>
          <a:bodyPr wrap="square" lIns="0" rIns="0" tIns="0" bIns="0" anchor="ctr"/>
          <a:lstStyle/>
          <a:p>
            <a:pPr marL="0" indent="0" algn="l">
              <a:spcAft>
                <a:spcPts val="200"/>
              </a:spcAft>
              <a:buNone/>
            </a:pPr>
            <a:r>
              <a:rPr sz="1800" b="1" i="0">
                <a:solidFill>
                  <a:srgbClr val="333D47"/>
                </a:solidFill>
                <a:latin typeface="Arial"/>
                <a:ea typeface="Microsoft JhengHei"/>
              </a:rPr>
              <a:t>Rule-based</a:t>
            </a:r>
          </a:p>
          <a:p>
            <a:pPr marL="0" indent="0" algn="l">
              <a:spcAft>
                <a:spcPts val="600"/>
              </a:spcAft>
              <a:buNone/>
            </a:pPr>
            <a:r>
              <a:rPr sz="1300" b="0" i="0">
                <a:solidFill>
                  <a:srgbClr val="5F6770"/>
                </a:solidFill>
                <a:latin typeface="Arial"/>
                <a:ea typeface="Microsoft JhengHei"/>
              </a:rPr>
              <a:t>PaddleOCR Light + improved rules</a:t>
            </a:r>
          </a:p>
          <a:p>
            <a:pPr marL="0" indent="0" algn="l">
              <a:spcAft>
                <a:spcPts val="0"/>
              </a:spcAft>
              <a:buNone/>
            </a:pPr>
            <a:r>
              <a:rPr sz="1500" b="1" i="0">
                <a:solidFill>
                  <a:srgbClr val="D31145"/>
                </a:solidFill>
                <a:latin typeface="Arial"/>
                <a:ea typeface="Microsoft JhengHei"/>
              </a:rPr>
              <a:t>88.2% after tuning</a:t>
            </a:r>
          </a:p>
        </p:txBody>
      </p:sp>
      <p:sp>
        <p:nvSpPr>
          <p:cNvPr id="13" name="Rectangle 12"/>
          <p:cNvSpPr/>
          <p:nvPr/>
        </p:nvSpPr>
        <p:spPr>
          <a:xfrm>
            <a:off x="3017520" y="182880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PaddleOCR Light</a:t>
            </a:r>
          </a:p>
        </p:txBody>
      </p:sp>
      <p:sp>
        <p:nvSpPr>
          <p:cNvPr id="14" name="Rectangle 13"/>
          <p:cNvSpPr/>
          <p:nvPr/>
        </p:nvSpPr>
        <p:spPr>
          <a:xfrm>
            <a:off x="6126479" y="1828800"/>
            <a:ext cx="2560320" cy="109728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400"/>
              </a:spcAft>
              <a:buNone/>
            </a:pPr>
            <a:r>
              <a:rPr sz="1600" b="1" i="0">
                <a:solidFill>
                  <a:srgbClr val="D31145"/>
                </a:solidFill>
                <a:latin typeface="Arial"/>
                <a:ea typeface="Microsoft JhengHei"/>
              </a:rPr>
              <a:t>Extraction rules</a:t>
            </a:r>
          </a:p>
          <a:p>
            <a:pPr marL="0" indent="0" algn="l">
              <a:spcAft>
                <a:spcPts val="0"/>
              </a:spcAft>
              <a:buNone/>
            </a:pPr>
            <a:r>
              <a:rPr sz="1250" b="0" i="0">
                <a:solidFill>
                  <a:srgbClr val="333D47"/>
                </a:solidFill>
                <a:latin typeface="Arial"/>
                <a:ea typeface="Microsoft JhengHei"/>
              </a:rPr>
              <a:t>written and updated by hand (69 → 225 label phrases)</a:t>
            </a:r>
          </a:p>
        </p:txBody>
      </p:sp>
      <p:sp>
        <p:nvSpPr>
          <p:cNvPr id="15" name="Right Arrow 14"/>
          <p:cNvSpPr/>
          <p:nvPr/>
        </p:nvSpPr>
        <p:spPr>
          <a:xfrm>
            <a:off x="5705855" y="2240280"/>
            <a:ext cx="292607" cy="274320"/>
          </a:xfrm>
          <a:prstGeom prst="rightArrow">
            <a:avLst/>
          </a:prstGeom>
          <a:solidFill>
            <a:srgbClr val="5F6770"/>
          </a:solidFill>
          <a:ln>
            <a:noFill/>
          </a:ln>
        </p:spPr>
        <p:txBody>
          <a:bodyPr rtlCol="0" anchor="ctr"/>
          <a:lstStyle/>
          <a:p>
            <a:pPr algn="ctr"/>
          </a:p>
        </p:txBody>
      </p:sp>
      <p:sp>
        <p:nvSpPr>
          <p:cNvPr id="16" name="Rectangle 15"/>
          <p:cNvSpPr/>
          <p:nvPr/>
        </p:nvSpPr>
        <p:spPr>
          <a:xfrm>
            <a:off x="9235440" y="182880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17" name="Right Arrow 16"/>
          <p:cNvSpPr/>
          <p:nvPr/>
        </p:nvSpPr>
        <p:spPr>
          <a:xfrm>
            <a:off x="8814816" y="2240280"/>
            <a:ext cx="292607" cy="274320"/>
          </a:xfrm>
          <a:prstGeom prst="rightArrow">
            <a:avLst/>
          </a:prstGeom>
          <a:solidFill>
            <a:srgbClr val="5F6770"/>
          </a:solidFill>
          <a:ln>
            <a:noFill/>
          </a:ln>
        </p:spPr>
        <p:txBody>
          <a:bodyPr rtlCol="0" anchor="ctr"/>
          <a:lstStyle/>
          <a:p>
            <a:pPr algn="ctr"/>
          </a:p>
        </p:txBody>
      </p:sp>
      <p:sp>
        <p:nvSpPr>
          <p:cNvPr id="18" name="TextBox 17"/>
          <p:cNvSpPr txBox="1"/>
          <p:nvPr/>
        </p:nvSpPr>
        <p:spPr>
          <a:xfrm>
            <a:off x="356616" y="3611880"/>
            <a:ext cx="2514600" cy="1097280"/>
          </a:xfrm>
          <a:prstGeom prst="rect">
            <a:avLst/>
          </a:prstGeom>
          <a:noFill/>
        </p:spPr>
        <p:txBody>
          <a:bodyPr wrap="square" lIns="0" rIns="0" tIns="0" bIns="0" anchor="ctr"/>
          <a:lstStyle/>
          <a:p>
            <a:pPr marL="0" indent="0" algn="l">
              <a:spcAft>
                <a:spcPts val="200"/>
              </a:spcAft>
              <a:buNone/>
            </a:pPr>
            <a:r>
              <a:rPr sz="1800" b="1" i="0">
                <a:solidFill>
                  <a:srgbClr val="333D47"/>
                </a:solidFill>
                <a:latin typeface="Arial"/>
                <a:ea typeface="Microsoft JhengHei"/>
              </a:rPr>
              <a:t>AI extraction</a:t>
            </a:r>
          </a:p>
          <a:p>
            <a:pPr marL="0" indent="0" algn="l">
              <a:spcAft>
                <a:spcPts val="600"/>
              </a:spcAft>
              <a:buNone/>
            </a:pPr>
            <a:r>
              <a:rPr sz="1300" b="0" i="0">
                <a:solidFill>
                  <a:srgbClr val="5F6770"/>
                </a:solidFill>
                <a:latin typeface="Arial"/>
                <a:ea typeface="Microsoft JhengHei"/>
              </a:rPr>
              <a:t>Azure DI + AOAI</a:t>
            </a:r>
          </a:p>
          <a:p>
            <a:pPr marL="0" indent="0" algn="l">
              <a:spcAft>
                <a:spcPts val="0"/>
              </a:spcAft>
              <a:buNone/>
            </a:pPr>
            <a:r>
              <a:rPr sz="1500" b="1" i="0">
                <a:solidFill>
                  <a:srgbClr val="D31145"/>
                </a:solidFill>
                <a:latin typeface="Arial"/>
                <a:ea typeface="Microsoft JhengHei"/>
              </a:rPr>
              <a:t>88.2%, prompt unchanged</a:t>
            </a:r>
          </a:p>
        </p:txBody>
      </p:sp>
      <p:sp>
        <p:nvSpPr>
          <p:cNvPr id="19" name="Rectangle 18"/>
          <p:cNvSpPr/>
          <p:nvPr/>
        </p:nvSpPr>
        <p:spPr>
          <a:xfrm>
            <a:off x="3017520" y="361188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Azure DI</a:t>
            </a:r>
          </a:p>
        </p:txBody>
      </p:sp>
      <p:sp>
        <p:nvSpPr>
          <p:cNvPr id="20" name="Rectangle 19"/>
          <p:cNvSpPr/>
          <p:nvPr/>
        </p:nvSpPr>
        <p:spPr>
          <a:xfrm>
            <a:off x="6126479" y="3611880"/>
            <a:ext cx="2560320" cy="109728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400"/>
              </a:spcAft>
              <a:buNone/>
            </a:pPr>
            <a:r>
              <a:rPr sz="1600" b="1" i="0">
                <a:solidFill>
                  <a:srgbClr val="D31145"/>
                </a:solidFill>
                <a:latin typeface="Arial"/>
                <a:ea typeface="Microsoft JhengHei"/>
              </a:rPr>
              <a:t>Azure OpenAI</a:t>
            </a:r>
          </a:p>
          <a:p>
            <a:pPr marL="0" indent="0" algn="l">
              <a:spcAft>
                <a:spcPts val="0"/>
              </a:spcAft>
              <a:buNone/>
            </a:pPr>
            <a:r>
              <a:rPr sz="1250" b="0" i="0">
                <a:solidFill>
                  <a:srgbClr val="333D47"/>
                </a:solidFill>
                <a:latin typeface="Arial"/>
                <a:ea typeface="Microsoft JhengHei"/>
              </a:rPr>
              <a:t>one fixed prompt, not changed for these receipts</a:t>
            </a:r>
          </a:p>
        </p:txBody>
      </p:sp>
      <p:sp>
        <p:nvSpPr>
          <p:cNvPr id="21" name="Right Arrow 20"/>
          <p:cNvSpPr/>
          <p:nvPr/>
        </p:nvSpPr>
        <p:spPr>
          <a:xfrm>
            <a:off x="5705855" y="4023359"/>
            <a:ext cx="292607" cy="274320"/>
          </a:xfrm>
          <a:prstGeom prst="rightArrow">
            <a:avLst/>
          </a:prstGeom>
          <a:solidFill>
            <a:srgbClr val="5F6770"/>
          </a:solidFill>
          <a:ln>
            <a:noFill/>
          </a:ln>
        </p:spPr>
        <p:txBody>
          <a:bodyPr rtlCol="0" anchor="ctr"/>
          <a:lstStyle/>
          <a:p>
            <a:pPr algn="ctr"/>
          </a:p>
        </p:txBody>
      </p:sp>
      <p:sp>
        <p:nvSpPr>
          <p:cNvPr id="22" name="Rectangle 21"/>
          <p:cNvSpPr/>
          <p:nvPr/>
        </p:nvSpPr>
        <p:spPr>
          <a:xfrm>
            <a:off x="9235440" y="361188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23" name="Right Arrow 22"/>
          <p:cNvSpPr/>
          <p:nvPr/>
        </p:nvSpPr>
        <p:spPr>
          <a:xfrm>
            <a:off x="8814816" y="4023359"/>
            <a:ext cx="292607" cy="274320"/>
          </a:xfrm>
          <a:prstGeom prst="rightArrow">
            <a:avLst/>
          </a:prstGeom>
          <a:solidFill>
            <a:srgbClr val="5F6770"/>
          </a:solidFill>
          <a:ln>
            <a:noFill/>
          </a:ln>
        </p:spPr>
        <p:txBody>
          <a:bodyPr rtlCol="0" anchor="ctr"/>
          <a:lstStyle/>
          <a:p>
            <a:pPr algn="ctr"/>
          </a:p>
        </p:txBody>
      </p:sp>
      <p:sp>
        <p:nvSpPr>
          <p:cNvPr id="24" name="Down Arrow 23"/>
          <p:cNvSpPr/>
          <p:nvPr/>
        </p:nvSpPr>
        <p:spPr>
          <a:xfrm>
            <a:off x="7223759" y="3017520"/>
            <a:ext cx="365760" cy="502920"/>
          </a:xfrm>
          <a:prstGeom prst="downArrow">
            <a:avLst/>
          </a:prstGeom>
          <a:solidFill>
            <a:srgbClr val="D31145"/>
          </a:solidFill>
          <a:ln>
            <a:noFill/>
          </a:ln>
        </p:spPr>
        <p:txBody>
          <a:bodyPr rtlCol="0" anchor="ctr"/>
          <a:lstStyle/>
          <a:p>
            <a:pPr algn="ctr"/>
          </a:p>
        </p:txBody>
      </p:sp>
      <p:sp>
        <p:nvSpPr>
          <p:cNvPr id="25" name="TextBox 24"/>
          <p:cNvSpPr txBox="1"/>
          <p:nvPr/>
        </p:nvSpPr>
        <p:spPr>
          <a:xfrm>
            <a:off x="7726679" y="3081528"/>
            <a:ext cx="2377440" cy="365760"/>
          </a:xfrm>
          <a:prstGeom prst="rect">
            <a:avLst/>
          </a:prstGeom>
          <a:noFill/>
        </p:spPr>
        <p:txBody>
          <a:bodyPr wrap="square" lIns="0" rIns="0" tIns="0" bIns="0" anchor="t"/>
          <a:lstStyle/>
          <a:p>
            <a:pPr marL="0" indent="0" algn="l">
              <a:spcAft>
                <a:spcPts val="0"/>
              </a:spcAft>
              <a:buNone/>
            </a:pPr>
            <a:r>
              <a:rPr sz="1400" b="0" i="1">
                <a:solidFill>
                  <a:srgbClr val="D31145"/>
                </a:solidFill>
                <a:latin typeface="Arial"/>
                <a:ea typeface="Microsoft JhengHei"/>
              </a:rPr>
              <a:t>replaced by</a:t>
            </a:r>
          </a:p>
        </p:txBody>
      </p:sp>
      <p:sp>
        <p:nvSpPr>
          <p:cNvPr id="26" name="Rectangle 25"/>
          <p:cNvSpPr/>
          <p:nvPr/>
        </p:nvSpPr>
        <p:spPr>
          <a:xfrm>
            <a:off x="356616" y="4983480"/>
            <a:ext cx="11475720" cy="685800"/>
          </a:xfrm>
          <a:prstGeom prst="rect">
            <a:avLst/>
          </a:prstGeom>
          <a:solidFill>
            <a:srgbClr val="F2F2F2"/>
          </a:solidFill>
          <a:ln>
            <a:noFill/>
          </a:ln>
        </p:spPr>
        <p:txBody>
          <a:bodyPr rtlCol="0" anchor="ctr" wrap="square" lIns="228600" rIns="228600" tIns="109728" bIns="109728"/>
          <a:lstStyle/>
          <a:p>
            <a:pPr algn="l" marL="0" indent="0">
              <a:spcAft>
                <a:spcPts val="0"/>
              </a:spcAft>
              <a:buNone/>
            </a:pPr>
            <a:r>
              <a:rPr sz="1600" b="1" i="0">
                <a:solidFill>
                  <a:srgbClr val="333D47"/>
                </a:solidFill>
                <a:latin typeface="Arial"/>
                <a:ea typeface="Microsoft JhengHei"/>
              </a:rPr>
              <a:t>AOAI replaces the manual rule layer. </a:t>
            </a:r>
            <a:r>
              <a:rPr sz="1500" b="0" i="0">
                <a:solidFill>
                  <a:srgbClr val="333D47"/>
                </a:solidFill>
                <a:latin typeface="Arial"/>
                <a:ea typeface="Microsoft JhengHei"/>
              </a:rPr>
              <a:t>It still makes mistakes (6 of 51 fields wrong) and has not yet been tested on a large set of unseen receipts.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1: The OCR Was Right, the Rules Were Wrong</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OCR engines read the names. The original rules took the label 病人 as the patient's name.</a:t>
            </a:r>
          </a:p>
        </p:txBody>
      </p:sp>
      <p:pic>
        <p:nvPicPr>
          <p:cNvPr id="12" name="Picture 11" descr="crop_receipt8.jpg"/>
          <p:cNvPicPr>
            <a:picLocks noChangeAspect="1"/>
          </p:cNvPicPr>
          <p:nvPr/>
        </p:nvPicPr>
        <p:blipFill>
          <a:blip r:embed="rId3"/>
          <a:stretch>
            <a:fillRect/>
          </a:stretch>
        </p:blipFill>
        <p:spPr>
          <a:xfrm>
            <a:off x="356616" y="1783080"/>
            <a:ext cx="5120640" cy="3499846"/>
          </a:xfrm>
          <a:prstGeom prst="rect">
            <a:avLst/>
          </a:prstGeom>
          <a:ln w="9525">
            <a:solidFill>
              <a:srgbClr val="BFBFBF"/>
            </a:solidFill>
          </a:ln>
        </p:spPr>
      </p:pic>
      <p:graphicFrame>
        <p:nvGraphicFramePr>
          <p:cNvPr id="13" name="Table 12"/>
          <p:cNvGraphicFramePr>
            <a:graphicFrameLocks noGrp="1"/>
          </p:cNvGraphicFramePr>
          <p:nvPr/>
        </p:nvGraphicFramePr>
        <p:xfrm>
          <a:off x="5760720" y="1783080"/>
          <a:ext cx="6071616" cy="188366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58368">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病人</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r>
              <a:tr h="658368">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4" name="TextBox 13"/>
          <p:cNvSpPr txBox="1"/>
          <p:nvPr/>
        </p:nvSpPr>
        <p:spPr>
          <a:xfrm>
            <a:off x="5760720" y="3886200"/>
            <a:ext cx="6071616" cy="1463040"/>
          </a:xfrm>
          <a:prstGeom prst="rect">
            <a:avLst/>
          </a:prstGeom>
          <a:noFill/>
        </p:spPr>
        <p:txBody>
          <a:bodyPr wrap="square" lIns="0" rIns="0" tIns="0" bIns="0" anchor="t"/>
          <a:lstStyle/>
          <a:p>
            <a:pPr marL="182880" indent="-182880" algn="l">
              <a:spcAft>
                <a:spcPts val="600"/>
              </a:spcAft>
              <a:buFont typeface="Arial"/>
              <a:buChar char="•"/>
            </a:pPr>
            <a:r>
              <a:rPr sz="1400" b="0" i="0">
                <a:solidFill>
                  <a:srgbClr val="333D47"/>
                </a:solidFill>
                <a:latin typeface="Arial"/>
                <a:ea typeface="Microsoft JhengHei"/>
              </a:rPr>
              <a:t>Original rules: took the Chinese label 病人 ("patient") as the patient's name.</a:t>
            </a:r>
          </a:p>
          <a:p>
            <a:pPr marL="182880" indent="-182880" algn="l">
              <a:spcAft>
                <a:spcPts val="600"/>
              </a:spcAft>
              <a:buFont typeface="Arial"/>
              <a:buChar char="•"/>
            </a:pPr>
            <a:r>
              <a:rPr sz="1400" b="0" i="0">
                <a:solidFill>
                  <a:srgbClr val="333D47"/>
                </a:solidFill>
                <a:latin typeface="Arial"/>
                <a:ea typeface="Microsoft JhengHei"/>
              </a:rPr>
              <a:t>Improved rules: fixed by adding bilingual labels by hand.</a:t>
            </a:r>
          </a:p>
          <a:p>
            <a:pPr marL="182880" indent="-182880" algn="l">
              <a:spcAft>
                <a:spcPts val="0"/>
              </a:spcAft>
              <a:buFont typeface="Arial"/>
              <a:buChar char="•"/>
            </a:pPr>
            <a:r>
              <a:rPr sz="1400" b="0" i="0">
                <a:solidFill>
                  <a:srgbClr val="333D47"/>
                </a:solidFill>
                <a:latin typeface="Arial"/>
                <a:ea typeface="Microsoft JhengHei"/>
              </a:rPr>
              <a:t>AOAI: correct with the same prompt; no change needed.</a:t>
            </a:r>
          </a:p>
        </p:txBody>
      </p:sp>
      <p:sp>
        <p:nvSpPr>
          <p:cNvPr id="15" name="TextBox 14"/>
          <p:cNvSpPr txBox="1"/>
          <p:nvPr/>
        </p:nvSpPr>
        <p:spPr>
          <a:xfrm>
            <a:off x="356616" y="56235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Bilingual medical centre receipt. Rules shown on PaddleOCR Light text; Azure DI with the original rules made the same patient error.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2: Reaching 88.2% With Rules Took Manual Work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Each new language or label wording had to be added by hand, and one change broke another receipt.</a:t>
            </a:r>
          </a:p>
        </p:txBody>
      </p:sp>
      <p:pic>
        <p:nvPicPr>
          <p:cNvPr id="12" name="Picture 11" descr="crop_receipt4.jpg"/>
          <p:cNvPicPr>
            <a:picLocks noChangeAspect="1"/>
          </p:cNvPicPr>
          <p:nvPr/>
        </p:nvPicPr>
        <p:blipFill>
          <a:blip r:embed="rId3"/>
          <a:stretch>
            <a:fillRect/>
          </a:stretch>
        </p:blipFill>
        <p:spPr>
          <a:xfrm>
            <a:off x="356616" y="1783080"/>
            <a:ext cx="4206240" cy="2392748"/>
          </a:xfrm>
          <a:prstGeom prst="rect">
            <a:avLst/>
          </a:prstGeom>
          <a:ln w="9525">
            <a:solidFill>
              <a:srgbClr val="BFBFBF"/>
            </a:solidFill>
          </a:ln>
        </p:spPr>
      </p:pic>
      <p:sp>
        <p:nvSpPr>
          <p:cNvPr id="13" name="TextBox 12"/>
          <p:cNvSpPr txBox="1"/>
          <p:nvPr/>
        </p:nvSpPr>
        <p:spPr>
          <a:xfrm>
            <a:off x="356616" y="4389120"/>
            <a:ext cx="4206240" cy="68580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 medicine receipt: original rules 0/6 fields, improved rules 6/6, DI + AOAI 6/6 (prompt unchanged).</a:t>
            </a:r>
          </a:p>
        </p:txBody>
      </p:sp>
      <p:sp>
        <p:nvSpPr>
          <p:cNvPr id="14" name="Rectangle 13"/>
          <p:cNvSpPr/>
          <p:nvPr/>
        </p:nvSpPr>
        <p:spPr>
          <a:xfrm>
            <a:off x="484632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69 → 225</a:t>
            </a:r>
          </a:p>
          <a:p>
            <a:pPr marL="0" indent="0" algn="l">
              <a:spcAft>
                <a:spcPts val="0"/>
              </a:spcAft>
              <a:buNone/>
            </a:pPr>
            <a:r>
              <a:rPr sz="1300" b="0" i="0">
                <a:solidFill>
                  <a:srgbClr val="333D47"/>
                </a:solidFill>
                <a:latin typeface="Arial"/>
                <a:ea typeface="Microsoft JhengHei"/>
              </a:rPr>
              <a:t>label phrases in the rules, added by hand after reviewing the errors</a:t>
            </a:r>
          </a:p>
        </p:txBody>
      </p:sp>
      <p:sp>
        <p:nvSpPr>
          <p:cNvPr id="15" name="Rectangle 14"/>
          <p:cNvSpPr/>
          <p:nvPr/>
        </p:nvSpPr>
        <p:spPr>
          <a:xfrm>
            <a:off x="722376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369303 → 380048</a:t>
            </a:r>
          </a:p>
          <a:p>
            <a:pPr marL="0" indent="0" algn="l">
              <a:spcAft>
                <a:spcPts val="0"/>
              </a:spcAft>
              <a:buNone/>
            </a:pPr>
            <a:r>
              <a:rPr sz="1300" b="0" i="0">
                <a:solidFill>
                  <a:srgbClr val="333D47"/>
                </a:solidFill>
                <a:latin typeface="Arial"/>
                <a:ea typeface="Microsoft JhengHei"/>
              </a:rPr>
              <a:t>vet invoice receipt number: correct before the changes, wrong after (a regression)</a:t>
            </a:r>
          </a:p>
        </p:txBody>
      </p:sp>
      <p:sp>
        <p:nvSpPr>
          <p:cNvPr id="16" name="Rectangle 15"/>
          <p:cNvSpPr/>
          <p:nvPr/>
        </p:nvSpPr>
        <p:spPr>
          <a:xfrm>
            <a:off x="960120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New layouts</a:t>
            </a:r>
          </a:p>
          <a:p>
            <a:pPr marL="0" indent="0" algn="l">
              <a:spcAft>
                <a:spcPts val="0"/>
              </a:spcAft>
              <a:buNone/>
            </a:pPr>
            <a:r>
              <a:rPr sz="1300" b="0" i="0">
                <a:solidFill>
                  <a:srgbClr val="333D47"/>
                </a:solidFill>
                <a:latin typeface="Arial"/>
                <a:ea typeface="Microsoft JhengHei"/>
              </a:rPr>
              <a:t>will likely need more rule changes and a retest of every receipt</a:t>
            </a:r>
          </a:p>
        </p:txBody>
      </p:sp>
      <p:sp>
        <p:nvSpPr>
          <p:cNvPr id="17" name="TextBox 16"/>
          <p:cNvSpPr txBox="1"/>
          <p:nvPr/>
        </p:nvSpPr>
        <p:spPr>
          <a:xfrm>
            <a:off x="4846320" y="4434840"/>
            <a:ext cx="6986016" cy="1005840"/>
          </a:xfrm>
          <a:prstGeom prst="rect">
            <a:avLst/>
          </a:prstGeom>
          <a:noFill/>
        </p:spPr>
        <p:txBody>
          <a:bodyPr wrap="square" lIns="0" rIns="0" tIns="0" bIns="0" anchor="t"/>
          <a:lstStyle/>
          <a:p>
            <a:pPr marL="0" indent="0" algn="l">
              <a:spcAft>
                <a:spcPts val="0"/>
              </a:spcAft>
              <a:buNone/>
            </a:pPr>
            <a:r>
              <a:rPr sz="1400" b="0" i="0">
                <a:solidFill>
                  <a:srgbClr val="333D47"/>
                </a:solidFill>
                <a:latin typeface="Arial"/>
                <a:ea typeface="Microsoft JhengHei"/>
              </a:rPr>
              <a:t>DI + AOAI needed none of these changes for these receipts. Whether that holds for new layouts still needs to be tested.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3: AOAI Still Makes Mistakes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On the vet invoice, the improved rules and AOAI each got a different field wrong.</a:t>
            </a:r>
          </a:p>
        </p:txBody>
      </p:sp>
      <p:pic>
        <p:nvPicPr>
          <p:cNvPr id="12" name="Picture 11" descr="crop_receipt9_top.jpg"/>
          <p:cNvPicPr>
            <a:picLocks noChangeAspect="1"/>
          </p:cNvPicPr>
          <p:nvPr/>
        </p:nvPicPr>
        <p:blipFill>
          <a:blip r:embed="rId3"/>
          <a:stretch>
            <a:fillRect/>
          </a:stretch>
        </p:blipFill>
        <p:spPr>
          <a:xfrm>
            <a:off x="356616" y="1783080"/>
            <a:ext cx="5120640" cy="601605"/>
          </a:xfrm>
          <a:prstGeom prst="rect">
            <a:avLst/>
          </a:prstGeom>
          <a:ln w="9525">
            <a:solidFill>
              <a:srgbClr val="BFBFBF"/>
            </a:solidFill>
          </a:ln>
        </p:spPr>
      </p:pic>
      <p:pic>
        <p:nvPicPr>
          <p:cNvPr id="13" name="Picture 12" descr="crop_receipt9_pay.jpg"/>
          <p:cNvPicPr>
            <a:picLocks noChangeAspect="1"/>
          </p:cNvPicPr>
          <p:nvPr/>
        </p:nvPicPr>
        <p:blipFill>
          <a:blip r:embed="rId4"/>
          <a:stretch>
            <a:fillRect/>
          </a:stretch>
        </p:blipFill>
        <p:spPr>
          <a:xfrm>
            <a:off x="356616" y="2521845"/>
            <a:ext cx="5120640" cy="2243512"/>
          </a:xfrm>
          <a:prstGeom prst="rect">
            <a:avLst/>
          </a:prstGeom>
          <a:ln w="9525">
            <a:solidFill>
              <a:srgbClr val="BFBFBF"/>
            </a:solidFill>
          </a:ln>
        </p:spPr>
      </p:pic>
      <p:graphicFrame>
        <p:nvGraphicFramePr>
          <p:cNvPr id="14" name="Table 13"/>
          <p:cNvGraphicFramePr>
            <a:graphicFrameLocks noGrp="1"/>
          </p:cNvGraphicFramePr>
          <p:nvPr/>
        </p:nvGraphicFramePr>
        <p:xfrm>
          <a:off x="5760720" y="1783080"/>
          <a:ext cx="6071616" cy="243230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380048</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1361</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1361.5</a:t>
                      </a:r>
                    </a:p>
                  </a:txBody>
                  <a:tcPr marL="91440" marR="91440" marT="45720" marB="45720" anchor="ctr">
                    <a:lnL w="0">
                      <a:noFill/>
                    </a:lnL>
                    <a:lnR w="0">
                      <a:noFill/>
                    </a:lnR>
                    <a:lnT w="0">
                      <a:noFill/>
                    </a:lnT>
                    <a:lnB w="19050" cmpd="sng">
                      <a:solidFill>
                        <a:srgbClr val="FFFFFF"/>
                      </a:solidFill>
                    </a:lnB>
                    <a:solidFill>
                      <a:srgbClr val="FBE7EC"/>
                    </a:solidFill>
                  </a:tcPr>
                </a:tc>
              </a:tr>
            </a:tbl>
          </a:graphicData>
        </a:graphic>
      </p:graphicFrame>
      <p:sp>
        <p:nvSpPr>
          <p:cNvPr id="15" name="TextBox 14"/>
          <p:cNvSpPr txBox="1"/>
          <p:nvPr/>
        </p:nvSpPr>
        <p:spPr>
          <a:xfrm>
            <a:off x="5760720" y="4343400"/>
            <a:ext cx="6071616" cy="1097280"/>
          </a:xfrm>
          <a:prstGeom prst="rect">
            <a:avLst/>
          </a:prstGeom>
          <a:noFill/>
        </p:spPr>
        <p:txBody>
          <a:bodyPr wrap="square" lIns="0" rIns="0" tIns="0" bIns="0" anchor="t"/>
          <a:lstStyle/>
          <a:p>
            <a:pPr marL="182880" indent="-182880" algn="l">
              <a:spcAft>
                <a:spcPts val="400"/>
              </a:spcAft>
              <a:buFont typeface="Arial"/>
              <a:buChar char="•"/>
            </a:pPr>
            <a:r>
              <a:rPr sz="1300" b="0" i="0">
                <a:solidFill>
                  <a:srgbClr val="333D47"/>
                </a:solidFill>
                <a:latin typeface="Arial"/>
                <a:ea typeface="Microsoft JhengHei"/>
              </a:rPr>
              <a:t>Improved rules: picked the payment receipt number.</a:t>
            </a:r>
          </a:p>
          <a:p>
            <a:pPr marL="182880" indent="-182880" algn="l">
              <a:spcAft>
                <a:spcPts val="400"/>
              </a:spcAft>
              <a:buFont typeface="Arial"/>
              <a:buChar char="•"/>
            </a:pPr>
            <a:r>
              <a:rPr sz="1300" b="0" i="0">
                <a:solidFill>
                  <a:srgbClr val="333D47"/>
                </a:solidFill>
                <a:latin typeface="Arial"/>
                <a:ea typeface="Microsoft JhengHei"/>
              </a:rPr>
              <a:t>Rules: the OCR read "FPatient:", so the patient label was missed.</a:t>
            </a:r>
          </a:p>
          <a:p>
            <a:pPr marL="182880" indent="-182880" algn="l">
              <a:spcAft>
                <a:spcPts val="0"/>
              </a:spcAft>
              <a:buFont typeface="Arial"/>
              <a:buChar char="•"/>
            </a:pPr>
            <a:r>
              <a:rPr sz="1300" b="0" i="0">
                <a:solidFill>
                  <a:srgbClr val="333D47"/>
                </a:solidFill>
                <a:latin typeface="Arial"/>
                <a:ea typeface="Microsoft JhengHei"/>
              </a:rPr>
              <a:t>AOAI: picked the sub total instead of the total.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It Takes to Reach 88.2%</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Same accuracy. The difference is the manual work to get there, and to keep it there.</a:t>
            </a:r>
          </a:p>
        </p:txBody>
      </p:sp>
      <p:graphicFrame>
        <p:nvGraphicFramePr>
          <p:cNvPr id="12" name="Table 11"/>
          <p:cNvGraphicFramePr>
            <a:graphicFrameLocks noGrp="1"/>
          </p:cNvGraphicFramePr>
          <p:nvPr/>
        </p:nvGraphicFramePr>
        <p:xfrm>
          <a:off x="356616" y="1783080"/>
          <a:ext cx="11475720" cy="3621024"/>
        </p:xfrm>
        <a:graphic>
          <a:graphicData uri="http://schemas.openxmlformats.org/drawingml/2006/table">
            <a:tbl>
              <a:tblPr firstRow="0" bandRow="0">
                <a:tableStyleId>{2D5ABB26-0587-4C30-8999-92F81FD0307C}</a:tableStyleId>
              </a:tblPr>
              <a:tblGrid>
                <a:gridCol w="2743200"/>
                <a:gridCol w="4343400"/>
                <a:gridCol w="4389120"/>
              </a:tblGrid>
              <a:tr h="548640">
                <a:tc>
                  <a:txBody>
                    <a:bodyPr wrap="square"/>
                    <a:lstStyle/>
                    <a:p>
                      <a:pPr algn="l"/>
                      <a:r>
                        <a:rPr sz="15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PaddleOCR Light + 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r>
              <a:tr h="512064">
                <a:tc>
                  <a:txBody>
                    <a:bodyPr wrap="square"/>
                    <a:lstStyle/>
                    <a:p>
                      <a:pPr algn="l"/>
                      <a:r>
                        <a:rPr sz="1400" b="1" i="0">
                          <a:solidFill>
                            <a:srgbClr val="333D47"/>
                          </a:solidFill>
                          <a:latin typeface="Arial"/>
                          <a:ea typeface="Microsoft JhengHei"/>
                        </a:rPr>
                        <a:t>Accuracy (9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1" i="0">
                          <a:solidFill>
                            <a:srgbClr val="D31145"/>
                          </a:solidFill>
                          <a:latin typeface="Arial"/>
                          <a:ea typeface="Microsoft JhengHei"/>
                        </a:rPr>
                        <a:t>88.2% (45/51)</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1" i="0">
                          <a:solidFill>
                            <a:srgbClr val="D31145"/>
                          </a:solidFill>
                          <a:latin typeface="Arial"/>
                          <a:ea typeface="Microsoft JhengHei"/>
                        </a:rPr>
                        <a:t>88.2% (45/51)</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Effort to get there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Rules rewritten by hand after reviewing errors on these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None: prompt unchanged</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Extraction logic</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69 → 225 label phrases to maintain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One fixed prompt</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New receipt layouts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Likely more rule updates and a regression test of every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Possibly no change; not yet tested</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Errors seen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 wrong fields, incl. one regression caused by tuning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 wrong fields, e.g. the vet invoice total</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Time and running 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13.9 s, own compute, no API fee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6.2 s, Azure fees per receipt (to confirm)</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4406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The main question is not API price but who maintains the extraction logic. Lower maintenance for AOAI is implied by this benchmark, not yet proven.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Conclusion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real trade-off: maintain extraction rules ourselves, or let AI replace that layer.</a:t>
            </a:r>
          </a:p>
        </p:txBody>
      </p:sp>
      <p:sp>
        <p:nvSpPr>
          <p:cNvPr id="12" name="Rectangle 11"/>
          <p:cNvSpPr/>
          <p:nvPr/>
        </p:nvSpPr>
        <p:spPr>
          <a:xfrm>
            <a:off x="356616" y="1783080"/>
            <a:ext cx="11475720" cy="1508760"/>
          </a:xfrm>
          <a:prstGeom prst="rect">
            <a:avLst/>
          </a:prstGeom>
          <a:solidFill>
            <a:srgbClr val="F2F2F2"/>
          </a:solidFill>
          <a:ln>
            <a:noFill/>
          </a:ln>
        </p:spPr>
        <p:txBody>
          <a:bodyPr rtlCol="0" anchor="t" wrap="square" lIns="274320" rIns="274320" tIns="109728" bIns="109728"/>
          <a:lstStyle/>
          <a:p>
            <a:pPr algn="l" marL="182880" indent="-182880">
              <a:spcAft>
                <a:spcPts val="600"/>
              </a:spcAft>
              <a:buFont typeface="Arial"/>
              <a:buChar char="•"/>
            </a:pPr>
            <a:r>
              <a:rPr sz="1600" b="0" i="0">
                <a:solidFill>
                  <a:srgbClr val="333D47"/>
                </a:solidFill>
                <a:latin typeface="Arial"/>
                <a:ea typeface="Microsoft JhengHei"/>
              </a:rPr>
              <a:t>PaddleOCR Light + improved rules and Azure DI + AOAI both reached 88.2% on this benchmark.</a:t>
            </a:r>
          </a:p>
          <a:p>
            <a:pPr marL="182880" indent="-182880" algn="l">
              <a:spcAft>
                <a:spcPts val="600"/>
              </a:spcAft>
              <a:buFont typeface="Arial"/>
              <a:buChar char="•"/>
            </a:pPr>
            <a:r>
              <a:rPr sz="1600" b="0" i="0">
                <a:solidFill>
                  <a:srgbClr val="333D47"/>
                </a:solidFill>
                <a:latin typeface="Arial"/>
                <a:ea typeface="Microsoft JhengHei"/>
              </a:rPr>
              <a:t>PaddleOCR Light needed manual rule tuning to get there. Azure DI + AOAI reached the same accuracy without changing its prompt.</a:t>
            </a:r>
          </a:p>
          <a:p>
            <a:pPr marL="182880" indent="-182880" algn="l">
              <a:spcAft>
                <a:spcPts val="0"/>
              </a:spcAft>
              <a:buFont typeface="Arial"/>
              <a:buChar char="•"/>
            </a:pPr>
            <a:r>
              <a:rPr sz="1600" b="1" i="0">
                <a:solidFill>
                  <a:srgbClr val="333D47"/>
                </a:solidFill>
                <a:latin typeface="Arial"/>
                <a:ea typeface="Microsoft JhengHei"/>
              </a:rPr>
              <a:t>So the choice is whether to keep writing and maintaining extraction rules, or to use AI for that layer.</a:t>
            </a:r>
          </a:p>
        </p:txBody>
      </p:sp>
      <p:sp>
        <p:nvSpPr>
          <p:cNvPr id="13" name="Rectangle 12"/>
          <p:cNvSpPr/>
          <p:nvPr/>
        </p:nvSpPr>
        <p:spPr>
          <a:xfrm>
            <a:off x="35661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1. Freeze both</a:t>
            </a:r>
          </a:p>
          <a:p>
            <a:pPr marL="0" indent="0" algn="l">
              <a:spcAft>
                <a:spcPts val="0"/>
              </a:spcAft>
              <a:buNone/>
            </a:pPr>
            <a:r>
              <a:rPr sz="1400" b="0" i="0">
                <a:solidFill>
                  <a:srgbClr val="333D47"/>
                </a:solidFill>
                <a:latin typeface="Arial"/>
                <a:ea typeface="Microsoft JhengHei"/>
              </a:rPr>
              <a:t>Lock the improved rules and the AOAI prompt.</a:t>
            </a:r>
          </a:p>
        </p:txBody>
      </p:sp>
      <p:sp>
        <p:nvSpPr>
          <p:cNvPr id="14" name="Rectangle 13"/>
          <p:cNvSpPr/>
          <p:nvPr/>
        </p:nvSpPr>
        <p:spPr>
          <a:xfrm>
            <a:off x="427329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2. Test on unseen receipts</a:t>
            </a:r>
          </a:p>
          <a:p>
            <a:pPr marL="0" indent="0" algn="l">
              <a:spcAft>
                <a:spcPts val="0"/>
              </a:spcAft>
              <a:buNone/>
            </a:pPr>
            <a:r>
              <a:rPr sz="1400" b="0" i="0">
                <a:solidFill>
                  <a:srgbClr val="333D47"/>
                </a:solidFill>
                <a:latin typeface="Arial"/>
                <a:ea typeface="Microsoft JhengHei"/>
              </a:rPr>
              <a:t>30+ real, anonymised receipts. Measure accuracy and count the rule changes needed.</a:t>
            </a:r>
          </a:p>
        </p:txBody>
      </p:sp>
      <p:sp>
        <p:nvSpPr>
          <p:cNvPr id="15" name="Rectangle 14"/>
          <p:cNvSpPr/>
          <p:nvPr/>
        </p:nvSpPr>
        <p:spPr>
          <a:xfrm>
            <a:off x="818997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3. Then compare cost</a:t>
            </a:r>
          </a:p>
          <a:p>
            <a:pPr marL="0" indent="0" algn="l">
              <a:spcAft>
                <a:spcPts val="0"/>
              </a:spcAft>
              <a:buNone/>
            </a:pPr>
            <a:r>
              <a:rPr sz="1400" b="0" i="0">
                <a:solidFill>
                  <a:srgbClr val="333D47"/>
                </a:solidFill>
                <a:latin typeface="Arial"/>
                <a:ea typeface="Microsoft JhengHei"/>
              </a:rPr>
              <a:t>Compute, Document Intelligence pages and gpt-5-mini tokens.</a:t>
            </a:r>
          </a:p>
        </p:txBody>
      </p:sp>
      <p:sp>
        <p:nvSpPr>
          <p:cNvPr id="16" name="TextBox 15"/>
          <p:cNvSpPr txBox="1"/>
          <p:nvPr/>
        </p:nvSpPr>
        <p:spPr>
          <a:xfrm>
            <a:off x="356616" y="50292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Limitation: 9 receipts, mostly printed mock receipts; the improved rules were tuned on them. AOAI still makes mistakes and has not been tested on a large unseen set.</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