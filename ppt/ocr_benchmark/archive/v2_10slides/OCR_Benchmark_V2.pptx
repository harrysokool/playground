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14/10/2026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10/14/2026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Objective: compare open-source OCR plus extraction rules with Azure Document Intelligence plus Azure OpenAI for extracting six fields from medical receipts: accuracy, the manual effort needed to reach it, and the ongoing maintenance effort.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Receipts: English, bilingual and Traditional Chinese layouts. Fields: doctor, registration number, patient, receipt number, service date, total. 51 fields were present on the receipts and scored. Step 1 (text recognition, OCR) turns the photo into text; step 2 (field extraction) picks the six values from that text, either with hand-written rules or with Azure OpenAI.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Accuracy = correct fields / 51 fields present on the 9 receipts. Original and improved rules read the same OCR text. Improved rules were tuned using these 9 receipts. The AOAI prompt was not changed. Time = average per receipt (PaddleOCR: CPU on Azure ML compute; Azure: API call time incl. network).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Rule-based pipeline: OCR text, then hand-written extraction rules. To reach 88.2% the rules were rewritten after reviewing the errors on these 9 receipts (label phrases 69 to 225). AI pipeline: the same kind of OCR text is passed to Azure OpenAI (gpt-5-mini) with one fixed prompt, which was not changed for these receipts, and it reached 88.2%. So on this benchmark the model did the job the rules were tuned to do. It still made mistakes, and it has not been tested on a large set of unseen receipts.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Receipt 8 (medical centre). Both OCR engines read the patient name and the doctor's name (checked in the raw OCR). The original rules matched 'Patient' and took the Chinese half of the label, 病人, as the name. The improved rules needed bilingual labels added by hand. AOAI read the fields correctly with its unchanged prompt (6 of 6 fields on this receipt). Values: rules on PaddleOCR Light text; detail.csv, checked against the extraction JSON.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Receipt 4 (Chinese medicine): the OCR read every value, but the original rules only knew English labels (0 of 6 fields). After adding Chinese labels: 6 of 6. DI + AOAI: 6 of 6 with no prompt change. The label vocabulary grew from 69 to 225 phrases (counted in extraction_general.py and extraction_improved.py). On the vet invoice (receipt 9) the original rules found receipt number 369303; after the changes they return 380048. Whether AOAI needs less maintenance on new layouts has not been tested yet.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Receipt 9 (vet invoice). The improved rules now take the payment table's 'Receipt #' (380048) instead of the invoice number. Both OCR engines read 'FPatient:' (a stray mark merged into the label), so no rule matched the patient label; AOAI still found the name. AOAI chose the sub total (1361.50) instead of the total (1361.00). Across all 9 receipts AOAI got 6 of 51 fields wrong. Values: detail.csv, checked against the extraction JSON.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Accuracy and time from summary.csv. The improved rules were tuned on these 9 receipts; the AOAI prompt was not changed. Lower maintenance for AOAI is the key implication of this benchmark, not a result proven in production. Running cost: DI page plus about 602 input / 263 output gpt-5-mini tokens per receipt; prices are not yet confirmed.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Measured (summary.csv, detail.csv): PaddleOCR Light + rules 37.3% with the original rules and 88.2% after tuning on these 9 receipts; label phrases 69 to 225; vet invoice receipt number 369303 correct before tuning, 380048 after. Azure DI + AOAI 88.2% with the prompt unchanged; bilingual receipt 6/6 and Chinese medicine receipt 6/6; 6.2 s vs 13.9 s per receipt; vet invoice total 1361.5 although the Azure DI text contains the correct 1361.00. Expected, not measured: control, predictability, API fees, run-to-run variation and behaviour on unseen receipts. Prices are not yet confirmed.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finding: PaddleOCR Light reached 88.2% (and Azure DI 86.3%) only after the rules were rewritten for these receipts; Azure DI + AOAI reached 88.2% with no change to its prompt. The benchmark is small (9 receipts) and the improved rules were tuned on it, so this is not a production decision. Source: python/receipt_ocr_benchmark/results/v2/scores_improved (summary.csv, detail.csv) and extraction JSON.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wrap="none"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56616" y="4114800"/>
            <a:ext cx="6035040" cy="822960"/>
          </a:xfrm>
        </p:spPr>
        <p:txBody>
          <a:bodyPr/>
          <a:lstStyle/>
          <a:p>
            <a:r>
              <a:rPr>
                <a:latin typeface="Arial"/>
                <a:ea typeface="Microsoft JhengHei"/>
              </a:rPr>
              <a:t>Can Azure OpenAI replace hand-written extraction rules?</a:t>
            </a:r>
          </a:p>
          <a:p>
            <a:r>
              <a:rPr>
                <a:latin typeface="Arial"/>
                <a:ea typeface="Microsoft JhengHei"/>
              </a:rPr>
              <a:t>9 receipts · 6 fields · 4 approaches</a:t>
            </a:r>
          </a:p>
        </p:txBody>
      </p:sp>
      <p:sp>
        <p:nvSpPr>
          <p:cNvPr id="3" name="Text Placeholder 2"/>
          <p:cNvSpPr>
            <a:spLocks noGrp="1"/>
          </p:cNvSpPr>
          <p:nvPr>
            <p:ph type="body" sz="quarter" idx="10"/>
          </p:nvPr>
        </p:nvSpPr>
        <p:spPr/>
        <p:txBody>
          <a:bodyPr/>
          <a:lstStyle/>
          <a:p>
            <a:r>
              <a:rPr>
                <a:latin typeface="Arial"/>
                <a:ea typeface="Microsoft JhengHei"/>
              </a:rPr>
              <a:t>Medical Receipt OCR Benchmark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56616" y="502920"/>
            <a:ext cx="11155680" cy="566928"/>
          </a:xfrm>
        </p:spPr>
        <p:txBody>
          <a:bodyPr lIns="0"/>
          <a:lstStyle/>
          <a:p>
            <a:r>
              <a:rPr sz="2800" b="1">
                <a:solidFill>
                  <a:srgbClr val="333D47"/>
                </a:solidFill>
                <a:latin typeface="Arial"/>
                <a:ea typeface="Microsoft JhengHei"/>
              </a:rPr>
              <a:t>What We Tested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2</a:t>
            </a:fld>
            <a:endParaRPr lang="en-US" dirty="0"/>
          </a:p>
        </p:txBody>
      </p:sp>
      <p:sp>
        <p:nvSpPr>
          <p:cNvPr id="11" name="TextBox 10"/>
          <p:cNvSpPr txBox="1"/>
          <p:nvPr/>
        </p:nvSpPr>
        <p:spPr>
          <a:xfrm>
            <a:off x="356616" y="1115568"/>
            <a:ext cx="11475720" cy="457200"/>
          </a:xfrm>
          <a:prstGeom prst="rect">
            <a:avLst/>
          </a:prstGeom>
          <a:noFill/>
        </p:spPr>
        <p:txBody>
          <a:bodyPr wrap="square" lIns="0" tIns="0" rIns="0" bIns="0" anchor="t"/>
          <a:lstStyle/>
          <a:p>
            <a:pPr marL="0" indent="0" algn="l">
              <a:spcAft>
                <a:spcPts val="0"/>
              </a:spcAft>
              <a:buNone/>
            </a:pPr>
            <a:r>
              <a:rPr sz="1700" b="0" i="0">
                <a:solidFill>
                  <a:srgbClr val="D31145"/>
                </a:solidFill>
                <a:latin typeface="Arial"/>
                <a:ea typeface="Microsoft JhengHei"/>
              </a:rPr>
              <a:t>9 receipts with different layouts and languages. Each approach reads the text, then finds 6 fields.</a:t>
            </a:r>
          </a:p>
        </p:txBody>
      </p:sp>
      <p:pic>
        <p:nvPicPr>
          <p:cNvPr id="12" name="Picture 11" descr="thumb_receipt1.jpg"/>
          <p:cNvPicPr>
            <a:picLocks noChangeAspect="1"/>
          </p:cNvPicPr>
          <p:nvPr/>
        </p:nvPicPr>
        <p:blipFill>
          <a:blip r:embed="rId3"/>
          <a:stretch>
            <a:fillRect/>
          </a:stretch>
        </p:blipFill>
        <p:spPr>
          <a:xfrm>
            <a:off x="356616" y="1783080"/>
            <a:ext cx="1920240" cy="2560320"/>
          </a:xfrm>
          <a:prstGeom prst="rect">
            <a:avLst/>
          </a:prstGeom>
          <a:ln w="9525">
            <a:solidFill>
              <a:srgbClr val="BFBFBF"/>
            </a:solidFill>
          </a:ln>
        </p:spPr>
      </p:pic>
      <p:sp>
        <p:nvSpPr>
          <p:cNvPr id="13" name="TextBox 12"/>
          <p:cNvSpPr txBox="1"/>
          <p:nvPr/>
        </p:nvSpPr>
        <p:spPr>
          <a:xfrm>
            <a:off x="356616" y="4416552"/>
            <a:ext cx="1920240" cy="274320"/>
          </a:xfrm>
          <a:prstGeom prst="rect">
            <a:avLst/>
          </a:prstGeom>
          <a:noFill/>
        </p:spPr>
        <p:txBody>
          <a:bodyPr wrap="square" lIns="0" tIns="0" rIns="0" bIns="0" anchor="t"/>
          <a:lstStyle/>
          <a:p>
            <a:pPr marL="0" indent="0" algn="l">
              <a:spcAft>
                <a:spcPts val="0"/>
              </a:spcAft>
              <a:buNone/>
            </a:pPr>
            <a:r>
              <a:rPr sz="1200" b="0" i="0">
                <a:solidFill>
                  <a:srgbClr val="5F6770"/>
                </a:solidFill>
                <a:latin typeface="Arial"/>
                <a:ea typeface="Microsoft JhengHei"/>
              </a:rPr>
              <a:t>English</a:t>
            </a:r>
          </a:p>
        </p:txBody>
      </p:sp>
      <p:pic>
        <p:nvPicPr>
          <p:cNvPr id="14" name="Picture 13" descr="thumb_receipt3.jpg"/>
          <p:cNvPicPr>
            <a:picLocks noChangeAspect="1"/>
          </p:cNvPicPr>
          <p:nvPr/>
        </p:nvPicPr>
        <p:blipFill>
          <a:blip r:embed="rId4"/>
          <a:stretch>
            <a:fillRect/>
          </a:stretch>
        </p:blipFill>
        <p:spPr>
          <a:xfrm>
            <a:off x="2414016" y="1783080"/>
            <a:ext cx="1920240" cy="2560320"/>
          </a:xfrm>
          <a:prstGeom prst="rect">
            <a:avLst/>
          </a:prstGeom>
          <a:ln w="9525">
            <a:solidFill>
              <a:srgbClr val="BFBFBF"/>
            </a:solidFill>
          </a:ln>
        </p:spPr>
      </p:pic>
      <p:sp>
        <p:nvSpPr>
          <p:cNvPr id="15" name="TextBox 14"/>
          <p:cNvSpPr txBox="1"/>
          <p:nvPr/>
        </p:nvSpPr>
        <p:spPr>
          <a:xfrm>
            <a:off x="2414016" y="4416552"/>
            <a:ext cx="1920240" cy="274320"/>
          </a:xfrm>
          <a:prstGeom prst="rect">
            <a:avLst/>
          </a:prstGeom>
          <a:noFill/>
        </p:spPr>
        <p:txBody>
          <a:bodyPr wrap="square" lIns="0" tIns="0" rIns="0" bIns="0" anchor="t"/>
          <a:lstStyle/>
          <a:p>
            <a:pPr marL="0" indent="0" algn="l">
              <a:spcAft>
                <a:spcPts val="0"/>
              </a:spcAft>
              <a:buNone/>
            </a:pPr>
            <a:r>
              <a:rPr sz="1200" b="0" i="0">
                <a:solidFill>
                  <a:srgbClr val="5F6770"/>
                </a:solidFill>
                <a:latin typeface="Arial"/>
                <a:ea typeface="Microsoft JhengHei"/>
              </a:rPr>
              <a:t>Bilingual</a:t>
            </a:r>
          </a:p>
        </p:txBody>
      </p:sp>
      <p:pic>
        <p:nvPicPr>
          <p:cNvPr id="16" name="Picture 15" descr="thumb_receipt4.jpg"/>
          <p:cNvPicPr>
            <a:picLocks noChangeAspect="1"/>
          </p:cNvPicPr>
          <p:nvPr/>
        </p:nvPicPr>
        <p:blipFill>
          <a:blip r:embed="rId5"/>
          <a:stretch>
            <a:fillRect/>
          </a:stretch>
        </p:blipFill>
        <p:spPr>
          <a:xfrm>
            <a:off x="4471416" y="1783080"/>
            <a:ext cx="1920240" cy="2560320"/>
          </a:xfrm>
          <a:prstGeom prst="rect">
            <a:avLst/>
          </a:prstGeom>
          <a:ln w="9525">
            <a:solidFill>
              <a:srgbClr val="BFBFBF"/>
            </a:solidFill>
          </a:ln>
        </p:spPr>
      </p:pic>
      <p:sp>
        <p:nvSpPr>
          <p:cNvPr id="17" name="TextBox 16"/>
          <p:cNvSpPr txBox="1"/>
          <p:nvPr/>
        </p:nvSpPr>
        <p:spPr>
          <a:xfrm>
            <a:off x="4471416" y="4416552"/>
            <a:ext cx="1920240" cy="274320"/>
          </a:xfrm>
          <a:prstGeom prst="rect">
            <a:avLst/>
          </a:prstGeom>
          <a:noFill/>
        </p:spPr>
        <p:txBody>
          <a:bodyPr wrap="square" lIns="0" tIns="0" rIns="0" bIns="0" anchor="t"/>
          <a:lstStyle/>
          <a:p>
            <a:pPr marL="0" indent="0" algn="l">
              <a:spcAft>
                <a:spcPts val="0"/>
              </a:spcAft>
              <a:buNone/>
            </a:pPr>
            <a:r>
              <a:rPr sz="1200" b="0" i="0">
                <a:solidFill>
                  <a:srgbClr val="5F6770"/>
                </a:solidFill>
                <a:latin typeface="Arial"/>
                <a:ea typeface="Microsoft JhengHei"/>
              </a:rPr>
              <a:t>Chinese</a:t>
            </a:r>
          </a:p>
        </p:txBody>
      </p:sp>
      <p:graphicFrame>
        <p:nvGraphicFramePr>
          <p:cNvPr id="18" name="Table 17"/>
          <p:cNvGraphicFramePr>
            <a:graphicFrameLocks noGrp="1"/>
          </p:cNvGraphicFramePr>
          <p:nvPr/>
        </p:nvGraphicFramePr>
        <p:xfrm>
          <a:off x="6629400" y="1783080"/>
          <a:ext cx="5202936" cy="3054096"/>
        </p:xfrm>
        <a:graphic>
          <a:graphicData uri="http://schemas.openxmlformats.org/drawingml/2006/table">
            <a:tbl>
              <a:tblPr>
                <a:tableStyleId>{2D5ABB26-0587-4C30-8999-92F81FD0307C}</a:tableStyleId>
              </a:tblPr>
              <a:tblGrid>
                <a:gridCol w="19659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545336">
                  <a:extLst>
                    <a:ext uri="{9D8B030D-6E8A-4147-A177-3AD203B41FA5}">
                      <a16:colId xmlns:a16="http://schemas.microsoft.com/office/drawing/2014/main" val="20002"/>
                    </a:ext>
                  </a:extLst>
                </a:gridCol>
              </a:tblGrid>
              <a:tr h="566928">
                <a:tc>
                  <a:txBody>
                    <a:bodyPr/>
                    <a:lstStyle/>
                    <a:p>
                      <a:pPr algn="l"/>
                      <a:r>
                        <a:rPr sz="1300" b="1" i="0">
                          <a:solidFill>
                            <a:srgbClr val="FFFFFF"/>
                          </a:solidFill>
                          <a:latin typeface="Arial"/>
                          <a:ea typeface="Microsoft JhengHei"/>
                        </a:rPr>
                        <a:t>Approach</a:t>
                      </a:r>
                    </a:p>
                  </a:txBody>
                  <a:tcPr anchor="ctr">
                    <a:lnL w="0">
                      <a:noFill/>
                    </a:lnL>
                    <a:lnR w="0">
                      <a:noFill/>
                    </a:lnR>
                    <a:lnT w="0">
                      <a:noFill/>
                    </a:lnT>
                    <a:lnB w="0">
                      <a:noFill/>
                    </a:lnB>
                    <a:solidFill>
                      <a:srgbClr val="333D47"/>
                    </a:solidFill>
                  </a:tcPr>
                </a:tc>
                <a:tc>
                  <a:txBody>
                    <a:bodyPr/>
                    <a:lstStyle/>
                    <a:p>
                      <a:pPr algn="l"/>
                      <a:r>
                        <a:rPr sz="1300" b="1" i="0">
                          <a:solidFill>
                            <a:srgbClr val="FFFFFF"/>
                          </a:solidFill>
                          <a:latin typeface="Arial"/>
                          <a:ea typeface="Microsoft JhengHei"/>
                        </a:rPr>
                        <a:t>1. Read text</a:t>
                      </a:r>
                    </a:p>
                  </a:txBody>
                  <a:tcPr anchor="ctr">
                    <a:lnL w="0">
                      <a:noFill/>
                    </a:lnL>
                    <a:lnR w="0">
                      <a:noFill/>
                    </a:lnR>
                    <a:lnT w="0">
                      <a:noFill/>
                    </a:lnT>
                    <a:lnB w="0">
                      <a:noFill/>
                    </a:lnB>
                    <a:solidFill>
                      <a:srgbClr val="333D47"/>
                    </a:solidFill>
                  </a:tcPr>
                </a:tc>
                <a:tc>
                  <a:txBody>
                    <a:bodyPr/>
                    <a:lstStyle/>
                    <a:p>
                      <a:pPr algn="l"/>
                      <a:r>
                        <a:rPr sz="1300" b="1" i="0">
                          <a:solidFill>
                            <a:srgbClr val="FFFFFF"/>
                          </a:solidFill>
                          <a:latin typeface="Arial"/>
                          <a:ea typeface="Microsoft JhengHei"/>
                        </a:rPr>
                        <a:t>2. Find fields</a:t>
                      </a:r>
                    </a:p>
                  </a:txBody>
                  <a:tcPr anchor="ctr">
                    <a:lnL w="0">
                      <a:noFill/>
                    </a:lnL>
                    <a:lnR w="0">
                      <a:noFill/>
                    </a:lnR>
                    <a:lnT w="0">
                      <a:noFill/>
                    </a:lnT>
                    <a:lnB w="0">
                      <a:noFill/>
                    </a:lnB>
                    <a:solidFill>
                      <a:srgbClr val="333D47"/>
                    </a:solidFill>
                  </a:tcPr>
                </a:tc>
                <a:extLst>
                  <a:ext uri="{0D108BD9-81ED-4DB2-BD59-A6C34878D82A}">
                    <a16:rowId xmlns:a16="http://schemas.microsoft.com/office/drawing/2014/main" val="10000"/>
                  </a:ext>
                </a:extLst>
              </a:tr>
              <a:tr h="621792">
                <a:tc>
                  <a:txBody>
                    <a:bodyPr/>
                    <a:lstStyle/>
                    <a:p>
                      <a:pPr algn="l"/>
                      <a:r>
                        <a:rPr sz="1400" b="1" i="0">
                          <a:solidFill>
                            <a:srgbClr val="333D47"/>
                          </a:solidFill>
                          <a:latin typeface="Arial"/>
                          <a:ea typeface="Microsoft JhengHei"/>
                        </a:rPr>
                        <a:t>PaddleOCR Light</a:t>
                      </a:r>
                    </a:p>
                  </a:txBody>
                  <a:tcPr anchor="ctr">
                    <a:lnL w="0">
                      <a:noFill/>
                    </a:lnL>
                    <a:lnR w="0">
                      <a:noFill/>
                    </a:lnR>
                    <a:lnT w="0">
                      <a:noFill/>
                    </a:lnT>
                    <a:lnB w="9525" cmpd="sng">
                      <a:solidFill>
                        <a:srgbClr val="BFBFBF"/>
                      </a:solidFill>
                    </a:lnB>
                    <a:noFill/>
                  </a:tcPr>
                </a:tc>
                <a:tc>
                  <a:txBody>
                    <a:bodyPr/>
                    <a:lstStyle/>
                    <a:p>
                      <a:pPr algn="l"/>
                      <a:r>
                        <a:rPr sz="1400" b="0" i="0">
                          <a:solidFill>
                            <a:srgbClr val="333D47"/>
                          </a:solidFill>
                          <a:latin typeface="Arial"/>
                          <a:ea typeface="Microsoft JhengHei"/>
                        </a:rPr>
                        <a:t>Open-source OCR</a:t>
                      </a:r>
                    </a:p>
                  </a:txBody>
                  <a:tcPr anchor="ctr">
                    <a:lnL w="0">
                      <a:noFill/>
                    </a:lnL>
                    <a:lnR w="0">
                      <a:noFill/>
                    </a:lnR>
                    <a:lnT w="0">
                      <a:noFill/>
                    </a:lnT>
                    <a:lnB w="9525" cmpd="sng">
                      <a:solidFill>
                        <a:srgbClr val="BFBFBF"/>
                      </a:solidFill>
                    </a:lnB>
                    <a:noFill/>
                  </a:tcPr>
                </a:tc>
                <a:tc>
                  <a:txBody>
                    <a:bodyPr/>
                    <a:lstStyle/>
                    <a:p>
                      <a:pPr algn="l"/>
                      <a:r>
                        <a:rPr sz="1400" b="0" i="0">
                          <a:solidFill>
                            <a:srgbClr val="333D47"/>
                          </a:solidFill>
                          <a:latin typeface="Arial"/>
                          <a:ea typeface="Microsoft JhengHei"/>
                        </a:rPr>
                        <a:t>Rules</a:t>
                      </a:r>
                    </a:p>
                  </a:txBody>
                  <a:tcPr anchor="ctr">
                    <a:lnL w="0">
                      <a:noFill/>
                    </a:lnL>
                    <a:lnR w="0">
                      <a:noFill/>
                    </a:lnR>
                    <a:lnT w="0">
                      <a:noFill/>
                    </a:lnT>
                    <a:lnB w="9525" cmpd="sng">
                      <a:solidFill>
                        <a:srgbClr val="BFBFBF"/>
                      </a:solidFill>
                    </a:lnB>
                    <a:noFill/>
                  </a:tcPr>
                </a:tc>
                <a:extLst>
                  <a:ext uri="{0D108BD9-81ED-4DB2-BD59-A6C34878D82A}">
                    <a16:rowId xmlns:a16="http://schemas.microsoft.com/office/drawing/2014/main" val="10001"/>
                  </a:ext>
                </a:extLst>
              </a:tr>
              <a:tr h="621792">
                <a:tc>
                  <a:txBody>
                    <a:bodyPr/>
                    <a:lstStyle/>
                    <a:p>
                      <a:pPr algn="l"/>
                      <a:r>
                        <a:rPr sz="1400" b="1" i="0">
                          <a:solidFill>
                            <a:srgbClr val="333D47"/>
                          </a:solidFill>
                          <a:latin typeface="Arial"/>
                          <a:ea typeface="Microsoft JhengHei"/>
                        </a:rPr>
                        <a:t>PaddleOCR Heavy</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400" b="0" i="0">
                          <a:solidFill>
                            <a:srgbClr val="333D47"/>
                          </a:solidFill>
                          <a:latin typeface="Arial"/>
                          <a:ea typeface="Microsoft JhengHei"/>
                        </a:rPr>
                        <a:t>Open-source OCR</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400" b="0" i="0">
                          <a:solidFill>
                            <a:srgbClr val="333D47"/>
                          </a:solidFill>
                          <a:latin typeface="Arial"/>
                          <a:ea typeface="Microsoft JhengHei"/>
                        </a:rPr>
                        <a:t>Rules</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2"/>
                  </a:ext>
                </a:extLst>
              </a:tr>
              <a:tr h="621792">
                <a:tc>
                  <a:txBody>
                    <a:bodyPr/>
                    <a:lstStyle/>
                    <a:p>
                      <a:pPr algn="l"/>
                      <a:r>
                        <a:rPr sz="1400" b="1" i="0">
                          <a:solidFill>
                            <a:srgbClr val="333D47"/>
                          </a:solidFill>
                          <a:latin typeface="Arial"/>
                          <a:ea typeface="Microsoft JhengHei"/>
                        </a:rPr>
                        <a:t>Azure DI</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400" b="0" i="0">
                          <a:solidFill>
                            <a:srgbClr val="333D47"/>
                          </a:solidFill>
                          <a:latin typeface="Arial"/>
                          <a:ea typeface="Microsoft JhengHei"/>
                        </a:rPr>
                        <a:t>Azure OCR</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400" b="0" i="0">
                          <a:solidFill>
                            <a:srgbClr val="333D47"/>
                          </a:solidFill>
                          <a:latin typeface="Arial"/>
                          <a:ea typeface="Microsoft JhengHei"/>
                        </a:rPr>
                        <a:t>Rules</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3"/>
                  </a:ext>
                </a:extLst>
              </a:tr>
              <a:tr h="621792">
                <a:tc>
                  <a:txBody>
                    <a:bodyPr/>
                    <a:lstStyle/>
                    <a:p>
                      <a:pPr algn="l"/>
                      <a:r>
                        <a:rPr sz="1400" b="1" i="0">
                          <a:solidFill>
                            <a:srgbClr val="333D47"/>
                          </a:solidFill>
                          <a:latin typeface="Arial"/>
                          <a:ea typeface="Microsoft JhengHei"/>
                        </a:rPr>
                        <a:t>Azure DI + AOAI</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400" b="0" i="0">
                          <a:solidFill>
                            <a:srgbClr val="333D47"/>
                          </a:solidFill>
                          <a:latin typeface="Arial"/>
                          <a:ea typeface="Microsoft JhengHei"/>
                        </a:rPr>
                        <a:t>Azure OCR</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400" b="0" i="0">
                          <a:solidFill>
                            <a:srgbClr val="333D47"/>
                          </a:solidFill>
                          <a:latin typeface="Arial"/>
                          <a:ea typeface="Microsoft JhengHei"/>
                        </a:rPr>
                        <a:t>Azure OpenAI</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4"/>
                  </a:ext>
                </a:extLst>
              </a:tr>
            </a:tbl>
          </a:graphicData>
        </a:graphic>
      </p:graphicFrame>
      <p:sp>
        <p:nvSpPr>
          <p:cNvPr id="19" name="TextBox 18"/>
          <p:cNvSpPr txBox="1"/>
          <p:nvPr/>
        </p:nvSpPr>
        <p:spPr>
          <a:xfrm>
            <a:off x="6629400" y="4983480"/>
            <a:ext cx="5202936" cy="731520"/>
          </a:xfrm>
          <a:prstGeom prst="rect">
            <a:avLst/>
          </a:prstGeom>
          <a:noFill/>
        </p:spPr>
        <p:txBody>
          <a:bodyPr wrap="square" lIns="0" tIns="0" rIns="0" bIns="0" anchor="t"/>
          <a:lstStyle/>
          <a:p>
            <a:pPr marL="0" indent="0" algn="l">
              <a:spcAft>
                <a:spcPts val="0"/>
              </a:spcAft>
              <a:buNone/>
            </a:pPr>
            <a:r>
              <a:rPr sz="1300" b="0" i="0">
                <a:solidFill>
                  <a:srgbClr val="5F6770"/>
                </a:solidFill>
                <a:latin typeface="Arial"/>
                <a:ea typeface="Microsoft JhengHei"/>
              </a:rPr>
              <a:t>Fields: doctor, registration no., patient, receipt no., service date, total. 51 fields scored.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56616" y="502920"/>
            <a:ext cx="11155680" cy="566928"/>
          </a:xfrm>
        </p:spPr>
        <p:txBody>
          <a:bodyPr lIns="0"/>
          <a:lstStyle/>
          <a:p>
            <a:r>
              <a:rPr sz="2800" b="1">
                <a:solidFill>
                  <a:srgbClr val="333D47"/>
                </a:solidFill>
                <a:latin typeface="Arial"/>
                <a:ea typeface="Microsoft JhengHei"/>
              </a:rPr>
              <a:t>Results: Same Accuracy, Different Effort</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3</a:t>
            </a:fld>
            <a:endParaRPr lang="en-US" dirty="0"/>
          </a:p>
        </p:txBody>
      </p:sp>
      <p:sp>
        <p:nvSpPr>
          <p:cNvPr id="11" name="TextBox 10"/>
          <p:cNvSpPr txBox="1"/>
          <p:nvPr/>
        </p:nvSpPr>
        <p:spPr>
          <a:xfrm>
            <a:off x="356616" y="1115568"/>
            <a:ext cx="11475720" cy="457200"/>
          </a:xfrm>
          <a:prstGeom prst="rect">
            <a:avLst/>
          </a:prstGeom>
          <a:noFill/>
        </p:spPr>
        <p:txBody>
          <a:bodyPr wrap="square" lIns="0" tIns="0" rIns="0" bIns="0" anchor="t"/>
          <a:lstStyle/>
          <a:p>
            <a:pPr marL="0" indent="0" algn="l">
              <a:spcAft>
                <a:spcPts val="0"/>
              </a:spcAft>
              <a:buNone/>
            </a:pPr>
            <a:r>
              <a:rPr sz="1700" b="0" i="0">
                <a:solidFill>
                  <a:srgbClr val="D31145"/>
                </a:solidFill>
                <a:latin typeface="Arial"/>
                <a:ea typeface="Microsoft JhengHei"/>
              </a:rPr>
              <a:t>Rules reached 88.2% only after manual tuning. DI + AOAI reached 88.2% with its prompt unchanged.</a:t>
            </a:r>
          </a:p>
        </p:txBody>
      </p:sp>
      <p:graphicFrame>
        <p:nvGraphicFramePr>
          <p:cNvPr id="12" name="Table 11"/>
          <p:cNvGraphicFramePr>
            <a:graphicFrameLocks noGrp="1"/>
          </p:cNvGraphicFramePr>
          <p:nvPr/>
        </p:nvGraphicFramePr>
        <p:xfrm>
          <a:off x="356616" y="1783080"/>
          <a:ext cx="11475720" cy="3657600"/>
        </p:xfrm>
        <a:graphic>
          <a:graphicData uri="http://schemas.openxmlformats.org/drawingml/2006/table">
            <a:tbl>
              <a:tblPr>
                <a:tableStyleId>{2D5ABB26-0587-4C30-8999-92F81FD0307C}</a:tableStyleId>
              </a:tblPr>
              <a:tblGrid>
                <a:gridCol w="32918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tblGrid>
              <a:tr h="658368">
                <a:tc>
                  <a:txBody>
                    <a:bodyPr/>
                    <a:lstStyle/>
                    <a:p>
                      <a:pPr algn="l"/>
                      <a:r>
                        <a:rPr sz="1600" b="1" i="0">
                          <a:solidFill>
                            <a:srgbClr val="FFFFFF"/>
                          </a:solidFill>
                          <a:latin typeface="Arial"/>
                          <a:ea typeface="Microsoft JhengHei"/>
                        </a:rPr>
                        <a:t>Approach</a:t>
                      </a:r>
                    </a:p>
                  </a:txBody>
                  <a:tcPr anchor="ctr">
                    <a:lnL w="0">
                      <a:noFill/>
                    </a:lnL>
                    <a:lnR w="0">
                      <a:noFill/>
                    </a:lnR>
                    <a:lnT w="0">
                      <a:noFill/>
                    </a:lnT>
                    <a:lnB w="0">
                      <a:noFill/>
                    </a:lnB>
                    <a:solidFill>
                      <a:srgbClr val="333D47"/>
                    </a:solidFill>
                  </a:tcPr>
                </a:tc>
                <a:tc>
                  <a:txBody>
                    <a:bodyPr/>
                    <a:lstStyle/>
                    <a:p>
                      <a:pPr algn="ctr"/>
                      <a:r>
                        <a:rPr sz="1600" b="1" i="0">
                          <a:solidFill>
                            <a:srgbClr val="FFFFFF"/>
                          </a:solidFill>
                          <a:latin typeface="Arial"/>
                          <a:ea typeface="Microsoft JhengHei"/>
                        </a:rPr>
                        <a:t>Original rules</a:t>
                      </a:r>
                    </a:p>
                  </a:txBody>
                  <a:tcPr anchor="ctr">
                    <a:lnL w="0">
                      <a:noFill/>
                    </a:lnL>
                    <a:lnR w="0">
                      <a:noFill/>
                    </a:lnR>
                    <a:lnT w="0">
                      <a:noFill/>
                    </a:lnT>
                    <a:lnB w="0">
                      <a:noFill/>
                    </a:lnB>
                    <a:solidFill>
                      <a:srgbClr val="333D47"/>
                    </a:solidFill>
                  </a:tcPr>
                </a:tc>
                <a:tc>
                  <a:txBody>
                    <a:bodyPr/>
                    <a:lstStyle/>
                    <a:p>
                      <a:pPr algn="ctr"/>
                      <a:r>
                        <a:rPr sz="1600" b="1" i="0">
                          <a:solidFill>
                            <a:srgbClr val="FFFFFF"/>
                          </a:solidFill>
                          <a:latin typeface="Arial"/>
                          <a:ea typeface="Microsoft JhengHei"/>
                        </a:rPr>
                        <a:t>Improved rules*</a:t>
                      </a:r>
                    </a:p>
                  </a:txBody>
                  <a:tcPr anchor="ctr">
                    <a:lnL w="0">
                      <a:noFill/>
                    </a:lnL>
                    <a:lnR w="0">
                      <a:noFill/>
                    </a:lnR>
                    <a:lnT w="0">
                      <a:noFill/>
                    </a:lnT>
                    <a:lnB w="0">
                      <a:noFill/>
                    </a:lnB>
                    <a:solidFill>
                      <a:srgbClr val="333D47"/>
                    </a:solidFill>
                  </a:tcPr>
                </a:tc>
                <a:tc>
                  <a:txBody>
                    <a:bodyPr/>
                    <a:lstStyle/>
                    <a:p>
                      <a:pPr algn="ctr"/>
                      <a:r>
                        <a:rPr sz="1600" b="1" i="0">
                          <a:solidFill>
                            <a:srgbClr val="FFFFFF"/>
                          </a:solidFill>
                          <a:latin typeface="Arial"/>
                          <a:ea typeface="Microsoft JhengHei"/>
                        </a:rPr>
                        <a:t>Time per receipt</a:t>
                      </a:r>
                    </a:p>
                  </a:txBody>
                  <a:tcPr anchor="ctr">
                    <a:lnL w="0">
                      <a:noFill/>
                    </a:lnL>
                    <a:lnR w="0">
                      <a:noFill/>
                    </a:lnR>
                    <a:lnT w="0">
                      <a:noFill/>
                    </a:lnT>
                    <a:lnB w="0">
                      <a:noFill/>
                    </a:lnB>
                    <a:solidFill>
                      <a:srgbClr val="333D47"/>
                    </a:solidFill>
                  </a:tcPr>
                </a:tc>
                <a:extLst>
                  <a:ext uri="{0D108BD9-81ED-4DB2-BD59-A6C34878D82A}">
                    <a16:rowId xmlns:a16="http://schemas.microsoft.com/office/drawing/2014/main" val="10000"/>
                  </a:ext>
                </a:extLst>
              </a:tr>
              <a:tr h="749808">
                <a:tc>
                  <a:txBody>
                    <a:bodyPr/>
                    <a:lstStyle/>
                    <a:p>
                      <a:pPr algn="l"/>
                      <a:r>
                        <a:rPr sz="1800" b="1" i="0">
                          <a:solidFill>
                            <a:srgbClr val="333D47"/>
                          </a:solidFill>
                          <a:latin typeface="Arial"/>
                          <a:ea typeface="Microsoft JhengHei"/>
                        </a:rPr>
                        <a:t>PaddleOCR Light</a:t>
                      </a:r>
                    </a:p>
                  </a:txBody>
                  <a:tcPr anchor="ctr">
                    <a:lnL w="0">
                      <a:noFill/>
                    </a:lnL>
                    <a:lnR w="0">
                      <a:noFill/>
                    </a:lnR>
                    <a:lnT w="0">
                      <a:noFill/>
                    </a:lnT>
                    <a:lnB w="9525" cmpd="sng">
                      <a:solidFill>
                        <a:srgbClr val="BFBFBF"/>
                      </a:solidFill>
                    </a:lnB>
                    <a:noFill/>
                  </a:tcPr>
                </a:tc>
                <a:tc>
                  <a:txBody>
                    <a:bodyPr/>
                    <a:lstStyle/>
                    <a:p>
                      <a:pPr algn="ctr"/>
                      <a:r>
                        <a:rPr sz="2000" b="0" i="0">
                          <a:solidFill>
                            <a:srgbClr val="333D47"/>
                          </a:solidFill>
                          <a:latin typeface="Arial"/>
                          <a:ea typeface="Microsoft JhengHei"/>
                        </a:rPr>
                        <a:t>37.3%</a:t>
                      </a:r>
                      <a:r>
                        <a:rPr sz="1300" b="0" i="0">
                          <a:solidFill>
                            <a:srgbClr val="5F6770"/>
                          </a:solidFill>
                          <a:latin typeface="Arial"/>
                          <a:ea typeface="Microsoft JhengHei"/>
                        </a:rPr>
                        <a:t>  (19/51)</a:t>
                      </a:r>
                    </a:p>
                  </a:txBody>
                  <a:tcPr anchor="ctr">
                    <a:lnL w="0">
                      <a:noFill/>
                    </a:lnL>
                    <a:lnR w="0">
                      <a:noFill/>
                    </a:lnR>
                    <a:lnT w="0">
                      <a:noFill/>
                    </a:lnT>
                    <a:lnB w="9525" cmpd="sng">
                      <a:solidFill>
                        <a:srgbClr val="BFBFBF"/>
                      </a:solidFill>
                    </a:lnB>
                    <a:noFill/>
                  </a:tcPr>
                </a:tc>
                <a:tc>
                  <a:txBody>
                    <a:bodyPr/>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anchor="ctr">
                    <a:lnL w="0">
                      <a:noFill/>
                    </a:lnL>
                    <a:lnR w="0">
                      <a:noFill/>
                    </a:lnR>
                    <a:lnT w="0">
                      <a:noFill/>
                    </a:lnT>
                    <a:lnB w="9525" cmpd="sng">
                      <a:solidFill>
                        <a:srgbClr val="BFBFBF"/>
                      </a:solidFill>
                    </a:lnB>
                    <a:noFill/>
                  </a:tcPr>
                </a:tc>
                <a:tc>
                  <a:txBody>
                    <a:bodyPr/>
                    <a:lstStyle/>
                    <a:p>
                      <a:pPr algn="ctr"/>
                      <a:r>
                        <a:rPr sz="2000" b="0" i="0">
                          <a:solidFill>
                            <a:srgbClr val="333D47"/>
                          </a:solidFill>
                          <a:latin typeface="Arial"/>
                          <a:ea typeface="Microsoft JhengHei"/>
                        </a:rPr>
                        <a:t>13.9 s</a:t>
                      </a:r>
                    </a:p>
                  </a:txBody>
                  <a:tcPr anchor="ctr">
                    <a:lnL w="0">
                      <a:noFill/>
                    </a:lnL>
                    <a:lnR w="0">
                      <a:noFill/>
                    </a:lnR>
                    <a:lnT w="0">
                      <a:noFill/>
                    </a:lnT>
                    <a:lnB w="9525" cmpd="sng">
                      <a:solidFill>
                        <a:srgbClr val="BFBFBF"/>
                      </a:solidFill>
                    </a:lnB>
                    <a:noFill/>
                  </a:tcPr>
                </a:tc>
                <a:extLst>
                  <a:ext uri="{0D108BD9-81ED-4DB2-BD59-A6C34878D82A}">
                    <a16:rowId xmlns:a16="http://schemas.microsoft.com/office/drawing/2014/main" val="10001"/>
                  </a:ext>
                </a:extLst>
              </a:tr>
              <a:tr h="749808">
                <a:tc>
                  <a:txBody>
                    <a:bodyPr/>
                    <a:lstStyle/>
                    <a:p>
                      <a:pPr algn="l"/>
                      <a:r>
                        <a:rPr sz="1800" b="1" i="0">
                          <a:solidFill>
                            <a:srgbClr val="333D47"/>
                          </a:solidFill>
                          <a:latin typeface="Arial"/>
                          <a:ea typeface="Microsoft JhengHei"/>
                        </a:rPr>
                        <a:t>PaddleOCR Heavy</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ctr"/>
                      <a:r>
                        <a:rPr sz="2000" b="0" i="0">
                          <a:solidFill>
                            <a:srgbClr val="333D47"/>
                          </a:solidFill>
                          <a:latin typeface="Arial"/>
                          <a:ea typeface="Microsoft JhengHei"/>
                        </a:rPr>
                        <a:t>29.4%</a:t>
                      </a:r>
                      <a:r>
                        <a:rPr sz="1300" b="0" i="0">
                          <a:solidFill>
                            <a:srgbClr val="5F6770"/>
                          </a:solidFill>
                          <a:latin typeface="Arial"/>
                          <a:ea typeface="Microsoft JhengHei"/>
                        </a:rPr>
                        <a:t>  (15/51)</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ctr"/>
                      <a:r>
                        <a:rPr sz="2000" b="0" i="0">
                          <a:solidFill>
                            <a:srgbClr val="333D47"/>
                          </a:solidFill>
                          <a:latin typeface="Arial"/>
                          <a:ea typeface="Microsoft JhengHei"/>
                        </a:rPr>
                        <a:t>64.7%</a:t>
                      </a:r>
                      <a:r>
                        <a:rPr sz="1300" b="0" i="0">
                          <a:solidFill>
                            <a:srgbClr val="5F6770"/>
                          </a:solidFill>
                          <a:latin typeface="Arial"/>
                          <a:ea typeface="Microsoft JhengHei"/>
                        </a:rPr>
                        <a:t>  (33/51)</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ctr"/>
                      <a:r>
                        <a:rPr sz="2000" b="0" i="0">
                          <a:solidFill>
                            <a:srgbClr val="333D47"/>
                          </a:solidFill>
                          <a:latin typeface="Arial"/>
                          <a:ea typeface="Microsoft JhengHei"/>
                        </a:rPr>
                        <a:t>53.3 s</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2"/>
                  </a:ext>
                </a:extLst>
              </a:tr>
              <a:tr h="749808">
                <a:tc>
                  <a:txBody>
                    <a:bodyPr/>
                    <a:lstStyle/>
                    <a:p>
                      <a:pPr algn="l"/>
                      <a:r>
                        <a:rPr sz="1800" b="1" i="0">
                          <a:solidFill>
                            <a:srgbClr val="333D47"/>
                          </a:solidFill>
                          <a:latin typeface="Arial"/>
                          <a:ea typeface="Microsoft JhengHei"/>
                        </a:rPr>
                        <a:t>Azure DI</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ctr"/>
                      <a:r>
                        <a:rPr sz="2000" b="0" i="0">
                          <a:solidFill>
                            <a:srgbClr val="333D47"/>
                          </a:solidFill>
                          <a:latin typeface="Arial"/>
                          <a:ea typeface="Microsoft JhengHei"/>
                        </a:rPr>
                        <a:t>41.2%</a:t>
                      </a:r>
                      <a:r>
                        <a:rPr sz="1300" b="0" i="0">
                          <a:solidFill>
                            <a:srgbClr val="5F6770"/>
                          </a:solidFill>
                          <a:latin typeface="Arial"/>
                          <a:ea typeface="Microsoft JhengHei"/>
                        </a:rPr>
                        <a:t>  (21/51)</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ctr"/>
                      <a:r>
                        <a:rPr sz="2000" b="1" i="0">
                          <a:solidFill>
                            <a:srgbClr val="D31145"/>
                          </a:solidFill>
                          <a:latin typeface="Arial"/>
                          <a:ea typeface="Microsoft JhengHei"/>
                        </a:rPr>
                        <a:t>86.3%</a:t>
                      </a:r>
                      <a:r>
                        <a:rPr sz="1300" b="0" i="0">
                          <a:solidFill>
                            <a:srgbClr val="5F6770"/>
                          </a:solidFill>
                          <a:latin typeface="Arial"/>
                          <a:ea typeface="Microsoft JhengHei"/>
                        </a:rPr>
                        <a:t>  (44/51)</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ctr"/>
                      <a:r>
                        <a:rPr sz="2000" b="0" i="0">
                          <a:solidFill>
                            <a:srgbClr val="333D47"/>
                          </a:solidFill>
                          <a:latin typeface="Arial"/>
                          <a:ea typeface="Microsoft JhengHei"/>
                        </a:rPr>
                        <a:t>3.8 s</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3"/>
                  </a:ext>
                </a:extLst>
              </a:tr>
              <a:tr h="749808">
                <a:tc>
                  <a:txBody>
                    <a:bodyPr/>
                    <a:lstStyle/>
                    <a:p>
                      <a:pPr algn="l"/>
                      <a:r>
                        <a:rPr sz="1800" b="1" i="0">
                          <a:solidFill>
                            <a:srgbClr val="333D47"/>
                          </a:solidFill>
                          <a:latin typeface="Arial"/>
                          <a:ea typeface="Microsoft JhengHei"/>
                        </a:rPr>
                        <a:t>Azure DI + AOAI</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solidFill>
                      <a:srgbClr val="F2F2F2"/>
                    </a:solidFill>
                  </a:tcPr>
                </a:tc>
                <a:tc>
                  <a:txBody>
                    <a:bodyPr/>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solidFill>
                      <a:srgbClr val="F2F2F2"/>
                    </a:solidFill>
                  </a:tcPr>
                </a:tc>
                <a:tc>
                  <a:txBody>
                    <a:bodyPr/>
                    <a:lstStyle/>
                    <a:p>
                      <a:pPr algn="ctr"/>
                      <a:r>
                        <a:rPr sz="1300" b="0" i="0">
                          <a:solidFill>
                            <a:srgbClr val="5F6770"/>
                          </a:solidFill>
                          <a:latin typeface="Arial"/>
                          <a:ea typeface="Microsoft JhengHei"/>
                        </a:rPr>
                        <a:t>No rules (prompt unchanged)</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solidFill>
                      <a:srgbClr val="F2F2F2"/>
                    </a:solidFill>
                  </a:tcPr>
                </a:tc>
                <a:tc>
                  <a:txBody>
                    <a:bodyPr/>
                    <a:lstStyle/>
                    <a:p>
                      <a:pPr algn="ctr"/>
                      <a:r>
                        <a:rPr sz="2000" b="0" i="0">
                          <a:solidFill>
                            <a:srgbClr val="333D47"/>
                          </a:solidFill>
                          <a:latin typeface="Arial"/>
                          <a:ea typeface="Microsoft JhengHei"/>
                        </a:rPr>
                        <a:t>6.2 s</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solidFill>
                      <a:srgbClr val="F2F2F2"/>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356616" y="5440680"/>
            <a:ext cx="10972800" cy="320040"/>
          </a:xfrm>
          <a:prstGeom prst="rect">
            <a:avLst/>
          </a:prstGeom>
          <a:noFill/>
        </p:spPr>
        <p:txBody>
          <a:bodyPr wrap="square" lIns="0" tIns="0" rIns="0" bIns="0" anchor="t"/>
          <a:lstStyle/>
          <a:p>
            <a:pPr marL="0" indent="0" algn="l">
              <a:spcAft>
                <a:spcPts val="0"/>
              </a:spcAft>
              <a:buNone/>
            </a:pPr>
            <a:r>
              <a:rPr sz="1100" b="0" i="1">
                <a:solidFill>
                  <a:srgbClr val="5F6770"/>
                </a:solidFill>
                <a:latin typeface="Arial"/>
                <a:ea typeface="Microsoft JhengHei"/>
              </a:rPr>
              <a:t>* Tuned using these 9 receipts, so not a measure of accuracy on new receipts. Accuracy = correct fields out of 51. All approaches processed all 9 receipts.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56616" y="502920"/>
            <a:ext cx="11155680" cy="566928"/>
          </a:xfrm>
        </p:spPr>
        <p:txBody>
          <a:bodyPr lIns="0"/>
          <a:lstStyle/>
          <a:p>
            <a:r>
              <a:rPr sz="2800" b="1">
                <a:solidFill>
                  <a:srgbClr val="333D47"/>
                </a:solidFill>
                <a:latin typeface="Arial"/>
                <a:ea typeface="Microsoft JhengHei"/>
              </a:rPr>
              <a:t>AOAI Replaces the Manual Rule Layer</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4</a:t>
            </a:fld>
            <a:endParaRPr lang="en-US" dirty="0"/>
          </a:p>
        </p:txBody>
      </p:sp>
      <p:sp>
        <p:nvSpPr>
          <p:cNvPr id="11" name="TextBox 10"/>
          <p:cNvSpPr txBox="1"/>
          <p:nvPr/>
        </p:nvSpPr>
        <p:spPr>
          <a:xfrm>
            <a:off x="356616" y="1115568"/>
            <a:ext cx="11475720" cy="457200"/>
          </a:xfrm>
          <a:prstGeom prst="rect">
            <a:avLst/>
          </a:prstGeom>
          <a:noFill/>
        </p:spPr>
        <p:txBody>
          <a:bodyPr wrap="square" lIns="0" tIns="0" rIns="0" bIns="0" anchor="t"/>
          <a:lstStyle/>
          <a:p>
            <a:pPr marL="0" indent="0" algn="l">
              <a:spcAft>
                <a:spcPts val="0"/>
              </a:spcAft>
              <a:buNone/>
            </a:pPr>
            <a:r>
              <a:rPr sz="1700" b="0" i="0">
                <a:solidFill>
                  <a:srgbClr val="D31145"/>
                </a:solidFill>
                <a:latin typeface="Arial"/>
                <a:ea typeface="Microsoft JhengHei"/>
              </a:rPr>
              <a:t>Both pipelines read the text the same way. Only the step that finds the fields changes.</a:t>
            </a:r>
          </a:p>
        </p:txBody>
      </p:sp>
      <p:sp>
        <p:nvSpPr>
          <p:cNvPr id="12" name="TextBox 11"/>
          <p:cNvSpPr txBox="1"/>
          <p:nvPr/>
        </p:nvSpPr>
        <p:spPr>
          <a:xfrm>
            <a:off x="356616" y="1828800"/>
            <a:ext cx="2514600" cy="1097280"/>
          </a:xfrm>
          <a:prstGeom prst="rect">
            <a:avLst/>
          </a:prstGeom>
          <a:noFill/>
        </p:spPr>
        <p:txBody>
          <a:bodyPr wrap="square" lIns="0" tIns="0" rIns="0" bIns="0" anchor="ctr"/>
          <a:lstStyle/>
          <a:p>
            <a:pPr marL="0" indent="0" algn="l">
              <a:spcAft>
                <a:spcPts val="200"/>
              </a:spcAft>
              <a:buNone/>
            </a:pPr>
            <a:r>
              <a:rPr sz="1800" b="1" i="0">
                <a:solidFill>
                  <a:srgbClr val="333D47"/>
                </a:solidFill>
                <a:latin typeface="Arial"/>
                <a:ea typeface="Microsoft JhengHei"/>
              </a:rPr>
              <a:t>Rule-based</a:t>
            </a:r>
          </a:p>
          <a:p>
            <a:pPr marL="0" indent="0" algn="l">
              <a:spcAft>
                <a:spcPts val="600"/>
              </a:spcAft>
              <a:buNone/>
            </a:pPr>
            <a:r>
              <a:rPr sz="1300" b="0" i="0">
                <a:solidFill>
                  <a:srgbClr val="5F6770"/>
                </a:solidFill>
                <a:latin typeface="Arial"/>
                <a:ea typeface="Microsoft JhengHei"/>
              </a:rPr>
              <a:t>PaddleOCR Light + improved rules</a:t>
            </a:r>
          </a:p>
          <a:p>
            <a:pPr marL="0" indent="0" algn="l">
              <a:spcAft>
                <a:spcPts val="0"/>
              </a:spcAft>
              <a:buNone/>
            </a:pPr>
            <a:r>
              <a:rPr sz="1500" b="1" i="0">
                <a:solidFill>
                  <a:srgbClr val="D31145"/>
                </a:solidFill>
                <a:latin typeface="Arial"/>
                <a:ea typeface="Microsoft JhengHei"/>
              </a:rPr>
              <a:t>88.2% after tuning</a:t>
            </a:r>
          </a:p>
        </p:txBody>
      </p:sp>
      <p:sp>
        <p:nvSpPr>
          <p:cNvPr id="13" name="Rectangle 12"/>
          <p:cNvSpPr/>
          <p:nvPr/>
        </p:nvSpPr>
        <p:spPr>
          <a:xfrm>
            <a:off x="3017520" y="1828800"/>
            <a:ext cx="2560320" cy="1097280"/>
          </a:xfrm>
          <a:prstGeom prst="rect">
            <a:avLst/>
          </a:prstGeom>
          <a:solidFill>
            <a:srgbClr val="F2F2F2"/>
          </a:solidFill>
          <a:ln>
            <a:noFill/>
          </a:ln>
        </p:spPr>
        <p:txBody>
          <a:bodyPr wrap="square" lIns="146304" tIns="109728" rIns="146304" bIns="109728" rtlCol="0" anchor="ctr"/>
          <a:lstStyle/>
          <a:p>
            <a:pPr marL="0" indent="0" algn="l">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PaddleOCR Light</a:t>
            </a:r>
          </a:p>
        </p:txBody>
      </p:sp>
      <p:sp>
        <p:nvSpPr>
          <p:cNvPr id="14" name="Rectangle 13"/>
          <p:cNvSpPr/>
          <p:nvPr/>
        </p:nvSpPr>
        <p:spPr>
          <a:xfrm>
            <a:off x="6126479" y="1828800"/>
            <a:ext cx="2560320" cy="1097280"/>
          </a:xfrm>
          <a:prstGeom prst="rect">
            <a:avLst/>
          </a:prstGeom>
          <a:solidFill>
            <a:srgbClr val="FFFFFF"/>
          </a:solidFill>
          <a:ln w="25400">
            <a:solidFill>
              <a:srgbClr val="D31145"/>
            </a:solidFill>
          </a:ln>
        </p:spPr>
        <p:txBody>
          <a:bodyPr wrap="square" lIns="146304" tIns="109728" rIns="146304" bIns="109728" rtlCol="0" anchor="ctr"/>
          <a:lstStyle/>
          <a:p>
            <a:pPr marL="0" indent="0" algn="l">
              <a:spcAft>
                <a:spcPts val="400"/>
              </a:spcAft>
              <a:buNone/>
            </a:pPr>
            <a:r>
              <a:rPr sz="1600" b="1" i="0">
                <a:solidFill>
                  <a:srgbClr val="D31145"/>
                </a:solidFill>
                <a:latin typeface="Arial"/>
                <a:ea typeface="Microsoft JhengHei"/>
              </a:rPr>
              <a:t>Extraction rules</a:t>
            </a:r>
          </a:p>
          <a:p>
            <a:pPr marL="0" indent="0" algn="l">
              <a:spcAft>
                <a:spcPts val="0"/>
              </a:spcAft>
              <a:buNone/>
            </a:pPr>
            <a:r>
              <a:rPr sz="1250" b="0" i="0">
                <a:solidFill>
                  <a:srgbClr val="333D47"/>
                </a:solidFill>
                <a:latin typeface="Arial"/>
                <a:ea typeface="Microsoft JhengHei"/>
              </a:rPr>
              <a:t>written and updated by hand (69 → 225 label phrases)</a:t>
            </a:r>
          </a:p>
        </p:txBody>
      </p:sp>
      <p:sp>
        <p:nvSpPr>
          <p:cNvPr id="15" name="Right Arrow 14"/>
          <p:cNvSpPr/>
          <p:nvPr/>
        </p:nvSpPr>
        <p:spPr>
          <a:xfrm>
            <a:off x="5705855" y="2240280"/>
            <a:ext cx="292607" cy="274320"/>
          </a:xfrm>
          <a:prstGeom prst="rightArrow">
            <a:avLst/>
          </a:prstGeom>
          <a:solidFill>
            <a:srgbClr val="5F6770"/>
          </a:solidFill>
          <a:ln>
            <a:noFill/>
          </a:ln>
        </p:spPr>
        <p:txBody>
          <a:bodyPr rtlCol="0" anchor="ctr"/>
          <a:lstStyle/>
          <a:p>
            <a:pPr algn="ctr"/>
            <a:endParaRPr/>
          </a:p>
        </p:txBody>
      </p:sp>
      <p:sp>
        <p:nvSpPr>
          <p:cNvPr id="16" name="Rectangle 15"/>
          <p:cNvSpPr/>
          <p:nvPr/>
        </p:nvSpPr>
        <p:spPr>
          <a:xfrm>
            <a:off x="9235440" y="1828800"/>
            <a:ext cx="2560320" cy="1097280"/>
          </a:xfrm>
          <a:prstGeom prst="rect">
            <a:avLst/>
          </a:prstGeom>
          <a:solidFill>
            <a:srgbClr val="F2F2F2"/>
          </a:solidFill>
          <a:ln>
            <a:noFill/>
          </a:ln>
        </p:spPr>
        <p:txBody>
          <a:bodyPr wrap="square" lIns="146304" tIns="109728" rIns="146304" bIns="109728" rtlCol="0" anchor="ctr"/>
          <a:lstStyle/>
          <a:p>
            <a:pPr marL="0" indent="0" algn="l">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17" name="Right Arrow 16"/>
          <p:cNvSpPr/>
          <p:nvPr/>
        </p:nvSpPr>
        <p:spPr>
          <a:xfrm>
            <a:off x="8814816" y="2240280"/>
            <a:ext cx="292607" cy="274320"/>
          </a:xfrm>
          <a:prstGeom prst="rightArrow">
            <a:avLst/>
          </a:prstGeom>
          <a:solidFill>
            <a:srgbClr val="5F6770"/>
          </a:solidFill>
          <a:ln>
            <a:noFill/>
          </a:ln>
        </p:spPr>
        <p:txBody>
          <a:bodyPr rtlCol="0" anchor="ctr"/>
          <a:lstStyle/>
          <a:p>
            <a:pPr algn="ctr"/>
            <a:endParaRPr/>
          </a:p>
        </p:txBody>
      </p:sp>
      <p:sp>
        <p:nvSpPr>
          <p:cNvPr id="18" name="TextBox 17"/>
          <p:cNvSpPr txBox="1"/>
          <p:nvPr/>
        </p:nvSpPr>
        <p:spPr>
          <a:xfrm>
            <a:off x="356616" y="3611880"/>
            <a:ext cx="2514600" cy="1097280"/>
          </a:xfrm>
          <a:prstGeom prst="rect">
            <a:avLst/>
          </a:prstGeom>
          <a:noFill/>
        </p:spPr>
        <p:txBody>
          <a:bodyPr wrap="square" lIns="0" tIns="0" rIns="0" bIns="0" anchor="ctr"/>
          <a:lstStyle/>
          <a:p>
            <a:pPr marL="0" indent="0" algn="l">
              <a:spcAft>
                <a:spcPts val="200"/>
              </a:spcAft>
              <a:buNone/>
            </a:pPr>
            <a:r>
              <a:rPr sz="1800" b="1" i="0">
                <a:solidFill>
                  <a:srgbClr val="333D47"/>
                </a:solidFill>
                <a:latin typeface="Arial"/>
                <a:ea typeface="Microsoft JhengHei"/>
              </a:rPr>
              <a:t>AI extraction</a:t>
            </a:r>
          </a:p>
          <a:p>
            <a:pPr marL="0" indent="0" algn="l">
              <a:spcAft>
                <a:spcPts val="600"/>
              </a:spcAft>
              <a:buNone/>
            </a:pPr>
            <a:r>
              <a:rPr sz="1300" b="0" i="0">
                <a:solidFill>
                  <a:srgbClr val="5F6770"/>
                </a:solidFill>
                <a:latin typeface="Arial"/>
                <a:ea typeface="Microsoft JhengHei"/>
              </a:rPr>
              <a:t>Azure DI + AOAI</a:t>
            </a:r>
          </a:p>
          <a:p>
            <a:pPr marL="0" indent="0" algn="l">
              <a:spcAft>
                <a:spcPts val="0"/>
              </a:spcAft>
              <a:buNone/>
            </a:pPr>
            <a:r>
              <a:rPr sz="1500" b="1" i="0">
                <a:solidFill>
                  <a:srgbClr val="D31145"/>
                </a:solidFill>
                <a:latin typeface="Arial"/>
                <a:ea typeface="Microsoft JhengHei"/>
              </a:rPr>
              <a:t>88.2%, prompt unchanged</a:t>
            </a:r>
          </a:p>
        </p:txBody>
      </p:sp>
      <p:sp>
        <p:nvSpPr>
          <p:cNvPr id="19" name="Rectangle 18"/>
          <p:cNvSpPr/>
          <p:nvPr/>
        </p:nvSpPr>
        <p:spPr>
          <a:xfrm>
            <a:off x="3017520" y="3611880"/>
            <a:ext cx="2560320" cy="1097280"/>
          </a:xfrm>
          <a:prstGeom prst="rect">
            <a:avLst/>
          </a:prstGeom>
          <a:solidFill>
            <a:srgbClr val="F2F2F2"/>
          </a:solidFill>
          <a:ln>
            <a:noFill/>
          </a:ln>
        </p:spPr>
        <p:txBody>
          <a:bodyPr wrap="square" lIns="146304" tIns="109728" rIns="146304" bIns="109728" rtlCol="0" anchor="ctr"/>
          <a:lstStyle/>
          <a:p>
            <a:pPr marL="0" indent="0" algn="l">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Azure DI</a:t>
            </a:r>
          </a:p>
        </p:txBody>
      </p:sp>
      <p:sp>
        <p:nvSpPr>
          <p:cNvPr id="20" name="Rectangle 19"/>
          <p:cNvSpPr/>
          <p:nvPr/>
        </p:nvSpPr>
        <p:spPr>
          <a:xfrm>
            <a:off x="6126479" y="3611880"/>
            <a:ext cx="2560320" cy="1097280"/>
          </a:xfrm>
          <a:prstGeom prst="rect">
            <a:avLst/>
          </a:prstGeom>
          <a:solidFill>
            <a:srgbClr val="FFFFFF"/>
          </a:solidFill>
          <a:ln w="25400">
            <a:solidFill>
              <a:srgbClr val="D31145"/>
            </a:solidFill>
          </a:ln>
        </p:spPr>
        <p:txBody>
          <a:bodyPr wrap="square" lIns="146304" tIns="109728" rIns="146304" bIns="109728" rtlCol="0" anchor="ctr"/>
          <a:lstStyle/>
          <a:p>
            <a:pPr marL="0" indent="0" algn="l">
              <a:spcAft>
                <a:spcPts val="400"/>
              </a:spcAft>
              <a:buNone/>
            </a:pPr>
            <a:r>
              <a:rPr sz="1600" b="1" i="0">
                <a:solidFill>
                  <a:srgbClr val="D31145"/>
                </a:solidFill>
                <a:latin typeface="Arial"/>
                <a:ea typeface="Microsoft JhengHei"/>
              </a:rPr>
              <a:t>Azure OpenAI</a:t>
            </a:r>
          </a:p>
          <a:p>
            <a:pPr marL="0" indent="0" algn="l">
              <a:spcAft>
                <a:spcPts val="0"/>
              </a:spcAft>
              <a:buNone/>
            </a:pPr>
            <a:r>
              <a:rPr sz="1250" b="0" i="0">
                <a:solidFill>
                  <a:srgbClr val="333D47"/>
                </a:solidFill>
                <a:latin typeface="Arial"/>
                <a:ea typeface="Microsoft JhengHei"/>
              </a:rPr>
              <a:t>one fixed prompt, not changed for these receipts</a:t>
            </a:r>
          </a:p>
        </p:txBody>
      </p:sp>
      <p:sp>
        <p:nvSpPr>
          <p:cNvPr id="21" name="Right Arrow 20"/>
          <p:cNvSpPr/>
          <p:nvPr/>
        </p:nvSpPr>
        <p:spPr>
          <a:xfrm>
            <a:off x="5705855" y="4023359"/>
            <a:ext cx="292607" cy="274320"/>
          </a:xfrm>
          <a:prstGeom prst="rightArrow">
            <a:avLst/>
          </a:prstGeom>
          <a:solidFill>
            <a:srgbClr val="5F6770"/>
          </a:solidFill>
          <a:ln>
            <a:noFill/>
          </a:ln>
        </p:spPr>
        <p:txBody>
          <a:bodyPr rtlCol="0" anchor="ctr"/>
          <a:lstStyle/>
          <a:p>
            <a:pPr algn="ctr"/>
            <a:endParaRPr/>
          </a:p>
        </p:txBody>
      </p:sp>
      <p:sp>
        <p:nvSpPr>
          <p:cNvPr id="22" name="Rectangle 21"/>
          <p:cNvSpPr/>
          <p:nvPr/>
        </p:nvSpPr>
        <p:spPr>
          <a:xfrm>
            <a:off x="9235440" y="3611880"/>
            <a:ext cx="2560320" cy="1097280"/>
          </a:xfrm>
          <a:prstGeom prst="rect">
            <a:avLst/>
          </a:prstGeom>
          <a:solidFill>
            <a:srgbClr val="F2F2F2"/>
          </a:solidFill>
          <a:ln>
            <a:noFill/>
          </a:ln>
        </p:spPr>
        <p:txBody>
          <a:bodyPr wrap="square" lIns="146304" tIns="109728" rIns="146304" bIns="109728" rtlCol="0" anchor="ctr"/>
          <a:lstStyle/>
          <a:p>
            <a:pPr marL="0" indent="0" algn="l">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23" name="Right Arrow 22"/>
          <p:cNvSpPr/>
          <p:nvPr/>
        </p:nvSpPr>
        <p:spPr>
          <a:xfrm>
            <a:off x="8814816" y="4023359"/>
            <a:ext cx="292607" cy="274320"/>
          </a:xfrm>
          <a:prstGeom prst="rightArrow">
            <a:avLst/>
          </a:prstGeom>
          <a:solidFill>
            <a:srgbClr val="5F6770"/>
          </a:solidFill>
          <a:ln>
            <a:noFill/>
          </a:ln>
        </p:spPr>
        <p:txBody>
          <a:bodyPr rtlCol="0" anchor="ctr"/>
          <a:lstStyle/>
          <a:p>
            <a:pPr algn="ctr"/>
            <a:endParaRPr/>
          </a:p>
        </p:txBody>
      </p:sp>
      <p:sp>
        <p:nvSpPr>
          <p:cNvPr id="24" name="Down Arrow 23"/>
          <p:cNvSpPr/>
          <p:nvPr/>
        </p:nvSpPr>
        <p:spPr>
          <a:xfrm>
            <a:off x="7223759" y="3017520"/>
            <a:ext cx="365760" cy="502920"/>
          </a:xfrm>
          <a:prstGeom prst="downArrow">
            <a:avLst/>
          </a:prstGeom>
          <a:solidFill>
            <a:srgbClr val="D31145"/>
          </a:solidFill>
          <a:ln>
            <a:noFill/>
          </a:ln>
        </p:spPr>
        <p:txBody>
          <a:bodyPr rtlCol="0" anchor="ctr"/>
          <a:lstStyle/>
          <a:p>
            <a:pPr algn="ctr"/>
            <a:endParaRPr/>
          </a:p>
        </p:txBody>
      </p:sp>
      <p:sp>
        <p:nvSpPr>
          <p:cNvPr id="25" name="TextBox 24"/>
          <p:cNvSpPr txBox="1"/>
          <p:nvPr/>
        </p:nvSpPr>
        <p:spPr>
          <a:xfrm>
            <a:off x="7726679" y="3081528"/>
            <a:ext cx="2377440" cy="365760"/>
          </a:xfrm>
          <a:prstGeom prst="rect">
            <a:avLst/>
          </a:prstGeom>
          <a:noFill/>
        </p:spPr>
        <p:txBody>
          <a:bodyPr wrap="square" lIns="0" tIns="0" rIns="0" bIns="0" anchor="t"/>
          <a:lstStyle/>
          <a:p>
            <a:pPr marL="0" indent="0" algn="l">
              <a:spcAft>
                <a:spcPts val="0"/>
              </a:spcAft>
              <a:buNone/>
            </a:pPr>
            <a:r>
              <a:rPr sz="1400" b="0" i="1">
                <a:solidFill>
                  <a:srgbClr val="D31145"/>
                </a:solidFill>
                <a:latin typeface="Arial"/>
                <a:ea typeface="Microsoft JhengHei"/>
              </a:rPr>
              <a:t>replaced by</a:t>
            </a:r>
          </a:p>
        </p:txBody>
      </p:sp>
      <p:sp>
        <p:nvSpPr>
          <p:cNvPr id="26" name="Rectangle 25"/>
          <p:cNvSpPr/>
          <p:nvPr/>
        </p:nvSpPr>
        <p:spPr>
          <a:xfrm>
            <a:off x="356616" y="4983480"/>
            <a:ext cx="11475720" cy="685800"/>
          </a:xfrm>
          <a:prstGeom prst="rect">
            <a:avLst/>
          </a:prstGeom>
          <a:solidFill>
            <a:srgbClr val="F2F2F2"/>
          </a:solidFill>
          <a:ln>
            <a:noFill/>
          </a:ln>
        </p:spPr>
        <p:txBody>
          <a:bodyPr wrap="square" lIns="228600" tIns="109728" rIns="228600" bIns="109728" rtlCol="0" anchor="ctr"/>
          <a:lstStyle/>
          <a:p>
            <a:pPr marL="0" indent="0" algn="l">
              <a:spcAft>
                <a:spcPts val="0"/>
              </a:spcAft>
              <a:buNone/>
            </a:pPr>
            <a:r>
              <a:rPr sz="1600" b="1" i="0">
                <a:solidFill>
                  <a:srgbClr val="333D47"/>
                </a:solidFill>
                <a:latin typeface="Arial"/>
                <a:ea typeface="Microsoft JhengHei"/>
              </a:rPr>
              <a:t>AOAI replaces the manual rule layer. </a:t>
            </a:r>
            <a:r>
              <a:rPr sz="1500" b="0" i="0">
                <a:solidFill>
                  <a:srgbClr val="333D47"/>
                </a:solidFill>
                <a:latin typeface="Arial"/>
                <a:ea typeface="Microsoft JhengHei"/>
              </a:rPr>
              <a:t>It still makes mistakes (6 of 51 fields wrong) and has not yet been tested on a large set of unseen receipts.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56616" y="502920"/>
            <a:ext cx="11155680" cy="566928"/>
          </a:xfrm>
        </p:spPr>
        <p:txBody>
          <a:bodyPr lIns="0"/>
          <a:lstStyle/>
          <a:p>
            <a:r>
              <a:rPr sz="2800" b="1">
                <a:solidFill>
                  <a:srgbClr val="333D47"/>
                </a:solidFill>
                <a:latin typeface="Arial"/>
                <a:ea typeface="Microsoft JhengHei"/>
              </a:rPr>
              <a:t>Example 1: The OCR Was Right, the Rules Were Wrong</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5</a:t>
            </a:fld>
            <a:endParaRPr lang="en-US" dirty="0"/>
          </a:p>
        </p:txBody>
      </p:sp>
      <p:sp>
        <p:nvSpPr>
          <p:cNvPr id="11" name="TextBox 10"/>
          <p:cNvSpPr txBox="1"/>
          <p:nvPr/>
        </p:nvSpPr>
        <p:spPr>
          <a:xfrm>
            <a:off x="356616" y="1115568"/>
            <a:ext cx="11475720" cy="457200"/>
          </a:xfrm>
          <a:prstGeom prst="rect">
            <a:avLst/>
          </a:prstGeom>
          <a:noFill/>
        </p:spPr>
        <p:txBody>
          <a:bodyPr wrap="square" lIns="0" tIns="0" rIns="0" bIns="0" anchor="t"/>
          <a:lstStyle/>
          <a:p>
            <a:pPr marL="0" indent="0" algn="l">
              <a:spcAft>
                <a:spcPts val="0"/>
              </a:spcAft>
              <a:buNone/>
            </a:pPr>
            <a:r>
              <a:rPr sz="1700" b="0" i="0">
                <a:solidFill>
                  <a:srgbClr val="D31145"/>
                </a:solidFill>
                <a:latin typeface="Arial"/>
                <a:ea typeface="Microsoft JhengHei"/>
              </a:rPr>
              <a:t>Both OCR engines read the names. The original rules took the label 病人 as the patient's name.</a:t>
            </a:r>
          </a:p>
        </p:txBody>
      </p:sp>
      <p:pic>
        <p:nvPicPr>
          <p:cNvPr id="12" name="Picture 11" descr="crop_receipt8.jpg"/>
          <p:cNvPicPr>
            <a:picLocks noChangeAspect="1"/>
          </p:cNvPicPr>
          <p:nvPr/>
        </p:nvPicPr>
        <p:blipFill>
          <a:blip r:embed="rId3"/>
          <a:stretch>
            <a:fillRect/>
          </a:stretch>
        </p:blipFill>
        <p:spPr>
          <a:xfrm>
            <a:off x="356616" y="1783080"/>
            <a:ext cx="5120640" cy="3499846"/>
          </a:xfrm>
          <a:prstGeom prst="rect">
            <a:avLst/>
          </a:prstGeom>
          <a:ln w="9525">
            <a:solidFill>
              <a:srgbClr val="BFBFBF"/>
            </a:solidFill>
          </a:ln>
        </p:spPr>
      </p:pic>
      <p:graphicFrame>
        <p:nvGraphicFramePr>
          <p:cNvPr id="13" name="Table 12"/>
          <p:cNvGraphicFramePr>
            <a:graphicFrameLocks noGrp="1"/>
          </p:cNvGraphicFramePr>
          <p:nvPr/>
        </p:nvGraphicFramePr>
        <p:xfrm>
          <a:off x="5760720" y="1783080"/>
          <a:ext cx="6071616" cy="1883664"/>
        </p:xfrm>
        <a:graphic>
          <a:graphicData uri="http://schemas.openxmlformats.org/drawingml/2006/table">
            <a:tbl>
              <a:tblPr>
                <a:tableStyleId>{2D5ABB26-0587-4C30-8999-92F81FD0307C}</a:tableStyleId>
              </a:tblPr>
              <a:tblGrid>
                <a:gridCol w="10515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71016">
                  <a:extLst>
                    <a:ext uri="{9D8B030D-6E8A-4147-A177-3AD203B41FA5}">
                      <a16:colId xmlns:a16="http://schemas.microsoft.com/office/drawing/2014/main" val="20004"/>
                    </a:ext>
                  </a:extLst>
                </a:gridCol>
              </a:tblGrid>
              <a:tr h="566928">
                <a:tc>
                  <a:txBody>
                    <a:bodyPr/>
                    <a:lstStyle/>
                    <a:p>
                      <a:pPr algn="l"/>
                      <a:r>
                        <a:rPr sz="1250" b="1" i="0">
                          <a:solidFill>
                            <a:srgbClr val="FFFFFF"/>
                          </a:solidFill>
                          <a:latin typeface="Arial"/>
                          <a:ea typeface="Microsoft JhengHei"/>
                        </a:rPr>
                        <a:t>Field</a:t>
                      </a:r>
                    </a:p>
                  </a:txBody>
                  <a:tcPr anchor="ctr">
                    <a:lnL w="0">
                      <a:noFill/>
                    </a:lnL>
                    <a:lnR w="0">
                      <a:noFill/>
                    </a:lnR>
                    <a:lnT w="0">
                      <a:noFill/>
                    </a:lnT>
                    <a:lnB w="0">
                      <a:noFill/>
                    </a:lnB>
                    <a:solidFill>
                      <a:srgbClr val="333D47"/>
                    </a:solidFill>
                  </a:tcPr>
                </a:tc>
                <a:tc>
                  <a:txBody>
                    <a:bodyPr/>
                    <a:lstStyle/>
                    <a:p>
                      <a:pPr algn="l"/>
                      <a:r>
                        <a:rPr sz="1250" b="1" i="0">
                          <a:solidFill>
                            <a:srgbClr val="FFFFFF"/>
                          </a:solidFill>
                          <a:latin typeface="Arial"/>
                          <a:ea typeface="Microsoft JhengHei"/>
                        </a:rPr>
                        <a:t>Correct</a:t>
                      </a:r>
                    </a:p>
                  </a:txBody>
                  <a:tcPr anchor="ctr">
                    <a:lnL w="0">
                      <a:noFill/>
                    </a:lnL>
                    <a:lnR w="0">
                      <a:noFill/>
                    </a:lnR>
                    <a:lnT w="0">
                      <a:noFill/>
                    </a:lnT>
                    <a:lnB w="0">
                      <a:noFill/>
                    </a:lnB>
                    <a:solidFill>
                      <a:srgbClr val="333D47"/>
                    </a:solidFill>
                  </a:tcPr>
                </a:tc>
                <a:tc>
                  <a:txBody>
                    <a:bodyPr/>
                    <a:lstStyle/>
                    <a:p>
                      <a:pPr algn="l"/>
                      <a:r>
                        <a:rPr sz="1250" b="1" i="0">
                          <a:solidFill>
                            <a:srgbClr val="FFFFFF"/>
                          </a:solidFill>
                          <a:latin typeface="Arial"/>
                          <a:ea typeface="Microsoft JhengHei"/>
                        </a:rPr>
                        <a:t>Original rules</a:t>
                      </a:r>
                    </a:p>
                  </a:txBody>
                  <a:tcPr anchor="ctr">
                    <a:lnL w="0">
                      <a:noFill/>
                    </a:lnL>
                    <a:lnR w="0">
                      <a:noFill/>
                    </a:lnR>
                    <a:lnT w="0">
                      <a:noFill/>
                    </a:lnT>
                    <a:lnB w="0">
                      <a:noFill/>
                    </a:lnB>
                    <a:solidFill>
                      <a:srgbClr val="333D47"/>
                    </a:solidFill>
                  </a:tcPr>
                </a:tc>
                <a:tc>
                  <a:txBody>
                    <a:bodyPr/>
                    <a:lstStyle/>
                    <a:p>
                      <a:pPr algn="l"/>
                      <a:r>
                        <a:rPr sz="1250" b="1" i="0">
                          <a:solidFill>
                            <a:srgbClr val="FFFFFF"/>
                          </a:solidFill>
                          <a:latin typeface="Arial"/>
                          <a:ea typeface="Microsoft JhengHei"/>
                        </a:rPr>
                        <a:t>Improved rules</a:t>
                      </a:r>
                    </a:p>
                  </a:txBody>
                  <a:tcPr anchor="ctr">
                    <a:lnL w="0">
                      <a:noFill/>
                    </a:lnL>
                    <a:lnR w="0">
                      <a:noFill/>
                    </a:lnR>
                    <a:lnT w="0">
                      <a:noFill/>
                    </a:lnT>
                    <a:lnB w="0">
                      <a:noFill/>
                    </a:lnB>
                    <a:solidFill>
                      <a:srgbClr val="333D47"/>
                    </a:solidFill>
                  </a:tcPr>
                </a:tc>
                <a:tc>
                  <a:txBody>
                    <a:bodyPr/>
                    <a:lstStyle/>
                    <a:p>
                      <a:pPr algn="l"/>
                      <a:r>
                        <a:rPr sz="1250" b="1" i="0">
                          <a:solidFill>
                            <a:srgbClr val="FFFFFF"/>
                          </a:solidFill>
                          <a:latin typeface="Arial"/>
                          <a:ea typeface="Microsoft JhengHei"/>
                        </a:rPr>
                        <a:t>DI + AOAI</a:t>
                      </a:r>
                    </a:p>
                  </a:txBody>
                  <a:tcPr anchor="ctr">
                    <a:lnL w="0">
                      <a:noFill/>
                    </a:lnL>
                    <a:lnR w="0">
                      <a:noFill/>
                    </a:lnR>
                    <a:lnT w="0">
                      <a:noFill/>
                    </a:lnT>
                    <a:lnB w="0">
                      <a:noFill/>
                    </a:lnB>
                    <a:solidFill>
                      <a:srgbClr val="333D47"/>
                    </a:solidFill>
                  </a:tcPr>
                </a:tc>
                <a:extLst>
                  <a:ext uri="{0D108BD9-81ED-4DB2-BD59-A6C34878D82A}">
                    <a16:rowId xmlns:a16="http://schemas.microsoft.com/office/drawing/2014/main" val="10000"/>
                  </a:ext>
                </a:extLst>
              </a:tr>
              <a:tr h="658368">
                <a:tc>
                  <a:txBody>
                    <a:bodyPr/>
                    <a:lstStyle/>
                    <a:p>
                      <a:pPr algn="l"/>
                      <a:r>
                        <a:rPr sz="1400" b="1" i="0">
                          <a:solidFill>
                            <a:srgbClr val="333D47"/>
                          </a:solidFill>
                          <a:latin typeface="Arial"/>
                          <a:ea typeface="Microsoft JhengHei"/>
                        </a:rPr>
                        <a:t>Patient</a:t>
                      </a:r>
                    </a:p>
                  </a:txBody>
                  <a:tcPr anchor="ctr">
                    <a:lnL w="0">
                      <a:noFill/>
                    </a:lnL>
                    <a:lnR w="0">
                      <a:noFill/>
                    </a:lnR>
                    <a:lnT w="0">
                      <a:noFill/>
                    </a:lnT>
                    <a:lnB w="19050" cmpd="sng">
                      <a:solidFill>
                        <a:srgbClr val="FFFFFF"/>
                      </a:solidFill>
                    </a:lnB>
                    <a:noFill/>
                  </a:tcPr>
                </a:tc>
                <a:tc>
                  <a:txBody>
                    <a:bodyPr/>
                    <a:lstStyle/>
                    <a:p>
                      <a:pPr algn="l"/>
                      <a:r>
                        <a:rPr sz="1400" b="0" i="0">
                          <a:solidFill>
                            <a:srgbClr val="333D47"/>
                          </a:solidFill>
                          <a:latin typeface="Arial"/>
                          <a:ea typeface="Microsoft JhengHei"/>
                        </a:rPr>
                        <a:t>蔡嘉穎</a:t>
                      </a:r>
                    </a:p>
                  </a:txBody>
                  <a:tcPr anchor="ctr">
                    <a:lnL w="0">
                      <a:noFill/>
                    </a:lnL>
                    <a:lnR w="0">
                      <a:noFill/>
                    </a:lnR>
                    <a:lnT w="0">
                      <a:noFill/>
                    </a:lnT>
                    <a:lnB w="19050" cmpd="sng">
                      <a:solidFill>
                        <a:srgbClr val="FFFFFF"/>
                      </a:solidFill>
                    </a:lnB>
                    <a:noFill/>
                  </a:tcPr>
                </a:tc>
                <a:tc>
                  <a:txBody>
                    <a:bodyPr/>
                    <a:lstStyle/>
                    <a:p>
                      <a:pPr algn="l"/>
                      <a:r>
                        <a:rPr sz="1400" b="1" i="0">
                          <a:solidFill>
                            <a:srgbClr val="D31145"/>
                          </a:solidFill>
                          <a:latin typeface="Arial"/>
                          <a:ea typeface="Microsoft JhengHei"/>
                        </a:rPr>
                        <a:t>✗ </a:t>
                      </a:r>
                      <a:r>
                        <a:rPr sz="1400" b="0" i="0">
                          <a:solidFill>
                            <a:srgbClr val="333D47"/>
                          </a:solidFill>
                          <a:latin typeface="Arial"/>
                          <a:ea typeface="Microsoft JhengHei"/>
                        </a:rPr>
                        <a:t>病人</a:t>
                      </a:r>
                    </a:p>
                  </a:txBody>
                  <a:tcPr anchor="ctr">
                    <a:lnL w="0">
                      <a:noFill/>
                    </a:lnL>
                    <a:lnR w="0">
                      <a:noFill/>
                    </a:lnR>
                    <a:lnT w="0">
                      <a:noFill/>
                    </a:lnT>
                    <a:lnB w="19050" cmpd="sng">
                      <a:solidFill>
                        <a:srgbClr val="FFFFFF"/>
                      </a:solidFill>
                    </a:lnB>
                    <a:solidFill>
                      <a:srgbClr val="FBE7EC"/>
                    </a:solidFill>
                  </a:tcPr>
                </a:tc>
                <a:tc>
                  <a:txBody>
                    <a:bodyPr/>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anchor="ctr">
                    <a:lnL w="0">
                      <a:noFill/>
                    </a:lnL>
                    <a:lnR w="0">
                      <a:noFill/>
                    </a:lnR>
                    <a:lnT w="0">
                      <a:noFill/>
                    </a:lnT>
                    <a:lnB w="19050" cmpd="sng">
                      <a:solidFill>
                        <a:srgbClr val="FFFFFF"/>
                      </a:solidFill>
                    </a:lnB>
                    <a:solidFill>
                      <a:srgbClr val="E6F2EA"/>
                    </a:solidFill>
                  </a:tcPr>
                </a:tc>
                <a:tc>
                  <a:txBody>
                    <a:bodyPr/>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anchor="ctr">
                    <a:lnL w="0">
                      <a:noFill/>
                    </a:lnL>
                    <a:lnR w="0">
                      <a:noFill/>
                    </a:lnR>
                    <a:lnT w="0">
                      <a:noFill/>
                    </a:lnT>
                    <a:lnB w="19050" cmpd="sng">
                      <a:solidFill>
                        <a:srgbClr val="FFFFFF"/>
                      </a:solidFill>
                    </a:lnB>
                    <a:solidFill>
                      <a:srgbClr val="E6F2EA"/>
                    </a:solidFill>
                  </a:tcPr>
                </a:tc>
                <a:extLst>
                  <a:ext uri="{0D108BD9-81ED-4DB2-BD59-A6C34878D82A}">
                    <a16:rowId xmlns:a16="http://schemas.microsoft.com/office/drawing/2014/main" val="10001"/>
                  </a:ext>
                </a:extLst>
              </a:tr>
              <a:tr h="658368">
                <a:tc>
                  <a:txBody>
                    <a:bodyPr/>
                    <a:lstStyle/>
                    <a:p>
                      <a:pPr algn="l"/>
                      <a:r>
                        <a:rPr sz="1400" b="1" i="0">
                          <a:solidFill>
                            <a:srgbClr val="333D47"/>
                          </a:solidFill>
                          <a:latin typeface="Arial"/>
                          <a:ea typeface="Microsoft JhengHei"/>
                        </a:rPr>
                        <a:t>Doctor</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noFill/>
                  </a:tcPr>
                </a:tc>
                <a:tc>
                  <a:txBody>
                    <a:bodyPr/>
                    <a:lstStyle/>
                    <a:p>
                      <a:pPr algn="l"/>
                      <a:r>
                        <a:rPr sz="1400" b="0" i="0">
                          <a:solidFill>
                            <a:srgbClr val="333D47"/>
                          </a:solidFill>
                          <a:latin typeface="Arial"/>
                          <a:ea typeface="Microsoft JhengHei"/>
                        </a:rPr>
                        <a:t>Dr. Siu Ka Wai</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noFill/>
                  </a:tcPr>
                </a:tc>
                <a:tc>
                  <a:txBody>
                    <a:bodyPr/>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solidFill>
                      <a:srgbClr val="FBE7EC"/>
                    </a:solidFill>
                  </a:tcPr>
                </a:tc>
                <a:tc>
                  <a:txBody>
                    <a:bodyPr/>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solidFill>
                      <a:srgbClr val="E6F2EA"/>
                    </a:solidFill>
                  </a:tcPr>
                </a:tc>
                <a:tc>
                  <a:txBody>
                    <a:bodyPr/>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solidFill>
                      <a:srgbClr val="E6F2EA"/>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5760720" y="3886200"/>
            <a:ext cx="6071616" cy="1463040"/>
          </a:xfrm>
          <a:prstGeom prst="rect">
            <a:avLst/>
          </a:prstGeom>
          <a:noFill/>
        </p:spPr>
        <p:txBody>
          <a:bodyPr wrap="square" lIns="0" tIns="0" rIns="0" bIns="0" anchor="t"/>
          <a:lstStyle/>
          <a:p>
            <a:pPr marL="182880" indent="-182880" algn="l">
              <a:spcAft>
                <a:spcPts val="600"/>
              </a:spcAft>
              <a:buFont typeface="Arial"/>
              <a:buChar char="•"/>
            </a:pPr>
            <a:r>
              <a:rPr sz="1400" b="0" i="0">
                <a:solidFill>
                  <a:srgbClr val="333D47"/>
                </a:solidFill>
                <a:latin typeface="Arial"/>
                <a:ea typeface="Microsoft JhengHei"/>
              </a:rPr>
              <a:t>Original rules: took the Chinese label 病人 ("patient") as the patient's name.</a:t>
            </a:r>
          </a:p>
          <a:p>
            <a:pPr marL="182880" indent="-182880" algn="l">
              <a:spcAft>
                <a:spcPts val="600"/>
              </a:spcAft>
              <a:buFont typeface="Arial"/>
              <a:buChar char="•"/>
            </a:pPr>
            <a:r>
              <a:rPr sz="1400" b="0" i="0">
                <a:solidFill>
                  <a:srgbClr val="333D47"/>
                </a:solidFill>
                <a:latin typeface="Arial"/>
                <a:ea typeface="Microsoft JhengHei"/>
              </a:rPr>
              <a:t>Improved rules: fixed by adding bilingual labels by hand.</a:t>
            </a:r>
          </a:p>
          <a:p>
            <a:pPr marL="182880" indent="-182880" algn="l">
              <a:spcAft>
                <a:spcPts val="0"/>
              </a:spcAft>
              <a:buFont typeface="Arial"/>
              <a:buChar char="•"/>
            </a:pPr>
            <a:r>
              <a:rPr sz="1400" b="0" i="0">
                <a:solidFill>
                  <a:srgbClr val="333D47"/>
                </a:solidFill>
                <a:latin typeface="Arial"/>
                <a:ea typeface="Microsoft JhengHei"/>
              </a:rPr>
              <a:t>AOAI: correct with the same prompt; no change needed.</a:t>
            </a:r>
          </a:p>
        </p:txBody>
      </p:sp>
      <p:sp>
        <p:nvSpPr>
          <p:cNvPr id="15" name="TextBox 14"/>
          <p:cNvSpPr txBox="1"/>
          <p:nvPr/>
        </p:nvSpPr>
        <p:spPr>
          <a:xfrm>
            <a:off x="356616" y="5623560"/>
            <a:ext cx="10972800" cy="320040"/>
          </a:xfrm>
          <a:prstGeom prst="rect">
            <a:avLst/>
          </a:prstGeom>
          <a:noFill/>
        </p:spPr>
        <p:txBody>
          <a:bodyPr wrap="square" lIns="0" tIns="0" rIns="0" bIns="0" anchor="t"/>
          <a:lstStyle/>
          <a:p>
            <a:pPr marL="0" indent="0" algn="l">
              <a:spcAft>
                <a:spcPts val="0"/>
              </a:spcAft>
              <a:buNone/>
            </a:pPr>
            <a:r>
              <a:rPr sz="1100" b="0" i="1">
                <a:solidFill>
                  <a:srgbClr val="5F6770"/>
                </a:solidFill>
                <a:latin typeface="Arial"/>
                <a:ea typeface="Microsoft JhengHei"/>
              </a:rPr>
              <a:t>Bilingual medical centre receipt. Rules shown on PaddleOCR Light text; Azure DI with the original rules made the same patient error.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56616" y="502920"/>
            <a:ext cx="11155680" cy="566928"/>
          </a:xfrm>
        </p:spPr>
        <p:txBody>
          <a:bodyPr lIns="0"/>
          <a:lstStyle/>
          <a:p>
            <a:r>
              <a:rPr sz="2800" b="1">
                <a:solidFill>
                  <a:srgbClr val="333D47"/>
                </a:solidFill>
                <a:latin typeface="Arial"/>
                <a:ea typeface="Microsoft JhengHei"/>
              </a:rPr>
              <a:t>Example 2: Reaching 88.2% With Rules Took Manual Work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6</a:t>
            </a:fld>
            <a:endParaRPr lang="en-US" dirty="0"/>
          </a:p>
        </p:txBody>
      </p:sp>
      <p:sp>
        <p:nvSpPr>
          <p:cNvPr id="11" name="TextBox 10"/>
          <p:cNvSpPr txBox="1"/>
          <p:nvPr/>
        </p:nvSpPr>
        <p:spPr>
          <a:xfrm>
            <a:off x="356616" y="1115568"/>
            <a:ext cx="11475720" cy="457200"/>
          </a:xfrm>
          <a:prstGeom prst="rect">
            <a:avLst/>
          </a:prstGeom>
          <a:noFill/>
        </p:spPr>
        <p:txBody>
          <a:bodyPr wrap="square" lIns="0" tIns="0" rIns="0" bIns="0" anchor="t"/>
          <a:lstStyle/>
          <a:p>
            <a:pPr marL="0" indent="0" algn="l">
              <a:spcAft>
                <a:spcPts val="0"/>
              </a:spcAft>
              <a:buNone/>
            </a:pPr>
            <a:r>
              <a:rPr sz="1700" b="0" i="0">
                <a:solidFill>
                  <a:srgbClr val="D31145"/>
                </a:solidFill>
                <a:latin typeface="Arial"/>
                <a:ea typeface="Microsoft JhengHei"/>
              </a:rPr>
              <a:t>Each new language or label wording had to be added by hand, and one change broke another receipt.</a:t>
            </a:r>
          </a:p>
        </p:txBody>
      </p:sp>
      <p:pic>
        <p:nvPicPr>
          <p:cNvPr id="12" name="Picture 11" descr="crop_receipt4.jpg"/>
          <p:cNvPicPr>
            <a:picLocks noChangeAspect="1"/>
          </p:cNvPicPr>
          <p:nvPr/>
        </p:nvPicPr>
        <p:blipFill>
          <a:blip r:embed="rId3"/>
          <a:stretch>
            <a:fillRect/>
          </a:stretch>
        </p:blipFill>
        <p:spPr>
          <a:xfrm>
            <a:off x="356616" y="1783080"/>
            <a:ext cx="4206240" cy="2392748"/>
          </a:xfrm>
          <a:prstGeom prst="rect">
            <a:avLst/>
          </a:prstGeom>
          <a:ln w="9525">
            <a:solidFill>
              <a:srgbClr val="BFBFBF"/>
            </a:solidFill>
          </a:ln>
        </p:spPr>
      </p:pic>
      <p:sp>
        <p:nvSpPr>
          <p:cNvPr id="13" name="TextBox 12"/>
          <p:cNvSpPr txBox="1"/>
          <p:nvPr/>
        </p:nvSpPr>
        <p:spPr>
          <a:xfrm>
            <a:off x="356616" y="4389120"/>
            <a:ext cx="4206240" cy="685800"/>
          </a:xfrm>
          <a:prstGeom prst="rect">
            <a:avLst/>
          </a:prstGeom>
          <a:noFill/>
        </p:spPr>
        <p:txBody>
          <a:bodyPr wrap="square" lIns="0" tIns="0" rIns="0" bIns="0" anchor="t"/>
          <a:lstStyle/>
          <a:p>
            <a:pPr marL="0" indent="0" algn="l">
              <a:spcAft>
                <a:spcPts val="0"/>
              </a:spcAft>
              <a:buNone/>
            </a:pPr>
            <a:r>
              <a:rPr sz="1200" b="0" i="0">
                <a:solidFill>
                  <a:srgbClr val="5F6770"/>
                </a:solidFill>
                <a:latin typeface="Arial"/>
                <a:ea typeface="Microsoft JhengHei"/>
              </a:rPr>
              <a:t>Chinese medicine receipt: original rules 0/6 fields, improved rules 6/6, DI + AOAI 6/6 (prompt unchanged).</a:t>
            </a:r>
          </a:p>
        </p:txBody>
      </p:sp>
      <p:sp>
        <p:nvSpPr>
          <p:cNvPr id="14" name="Rectangle 13"/>
          <p:cNvSpPr/>
          <p:nvPr/>
        </p:nvSpPr>
        <p:spPr>
          <a:xfrm>
            <a:off x="4846320" y="1783080"/>
            <a:ext cx="2240280" cy="2514600"/>
          </a:xfrm>
          <a:prstGeom prst="rect">
            <a:avLst/>
          </a:prstGeom>
          <a:solidFill>
            <a:srgbClr val="F2F2F2"/>
          </a:solidFill>
          <a:ln>
            <a:noFill/>
          </a:ln>
        </p:spPr>
        <p:txBody>
          <a:bodyPr wrap="square" lIns="182880" tIns="109728" rIns="182880" bIns="109728" rtlCol="0" anchor="t"/>
          <a:lstStyle/>
          <a:p>
            <a:pPr marL="0" indent="0" algn="l">
              <a:spcAft>
                <a:spcPts val="800"/>
              </a:spcAft>
              <a:buNone/>
            </a:pPr>
            <a:r>
              <a:rPr sz="2200" b="1" i="0">
                <a:solidFill>
                  <a:srgbClr val="D31145"/>
                </a:solidFill>
                <a:latin typeface="Arial"/>
                <a:ea typeface="Microsoft JhengHei"/>
              </a:rPr>
              <a:t>69 → 225</a:t>
            </a:r>
          </a:p>
          <a:p>
            <a:pPr marL="0" indent="0" algn="l">
              <a:spcAft>
                <a:spcPts val="0"/>
              </a:spcAft>
              <a:buNone/>
            </a:pPr>
            <a:r>
              <a:rPr sz="1300" b="0" i="0">
                <a:solidFill>
                  <a:srgbClr val="333D47"/>
                </a:solidFill>
                <a:latin typeface="Arial"/>
                <a:ea typeface="Microsoft JhengHei"/>
              </a:rPr>
              <a:t>label phrases in the rules, added by hand after reviewing the errors</a:t>
            </a:r>
          </a:p>
        </p:txBody>
      </p:sp>
      <p:sp>
        <p:nvSpPr>
          <p:cNvPr id="15" name="Rectangle 14"/>
          <p:cNvSpPr/>
          <p:nvPr/>
        </p:nvSpPr>
        <p:spPr>
          <a:xfrm>
            <a:off x="7223760" y="1783080"/>
            <a:ext cx="2240280" cy="2514600"/>
          </a:xfrm>
          <a:prstGeom prst="rect">
            <a:avLst/>
          </a:prstGeom>
          <a:solidFill>
            <a:srgbClr val="F2F2F2"/>
          </a:solidFill>
          <a:ln>
            <a:noFill/>
          </a:ln>
        </p:spPr>
        <p:txBody>
          <a:bodyPr wrap="square" lIns="182880" tIns="109728" rIns="182880" bIns="109728" rtlCol="0" anchor="t"/>
          <a:lstStyle/>
          <a:p>
            <a:pPr marL="0" indent="0" algn="l">
              <a:spcAft>
                <a:spcPts val="800"/>
              </a:spcAft>
              <a:buNone/>
            </a:pPr>
            <a:r>
              <a:rPr sz="2200" b="1" i="0">
                <a:solidFill>
                  <a:srgbClr val="D31145"/>
                </a:solidFill>
                <a:latin typeface="Arial"/>
                <a:ea typeface="Microsoft JhengHei"/>
              </a:rPr>
              <a:t>369303 → 380048</a:t>
            </a:r>
          </a:p>
          <a:p>
            <a:pPr marL="0" indent="0" algn="l">
              <a:spcAft>
                <a:spcPts val="0"/>
              </a:spcAft>
              <a:buNone/>
            </a:pPr>
            <a:r>
              <a:rPr sz="1300" b="0" i="0">
                <a:solidFill>
                  <a:srgbClr val="333D47"/>
                </a:solidFill>
                <a:latin typeface="Arial"/>
                <a:ea typeface="Microsoft JhengHei"/>
              </a:rPr>
              <a:t>vet invoice receipt number: correct before the changes, wrong after (a regression)</a:t>
            </a:r>
          </a:p>
        </p:txBody>
      </p:sp>
      <p:sp>
        <p:nvSpPr>
          <p:cNvPr id="16" name="Rectangle 15"/>
          <p:cNvSpPr/>
          <p:nvPr/>
        </p:nvSpPr>
        <p:spPr>
          <a:xfrm>
            <a:off x="9601200" y="1783080"/>
            <a:ext cx="2240280" cy="2514600"/>
          </a:xfrm>
          <a:prstGeom prst="rect">
            <a:avLst/>
          </a:prstGeom>
          <a:solidFill>
            <a:srgbClr val="F2F2F2"/>
          </a:solidFill>
          <a:ln>
            <a:noFill/>
          </a:ln>
        </p:spPr>
        <p:txBody>
          <a:bodyPr wrap="square" lIns="182880" tIns="109728" rIns="182880" bIns="109728" rtlCol="0" anchor="t"/>
          <a:lstStyle/>
          <a:p>
            <a:pPr marL="0" indent="0" algn="l">
              <a:spcAft>
                <a:spcPts val="800"/>
              </a:spcAft>
              <a:buNone/>
            </a:pPr>
            <a:r>
              <a:rPr sz="2200" b="1" i="0">
                <a:solidFill>
                  <a:srgbClr val="D31145"/>
                </a:solidFill>
                <a:latin typeface="Arial"/>
                <a:ea typeface="Microsoft JhengHei"/>
              </a:rPr>
              <a:t>New layouts</a:t>
            </a:r>
          </a:p>
          <a:p>
            <a:pPr marL="0" indent="0" algn="l">
              <a:spcAft>
                <a:spcPts val="0"/>
              </a:spcAft>
              <a:buNone/>
            </a:pPr>
            <a:r>
              <a:rPr sz="1300" b="0" i="0">
                <a:solidFill>
                  <a:srgbClr val="333D47"/>
                </a:solidFill>
                <a:latin typeface="Arial"/>
                <a:ea typeface="Microsoft JhengHei"/>
              </a:rPr>
              <a:t>will likely need more rule changes and a retest of every receipt</a:t>
            </a:r>
          </a:p>
        </p:txBody>
      </p:sp>
      <p:sp>
        <p:nvSpPr>
          <p:cNvPr id="17" name="TextBox 16"/>
          <p:cNvSpPr txBox="1"/>
          <p:nvPr/>
        </p:nvSpPr>
        <p:spPr>
          <a:xfrm>
            <a:off x="4846320" y="4434840"/>
            <a:ext cx="6986016" cy="1005840"/>
          </a:xfrm>
          <a:prstGeom prst="rect">
            <a:avLst/>
          </a:prstGeom>
          <a:noFill/>
        </p:spPr>
        <p:txBody>
          <a:bodyPr wrap="square" lIns="0" tIns="0" rIns="0" bIns="0" anchor="t"/>
          <a:lstStyle/>
          <a:p>
            <a:pPr marL="0" indent="0" algn="l">
              <a:spcAft>
                <a:spcPts val="0"/>
              </a:spcAft>
              <a:buNone/>
            </a:pPr>
            <a:r>
              <a:rPr sz="1400" b="0" i="0">
                <a:solidFill>
                  <a:srgbClr val="333D47"/>
                </a:solidFill>
                <a:latin typeface="Arial"/>
                <a:ea typeface="Microsoft JhengHei"/>
              </a:rPr>
              <a:t>DI + AOAI needed none of these changes for these receipts. Whether that holds for new layouts still needs to be tested.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56616" y="502920"/>
            <a:ext cx="11155680" cy="566928"/>
          </a:xfrm>
        </p:spPr>
        <p:txBody>
          <a:bodyPr lIns="0"/>
          <a:lstStyle/>
          <a:p>
            <a:r>
              <a:rPr sz="2800" b="1">
                <a:solidFill>
                  <a:srgbClr val="333D47"/>
                </a:solidFill>
                <a:latin typeface="Arial"/>
                <a:ea typeface="Microsoft JhengHei"/>
              </a:rPr>
              <a:t>Example 3: AOAI Still Makes Mistakes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7</a:t>
            </a:fld>
            <a:endParaRPr lang="en-US" dirty="0"/>
          </a:p>
        </p:txBody>
      </p:sp>
      <p:sp>
        <p:nvSpPr>
          <p:cNvPr id="11" name="TextBox 10"/>
          <p:cNvSpPr txBox="1"/>
          <p:nvPr/>
        </p:nvSpPr>
        <p:spPr>
          <a:xfrm>
            <a:off x="356616" y="1115568"/>
            <a:ext cx="11475720" cy="457200"/>
          </a:xfrm>
          <a:prstGeom prst="rect">
            <a:avLst/>
          </a:prstGeom>
          <a:noFill/>
        </p:spPr>
        <p:txBody>
          <a:bodyPr wrap="square" lIns="0" tIns="0" rIns="0" bIns="0" anchor="t"/>
          <a:lstStyle/>
          <a:p>
            <a:pPr marL="0" indent="0" algn="l">
              <a:spcAft>
                <a:spcPts val="0"/>
              </a:spcAft>
              <a:buNone/>
            </a:pPr>
            <a:r>
              <a:rPr sz="1700" b="0" i="0">
                <a:solidFill>
                  <a:srgbClr val="D31145"/>
                </a:solidFill>
                <a:latin typeface="Arial"/>
                <a:ea typeface="Microsoft JhengHei"/>
              </a:rPr>
              <a:t>On the vet invoice, the improved rules and AOAI each got a different field wrong.</a:t>
            </a:r>
          </a:p>
        </p:txBody>
      </p:sp>
      <p:pic>
        <p:nvPicPr>
          <p:cNvPr id="12" name="Picture 11" descr="crop_receipt9_top.jpg"/>
          <p:cNvPicPr>
            <a:picLocks noChangeAspect="1"/>
          </p:cNvPicPr>
          <p:nvPr/>
        </p:nvPicPr>
        <p:blipFill>
          <a:blip r:embed="rId3"/>
          <a:stretch>
            <a:fillRect/>
          </a:stretch>
        </p:blipFill>
        <p:spPr>
          <a:xfrm>
            <a:off x="356616" y="1783080"/>
            <a:ext cx="5120640" cy="601605"/>
          </a:xfrm>
          <a:prstGeom prst="rect">
            <a:avLst/>
          </a:prstGeom>
          <a:ln w="9525">
            <a:solidFill>
              <a:srgbClr val="BFBFBF"/>
            </a:solidFill>
          </a:ln>
        </p:spPr>
      </p:pic>
      <p:pic>
        <p:nvPicPr>
          <p:cNvPr id="13" name="Picture 12" descr="crop_receipt9_pay.jpg"/>
          <p:cNvPicPr>
            <a:picLocks noChangeAspect="1"/>
          </p:cNvPicPr>
          <p:nvPr/>
        </p:nvPicPr>
        <p:blipFill>
          <a:blip r:embed="rId4"/>
          <a:stretch>
            <a:fillRect/>
          </a:stretch>
        </p:blipFill>
        <p:spPr>
          <a:xfrm>
            <a:off x="356616" y="2521845"/>
            <a:ext cx="5120640" cy="2243512"/>
          </a:xfrm>
          <a:prstGeom prst="rect">
            <a:avLst/>
          </a:prstGeom>
          <a:ln w="9525">
            <a:solidFill>
              <a:srgbClr val="BFBFBF"/>
            </a:solidFill>
          </a:ln>
        </p:spPr>
      </p:pic>
      <p:graphicFrame>
        <p:nvGraphicFramePr>
          <p:cNvPr id="14" name="Table 13"/>
          <p:cNvGraphicFramePr>
            <a:graphicFrameLocks noGrp="1"/>
          </p:cNvGraphicFramePr>
          <p:nvPr/>
        </p:nvGraphicFramePr>
        <p:xfrm>
          <a:off x="5760720" y="1783080"/>
          <a:ext cx="6071616" cy="2432304"/>
        </p:xfrm>
        <a:graphic>
          <a:graphicData uri="http://schemas.openxmlformats.org/drawingml/2006/table">
            <a:tbl>
              <a:tblPr>
                <a:tableStyleId>{2D5ABB26-0587-4C30-8999-92F81FD0307C}</a:tableStyleId>
              </a:tblPr>
              <a:tblGrid>
                <a:gridCol w="10515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71016">
                  <a:extLst>
                    <a:ext uri="{9D8B030D-6E8A-4147-A177-3AD203B41FA5}">
                      <a16:colId xmlns:a16="http://schemas.microsoft.com/office/drawing/2014/main" val="20004"/>
                    </a:ext>
                  </a:extLst>
                </a:gridCol>
              </a:tblGrid>
              <a:tr h="566928">
                <a:tc>
                  <a:txBody>
                    <a:bodyPr/>
                    <a:lstStyle/>
                    <a:p>
                      <a:pPr algn="l"/>
                      <a:r>
                        <a:rPr sz="1250" b="1" i="0">
                          <a:solidFill>
                            <a:srgbClr val="FFFFFF"/>
                          </a:solidFill>
                          <a:latin typeface="Arial"/>
                          <a:ea typeface="Microsoft JhengHei"/>
                        </a:rPr>
                        <a:t>Field</a:t>
                      </a:r>
                    </a:p>
                  </a:txBody>
                  <a:tcPr anchor="ctr">
                    <a:lnL w="0">
                      <a:noFill/>
                    </a:lnL>
                    <a:lnR w="0">
                      <a:noFill/>
                    </a:lnR>
                    <a:lnT w="0">
                      <a:noFill/>
                    </a:lnT>
                    <a:lnB w="0">
                      <a:noFill/>
                    </a:lnB>
                    <a:solidFill>
                      <a:srgbClr val="333D47"/>
                    </a:solidFill>
                  </a:tcPr>
                </a:tc>
                <a:tc>
                  <a:txBody>
                    <a:bodyPr/>
                    <a:lstStyle/>
                    <a:p>
                      <a:pPr algn="l"/>
                      <a:r>
                        <a:rPr sz="1250" b="1" i="0">
                          <a:solidFill>
                            <a:srgbClr val="FFFFFF"/>
                          </a:solidFill>
                          <a:latin typeface="Arial"/>
                          <a:ea typeface="Microsoft JhengHei"/>
                        </a:rPr>
                        <a:t>Correct</a:t>
                      </a:r>
                    </a:p>
                  </a:txBody>
                  <a:tcPr anchor="ctr">
                    <a:lnL w="0">
                      <a:noFill/>
                    </a:lnL>
                    <a:lnR w="0">
                      <a:noFill/>
                    </a:lnR>
                    <a:lnT w="0">
                      <a:noFill/>
                    </a:lnT>
                    <a:lnB w="0">
                      <a:noFill/>
                    </a:lnB>
                    <a:solidFill>
                      <a:srgbClr val="333D47"/>
                    </a:solidFill>
                  </a:tcPr>
                </a:tc>
                <a:tc>
                  <a:txBody>
                    <a:bodyPr/>
                    <a:lstStyle/>
                    <a:p>
                      <a:pPr algn="l"/>
                      <a:r>
                        <a:rPr sz="1250" b="1" i="0">
                          <a:solidFill>
                            <a:srgbClr val="FFFFFF"/>
                          </a:solidFill>
                          <a:latin typeface="Arial"/>
                          <a:ea typeface="Microsoft JhengHei"/>
                        </a:rPr>
                        <a:t>Original rules</a:t>
                      </a:r>
                    </a:p>
                  </a:txBody>
                  <a:tcPr anchor="ctr">
                    <a:lnL w="0">
                      <a:noFill/>
                    </a:lnL>
                    <a:lnR w="0">
                      <a:noFill/>
                    </a:lnR>
                    <a:lnT w="0">
                      <a:noFill/>
                    </a:lnT>
                    <a:lnB w="0">
                      <a:noFill/>
                    </a:lnB>
                    <a:solidFill>
                      <a:srgbClr val="333D47"/>
                    </a:solidFill>
                  </a:tcPr>
                </a:tc>
                <a:tc>
                  <a:txBody>
                    <a:bodyPr/>
                    <a:lstStyle/>
                    <a:p>
                      <a:pPr algn="l"/>
                      <a:r>
                        <a:rPr sz="1250" b="1" i="0">
                          <a:solidFill>
                            <a:srgbClr val="FFFFFF"/>
                          </a:solidFill>
                          <a:latin typeface="Arial"/>
                          <a:ea typeface="Microsoft JhengHei"/>
                        </a:rPr>
                        <a:t>Improved rules</a:t>
                      </a:r>
                    </a:p>
                  </a:txBody>
                  <a:tcPr anchor="ctr">
                    <a:lnL w="0">
                      <a:noFill/>
                    </a:lnL>
                    <a:lnR w="0">
                      <a:noFill/>
                    </a:lnR>
                    <a:lnT w="0">
                      <a:noFill/>
                    </a:lnT>
                    <a:lnB w="0">
                      <a:noFill/>
                    </a:lnB>
                    <a:solidFill>
                      <a:srgbClr val="333D47"/>
                    </a:solidFill>
                  </a:tcPr>
                </a:tc>
                <a:tc>
                  <a:txBody>
                    <a:bodyPr/>
                    <a:lstStyle/>
                    <a:p>
                      <a:pPr algn="l"/>
                      <a:r>
                        <a:rPr sz="1250" b="1" i="0">
                          <a:solidFill>
                            <a:srgbClr val="FFFFFF"/>
                          </a:solidFill>
                          <a:latin typeface="Arial"/>
                          <a:ea typeface="Microsoft JhengHei"/>
                        </a:rPr>
                        <a:t>DI + AOAI</a:t>
                      </a:r>
                    </a:p>
                  </a:txBody>
                  <a:tcPr anchor="ctr">
                    <a:lnL w="0">
                      <a:noFill/>
                    </a:lnL>
                    <a:lnR w="0">
                      <a:noFill/>
                    </a:lnR>
                    <a:lnT w="0">
                      <a:noFill/>
                    </a:lnT>
                    <a:lnB w="0">
                      <a:noFill/>
                    </a:lnB>
                    <a:solidFill>
                      <a:srgbClr val="333D47"/>
                    </a:solidFill>
                  </a:tcPr>
                </a:tc>
                <a:extLst>
                  <a:ext uri="{0D108BD9-81ED-4DB2-BD59-A6C34878D82A}">
                    <a16:rowId xmlns:a16="http://schemas.microsoft.com/office/drawing/2014/main" val="10000"/>
                  </a:ext>
                </a:extLst>
              </a:tr>
              <a:tr h="621792">
                <a:tc>
                  <a:txBody>
                    <a:bodyPr/>
                    <a:lstStyle/>
                    <a:p>
                      <a:pPr algn="l"/>
                      <a:r>
                        <a:rPr sz="1400" b="1" i="0">
                          <a:solidFill>
                            <a:srgbClr val="333D47"/>
                          </a:solidFill>
                          <a:latin typeface="Arial"/>
                          <a:ea typeface="Microsoft JhengHei"/>
                        </a:rPr>
                        <a:t>Receipt no.</a:t>
                      </a:r>
                    </a:p>
                  </a:txBody>
                  <a:tcPr anchor="ctr">
                    <a:lnL w="0">
                      <a:noFill/>
                    </a:lnL>
                    <a:lnR w="0">
                      <a:noFill/>
                    </a:lnR>
                    <a:lnT w="0">
                      <a:noFill/>
                    </a:lnT>
                    <a:lnB w="19050" cmpd="sng">
                      <a:solidFill>
                        <a:srgbClr val="FFFFFF"/>
                      </a:solidFill>
                    </a:lnB>
                    <a:noFill/>
                  </a:tcPr>
                </a:tc>
                <a:tc>
                  <a:txBody>
                    <a:bodyPr/>
                    <a:lstStyle/>
                    <a:p>
                      <a:pPr algn="l"/>
                      <a:r>
                        <a:rPr sz="1400" b="0" i="0">
                          <a:solidFill>
                            <a:srgbClr val="333D47"/>
                          </a:solidFill>
                          <a:latin typeface="Arial"/>
                          <a:ea typeface="Microsoft JhengHei"/>
                        </a:rPr>
                        <a:t>369303</a:t>
                      </a:r>
                    </a:p>
                  </a:txBody>
                  <a:tcPr anchor="ctr">
                    <a:lnL w="0">
                      <a:noFill/>
                    </a:lnL>
                    <a:lnR w="0">
                      <a:noFill/>
                    </a:lnR>
                    <a:lnT w="0">
                      <a:noFill/>
                    </a:lnT>
                    <a:lnB w="19050" cmpd="sng">
                      <a:solidFill>
                        <a:srgbClr val="FFFFFF"/>
                      </a:solidFill>
                    </a:lnB>
                    <a:noFill/>
                  </a:tcPr>
                </a:tc>
                <a:tc>
                  <a:txBody>
                    <a:bodyPr/>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anchor="ctr">
                    <a:lnL w="0">
                      <a:noFill/>
                    </a:lnL>
                    <a:lnR w="0">
                      <a:noFill/>
                    </a:lnR>
                    <a:lnT w="0">
                      <a:noFill/>
                    </a:lnT>
                    <a:lnB w="19050" cmpd="sng">
                      <a:solidFill>
                        <a:srgbClr val="FFFFFF"/>
                      </a:solidFill>
                    </a:lnB>
                    <a:solidFill>
                      <a:srgbClr val="E6F2EA"/>
                    </a:solidFill>
                  </a:tcPr>
                </a:tc>
                <a:tc>
                  <a:txBody>
                    <a:bodyPr/>
                    <a:lstStyle/>
                    <a:p>
                      <a:pPr algn="l"/>
                      <a:r>
                        <a:rPr sz="1400" b="1" i="0">
                          <a:solidFill>
                            <a:srgbClr val="D31145"/>
                          </a:solidFill>
                          <a:latin typeface="Arial"/>
                          <a:ea typeface="Microsoft JhengHei"/>
                        </a:rPr>
                        <a:t>✗ </a:t>
                      </a:r>
                      <a:r>
                        <a:rPr sz="1400" b="0" i="0">
                          <a:solidFill>
                            <a:srgbClr val="333D47"/>
                          </a:solidFill>
                          <a:latin typeface="Arial"/>
                          <a:ea typeface="Microsoft JhengHei"/>
                        </a:rPr>
                        <a:t>380048</a:t>
                      </a:r>
                    </a:p>
                  </a:txBody>
                  <a:tcPr anchor="ctr">
                    <a:lnL w="0">
                      <a:noFill/>
                    </a:lnL>
                    <a:lnR w="0">
                      <a:noFill/>
                    </a:lnR>
                    <a:lnT w="0">
                      <a:noFill/>
                    </a:lnT>
                    <a:lnB w="19050" cmpd="sng">
                      <a:solidFill>
                        <a:srgbClr val="FFFFFF"/>
                      </a:solidFill>
                    </a:lnB>
                    <a:solidFill>
                      <a:srgbClr val="FBE7EC"/>
                    </a:solidFill>
                  </a:tcPr>
                </a:tc>
                <a:tc>
                  <a:txBody>
                    <a:bodyPr/>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anchor="ctr">
                    <a:lnL w="0">
                      <a:noFill/>
                    </a:lnL>
                    <a:lnR w="0">
                      <a:noFill/>
                    </a:lnR>
                    <a:lnT w="0">
                      <a:noFill/>
                    </a:lnT>
                    <a:lnB w="19050" cmpd="sng">
                      <a:solidFill>
                        <a:srgbClr val="FFFFFF"/>
                      </a:solidFill>
                    </a:lnB>
                    <a:solidFill>
                      <a:srgbClr val="E6F2EA"/>
                    </a:solidFill>
                  </a:tcPr>
                </a:tc>
                <a:extLst>
                  <a:ext uri="{0D108BD9-81ED-4DB2-BD59-A6C34878D82A}">
                    <a16:rowId xmlns:a16="http://schemas.microsoft.com/office/drawing/2014/main" val="10001"/>
                  </a:ext>
                </a:extLst>
              </a:tr>
              <a:tr h="621792">
                <a:tc>
                  <a:txBody>
                    <a:bodyPr/>
                    <a:lstStyle/>
                    <a:p>
                      <a:pPr algn="l"/>
                      <a:r>
                        <a:rPr sz="1400" b="1" i="0">
                          <a:solidFill>
                            <a:srgbClr val="333D47"/>
                          </a:solidFill>
                          <a:latin typeface="Arial"/>
                          <a:ea typeface="Microsoft JhengHei"/>
                        </a:rPr>
                        <a:t>Patient</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noFill/>
                  </a:tcPr>
                </a:tc>
                <a:tc>
                  <a:txBody>
                    <a:bodyPr/>
                    <a:lstStyle/>
                    <a:p>
                      <a:pPr algn="l"/>
                      <a:r>
                        <a:rPr sz="1400" b="0" i="0">
                          <a:solidFill>
                            <a:srgbClr val="333D47"/>
                          </a:solidFill>
                          <a:latin typeface="Arial"/>
                          <a:ea typeface="Microsoft JhengHei"/>
                        </a:rPr>
                        <a:t>Fuk Jai</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noFill/>
                  </a:tcPr>
                </a:tc>
                <a:tc>
                  <a:txBody>
                    <a:bodyPr/>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solidFill>
                      <a:srgbClr val="FBE7EC"/>
                    </a:solidFill>
                  </a:tcPr>
                </a:tc>
                <a:tc>
                  <a:txBody>
                    <a:bodyPr/>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solidFill>
                      <a:srgbClr val="FBE7EC"/>
                    </a:solidFill>
                  </a:tcPr>
                </a:tc>
                <a:tc>
                  <a:txBody>
                    <a:bodyPr/>
                    <a:lstStyle/>
                    <a:p>
                      <a:pPr algn="l"/>
                      <a:r>
                        <a:rPr sz="1400" b="1" i="0">
                          <a:solidFill>
                            <a:srgbClr val="1E7B4A"/>
                          </a:solidFill>
                          <a:latin typeface="Arial"/>
                          <a:ea typeface="Microsoft JhengHei"/>
                        </a:rPr>
                        <a:t>✓ </a:t>
                      </a:r>
                      <a:r>
                        <a:rPr sz="1400" b="0" i="0">
                          <a:solidFill>
                            <a:srgbClr val="333D47"/>
                          </a:solidFill>
                          <a:latin typeface="Arial"/>
                          <a:ea typeface="Microsoft JhengHei"/>
                        </a:rPr>
                        <a:t>Fuk Jai</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solidFill>
                      <a:srgbClr val="E6F2EA"/>
                    </a:solidFill>
                  </a:tcPr>
                </a:tc>
                <a:extLst>
                  <a:ext uri="{0D108BD9-81ED-4DB2-BD59-A6C34878D82A}">
                    <a16:rowId xmlns:a16="http://schemas.microsoft.com/office/drawing/2014/main" val="10002"/>
                  </a:ext>
                </a:extLst>
              </a:tr>
              <a:tr h="621792">
                <a:tc>
                  <a:txBody>
                    <a:bodyPr/>
                    <a:lstStyle/>
                    <a:p>
                      <a:pPr algn="l"/>
                      <a:r>
                        <a:rPr sz="1400" b="1" i="0">
                          <a:solidFill>
                            <a:srgbClr val="333D47"/>
                          </a:solidFill>
                          <a:latin typeface="Arial"/>
                          <a:ea typeface="Microsoft JhengHei"/>
                        </a:rPr>
                        <a:t>Total</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noFill/>
                  </a:tcPr>
                </a:tc>
                <a:tc>
                  <a:txBody>
                    <a:bodyPr/>
                    <a:lstStyle/>
                    <a:p>
                      <a:pPr algn="l"/>
                      <a:r>
                        <a:rPr sz="1400" b="0" i="0">
                          <a:solidFill>
                            <a:srgbClr val="333D47"/>
                          </a:solidFill>
                          <a:latin typeface="Arial"/>
                          <a:ea typeface="Microsoft JhengHei"/>
                        </a:rPr>
                        <a:t>1361</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noFill/>
                  </a:tcPr>
                </a:tc>
                <a:tc>
                  <a:txBody>
                    <a:bodyPr/>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solidFill>
                      <a:srgbClr val="E6F2EA"/>
                    </a:solidFill>
                  </a:tcPr>
                </a:tc>
                <a:tc>
                  <a:txBody>
                    <a:bodyPr/>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solidFill>
                      <a:srgbClr val="E6F2EA"/>
                    </a:solidFill>
                  </a:tcPr>
                </a:tc>
                <a:tc>
                  <a:txBody>
                    <a:bodyPr/>
                    <a:lstStyle/>
                    <a:p>
                      <a:pPr algn="l"/>
                      <a:r>
                        <a:rPr sz="1400" b="1" i="0">
                          <a:solidFill>
                            <a:srgbClr val="D31145"/>
                          </a:solidFill>
                          <a:latin typeface="Arial"/>
                          <a:ea typeface="Microsoft JhengHei"/>
                        </a:rPr>
                        <a:t>✗ </a:t>
                      </a:r>
                      <a:r>
                        <a:rPr sz="1400" b="0" i="0">
                          <a:solidFill>
                            <a:srgbClr val="333D47"/>
                          </a:solidFill>
                          <a:latin typeface="Arial"/>
                          <a:ea typeface="Microsoft JhengHei"/>
                        </a:rPr>
                        <a:t>1361.5</a:t>
                      </a:r>
                    </a:p>
                  </a:txBody>
                  <a:tcPr anchor="ctr">
                    <a:lnL w="0">
                      <a:noFill/>
                    </a:lnL>
                    <a:lnR w="0">
                      <a:noFill/>
                    </a:lnR>
                    <a:lnT w="19050" cap="flat" cmpd="sng" algn="ctr">
                      <a:solidFill>
                        <a:srgbClr val="FFFFFF"/>
                      </a:solidFill>
                      <a:prstDash val="solid"/>
                      <a:round/>
                      <a:headEnd type="none" w="med" len="med"/>
                      <a:tailEnd type="none" w="med" len="med"/>
                    </a:lnT>
                    <a:lnB w="19050" cmpd="sng">
                      <a:solidFill>
                        <a:srgbClr val="FFFFFF"/>
                      </a:solidFill>
                    </a:lnB>
                    <a:solidFill>
                      <a:srgbClr val="FBE7EC"/>
                    </a:solidFill>
                  </a:tcPr>
                </a:tc>
                <a:extLst>
                  <a:ext uri="{0D108BD9-81ED-4DB2-BD59-A6C34878D82A}">
                    <a16:rowId xmlns:a16="http://schemas.microsoft.com/office/drawing/2014/main" val="10003"/>
                  </a:ext>
                </a:extLst>
              </a:tr>
            </a:tbl>
          </a:graphicData>
        </a:graphic>
      </p:graphicFrame>
      <p:sp>
        <p:nvSpPr>
          <p:cNvPr id="15" name="TextBox 14"/>
          <p:cNvSpPr txBox="1"/>
          <p:nvPr/>
        </p:nvSpPr>
        <p:spPr>
          <a:xfrm>
            <a:off x="5760720" y="4343400"/>
            <a:ext cx="6071616" cy="1097280"/>
          </a:xfrm>
          <a:prstGeom prst="rect">
            <a:avLst/>
          </a:prstGeom>
          <a:noFill/>
        </p:spPr>
        <p:txBody>
          <a:bodyPr wrap="square" lIns="0" tIns="0" rIns="0" bIns="0" anchor="t"/>
          <a:lstStyle/>
          <a:p>
            <a:pPr marL="182880" indent="-182880" algn="l">
              <a:spcAft>
                <a:spcPts val="400"/>
              </a:spcAft>
              <a:buFont typeface="Arial"/>
              <a:buChar char="•"/>
            </a:pPr>
            <a:r>
              <a:rPr sz="1300" b="0" i="0">
                <a:solidFill>
                  <a:srgbClr val="333D47"/>
                </a:solidFill>
                <a:latin typeface="Arial"/>
                <a:ea typeface="Microsoft JhengHei"/>
              </a:rPr>
              <a:t>Improved rules: picked the payment receipt number.</a:t>
            </a:r>
          </a:p>
          <a:p>
            <a:pPr marL="182880" indent="-182880" algn="l">
              <a:spcAft>
                <a:spcPts val="400"/>
              </a:spcAft>
              <a:buFont typeface="Arial"/>
              <a:buChar char="•"/>
            </a:pPr>
            <a:r>
              <a:rPr sz="1300" b="0" i="0">
                <a:solidFill>
                  <a:srgbClr val="333D47"/>
                </a:solidFill>
                <a:latin typeface="Arial"/>
                <a:ea typeface="Microsoft JhengHei"/>
              </a:rPr>
              <a:t>Rules: the OCR read "FPatient:", so the patient label was missed.</a:t>
            </a:r>
          </a:p>
          <a:p>
            <a:pPr marL="182880" indent="-182880" algn="l">
              <a:spcAft>
                <a:spcPts val="0"/>
              </a:spcAft>
              <a:buFont typeface="Arial"/>
              <a:buChar char="•"/>
            </a:pPr>
            <a:r>
              <a:rPr sz="1300" b="0" i="0">
                <a:solidFill>
                  <a:srgbClr val="333D47"/>
                </a:solidFill>
                <a:latin typeface="Arial"/>
                <a:ea typeface="Microsoft JhengHei"/>
              </a:rPr>
              <a:t>AOAI: picked the sub total instead of the total.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56616" y="502920"/>
            <a:ext cx="11155680" cy="566928"/>
          </a:xfrm>
        </p:spPr>
        <p:txBody>
          <a:bodyPr lIns="0"/>
          <a:lstStyle/>
          <a:p>
            <a:r>
              <a:rPr sz="2800" b="1">
                <a:solidFill>
                  <a:srgbClr val="333D47"/>
                </a:solidFill>
                <a:latin typeface="Arial"/>
                <a:ea typeface="Microsoft JhengHei"/>
              </a:rPr>
              <a:t>What It Takes to Reach 88.2%</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8</a:t>
            </a:fld>
            <a:endParaRPr lang="en-US" dirty="0"/>
          </a:p>
        </p:txBody>
      </p:sp>
      <p:sp>
        <p:nvSpPr>
          <p:cNvPr id="11" name="TextBox 10"/>
          <p:cNvSpPr txBox="1"/>
          <p:nvPr/>
        </p:nvSpPr>
        <p:spPr>
          <a:xfrm>
            <a:off x="356616" y="1115568"/>
            <a:ext cx="11475720" cy="457200"/>
          </a:xfrm>
          <a:prstGeom prst="rect">
            <a:avLst/>
          </a:prstGeom>
          <a:noFill/>
        </p:spPr>
        <p:txBody>
          <a:bodyPr wrap="square" lIns="0" tIns="0" rIns="0" bIns="0" anchor="t"/>
          <a:lstStyle/>
          <a:p>
            <a:pPr marL="0" indent="0" algn="l">
              <a:spcAft>
                <a:spcPts val="0"/>
              </a:spcAft>
              <a:buNone/>
            </a:pPr>
            <a:r>
              <a:rPr sz="1700" b="0" i="0">
                <a:solidFill>
                  <a:srgbClr val="D31145"/>
                </a:solidFill>
                <a:latin typeface="Arial"/>
                <a:ea typeface="Microsoft JhengHei"/>
              </a:rPr>
              <a:t>Same accuracy. The difference is the manual work to get there, and to keep it there.</a:t>
            </a:r>
          </a:p>
        </p:txBody>
      </p:sp>
      <p:graphicFrame>
        <p:nvGraphicFramePr>
          <p:cNvPr id="12" name="Table 11"/>
          <p:cNvGraphicFramePr>
            <a:graphicFrameLocks noGrp="1"/>
          </p:cNvGraphicFramePr>
          <p:nvPr/>
        </p:nvGraphicFramePr>
        <p:xfrm>
          <a:off x="356616" y="1783080"/>
          <a:ext cx="11475720" cy="3621024"/>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48640">
                <a:tc>
                  <a:txBody>
                    <a:bodyPr/>
                    <a:lstStyle/>
                    <a:p>
                      <a:pPr algn="l"/>
                      <a:endParaRPr/>
                    </a:p>
                  </a:txBody>
                  <a:tcPr anchor="ctr">
                    <a:lnL w="0">
                      <a:noFill/>
                    </a:lnL>
                    <a:lnR w="0">
                      <a:noFill/>
                    </a:lnR>
                    <a:lnT w="0">
                      <a:noFill/>
                    </a:lnT>
                    <a:lnB w="0">
                      <a:noFill/>
                    </a:lnB>
                    <a:solidFill>
                      <a:srgbClr val="333D47"/>
                    </a:solidFill>
                  </a:tcPr>
                </a:tc>
                <a:tc>
                  <a:txBody>
                    <a:bodyPr/>
                    <a:lstStyle/>
                    <a:p>
                      <a:pPr algn="l"/>
                      <a:r>
                        <a:rPr sz="1500" b="1" i="0">
                          <a:solidFill>
                            <a:srgbClr val="FFFFFF"/>
                          </a:solidFill>
                          <a:latin typeface="Arial"/>
                          <a:ea typeface="Microsoft JhengHei"/>
                        </a:rPr>
                        <a:t>PaddleOCR Light + improved rules</a:t>
                      </a:r>
                    </a:p>
                  </a:txBody>
                  <a:tcPr anchor="ctr">
                    <a:lnL w="0">
                      <a:noFill/>
                    </a:lnL>
                    <a:lnR w="0">
                      <a:noFill/>
                    </a:lnR>
                    <a:lnT w="0">
                      <a:noFill/>
                    </a:lnT>
                    <a:lnB w="0">
                      <a:noFill/>
                    </a:lnB>
                    <a:solidFill>
                      <a:srgbClr val="333D47"/>
                    </a:solidFill>
                  </a:tcPr>
                </a:tc>
                <a:tc>
                  <a:txBody>
                    <a:bodyPr/>
                    <a:lstStyle/>
                    <a:p>
                      <a:pPr algn="l"/>
                      <a:r>
                        <a:rPr sz="1500" b="1" i="0">
                          <a:solidFill>
                            <a:srgbClr val="FFFFFF"/>
                          </a:solidFill>
                          <a:latin typeface="Arial"/>
                          <a:ea typeface="Microsoft JhengHei"/>
                        </a:rPr>
                        <a:t>Azure DI + AOAI</a:t>
                      </a:r>
                    </a:p>
                  </a:txBody>
                  <a:tcPr anchor="ctr">
                    <a:lnL w="0">
                      <a:noFill/>
                    </a:lnL>
                    <a:lnR w="0">
                      <a:noFill/>
                    </a:lnR>
                    <a:lnT w="0">
                      <a:noFill/>
                    </a:lnT>
                    <a:lnB w="0">
                      <a:noFill/>
                    </a:lnB>
                    <a:solidFill>
                      <a:srgbClr val="333D47"/>
                    </a:solidFill>
                  </a:tcPr>
                </a:tc>
                <a:extLst>
                  <a:ext uri="{0D108BD9-81ED-4DB2-BD59-A6C34878D82A}">
                    <a16:rowId xmlns:a16="http://schemas.microsoft.com/office/drawing/2014/main" val="10000"/>
                  </a:ext>
                </a:extLst>
              </a:tr>
              <a:tr h="512064">
                <a:tc>
                  <a:txBody>
                    <a:bodyPr/>
                    <a:lstStyle/>
                    <a:p>
                      <a:pPr algn="l"/>
                      <a:r>
                        <a:rPr sz="1400" b="1" i="0">
                          <a:solidFill>
                            <a:srgbClr val="333D47"/>
                          </a:solidFill>
                          <a:latin typeface="Arial"/>
                          <a:ea typeface="Microsoft JhengHei"/>
                        </a:rPr>
                        <a:t>Accuracy (9 receipts)</a:t>
                      </a:r>
                    </a:p>
                  </a:txBody>
                  <a:tcPr anchor="ctr">
                    <a:lnL w="0">
                      <a:noFill/>
                    </a:lnL>
                    <a:lnR w="0">
                      <a:noFill/>
                    </a:lnR>
                    <a:lnT w="0">
                      <a:noFill/>
                    </a:lnT>
                    <a:lnB w="9525" cmpd="sng">
                      <a:solidFill>
                        <a:srgbClr val="BFBFBF"/>
                      </a:solidFill>
                    </a:lnB>
                    <a:noFill/>
                  </a:tcPr>
                </a:tc>
                <a:tc>
                  <a:txBody>
                    <a:bodyPr/>
                    <a:lstStyle/>
                    <a:p>
                      <a:pPr algn="l"/>
                      <a:r>
                        <a:rPr sz="1400" b="1" i="0">
                          <a:solidFill>
                            <a:srgbClr val="D31145"/>
                          </a:solidFill>
                          <a:latin typeface="Arial"/>
                          <a:ea typeface="Microsoft JhengHei"/>
                        </a:rPr>
                        <a:t>88.2% (45/51)</a:t>
                      </a:r>
                    </a:p>
                  </a:txBody>
                  <a:tcPr anchor="ctr">
                    <a:lnL w="0">
                      <a:noFill/>
                    </a:lnL>
                    <a:lnR w="0">
                      <a:noFill/>
                    </a:lnR>
                    <a:lnT w="0">
                      <a:noFill/>
                    </a:lnT>
                    <a:lnB w="9525" cmpd="sng">
                      <a:solidFill>
                        <a:srgbClr val="BFBFBF"/>
                      </a:solidFill>
                    </a:lnB>
                    <a:noFill/>
                  </a:tcPr>
                </a:tc>
                <a:tc>
                  <a:txBody>
                    <a:bodyPr/>
                    <a:lstStyle/>
                    <a:p>
                      <a:pPr algn="l"/>
                      <a:r>
                        <a:rPr sz="1400" b="1" i="0">
                          <a:solidFill>
                            <a:srgbClr val="D31145"/>
                          </a:solidFill>
                          <a:latin typeface="Arial"/>
                          <a:ea typeface="Microsoft JhengHei"/>
                        </a:rPr>
                        <a:t>88.2% (45/51)</a:t>
                      </a:r>
                    </a:p>
                  </a:txBody>
                  <a:tcPr anchor="ctr">
                    <a:lnL w="0">
                      <a:noFill/>
                    </a:lnL>
                    <a:lnR w="0">
                      <a:noFill/>
                    </a:lnR>
                    <a:lnT w="0">
                      <a:noFill/>
                    </a:lnT>
                    <a:lnB w="9525" cmpd="sng">
                      <a:solidFill>
                        <a:srgbClr val="BFBFBF"/>
                      </a:solidFill>
                    </a:lnB>
                    <a:noFill/>
                  </a:tcPr>
                </a:tc>
                <a:extLst>
                  <a:ext uri="{0D108BD9-81ED-4DB2-BD59-A6C34878D82A}">
                    <a16:rowId xmlns:a16="http://schemas.microsoft.com/office/drawing/2014/main" val="10001"/>
                  </a:ext>
                </a:extLst>
              </a:tr>
              <a:tr h="512064">
                <a:tc>
                  <a:txBody>
                    <a:bodyPr/>
                    <a:lstStyle/>
                    <a:p>
                      <a:pPr algn="l"/>
                      <a:r>
                        <a:rPr sz="1350" b="1" i="0">
                          <a:solidFill>
                            <a:srgbClr val="333D47"/>
                          </a:solidFill>
                          <a:latin typeface="Arial"/>
                          <a:ea typeface="Microsoft JhengHei"/>
                        </a:rPr>
                        <a:t>Effort to get there</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Rules rewritten by hand after reviewing errors on these receipts</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None: prompt unchanged</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2"/>
                  </a:ext>
                </a:extLst>
              </a:tr>
              <a:tr h="512064">
                <a:tc>
                  <a:txBody>
                    <a:bodyPr/>
                    <a:lstStyle/>
                    <a:p>
                      <a:pPr algn="l"/>
                      <a:r>
                        <a:rPr sz="1350" b="1" i="0">
                          <a:solidFill>
                            <a:srgbClr val="333D47"/>
                          </a:solidFill>
                          <a:latin typeface="Arial"/>
                          <a:ea typeface="Microsoft JhengHei"/>
                        </a:rPr>
                        <a:t>Extraction logic</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69 → 225 label phrases to maintain</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One fixed prompt</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3"/>
                  </a:ext>
                </a:extLst>
              </a:tr>
              <a:tr h="512064">
                <a:tc>
                  <a:txBody>
                    <a:bodyPr/>
                    <a:lstStyle/>
                    <a:p>
                      <a:pPr algn="l"/>
                      <a:r>
                        <a:rPr sz="1350" b="1" i="0">
                          <a:solidFill>
                            <a:srgbClr val="333D47"/>
                          </a:solidFill>
                          <a:latin typeface="Arial"/>
                          <a:ea typeface="Microsoft JhengHei"/>
                        </a:rPr>
                        <a:t>New receipt layouts</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Likely more rule updates and a regression test of every receipt</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Possibly no change; not yet tested</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4"/>
                  </a:ext>
                </a:extLst>
              </a:tr>
              <a:tr h="512064">
                <a:tc>
                  <a:txBody>
                    <a:bodyPr/>
                    <a:lstStyle/>
                    <a:p>
                      <a:pPr algn="l"/>
                      <a:r>
                        <a:rPr sz="1350" b="1" i="0">
                          <a:solidFill>
                            <a:srgbClr val="333D47"/>
                          </a:solidFill>
                          <a:latin typeface="Arial"/>
                          <a:ea typeface="Microsoft JhengHei"/>
                        </a:rPr>
                        <a:t>Errors seen</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6 wrong fields, incl. one regression caused by tuning</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6 wrong fields, e.g. the vet invoice total</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5"/>
                  </a:ext>
                </a:extLst>
              </a:tr>
              <a:tr h="512064">
                <a:tc>
                  <a:txBody>
                    <a:bodyPr/>
                    <a:lstStyle/>
                    <a:p>
                      <a:pPr algn="l"/>
                      <a:r>
                        <a:rPr sz="1350" b="1" i="0">
                          <a:solidFill>
                            <a:srgbClr val="333D47"/>
                          </a:solidFill>
                          <a:latin typeface="Arial"/>
                          <a:ea typeface="Microsoft JhengHei"/>
                        </a:rPr>
                        <a:t>Time and running cost</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13.9 s, own compute, no API fee</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tc>
                  <a:txBody>
                    <a:bodyPr/>
                    <a:lstStyle/>
                    <a:p>
                      <a:pPr algn="l"/>
                      <a:r>
                        <a:rPr sz="1350" b="0" i="0">
                          <a:solidFill>
                            <a:srgbClr val="333D47"/>
                          </a:solidFill>
                          <a:latin typeface="Arial"/>
                          <a:ea typeface="Microsoft JhengHei"/>
                        </a:rPr>
                        <a:t>6.2 s, Azure fees per receipt (to confirm)</a:t>
                      </a:r>
                    </a:p>
                  </a:txBody>
                  <a:tcPr anchor="ctr">
                    <a:lnL w="0">
                      <a:noFill/>
                    </a:lnL>
                    <a:lnR w="0">
                      <a:noFill/>
                    </a:lnR>
                    <a:lnT w="9525" cap="flat" cmpd="sng" algn="ctr">
                      <a:solidFill>
                        <a:srgbClr val="BFBFBF"/>
                      </a:solidFill>
                      <a:prstDash val="solid"/>
                      <a:round/>
                      <a:headEnd type="none" w="med" len="med"/>
                      <a:tailEnd type="none" w="med" len="med"/>
                    </a:lnT>
                    <a:lnB w="9525" cmpd="sng">
                      <a:solidFill>
                        <a:srgbClr val="BFBFBF"/>
                      </a:solidFill>
                    </a:lnB>
                    <a:no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356616" y="5440680"/>
            <a:ext cx="10972800" cy="320040"/>
          </a:xfrm>
          <a:prstGeom prst="rect">
            <a:avLst/>
          </a:prstGeom>
          <a:noFill/>
        </p:spPr>
        <p:txBody>
          <a:bodyPr wrap="square" lIns="0" tIns="0" rIns="0" bIns="0" anchor="t"/>
          <a:lstStyle/>
          <a:p>
            <a:pPr marL="0" indent="0" algn="l">
              <a:spcAft>
                <a:spcPts val="0"/>
              </a:spcAft>
              <a:buNone/>
            </a:pPr>
            <a:r>
              <a:rPr sz="1100" b="0" i="1">
                <a:solidFill>
                  <a:srgbClr val="5F6770"/>
                </a:solidFill>
                <a:latin typeface="Arial"/>
                <a:ea typeface="Microsoft JhengHei"/>
              </a:rPr>
              <a:t>The main question is not API price but who maintains the extraction logic. Lower maintenance for AOAI is implied by this benchmark, not yet proven.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56616" y="502920"/>
            <a:ext cx="11155680" cy="566928"/>
          </a:xfrm>
        </p:spPr>
        <p:txBody>
          <a:bodyPr lIns="0"/>
          <a:lstStyle/>
          <a:p>
            <a:r>
              <a:rPr sz="2800" b="1">
                <a:solidFill>
                  <a:srgbClr val="333D47"/>
                </a:solidFill>
                <a:latin typeface="Arial"/>
                <a:ea typeface="Microsoft JhengHei"/>
              </a:rPr>
              <a:t>Pure OCR + Rules vs. Azure DI + AOAI: Pros and Cons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9</a:t>
            </a:fld>
            <a:endParaRPr lang="en-US" dirty="0"/>
          </a:p>
        </p:txBody>
      </p:sp>
      <p:sp>
        <p:nvSpPr>
          <p:cNvPr id="11" name="TextBox 10"/>
          <p:cNvSpPr txBox="1"/>
          <p:nvPr/>
        </p:nvSpPr>
        <p:spPr>
          <a:xfrm>
            <a:off x="356616" y="1115568"/>
            <a:ext cx="11475720" cy="457200"/>
          </a:xfrm>
          <a:prstGeom prst="rect">
            <a:avLst/>
          </a:prstGeom>
          <a:noFill/>
        </p:spPr>
        <p:txBody>
          <a:bodyPr wrap="square" lIns="0" tIns="0" rIns="0" bIns="0" anchor="t"/>
          <a:lstStyle/>
          <a:p>
            <a:pPr marL="0" indent="0" algn="l">
              <a:spcAft>
                <a:spcPts val="0"/>
              </a:spcAft>
              <a:buNone/>
            </a:pPr>
            <a:r>
              <a:rPr sz="1700" b="0" i="0">
                <a:solidFill>
                  <a:srgbClr val="D31145"/>
                </a:solidFill>
                <a:latin typeface="Arial"/>
                <a:ea typeface="Microsoft JhengHei"/>
              </a:rPr>
              <a:t>Both reached 88.2%. Points marked "Measured" come from this benchmark; the rest are expected, not yet tested.</a:t>
            </a:r>
          </a:p>
        </p:txBody>
      </p:sp>
      <p:sp>
        <p:nvSpPr>
          <p:cNvPr id="12" name="Rectangle 11"/>
          <p:cNvSpPr/>
          <p:nvPr/>
        </p:nvSpPr>
        <p:spPr>
          <a:xfrm>
            <a:off x="356616" y="1783080"/>
            <a:ext cx="5600700" cy="411480"/>
          </a:xfrm>
          <a:prstGeom prst="rect">
            <a:avLst/>
          </a:prstGeom>
          <a:solidFill>
            <a:srgbClr val="333D47"/>
          </a:solidFill>
          <a:ln>
            <a:noFill/>
          </a:ln>
        </p:spPr>
        <p:txBody>
          <a:bodyPr wrap="square" lIns="164592" tIns="109728" rIns="164592" bIns="109728" rtlCol="0" anchor="ctr"/>
          <a:lstStyle/>
          <a:p>
            <a:pPr marL="0" indent="0" algn="l">
              <a:spcAft>
                <a:spcPts val="0"/>
              </a:spcAft>
              <a:buNone/>
            </a:pPr>
            <a:r>
              <a:rPr sz="1600" b="1" i="0">
                <a:solidFill>
                  <a:srgbClr val="FFFFFF"/>
                </a:solidFill>
                <a:latin typeface="Arial"/>
                <a:ea typeface="Microsoft JhengHei"/>
              </a:rPr>
              <a:t>Pure OCR + Rules (PaddleOCR Light)</a:t>
            </a:r>
          </a:p>
        </p:txBody>
      </p:sp>
      <p:sp>
        <p:nvSpPr>
          <p:cNvPr id="13" name="Rectangle 12"/>
          <p:cNvSpPr/>
          <p:nvPr/>
        </p:nvSpPr>
        <p:spPr>
          <a:xfrm>
            <a:off x="356616" y="2286000"/>
            <a:ext cx="5600700" cy="1527048"/>
          </a:xfrm>
          <a:prstGeom prst="rect">
            <a:avLst/>
          </a:prstGeom>
          <a:solidFill>
            <a:srgbClr val="E6F2EA"/>
          </a:solidFill>
          <a:ln>
            <a:noFill/>
          </a:ln>
        </p:spPr>
        <p:txBody>
          <a:bodyPr wrap="square" lIns="164592" tIns="109728" rIns="164592" bIns="109728" rtlCol="0" anchor="t"/>
          <a:lstStyle/>
          <a:p>
            <a:pPr marL="0" indent="0" algn="l">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0" i="0">
                <a:solidFill>
                  <a:srgbClr val="333D47"/>
                </a:solidFill>
                <a:latin typeface="Arial"/>
                <a:ea typeface="Microsoft JhengHei"/>
              </a:rPr>
              <a:t>Full control over the extraction logic.</a:t>
            </a:r>
          </a:p>
          <a:p>
            <a:pPr marL="182880" indent="-182880" algn="l">
              <a:spcAft>
                <a:spcPts val="300"/>
              </a:spcAft>
              <a:buFont typeface="Arial"/>
              <a:buChar char="•"/>
            </a:pPr>
            <a:r>
              <a:rPr sz="1300" b="0" i="0">
                <a:solidFill>
                  <a:srgbClr val="333D47"/>
                </a:solidFill>
                <a:latin typeface="Arial"/>
                <a:ea typeface="Microsoft JhengHei"/>
              </a:rPr>
              <a:t>No API fees: open-source OCR on our own compute.</a:t>
            </a:r>
          </a:p>
          <a:p>
            <a:pPr marL="182880" indent="-182880" algn="l">
              <a:spcAft>
                <a:spcPts val="300"/>
              </a:spcAft>
              <a:buFont typeface="Arial"/>
              <a:buChar char="•"/>
            </a:pPr>
            <a:r>
              <a:rPr sz="1300" b="0" i="0">
                <a:solidFill>
                  <a:srgbClr val="333D47"/>
                </a:solidFill>
                <a:latin typeface="Arial"/>
                <a:ea typeface="Microsoft JhengHei"/>
              </a:rPr>
              <a:t>Predictable on receipt formats the rules already know.</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88.2% after careful tuning (from 37.3%).</a:t>
            </a:r>
          </a:p>
        </p:txBody>
      </p:sp>
      <p:sp>
        <p:nvSpPr>
          <p:cNvPr id="14" name="Rectangle 13"/>
          <p:cNvSpPr/>
          <p:nvPr/>
        </p:nvSpPr>
        <p:spPr>
          <a:xfrm>
            <a:off x="356616" y="3886200"/>
            <a:ext cx="5600700" cy="1527048"/>
          </a:xfrm>
          <a:prstGeom prst="rect">
            <a:avLst/>
          </a:prstGeom>
          <a:solidFill>
            <a:srgbClr val="FBE7EC"/>
          </a:solidFill>
          <a:ln>
            <a:noFill/>
          </a:ln>
        </p:spPr>
        <p:txBody>
          <a:bodyPr wrap="square" lIns="164592" tIns="109728" rIns="164592" bIns="109728" rtlCol="0" anchor="t"/>
          <a:lstStyle/>
          <a:p>
            <a:pPr marL="0" indent="0" algn="l">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rules expanded by hand (69 → 225 label phrases).</a:t>
            </a:r>
          </a:p>
          <a:p>
            <a:pPr marL="182880" indent="-182880" algn="l">
              <a:spcAft>
                <a:spcPts val="300"/>
              </a:spcAft>
              <a:buFont typeface="Arial"/>
              <a:buChar char="•"/>
            </a:pPr>
            <a:r>
              <a:rPr sz="1300" b="0" i="0">
                <a:solidFill>
                  <a:srgbClr val="333D47"/>
                </a:solidFill>
                <a:latin typeface="Arial"/>
                <a:ea typeface="Microsoft JhengHei"/>
              </a:rPr>
              <a:t>New languages, labels and layouts need more rule changes.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a rule update broke a receipt that was already correct.</a:t>
            </a:r>
          </a:p>
          <a:p>
            <a:pPr marL="182880" indent="-182880" algn="l">
              <a:spcAft>
                <a:spcPts val="0"/>
              </a:spcAft>
              <a:buFont typeface="Arial"/>
              <a:buChar char="•"/>
            </a:pPr>
            <a:r>
              <a:rPr sz="1300" b="0" i="0">
                <a:solidFill>
                  <a:srgbClr val="333D47"/>
                </a:solidFill>
                <a:latin typeface="Arial"/>
                <a:ea typeface="Microsoft JhengHei"/>
              </a:rPr>
              <a:t>Accuracy on unseen receipt formats is unknown.</a:t>
            </a:r>
          </a:p>
        </p:txBody>
      </p:sp>
      <p:sp>
        <p:nvSpPr>
          <p:cNvPr id="15" name="Rectangle 14"/>
          <p:cNvSpPr/>
          <p:nvPr/>
        </p:nvSpPr>
        <p:spPr>
          <a:xfrm>
            <a:off x="6231636" y="1783080"/>
            <a:ext cx="5600700" cy="411480"/>
          </a:xfrm>
          <a:prstGeom prst="rect">
            <a:avLst/>
          </a:prstGeom>
          <a:solidFill>
            <a:srgbClr val="333D47"/>
          </a:solidFill>
          <a:ln>
            <a:noFill/>
          </a:ln>
        </p:spPr>
        <p:txBody>
          <a:bodyPr wrap="square" lIns="164592" tIns="109728" rIns="164592" bIns="109728" rtlCol="0" anchor="ctr"/>
          <a:lstStyle/>
          <a:p>
            <a:pPr marL="0" indent="0" algn="l">
              <a:spcAft>
                <a:spcPts val="0"/>
              </a:spcAft>
              <a:buNone/>
            </a:pPr>
            <a:r>
              <a:rPr sz="1600" b="1" i="0">
                <a:solidFill>
                  <a:srgbClr val="FFFFFF"/>
                </a:solidFill>
                <a:latin typeface="Arial"/>
                <a:ea typeface="Microsoft JhengHei"/>
              </a:rPr>
              <a:t>Azure DI + AOAI</a:t>
            </a:r>
          </a:p>
        </p:txBody>
      </p:sp>
      <p:sp>
        <p:nvSpPr>
          <p:cNvPr id="16" name="Rectangle 15"/>
          <p:cNvSpPr/>
          <p:nvPr/>
        </p:nvSpPr>
        <p:spPr>
          <a:xfrm>
            <a:off x="6231636" y="2286000"/>
            <a:ext cx="5600700" cy="1527048"/>
          </a:xfrm>
          <a:prstGeom prst="rect">
            <a:avLst/>
          </a:prstGeom>
          <a:solidFill>
            <a:srgbClr val="E6F2EA"/>
          </a:solidFill>
          <a:ln>
            <a:noFill/>
          </a:ln>
        </p:spPr>
        <p:txBody>
          <a:bodyPr wrap="square" lIns="164592" tIns="109728" rIns="164592" bIns="109728" rtlCol="0" anchor="t"/>
          <a:lstStyle/>
          <a:p>
            <a:pPr marL="0" indent="0" algn="l">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88.2% with the prompt unchanged.</a:t>
            </a:r>
          </a:p>
          <a:p>
            <a:pPr marL="182880" indent="-182880" algn="l">
              <a:spcAft>
                <a:spcPts val="300"/>
              </a:spcAft>
              <a:buFont typeface="Arial"/>
              <a:buChar char="•"/>
            </a:pPr>
            <a:r>
              <a:rPr sz="1300" b="0" i="0">
                <a:solidFill>
                  <a:srgbClr val="333D47"/>
                </a:solidFill>
                <a:latin typeface="Arial"/>
                <a:ea typeface="Microsoft JhengHei"/>
              </a:rPr>
              <a:t>Reduces the need to write detailed extraction rules.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6/6 fields on both the bilingual and Chinese examples.</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faster, 6.2 s vs 13.9 s per receipt.</a:t>
            </a:r>
          </a:p>
        </p:txBody>
      </p:sp>
      <p:sp>
        <p:nvSpPr>
          <p:cNvPr id="17" name="Rectangle 16"/>
          <p:cNvSpPr/>
          <p:nvPr/>
        </p:nvSpPr>
        <p:spPr>
          <a:xfrm>
            <a:off x="6231636" y="3886200"/>
            <a:ext cx="5600700" cy="1527048"/>
          </a:xfrm>
          <a:prstGeom prst="rect">
            <a:avLst/>
          </a:prstGeom>
          <a:solidFill>
            <a:srgbClr val="FBE7EC"/>
          </a:solidFill>
          <a:ln>
            <a:noFill/>
          </a:ln>
        </p:spPr>
        <p:txBody>
          <a:bodyPr wrap="square" lIns="164592" tIns="109728" rIns="164592" bIns="109728" rtlCol="0" anchor="t"/>
          <a:lstStyle/>
          <a:p>
            <a:pPr marL="0" indent="0" algn="l">
              <a:spcAft>
                <a:spcPts val="400"/>
              </a:spcAft>
              <a:buNone/>
            </a:pPr>
            <a:r>
              <a:rPr sz="1500" b="1" i="0" dirty="0">
                <a:solidFill>
                  <a:srgbClr val="D31145"/>
                </a:solidFill>
                <a:latin typeface="Arial"/>
                <a:ea typeface="Microsoft JhengHei"/>
              </a:rPr>
              <a:t>Cons</a:t>
            </a:r>
          </a:p>
          <a:p>
            <a:pPr marL="182880" indent="-182880" algn="l">
              <a:spcAft>
                <a:spcPts val="300"/>
              </a:spcAft>
              <a:buFont typeface="Arial"/>
              <a:buChar char="•"/>
            </a:pPr>
            <a:r>
              <a:rPr sz="1300" b="0" i="0" dirty="0">
                <a:solidFill>
                  <a:srgbClr val="333D47"/>
                </a:solidFill>
                <a:latin typeface="Arial"/>
                <a:ea typeface="Microsoft JhengHei"/>
              </a:rPr>
              <a:t>Needs Azure services and per-request API fees.</a:t>
            </a:r>
          </a:p>
          <a:p>
            <a:pPr marL="182880" indent="-182880" algn="l">
              <a:spcAft>
                <a:spcPts val="300"/>
              </a:spcAft>
              <a:buFont typeface="Arial"/>
              <a:buChar char="•"/>
            </a:pPr>
            <a:r>
              <a:rPr sz="1300" b="1" i="0" dirty="0">
                <a:solidFill>
                  <a:srgbClr val="333D47"/>
                </a:solidFill>
                <a:latin typeface="Arial"/>
                <a:ea typeface="Microsoft JhengHei"/>
              </a:rPr>
              <a:t>Measured: </a:t>
            </a:r>
            <a:r>
              <a:rPr sz="1300" b="0" i="0" dirty="0">
                <a:solidFill>
                  <a:srgbClr val="333D47"/>
                </a:solidFill>
                <a:latin typeface="Arial"/>
                <a:ea typeface="Microsoft JhengHei"/>
              </a:rPr>
              <a:t>wrong value even though the OCR text was correct.</a:t>
            </a:r>
          </a:p>
          <a:p>
            <a:pPr marL="182880" indent="-182880" algn="l">
              <a:spcAft>
                <a:spcPts val="300"/>
              </a:spcAft>
              <a:buFont typeface="Arial"/>
              <a:buChar char="•"/>
            </a:pPr>
            <a:r>
              <a:rPr sz="1300" b="0" i="0" dirty="0">
                <a:solidFill>
                  <a:srgbClr val="333D47"/>
                </a:solidFill>
                <a:latin typeface="Arial"/>
                <a:ea typeface="Microsoft JhengHei"/>
              </a:rPr>
              <a:t>Results may vary, so validation and error handling are needed.</a:t>
            </a:r>
          </a:p>
        </p:txBody>
      </p:sp>
      <p:sp>
        <p:nvSpPr>
          <p:cNvPr id="18" name="Rectangle 17"/>
          <p:cNvSpPr/>
          <p:nvPr/>
        </p:nvSpPr>
        <p:spPr>
          <a:xfrm>
            <a:off x="356616" y="5486400"/>
            <a:ext cx="10607040" cy="411480"/>
          </a:xfrm>
          <a:prstGeom prst="rect">
            <a:avLst/>
          </a:prstGeom>
          <a:solidFill>
            <a:srgbClr val="F2F2F2"/>
          </a:solidFill>
          <a:ln>
            <a:noFill/>
          </a:ln>
        </p:spPr>
        <p:txBody>
          <a:bodyPr wrap="square" lIns="164592" tIns="109728" rIns="164592" bIns="109728" rtlCol="0" anchor="ctr"/>
          <a:lstStyle/>
          <a:p>
            <a:pPr marL="0" indent="0" algn="l">
              <a:spcAft>
                <a:spcPts val="0"/>
              </a:spcAft>
              <a:buNone/>
            </a:pPr>
            <a:r>
              <a:rPr sz="1400" b="1" i="0">
                <a:solidFill>
                  <a:srgbClr val="333D47"/>
                </a:solidFill>
                <a:latin typeface="Arial"/>
                <a:ea typeface="Microsoft JhengHei"/>
              </a:rPr>
              <a:t>The decision is not only accuracy or API cost: </a:t>
            </a:r>
            <a:r>
              <a:rPr sz="1400" b="0" i="0">
                <a:solidFill>
                  <a:srgbClr val="333D47"/>
                </a:solidFill>
                <a:latin typeface="Arial"/>
                <a:ea typeface="Microsoft JhengHei"/>
              </a:rPr>
              <a:t>it is how much development and ongoing maintenance we want to own.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56616" y="502920"/>
            <a:ext cx="11155680" cy="566928"/>
          </a:xfrm>
        </p:spPr>
        <p:txBody>
          <a:bodyPr lIns="0"/>
          <a:lstStyle/>
          <a:p>
            <a:r>
              <a:rPr sz="2800" b="1">
                <a:solidFill>
                  <a:srgbClr val="333D47"/>
                </a:solidFill>
                <a:latin typeface="Arial"/>
                <a:ea typeface="Microsoft JhengHei"/>
              </a:rPr>
              <a:t>Conclusion and Next Steps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10</a:t>
            </a:fld>
            <a:endParaRPr lang="en-US" dirty="0"/>
          </a:p>
        </p:txBody>
      </p:sp>
      <p:sp>
        <p:nvSpPr>
          <p:cNvPr id="11" name="TextBox 10"/>
          <p:cNvSpPr txBox="1"/>
          <p:nvPr/>
        </p:nvSpPr>
        <p:spPr>
          <a:xfrm>
            <a:off x="356616" y="1115568"/>
            <a:ext cx="11475720" cy="457200"/>
          </a:xfrm>
          <a:prstGeom prst="rect">
            <a:avLst/>
          </a:prstGeom>
          <a:noFill/>
        </p:spPr>
        <p:txBody>
          <a:bodyPr wrap="square" lIns="0" tIns="0" rIns="0" bIns="0" anchor="t"/>
          <a:lstStyle/>
          <a:p>
            <a:pPr marL="0" indent="0" algn="l">
              <a:spcAft>
                <a:spcPts val="0"/>
              </a:spcAft>
              <a:buNone/>
            </a:pPr>
            <a:r>
              <a:rPr sz="1700" b="0" i="0">
                <a:solidFill>
                  <a:srgbClr val="D31145"/>
                </a:solidFill>
                <a:latin typeface="Arial"/>
                <a:ea typeface="Microsoft JhengHei"/>
              </a:rPr>
              <a:t>The real trade-off: maintain extraction rules ourselves, or let AI replace that layer.</a:t>
            </a:r>
          </a:p>
        </p:txBody>
      </p:sp>
      <p:sp>
        <p:nvSpPr>
          <p:cNvPr id="12" name="Rectangle 11"/>
          <p:cNvSpPr/>
          <p:nvPr/>
        </p:nvSpPr>
        <p:spPr>
          <a:xfrm>
            <a:off x="356616" y="1783080"/>
            <a:ext cx="11475720" cy="1508760"/>
          </a:xfrm>
          <a:prstGeom prst="rect">
            <a:avLst/>
          </a:prstGeom>
          <a:solidFill>
            <a:srgbClr val="F2F2F2"/>
          </a:solidFill>
          <a:ln>
            <a:noFill/>
          </a:ln>
        </p:spPr>
        <p:txBody>
          <a:bodyPr wrap="square" lIns="274320" tIns="109728" rIns="274320" bIns="109728" rtlCol="0" anchor="t"/>
          <a:lstStyle/>
          <a:p>
            <a:pPr marL="182880" indent="-182880" algn="l">
              <a:spcAft>
                <a:spcPts val="600"/>
              </a:spcAft>
              <a:buFont typeface="Arial"/>
              <a:buChar char="•"/>
            </a:pPr>
            <a:r>
              <a:rPr sz="1600" b="0" i="0">
                <a:solidFill>
                  <a:srgbClr val="333D47"/>
                </a:solidFill>
                <a:latin typeface="Arial"/>
                <a:ea typeface="Microsoft JhengHei"/>
              </a:rPr>
              <a:t>PaddleOCR Light + improved rules and Azure DI + AOAI both reached 88.2% on this benchmark.</a:t>
            </a:r>
          </a:p>
          <a:p>
            <a:pPr marL="182880" indent="-182880" algn="l">
              <a:spcAft>
                <a:spcPts val="600"/>
              </a:spcAft>
              <a:buFont typeface="Arial"/>
              <a:buChar char="•"/>
            </a:pPr>
            <a:r>
              <a:rPr sz="1600" b="0" i="0">
                <a:solidFill>
                  <a:srgbClr val="333D47"/>
                </a:solidFill>
                <a:latin typeface="Arial"/>
                <a:ea typeface="Microsoft JhengHei"/>
              </a:rPr>
              <a:t>PaddleOCR Light needed manual rule tuning to get there. Azure DI + AOAI reached the same accuracy without changing its prompt.</a:t>
            </a:r>
          </a:p>
          <a:p>
            <a:pPr marL="182880" indent="-182880" algn="l">
              <a:spcAft>
                <a:spcPts val="0"/>
              </a:spcAft>
              <a:buFont typeface="Arial"/>
              <a:buChar char="•"/>
            </a:pPr>
            <a:r>
              <a:rPr sz="1600" b="1" i="0">
                <a:solidFill>
                  <a:srgbClr val="333D47"/>
                </a:solidFill>
                <a:latin typeface="Arial"/>
                <a:ea typeface="Microsoft JhengHei"/>
              </a:rPr>
              <a:t>So the choice is whether to keep writing and maintaining extraction rules, or to use AI for that layer.</a:t>
            </a:r>
          </a:p>
        </p:txBody>
      </p:sp>
      <p:sp>
        <p:nvSpPr>
          <p:cNvPr id="13" name="Rectangle 12"/>
          <p:cNvSpPr/>
          <p:nvPr/>
        </p:nvSpPr>
        <p:spPr>
          <a:xfrm>
            <a:off x="356616" y="3520440"/>
            <a:ext cx="3642360" cy="1280160"/>
          </a:xfrm>
          <a:prstGeom prst="rect">
            <a:avLst/>
          </a:prstGeom>
          <a:solidFill>
            <a:srgbClr val="F2F2F2"/>
          </a:solidFill>
          <a:ln>
            <a:noFill/>
          </a:ln>
        </p:spPr>
        <p:txBody>
          <a:bodyPr wrap="square" lIns="201168" tIns="109728" rIns="201168" bIns="109728" rtlCol="0" anchor="t"/>
          <a:lstStyle/>
          <a:p>
            <a:pPr marL="0" indent="0" algn="l">
              <a:spcAft>
                <a:spcPts val="600"/>
              </a:spcAft>
              <a:buNone/>
            </a:pPr>
            <a:r>
              <a:rPr sz="1600" b="1" i="0">
                <a:solidFill>
                  <a:srgbClr val="D31145"/>
                </a:solidFill>
                <a:latin typeface="Arial"/>
                <a:ea typeface="Microsoft JhengHei"/>
              </a:rPr>
              <a:t>1. Freeze both</a:t>
            </a:r>
          </a:p>
          <a:p>
            <a:pPr marL="0" indent="0" algn="l">
              <a:spcAft>
                <a:spcPts val="0"/>
              </a:spcAft>
              <a:buNone/>
            </a:pPr>
            <a:r>
              <a:rPr sz="1400" b="0" i="0">
                <a:solidFill>
                  <a:srgbClr val="333D47"/>
                </a:solidFill>
                <a:latin typeface="Arial"/>
                <a:ea typeface="Microsoft JhengHei"/>
              </a:rPr>
              <a:t>Lock the improved rules and the AOAI prompt.</a:t>
            </a:r>
          </a:p>
        </p:txBody>
      </p:sp>
      <p:sp>
        <p:nvSpPr>
          <p:cNvPr id="14" name="Rectangle 13"/>
          <p:cNvSpPr/>
          <p:nvPr/>
        </p:nvSpPr>
        <p:spPr>
          <a:xfrm>
            <a:off x="4273296" y="3520440"/>
            <a:ext cx="3642360" cy="1280160"/>
          </a:xfrm>
          <a:prstGeom prst="rect">
            <a:avLst/>
          </a:prstGeom>
          <a:solidFill>
            <a:srgbClr val="F2F2F2"/>
          </a:solidFill>
          <a:ln>
            <a:noFill/>
          </a:ln>
        </p:spPr>
        <p:txBody>
          <a:bodyPr wrap="square" lIns="201168" tIns="109728" rIns="201168" bIns="109728" rtlCol="0" anchor="t"/>
          <a:lstStyle/>
          <a:p>
            <a:pPr marL="0" indent="0" algn="l">
              <a:spcAft>
                <a:spcPts val="600"/>
              </a:spcAft>
              <a:buNone/>
            </a:pPr>
            <a:r>
              <a:rPr sz="1600" b="1" i="0">
                <a:solidFill>
                  <a:srgbClr val="D31145"/>
                </a:solidFill>
                <a:latin typeface="Arial"/>
                <a:ea typeface="Microsoft JhengHei"/>
              </a:rPr>
              <a:t>2. Test on unseen receipts</a:t>
            </a:r>
          </a:p>
          <a:p>
            <a:pPr marL="0" indent="0" algn="l">
              <a:spcAft>
                <a:spcPts val="0"/>
              </a:spcAft>
              <a:buNone/>
            </a:pPr>
            <a:r>
              <a:rPr sz="1400" b="0" i="0">
                <a:solidFill>
                  <a:srgbClr val="333D47"/>
                </a:solidFill>
                <a:latin typeface="Arial"/>
                <a:ea typeface="Microsoft JhengHei"/>
              </a:rPr>
              <a:t>30+ real, anonymised receipts. Measure accuracy and count the rule changes needed.</a:t>
            </a:r>
          </a:p>
        </p:txBody>
      </p:sp>
      <p:sp>
        <p:nvSpPr>
          <p:cNvPr id="15" name="Rectangle 14"/>
          <p:cNvSpPr/>
          <p:nvPr/>
        </p:nvSpPr>
        <p:spPr>
          <a:xfrm>
            <a:off x="8189976" y="3520440"/>
            <a:ext cx="3642360" cy="1280160"/>
          </a:xfrm>
          <a:prstGeom prst="rect">
            <a:avLst/>
          </a:prstGeom>
          <a:solidFill>
            <a:srgbClr val="F2F2F2"/>
          </a:solidFill>
          <a:ln>
            <a:noFill/>
          </a:ln>
        </p:spPr>
        <p:txBody>
          <a:bodyPr wrap="square" lIns="201168" tIns="109728" rIns="201168" bIns="109728" rtlCol="0" anchor="t"/>
          <a:lstStyle/>
          <a:p>
            <a:pPr marL="0" indent="0" algn="l">
              <a:spcAft>
                <a:spcPts val="600"/>
              </a:spcAft>
              <a:buNone/>
            </a:pPr>
            <a:r>
              <a:rPr sz="1600" b="1" i="0">
                <a:solidFill>
                  <a:srgbClr val="D31145"/>
                </a:solidFill>
                <a:latin typeface="Arial"/>
                <a:ea typeface="Microsoft JhengHei"/>
              </a:rPr>
              <a:t>3. Then compare cost</a:t>
            </a:r>
          </a:p>
          <a:p>
            <a:pPr marL="0" indent="0" algn="l">
              <a:spcAft>
                <a:spcPts val="0"/>
              </a:spcAft>
              <a:buNone/>
            </a:pPr>
            <a:r>
              <a:rPr sz="1400" b="0" i="0">
                <a:solidFill>
                  <a:srgbClr val="333D47"/>
                </a:solidFill>
                <a:latin typeface="Arial"/>
                <a:ea typeface="Microsoft JhengHei"/>
              </a:rPr>
              <a:t>Compute, Document Intelligence pages and gpt-5-mini tokens.</a:t>
            </a:r>
          </a:p>
        </p:txBody>
      </p:sp>
      <p:sp>
        <p:nvSpPr>
          <p:cNvPr id="16" name="TextBox 15"/>
          <p:cNvSpPr txBox="1"/>
          <p:nvPr/>
        </p:nvSpPr>
        <p:spPr>
          <a:xfrm>
            <a:off x="356616" y="5029200"/>
            <a:ext cx="10972800" cy="320040"/>
          </a:xfrm>
          <a:prstGeom prst="rect">
            <a:avLst/>
          </a:prstGeom>
          <a:noFill/>
        </p:spPr>
        <p:txBody>
          <a:bodyPr wrap="square" lIns="0" tIns="0" rIns="0" bIns="0" anchor="t"/>
          <a:lstStyle/>
          <a:p>
            <a:pPr marL="0" indent="0" algn="l">
              <a:spcAft>
                <a:spcPts val="0"/>
              </a:spcAft>
              <a:buNone/>
            </a:pPr>
            <a:r>
              <a:rPr sz="1100" b="0" i="1">
                <a:solidFill>
                  <a:srgbClr val="5F6770"/>
                </a:solidFill>
                <a:latin typeface="Arial"/>
                <a:ea typeface="Microsoft JhengHei"/>
              </a:rPr>
              <a:t>Limitation: 9 receipts, mostly printed mock receipts; the improved rules were tuned on them. AOAI still makes mistakes and has not been tested on a large unseen set.</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1524</TotalTime>
  <Words>2416</Words>
  <Application>Microsoft Office PowerPoint</Application>
  <PresentationFormat>Widescreen</PresentationFormat>
  <Paragraphs>203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AIA_2020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5</cp:revision>
  <cp:lastPrinted>2020-05-18T12:18:52Z</cp:lastPrinted>
  <dcterms:created xsi:type="dcterms:W3CDTF">2026-09-21T01:03:41Z</dcterms:created>
  <dcterms:modified xsi:type="dcterms:W3CDTF">2026-10-14T01:20:03Z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