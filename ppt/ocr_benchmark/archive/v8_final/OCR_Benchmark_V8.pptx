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87"/>
  </p:normalViewPr>
  <p:slideViewPr>
    <p:cSldViewPr snapToGrid="0" showGuides="1">
      <p:cViewPr varScale="1">
        <p:scale>
          <a:sx n="120" d="100"/>
          <a:sy n="120" d="100"/>
        </p:scale>
        <p:origin x="144" y="198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C939A"/>
            </a:solidFill>
          </c:spPr>
          <c:dPt>
            <c:idx val="0"/>
            <c:spPr>
              <a:solidFill>
                <a:srgbClr val="8C939A"/>
              </a:solidFill>
            </c:spPr>
          </c:dPt>
          <c:dPt>
            <c:idx val="1"/>
            <c:spPr>
              <a:solidFill>
                <a:srgbClr val="333D47"/>
              </a:solidFill>
            </c:spPr>
          </c:dPt>
          <c:dPt>
            <c:idx val="2"/>
            <c:spPr>
              <a:solidFill>
                <a:srgbClr val="D31145"/>
              </a:solidFill>
            </c:spPr>
          </c:dPt>
          <c:cat>
            <c:strRef>
              <c:f>Sheet1!$A$2:$A$4</c:f>
              <c:strCache>
                <c:ptCount val="3"/>
                <c:pt idx="0">
                  <c:v>PaddleOCR Light
+ multilingual rules*
26/51</c:v>
                </c:pt>
                <c:pt idx="1">
                  <c:v>Azure DI
+ multilingual rules*
36/51</c:v>
                </c:pt>
                <c:pt idx="2">
                  <c:v>Azure DI + AOAI
prompt v2†
49/51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51.0</c:v>
                </c:pt>
                <c:pt idx="1">
                  <c:v>70.6</c:v>
                </c:pt>
                <c:pt idx="2">
                  <c:v>96.1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5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DD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D4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Question: is OCR with hand-written extraction rules enough to replace Azure OpenAI (AOAI) for medical receipts, and what value does AOAI add? Every number comes from the saved benchmark results.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Azure DI + AOAI with prompt v2: 96.1% (49/51). OCR + general multilingual rules: 51.0% with PaddleOCR Light and 70.6% with Azure DI (26/51 and 36/51). Rules must be written and maintained for every new label, language and layout; AOAI works from plain-language instructions and could extract further fields (potential, not yet benchmarked). Limits of this evidence: 9 receipts and 51 fields, 7 of them printed, fictional test receipts. 96.1% (prompt v2) is a development result: the prompt was refined after reviewing these receipts. 51.0–70.6% (multilingual rules) is a retrospective baseline: common Chinese labels were added after these receipts were examined, though fixed before scoring. Neither is independent validation: only 4 unseen handwritten receipts exist, and on all 4 Azure DI misread the year 2026 as 2020. Prices are not confirmed.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receipts: 7 printed, fictional test receipts photographed with a phone (English, bilingual and Traditional Chinese layouts) and 2 receipts from the first benchmark round. Six fields: doctor, registration number, patient, receipt number, service date, total. 51 of 54 possible fields were scored: 3 receipts do not contain a doctor registration number, so those fields were excluded. Azure OpenAI deployment: gpt-5-mini.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= correct fields / 51 on the 9 receipts. Multilingual rules = general extraction rules with common Traditional and Simplified Chinese labels and basic bilingual handling (python/receipt_ocr_benchmark/docs/MULTILINGUAL_BASELINE.md); a retrospective baseline. AOAI = prompt v2, a development result: the prompt was refined after reviewing these receipts. Remaining rule errors need new label types, labels inside lines, layout logic or OCR-tolerant matching; PaddleOCR Light also loses fields because its OCR glues words and mixes characters in bilingual labels. Limits of this evidence: 9 receipts and 51 fields, 7 of them printed, fictional test receipts. 96.1% (prompt v2) is a development result: the prompt was refined after reviewing these receipts. 51.0–70.6% (multilingual rules) is a retrospective baseline: common Chinese labels were added after these receipts were examined, though fixed before scoring. Neither is independent validation: only 4 unseen handwritten receipts exist, and on all 4 Azure DI misread the year 2026 as 2020. Prices are not confirmed.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Rules: to handle these 9 receipts the label vocabulary grew from 69 to 225 hand-written phrases (Chinese and bilingual labels, distractor labels, layout handling), and one change broke 1 field that was already correct. AOAI: one prompt revision fixed 4 fields and broke 0. Whether AOAI copes with layouts it has not seen is expected, not proven: it has not been tested on enough unseen receipts, still makes mistakes and needs testing and monitoring. Diagnosis-comment check (results/diagnosis): rules matched AOAI on 13/13 receipts, because the comments sat under clear labels.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Measured: accuracy (multilingual rules 51.0–70.6%, retrospective baseline; AOAI prompt v2 96.1%, development result); speed per receipt (PaddleOCR Light 13.9 s on Azure ML CPU, Azure DI 3.8 s, Azure DI + AOAI prompt v2 6.4 s incl. network); AOAI prompt v2 tokens per receipt (962 input, 243 output); rule effort (69 -&gt; 225 label phrases) and the vet invoice sub-total error. Prices are not confirmed. Flexibility, auditability and model-update effects are expectations. Limits of this evidence: 9 receipts and 51 fields, 7 of them printed, fictional test receipts. 96.1% (prompt v2) is a development result: the prompt was refined after reviewing these receipts. 51.0–70.6% (multilingual rules) is a retrospective baseline: common Chinese labels were added after these receipts were examined, though fixed before scoring. Neither is independent validation: only 4 unseen handwritten receipts exist, and on all 4 Azure DI misread the year 2026 as 2020. Prices are not confirmed.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Potential only: extracting these details has not been built or tested. Left: a real line-item section of a hospital receipt in our benchmark. Middle: an illustration of the structured data AOAI could return, typed by us from that receipt's OCR text (checked in the saved Azure DI output); it is not AOAI output. Where receipts show them, diagnoses and symptoms could be captured the same way. Rules would need new labels and logic for each such detail. Right: examples of analytics this would enable. A pilot would need ground truth, accuracy targets, a privacy review and cost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are sufficient where layouts are few and stable, fields have clear labels and the question is simple (for example whether a diagnosis comment is present). AOAI adds value where providers, layouts and languages vary, where fields lack consistent labels, and potentially for richer medical data (not yet benchmarked). Next steps: freeze the rules and prompt v2; test on 30+ unseen, real, anonymised receipts and count the rule changes needed; pilot medications, treatments, symptoms and diagnoses with ground truth; confirm prices. Limits of this evidence: 9 receipts and 51 fields, 7 of them printed, fictional test receipts. 96.1% (prompt v2) is a development result: the prompt was refined after reviewing these receipts. 51.0–70.6% (multilingual rules) is a retrospective baseline: common Chinese labels were added after these receipts were examined, though fixed before scoring. Neither is independent validation: only 4 unseen handwritten receipts exist, and on all 4 Azure DI misread the year 2026 as 2020. Prices are not confirmed. Source: python/receipt_ocr_benchmark/results/v2/scores_improved and scores_aoai_improved (summary.csv, detail.csv), results/v1_heldout, and extraction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Slide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3DE312-0E56-1747-B671-3F457AA8D7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52CBAF-C878-FD45-8AF4-3C799CB4F53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AC4E2A-F096-5540-918E-6F520E475C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DD8F76D-7AD6-444B-9E55-80A650B42C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5E6EB-133C-4C47-A11D-54E804FE9C2F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9903880-9FDE-8D40-A562-3D8B9CB09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8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237200" y="1800000"/>
            <a:ext cx="36072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BEFAE-7438-F548-BFC6-9CD53B76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B5BE0-8CB1-E247-A12A-51429A1939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93DA94-6D62-D040-97F3-1DFA5A72C6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Email</a:t>
            </a:r>
          </a:p>
          <a:p>
            <a:r>
              <a:rPr lang="en-US" dirty="0"/>
              <a:t>Date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C3F0DB7-93FA-D243-9648-A59C82E137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F49BF-4968-8D47-AB2D-21AB12177162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1844A6-A542-4643-96E7-3B2146FB59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BF7525C-9C01-724E-9D57-E82EE57D1F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06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Relationship Id="rId6" Type="http://schemas.openxmlformats.org/officeDocument/2006/relationships/image" Target="../media/image2.svg"/><Relationship Id="rId7" Type="http://schemas.openxmlformats.org/officeDocument/2006/relationships/image" Target="../media/image3.svg"/><Relationship Id="rId8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1280160" cy="121920"/>
          </a:xfrm>
          <a:prstGeom prst="rect">
            <a:avLst/>
          </a:prstGeom>
        </p:spPr>
        <p:txBody>
          <a:bodyPr horzOverflow="overflow" lIns="0" tIns="0" rIns="0" bIns="0" wrap="none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Aptos" panose="020B000402020202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681" r:id="rId2"/>
    <p:sldLayoutId id="2147483748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6616" y="4480560"/>
            <a:ext cx="6035040" cy="822960"/>
          </a:xfrm>
        </p:spPr>
        <p:txBody>
          <a:bodyPr/>
          <a:lstStyle/>
          <a:p>
            <a:r>
              <a:rPr>
                <a:latin typeface="Arial"/>
                <a:ea typeface="Microsoft JhengHei"/>
              </a:rPr>
              <a:t>Medical receipt extraction benchmark</a:t>
            </a:r>
          </a:p>
          <a:p>
            <a:r>
              <a:rPr>
                <a:latin typeface="Arial"/>
                <a:ea typeface="Microsoft JhengHei"/>
              </a:rPr>
              <a:t>9 receipts · 6 fields · rules vs AI extraction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>
                <a:latin typeface="Arial"/>
                <a:ea typeface="Microsoft JhengHei"/>
              </a:rPr>
              <a:t>Can OCR Rules Replace Azure OpenAI?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Executive Summary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OCR + rules is not enough to replace AOAI across varied receipts.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783080"/>
            <a:ext cx="34747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ctr" wrap="square" lIns="228600" rIns="228600" tIns="109728" bIns="109728"/>
          <a:lstStyle/>
          <a:p>
            <a:pPr algn="l" marL="0" indent="0">
              <a:spcAft>
                <a:spcPts val="800"/>
              </a:spcAft>
              <a:buNone/>
            </a:pPr>
            <a:r>
              <a:rPr sz="4600" b="1" i="0">
                <a:solidFill>
                  <a:srgbClr val="D31145"/>
                </a:solidFill>
                <a:latin typeface="Arial"/>
                <a:ea typeface="Microsoft JhengHei"/>
              </a:rPr>
              <a:t>96.1%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333D47"/>
                </a:solidFill>
                <a:latin typeface="Arial"/>
                <a:ea typeface="Microsoft JhengHei"/>
              </a:rPr>
              <a:t>Azure DI + AOAI (prompt v2)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50" b="0" i="1">
                <a:solidFill>
                  <a:srgbClr val="5F6770"/>
                </a:solidFill>
                <a:latin typeface="Arial"/>
                <a:ea typeface="Microsoft JhengHei"/>
              </a:rPr>
              <a:t>Development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14215" y="1783080"/>
            <a:ext cx="3474720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228600" rIns="228600" tIns="109728" bIns="109728"/>
          <a:lstStyle/>
          <a:p>
            <a:pPr algn="l" marL="0" indent="0">
              <a:spcAft>
                <a:spcPts val="800"/>
              </a:spcAft>
              <a:buNone/>
            </a:pPr>
            <a:r>
              <a:rPr sz="3600" b="1" i="0">
                <a:solidFill>
                  <a:srgbClr val="333D47"/>
                </a:solidFill>
                <a:latin typeface="Arial"/>
                <a:ea typeface="Microsoft JhengHei"/>
              </a:rPr>
              <a:t>51.0–70.6%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333D47"/>
                </a:solidFill>
                <a:latin typeface="Arial"/>
                <a:ea typeface="Microsoft JhengHei"/>
              </a:rPr>
              <a:t>OCR + multilingual rules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50" b="0" i="0">
                <a:solidFill>
                  <a:srgbClr val="5F6770"/>
                </a:solidFill>
                <a:latin typeface="Arial"/>
                <a:ea typeface="Microsoft JhengHei"/>
              </a:rPr>
              <a:t>51.0% PaddleOCR Light · 70.6% Azure DI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50" b="0" i="1">
                <a:solidFill>
                  <a:srgbClr val="5F6770"/>
                </a:solidFill>
                <a:latin typeface="Arial"/>
                <a:ea typeface="Microsoft JhengHei"/>
              </a:rPr>
              <a:t>Retrospective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783080"/>
            <a:ext cx="4105656" cy="3017520"/>
          </a:xfrm>
          <a:prstGeom prst="rect">
            <a:avLst/>
          </a:prstGeom>
          <a:noFill/>
        </p:spPr>
        <p:txBody>
          <a:bodyPr wrap="square" lIns="201168" rIns="201168" tIns="109728" bIns="109728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D31145"/>
                </a:solidFill>
                <a:latin typeface="Arial"/>
                <a:ea typeface="Microsoft JhengHei"/>
              </a:rPr>
              <a:t>Why AOAI may still be needed</a:t>
            </a:r>
          </a:p>
          <a:p>
            <a:pPr marL="182880" indent="-18288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333D47"/>
                </a:solidFill>
                <a:latin typeface="Arial"/>
                <a:ea typeface="Microsoft JhengHei"/>
              </a:rPr>
              <a:t>Fewer rules to write and maintain for new layouts and scenarios</a:t>
            </a:r>
          </a:p>
          <a:p>
            <a:pPr marL="182880" indent="-18288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333D47"/>
                </a:solidFill>
                <a:latin typeface="Arial"/>
                <a:ea typeface="Microsoft JhengHei"/>
              </a:rPr>
              <a:t>Can potentially extract more fields for analytics (not yet benchmarked)</a:t>
            </a:r>
          </a:p>
          <a:p>
            <a:pPr marL="182880" indent="-182880" algn="l">
              <a:spcAft>
                <a:spcPts val="0"/>
              </a:spcAft>
              <a:buFont typeface="Arial"/>
              <a:buChar char="•"/>
            </a:pPr>
            <a:r>
              <a:rPr sz="1500" b="0" i="0">
                <a:solidFill>
                  <a:srgbClr val="333D47"/>
                </a:solidFill>
                <a:latin typeface="Arial"/>
                <a:ea typeface="Microsoft JhengHei"/>
              </a:rPr>
              <a:t>Rules remain fine for simple, clearly labelled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What We Compared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For each of the 9 receipts, we extract 6 key fields and compare the results across 3 approaches.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783080"/>
            <a:ext cx="2514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  <a:ea typeface="Microsoft JhengHei"/>
              </a:rPr>
              <a:t>PaddleOCR Light +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783080"/>
            <a:ext cx="3246120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PaddleOCR Light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00" b="0" i="0">
                <a:solidFill>
                  <a:srgbClr val="5F6770"/>
                </a:solidFill>
                <a:latin typeface="Arial"/>
                <a:ea typeface="Microsoft JhengHei"/>
              </a:rPr>
              <a:t>open source, own compute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63640" y="1965960"/>
            <a:ext cx="365760" cy="23774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783080"/>
            <a:ext cx="3017520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Hand-written rules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29800" y="1965960"/>
            <a:ext cx="365760" cy="23774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87000" y="1783080"/>
            <a:ext cx="154533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6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532888"/>
            <a:ext cx="2514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  <a:ea typeface="Microsoft JhengHei"/>
              </a:rPr>
              <a:t>Azure DI +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532888"/>
            <a:ext cx="3246120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Azure Document Intelligence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00" b="0" i="0">
                <a:solidFill>
                  <a:srgbClr val="5F6770"/>
                </a:solidFill>
                <a:latin typeface="Arial"/>
                <a:ea typeface="Microsoft JhengHei"/>
              </a:rPr>
              <a:t>cloud OCR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263640" y="2715768"/>
            <a:ext cx="365760" cy="23774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2532888"/>
            <a:ext cx="3017520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Hand-written rules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29800" y="2715768"/>
            <a:ext cx="365760" cy="23774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87000" y="2532888"/>
            <a:ext cx="154533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6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2696"/>
            <a:ext cx="251460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Azure DI + AOAI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282696"/>
            <a:ext cx="3246120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Azure Document Intelligence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00" b="0" i="0">
                <a:solidFill>
                  <a:srgbClr val="5F6770"/>
                </a:solidFill>
                <a:latin typeface="Arial"/>
                <a:ea typeface="Microsoft JhengHei"/>
              </a:rPr>
              <a:t>cloud OCR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263640" y="3465576"/>
            <a:ext cx="365760" cy="23774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3282696"/>
            <a:ext cx="30175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ctr" wrap="square" lIns="137160" rIns="13716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D31145"/>
                </a:solidFill>
                <a:latin typeface="Arial"/>
                <a:ea typeface="Microsoft JhengHei"/>
              </a:rPr>
              <a:t>Azure OpenAI instructions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29800" y="3465576"/>
            <a:ext cx="365760" cy="23774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87000" y="3282696"/>
            <a:ext cx="154533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marL="0" indent="0">
              <a:spcAft>
                <a:spcPts val="0"/>
              </a:spcAft>
              <a:buNone/>
            </a:pPr>
            <a:r>
              <a:rPr sz="1350" b="1" i="0">
                <a:solidFill>
                  <a:srgbClr val="333D47"/>
                </a:solidFill>
                <a:latin typeface="Arial"/>
                <a:ea typeface="Microsoft JhengHei"/>
              </a:rPr>
              <a:t>6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148132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150" b="1" i="0">
                <a:solidFill>
                  <a:srgbClr val="5F6770"/>
                </a:solidFill>
                <a:latin typeface="Arial"/>
                <a:ea typeface="Microsoft JhengHei"/>
              </a:rPr>
              <a:t>1. Read the text (OCR)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4813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150" b="1" i="0">
                <a:solidFill>
                  <a:srgbClr val="5F6770"/>
                </a:solidFill>
                <a:latin typeface="Arial"/>
                <a:ea typeface="Microsoft JhengHei"/>
              </a:rPr>
              <a:t>2. Find the fields</a:t>
            </a:r>
          </a:p>
        </p:txBody>
      </p:sp>
      <p:pic>
        <p:nvPicPr>
          <p:cNvPr id="32" name="Picture 31" descr="thumb_receip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4114800"/>
            <a:ext cx="994409" cy="13258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356616" y="54681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050" b="0" i="0">
                <a:solidFill>
                  <a:srgbClr val="5F6770"/>
                </a:solidFill>
                <a:latin typeface="Arial"/>
                <a:ea typeface="Microsoft JhengHei"/>
              </a:rPr>
              <a:t>English</a:t>
            </a:r>
          </a:p>
        </p:txBody>
      </p:sp>
      <p:pic>
        <p:nvPicPr>
          <p:cNvPr id="34" name="Picture 33" descr="thumb_receip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4114800"/>
            <a:ext cx="994409" cy="13258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1545336" y="54681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050" b="0" i="0">
                <a:solidFill>
                  <a:srgbClr val="5F6770"/>
                </a:solidFill>
                <a:latin typeface="Arial"/>
                <a:ea typeface="Microsoft JhengHei"/>
              </a:rPr>
              <a:t>Bilingual</a:t>
            </a:r>
          </a:p>
        </p:txBody>
      </p:sp>
      <p:pic>
        <p:nvPicPr>
          <p:cNvPr id="36" name="Picture 35" descr="thumb_receipt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056" y="4114800"/>
            <a:ext cx="994409" cy="13258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2734056" y="54681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050" b="0" i="0">
                <a:solidFill>
                  <a:srgbClr val="5F6770"/>
                </a:solidFill>
                <a:latin typeface="Arial"/>
                <a:ea typeface="Microsoft JhengHei"/>
              </a:rPr>
              <a:t>Chinese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4114800"/>
            <a:ext cx="7808975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228600" rIns="228600" tIns="109728" bIns="109728"/>
          <a:lstStyle/>
          <a:p>
            <a:pPr algn="l" marL="0" indent="0">
              <a:spcAft>
                <a:spcPts val="8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  <a:ea typeface="Microsoft JhengHei"/>
              </a:rPr>
              <a:t>9 receipts</a:t>
            </a: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: 7 printed test receipts (English, bilingual, Chinese layouts) and 2 from the first benchmark round.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  <a:ea typeface="Microsoft JhengHei"/>
              </a:rPr>
              <a:t>6 fields</a:t>
            </a: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: doctor, registration no., patient, receipt no., service date, total.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257800"/>
            <a:ext cx="780897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050" b="0" i="1">
                <a:solidFill>
                  <a:srgbClr val="5F6770"/>
                </a:solidFill>
                <a:latin typeface="Arial"/>
                <a:ea typeface="Microsoft JhengHei"/>
              </a:rPr>
              <a:t>51 of 54 possible fields were scored. 3 receipts do not contain a doctor registration number, so those fields were excluded.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877824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Rules vs AOAI on the Same Receipts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9372600" y="603504"/>
            <a:ext cx="2459736" cy="3291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D47"/>
            </a:solidFill>
          </a:ln>
        </p:spPr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33D47"/>
                </a:solidFill>
                <a:latin typeface="Arial"/>
                <a:ea typeface="Microsoft JhengHei"/>
              </a:rPr>
              <a:t>MEASURED · DEVELOPMENT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Multilingual OCR rules reached 51.0–70.6%; Azure DI + AOAI reached 96.1%.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56616" y="1691640"/>
          <a:ext cx="667512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0" y="1783080"/>
            <a:ext cx="4517136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182880" rIns="182880" tIns="109728" bIns="109728"/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  <a:ea typeface="Microsoft JhengHei"/>
              </a:rPr>
              <a:t>Multilingual rules*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General rules with common Chinese labels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No receipt-specific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520440"/>
            <a:ext cx="4517136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t" wrap="square" lIns="182880" rIns="182880" tIns="109728" bIns="109728"/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To close the gap, rules would need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New labels and layouts written by hand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Retesting every receipt after each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550468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100" b="0" i="1">
                <a:solidFill>
                  <a:srgbClr val="5F6770"/>
                </a:solidFill>
                <a:latin typeface="Arial"/>
                <a:ea typeface="Microsoft JhengHei"/>
              </a:rPr>
              <a:t>* Retrospective baseline   † Development result (prompt refined on these receipts)   Neither is independent validation. 9 receipts, 51 fields.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877824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The Key Difference: Maintenance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9372600" y="603504"/>
            <a:ext cx="2459736" cy="3291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D47"/>
            </a:solidFill>
          </a:ln>
        </p:spPr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333D47"/>
                </a:solidFill>
                <a:latin typeface="Arial"/>
                <a:ea typeface="Microsoft JhengHei"/>
              </a:rPr>
              <a:t>MEASURED · DEVELOPMENT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Rules need us to anticipate every case in code. AOAI can often cope through plain-language instructions.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" y="1783080"/>
            <a:ext cx="5623560" cy="384048"/>
          </a:xfrm>
          <a:prstGeom prst="rect">
            <a:avLst/>
          </a:prstGeom>
          <a:solidFill>
            <a:srgbClr val="333D47"/>
          </a:solidFill>
          <a:ln>
            <a:noFill/>
          </a:ln>
        </p:spPr>
        <p:txBody>
          <a:bodyPr rtlCol="0" anchor="ctr" wrap="square" lIns="164592" rIns="164592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Microsoft JhengHei"/>
              </a:rPr>
              <a:t>Manual extraction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2331720"/>
            <a:ext cx="16611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A new label, language or layout appears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7816" y="2331720"/>
            <a:ext cx="16611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A developer anticipates it and writes rule 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63496" y="2862072"/>
            <a:ext cx="228600" cy="219456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9015" y="2331720"/>
            <a:ext cx="16611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Retest every receipt; a change can break a working one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44695" y="2862072"/>
            <a:ext cx="228600" cy="219456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3749039"/>
            <a:ext cx="5623560" cy="822960"/>
          </a:xfrm>
          <a:prstGeom prst="rect">
            <a:avLst/>
          </a:prstGeom>
          <a:noFill/>
        </p:spPr>
        <p:txBody>
          <a:bodyPr wrap="square" lIns="137160" rIns="137160" tIns="109728" bIns="109728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 b="1" i="0">
                <a:solidFill>
                  <a:srgbClr val="5F6770"/>
                </a:solidFill>
                <a:latin typeface="Arial"/>
                <a:ea typeface="Microsoft JhengHei"/>
              </a:rPr>
              <a:t>Seen in this benchmark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69 → 225 label phrases written by hand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1 correct field broken by a rule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783080"/>
            <a:ext cx="5623560" cy="384048"/>
          </a:xfrm>
          <a:prstGeom prst="rect">
            <a:avLst/>
          </a:prstGeom>
          <a:solidFill>
            <a:srgbClr val="D31145"/>
          </a:solidFill>
          <a:ln>
            <a:noFill/>
          </a:ln>
        </p:spPr>
        <p:txBody>
          <a:bodyPr rtlCol="0" anchor="ctr" wrap="square" lIns="164592" rIns="164592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Microsoft JhengHei"/>
              </a:rPr>
              <a:t>AOAI extraction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2331720"/>
            <a:ext cx="1661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ctr" wrap="square" lIns="109728" rIns="109728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New wording appears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9976" y="2331720"/>
            <a:ext cx="1661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ctr" wrap="square" lIns="109728" rIns="109728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Often handled by the existing instructions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15656" y="2862072"/>
            <a:ext cx="228600" cy="219456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71176" y="2331720"/>
            <a:ext cx="16611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ctr" wrap="square" lIns="109728" rIns="109728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50" b="0" i="0">
                <a:solidFill>
                  <a:srgbClr val="333D47"/>
                </a:solidFill>
                <a:latin typeface="Arial"/>
                <a:ea typeface="Microsoft JhengHei"/>
              </a:rPr>
              <a:t>If not: refine the instructions in plain language, rerun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96856" y="2862072"/>
            <a:ext cx="228600" cy="219456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6" y="3749039"/>
            <a:ext cx="5623560" cy="822960"/>
          </a:xfrm>
          <a:prstGeom prst="rect">
            <a:avLst/>
          </a:prstGeom>
          <a:noFill/>
        </p:spPr>
        <p:txBody>
          <a:bodyPr wrap="square" lIns="137160" rIns="137160" tIns="109728" bIns="109728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 b="1" i="0">
                <a:solidFill>
                  <a:srgbClr val="5F6770"/>
                </a:solidFill>
                <a:latin typeface="Arial"/>
                <a:ea typeface="Microsoft JhengHei"/>
              </a:rPr>
              <a:t>Seen in this benchmark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One prompt revision: 4 fields fixed, 0 broken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" y="4709160"/>
            <a:ext cx="114757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82880" rIns="18288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  <a:ea typeface="Microsoft JhengHei"/>
              </a:rPr>
              <a:t>Where rules were enough: </a:t>
            </a:r>
            <a:r>
              <a:rPr sz="1300" b="0" i="0">
                <a:solidFill>
                  <a:srgbClr val="333D47"/>
                </a:solidFill>
                <a:latin typeface="Arial"/>
                <a:ea typeface="Microsoft JhengHei"/>
              </a:rPr>
              <a:t>a yes/no check for a diagnosis comment under clear labels. Rules matched AOAI on 13/13 receipts (development result).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Advantages and Disadvantages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Rules win on cost, auditability and predictability; AOAI on accuracy, maintenance and flexibility.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783080"/>
          <a:ext cx="11475720" cy="36393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4251960"/>
                <a:gridCol w="4251960"/>
                <a:gridCol w="137160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OCR + rules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Azure DI + AOAI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Cost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+ PaddleOCR: own compute, no API fee (Azure DI: page fee)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− Azure DI page fee + ~962 input / 243 output tokens per receipt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5F6770"/>
                          </a:solidFill>
                          <a:latin typeface="Arial"/>
                          <a:ea typeface="Microsoft JhengHei"/>
                        </a:rPr>
                        <a:t>Prices to confirm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Speed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PaddleOCR 13.9 s (CPU) · Azure DI 3.8 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6.4 s per receipt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Measured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− 51.0–70.6% with multilingual rules (retrospective)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+ 96.1% with prompt v2 (development result)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Measured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Maintenance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− New labels, languages and layouts need code and a full retest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+ Many changes made in plain-language instructions; still retest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5F6770"/>
                          </a:solidFill>
                          <a:latin typeface="Arial"/>
                          <a:ea typeface="Microsoft JhengHei"/>
                        </a:rPr>
                        <a:t>Measured / expected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Flexibility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− Finds only what it was written for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+ New fields can be requested in the prompt (not yet benchmarked)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5F6770"/>
                          </a:solidFill>
                          <a:latin typeface="Arial"/>
                          <a:ea typeface="Microsoft JhengHei"/>
                        </a:rPr>
                        <a:t>Expected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Auditability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+ Every result traceable to a rule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− Harder to explain; keep quoted evidence and logs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5F6770"/>
                          </a:solidFill>
                          <a:latin typeface="Arial"/>
                          <a:ea typeface="Microsoft JhengHei"/>
                        </a:rPr>
                        <a:t>Expected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Reliability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+ Same input, same output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− Can return a confident wrong value (e.g. a sub total as the total); model updates need retesting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1">
                          <a:solidFill>
                            <a:srgbClr val="5F6770"/>
                          </a:solidFill>
                          <a:latin typeface="Arial"/>
                          <a:ea typeface="Microsoft JhengHei"/>
                        </a:rPr>
                        <a:t>Measured / expected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56616" y="5486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100" b="0" i="1">
                <a:solidFill>
                  <a:srgbClr val="5F6770"/>
                </a:solidFill>
                <a:latin typeface="Arial"/>
                <a:ea typeface="Microsoft JhengHei"/>
              </a:rPr>
              <a:t>Green = stronger side. Multilingual rules include common Chinese labels (retrospective baseline). Expected = not measured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877824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Beyond Six Fields: From Receipts to Insights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9372600" y="603504"/>
            <a:ext cx="2459736" cy="3291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1145"/>
            </a:solidFill>
          </a:ln>
        </p:spPr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D31145"/>
                </a:solidFill>
                <a:latin typeface="Arial"/>
                <a:ea typeface="Microsoft JhengHei"/>
              </a:rPr>
              <a:t>POTENTIAL · NOT YET 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Today we extract 6 fields. AOAI could also capture what was treated, tested and prescribed.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91640"/>
            <a:ext cx="36118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  <a:ea typeface="Microsoft JhengHei"/>
              </a:rPr>
              <a:t>1. What the receipt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69164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  <a:ea typeface="Microsoft JhengHei"/>
              </a:rPr>
              <a:t>2. What AOAI could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465576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  <a:ea typeface="Microsoft JhengHei"/>
              </a:rPr>
              <a:t>3. What we could analyse</a:t>
            </a:r>
          </a:p>
        </p:txBody>
      </p:sp>
      <p:pic>
        <p:nvPicPr>
          <p:cNvPr id="16" name="Picture 15" descr="crop_receipt3_item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103120"/>
            <a:ext cx="3611880" cy="190567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7" name="Right Arrow 16"/>
          <p:cNvSpPr/>
          <p:nvPr/>
        </p:nvSpPr>
        <p:spPr>
          <a:xfrm>
            <a:off x="4005072" y="3154680"/>
            <a:ext cx="301752" cy="32918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343400" y="2103120"/>
          <a:ext cx="3657600" cy="22494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234440"/>
                <a:gridCol w="7772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HK$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Specialist consultation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31145"/>
                          </a:solidFill>
                          <a:latin typeface="Arial"/>
                          <a:ea typeface="Microsoft JhengHei"/>
                        </a:rPr>
                        <a:t>Consultation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950.00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Chest X-ray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31145"/>
                          </a:solidFill>
                          <a:latin typeface="Arial"/>
                          <a:ea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620.00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Blood test (CBC)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31145"/>
                          </a:solidFill>
                          <a:latin typeface="Arial"/>
                          <a:ea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380.00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Drugs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31145"/>
                          </a:solidFill>
                          <a:latin typeface="Arial"/>
                          <a:ea typeface="Microsoft JhengHei"/>
                        </a:rPr>
                        <a:t>Medication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D47"/>
                          </a:solidFill>
                          <a:latin typeface="Arial"/>
                          <a:ea typeface="Microsoft JhengHei"/>
                        </a:rPr>
                        <a:t>245.50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343400" y="4434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050" b="0" i="1">
                <a:solidFill>
                  <a:srgbClr val="5F6770"/>
                </a:solidFill>
                <a:latin typeface="Arial"/>
                <a:ea typeface="Microsoft JhengHei"/>
              </a:rPr>
              <a:t>Illustration typed from the receipt text, not AOAI output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37575" y="3154680"/>
            <a:ext cx="301752" cy="329184"/>
          </a:xfrm>
          <a:prstGeom prst="rightArrow">
            <a:avLst/>
          </a:prstGeom>
          <a:solidFill>
            <a:srgbClr val="8C9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2103120"/>
            <a:ext cx="346557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rIns="128016" tIns="109728" bIns="109728"/>
          <a:lstStyle/>
          <a:p>
            <a:pPr algn="l" marL="0" indent="0">
              <a:spcAft>
                <a:spcPts val="10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  <a:ea typeface="Microsoft JhengHei"/>
              </a:rPr>
              <a:t>Cost by treatment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50" b="0" i="0">
                <a:solidFill>
                  <a:srgbClr val="5F6770"/>
                </a:solidFill>
                <a:latin typeface="Arial"/>
                <a:ea typeface="Microsoft JhengHei"/>
              </a:rPr>
              <a:t>Spend on consultations, tests and medicines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779776"/>
            <a:ext cx="346557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rIns="128016" tIns="109728" bIns="109728"/>
          <a:lstStyle/>
          <a:p>
            <a:pPr algn="l" marL="0" indent="0">
              <a:spcAft>
                <a:spcPts val="10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  <a:ea typeface="Microsoft JhengHei"/>
              </a:rPr>
              <a:t>Provider comparison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50" b="0" i="0">
                <a:solidFill>
                  <a:srgbClr val="5F6770"/>
                </a:solidFill>
                <a:latin typeface="Arial"/>
                <a:ea typeface="Microsoft JhengHei"/>
              </a:rPr>
              <a:t>Typical charges per test across providers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3456432"/>
            <a:ext cx="346557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rIns="128016" tIns="109728" bIns="109728"/>
          <a:lstStyle/>
          <a:p>
            <a:pPr algn="l" marL="0" indent="0">
              <a:spcAft>
                <a:spcPts val="10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  <a:ea typeface="Microsoft JhengHei"/>
              </a:rPr>
              <a:t>Trends over time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50" b="0" i="0">
                <a:solidFill>
                  <a:srgbClr val="5F6770"/>
                </a:solidFill>
                <a:latin typeface="Arial"/>
                <a:ea typeface="Microsoft JhengHei"/>
              </a:rPr>
              <a:t>Which treatments and medicines are rising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4133087"/>
            <a:ext cx="3465576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rIns="128016" tIns="109728" bIns="109728"/>
          <a:lstStyle/>
          <a:p>
            <a:pPr algn="l" marL="0" indent="0">
              <a:spcAft>
                <a:spcPts val="10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  <a:ea typeface="Microsoft JhengHei"/>
              </a:rPr>
              <a:t>Unusual claims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150" b="0" i="0">
                <a:solidFill>
                  <a:srgbClr val="5F6770"/>
                </a:solidFill>
                <a:latin typeface="Arial"/>
                <a:ea typeface="Microsoft JhengHei"/>
              </a:rPr>
              <a:t>Combinations or amounts that stand 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" y="5029200"/>
            <a:ext cx="1147572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ctr" wrap="square" lIns="182880" rIns="182880" tIns="109728" bIns="109728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D31145"/>
                </a:solidFill>
                <a:latin typeface="Arial"/>
                <a:ea typeface="Microsoft JhengHei"/>
              </a:rPr>
              <a:t>Potential, not yet tested. </a:t>
            </a:r>
            <a:r>
              <a:rPr sz="1300" b="0" i="0">
                <a:solidFill>
                  <a:srgbClr val="333D47"/>
                </a:solidFill>
                <a:latin typeface="Arial"/>
                <a:ea typeface="Microsoft JhengHei"/>
              </a:rPr>
              <a:t>Only the 6 current fields have been benchmarked. Diagnoses, symptoms, treatments and medications would need a pilot.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  <a:ea typeface="Microsoft JhengHei"/>
              </a:rPr>
              <a:t>Recommendation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700" b="0" i="0">
                <a:solidFill>
                  <a:srgbClr val="D31145"/>
                </a:solidFill>
                <a:latin typeface="Arial"/>
                <a:ea typeface="Microsoft JhengHei"/>
              </a:rPr>
              <a:t>Use rules for simple, labelled checks. Use AOAI where receipts vary or richer data is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783080"/>
            <a:ext cx="5596128" cy="210312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txBody>
          <a:bodyPr rtlCol="0" anchor="t" wrap="square" lIns="182880" rIns="182880" tIns="109728" bIns="109728"/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1E7B4A"/>
                </a:solidFill>
                <a:latin typeface="Arial"/>
                <a:ea typeface="Microsoft JhengHei"/>
              </a:rPr>
              <a:t>Simple OCR rules are sufficient when…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Layouts are few, known and stable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Fields have clear printed labels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The question is simple, e.g. is a diagnosis comment present?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No API fee and fully traceable output are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83080"/>
            <a:ext cx="559612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1145"/>
            </a:solidFill>
          </a:ln>
        </p:spPr>
        <p:txBody>
          <a:bodyPr rtlCol="0" anchor="t" wrap="square" lIns="182880" rIns="182880" tIns="109728" bIns="109728"/>
          <a:lstStyle/>
          <a:p>
            <a:pPr algn="l"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AOAI adds real value when…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Providers, layouts and languages vary (Chinese, bilingual)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Fields lack consistent labels: names with titles, totals vs subtotals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We want less scenario-specific code to maintain</a:t>
            </a:r>
          </a:p>
          <a:p>
            <a:pPr marL="182880" indent="-182880" algn="l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333D47"/>
                </a:solidFill>
                <a:latin typeface="Arial"/>
                <a:ea typeface="Microsoft JhengHei"/>
              </a:rPr>
              <a:t>Richer medical data is wanted (potential, not yet benchmarked)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4114800"/>
            <a:ext cx="2697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164592" rIns="164592" tIns="109728" bIns="109728"/>
          <a:lstStyle/>
          <a:p>
            <a:pPr algn="l" marL="0" indent="0">
              <a:spcAft>
                <a:spcPts val="30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1. Freeze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the rules and AOAI prompt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4114800"/>
            <a:ext cx="2697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164592" rIns="164592" tIns="109728" bIns="109728"/>
          <a:lstStyle/>
          <a:p>
            <a:pPr algn="l" marL="0" indent="0">
              <a:spcAft>
                <a:spcPts val="30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2. Validate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30+ unseen, real, anonymised receipts; count rule changes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114800"/>
            <a:ext cx="2697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164592" rIns="164592" tIns="109728" bIns="109728"/>
          <a:lstStyle/>
          <a:p>
            <a:pPr algn="l" marL="0" indent="0">
              <a:spcAft>
                <a:spcPts val="30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3. Pilot extra fields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medications, treatments, symptoms, diagnoses with ground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6" y="4114800"/>
            <a:ext cx="2697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164592" rIns="164592" tIns="109728" bIns="109728"/>
          <a:lstStyle/>
          <a:p>
            <a:pPr algn="l" marL="0" indent="0">
              <a:spcAft>
                <a:spcPts val="300"/>
              </a:spcAft>
              <a:buNone/>
            </a:pPr>
            <a:r>
              <a:rPr sz="1500" b="1" i="0">
                <a:solidFill>
                  <a:srgbClr val="D31145"/>
                </a:solidFill>
                <a:latin typeface="Arial"/>
                <a:ea typeface="Microsoft JhengHei"/>
              </a:rPr>
              <a:t>4. Confirm cost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50" b="0" i="0">
                <a:solidFill>
                  <a:srgbClr val="333D47"/>
                </a:solidFill>
                <a:latin typeface="Arial"/>
                <a:ea typeface="Microsoft JhengHei"/>
              </a:rPr>
              <a:t>Document Intelligence pages and gpt-5-mini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5349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sz="1100" b="0" i="1">
                <a:solidFill>
                  <a:srgbClr val="5F6770"/>
                </a:solidFill>
                <a:latin typeface="Arial"/>
                <a:ea typeface="Microsoft JhengHei"/>
              </a:rPr>
              <a:t>Evidence so far: 9 receipts; results are development or retrospective, not yet validated on unseen receipts.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1521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AIA_2020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4</cp:revision>
  <cp:lastPrinted>2020-05-18T12:18:52Z</cp:lastPrinted>
  <dcterms:created xsi:type="dcterms:W3CDTF">2026-09-21T01:03:41Z</dcterms:created>
  <dcterms:modified xsi:type="dcterms:W3CDTF">2026-09-23T02:34:05Z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2026-09-21T01:43:46Z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90345cdd-399e-49a9-970c-b0d82dbcf4a1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