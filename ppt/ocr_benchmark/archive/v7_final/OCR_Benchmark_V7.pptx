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handoutMasters/handoutMaster1.xml" ContentType="application/vnd.openxmlformats-officedocument.presentationml.handoutMaster+xml"/>
  <Override PartName="/ppt/media/image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handoutMasterIdLst>
    <p:handoutMasterId r:id="rId6"/>
  </p:handoutMasterIdLst>
  <p:sldIdLst>
    <p:sldId id="256" r:id="rId4"/>
    <p:sldId id="257" r:id="rId3"/>
    <p:sldId id="258" r:id="rId2"/>
    <p:sldId id="259" r:id="rId11"/>
    <p:sldId id="260" r:id="rId12"/>
    <p:sldId id="261" r:id="rId13"/>
    <p:sldId id="262" r:id="rId14"/>
    <p:sldId id="263" r:id="rId15"/>
    <p:sldId id="26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5915C"/>
    <a:srgbClr val="68655A"/>
    <a:srgbClr val="FF7A85"/>
    <a:srgbClr val="4C4794"/>
    <a:srgbClr val="333D47"/>
    <a:srgbClr val="F1C400"/>
    <a:srgbClr val="D31145"/>
    <a:srgbClr val="42005B"/>
    <a:srgbClr val="42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87"/>
  </p:normalViewPr>
  <p:slideViewPr>
    <p:cSldViewPr snapToGrid="0" showGuides="1">
      <p:cViewPr varScale="1">
        <p:scale>
          <a:sx n="120" d="100"/>
          <a:sy n="120" d="100"/>
        </p:scale>
        <p:origin x="144" y="198"/>
      </p:cViewPr>
      <p:guideLst>
        <p:guide orient="horz" pos="2160"/>
        <p:guide pos="3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96" d="100"/>
          <a:sy n="96" d="100"/>
        </p:scale>
        <p:origin x="364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xml"/><Relationship Id="rId3" Type="http://schemas.openxmlformats.org/officeDocument/2006/relationships/slide" Target="slides/slide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Accuracy</c:v>
                </c:pt>
              </c:strCache>
            </c:strRef>
          </c:tx>
          <c:spPr>
            <a:solidFill>
              <a:srgbClr val="8C939A"/>
            </a:solidFill>
          </c:spPr>
          <c:dPt>
            <c:idx val="0"/>
            <c:spPr>
              <a:solidFill>
                <a:srgbClr val="8C939A"/>
              </a:solidFill>
            </c:spPr>
          </c:dPt>
          <c:dPt>
            <c:idx val="1"/>
            <c:spPr>
              <a:solidFill>
                <a:srgbClr val="333D47"/>
              </a:solidFill>
            </c:spPr>
          </c:dPt>
          <c:dPt>
            <c:idx val="2"/>
            <c:spPr>
              <a:solidFill>
                <a:srgbClr val="D31145"/>
              </a:solidFill>
            </c:spPr>
          </c:dPt>
          <c:cat>
            <c:strRef>
              <c:f>Sheet1!$A$2:$A$4</c:f>
              <c:strCache>
                <c:ptCount val="3"/>
                <c:pt idx="0">
                  <c:v>PaddleOCR Light
+ multilingual rules*
26/51</c:v>
                </c:pt>
                <c:pt idx="1">
                  <c:v>Azure DI
+ multilingual rules*
36/51</c:v>
                </c:pt>
                <c:pt idx="2">
                  <c:v>Azure DI + AOAI
original prompt
45/51</c:v>
                </c:pt>
              </c:strCache>
            </c:strRef>
          </c:cat>
          <c:val>
            <c:numRef>
              <c:f>Sheet1!$B$2:$B$4</c:f>
              <c:numCache>
                <c:formatCode>General</c:formatCode>
                <c:ptCount val="3"/>
                <c:pt idx="0">
                  <c:v>51.0</c:v>
                </c:pt>
                <c:pt idx="1">
                  <c:v>70.6</c:v>
                </c:pt>
                <c:pt idx="2">
                  <c:v>88.2</c:v>
                </c:pt>
              </c:numCache>
            </c:numRef>
          </c:val>
        </c:ser>
        <c:dLbls>
          <c:numFmt formatCode="0.0&quot;%&quot;" sourceLinked="0"/>
          <c:txPr>
            <a:bodyPr/>
            <a:lstStyle/>
            <a:p>
              <a:pPr>
                <a:defRPr sz="1500" b="1"/>
              </a:pPr>
            </a:p>
          </c:txPr>
          <c:dLblPos val="outEnd"/>
          <c:showLegendKey val="0"/>
          <c:showVal val="1"/>
          <c:showCatName val="0"/>
          <c:showSerName val="0"/>
          <c:showPercent val="0"/>
          <c:showBubbleSize val="0"/>
          <c:showLeaderLines val="1"/>
        </c:dLbls>
        <c:gapWidth val="55"/>
        <c:overlap val="-8"/>
        <c:axId val="-2068027336"/>
        <c:axId val="-2113994440"/>
      </c:barChart>
      <c:catAx>
        <c:axId val="-2068027336"/>
        <c:scaling>
          <c:orientation val="minMax"/>
        </c:scaling>
        <c:delete val="0"/>
        <c:axPos val="b"/>
        <c:majorTickMark val="out"/>
        <c:minorTickMark val="none"/>
        <c:tickLblPos val="nextTo"/>
        <c:spPr>
          <a:ln>
            <a:solidFill>
              <a:srgbClr val="C9CDD1"/>
            </a:solidFill>
          </a:ln>
        </c:spPr>
        <c:txPr>
          <a:bodyPr/>
          <a:lstStyle/>
          <a:p>
            <a:pPr>
              <a:defRPr sz="1200"/>
            </a:pPr>
          </a:p>
        </c:txPr>
        <c:crossAx val="-2113994440"/>
        <c:crosses val="autoZero"/>
        <c:auto val="1"/>
        <c:lblAlgn val="ctr"/>
        <c:lblOffset val="100"/>
        <c:noMultiLvlLbl val="0"/>
      </c:catAx>
      <c:valAx>
        <c:axId val="-2113994440"/>
        <c:scaling>
          <c:max val="100.0"/>
          <c:min val="0.0"/>
        </c:scaling>
        <c:delete/>
        <c:axPos val="l"/>
        <c:majorTickMark val="out"/>
        <c:minorTickMark val="none"/>
        <c:tickLblPos val="nextTo"/>
        <c:crossAx val="-2068027336"/>
        <c:crosses val="autoZero"/>
      </c:valAx>
    </c:plotArea>
    <c:dispBlanksAs val="gap"/>
  </c:chart>
  <c:txPr>
    <a:bodyPr/>
    <a:lstStyle/>
    <a:p>
      <a:pPr>
        <a:defRPr sz="1200">
          <a:solidFill>
            <a:srgbClr val="333D47"/>
          </a:solidFill>
          <a:latin typeface="Aria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3218ECE-A34A-49B3-9686-CAB705FE9FAE}" type="datetimeFigureOut">
              <a:rPr lang="en-GB" smtClean="0"/>
              <a:t>23/09/2026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CF2FCE-B231-44AD-BE06-D54B55D77B09}" type="slidenum">
              <a:rPr lang="en-GB" smtClean="0"/>
              <a:t>‹#›</a:t>
            </a:fld>
            <a:endParaRPr lang="en-GB"/>
          </a:p>
        </p:txBody>
      </p:sp>
    </p:spTree>
    <p:extLst>
      <p:ext uri="{BB962C8B-B14F-4D97-AF65-F5344CB8AC3E}">
        <p14:creationId xmlns:p14="http://schemas.microsoft.com/office/powerpoint/2010/main" val="135914142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ECA36D-3A4E-49AB-8998-33E386CC9347}" type="datetimeFigureOut">
              <a:rPr lang="en-US" smtClean="0"/>
              <a:t>9/23/2026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A808D9-4A71-422D-8C20-E440E917BF93}" type="slidenum">
              <a:rPr lang="en-US" smtClean="0"/>
              <a:t>‹#›</a:t>
            </a:fld>
            <a:endParaRPr lang="en-US"/>
          </a:p>
        </p:txBody>
      </p:sp>
    </p:spTree>
    <p:extLst>
      <p:ext uri="{BB962C8B-B14F-4D97-AF65-F5344CB8AC3E}">
        <p14:creationId xmlns:p14="http://schemas.microsoft.com/office/powerpoint/2010/main" val="391278085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is OCR with hand-written extraction rules enough to replace Azure OpenAI (AOAI) for medical receipts, and what value does AOAI add? Every number comes from the saved benchmark results.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Azure DI + AOAI with prompt v2: 96.1% (49/51), a development result: the prompt was refined after reviewing these 9 receipts. OCR + general multilingual rules: 51.0% with PaddleOCR Light and 70.6% with Azure DI (26/51 and 36/51), a retrospective baseline: the rules add common Chinese labels and were fixed before scoring, but written after these receipts were examined. Neither result is independent validation. Rules must be written and maintained for every new label, language and layout; AOAI works from plain-language instructions and could extract further fields (potential, not yet benchmarked).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receipts: 7 printed, fictional test receipts photographed with a phone (English, bilingual and Traditional Chinese layouts) and 2 receipts from the first benchmark round. Six fields: doctor, registration number, patient, receipt number, service date, total. 51 of 54 possible fields were scored: 3 receipts do not contain a doctor registration number, so those fields were excluded. Azure OpenAI deployment: gpt-5-mini.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Accuracy = correct fields / 51 on the 9 receipts. Multilingual rules = the original general rules plus common Traditional and Simplified Chinese translations of their labels and basic bilingual handling, nothing else (python/receipt_ocr_benchmark/docs/MULTILINGUAL_BASELINE.md). Retrospective: Chinese labels added after these receipts were examined (rules fixed before scoring); not an independent test. AOAI uses the original prompt, written before these receipts existed. The remaining rule errors need new label types, labels inside lines, layout logic or OCR-tolerant matching; PaddleOCR Light also loses fields because its OCR glues words and mixes characters in bilingual labels. The prompt v2 development result (96.1%) is on the executive summary.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Rules: to handle these 9 receipts the label vocabulary grew from 69 to 225 hand-written phrases (Chinese and bilingual labels, distractor labels, layout handling), and one change broke 1 field that was already correct. AOAI: one prompt revision fixed 4 fields and broke 0. Whether AOAI copes with layouts it has not seen is expected, not proven: it has not been tested on enough unseen receipts. Diagnosis-comment check (results/diagnosis): rules matched AOAI on 13/13 receipts, because the comments sat under clear labels.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Measured: accuracy (multilingual rules 51.0–70.6%, retrospective baseline; AOAI 88.2%; prompt v2 96.1%, development result); speed per receipt (PaddleOCR Light 13.9 s on Azure ML CPU, Azure DI 3.8 s, Azure DI + AOAI 6.2 s incl. network); AOAI tokens per receipt with the original prompt (602 input, 263 output); rule effort (69 -&gt; 225 label phrases) and the vet invoice sub-total error. Prices are not confirmed. Flexibility, auditability and model-update effects are expectations.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Potential only: extraction of these fields has not been built or benchmarked. The table shows text that Azure DI already read from our benchmark receipts (checked in the saved OCR output); it illustrates the target output, not AOAI results. Rules would need new labels and logic for every such detail. Possible uses depend on a pilot with ground truth, accuracy targets, a privacy review and cost checks.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receipts and 51 fields; 7 are printed, fictional test receipts. The original rules had no Chinese labels, so the initial gap overstates what rules can do; with common Chinese labels added (retrospective baseline, rules fixed before scoring but written after these receipts were examined) they reached 51.0–70.6%. Prompt v2 (and the rules) were tuned on the same receipts; the tuned rule accuracy is not shown for that reason, and 96.1% is a development result. Unseen test: only 4 handwritten Version 1 receipts were not used for tuning; on all 4, Azure DI read the handwritten year 2026 as 2020 (results/v1_heldout), an OCR error no extraction step can fix. Prices are not confirmed.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Rules are sufficient where layouts are few and stable, fields have clear labels and the question is simple (for example whether a diagnosis comment is present). AOAI adds value where providers, layouts and languages vary, where fields lack consistent labels, and potentially for richer medical data (not yet benchmarked). Next steps: freeze the rules and prompt v2; test on 30+ unseen, real, anonymised receipts and count the rule changes needed; pilot medications, treatments, symptoms and diagnoses with ground truth; confirm prices.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IA_TitleSlide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3DE312-0E56-1747-B671-3F457AA8D765}"/>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7E52CBAF-C878-FD45-8AF4-3C799CB4F535}"/>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26370" b="31414"/>
          <a:stretch/>
        </p:blipFill>
        <p:spPr>
          <a:xfrm>
            <a:off x="6580800" y="0"/>
            <a:ext cx="5611200" cy="6858000"/>
          </a:xfrm>
          <a:prstGeom prst="rect">
            <a:avLst/>
          </a:prstGeom>
        </p:spPr>
      </p:pic>
      <p:sp>
        <p:nvSpPr>
          <p:cNvPr id="12" name="Subtitle 2">
            <a:extLst>
              <a:ext uri="{FF2B5EF4-FFF2-40B4-BE49-F238E27FC236}">
                <a16:creationId xmlns:a16="http://schemas.microsoft.com/office/drawing/2014/main" id="{5FAC4E2A-F096-5540-918E-6F520E475C7C}"/>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date</a:t>
            </a:r>
          </a:p>
        </p:txBody>
      </p:sp>
      <p:sp>
        <p:nvSpPr>
          <p:cNvPr id="13" name="Text Placeholder 11">
            <a:extLst>
              <a:ext uri="{FF2B5EF4-FFF2-40B4-BE49-F238E27FC236}">
                <a16:creationId xmlns:a16="http://schemas.microsoft.com/office/drawing/2014/main" id="{0DD8F76D-7AD6-444B-9E55-80A650B42CD1}"/>
              </a:ext>
            </a:extLst>
          </p:cNvPr>
          <p:cNvSpPr>
            <a:spLocks noGrp="1"/>
          </p:cNvSpPr>
          <p:nvPr>
            <p:ph type="body" sz="quarter" idx="10"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Title of Presentation</a:t>
            </a:r>
          </a:p>
        </p:txBody>
      </p:sp>
      <p:sp>
        <p:nvSpPr>
          <p:cNvPr id="8" name="TextBox 7">
            <a:extLst>
              <a:ext uri="{FF2B5EF4-FFF2-40B4-BE49-F238E27FC236}">
                <a16:creationId xmlns:a16="http://schemas.microsoft.com/office/drawing/2014/main" id="{C005E6EB-133C-4C47-A11D-54E804FE9C2F}"/>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D9903880-9FDE-8D40-A562-3D8B9CB09AB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0000" y="360000"/>
            <a:ext cx="1828800" cy="660400"/>
          </a:xfrm>
          <a:prstGeom prst="rect">
            <a:avLst/>
          </a:prstGeom>
        </p:spPr>
      </p:pic>
    </p:spTree>
    <p:extLst>
      <p:ext uri="{BB962C8B-B14F-4D97-AF65-F5344CB8AC3E}">
        <p14:creationId xmlns:p14="http://schemas.microsoft.com/office/powerpoint/2010/main" val="1051781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IA_subheader white">
    <p:spTree>
      <p:nvGrpSpPr>
        <p:cNvPr id="1" name=""/>
        <p:cNvGrpSpPr/>
        <p:nvPr/>
      </p:nvGrpSpPr>
      <p:grpSpPr>
        <a:xfrm>
          <a:off x="0" y="0"/>
          <a:ext cx="0" cy="0"/>
          <a:chOff x="0" y="0"/>
          <a:chExt cx="0" cy="0"/>
        </a:xfrm>
      </p:grpSpPr>
      <p:sp>
        <p:nvSpPr>
          <p:cNvPr id="21" name="Text Placeholder 4"/>
          <p:cNvSpPr>
            <a:spLocks noGrp="1"/>
          </p:cNvSpPr>
          <p:nvPr>
            <p:ph type="body" sz="quarter" idx="15" hasCustomPrompt="1"/>
          </p:nvPr>
        </p:nvSpPr>
        <p:spPr>
          <a:xfrm>
            <a:off x="4237200" y="1800000"/>
            <a:ext cx="36072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22" name="Text Placeholder 4"/>
          <p:cNvSpPr>
            <a:spLocks noGrp="1"/>
          </p:cNvSpPr>
          <p:nvPr>
            <p:ph type="body" sz="quarter" idx="16" hasCustomPrompt="1"/>
          </p:nvPr>
        </p:nvSpPr>
        <p:spPr>
          <a:xfrm>
            <a:off x="360000" y="1800000"/>
            <a:ext cx="36000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7" name="Text Placeholder 11">
            <a:extLst>
              <a:ext uri="{FF2B5EF4-FFF2-40B4-BE49-F238E27FC236}">
                <a16:creationId xmlns:a16="http://schemas.microsoft.com/office/drawing/2014/main" id="{C4B34AF1-3AD0-DE4E-91C8-39A92B566589}"/>
              </a:ext>
            </a:extLst>
          </p:cNvPr>
          <p:cNvSpPr>
            <a:spLocks noGrp="1"/>
          </p:cNvSpPr>
          <p:nvPr>
            <p:ph type="body" sz="quarter" idx="10" hasCustomPrompt="1"/>
          </p:nvPr>
        </p:nvSpPr>
        <p:spPr>
          <a:xfrm>
            <a:off x="360000" y="540000"/>
            <a:ext cx="11160000" cy="1338676"/>
          </a:xfrm>
          <a:prstGeom prst="rect">
            <a:avLst/>
          </a:prstGeom>
          <a:noFill/>
        </p:spPr>
        <p:txBody>
          <a:bodyPr>
            <a:noAutofit/>
          </a:bodyPr>
          <a:lstStyle>
            <a:lvl1pPr>
              <a:lnSpc>
                <a:spcPts val="3200"/>
              </a:lnSpc>
              <a:defRPr sz="3600">
                <a:solidFill>
                  <a:srgbClr val="333D47"/>
                </a:solidFill>
              </a:defRPr>
            </a:lvl1pPr>
            <a:lvl2pPr marL="457200" indent="0">
              <a:buNone/>
              <a:defRPr/>
            </a:lvl2pPr>
          </a:lstStyle>
          <a:p>
            <a:pPr lvl="0"/>
            <a:r>
              <a:rPr lang="en-US" dirty="0"/>
              <a:t>Headline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pic>
        <p:nvPicPr>
          <p:cNvPr id="6" name="Graphic 5">
            <a:extLst>
              <a:ext uri="{FF2B5EF4-FFF2-40B4-BE49-F238E27FC236}">
                <a16:creationId xmlns:a16="http://schemas.microsoft.com/office/drawing/2014/main" id="{C2BBEFAE-7438-F548-BFC6-9CD53B767E2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160000" y="5792400"/>
            <a:ext cx="635000" cy="660400"/>
          </a:xfrm>
          <a:prstGeom prst="rect">
            <a:avLst/>
          </a:prstGeom>
        </p:spPr>
      </p:pic>
    </p:spTree>
    <p:extLst>
      <p:ext uri="{BB962C8B-B14F-4D97-AF65-F5344CB8AC3E}">
        <p14:creationId xmlns:p14="http://schemas.microsoft.com/office/powerpoint/2010/main" val="2094514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IA_thankyou">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B5BE0-8CB1-E247-A12A-51429A1939EB}"/>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ubtitle 2">
            <a:extLst>
              <a:ext uri="{FF2B5EF4-FFF2-40B4-BE49-F238E27FC236}">
                <a16:creationId xmlns:a16="http://schemas.microsoft.com/office/drawing/2014/main" id="{4A93DA94-6D62-D040-97F3-1DFA5A72C689}"/>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Email</a:t>
            </a:r>
          </a:p>
          <a:p>
            <a:r>
              <a:rPr lang="en-US" dirty="0"/>
              <a:t>Date</a:t>
            </a:r>
          </a:p>
        </p:txBody>
      </p:sp>
      <p:sp>
        <p:nvSpPr>
          <p:cNvPr id="6" name="Text Placeholder 11">
            <a:extLst>
              <a:ext uri="{FF2B5EF4-FFF2-40B4-BE49-F238E27FC236}">
                <a16:creationId xmlns:a16="http://schemas.microsoft.com/office/drawing/2014/main" id="{0C3F0DB7-93FA-D243-9648-A59C82E13702}"/>
              </a:ext>
            </a:extLst>
          </p:cNvPr>
          <p:cNvSpPr>
            <a:spLocks noGrp="1"/>
          </p:cNvSpPr>
          <p:nvPr>
            <p:ph type="body" sz="quarter" idx="11"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Thank you</a:t>
            </a:r>
          </a:p>
        </p:txBody>
      </p:sp>
      <p:sp>
        <p:nvSpPr>
          <p:cNvPr id="8" name="TextBox 7">
            <a:extLst>
              <a:ext uri="{FF2B5EF4-FFF2-40B4-BE49-F238E27FC236}">
                <a16:creationId xmlns:a16="http://schemas.microsoft.com/office/drawing/2014/main" id="{F7BF49BF-4968-8D47-AB2D-21AB12177162}"/>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811844A6-A542-4643-96E7-3B2146FB59F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0000" y="360000"/>
            <a:ext cx="1828800" cy="660400"/>
          </a:xfrm>
          <a:prstGeom prst="rect">
            <a:avLst/>
          </a:prstGeom>
        </p:spPr>
      </p:pic>
      <p:pic>
        <p:nvPicPr>
          <p:cNvPr id="11" name="Graphic 10">
            <a:extLst>
              <a:ext uri="{FF2B5EF4-FFF2-40B4-BE49-F238E27FC236}">
                <a16:creationId xmlns:a16="http://schemas.microsoft.com/office/drawing/2014/main" id="{6BF7525C-9C01-724E-9D57-E82EE57D1FB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26370" b="31414"/>
          <a:stretch/>
        </p:blipFill>
        <p:spPr>
          <a:xfrm>
            <a:off x="6580800" y="0"/>
            <a:ext cx="5611200" cy="6858000"/>
          </a:xfrm>
          <a:prstGeom prst="rect">
            <a:avLst/>
          </a:prstGeom>
        </p:spPr>
      </p:pic>
    </p:spTree>
    <p:extLst>
      <p:ext uri="{BB962C8B-B14F-4D97-AF65-F5344CB8AC3E}">
        <p14:creationId xmlns:p14="http://schemas.microsoft.com/office/powerpoint/2010/main" val="7563068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svg"/><Relationship Id="rId6" Type="http://schemas.openxmlformats.org/officeDocument/2006/relationships/image" Target="../media/image2.svg"/><Relationship Id="rId7" Type="http://schemas.openxmlformats.org/officeDocument/2006/relationships/image" Target="../media/image3.svg"/><Relationship Id="rId8" Type="http://schemas.openxmlformats.org/officeDocument/2006/relationships/image" Target="../media/image4.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76106E65-026A-4C46-AFB0-85C3E7848DD0}"/>
              </a:ext>
            </a:extLst>
          </p:cNvPr>
          <p:cNvSpPr>
            <a:spLocks noGrp="1"/>
          </p:cNvSpPr>
          <p:nvPr>
            <p:ph type="title"/>
          </p:nvPr>
        </p:nvSpPr>
        <p:spPr>
          <a:xfrm>
            <a:off x="360000" y="540000"/>
            <a:ext cx="11472000" cy="1021287"/>
          </a:xfrm>
          <a:prstGeom prst="rect">
            <a:avLst/>
          </a:prstGeom>
        </p:spPr>
        <p:txBody>
          <a:bodyPr vert="horz" lIns="91440" tIns="45720" rIns="91440" bIns="45720" rtlCol="0" anchor="t">
            <a:normAutofit/>
          </a:bodyPr>
          <a:lstStyle/>
          <a:p>
            <a:r>
              <a:rPr lang="en-GB" dirty="0"/>
              <a:t>Click to edit master style</a:t>
            </a:r>
            <a:endParaRPr lang="en-US" dirty="0"/>
          </a:p>
        </p:txBody>
      </p:sp>
      <p:sp>
        <p:nvSpPr>
          <p:cNvPr id="10" name="Text Placeholder 2">
            <a:extLst>
              <a:ext uri="{FF2B5EF4-FFF2-40B4-BE49-F238E27FC236}">
                <a16:creationId xmlns:a16="http://schemas.microsoft.com/office/drawing/2014/main" id="{5707E24A-2FF5-4246-BEF6-082A6111800B}"/>
              </a:ext>
            </a:extLst>
          </p:cNvPr>
          <p:cNvSpPr>
            <a:spLocks noGrp="1"/>
          </p:cNvSpPr>
          <p:nvPr>
            <p:ph type="body" idx="1"/>
          </p:nvPr>
        </p:nvSpPr>
        <p:spPr>
          <a:xfrm>
            <a:off x="360000" y="1800000"/>
            <a:ext cx="11472000" cy="3364189"/>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5">
            <a:extLst>
              <a:ext uri="{FF2B5EF4-FFF2-40B4-BE49-F238E27FC236}">
                <a16:creationId xmlns:a16="http://schemas.microsoft.com/office/drawing/2014/main" id="{D7F45575-B773-1649-9EFE-1C08EEFD46D1}"/>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4" name="TextBox 13">
            <a:extLst>
              <a:ext uri="{FF2B5EF4-FFF2-40B4-BE49-F238E27FC236}">
                <a16:creationId xmlns:a16="http://schemas.microsoft.com/office/drawing/2014/main" id="{14FEDD73-913A-A14E-9158-0586EE3B58B5}"/>
              </a:ext>
            </a:extLst>
          </p:cNvPr>
          <p:cNvSpPr txBox="1"/>
          <p:nvPr userDrawn="1"/>
        </p:nvSpPr>
        <p:spPr>
          <a:xfrm>
            <a:off x="720000" y="6336000"/>
            <a:ext cx="5400000" cy="216000"/>
          </a:xfrm>
          <a:prstGeom prst="rect">
            <a:avLst/>
          </a:prstGeom>
          <a:noFill/>
        </p:spPr>
        <p:txBody>
          <a:bodyPr wrap="square" lIns="90000" rtlCol="0" anchor="ctr" anchorCtr="0">
            <a:noAutofit/>
          </a:bodyPr>
          <a:lstStyle/>
          <a:p>
            <a:r>
              <a:rPr lang="en-GB" sz="800" b="0" i="0" dirty="0">
                <a:solidFill>
                  <a:schemeClr val="tx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tx1"/>
              </a:solidFill>
              <a:latin typeface="Arial" panose="020B0604020202020204" pitchFamily="34" charset="0"/>
              <a:cs typeface="Arial" panose="020B0604020202020204" pitchFamily="34" charset="0"/>
            </a:endParaRPr>
          </a:p>
        </p:txBody>
      </p:sp>
      <p:sp>
        <p:nvSpPr>
          <p:cNvPr id="49" name="Rectangle 9">
            <a:extLst>
              <a:ext uri="{FF2B5EF4-FFF2-40B4-BE49-F238E27FC236}">
                <a16:creationId xmlns:a16="http://schemas.microsoft.com/office/drawing/2014/main" id="{E0203ACC-1921-3649-A2D8-9E4ECC5D23B4}"/>
              </a:ext>
            </a:extLst>
          </p:cNvPr>
          <p:cNvSpPr>
            <a:spLocks noChangeArrowheads="1"/>
          </p:cNvSpPr>
          <p:nvPr userDrawn="1"/>
        </p:nvSpPr>
        <p:spPr bwMode="auto">
          <a:xfrm>
            <a:off x="-2626840" y="1353662"/>
            <a:ext cx="1844675" cy="801569"/>
          </a:xfrm>
          <a:prstGeom prst="rect">
            <a:avLst/>
          </a:prstGeom>
          <a:solidFill>
            <a:srgbClr val="333D47"/>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CHARCOAL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R51 G61 B71</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0" name="Rectangle 7">
            <a:extLst>
              <a:ext uri="{FF2B5EF4-FFF2-40B4-BE49-F238E27FC236}">
                <a16:creationId xmlns:a16="http://schemas.microsoft.com/office/drawing/2014/main" id="{3EE7A4A7-B933-B24E-AC2D-C118217EFEB4}"/>
              </a:ext>
            </a:extLst>
          </p:cNvPr>
          <p:cNvSpPr>
            <a:spLocks noChangeArrowheads="1"/>
          </p:cNvSpPr>
          <p:nvPr userDrawn="1"/>
        </p:nvSpPr>
        <p:spPr bwMode="auto">
          <a:xfrm>
            <a:off x="-2614697" y="407231"/>
            <a:ext cx="1821348" cy="806397"/>
          </a:xfrm>
          <a:prstGeom prst="rect">
            <a:avLst/>
          </a:prstGeom>
          <a:solidFill>
            <a:srgbClr val="D3114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RED</a:t>
            </a:r>
          </a:p>
          <a:p>
            <a:pPr>
              <a:spcBef>
                <a:spcPct val="0"/>
              </a:spcBef>
              <a:buFontTx/>
              <a:buNone/>
            </a:pPr>
            <a:r>
              <a:rPr lang="en-US" sz="1400" spc="-100" baseline="0" dirty="0">
                <a:solidFill>
                  <a:srgbClr val="FFFFFF"/>
                </a:solidFill>
                <a:latin typeface="Arial" panose="020B0604020202020204" pitchFamily="34" charset="0"/>
                <a:cs typeface="Arial" panose="020B0604020202020204" pitchFamily="34" charset="0"/>
              </a:rPr>
              <a:t>R211 G17 B69</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B57F8F61-AACF-4D43-A48E-73FD89E9FAC0}"/>
              </a:ext>
            </a:extLst>
          </p:cNvPr>
          <p:cNvSpPr txBox="1"/>
          <p:nvPr userDrawn="1"/>
        </p:nvSpPr>
        <p:spPr>
          <a:xfrm>
            <a:off x="-2942426" y="376236"/>
            <a:ext cx="259484" cy="1937287"/>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CORE COLOURS</a:t>
            </a:r>
          </a:p>
        </p:txBody>
      </p:sp>
      <p:sp>
        <p:nvSpPr>
          <p:cNvPr id="67" name="Rectangle 9">
            <a:extLst>
              <a:ext uri="{FF2B5EF4-FFF2-40B4-BE49-F238E27FC236}">
                <a16:creationId xmlns:a16="http://schemas.microsoft.com/office/drawing/2014/main" id="{6E16C6D7-5D67-3F48-9BAD-5211CB2770DE}"/>
              </a:ext>
            </a:extLst>
          </p:cNvPr>
          <p:cNvSpPr>
            <a:spLocks noChangeArrowheads="1"/>
          </p:cNvSpPr>
          <p:nvPr userDrawn="1"/>
        </p:nvSpPr>
        <p:spPr bwMode="auto">
          <a:xfrm>
            <a:off x="-4617303" y="5798524"/>
            <a:ext cx="1487670" cy="646439"/>
          </a:xfrm>
          <a:prstGeom prst="rect">
            <a:avLst/>
          </a:prstGeom>
          <a:solidFill>
            <a:schemeClr val="bg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WARM GREY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R211 G202 B195</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8" name="Rectangle 9">
            <a:extLst>
              <a:ext uri="{FF2B5EF4-FFF2-40B4-BE49-F238E27FC236}">
                <a16:creationId xmlns:a16="http://schemas.microsoft.com/office/drawing/2014/main" id="{30414EC1-704C-FF47-9611-AD4C8B879B94}"/>
              </a:ext>
            </a:extLst>
          </p:cNvPr>
          <p:cNvSpPr>
            <a:spLocks noChangeArrowheads="1"/>
          </p:cNvSpPr>
          <p:nvPr userDrawn="1"/>
        </p:nvSpPr>
        <p:spPr bwMode="auto">
          <a:xfrm>
            <a:off x="-4611596" y="1877530"/>
            <a:ext cx="1487670" cy="646439"/>
          </a:xfrm>
          <a:prstGeom prst="rect">
            <a:avLst/>
          </a:prstGeom>
          <a:solidFill>
            <a:schemeClr val="accent3"/>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ORANGE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G117 B77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9" name="TextBox 68">
            <a:extLst>
              <a:ext uri="{FF2B5EF4-FFF2-40B4-BE49-F238E27FC236}">
                <a16:creationId xmlns:a16="http://schemas.microsoft.com/office/drawing/2014/main" id="{46EDC2E1-B0F0-2B4D-8CFB-F684F18144D9}"/>
              </a:ext>
            </a:extLst>
          </p:cNvPr>
          <p:cNvSpPr txBox="1"/>
          <p:nvPr userDrawn="1"/>
        </p:nvSpPr>
        <p:spPr>
          <a:xfrm>
            <a:off x="-4910208" y="379515"/>
            <a:ext cx="314328" cy="3271299"/>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SUPPORTING COLOURS</a:t>
            </a:r>
          </a:p>
        </p:txBody>
      </p:sp>
      <p:sp>
        <p:nvSpPr>
          <p:cNvPr id="70" name="Rectangle 9">
            <a:extLst>
              <a:ext uri="{FF2B5EF4-FFF2-40B4-BE49-F238E27FC236}">
                <a16:creationId xmlns:a16="http://schemas.microsoft.com/office/drawing/2014/main" id="{32D26DB1-D22B-0146-BEE0-26A6F1234774}"/>
              </a:ext>
            </a:extLst>
          </p:cNvPr>
          <p:cNvSpPr>
            <a:spLocks noChangeArrowheads="1"/>
          </p:cNvSpPr>
          <p:nvPr userDrawn="1"/>
        </p:nvSpPr>
        <p:spPr bwMode="auto">
          <a:xfrm>
            <a:off x="-4611596" y="2663784"/>
            <a:ext cx="1487670" cy="646439"/>
          </a:xfrm>
          <a:prstGeom prst="rect">
            <a:avLst/>
          </a:prstGeom>
          <a:solidFill>
            <a:schemeClr val="accent4"/>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YELLOW</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R247 G201 B38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1" name="Rectangle 9">
            <a:extLst>
              <a:ext uri="{FF2B5EF4-FFF2-40B4-BE49-F238E27FC236}">
                <a16:creationId xmlns:a16="http://schemas.microsoft.com/office/drawing/2014/main" id="{38917B89-6ECF-F74A-9BA2-E9FCB7C72DD1}"/>
              </a:ext>
            </a:extLst>
          </p:cNvPr>
          <p:cNvSpPr>
            <a:spLocks noChangeArrowheads="1"/>
          </p:cNvSpPr>
          <p:nvPr userDrawn="1"/>
        </p:nvSpPr>
        <p:spPr bwMode="auto">
          <a:xfrm>
            <a:off x="-4611596" y="4266004"/>
            <a:ext cx="1487670" cy="646439"/>
          </a:xfrm>
          <a:prstGeom prst="rect">
            <a:avLst/>
          </a:prstGeom>
          <a:solidFill>
            <a:schemeClr val="accent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LAVENDER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R161 G153 B186</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2" name="Rectangle 9">
            <a:extLst>
              <a:ext uri="{FF2B5EF4-FFF2-40B4-BE49-F238E27FC236}">
                <a16:creationId xmlns:a16="http://schemas.microsoft.com/office/drawing/2014/main" id="{A835CB3C-C322-B743-8984-3B3E27A039B3}"/>
              </a:ext>
            </a:extLst>
          </p:cNvPr>
          <p:cNvSpPr>
            <a:spLocks noChangeArrowheads="1"/>
          </p:cNvSpPr>
          <p:nvPr userDrawn="1"/>
        </p:nvSpPr>
        <p:spPr bwMode="auto">
          <a:xfrm>
            <a:off x="-4611596" y="5052258"/>
            <a:ext cx="1487670" cy="646439"/>
          </a:xfrm>
          <a:prstGeom prst="rect">
            <a:avLst/>
          </a:prstGeom>
          <a:solidFill>
            <a:schemeClr val="tx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BLUE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R31 G120 B173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3" name="Rectangle 9">
            <a:extLst>
              <a:ext uri="{FF2B5EF4-FFF2-40B4-BE49-F238E27FC236}">
                <a16:creationId xmlns:a16="http://schemas.microsoft.com/office/drawing/2014/main" id="{0EB3A011-77AD-EE4C-BB9E-688A1F0E49B1}"/>
              </a:ext>
            </a:extLst>
          </p:cNvPr>
          <p:cNvSpPr>
            <a:spLocks noChangeArrowheads="1"/>
          </p:cNvSpPr>
          <p:nvPr userDrawn="1"/>
        </p:nvSpPr>
        <p:spPr bwMode="auto">
          <a:xfrm>
            <a:off x="-4611596" y="1125046"/>
            <a:ext cx="1487670" cy="646439"/>
          </a:xfrm>
          <a:prstGeom prst="rect">
            <a:avLst/>
          </a:prstGeom>
          <a:solidFill>
            <a:schemeClr val="accent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CERISE</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R186 G3 B97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4" name="Rectangle 9">
            <a:extLst>
              <a:ext uri="{FF2B5EF4-FFF2-40B4-BE49-F238E27FC236}">
                <a16:creationId xmlns:a16="http://schemas.microsoft.com/office/drawing/2014/main" id="{402466E5-EFAB-0E4A-B977-56C6D30093B0}"/>
              </a:ext>
            </a:extLst>
          </p:cNvPr>
          <p:cNvSpPr>
            <a:spLocks noChangeArrowheads="1"/>
          </p:cNvSpPr>
          <p:nvPr userDrawn="1"/>
        </p:nvSpPr>
        <p:spPr bwMode="auto">
          <a:xfrm>
            <a:off x="-4611596" y="3449154"/>
            <a:ext cx="1487670" cy="646439"/>
          </a:xfrm>
          <a:prstGeom prst="rect">
            <a:avLst/>
          </a:prstGeom>
          <a:solidFill>
            <a:schemeClr val="accent6"/>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PURPLE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R76 G71 B148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5" name="Rectangle 9">
            <a:extLst>
              <a:ext uri="{FF2B5EF4-FFF2-40B4-BE49-F238E27FC236}">
                <a16:creationId xmlns:a16="http://schemas.microsoft.com/office/drawing/2014/main" id="{F469A4F2-3792-2E49-8B38-6AFC63812708}"/>
              </a:ext>
            </a:extLst>
          </p:cNvPr>
          <p:cNvSpPr>
            <a:spLocks noChangeArrowheads="1"/>
          </p:cNvSpPr>
          <p:nvPr userDrawn="1"/>
        </p:nvSpPr>
        <p:spPr bwMode="auto">
          <a:xfrm>
            <a:off x="-4611596" y="373206"/>
            <a:ext cx="1487670" cy="646439"/>
          </a:xfrm>
          <a:prstGeom prst="rect">
            <a:avLst/>
          </a:prstGeom>
          <a:solidFill>
            <a:srgbClr val="FF7A8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SALMON</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G122 B133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grpSp>
        <p:nvGrpSpPr>
          <p:cNvPr id="76" name="Group 75">
            <a:extLst>
              <a:ext uri="{FF2B5EF4-FFF2-40B4-BE49-F238E27FC236}">
                <a16:creationId xmlns:a16="http://schemas.microsoft.com/office/drawing/2014/main" id="{A0DFD5F1-7ED6-7A4F-A85D-AC9239B9A9E4}"/>
              </a:ext>
            </a:extLst>
          </p:cNvPr>
          <p:cNvGrpSpPr/>
          <p:nvPr userDrawn="1"/>
        </p:nvGrpSpPr>
        <p:grpSpPr>
          <a:xfrm>
            <a:off x="-4617304" y="796253"/>
            <a:ext cx="1494303" cy="224029"/>
            <a:chOff x="5716131" y="796253"/>
            <a:chExt cx="995522" cy="224029"/>
          </a:xfrm>
        </p:grpSpPr>
        <p:sp>
          <p:nvSpPr>
            <p:cNvPr id="77" name="Rectangle 19">
              <a:extLst>
                <a:ext uri="{FF2B5EF4-FFF2-40B4-BE49-F238E27FC236}">
                  <a16:creationId xmlns:a16="http://schemas.microsoft.com/office/drawing/2014/main" id="{69707F44-6BC5-024E-87D0-3237CAF96668}"/>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78" name="Rectangle 20">
              <a:extLst>
                <a:ext uri="{FF2B5EF4-FFF2-40B4-BE49-F238E27FC236}">
                  <a16:creationId xmlns:a16="http://schemas.microsoft.com/office/drawing/2014/main" id="{D0D916EB-9F54-2F4B-BDD0-F877343549EC}"/>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79" name="Group 78">
            <a:extLst>
              <a:ext uri="{FF2B5EF4-FFF2-40B4-BE49-F238E27FC236}">
                <a16:creationId xmlns:a16="http://schemas.microsoft.com/office/drawing/2014/main" id="{7E6BDFF9-62CE-8349-B945-5E4093758751}"/>
              </a:ext>
            </a:extLst>
          </p:cNvPr>
          <p:cNvGrpSpPr/>
          <p:nvPr userDrawn="1"/>
        </p:nvGrpSpPr>
        <p:grpSpPr>
          <a:xfrm>
            <a:off x="-2626840" y="1878230"/>
            <a:ext cx="1844675" cy="277791"/>
            <a:chOff x="2606261" y="3143449"/>
            <a:chExt cx="2458017" cy="277791"/>
          </a:xfrm>
        </p:grpSpPr>
        <p:sp>
          <p:nvSpPr>
            <p:cNvPr id="80" name="Rectangle 19">
              <a:extLst>
                <a:ext uri="{FF2B5EF4-FFF2-40B4-BE49-F238E27FC236}">
                  <a16:creationId xmlns:a16="http://schemas.microsoft.com/office/drawing/2014/main" id="{914B8044-F95A-A74A-BC30-F3A5C9B45BC2}"/>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1" name="Rectangle 20">
              <a:extLst>
                <a:ext uri="{FF2B5EF4-FFF2-40B4-BE49-F238E27FC236}">
                  <a16:creationId xmlns:a16="http://schemas.microsoft.com/office/drawing/2014/main" id="{DCFFAD6D-DAE4-824F-BF41-EE5D85829979}"/>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2" name="Rectangle 22">
              <a:extLst>
                <a:ext uri="{FF2B5EF4-FFF2-40B4-BE49-F238E27FC236}">
                  <a16:creationId xmlns:a16="http://schemas.microsoft.com/office/drawing/2014/main" id="{B42DD97E-811A-2B47-918D-7C0F001104F8}"/>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3" name="Rectangle 19">
              <a:extLst>
                <a:ext uri="{FF2B5EF4-FFF2-40B4-BE49-F238E27FC236}">
                  <a16:creationId xmlns:a16="http://schemas.microsoft.com/office/drawing/2014/main" id="{3D37BE17-9C0A-E749-A606-9BC8E7CE3C80}"/>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4" name="Group 83">
            <a:extLst>
              <a:ext uri="{FF2B5EF4-FFF2-40B4-BE49-F238E27FC236}">
                <a16:creationId xmlns:a16="http://schemas.microsoft.com/office/drawing/2014/main" id="{029FDAA7-EDA4-E344-BCAC-7F6CCDECD451}"/>
              </a:ext>
            </a:extLst>
          </p:cNvPr>
          <p:cNvGrpSpPr/>
          <p:nvPr userDrawn="1"/>
        </p:nvGrpSpPr>
        <p:grpSpPr>
          <a:xfrm>
            <a:off x="-2626840" y="957107"/>
            <a:ext cx="1844675" cy="277791"/>
            <a:chOff x="2606261" y="3143449"/>
            <a:chExt cx="2458017" cy="277791"/>
          </a:xfrm>
        </p:grpSpPr>
        <p:sp>
          <p:nvSpPr>
            <p:cNvPr id="85" name="Rectangle 19">
              <a:extLst>
                <a:ext uri="{FF2B5EF4-FFF2-40B4-BE49-F238E27FC236}">
                  <a16:creationId xmlns:a16="http://schemas.microsoft.com/office/drawing/2014/main" id="{322E5F21-86AC-9847-9EAE-BB1715E938D4}"/>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6" name="Rectangle 20">
              <a:extLst>
                <a:ext uri="{FF2B5EF4-FFF2-40B4-BE49-F238E27FC236}">
                  <a16:creationId xmlns:a16="http://schemas.microsoft.com/office/drawing/2014/main" id="{6F019A4D-1606-E749-A834-546B40C5FC10}"/>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7" name="Rectangle 22">
              <a:extLst>
                <a:ext uri="{FF2B5EF4-FFF2-40B4-BE49-F238E27FC236}">
                  <a16:creationId xmlns:a16="http://schemas.microsoft.com/office/drawing/2014/main" id="{7308B2FC-69DD-954E-8980-2EC3AA1D7544}"/>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8" name="Rectangle 19">
              <a:extLst>
                <a:ext uri="{FF2B5EF4-FFF2-40B4-BE49-F238E27FC236}">
                  <a16:creationId xmlns:a16="http://schemas.microsoft.com/office/drawing/2014/main" id="{74AC479E-3F57-E644-A3C7-97D4AB45ADFF}"/>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9" name="Group 88">
            <a:extLst>
              <a:ext uri="{FF2B5EF4-FFF2-40B4-BE49-F238E27FC236}">
                <a16:creationId xmlns:a16="http://schemas.microsoft.com/office/drawing/2014/main" id="{EE533266-6387-9B46-8624-65A0D9D79FF0}"/>
              </a:ext>
            </a:extLst>
          </p:cNvPr>
          <p:cNvGrpSpPr/>
          <p:nvPr userDrawn="1"/>
        </p:nvGrpSpPr>
        <p:grpSpPr>
          <a:xfrm>
            <a:off x="-4617304" y="1549288"/>
            <a:ext cx="1494303" cy="224029"/>
            <a:chOff x="5716131" y="796253"/>
            <a:chExt cx="995522" cy="224029"/>
          </a:xfrm>
        </p:grpSpPr>
        <p:sp>
          <p:nvSpPr>
            <p:cNvPr id="90" name="Rectangle 19">
              <a:extLst>
                <a:ext uri="{FF2B5EF4-FFF2-40B4-BE49-F238E27FC236}">
                  <a16:creationId xmlns:a16="http://schemas.microsoft.com/office/drawing/2014/main" id="{BB7C84DB-7787-A44D-865E-1BD05831D91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1" name="Rectangle 20">
              <a:extLst>
                <a:ext uri="{FF2B5EF4-FFF2-40B4-BE49-F238E27FC236}">
                  <a16:creationId xmlns:a16="http://schemas.microsoft.com/office/drawing/2014/main" id="{9A96F96C-40C9-8D49-A8DD-AB3B11C9C2C0}"/>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2" name="Group 91">
            <a:extLst>
              <a:ext uri="{FF2B5EF4-FFF2-40B4-BE49-F238E27FC236}">
                <a16:creationId xmlns:a16="http://schemas.microsoft.com/office/drawing/2014/main" id="{DA26BA09-7293-5840-8B41-BA669E1DA42E}"/>
              </a:ext>
            </a:extLst>
          </p:cNvPr>
          <p:cNvGrpSpPr/>
          <p:nvPr userDrawn="1"/>
        </p:nvGrpSpPr>
        <p:grpSpPr>
          <a:xfrm>
            <a:off x="-4617304" y="2295599"/>
            <a:ext cx="1494303" cy="224029"/>
            <a:chOff x="5716131" y="796253"/>
            <a:chExt cx="995522" cy="224029"/>
          </a:xfrm>
        </p:grpSpPr>
        <p:sp>
          <p:nvSpPr>
            <p:cNvPr id="93" name="Rectangle 19">
              <a:extLst>
                <a:ext uri="{FF2B5EF4-FFF2-40B4-BE49-F238E27FC236}">
                  <a16:creationId xmlns:a16="http://schemas.microsoft.com/office/drawing/2014/main" id="{07DA5FAE-B117-1349-8D4B-5D7FCC8142A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4" name="Rectangle 20">
              <a:extLst>
                <a:ext uri="{FF2B5EF4-FFF2-40B4-BE49-F238E27FC236}">
                  <a16:creationId xmlns:a16="http://schemas.microsoft.com/office/drawing/2014/main" id="{F8E4D5C8-28FE-3740-934F-B88CFC79C33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5" name="Group 94">
            <a:extLst>
              <a:ext uri="{FF2B5EF4-FFF2-40B4-BE49-F238E27FC236}">
                <a16:creationId xmlns:a16="http://schemas.microsoft.com/office/drawing/2014/main" id="{BE60DD88-FE73-4A4E-83B0-C27EC4180A40}"/>
              </a:ext>
            </a:extLst>
          </p:cNvPr>
          <p:cNvGrpSpPr/>
          <p:nvPr userDrawn="1"/>
        </p:nvGrpSpPr>
        <p:grpSpPr>
          <a:xfrm>
            <a:off x="-4617304" y="3088976"/>
            <a:ext cx="1494303" cy="224029"/>
            <a:chOff x="5716131" y="796253"/>
            <a:chExt cx="995522" cy="224029"/>
          </a:xfrm>
        </p:grpSpPr>
        <p:sp>
          <p:nvSpPr>
            <p:cNvPr id="96" name="Rectangle 19">
              <a:extLst>
                <a:ext uri="{FF2B5EF4-FFF2-40B4-BE49-F238E27FC236}">
                  <a16:creationId xmlns:a16="http://schemas.microsoft.com/office/drawing/2014/main" id="{F65AC04E-77DF-3D4F-ABC4-331908CD1675}"/>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7" name="Rectangle 20">
              <a:extLst>
                <a:ext uri="{FF2B5EF4-FFF2-40B4-BE49-F238E27FC236}">
                  <a16:creationId xmlns:a16="http://schemas.microsoft.com/office/drawing/2014/main" id="{3A43A58E-FE1C-F241-9FCD-27CDB423B5A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8" name="Group 97">
            <a:extLst>
              <a:ext uri="{FF2B5EF4-FFF2-40B4-BE49-F238E27FC236}">
                <a16:creationId xmlns:a16="http://schemas.microsoft.com/office/drawing/2014/main" id="{85EC0C6B-BF0B-E84D-94EC-435A104A61F7}"/>
              </a:ext>
            </a:extLst>
          </p:cNvPr>
          <p:cNvGrpSpPr/>
          <p:nvPr userDrawn="1"/>
        </p:nvGrpSpPr>
        <p:grpSpPr>
          <a:xfrm>
            <a:off x="-4617304" y="3875629"/>
            <a:ext cx="1494303" cy="224029"/>
            <a:chOff x="5716131" y="796253"/>
            <a:chExt cx="995522" cy="224029"/>
          </a:xfrm>
        </p:grpSpPr>
        <p:sp>
          <p:nvSpPr>
            <p:cNvPr id="99" name="Rectangle 19">
              <a:extLst>
                <a:ext uri="{FF2B5EF4-FFF2-40B4-BE49-F238E27FC236}">
                  <a16:creationId xmlns:a16="http://schemas.microsoft.com/office/drawing/2014/main" id="{E7176F59-7B72-9148-B6EC-3D9A485B69F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0" name="Rectangle 20">
              <a:extLst>
                <a:ext uri="{FF2B5EF4-FFF2-40B4-BE49-F238E27FC236}">
                  <a16:creationId xmlns:a16="http://schemas.microsoft.com/office/drawing/2014/main" id="{2C7F8097-BD91-F644-9F8C-937FCE32DCE9}"/>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1" name="Group 100">
            <a:extLst>
              <a:ext uri="{FF2B5EF4-FFF2-40B4-BE49-F238E27FC236}">
                <a16:creationId xmlns:a16="http://schemas.microsoft.com/office/drawing/2014/main" id="{1E38DB8D-4AE7-FB41-966F-59657509D300}"/>
              </a:ext>
            </a:extLst>
          </p:cNvPr>
          <p:cNvGrpSpPr/>
          <p:nvPr userDrawn="1"/>
        </p:nvGrpSpPr>
        <p:grpSpPr>
          <a:xfrm>
            <a:off x="-4617304" y="4695900"/>
            <a:ext cx="1494303" cy="224029"/>
            <a:chOff x="5716131" y="796253"/>
            <a:chExt cx="995522" cy="224029"/>
          </a:xfrm>
        </p:grpSpPr>
        <p:sp>
          <p:nvSpPr>
            <p:cNvPr id="102" name="Rectangle 19">
              <a:extLst>
                <a:ext uri="{FF2B5EF4-FFF2-40B4-BE49-F238E27FC236}">
                  <a16:creationId xmlns:a16="http://schemas.microsoft.com/office/drawing/2014/main" id="{8E88217E-F57C-0F4D-A0DC-EAC60891AFD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3" name="Rectangle 20">
              <a:extLst>
                <a:ext uri="{FF2B5EF4-FFF2-40B4-BE49-F238E27FC236}">
                  <a16:creationId xmlns:a16="http://schemas.microsoft.com/office/drawing/2014/main" id="{0FE0007D-5F31-E149-B0CF-AB6784C43E66}"/>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4" name="Group 103">
            <a:extLst>
              <a:ext uri="{FF2B5EF4-FFF2-40B4-BE49-F238E27FC236}">
                <a16:creationId xmlns:a16="http://schemas.microsoft.com/office/drawing/2014/main" id="{5FE9AD56-297C-DB4B-A7BE-D6B0F01510E8}"/>
              </a:ext>
            </a:extLst>
          </p:cNvPr>
          <p:cNvGrpSpPr/>
          <p:nvPr userDrawn="1"/>
        </p:nvGrpSpPr>
        <p:grpSpPr>
          <a:xfrm>
            <a:off x="-4617304" y="5482553"/>
            <a:ext cx="1494303" cy="224029"/>
            <a:chOff x="5716131" y="796253"/>
            <a:chExt cx="995522" cy="224029"/>
          </a:xfrm>
        </p:grpSpPr>
        <p:sp>
          <p:nvSpPr>
            <p:cNvPr id="105" name="Rectangle 19">
              <a:extLst>
                <a:ext uri="{FF2B5EF4-FFF2-40B4-BE49-F238E27FC236}">
                  <a16:creationId xmlns:a16="http://schemas.microsoft.com/office/drawing/2014/main" id="{BAE1D5DB-96CD-7A41-AC4C-B60EE6BB7AE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6" name="Rectangle 20">
              <a:extLst>
                <a:ext uri="{FF2B5EF4-FFF2-40B4-BE49-F238E27FC236}">
                  <a16:creationId xmlns:a16="http://schemas.microsoft.com/office/drawing/2014/main" id="{91DC9FA1-0AEE-A849-8DCF-0F227C3A707E}"/>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7" name="Group 106">
            <a:extLst>
              <a:ext uri="{FF2B5EF4-FFF2-40B4-BE49-F238E27FC236}">
                <a16:creationId xmlns:a16="http://schemas.microsoft.com/office/drawing/2014/main" id="{D51248F3-2F75-594D-B53D-6D8AF82EB3EE}"/>
              </a:ext>
            </a:extLst>
          </p:cNvPr>
          <p:cNvGrpSpPr/>
          <p:nvPr userDrawn="1"/>
        </p:nvGrpSpPr>
        <p:grpSpPr>
          <a:xfrm>
            <a:off x="-4617304" y="6228865"/>
            <a:ext cx="1494303" cy="224029"/>
            <a:chOff x="5716131" y="796253"/>
            <a:chExt cx="995522" cy="224029"/>
          </a:xfrm>
        </p:grpSpPr>
        <p:sp>
          <p:nvSpPr>
            <p:cNvPr id="108" name="Rectangle 19">
              <a:extLst>
                <a:ext uri="{FF2B5EF4-FFF2-40B4-BE49-F238E27FC236}">
                  <a16:creationId xmlns:a16="http://schemas.microsoft.com/office/drawing/2014/main" id="{2C100E18-2C92-5642-871F-193C519D3709}"/>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9" name="Rectangle 20">
              <a:extLst>
                <a:ext uri="{FF2B5EF4-FFF2-40B4-BE49-F238E27FC236}">
                  <a16:creationId xmlns:a16="http://schemas.microsoft.com/office/drawing/2014/main" id="{C725273B-18AD-5547-A9A0-E5E2D55F1583}"/>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pic>
        <p:nvPicPr>
          <p:cNvPr id="3" name="Graphic 2">
            <a:extLst>
              <a:ext uri="{FF2B5EF4-FFF2-40B4-BE49-F238E27FC236}">
                <a16:creationId xmlns:a16="http://schemas.microsoft.com/office/drawing/2014/main" id="{1CF833E4-0060-484E-9965-5F640274ADE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64590" y="5400000"/>
            <a:ext cx="1828800" cy="660400"/>
          </a:xfrm>
          <a:prstGeom prst="rect">
            <a:avLst/>
          </a:prstGeom>
        </p:spPr>
      </p:pic>
      <p:pic>
        <p:nvPicPr>
          <p:cNvPr id="6" name="Graphic 5">
            <a:extLst>
              <a:ext uri="{FF2B5EF4-FFF2-40B4-BE49-F238E27FC236}">
                <a16:creationId xmlns:a16="http://schemas.microsoft.com/office/drawing/2014/main" id="{5EABF413-2674-1F41-94B7-816E8AFB804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64590" y="4661279"/>
            <a:ext cx="1828800" cy="660400"/>
          </a:xfrm>
          <a:prstGeom prst="rect">
            <a:avLst/>
          </a:prstGeom>
        </p:spPr>
      </p:pic>
      <p:pic>
        <p:nvPicPr>
          <p:cNvPr id="13" name="Graphic 12">
            <a:extLst>
              <a:ext uri="{FF2B5EF4-FFF2-40B4-BE49-F238E27FC236}">
                <a16:creationId xmlns:a16="http://schemas.microsoft.com/office/drawing/2014/main" id="{82AB809A-5890-BF46-A223-5F7B2A123F1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64590" y="3600000"/>
            <a:ext cx="635000" cy="660400"/>
          </a:xfrm>
          <a:prstGeom prst="rect">
            <a:avLst/>
          </a:prstGeom>
        </p:spPr>
      </p:pic>
      <p:pic>
        <p:nvPicPr>
          <p:cNvPr id="17" name="Graphic 16">
            <a:extLst>
              <a:ext uri="{FF2B5EF4-FFF2-40B4-BE49-F238E27FC236}">
                <a16:creationId xmlns:a16="http://schemas.microsoft.com/office/drawing/2014/main" id="{42CF3A70-9F27-F645-9FE9-CD81E473DE4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874969" y="3600000"/>
            <a:ext cx="635000" cy="660400"/>
          </a:xfrm>
          <a:prstGeom prst="rect">
            <a:avLst/>
          </a:prstGeom>
        </p:spPr>
      </p:pic>
      <p:sp>
        <p:nvSpPr>
          <p:cNvPr id="2" name="TextBox 1">
            <a:extLst>
              <a:ext uri="{FF2B5EF4-FFF2-40B4-BE49-F238E27FC236}">
                <a16:creationId xmlns:a16="http://schemas.microsoft.com/office/drawing/2014/main" id="{6D88D0BE-2EA1-94D6-EEC3-387CC3481826}"/>
              </a:ext>
            </a:extLst>
          </p:cNvPr>
          <p:cNvSpPr txBox="1"/>
          <p:nvPr>
            <p:extLst>
              <p:ext uri="{1162E1C5-73C7-4A58-AE30-91384D911F3F}">
                <p184:classification xmlns:p184="http://schemas.microsoft.com/office/powerpoint/2018/4/main" val="ftr"/>
              </p:ext>
            </p:extLst>
          </p:nvPr>
        </p:nvSpPr>
        <p:spPr>
          <a:xfrm>
            <a:off x="63500" y="6672580"/>
            <a:ext cx="1280160" cy="121920"/>
          </a:xfrm>
          <a:prstGeom prst="rect">
            <a:avLst/>
          </a:prstGeom>
        </p:spPr>
        <p:txBody>
          <a:bodyPr horzOverflow="overflow" lIns="0" tIns="0" rIns="0" bIns="0" wrap="none">
            <a:spAutoFit/>
          </a:bodyPr>
          <a:lstStyle/>
          <a:p>
            <a:pPr algn="l"/>
            <a:r>
              <a:rPr lang="en-GB" sz="800">
                <a:solidFill>
                  <a:srgbClr val="317100">
                    <a:alpha val="50000"/>
                  </a:srgbClr>
                </a:solidFill>
                <a:latin typeface="Aptos" panose="020B0004020202020204" pitchFamily="34" charset="0"/>
              </a:rPr>
              <a:t>[AIA – PUBLIC]</a:t>
            </a:r>
          </a:p>
        </p:txBody>
      </p:sp>
    </p:spTree>
    <p:extLst>
      <p:ext uri="{BB962C8B-B14F-4D97-AF65-F5344CB8AC3E}">
        <p14:creationId xmlns:p14="http://schemas.microsoft.com/office/powerpoint/2010/main" val="2014199587"/>
      </p:ext>
    </p:extLst>
  </p:cSld>
  <p:clrMap bg1="lt1" tx1="dk1" bg2="lt2" tx2="dk2" accent1="accent1" accent2="accent2" accent3="accent3" accent4="accent4" accent5="accent5" accent6="accent6" hlink="hlink" folHlink="folHlink"/>
  <p:sldLayoutIdLst>
    <p:sldLayoutId id="2147483743" r:id="rId1"/>
    <p:sldLayoutId id="2147483681" r:id="rId2"/>
    <p:sldLayoutId id="2147483748" r:id="rId3"/>
  </p:sldLayoutIdLst>
  <p:hf hdr="0" ftr="0" dt="0"/>
  <p:txStyles>
    <p:titleStyle>
      <a:lvl1pPr algn="l" defTabSz="914400" rtl="0" eaLnBrk="1" latinLnBrk="0" hangingPunct="1">
        <a:spcBef>
          <a:spcPct val="0"/>
        </a:spcBef>
        <a:buNone/>
        <a:defRPr sz="4800" b="0" kern="1200" cap="none" normalizeH="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lnSpc>
          <a:spcPct val="100000"/>
        </a:lnSpc>
        <a:spcBef>
          <a:spcPts val="12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userDrawn="1">
          <p15:clr>
            <a:srgbClr val="F26B43"/>
          </p15:clr>
        </p15:guide>
        <p15:guide id="2" pos="744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a:xfrm>
            <a:off x="356616" y="4480560"/>
            <a:ext cx="6035040" cy="822960"/>
          </a:xfrm>
        </p:spPr>
        <p:txBody>
          <a:bodyPr/>
          <a:lstStyle/>
          <a:p>
            <a:r>
              <a:rPr>
                <a:latin typeface="Arial"/>
                <a:ea typeface="Microsoft JhengHei"/>
              </a:rPr>
              <a:t>Medical receipt extraction benchmark</a:t>
            </a:r>
          </a:p>
          <a:p>
            <a:r>
              <a:rPr>
                <a:latin typeface="Arial"/>
                <a:ea typeface="Microsoft JhengHei"/>
              </a:rPr>
              <a:t>9 receipts · 6 fields · rules vs AI extraction</a:t>
            </a:r>
          </a:p>
        </p:txBody>
      </p:sp>
      <p:sp>
        <p:nvSpPr>
          <p:cNvPr id="3" name="Text Placeholder 2"/>
          <p:cNvSpPr>
            <a:spLocks noGrp="1"/>
          </p:cNvSpPr>
          <p:nvPr>
            <p:ph type="body" idx="10" sz="quarter"/>
          </p:nvPr>
        </p:nvSpPr>
        <p:spPr/>
        <p:txBody>
          <a:bodyPr/>
          <a:lstStyle/>
          <a:p>
            <a:r>
              <a:rPr>
                <a:latin typeface="Arial"/>
                <a:ea typeface="Microsoft JhengHei"/>
              </a:rPr>
              <a:t>Can OCR Rules Replace Azure OpenAI?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Executive Summary</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OCR + rules is not enough to replace AOAI across varied receipts.</a:t>
            </a:r>
          </a:p>
        </p:txBody>
      </p:sp>
      <p:sp>
        <p:nvSpPr>
          <p:cNvPr id="12" name="Rectangle 11"/>
          <p:cNvSpPr/>
          <p:nvPr/>
        </p:nvSpPr>
        <p:spPr>
          <a:xfrm>
            <a:off x="356616" y="1783080"/>
            <a:ext cx="3474720" cy="2651760"/>
          </a:xfrm>
          <a:prstGeom prst="rect">
            <a:avLst/>
          </a:prstGeom>
          <a:solidFill>
            <a:srgbClr val="FFFFFF"/>
          </a:solidFill>
          <a:ln w="25400">
            <a:solidFill>
              <a:srgbClr val="D31145"/>
            </a:solidFill>
          </a:ln>
        </p:spPr>
        <p:txBody>
          <a:bodyPr rtlCol="0" anchor="ctr" wrap="square" lIns="228600" rIns="228600" tIns="109728" bIns="109728"/>
          <a:lstStyle/>
          <a:p>
            <a:pPr algn="l" marL="0" indent="0">
              <a:spcAft>
                <a:spcPts val="800"/>
              </a:spcAft>
              <a:buNone/>
            </a:pPr>
            <a:r>
              <a:rPr sz="4400" b="1" i="0">
                <a:solidFill>
                  <a:srgbClr val="D31145"/>
                </a:solidFill>
                <a:latin typeface="Arial"/>
                <a:ea typeface="Microsoft JhengHei"/>
              </a:rPr>
              <a:t>96.1%</a:t>
            </a:r>
          </a:p>
          <a:p>
            <a:pPr marL="0" indent="0" algn="l">
              <a:spcAft>
                <a:spcPts val="400"/>
              </a:spcAft>
              <a:buNone/>
            </a:pPr>
            <a:r>
              <a:rPr sz="1500" b="1" i="0">
                <a:solidFill>
                  <a:srgbClr val="333D47"/>
                </a:solidFill>
                <a:latin typeface="Arial"/>
                <a:ea typeface="Microsoft JhengHei"/>
              </a:rPr>
              <a:t>Azure DI + AOAI (prompt v2)</a:t>
            </a:r>
          </a:p>
          <a:p>
            <a:pPr marL="0" indent="0" algn="l">
              <a:spcAft>
                <a:spcPts val="0"/>
              </a:spcAft>
              <a:buNone/>
            </a:pPr>
            <a:r>
              <a:rPr sz="1200" b="0" i="0">
                <a:solidFill>
                  <a:srgbClr val="5F6770"/>
                </a:solidFill>
                <a:latin typeface="Arial"/>
                <a:ea typeface="Microsoft JhengHei"/>
              </a:rPr>
              <a:t>Development result</a:t>
            </a:r>
          </a:p>
        </p:txBody>
      </p:sp>
      <p:sp>
        <p:nvSpPr>
          <p:cNvPr id="13" name="Rectangle 12"/>
          <p:cNvSpPr/>
          <p:nvPr/>
        </p:nvSpPr>
        <p:spPr>
          <a:xfrm>
            <a:off x="4014215" y="1783080"/>
            <a:ext cx="3474720" cy="2651760"/>
          </a:xfrm>
          <a:prstGeom prst="rect">
            <a:avLst/>
          </a:prstGeom>
          <a:solidFill>
            <a:srgbClr val="F2F2F2"/>
          </a:solidFill>
          <a:ln>
            <a:noFill/>
          </a:ln>
        </p:spPr>
        <p:txBody>
          <a:bodyPr rtlCol="0" anchor="ctr" wrap="square" lIns="228600" rIns="228600" tIns="109728" bIns="109728"/>
          <a:lstStyle/>
          <a:p>
            <a:pPr algn="l" marL="0" indent="0">
              <a:spcAft>
                <a:spcPts val="800"/>
              </a:spcAft>
              <a:buNone/>
            </a:pPr>
            <a:r>
              <a:rPr sz="4400" b="1" i="0">
                <a:solidFill>
                  <a:srgbClr val="333D47"/>
                </a:solidFill>
                <a:latin typeface="Arial"/>
                <a:ea typeface="Microsoft JhengHei"/>
              </a:rPr>
              <a:t>51.0–70.6%</a:t>
            </a:r>
          </a:p>
          <a:p>
            <a:pPr marL="0" indent="0" algn="l">
              <a:spcAft>
                <a:spcPts val="400"/>
              </a:spcAft>
              <a:buNone/>
            </a:pPr>
            <a:r>
              <a:rPr sz="1500" b="1" i="0">
                <a:solidFill>
                  <a:srgbClr val="333D47"/>
                </a:solidFill>
                <a:latin typeface="Arial"/>
                <a:ea typeface="Microsoft JhengHei"/>
              </a:rPr>
              <a:t>OCR + general multilingual rules</a:t>
            </a:r>
          </a:p>
          <a:p>
            <a:pPr marL="0" indent="0" algn="l">
              <a:spcAft>
                <a:spcPts val="0"/>
              </a:spcAft>
              <a:buNone/>
            </a:pPr>
            <a:r>
              <a:rPr sz="1200" b="0" i="0">
                <a:solidFill>
                  <a:srgbClr val="5F6770"/>
                </a:solidFill>
                <a:latin typeface="Arial"/>
                <a:ea typeface="Microsoft JhengHei"/>
              </a:rPr>
              <a:t>51.0% = PaddleOCR Light + rules · 70.6% = Azure DI + rules</a:t>
            </a:r>
          </a:p>
        </p:txBody>
      </p:sp>
      <p:sp>
        <p:nvSpPr>
          <p:cNvPr id="14" name="TextBox 13"/>
          <p:cNvSpPr txBox="1"/>
          <p:nvPr/>
        </p:nvSpPr>
        <p:spPr>
          <a:xfrm>
            <a:off x="7726679" y="1783080"/>
            <a:ext cx="4105656" cy="2651760"/>
          </a:xfrm>
          <a:prstGeom prst="rect">
            <a:avLst/>
          </a:prstGeom>
          <a:noFill/>
        </p:spPr>
        <p:txBody>
          <a:bodyPr wrap="square" lIns="201168" rIns="201168" tIns="109728" bIns="109728" anchor="ctr"/>
          <a:lstStyle/>
          <a:p>
            <a:pPr marL="0" indent="0" algn="l">
              <a:spcAft>
                <a:spcPts val="800"/>
              </a:spcAft>
              <a:buNone/>
            </a:pPr>
            <a:r>
              <a:rPr sz="1600" b="1" i="0">
                <a:solidFill>
                  <a:srgbClr val="D31145"/>
                </a:solidFill>
                <a:latin typeface="Arial"/>
                <a:ea typeface="Microsoft JhengHei"/>
              </a:rPr>
              <a:t>Why AOAI may still be needed</a:t>
            </a:r>
          </a:p>
          <a:p>
            <a:pPr marL="182880" indent="-182880" algn="l">
              <a:spcAft>
                <a:spcPts val="600"/>
              </a:spcAft>
              <a:buFont typeface="Arial"/>
              <a:buChar char="•"/>
            </a:pPr>
            <a:r>
              <a:rPr sz="1450" b="0" i="0">
                <a:solidFill>
                  <a:srgbClr val="333D47"/>
                </a:solidFill>
                <a:latin typeface="Arial"/>
                <a:ea typeface="Microsoft JhengHei"/>
              </a:rPr>
              <a:t>Fewer rules to write and maintain for new layouts and scenarios</a:t>
            </a:r>
          </a:p>
          <a:p>
            <a:pPr marL="182880" indent="-182880" algn="l">
              <a:spcAft>
                <a:spcPts val="600"/>
              </a:spcAft>
              <a:buFont typeface="Arial"/>
              <a:buChar char="•"/>
            </a:pPr>
            <a:r>
              <a:rPr sz="1450" b="0" i="0">
                <a:solidFill>
                  <a:srgbClr val="333D47"/>
                </a:solidFill>
                <a:latin typeface="Arial"/>
                <a:ea typeface="Microsoft JhengHei"/>
              </a:rPr>
              <a:t>Can potentially extract more fields for analytics (not yet benchmarked)</a:t>
            </a:r>
          </a:p>
          <a:p>
            <a:pPr marL="182880" indent="-182880" algn="l">
              <a:spcAft>
                <a:spcPts val="0"/>
              </a:spcAft>
              <a:buFont typeface="Arial"/>
              <a:buChar char="•"/>
            </a:pPr>
            <a:r>
              <a:rPr sz="1450" b="0" i="0">
                <a:solidFill>
                  <a:srgbClr val="333D47"/>
                </a:solidFill>
                <a:latin typeface="Arial"/>
                <a:ea typeface="Microsoft JhengHei"/>
              </a:rPr>
              <a:t>Rules remain fine for simple, clearly labelled checks</a:t>
            </a:r>
          </a:p>
        </p:txBody>
      </p:sp>
      <p:sp>
        <p:nvSpPr>
          <p:cNvPr id="15" name="Rectangle 14"/>
          <p:cNvSpPr/>
          <p:nvPr/>
        </p:nvSpPr>
        <p:spPr>
          <a:xfrm>
            <a:off x="356616" y="4709160"/>
            <a:ext cx="11475720" cy="566928"/>
          </a:xfrm>
          <a:prstGeom prst="rect">
            <a:avLst/>
          </a:prstGeom>
          <a:solidFill>
            <a:srgbClr val="F2F2F2"/>
          </a:solidFill>
          <a:ln>
            <a:noFill/>
          </a:ln>
        </p:spPr>
        <p:txBody>
          <a:bodyPr rtlCol="0" anchor="ctr" wrap="square" lIns="182880" rIns="182880" tIns="109728" bIns="109728"/>
          <a:lstStyle/>
          <a:p>
            <a:pPr algn="l" marL="0" indent="0">
              <a:spcAft>
                <a:spcPts val="0"/>
              </a:spcAft>
              <a:buNone/>
            </a:pPr>
            <a:r>
              <a:rPr sz="1300" b="1" i="0">
                <a:solidFill>
                  <a:srgbClr val="333D47"/>
                </a:solidFill>
                <a:latin typeface="Arial"/>
                <a:ea typeface="Microsoft JhengHei"/>
              </a:rPr>
              <a:t>Caveat: </a:t>
            </a:r>
            <a:r>
              <a:rPr sz="1300" b="0" i="0">
                <a:solidFill>
                  <a:srgbClr val="333D47"/>
                </a:solidFill>
                <a:latin typeface="Arial"/>
                <a:ea typeface="Microsoft JhengHei"/>
              </a:rPr>
              <a:t>9 receipts. 96.1% is a development result (prompt refined on these receipts); 51.0–70.6% is a retrospective baseline. Neither is independent validation.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What We Compared</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For each of the 9 receipts, we extract 6 key fields and compare the results across 3 approaches.</a:t>
            </a:r>
          </a:p>
        </p:txBody>
      </p:sp>
      <p:sp>
        <p:nvSpPr>
          <p:cNvPr id="12" name="TextBox 11"/>
          <p:cNvSpPr txBox="1"/>
          <p:nvPr/>
        </p:nvSpPr>
        <p:spPr>
          <a:xfrm>
            <a:off x="356616" y="1783080"/>
            <a:ext cx="2514600" cy="603504"/>
          </a:xfrm>
          <a:prstGeom prst="rect">
            <a:avLst/>
          </a:prstGeom>
          <a:noFill/>
        </p:spPr>
        <p:txBody>
          <a:bodyPr wrap="square" lIns="0" rIns="0" tIns="0" bIns="0" anchor="ctr"/>
          <a:lstStyle/>
          <a:p>
            <a:pPr marL="0" indent="0" algn="l">
              <a:spcAft>
                <a:spcPts val="0"/>
              </a:spcAft>
              <a:buNone/>
            </a:pPr>
            <a:r>
              <a:rPr sz="1500" b="1" i="0">
                <a:solidFill>
                  <a:srgbClr val="333D47"/>
                </a:solidFill>
                <a:latin typeface="Arial"/>
                <a:ea typeface="Microsoft JhengHei"/>
              </a:rPr>
              <a:t>PaddleOCR Light + rules</a:t>
            </a:r>
          </a:p>
        </p:txBody>
      </p:sp>
      <p:sp>
        <p:nvSpPr>
          <p:cNvPr id="13" name="Rectangle 12"/>
          <p:cNvSpPr/>
          <p:nvPr/>
        </p:nvSpPr>
        <p:spPr>
          <a:xfrm>
            <a:off x="2926080" y="1783080"/>
            <a:ext cx="3246120" cy="603504"/>
          </a:xfrm>
          <a:prstGeom prst="rect">
            <a:avLst/>
          </a:prstGeom>
          <a:solidFill>
            <a:srgbClr val="F2F2F2"/>
          </a:solidFill>
          <a:ln>
            <a:noFill/>
          </a:ln>
        </p:spPr>
        <p:txBody>
          <a:bodyPr rtlCol="0" anchor="ctr" wrap="square" lIns="137160" rIns="137160" tIns="109728" bIns="109728"/>
          <a:lstStyle/>
          <a:p>
            <a:pPr algn="l" marL="0" indent="0">
              <a:spcAft>
                <a:spcPts val="0"/>
              </a:spcAft>
              <a:buNone/>
            </a:pPr>
            <a:r>
              <a:rPr sz="1350" b="1" i="0">
                <a:solidFill>
                  <a:srgbClr val="333D47"/>
                </a:solidFill>
                <a:latin typeface="Arial"/>
                <a:ea typeface="Microsoft JhengHei"/>
              </a:rPr>
              <a:t>PaddleOCR Light</a:t>
            </a:r>
          </a:p>
          <a:p>
            <a:pPr marL="0" indent="0" algn="l">
              <a:spcAft>
                <a:spcPts val="0"/>
              </a:spcAft>
              <a:buNone/>
            </a:pPr>
            <a:r>
              <a:rPr sz="1100" b="0" i="0">
                <a:solidFill>
                  <a:srgbClr val="5F6770"/>
                </a:solidFill>
                <a:latin typeface="Arial"/>
                <a:ea typeface="Microsoft JhengHei"/>
              </a:rPr>
              <a:t>open source, own compute</a:t>
            </a:r>
          </a:p>
        </p:txBody>
      </p:sp>
      <p:sp>
        <p:nvSpPr>
          <p:cNvPr id="14" name="Right Arrow 13"/>
          <p:cNvSpPr/>
          <p:nvPr/>
        </p:nvSpPr>
        <p:spPr>
          <a:xfrm>
            <a:off x="6263640" y="1965960"/>
            <a:ext cx="365760" cy="237744"/>
          </a:xfrm>
          <a:prstGeom prst="rightArrow">
            <a:avLst/>
          </a:prstGeom>
          <a:solidFill>
            <a:srgbClr val="8C939A"/>
          </a:solidFill>
          <a:ln>
            <a:noFill/>
          </a:ln>
        </p:spPr>
        <p:txBody>
          <a:bodyPr rtlCol="0" anchor="ctr"/>
          <a:lstStyle/>
          <a:p>
            <a:pPr algn="ctr"/>
          </a:p>
        </p:txBody>
      </p:sp>
      <p:sp>
        <p:nvSpPr>
          <p:cNvPr id="15" name="Rectangle 14"/>
          <p:cNvSpPr/>
          <p:nvPr/>
        </p:nvSpPr>
        <p:spPr>
          <a:xfrm>
            <a:off x="6720840" y="1783080"/>
            <a:ext cx="3017520" cy="603504"/>
          </a:xfrm>
          <a:prstGeom prst="rect">
            <a:avLst/>
          </a:prstGeom>
          <a:solidFill>
            <a:srgbClr val="F2F2F2"/>
          </a:solidFill>
          <a:ln>
            <a:noFill/>
          </a:ln>
        </p:spPr>
        <p:txBody>
          <a:bodyPr rtlCol="0" anchor="ctr" wrap="square" lIns="137160" rIns="137160" tIns="109728" bIns="109728"/>
          <a:lstStyle/>
          <a:p>
            <a:pPr algn="l" marL="0" indent="0">
              <a:spcAft>
                <a:spcPts val="0"/>
              </a:spcAft>
              <a:buNone/>
            </a:pPr>
            <a:r>
              <a:rPr sz="1350" b="1" i="0">
                <a:solidFill>
                  <a:srgbClr val="333D47"/>
                </a:solidFill>
                <a:latin typeface="Arial"/>
                <a:ea typeface="Microsoft JhengHei"/>
              </a:rPr>
              <a:t>Hand-written rules</a:t>
            </a:r>
          </a:p>
        </p:txBody>
      </p:sp>
      <p:sp>
        <p:nvSpPr>
          <p:cNvPr id="16" name="Right Arrow 15"/>
          <p:cNvSpPr/>
          <p:nvPr/>
        </p:nvSpPr>
        <p:spPr>
          <a:xfrm>
            <a:off x="9829800" y="1965960"/>
            <a:ext cx="365760" cy="237744"/>
          </a:xfrm>
          <a:prstGeom prst="rightArrow">
            <a:avLst/>
          </a:prstGeom>
          <a:solidFill>
            <a:srgbClr val="8C939A"/>
          </a:solidFill>
          <a:ln>
            <a:noFill/>
          </a:ln>
        </p:spPr>
        <p:txBody>
          <a:bodyPr rtlCol="0" anchor="ctr"/>
          <a:lstStyle/>
          <a:p>
            <a:pPr algn="ctr"/>
          </a:p>
        </p:txBody>
      </p:sp>
      <p:sp>
        <p:nvSpPr>
          <p:cNvPr id="17" name="Rectangle 16"/>
          <p:cNvSpPr/>
          <p:nvPr/>
        </p:nvSpPr>
        <p:spPr>
          <a:xfrm>
            <a:off x="10287000" y="1783080"/>
            <a:ext cx="1545336" cy="603504"/>
          </a:xfrm>
          <a:prstGeom prst="rect">
            <a:avLst/>
          </a:prstGeom>
          <a:solidFill>
            <a:srgbClr val="F2F2F2"/>
          </a:solidFill>
          <a:ln>
            <a:noFill/>
          </a:ln>
        </p:spPr>
        <p:txBody>
          <a:bodyPr rtlCol="0" anchor="ctr" wrap="square" lIns="0" rIns="0" tIns="0" bIns="0"/>
          <a:lstStyle/>
          <a:p>
            <a:pPr algn="ctr" marL="0" indent="0">
              <a:spcAft>
                <a:spcPts val="0"/>
              </a:spcAft>
              <a:buNone/>
            </a:pPr>
            <a:r>
              <a:rPr sz="1350" b="1" i="0">
                <a:solidFill>
                  <a:srgbClr val="333D47"/>
                </a:solidFill>
                <a:latin typeface="Arial"/>
                <a:ea typeface="Microsoft JhengHei"/>
              </a:rPr>
              <a:t>6 fields</a:t>
            </a:r>
          </a:p>
        </p:txBody>
      </p:sp>
      <p:sp>
        <p:nvSpPr>
          <p:cNvPr id="18" name="TextBox 17"/>
          <p:cNvSpPr txBox="1"/>
          <p:nvPr/>
        </p:nvSpPr>
        <p:spPr>
          <a:xfrm>
            <a:off x="356616" y="2532888"/>
            <a:ext cx="2514600" cy="603504"/>
          </a:xfrm>
          <a:prstGeom prst="rect">
            <a:avLst/>
          </a:prstGeom>
          <a:noFill/>
        </p:spPr>
        <p:txBody>
          <a:bodyPr wrap="square" lIns="0" rIns="0" tIns="0" bIns="0" anchor="ctr"/>
          <a:lstStyle/>
          <a:p>
            <a:pPr marL="0" indent="0" algn="l">
              <a:spcAft>
                <a:spcPts val="0"/>
              </a:spcAft>
              <a:buNone/>
            </a:pPr>
            <a:r>
              <a:rPr sz="1500" b="1" i="0">
                <a:solidFill>
                  <a:srgbClr val="333D47"/>
                </a:solidFill>
                <a:latin typeface="Arial"/>
                <a:ea typeface="Microsoft JhengHei"/>
              </a:rPr>
              <a:t>Azure DI + rules</a:t>
            </a:r>
          </a:p>
        </p:txBody>
      </p:sp>
      <p:sp>
        <p:nvSpPr>
          <p:cNvPr id="19" name="Rectangle 18"/>
          <p:cNvSpPr/>
          <p:nvPr/>
        </p:nvSpPr>
        <p:spPr>
          <a:xfrm>
            <a:off x="2926080" y="2532888"/>
            <a:ext cx="3246120" cy="603504"/>
          </a:xfrm>
          <a:prstGeom prst="rect">
            <a:avLst/>
          </a:prstGeom>
          <a:solidFill>
            <a:srgbClr val="F2F2F2"/>
          </a:solidFill>
          <a:ln>
            <a:noFill/>
          </a:ln>
        </p:spPr>
        <p:txBody>
          <a:bodyPr rtlCol="0" anchor="ctr" wrap="square" lIns="137160" rIns="137160" tIns="109728" bIns="109728"/>
          <a:lstStyle/>
          <a:p>
            <a:pPr algn="l" marL="0" indent="0">
              <a:spcAft>
                <a:spcPts val="0"/>
              </a:spcAft>
              <a:buNone/>
            </a:pPr>
            <a:r>
              <a:rPr sz="1350" b="1" i="0">
                <a:solidFill>
                  <a:srgbClr val="333D47"/>
                </a:solidFill>
                <a:latin typeface="Arial"/>
                <a:ea typeface="Microsoft JhengHei"/>
              </a:rPr>
              <a:t>Azure Document Intelligence</a:t>
            </a:r>
          </a:p>
          <a:p>
            <a:pPr marL="0" indent="0" algn="l">
              <a:spcAft>
                <a:spcPts val="0"/>
              </a:spcAft>
              <a:buNone/>
            </a:pPr>
            <a:r>
              <a:rPr sz="1100" b="0" i="0">
                <a:solidFill>
                  <a:srgbClr val="5F6770"/>
                </a:solidFill>
                <a:latin typeface="Arial"/>
                <a:ea typeface="Microsoft JhengHei"/>
              </a:rPr>
              <a:t>cloud OCR</a:t>
            </a:r>
          </a:p>
        </p:txBody>
      </p:sp>
      <p:sp>
        <p:nvSpPr>
          <p:cNvPr id="20" name="Right Arrow 19"/>
          <p:cNvSpPr/>
          <p:nvPr/>
        </p:nvSpPr>
        <p:spPr>
          <a:xfrm>
            <a:off x="6263640" y="2715768"/>
            <a:ext cx="365760" cy="237744"/>
          </a:xfrm>
          <a:prstGeom prst="rightArrow">
            <a:avLst/>
          </a:prstGeom>
          <a:solidFill>
            <a:srgbClr val="8C939A"/>
          </a:solidFill>
          <a:ln>
            <a:noFill/>
          </a:ln>
        </p:spPr>
        <p:txBody>
          <a:bodyPr rtlCol="0" anchor="ctr"/>
          <a:lstStyle/>
          <a:p>
            <a:pPr algn="ctr"/>
          </a:p>
        </p:txBody>
      </p:sp>
      <p:sp>
        <p:nvSpPr>
          <p:cNvPr id="21" name="Rectangle 20"/>
          <p:cNvSpPr/>
          <p:nvPr/>
        </p:nvSpPr>
        <p:spPr>
          <a:xfrm>
            <a:off x="6720840" y="2532888"/>
            <a:ext cx="3017520" cy="603504"/>
          </a:xfrm>
          <a:prstGeom prst="rect">
            <a:avLst/>
          </a:prstGeom>
          <a:solidFill>
            <a:srgbClr val="F2F2F2"/>
          </a:solidFill>
          <a:ln>
            <a:noFill/>
          </a:ln>
        </p:spPr>
        <p:txBody>
          <a:bodyPr rtlCol="0" anchor="ctr" wrap="square" lIns="137160" rIns="137160" tIns="109728" bIns="109728"/>
          <a:lstStyle/>
          <a:p>
            <a:pPr algn="l" marL="0" indent="0">
              <a:spcAft>
                <a:spcPts val="0"/>
              </a:spcAft>
              <a:buNone/>
            </a:pPr>
            <a:r>
              <a:rPr sz="1350" b="1" i="0">
                <a:solidFill>
                  <a:srgbClr val="333D47"/>
                </a:solidFill>
                <a:latin typeface="Arial"/>
                <a:ea typeface="Microsoft JhengHei"/>
              </a:rPr>
              <a:t>Hand-written rules</a:t>
            </a:r>
          </a:p>
        </p:txBody>
      </p:sp>
      <p:sp>
        <p:nvSpPr>
          <p:cNvPr id="22" name="Right Arrow 21"/>
          <p:cNvSpPr/>
          <p:nvPr/>
        </p:nvSpPr>
        <p:spPr>
          <a:xfrm>
            <a:off x="9829800" y="2715768"/>
            <a:ext cx="365760" cy="237744"/>
          </a:xfrm>
          <a:prstGeom prst="rightArrow">
            <a:avLst/>
          </a:prstGeom>
          <a:solidFill>
            <a:srgbClr val="8C939A"/>
          </a:solidFill>
          <a:ln>
            <a:noFill/>
          </a:ln>
        </p:spPr>
        <p:txBody>
          <a:bodyPr rtlCol="0" anchor="ctr"/>
          <a:lstStyle/>
          <a:p>
            <a:pPr algn="ctr"/>
          </a:p>
        </p:txBody>
      </p:sp>
      <p:sp>
        <p:nvSpPr>
          <p:cNvPr id="23" name="Rectangle 22"/>
          <p:cNvSpPr/>
          <p:nvPr/>
        </p:nvSpPr>
        <p:spPr>
          <a:xfrm>
            <a:off x="10287000" y="2532888"/>
            <a:ext cx="1545336" cy="603504"/>
          </a:xfrm>
          <a:prstGeom prst="rect">
            <a:avLst/>
          </a:prstGeom>
          <a:solidFill>
            <a:srgbClr val="F2F2F2"/>
          </a:solidFill>
          <a:ln>
            <a:noFill/>
          </a:ln>
        </p:spPr>
        <p:txBody>
          <a:bodyPr rtlCol="0" anchor="ctr" wrap="square" lIns="0" rIns="0" tIns="0" bIns="0"/>
          <a:lstStyle/>
          <a:p>
            <a:pPr algn="ctr" marL="0" indent="0">
              <a:spcAft>
                <a:spcPts val="0"/>
              </a:spcAft>
              <a:buNone/>
            </a:pPr>
            <a:r>
              <a:rPr sz="1350" b="1" i="0">
                <a:solidFill>
                  <a:srgbClr val="333D47"/>
                </a:solidFill>
                <a:latin typeface="Arial"/>
                <a:ea typeface="Microsoft JhengHei"/>
              </a:rPr>
              <a:t>6 fields</a:t>
            </a:r>
          </a:p>
        </p:txBody>
      </p:sp>
      <p:sp>
        <p:nvSpPr>
          <p:cNvPr id="24" name="TextBox 23"/>
          <p:cNvSpPr txBox="1"/>
          <p:nvPr/>
        </p:nvSpPr>
        <p:spPr>
          <a:xfrm>
            <a:off x="356616" y="3282696"/>
            <a:ext cx="2514600" cy="603504"/>
          </a:xfrm>
          <a:prstGeom prst="rect">
            <a:avLst/>
          </a:prstGeom>
          <a:noFill/>
        </p:spPr>
        <p:txBody>
          <a:bodyPr wrap="square" lIns="0" rIns="0" tIns="0" bIns="0" anchor="ctr"/>
          <a:lstStyle/>
          <a:p>
            <a:pPr marL="0" indent="0" algn="l">
              <a:spcAft>
                <a:spcPts val="0"/>
              </a:spcAft>
              <a:buNone/>
            </a:pPr>
            <a:r>
              <a:rPr sz="1500" b="1" i="0">
                <a:solidFill>
                  <a:srgbClr val="D31145"/>
                </a:solidFill>
                <a:latin typeface="Arial"/>
                <a:ea typeface="Microsoft JhengHei"/>
              </a:rPr>
              <a:t>Azure DI + AOAI</a:t>
            </a:r>
          </a:p>
        </p:txBody>
      </p:sp>
      <p:sp>
        <p:nvSpPr>
          <p:cNvPr id="25" name="Rectangle 24"/>
          <p:cNvSpPr/>
          <p:nvPr/>
        </p:nvSpPr>
        <p:spPr>
          <a:xfrm>
            <a:off x="2926080" y="3282696"/>
            <a:ext cx="3246120" cy="603504"/>
          </a:xfrm>
          <a:prstGeom prst="rect">
            <a:avLst/>
          </a:prstGeom>
          <a:solidFill>
            <a:srgbClr val="F2F2F2"/>
          </a:solidFill>
          <a:ln>
            <a:noFill/>
          </a:ln>
        </p:spPr>
        <p:txBody>
          <a:bodyPr rtlCol="0" anchor="ctr" wrap="square" lIns="137160" rIns="137160" tIns="109728" bIns="109728"/>
          <a:lstStyle/>
          <a:p>
            <a:pPr algn="l" marL="0" indent="0">
              <a:spcAft>
                <a:spcPts val="0"/>
              </a:spcAft>
              <a:buNone/>
            </a:pPr>
            <a:r>
              <a:rPr sz="1350" b="1" i="0">
                <a:solidFill>
                  <a:srgbClr val="333D47"/>
                </a:solidFill>
                <a:latin typeface="Arial"/>
                <a:ea typeface="Microsoft JhengHei"/>
              </a:rPr>
              <a:t>Azure Document Intelligence</a:t>
            </a:r>
          </a:p>
          <a:p>
            <a:pPr marL="0" indent="0" algn="l">
              <a:spcAft>
                <a:spcPts val="0"/>
              </a:spcAft>
              <a:buNone/>
            </a:pPr>
            <a:r>
              <a:rPr sz="1100" b="0" i="0">
                <a:solidFill>
                  <a:srgbClr val="5F6770"/>
                </a:solidFill>
                <a:latin typeface="Arial"/>
                <a:ea typeface="Microsoft JhengHei"/>
              </a:rPr>
              <a:t>cloud OCR</a:t>
            </a:r>
          </a:p>
        </p:txBody>
      </p:sp>
      <p:sp>
        <p:nvSpPr>
          <p:cNvPr id="26" name="Right Arrow 25"/>
          <p:cNvSpPr/>
          <p:nvPr/>
        </p:nvSpPr>
        <p:spPr>
          <a:xfrm>
            <a:off x="6263640" y="3465576"/>
            <a:ext cx="365760" cy="237744"/>
          </a:xfrm>
          <a:prstGeom prst="rightArrow">
            <a:avLst/>
          </a:prstGeom>
          <a:solidFill>
            <a:srgbClr val="8C939A"/>
          </a:solidFill>
          <a:ln>
            <a:noFill/>
          </a:ln>
        </p:spPr>
        <p:txBody>
          <a:bodyPr rtlCol="0" anchor="ctr"/>
          <a:lstStyle/>
          <a:p>
            <a:pPr algn="ctr"/>
          </a:p>
        </p:txBody>
      </p:sp>
      <p:sp>
        <p:nvSpPr>
          <p:cNvPr id="27" name="Rectangle 26"/>
          <p:cNvSpPr/>
          <p:nvPr/>
        </p:nvSpPr>
        <p:spPr>
          <a:xfrm>
            <a:off x="6720840" y="3282696"/>
            <a:ext cx="3017520" cy="603504"/>
          </a:xfrm>
          <a:prstGeom prst="rect">
            <a:avLst/>
          </a:prstGeom>
          <a:solidFill>
            <a:srgbClr val="FFFFFF"/>
          </a:solidFill>
          <a:ln w="25400">
            <a:solidFill>
              <a:srgbClr val="D31145"/>
            </a:solidFill>
          </a:ln>
        </p:spPr>
        <p:txBody>
          <a:bodyPr rtlCol="0" anchor="ctr" wrap="square" lIns="137160" rIns="137160" tIns="109728" bIns="109728"/>
          <a:lstStyle/>
          <a:p>
            <a:pPr algn="l" marL="0" indent="0">
              <a:spcAft>
                <a:spcPts val="0"/>
              </a:spcAft>
              <a:buNone/>
            </a:pPr>
            <a:r>
              <a:rPr sz="1350" b="1" i="0">
                <a:solidFill>
                  <a:srgbClr val="D31145"/>
                </a:solidFill>
                <a:latin typeface="Arial"/>
                <a:ea typeface="Microsoft JhengHei"/>
              </a:rPr>
              <a:t>Azure OpenAI instructions</a:t>
            </a:r>
          </a:p>
        </p:txBody>
      </p:sp>
      <p:sp>
        <p:nvSpPr>
          <p:cNvPr id="28" name="Right Arrow 27"/>
          <p:cNvSpPr/>
          <p:nvPr/>
        </p:nvSpPr>
        <p:spPr>
          <a:xfrm>
            <a:off x="9829800" y="3465576"/>
            <a:ext cx="365760" cy="237744"/>
          </a:xfrm>
          <a:prstGeom prst="rightArrow">
            <a:avLst/>
          </a:prstGeom>
          <a:solidFill>
            <a:srgbClr val="8C939A"/>
          </a:solidFill>
          <a:ln>
            <a:noFill/>
          </a:ln>
        </p:spPr>
        <p:txBody>
          <a:bodyPr rtlCol="0" anchor="ctr"/>
          <a:lstStyle/>
          <a:p>
            <a:pPr algn="ctr"/>
          </a:p>
        </p:txBody>
      </p:sp>
      <p:sp>
        <p:nvSpPr>
          <p:cNvPr id="29" name="Rectangle 28"/>
          <p:cNvSpPr/>
          <p:nvPr/>
        </p:nvSpPr>
        <p:spPr>
          <a:xfrm>
            <a:off x="10287000" y="3282696"/>
            <a:ext cx="1545336" cy="603504"/>
          </a:xfrm>
          <a:prstGeom prst="rect">
            <a:avLst/>
          </a:prstGeom>
          <a:solidFill>
            <a:srgbClr val="F2F2F2"/>
          </a:solidFill>
          <a:ln>
            <a:noFill/>
          </a:ln>
        </p:spPr>
        <p:txBody>
          <a:bodyPr rtlCol="0" anchor="ctr" wrap="square" lIns="0" rIns="0" tIns="0" bIns="0"/>
          <a:lstStyle/>
          <a:p>
            <a:pPr algn="ctr" marL="0" indent="0">
              <a:spcAft>
                <a:spcPts val="0"/>
              </a:spcAft>
              <a:buNone/>
            </a:pPr>
            <a:r>
              <a:rPr sz="1350" b="1" i="0">
                <a:solidFill>
                  <a:srgbClr val="333D47"/>
                </a:solidFill>
                <a:latin typeface="Arial"/>
                <a:ea typeface="Microsoft JhengHei"/>
              </a:rPr>
              <a:t>6 fields</a:t>
            </a:r>
          </a:p>
        </p:txBody>
      </p:sp>
      <p:sp>
        <p:nvSpPr>
          <p:cNvPr id="30" name="TextBox 29"/>
          <p:cNvSpPr txBox="1"/>
          <p:nvPr/>
        </p:nvSpPr>
        <p:spPr>
          <a:xfrm>
            <a:off x="2926080" y="1481328"/>
            <a:ext cx="3246120" cy="274320"/>
          </a:xfrm>
          <a:prstGeom prst="rect">
            <a:avLst/>
          </a:prstGeom>
          <a:noFill/>
        </p:spPr>
        <p:txBody>
          <a:bodyPr wrap="square" lIns="0" rIns="0" tIns="0" bIns="0" anchor="t"/>
          <a:lstStyle/>
          <a:p>
            <a:pPr marL="0" indent="0" algn="l">
              <a:spcAft>
                <a:spcPts val="0"/>
              </a:spcAft>
              <a:buNone/>
            </a:pPr>
            <a:r>
              <a:rPr sz="1150" b="1" i="0">
                <a:solidFill>
                  <a:srgbClr val="5F6770"/>
                </a:solidFill>
                <a:latin typeface="Arial"/>
                <a:ea typeface="Microsoft JhengHei"/>
              </a:rPr>
              <a:t>1. Read the text (OCR)</a:t>
            </a:r>
          </a:p>
        </p:txBody>
      </p:sp>
      <p:sp>
        <p:nvSpPr>
          <p:cNvPr id="31" name="TextBox 30"/>
          <p:cNvSpPr txBox="1"/>
          <p:nvPr/>
        </p:nvSpPr>
        <p:spPr>
          <a:xfrm>
            <a:off x="6720840" y="1481328"/>
            <a:ext cx="3017520" cy="274320"/>
          </a:xfrm>
          <a:prstGeom prst="rect">
            <a:avLst/>
          </a:prstGeom>
          <a:noFill/>
        </p:spPr>
        <p:txBody>
          <a:bodyPr wrap="square" lIns="0" rIns="0" tIns="0" bIns="0" anchor="t"/>
          <a:lstStyle/>
          <a:p>
            <a:pPr marL="0" indent="0" algn="l">
              <a:spcAft>
                <a:spcPts val="0"/>
              </a:spcAft>
              <a:buNone/>
            </a:pPr>
            <a:r>
              <a:rPr sz="1150" b="1" i="0">
                <a:solidFill>
                  <a:srgbClr val="5F6770"/>
                </a:solidFill>
                <a:latin typeface="Arial"/>
                <a:ea typeface="Microsoft JhengHei"/>
              </a:rPr>
              <a:t>2. Find the fields</a:t>
            </a:r>
          </a:p>
        </p:txBody>
      </p:sp>
      <p:pic>
        <p:nvPicPr>
          <p:cNvPr id="32" name="Picture 31" descr="thumb_receipt1.jpg"/>
          <p:cNvPicPr>
            <a:picLocks noChangeAspect="1"/>
          </p:cNvPicPr>
          <p:nvPr/>
        </p:nvPicPr>
        <p:blipFill>
          <a:blip r:embed="rId3"/>
          <a:stretch>
            <a:fillRect/>
          </a:stretch>
        </p:blipFill>
        <p:spPr>
          <a:xfrm>
            <a:off x="356616" y="4114800"/>
            <a:ext cx="994409" cy="1325880"/>
          </a:xfrm>
          <a:prstGeom prst="rect">
            <a:avLst/>
          </a:prstGeom>
          <a:ln w="9525">
            <a:solidFill>
              <a:srgbClr val="BFBFBF"/>
            </a:solidFill>
          </a:ln>
        </p:spPr>
      </p:pic>
      <p:sp>
        <p:nvSpPr>
          <p:cNvPr id="33" name="TextBox 32"/>
          <p:cNvSpPr txBox="1"/>
          <p:nvPr/>
        </p:nvSpPr>
        <p:spPr>
          <a:xfrm>
            <a:off x="356616" y="5468112"/>
            <a:ext cx="1097280" cy="228600"/>
          </a:xfrm>
          <a:prstGeom prst="rect">
            <a:avLst/>
          </a:prstGeom>
          <a:noFill/>
        </p:spPr>
        <p:txBody>
          <a:bodyPr wrap="square" lIns="0" rIns="0" tIns="0" bIns="0" anchor="t"/>
          <a:lstStyle/>
          <a:p>
            <a:pPr marL="0" indent="0" algn="l">
              <a:spcAft>
                <a:spcPts val="0"/>
              </a:spcAft>
              <a:buNone/>
            </a:pPr>
            <a:r>
              <a:rPr sz="1050" b="0" i="0">
                <a:solidFill>
                  <a:srgbClr val="5F6770"/>
                </a:solidFill>
                <a:latin typeface="Arial"/>
                <a:ea typeface="Microsoft JhengHei"/>
              </a:rPr>
              <a:t>English</a:t>
            </a:r>
          </a:p>
        </p:txBody>
      </p:sp>
      <p:pic>
        <p:nvPicPr>
          <p:cNvPr id="34" name="Picture 33" descr="thumb_receipt3.jpg"/>
          <p:cNvPicPr>
            <a:picLocks noChangeAspect="1"/>
          </p:cNvPicPr>
          <p:nvPr/>
        </p:nvPicPr>
        <p:blipFill>
          <a:blip r:embed="rId4"/>
          <a:stretch>
            <a:fillRect/>
          </a:stretch>
        </p:blipFill>
        <p:spPr>
          <a:xfrm>
            <a:off x="1545336" y="4114800"/>
            <a:ext cx="994409" cy="1325880"/>
          </a:xfrm>
          <a:prstGeom prst="rect">
            <a:avLst/>
          </a:prstGeom>
          <a:ln w="9525">
            <a:solidFill>
              <a:srgbClr val="BFBFBF"/>
            </a:solidFill>
          </a:ln>
        </p:spPr>
      </p:pic>
      <p:sp>
        <p:nvSpPr>
          <p:cNvPr id="35" name="TextBox 34"/>
          <p:cNvSpPr txBox="1"/>
          <p:nvPr/>
        </p:nvSpPr>
        <p:spPr>
          <a:xfrm>
            <a:off x="1545336" y="5468112"/>
            <a:ext cx="1097280" cy="228600"/>
          </a:xfrm>
          <a:prstGeom prst="rect">
            <a:avLst/>
          </a:prstGeom>
          <a:noFill/>
        </p:spPr>
        <p:txBody>
          <a:bodyPr wrap="square" lIns="0" rIns="0" tIns="0" bIns="0" anchor="t"/>
          <a:lstStyle/>
          <a:p>
            <a:pPr marL="0" indent="0" algn="l">
              <a:spcAft>
                <a:spcPts val="0"/>
              </a:spcAft>
              <a:buNone/>
            </a:pPr>
            <a:r>
              <a:rPr sz="1050" b="0" i="0">
                <a:solidFill>
                  <a:srgbClr val="5F6770"/>
                </a:solidFill>
                <a:latin typeface="Arial"/>
                <a:ea typeface="Microsoft JhengHei"/>
              </a:rPr>
              <a:t>Bilingual</a:t>
            </a:r>
          </a:p>
        </p:txBody>
      </p:sp>
      <p:pic>
        <p:nvPicPr>
          <p:cNvPr id="36" name="Picture 35" descr="thumb_receipt4.jpg"/>
          <p:cNvPicPr>
            <a:picLocks noChangeAspect="1"/>
          </p:cNvPicPr>
          <p:nvPr/>
        </p:nvPicPr>
        <p:blipFill>
          <a:blip r:embed="rId5"/>
          <a:stretch>
            <a:fillRect/>
          </a:stretch>
        </p:blipFill>
        <p:spPr>
          <a:xfrm>
            <a:off x="2734056" y="4114800"/>
            <a:ext cx="994409" cy="1325880"/>
          </a:xfrm>
          <a:prstGeom prst="rect">
            <a:avLst/>
          </a:prstGeom>
          <a:ln w="9525">
            <a:solidFill>
              <a:srgbClr val="BFBFBF"/>
            </a:solidFill>
          </a:ln>
        </p:spPr>
      </p:pic>
      <p:sp>
        <p:nvSpPr>
          <p:cNvPr id="37" name="TextBox 36"/>
          <p:cNvSpPr txBox="1"/>
          <p:nvPr/>
        </p:nvSpPr>
        <p:spPr>
          <a:xfrm>
            <a:off x="2734056" y="5468112"/>
            <a:ext cx="1097280" cy="228600"/>
          </a:xfrm>
          <a:prstGeom prst="rect">
            <a:avLst/>
          </a:prstGeom>
          <a:noFill/>
        </p:spPr>
        <p:txBody>
          <a:bodyPr wrap="square" lIns="0" rIns="0" tIns="0" bIns="0" anchor="t"/>
          <a:lstStyle/>
          <a:p>
            <a:pPr marL="0" indent="0" algn="l">
              <a:spcAft>
                <a:spcPts val="0"/>
              </a:spcAft>
              <a:buNone/>
            </a:pPr>
            <a:r>
              <a:rPr sz="1050" b="0" i="0">
                <a:solidFill>
                  <a:srgbClr val="5F6770"/>
                </a:solidFill>
                <a:latin typeface="Arial"/>
                <a:ea typeface="Microsoft JhengHei"/>
              </a:rPr>
              <a:t>Chinese</a:t>
            </a:r>
          </a:p>
        </p:txBody>
      </p:sp>
      <p:sp>
        <p:nvSpPr>
          <p:cNvPr id="38" name="Rectangle 37"/>
          <p:cNvSpPr/>
          <p:nvPr/>
        </p:nvSpPr>
        <p:spPr>
          <a:xfrm>
            <a:off x="4023360" y="4114800"/>
            <a:ext cx="7808975" cy="1097280"/>
          </a:xfrm>
          <a:prstGeom prst="rect">
            <a:avLst/>
          </a:prstGeom>
          <a:solidFill>
            <a:srgbClr val="F2F2F2"/>
          </a:solidFill>
          <a:ln>
            <a:noFill/>
          </a:ln>
        </p:spPr>
        <p:txBody>
          <a:bodyPr rtlCol="0" anchor="ctr" wrap="square" lIns="228600" rIns="228600" tIns="109728" bIns="109728"/>
          <a:lstStyle/>
          <a:p>
            <a:pPr algn="l" marL="0" indent="0">
              <a:spcAft>
                <a:spcPts val="800"/>
              </a:spcAft>
              <a:buNone/>
            </a:pPr>
            <a:r>
              <a:rPr sz="1400" b="1" i="0">
                <a:solidFill>
                  <a:srgbClr val="333D47"/>
                </a:solidFill>
                <a:latin typeface="Arial"/>
                <a:ea typeface="Microsoft JhengHei"/>
              </a:rPr>
              <a:t>9 receipts</a:t>
            </a:r>
            <a:r>
              <a:rPr sz="1400" b="0" i="0">
                <a:solidFill>
                  <a:srgbClr val="333D47"/>
                </a:solidFill>
                <a:latin typeface="Arial"/>
                <a:ea typeface="Microsoft JhengHei"/>
              </a:rPr>
              <a:t>: 7 printed test receipts (English, bilingual, Chinese layouts) and 2 from the first benchmark round.</a:t>
            </a:r>
          </a:p>
          <a:p>
            <a:pPr marL="0" indent="0" algn="l">
              <a:spcAft>
                <a:spcPts val="0"/>
              </a:spcAft>
              <a:buNone/>
            </a:pPr>
            <a:r>
              <a:rPr sz="1400" b="1" i="0">
                <a:solidFill>
                  <a:srgbClr val="333D47"/>
                </a:solidFill>
                <a:latin typeface="Arial"/>
                <a:ea typeface="Microsoft JhengHei"/>
              </a:rPr>
              <a:t>6 fields</a:t>
            </a:r>
            <a:r>
              <a:rPr sz="1400" b="0" i="0">
                <a:solidFill>
                  <a:srgbClr val="333D47"/>
                </a:solidFill>
                <a:latin typeface="Arial"/>
                <a:ea typeface="Microsoft JhengHei"/>
              </a:rPr>
              <a:t>: doctor, registration no., patient, receipt no., service date, total.</a:t>
            </a:r>
          </a:p>
        </p:txBody>
      </p:sp>
      <p:sp>
        <p:nvSpPr>
          <p:cNvPr id="39" name="TextBox 38"/>
          <p:cNvSpPr txBox="1"/>
          <p:nvPr/>
        </p:nvSpPr>
        <p:spPr>
          <a:xfrm>
            <a:off x="4023360" y="5257800"/>
            <a:ext cx="7808975" cy="274320"/>
          </a:xfrm>
          <a:prstGeom prst="rect">
            <a:avLst/>
          </a:prstGeom>
          <a:noFill/>
        </p:spPr>
        <p:txBody>
          <a:bodyPr wrap="square" lIns="0" rIns="0" tIns="0" bIns="0" anchor="t"/>
          <a:lstStyle/>
          <a:p>
            <a:pPr marL="0" indent="0" algn="l">
              <a:spcAft>
                <a:spcPts val="0"/>
              </a:spcAft>
              <a:buNone/>
            </a:pPr>
            <a:r>
              <a:rPr sz="1050" b="0" i="1">
                <a:solidFill>
                  <a:srgbClr val="5F6770"/>
                </a:solidFill>
                <a:latin typeface="Arial"/>
                <a:ea typeface="Microsoft JhengHei"/>
              </a:rPr>
              <a:t>51 of 54 possible fields were scored. 3 receipts do not contain a doctor registration number, so those fields were excluded.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8778240" cy="566928"/>
          </a:xfrm>
        </p:spPr>
        <p:txBody>
          <a:bodyPr lIns="0"/>
          <a:lstStyle/>
          <a:p>
            <a:r>
              <a:rPr sz="2800" b="1">
                <a:solidFill>
                  <a:srgbClr val="333D47"/>
                </a:solidFill>
                <a:latin typeface="Arial"/>
                <a:ea typeface="Microsoft JhengHei"/>
              </a:rPr>
              <a:t>A Fairer Comparison: Rules vs AOAI</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Rounded Rectangle 10"/>
          <p:cNvSpPr/>
          <p:nvPr/>
        </p:nvSpPr>
        <p:spPr>
          <a:xfrm>
            <a:off x="9372600" y="603504"/>
            <a:ext cx="2459736" cy="329184"/>
          </a:xfrm>
          <a:prstGeom prst="roundRect">
            <a:avLst/>
          </a:prstGeom>
          <a:solidFill>
            <a:srgbClr val="FFFFFF"/>
          </a:solidFill>
          <a:ln w="15875">
            <a:solidFill>
              <a:srgbClr val="333D47"/>
            </a:solidFill>
          </a:ln>
        </p:spPr>
        <p:txBody>
          <a:bodyPr rtlCol="0" anchor="ctr" lIns="45720" rIns="45720" tIns="0" bIns="0"/>
          <a:lstStyle/>
          <a:p>
            <a:pPr algn="ctr"/>
            <a:r>
              <a:rPr sz="1050" b="1">
                <a:solidFill>
                  <a:srgbClr val="333D47"/>
                </a:solidFill>
                <a:latin typeface="Arial"/>
                <a:ea typeface="Microsoft JhengHei"/>
              </a:rPr>
              <a:t>MEASURED · RETROSPECTIVE</a:t>
            </a:r>
          </a:p>
        </p:txBody>
      </p:sp>
      <p:sp>
        <p:nvSpPr>
          <p:cNvPr id="12" name="TextBox 11"/>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With multilingual rules, OCR + rules reached 51.0–70.6%. AOAI reached 88.2% before any prompt tuning.</a:t>
            </a:r>
          </a:p>
        </p:txBody>
      </p:sp>
      <p:graphicFrame>
        <p:nvGraphicFramePr>
          <p:cNvPr id="13" name="Chart 12"/>
          <p:cNvGraphicFramePr>
            <a:graphicFrameLocks noGrp="1"/>
          </p:cNvGraphicFramePr>
          <p:nvPr/>
        </p:nvGraphicFramePr>
        <p:xfrm>
          <a:off x="356616" y="1691640"/>
          <a:ext cx="6675120" cy="3703320"/>
        </p:xfrm>
        <a:graphic>
          <a:graphicData uri="http://schemas.openxmlformats.org/drawingml/2006/chart">
            <c:chart xmlns:c="http://schemas.openxmlformats.org/drawingml/2006/chart" r:id="rId3"/>
          </a:graphicData>
        </a:graphic>
      </p:graphicFrame>
      <p:sp>
        <p:nvSpPr>
          <p:cNvPr id="14" name="Rectangle 13"/>
          <p:cNvSpPr/>
          <p:nvPr/>
        </p:nvSpPr>
        <p:spPr>
          <a:xfrm>
            <a:off x="7315200" y="1783080"/>
            <a:ext cx="4517136" cy="1600200"/>
          </a:xfrm>
          <a:prstGeom prst="rect">
            <a:avLst/>
          </a:prstGeom>
          <a:solidFill>
            <a:srgbClr val="F2F2F2"/>
          </a:solidFill>
          <a:ln>
            <a:noFill/>
          </a:ln>
        </p:spPr>
        <p:txBody>
          <a:bodyPr rtlCol="0" anchor="t" wrap="square" lIns="182880" rIns="182880" tIns="109728" bIns="109728"/>
          <a:lstStyle/>
          <a:p>
            <a:pPr algn="l" marL="0" indent="0">
              <a:spcAft>
                <a:spcPts val="400"/>
              </a:spcAft>
              <a:buNone/>
            </a:pPr>
            <a:r>
              <a:rPr sz="1500" b="1" i="0">
                <a:solidFill>
                  <a:srgbClr val="333D47"/>
                </a:solidFill>
                <a:latin typeface="Arial"/>
                <a:ea typeface="Microsoft JhengHei"/>
              </a:rPr>
              <a:t>Multilingual rules*</a:t>
            </a:r>
          </a:p>
          <a:p>
            <a:pPr marL="182880" indent="-182880" algn="l">
              <a:spcAft>
                <a:spcPts val="300"/>
              </a:spcAft>
              <a:buFont typeface="Arial"/>
              <a:buChar char="•"/>
            </a:pPr>
            <a:r>
              <a:rPr sz="1300" b="0" i="0">
                <a:solidFill>
                  <a:srgbClr val="333D47"/>
                </a:solidFill>
                <a:latin typeface="Arial"/>
                <a:ea typeface="Microsoft JhengHei"/>
              </a:rPr>
              <a:t>General rules plus common Chinese labels and basic bilingual handling</a:t>
            </a:r>
          </a:p>
          <a:p>
            <a:pPr marL="182880" indent="-182880" algn="l">
              <a:spcAft>
                <a:spcPts val="300"/>
              </a:spcAft>
              <a:buFont typeface="Arial"/>
              <a:buChar char="•"/>
            </a:pPr>
            <a:r>
              <a:rPr sz="1300" b="0" i="0">
                <a:solidFill>
                  <a:srgbClr val="333D47"/>
                </a:solidFill>
                <a:latin typeface="Arial"/>
                <a:ea typeface="Microsoft JhengHei"/>
              </a:rPr>
              <a:t>No receipt-specific tuning</a:t>
            </a:r>
          </a:p>
        </p:txBody>
      </p:sp>
      <p:sp>
        <p:nvSpPr>
          <p:cNvPr id="15" name="Rectangle 14"/>
          <p:cNvSpPr/>
          <p:nvPr/>
        </p:nvSpPr>
        <p:spPr>
          <a:xfrm>
            <a:off x="7315200" y="3520440"/>
            <a:ext cx="4517136" cy="1417320"/>
          </a:xfrm>
          <a:prstGeom prst="rect">
            <a:avLst/>
          </a:prstGeom>
          <a:solidFill>
            <a:srgbClr val="FFFFFF"/>
          </a:solidFill>
          <a:ln w="25400">
            <a:solidFill>
              <a:srgbClr val="D31145"/>
            </a:solidFill>
          </a:ln>
        </p:spPr>
        <p:txBody>
          <a:bodyPr rtlCol="0" anchor="t" wrap="square" lIns="182880" rIns="182880" tIns="109728" bIns="109728"/>
          <a:lstStyle/>
          <a:p>
            <a:pPr algn="l" marL="0" indent="0">
              <a:spcAft>
                <a:spcPts val="400"/>
              </a:spcAft>
              <a:buNone/>
            </a:pPr>
            <a:r>
              <a:rPr sz="1500" b="1" i="0">
                <a:solidFill>
                  <a:srgbClr val="D31145"/>
                </a:solidFill>
                <a:latin typeface="Arial"/>
                <a:ea typeface="Microsoft JhengHei"/>
              </a:rPr>
              <a:t>To close the gap, rules would need</a:t>
            </a:r>
          </a:p>
          <a:p>
            <a:pPr marL="182880" indent="-182880" algn="l">
              <a:spcAft>
                <a:spcPts val="300"/>
              </a:spcAft>
              <a:buFont typeface="Arial"/>
              <a:buChar char="•"/>
            </a:pPr>
            <a:r>
              <a:rPr sz="1300" b="0" i="0">
                <a:solidFill>
                  <a:srgbClr val="333D47"/>
                </a:solidFill>
                <a:latin typeface="Arial"/>
                <a:ea typeface="Microsoft JhengHei"/>
              </a:rPr>
              <a:t>New label types and layouts written by hand</a:t>
            </a:r>
          </a:p>
          <a:p>
            <a:pPr marL="182880" indent="-182880" algn="l">
              <a:spcAft>
                <a:spcPts val="300"/>
              </a:spcAft>
              <a:buFont typeface="Arial"/>
              <a:buChar char="•"/>
            </a:pPr>
            <a:r>
              <a:rPr sz="1300" b="0" i="0">
                <a:solidFill>
                  <a:srgbClr val="333D47"/>
                </a:solidFill>
                <a:latin typeface="Arial"/>
                <a:ea typeface="Microsoft JhengHei"/>
              </a:rPr>
              <a:t>OCR-tolerant matching and retesting of every receipt</a:t>
            </a:r>
          </a:p>
        </p:txBody>
      </p:sp>
      <p:sp>
        <p:nvSpPr>
          <p:cNvPr id="16" name="TextBox 15"/>
          <p:cNvSpPr txBox="1"/>
          <p:nvPr/>
        </p:nvSpPr>
        <p:spPr>
          <a:xfrm>
            <a:off x="356616" y="5504688"/>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 Retrospective: Chinese labels added after these receipts were examined (rules fixed before scoring); not an independent test. Accuracy = correct fields out of 51 on 9 receipts.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8778240" cy="566928"/>
          </a:xfrm>
        </p:spPr>
        <p:txBody>
          <a:bodyPr lIns="0"/>
          <a:lstStyle/>
          <a:p>
            <a:r>
              <a:rPr sz="2800" b="1">
                <a:solidFill>
                  <a:srgbClr val="333D47"/>
                </a:solidFill>
                <a:latin typeface="Arial"/>
                <a:ea typeface="Microsoft JhengHei"/>
              </a:rPr>
              <a:t>The Key Difference: Maintenance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Rounded Rectangle 10"/>
          <p:cNvSpPr/>
          <p:nvPr/>
        </p:nvSpPr>
        <p:spPr>
          <a:xfrm>
            <a:off x="9372600" y="603504"/>
            <a:ext cx="2459736" cy="329184"/>
          </a:xfrm>
          <a:prstGeom prst="roundRect">
            <a:avLst/>
          </a:prstGeom>
          <a:solidFill>
            <a:srgbClr val="FFFFFF"/>
          </a:solidFill>
          <a:ln w="15875">
            <a:solidFill>
              <a:srgbClr val="333D47"/>
            </a:solidFill>
          </a:ln>
        </p:spPr>
        <p:txBody>
          <a:bodyPr rtlCol="0" anchor="ctr" lIns="45720" rIns="45720" tIns="0" bIns="0"/>
          <a:lstStyle/>
          <a:p>
            <a:pPr algn="ctr"/>
            <a:r>
              <a:rPr sz="1050" b="1">
                <a:solidFill>
                  <a:srgbClr val="333D47"/>
                </a:solidFill>
                <a:latin typeface="Arial"/>
                <a:ea typeface="Microsoft JhengHei"/>
              </a:rPr>
              <a:t>MEASURED · DEVELOPMENT SET</a:t>
            </a:r>
          </a:p>
        </p:txBody>
      </p:sp>
      <p:sp>
        <p:nvSpPr>
          <p:cNvPr id="12" name="TextBox 11"/>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Rules need us to anticipate every case in code. AOAI can often cope through plain-language instructions.</a:t>
            </a:r>
          </a:p>
        </p:txBody>
      </p:sp>
      <p:sp>
        <p:nvSpPr>
          <p:cNvPr id="13" name="Rectangle 12"/>
          <p:cNvSpPr/>
          <p:nvPr/>
        </p:nvSpPr>
        <p:spPr>
          <a:xfrm>
            <a:off x="356616" y="1783080"/>
            <a:ext cx="5623560" cy="384048"/>
          </a:xfrm>
          <a:prstGeom prst="rect">
            <a:avLst/>
          </a:prstGeom>
          <a:solidFill>
            <a:srgbClr val="333D47"/>
          </a:solidFill>
          <a:ln>
            <a:noFill/>
          </a:ln>
        </p:spPr>
        <p:txBody>
          <a:bodyPr rtlCol="0" anchor="ctr" wrap="square" lIns="164592" rIns="164592" tIns="109728" bIns="109728"/>
          <a:lstStyle/>
          <a:p>
            <a:pPr algn="l" marL="0" indent="0">
              <a:spcAft>
                <a:spcPts val="0"/>
              </a:spcAft>
              <a:buNone/>
            </a:pPr>
            <a:r>
              <a:rPr sz="1600" b="1" i="0">
                <a:solidFill>
                  <a:srgbClr val="FFFFFF"/>
                </a:solidFill>
                <a:latin typeface="Arial"/>
                <a:ea typeface="Microsoft JhengHei"/>
              </a:rPr>
              <a:t>Manual extraction rules</a:t>
            </a:r>
          </a:p>
        </p:txBody>
      </p:sp>
      <p:sp>
        <p:nvSpPr>
          <p:cNvPr id="14" name="Rectangle 13"/>
          <p:cNvSpPr/>
          <p:nvPr/>
        </p:nvSpPr>
        <p:spPr>
          <a:xfrm>
            <a:off x="356616" y="2286000"/>
            <a:ext cx="1661160" cy="1051560"/>
          </a:xfrm>
          <a:prstGeom prst="rect">
            <a:avLst/>
          </a:prstGeom>
          <a:solidFill>
            <a:srgbClr val="F2F2F2"/>
          </a:solidFill>
          <a:ln>
            <a:noFill/>
          </a:ln>
        </p:spPr>
        <p:txBody>
          <a:bodyPr rtlCol="0" anchor="ctr" wrap="square" lIns="109728" rIns="109728" tIns="109728" bIns="109728"/>
          <a:lstStyle/>
          <a:p>
            <a:pPr algn="l" marL="0" indent="0">
              <a:spcAft>
                <a:spcPts val="0"/>
              </a:spcAft>
              <a:buNone/>
            </a:pPr>
            <a:r>
              <a:rPr sz="1250" b="0" i="0">
                <a:solidFill>
                  <a:srgbClr val="333D47"/>
                </a:solidFill>
                <a:latin typeface="Arial"/>
                <a:ea typeface="Microsoft JhengHei"/>
              </a:rPr>
              <a:t>A new label, language or layout appears</a:t>
            </a:r>
          </a:p>
        </p:txBody>
      </p:sp>
      <p:sp>
        <p:nvSpPr>
          <p:cNvPr id="15" name="Rectangle 14"/>
          <p:cNvSpPr/>
          <p:nvPr/>
        </p:nvSpPr>
        <p:spPr>
          <a:xfrm>
            <a:off x="2337816" y="2286000"/>
            <a:ext cx="1661160" cy="1051560"/>
          </a:xfrm>
          <a:prstGeom prst="rect">
            <a:avLst/>
          </a:prstGeom>
          <a:solidFill>
            <a:srgbClr val="F2F2F2"/>
          </a:solidFill>
          <a:ln>
            <a:noFill/>
          </a:ln>
        </p:spPr>
        <p:txBody>
          <a:bodyPr rtlCol="0" anchor="ctr" wrap="square" lIns="109728" rIns="109728" tIns="109728" bIns="109728"/>
          <a:lstStyle/>
          <a:p>
            <a:pPr algn="l" marL="0" indent="0">
              <a:spcAft>
                <a:spcPts val="0"/>
              </a:spcAft>
              <a:buNone/>
            </a:pPr>
            <a:r>
              <a:rPr sz="1250" b="0" i="0">
                <a:solidFill>
                  <a:srgbClr val="333D47"/>
                </a:solidFill>
                <a:latin typeface="Arial"/>
                <a:ea typeface="Microsoft JhengHei"/>
              </a:rPr>
              <a:t>A developer anticipates it and writes rule code</a:t>
            </a:r>
          </a:p>
        </p:txBody>
      </p:sp>
      <p:sp>
        <p:nvSpPr>
          <p:cNvPr id="16" name="Right Arrow 15"/>
          <p:cNvSpPr/>
          <p:nvPr/>
        </p:nvSpPr>
        <p:spPr>
          <a:xfrm>
            <a:off x="2063496" y="2697480"/>
            <a:ext cx="228600" cy="219456"/>
          </a:xfrm>
          <a:prstGeom prst="rightArrow">
            <a:avLst/>
          </a:prstGeom>
          <a:solidFill>
            <a:srgbClr val="8C939A"/>
          </a:solidFill>
          <a:ln>
            <a:noFill/>
          </a:ln>
        </p:spPr>
        <p:txBody>
          <a:bodyPr rtlCol="0" anchor="ctr"/>
          <a:lstStyle/>
          <a:p>
            <a:pPr algn="ctr"/>
          </a:p>
        </p:txBody>
      </p:sp>
      <p:sp>
        <p:nvSpPr>
          <p:cNvPr id="17" name="Rectangle 16"/>
          <p:cNvSpPr/>
          <p:nvPr/>
        </p:nvSpPr>
        <p:spPr>
          <a:xfrm>
            <a:off x="4319015" y="2286000"/>
            <a:ext cx="1661160" cy="1051560"/>
          </a:xfrm>
          <a:prstGeom prst="rect">
            <a:avLst/>
          </a:prstGeom>
          <a:solidFill>
            <a:srgbClr val="F2F2F2"/>
          </a:solidFill>
          <a:ln>
            <a:noFill/>
          </a:ln>
        </p:spPr>
        <p:txBody>
          <a:bodyPr rtlCol="0" anchor="ctr" wrap="square" lIns="109728" rIns="109728" tIns="109728" bIns="109728"/>
          <a:lstStyle/>
          <a:p>
            <a:pPr algn="l" marL="0" indent="0">
              <a:spcAft>
                <a:spcPts val="0"/>
              </a:spcAft>
              <a:buNone/>
            </a:pPr>
            <a:r>
              <a:rPr sz="1250" b="0" i="0">
                <a:solidFill>
                  <a:srgbClr val="333D47"/>
                </a:solidFill>
                <a:latin typeface="Arial"/>
                <a:ea typeface="Microsoft JhengHei"/>
              </a:rPr>
              <a:t>Retest every receipt; a change can break a working one</a:t>
            </a:r>
          </a:p>
        </p:txBody>
      </p:sp>
      <p:sp>
        <p:nvSpPr>
          <p:cNvPr id="18" name="Right Arrow 17"/>
          <p:cNvSpPr/>
          <p:nvPr/>
        </p:nvSpPr>
        <p:spPr>
          <a:xfrm>
            <a:off x="4044695" y="2697480"/>
            <a:ext cx="228600" cy="219456"/>
          </a:xfrm>
          <a:prstGeom prst="rightArrow">
            <a:avLst/>
          </a:prstGeom>
          <a:solidFill>
            <a:srgbClr val="8C939A"/>
          </a:solidFill>
          <a:ln>
            <a:noFill/>
          </a:ln>
        </p:spPr>
        <p:txBody>
          <a:bodyPr rtlCol="0" anchor="ctr"/>
          <a:lstStyle/>
          <a:p>
            <a:pPr algn="ctr"/>
          </a:p>
        </p:txBody>
      </p:sp>
      <p:sp>
        <p:nvSpPr>
          <p:cNvPr id="19" name="TextBox 18"/>
          <p:cNvSpPr txBox="1"/>
          <p:nvPr/>
        </p:nvSpPr>
        <p:spPr>
          <a:xfrm>
            <a:off x="356616" y="3456432"/>
            <a:ext cx="5623560" cy="822960"/>
          </a:xfrm>
          <a:prstGeom prst="rect">
            <a:avLst/>
          </a:prstGeom>
          <a:noFill/>
        </p:spPr>
        <p:txBody>
          <a:bodyPr wrap="square" lIns="137160" rIns="137160" tIns="109728" bIns="109728" anchor="t"/>
          <a:lstStyle/>
          <a:p>
            <a:pPr marL="0" indent="0" algn="l">
              <a:spcAft>
                <a:spcPts val="200"/>
              </a:spcAft>
              <a:buNone/>
            </a:pPr>
            <a:r>
              <a:rPr sz="1200" b="1" i="0">
                <a:solidFill>
                  <a:srgbClr val="5F6770"/>
                </a:solidFill>
                <a:latin typeface="Arial"/>
                <a:ea typeface="Microsoft JhengHei"/>
              </a:rPr>
              <a:t>Seen in this benchmark</a:t>
            </a:r>
          </a:p>
          <a:p>
            <a:pPr marL="182880" indent="-182880" algn="l">
              <a:spcAft>
                <a:spcPts val="200"/>
              </a:spcAft>
              <a:buFont typeface="Arial"/>
              <a:buChar char="•"/>
            </a:pPr>
            <a:r>
              <a:rPr sz="1250" b="0" i="0">
                <a:solidFill>
                  <a:srgbClr val="333D47"/>
                </a:solidFill>
                <a:latin typeface="Arial"/>
                <a:ea typeface="Microsoft JhengHei"/>
              </a:rPr>
              <a:t>69 → 225 label phrases written by hand</a:t>
            </a:r>
          </a:p>
          <a:p>
            <a:pPr marL="182880" indent="-182880" algn="l">
              <a:spcAft>
                <a:spcPts val="200"/>
              </a:spcAft>
              <a:buFont typeface="Arial"/>
              <a:buChar char="•"/>
            </a:pPr>
            <a:r>
              <a:rPr sz="1250" b="0" i="0">
                <a:solidFill>
                  <a:srgbClr val="333D47"/>
                </a:solidFill>
                <a:latin typeface="Arial"/>
                <a:ea typeface="Microsoft JhengHei"/>
              </a:rPr>
              <a:t>1 correct field broken by a rule change</a:t>
            </a:r>
          </a:p>
        </p:txBody>
      </p:sp>
      <p:sp>
        <p:nvSpPr>
          <p:cNvPr id="20" name="Rectangle 19"/>
          <p:cNvSpPr/>
          <p:nvPr/>
        </p:nvSpPr>
        <p:spPr>
          <a:xfrm>
            <a:off x="6208776" y="1783080"/>
            <a:ext cx="5623560" cy="384048"/>
          </a:xfrm>
          <a:prstGeom prst="rect">
            <a:avLst/>
          </a:prstGeom>
          <a:solidFill>
            <a:srgbClr val="D31145"/>
          </a:solidFill>
          <a:ln>
            <a:noFill/>
          </a:ln>
        </p:spPr>
        <p:txBody>
          <a:bodyPr rtlCol="0" anchor="ctr" wrap="square" lIns="164592" rIns="164592" tIns="109728" bIns="109728"/>
          <a:lstStyle/>
          <a:p>
            <a:pPr algn="l" marL="0" indent="0">
              <a:spcAft>
                <a:spcPts val="0"/>
              </a:spcAft>
              <a:buNone/>
            </a:pPr>
            <a:r>
              <a:rPr sz="1600" b="1" i="0">
                <a:solidFill>
                  <a:srgbClr val="FFFFFF"/>
                </a:solidFill>
                <a:latin typeface="Arial"/>
                <a:ea typeface="Microsoft JhengHei"/>
              </a:rPr>
              <a:t>AOAI extraction</a:t>
            </a:r>
          </a:p>
        </p:txBody>
      </p:sp>
      <p:sp>
        <p:nvSpPr>
          <p:cNvPr id="21" name="Rectangle 20"/>
          <p:cNvSpPr/>
          <p:nvPr/>
        </p:nvSpPr>
        <p:spPr>
          <a:xfrm>
            <a:off x="6208776" y="2286000"/>
            <a:ext cx="1661160" cy="1051560"/>
          </a:xfrm>
          <a:prstGeom prst="rect">
            <a:avLst/>
          </a:prstGeom>
          <a:solidFill>
            <a:srgbClr val="FFFFFF"/>
          </a:solidFill>
          <a:ln w="25400">
            <a:solidFill>
              <a:srgbClr val="D31145"/>
            </a:solidFill>
          </a:ln>
        </p:spPr>
        <p:txBody>
          <a:bodyPr rtlCol="0" anchor="ctr" wrap="square" lIns="109728" rIns="109728" tIns="109728" bIns="109728"/>
          <a:lstStyle/>
          <a:p>
            <a:pPr algn="l" marL="0" indent="0">
              <a:spcAft>
                <a:spcPts val="0"/>
              </a:spcAft>
              <a:buNone/>
            </a:pPr>
            <a:r>
              <a:rPr sz="1250" b="0" i="0">
                <a:solidFill>
                  <a:srgbClr val="333D47"/>
                </a:solidFill>
                <a:latin typeface="Arial"/>
                <a:ea typeface="Microsoft JhengHei"/>
              </a:rPr>
              <a:t>New wording appears</a:t>
            </a:r>
          </a:p>
        </p:txBody>
      </p:sp>
      <p:sp>
        <p:nvSpPr>
          <p:cNvPr id="22" name="Rectangle 21"/>
          <p:cNvSpPr/>
          <p:nvPr/>
        </p:nvSpPr>
        <p:spPr>
          <a:xfrm>
            <a:off x="8189976" y="2286000"/>
            <a:ext cx="1661160" cy="1051560"/>
          </a:xfrm>
          <a:prstGeom prst="rect">
            <a:avLst/>
          </a:prstGeom>
          <a:solidFill>
            <a:srgbClr val="FFFFFF"/>
          </a:solidFill>
          <a:ln w="25400">
            <a:solidFill>
              <a:srgbClr val="D31145"/>
            </a:solidFill>
          </a:ln>
        </p:spPr>
        <p:txBody>
          <a:bodyPr rtlCol="0" anchor="ctr" wrap="square" lIns="109728" rIns="109728" tIns="109728" bIns="109728"/>
          <a:lstStyle/>
          <a:p>
            <a:pPr algn="l" marL="0" indent="0">
              <a:spcAft>
                <a:spcPts val="0"/>
              </a:spcAft>
              <a:buNone/>
            </a:pPr>
            <a:r>
              <a:rPr sz="1250" b="0" i="0">
                <a:solidFill>
                  <a:srgbClr val="333D47"/>
                </a:solidFill>
                <a:latin typeface="Arial"/>
                <a:ea typeface="Microsoft JhengHei"/>
              </a:rPr>
              <a:t>Often handled by the existing instructions</a:t>
            </a:r>
          </a:p>
        </p:txBody>
      </p:sp>
      <p:sp>
        <p:nvSpPr>
          <p:cNvPr id="23" name="Right Arrow 22"/>
          <p:cNvSpPr/>
          <p:nvPr/>
        </p:nvSpPr>
        <p:spPr>
          <a:xfrm>
            <a:off x="7915656" y="2697480"/>
            <a:ext cx="228600" cy="219456"/>
          </a:xfrm>
          <a:prstGeom prst="rightArrow">
            <a:avLst/>
          </a:prstGeom>
          <a:solidFill>
            <a:srgbClr val="8C939A"/>
          </a:solidFill>
          <a:ln>
            <a:noFill/>
          </a:ln>
        </p:spPr>
        <p:txBody>
          <a:bodyPr rtlCol="0" anchor="ctr"/>
          <a:lstStyle/>
          <a:p>
            <a:pPr algn="ctr"/>
          </a:p>
        </p:txBody>
      </p:sp>
      <p:sp>
        <p:nvSpPr>
          <p:cNvPr id="24" name="Rectangle 23"/>
          <p:cNvSpPr/>
          <p:nvPr/>
        </p:nvSpPr>
        <p:spPr>
          <a:xfrm>
            <a:off x="10171176" y="2286000"/>
            <a:ext cx="1661160" cy="1051560"/>
          </a:xfrm>
          <a:prstGeom prst="rect">
            <a:avLst/>
          </a:prstGeom>
          <a:solidFill>
            <a:srgbClr val="FFFFFF"/>
          </a:solidFill>
          <a:ln w="25400">
            <a:solidFill>
              <a:srgbClr val="D31145"/>
            </a:solidFill>
          </a:ln>
        </p:spPr>
        <p:txBody>
          <a:bodyPr rtlCol="0" anchor="ctr" wrap="square" lIns="109728" rIns="109728" tIns="109728" bIns="109728"/>
          <a:lstStyle/>
          <a:p>
            <a:pPr algn="l" marL="0" indent="0">
              <a:spcAft>
                <a:spcPts val="0"/>
              </a:spcAft>
              <a:buNone/>
            </a:pPr>
            <a:r>
              <a:rPr sz="1250" b="0" i="0">
                <a:solidFill>
                  <a:srgbClr val="333D47"/>
                </a:solidFill>
                <a:latin typeface="Arial"/>
                <a:ea typeface="Microsoft JhengHei"/>
              </a:rPr>
              <a:t>If not: refine the instructions in plain language, rerun</a:t>
            </a:r>
          </a:p>
        </p:txBody>
      </p:sp>
      <p:sp>
        <p:nvSpPr>
          <p:cNvPr id="25" name="Right Arrow 24"/>
          <p:cNvSpPr/>
          <p:nvPr/>
        </p:nvSpPr>
        <p:spPr>
          <a:xfrm>
            <a:off x="9896856" y="2697480"/>
            <a:ext cx="228600" cy="219456"/>
          </a:xfrm>
          <a:prstGeom prst="rightArrow">
            <a:avLst/>
          </a:prstGeom>
          <a:solidFill>
            <a:srgbClr val="8C939A"/>
          </a:solidFill>
          <a:ln>
            <a:noFill/>
          </a:ln>
        </p:spPr>
        <p:txBody>
          <a:bodyPr rtlCol="0" anchor="ctr"/>
          <a:lstStyle/>
          <a:p>
            <a:pPr algn="ctr"/>
          </a:p>
        </p:txBody>
      </p:sp>
      <p:sp>
        <p:nvSpPr>
          <p:cNvPr id="26" name="TextBox 25"/>
          <p:cNvSpPr txBox="1"/>
          <p:nvPr/>
        </p:nvSpPr>
        <p:spPr>
          <a:xfrm>
            <a:off x="6208776" y="3456432"/>
            <a:ext cx="5623560" cy="822960"/>
          </a:xfrm>
          <a:prstGeom prst="rect">
            <a:avLst/>
          </a:prstGeom>
          <a:noFill/>
        </p:spPr>
        <p:txBody>
          <a:bodyPr wrap="square" lIns="137160" rIns="137160" tIns="109728" bIns="109728" anchor="t"/>
          <a:lstStyle/>
          <a:p>
            <a:pPr marL="0" indent="0" algn="l">
              <a:spcAft>
                <a:spcPts val="200"/>
              </a:spcAft>
              <a:buNone/>
            </a:pPr>
            <a:r>
              <a:rPr sz="1200" b="1" i="0">
                <a:solidFill>
                  <a:srgbClr val="5F6770"/>
                </a:solidFill>
                <a:latin typeface="Arial"/>
                <a:ea typeface="Microsoft JhengHei"/>
              </a:rPr>
              <a:t>Seen in this benchmark</a:t>
            </a:r>
          </a:p>
          <a:p>
            <a:pPr marL="182880" indent="-182880" algn="l">
              <a:spcAft>
                <a:spcPts val="200"/>
              </a:spcAft>
              <a:buFont typeface="Arial"/>
              <a:buChar char="•"/>
            </a:pPr>
            <a:r>
              <a:rPr sz="1250" b="0" i="0">
                <a:solidFill>
                  <a:srgbClr val="333D47"/>
                </a:solidFill>
                <a:latin typeface="Arial"/>
                <a:ea typeface="Microsoft JhengHei"/>
              </a:rPr>
              <a:t>One prompt revision: 4 fields fixed, 0 broken</a:t>
            </a:r>
          </a:p>
        </p:txBody>
      </p:sp>
      <p:sp>
        <p:nvSpPr>
          <p:cNvPr id="27" name="Rectangle 26"/>
          <p:cNvSpPr/>
          <p:nvPr/>
        </p:nvSpPr>
        <p:spPr>
          <a:xfrm>
            <a:off x="356616" y="4389120"/>
            <a:ext cx="11475720" cy="502920"/>
          </a:xfrm>
          <a:prstGeom prst="rect">
            <a:avLst/>
          </a:prstGeom>
          <a:solidFill>
            <a:srgbClr val="FFFFFF"/>
          </a:solidFill>
          <a:ln w="25400">
            <a:solidFill>
              <a:srgbClr val="D31145"/>
            </a:solidFill>
          </a:ln>
        </p:spPr>
        <p:txBody>
          <a:bodyPr rtlCol="0" anchor="ctr" wrap="square" lIns="182880" rIns="182880" tIns="109728" bIns="109728"/>
          <a:lstStyle/>
          <a:p>
            <a:pPr algn="l" marL="0" indent="0">
              <a:spcAft>
                <a:spcPts val="0"/>
              </a:spcAft>
              <a:buNone/>
            </a:pPr>
            <a:r>
              <a:rPr sz="1300" b="1" i="0">
                <a:solidFill>
                  <a:srgbClr val="D31145"/>
                </a:solidFill>
                <a:latin typeface="Arial"/>
                <a:ea typeface="Microsoft JhengHei"/>
              </a:rPr>
              <a:t>Not guaranteed: </a:t>
            </a:r>
            <a:r>
              <a:rPr sz="1300" b="0" i="0">
                <a:solidFill>
                  <a:srgbClr val="333D47"/>
                </a:solidFill>
                <a:latin typeface="Arial"/>
                <a:ea typeface="Microsoft JhengHei"/>
              </a:rPr>
              <a:t>AOAI has not been tested on enough unseen layouts. It still makes mistakes and needs testing and monitoring.</a:t>
            </a:r>
          </a:p>
        </p:txBody>
      </p:sp>
      <p:sp>
        <p:nvSpPr>
          <p:cNvPr id="28" name="Rectangle 27"/>
          <p:cNvSpPr/>
          <p:nvPr/>
        </p:nvSpPr>
        <p:spPr>
          <a:xfrm>
            <a:off x="356616" y="4983480"/>
            <a:ext cx="11475720" cy="502920"/>
          </a:xfrm>
          <a:prstGeom prst="rect">
            <a:avLst/>
          </a:prstGeom>
          <a:solidFill>
            <a:srgbClr val="F2F2F2"/>
          </a:solidFill>
          <a:ln>
            <a:noFill/>
          </a:ln>
        </p:spPr>
        <p:txBody>
          <a:bodyPr rtlCol="0" anchor="ctr" wrap="square" lIns="182880" rIns="182880" tIns="109728" bIns="109728"/>
          <a:lstStyle/>
          <a:p>
            <a:pPr algn="l" marL="0" indent="0">
              <a:spcAft>
                <a:spcPts val="0"/>
              </a:spcAft>
              <a:buNone/>
            </a:pPr>
            <a:r>
              <a:rPr sz="1300" b="1" i="0">
                <a:solidFill>
                  <a:srgbClr val="333D47"/>
                </a:solidFill>
                <a:latin typeface="Arial"/>
                <a:ea typeface="Microsoft JhengHei"/>
              </a:rPr>
              <a:t>Where rules were enough: </a:t>
            </a:r>
            <a:r>
              <a:rPr sz="1300" b="0" i="0">
                <a:solidFill>
                  <a:srgbClr val="333D47"/>
                </a:solidFill>
                <a:latin typeface="Arial"/>
                <a:ea typeface="Microsoft JhengHei"/>
              </a:rPr>
              <a:t>a yes/no check for a diagnosis comment under clear labels. Rules matched AOAI on 13/13 receipts (development result).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Advantages and Disadvantages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Rules win on cost, auditability and predictability; AOAI on accuracy, maintenance and flexibility.</a:t>
            </a:r>
          </a:p>
        </p:txBody>
      </p:sp>
      <p:graphicFrame>
        <p:nvGraphicFramePr>
          <p:cNvPr id="12" name="Table 11"/>
          <p:cNvGraphicFramePr>
            <a:graphicFrameLocks noGrp="1"/>
          </p:cNvGraphicFramePr>
          <p:nvPr/>
        </p:nvGraphicFramePr>
        <p:xfrm>
          <a:off x="356616" y="1783080"/>
          <a:ext cx="11475720" cy="3639312"/>
        </p:xfrm>
        <a:graphic>
          <a:graphicData uri="http://schemas.openxmlformats.org/drawingml/2006/table">
            <a:tbl>
              <a:tblPr firstRow="0" bandRow="0">
                <a:tableStyleId>{2D5ABB26-0587-4C30-8999-92F81FD0307C}</a:tableStyleId>
              </a:tblPr>
              <a:tblGrid>
                <a:gridCol w="1600200"/>
                <a:gridCol w="4251960"/>
                <a:gridCol w="4251960"/>
                <a:gridCol w="1371600"/>
              </a:tblGrid>
              <a:tr h="438912">
                <a:tc>
                  <a:txBody>
                    <a:bodyPr wrap="square"/>
                    <a:lstStyle/>
                    <a:p>
                      <a:pPr algn="l"/>
                      <a:r>
                        <a:rPr sz="1400" b="1" i="0">
                          <a:solidFill>
                            <a:srgbClr val="FFFFFF"/>
                          </a:solidFill>
                          <a:latin typeface="Arial"/>
                          <a:ea typeface="Microsoft JhengHei"/>
                        </a:rPr>
                        <a:t/>
                      </a:r>
                    </a:p>
                  </a:txBody>
                  <a:tcPr marL="91440" marR="91440" marT="45720" marB="45720" anchor="ctr">
                    <a:lnL w="0">
                      <a:noFill/>
                    </a:lnL>
                    <a:lnR w="0">
                      <a:noFill/>
                    </a:lnR>
                    <a:lnT w="0">
                      <a:noFill/>
                    </a:lnT>
                    <a:lnB w="0">
                      <a:noFill/>
                    </a:lnB>
                    <a:solidFill>
                      <a:srgbClr val="333D47"/>
                    </a:solidFill>
                  </a:tcPr>
                </a:tc>
                <a:tc>
                  <a:txBody>
                    <a:bodyPr wrap="square"/>
                    <a:lstStyle/>
                    <a:p>
                      <a:pPr algn="l"/>
                      <a:r>
                        <a:rPr sz="1400" b="1" i="0">
                          <a:solidFill>
                            <a:srgbClr val="FFFFFF"/>
                          </a:solidFill>
                          <a:latin typeface="Arial"/>
                          <a:ea typeface="Microsoft JhengHei"/>
                        </a:rPr>
                        <a:t>OCR +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400" b="1" i="0">
                          <a:solidFill>
                            <a:srgbClr val="FFFFFF"/>
                          </a:solidFill>
                          <a:latin typeface="Arial"/>
                          <a:ea typeface="Microsoft JhengHei"/>
                        </a:rPr>
                        <a:t>Azure DI + AOAI</a:t>
                      </a:r>
                    </a:p>
                  </a:txBody>
                  <a:tcPr marL="91440" marR="91440" marT="45720" marB="45720" anchor="ctr">
                    <a:lnL w="0">
                      <a:noFill/>
                    </a:lnL>
                    <a:lnR w="0">
                      <a:noFill/>
                    </a:lnR>
                    <a:lnT w="0">
                      <a:noFill/>
                    </a:lnT>
                    <a:lnB w="0">
                      <a:noFill/>
                    </a:lnB>
                    <a:solidFill>
                      <a:srgbClr val="333D47"/>
                    </a:solidFill>
                  </a:tcPr>
                </a:tc>
                <a:tc>
                  <a:txBody>
                    <a:bodyPr wrap="square"/>
                    <a:lstStyle/>
                    <a:p>
                      <a:pPr algn="l"/>
                      <a:r>
                        <a:rPr sz="1400" b="1" i="0">
                          <a:solidFill>
                            <a:srgbClr val="FFFFFF"/>
                          </a:solidFill>
                          <a:latin typeface="Arial"/>
                          <a:ea typeface="Microsoft JhengHei"/>
                        </a:rPr>
                        <a:t>Evidence</a:t>
                      </a:r>
                    </a:p>
                  </a:txBody>
                  <a:tcPr marL="91440" marR="91440" marT="45720" marB="45720" anchor="ctr">
                    <a:lnL w="0">
                      <a:noFill/>
                    </a:lnL>
                    <a:lnR w="0">
                      <a:noFill/>
                    </a:lnR>
                    <a:lnT w="0">
                      <a:noFill/>
                    </a:lnT>
                    <a:lnB w="0">
                      <a:noFill/>
                    </a:lnB>
                    <a:solidFill>
                      <a:srgbClr val="333D47"/>
                    </a:solidFill>
                  </a:tcPr>
                </a:tc>
              </a:tr>
              <a:tr h="457200">
                <a:tc>
                  <a:txBody>
                    <a:bodyPr wrap="square"/>
                    <a:lstStyle/>
                    <a:p>
                      <a:pPr algn="l"/>
                      <a:r>
                        <a:rPr sz="1300" b="1" i="0">
                          <a:solidFill>
                            <a:srgbClr val="333D47"/>
                          </a:solidFill>
                          <a:latin typeface="Arial"/>
                          <a:ea typeface="Microsoft JhengHei"/>
                        </a:rPr>
                        <a:t>Cost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PaddleOCR: own compute, no API fee (Azure DI: page fee)</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l"/>
                      <a:r>
                        <a:rPr sz="1200" b="0" i="0">
                          <a:solidFill>
                            <a:srgbClr val="333D47"/>
                          </a:solidFill>
                          <a:latin typeface="Arial"/>
                          <a:ea typeface="Microsoft JhengHei"/>
                        </a:rPr>
                        <a:t>− Azure DI page fee + ~602 input / 263 output tokens per receipt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00" b="0" i="1">
                          <a:solidFill>
                            <a:srgbClr val="5F6770"/>
                          </a:solidFill>
                          <a:latin typeface="Arial"/>
                          <a:ea typeface="Microsoft JhengHei"/>
                        </a:rPr>
                        <a:t>Prices to confirm</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300" b="1" i="0">
                          <a:solidFill>
                            <a:srgbClr val="333D47"/>
                          </a:solidFill>
                          <a:latin typeface="Arial"/>
                          <a:ea typeface="Microsoft JhengHei"/>
                        </a:rPr>
                        <a:t>Speed</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PaddleOCR 13.9 s (CPU) · Azure DI 3.8 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6.2 s per receipt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00" b="0" i="0">
                          <a:solidFill>
                            <a:srgbClr val="333D47"/>
                          </a:solidFill>
                          <a:latin typeface="Arial"/>
                          <a:ea typeface="Microsoft JhengHei"/>
                        </a:rPr>
                        <a:t>Measured</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300" b="1" i="0">
                          <a:solidFill>
                            <a:srgbClr val="333D47"/>
                          </a:solidFill>
                          <a:latin typeface="Arial"/>
                          <a:ea typeface="Microsoft JhengHei"/>
                        </a:rPr>
                        <a:t>Accuracy</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− 51.0–70.6% with multilingual rules (retrospective)</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+ 88.2% first; 96.1% with prompt v2 (development)</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l"/>
                      <a:r>
                        <a:rPr sz="1100" b="0" i="0">
                          <a:solidFill>
                            <a:srgbClr val="333D47"/>
                          </a:solidFill>
                          <a:latin typeface="Arial"/>
                          <a:ea typeface="Microsoft JhengHei"/>
                        </a:rPr>
                        <a:t>Measured</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300" b="1" i="0">
                          <a:solidFill>
                            <a:srgbClr val="333D47"/>
                          </a:solidFill>
                          <a:latin typeface="Arial"/>
                          <a:ea typeface="Microsoft JhengHei"/>
                        </a:rPr>
                        <a:t>Maintenance</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New labels, languages and layouts need code and a full retest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Many changes made in plain-language instructions; still retest</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l"/>
                      <a:r>
                        <a:rPr sz="1100" b="0" i="1">
                          <a:solidFill>
                            <a:srgbClr val="5F6770"/>
                          </a:solidFill>
                          <a:latin typeface="Arial"/>
                          <a:ea typeface="Microsoft JhengHei"/>
                        </a:rPr>
                        <a:t>Measured / expected</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300" b="1" i="0">
                          <a:solidFill>
                            <a:srgbClr val="333D47"/>
                          </a:solidFill>
                          <a:latin typeface="Arial"/>
                          <a:ea typeface="Microsoft JhengHei"/>
                        </a:rPr>
                        <a:t>Flexibility</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Finds only what it was written for</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New fields can be requested in the prompt (not yet benchmarked)</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l"/>
                      <a:r>
                        <a:rPr sz="1100" b="0" i="1">
                          <a:solidFill>
                            <a:srgbClr val="5F6770"/>
                          </a:solidFill>
                          <a:latin typeface="Arial"/>
                          <a:ea typeface="Microsoft JhengHei"/>
                        </a:rPr>
                        <a:t>Expected</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300" b="1" i="0">
                          <a:solidFill>
                            <a:srgbClr val="333D47"/>
                          </a:solidFill>
                          <a:latin typeface="Arial"/>
                          <a:ea typeface="Microsoft JhengHei"/>
                        </a:rPr>
                        <a:t>Auditability</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Every result traceable to a rule</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l"/>
                      <a:r>
                        <a:rPr sz="1200" b="0" i="0">
                          <a:solidFill>
                            <a:srgbClr val="333D47"/>
                          </a:solidFill>
                          <a:latin typeface="Arial"/>
                          <a:ea typeface="Microsoft JhengHei"/>
                        </a:rPr>
                        <a:t>− Harder to explain; keep quoted evidence and logs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00" b="0" i="1">
                          <a:solidFill>
                            <a:srgbClr val="5F6770"/>
                          </a:solidFill>
                          <a:latin typeface="Arial"/>
                          <a:ea typeface="Microsoft JhengHei"/>
                        </a:rPr>
                        <a:t>Expected</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300" b="1" i="0">
                          <a:solidFill>
                            <a:srgbClr val="333D47"/>
                          </a:solidFill>
                          <a:latin typeface="Arial"/>
                          <a:ea typeface="Microsoft JhengHei"/>
                        </a:rPr>
                        <a:t>Reliability</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Same input, same output</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l"/>
                      <a:r>
                        <a:rPr sz="1200" b="0" i="0">
                          <a:solidFill>
                            <a:srgbClr val="333D47"/>
                          </a:solidFill>
                          <a:latin typeface="Arial"/>
                          <a:ea typeface="Microsoft JhengHei"/>
                        </a:rPr>
                        <a:t>− Can return a confident wrong value (e.g. a sub total as the total); model updates need retesting</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00" b="0" i="1">
                          <a:solidFill>
                            <a:srgbClr val="5F6770"/>
                          </a:solidFill>
                          <a:latin typeface="Arial"/>
                          <a:ea typeface="Microsoft JhengHei"/>
                        </a:rPr>
                        <a:t>Measured / expected</a:t>
                      </a:r>
                    </a:p>
                  </a:txBody>
                  <a:tcPr marL="91440" marR="91440" marT="45720" marB="45720" anchor="ctr">
                    <a:lnL w="0">
                      <a:noFill/>
                    </a:lnL>
                    <a:lnR w="0">
                      <a:noFill/>
                    </a:lnR>
                    <a:lnT w="0">
                      <a:noFill/>
                    </a:lnT>
                    <a:lnB w="9525" cmpd="sng">
                      <a:solidFill>
                        <a:srgbClr val="BFBFBF"/>
                      </a:solidFill>
                    </a:lnB>
                    <a:noFill/>
                  </a:tcPr>
                </a:tc>
              </a:tr>
            </a:tbl>
          </a:graphicData>
        </a:graphic>
      </p:graphicFrame>
      <p:sp>
        <p:nvSpPr>
          <p:cNvPr id="13" name="TextBox 12"/>
          <p:cNvSpPr txBox="1"/>
          <p:nvPr/>
        </p:nvSpPr>
        <p:spPr>
          <a:xfrm>
            <a:off x="356616" y="548640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Green = stronger side. Multilingual rules include common Chinese labels (retrospective baseline). Expected = not measured here.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8778240" cy="566928"/>
          </a:xfrm>
        </p:spPr>
        <p:txBody>
          <a:bodyPr lIns="0"/>
          <a:lstStyle/>
          <a:p>
            <a:r>
              <a:rPr sz="2800" b="1">
                <a:solidFill>
                  <a:srgbClr val="333D47"/>
                </a:solidFill>
                <a:latin typeface="Arial"/>
                <a:ea typeface="Microsoft JhengHei"/>
              </a:rPr>
              <a:t>Beyond Six Fields: What AOAI Could Unlock</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Rounded Rectangle 10"/>
          <p:cNvSpPr/>
          <p:nvPr/>
        </p:nvSpPr>
        <p:spPr>
          <a:xfrm>
            <a:off x="9372600" y="603504"/>
            <a:ext cx="2459736" cy="329184"/>
          </a:xfrm>
          <a:prstGeom prst="roundRect">
            <a:avLst/>
          </a:prstGeom>
          <a:solidFill>
            <a:srgbClr val="FFFFFF"/>
          </a:solidFill>
          <a:ln w="15875">
            <a:solidFill>
              <a:srgbClr val="D31145"/>
            </a:solidFill>
          </a:ln>
        </p:spPr>
        <p:txBody>
          <a:bodyPr rtlCol="0" anchor="ctr" lIns="45720" rIns="45720" tIns="0" bIns="0"/>
          <a:lstStyle/>
          <a:p>
            <a:pPr algn="ctr"/>
            <a:r>
              <a:rPr sz="1050" b="1">
                <a:solidFill>
                  <a:srgbClr val="D31145"/>
                </a:solidFill>
                <a:latin typeface="Arial"/>
                <a:ea typeface="Microsoft JhengHei"/>
              </a:rPr>
              <a:t>POTENTIAL · NOT YET TESTED</a:t>
            </a:r>
          </a:p>
        </p:txBody>
      </p:sp>
      <p:sp>
        <p:nvSpPr>
          <p:cNvPr id="12" name="TextBox 11"/>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Our receipts already carry medical details. AOAI could turn them into data for analytics.</a:t>
            </a:r>
          </a:p>
        </p:txBody>
      </p:sp>
      <p:graphicFrame>
        <p:nvGraphicFramePr>
          <p:cNvPr id="13" name="Table 12"/>
          <p:cNvGraphicFramePr>
            <a:graphicFrameLocks noGrp="1"/>
          </p:cNvGraphicFramePr>
          <p:nvPr/>
        </p:nvGraphicFramePr>
        <p:xfrm>
          <a:off x="356616" y="1783080"/>
          <a:ext cx="5943600" cy="3163824"/>
        </p:xfrm>
        <a:graphic>
          <a:graphicData uri="http://schemas.openxmlformats.org/drawingml/2006/table">
            <a:tbl>
              <a:tblPr firstRow="0" bandRow="0">
                <a:tableStyleId>{2D5ABB26-0587-4C30-8999-92F81FD0307C}</a:tableStyleId>
              </a:tblPr>
              <a:tblGrid>
                <a:gridCol w="1417320"/>
                <a:gridCol w="2743200"/>
                <a:gridCol w="1783080"/>
              </a:tblGrid>
              <a:tr h="411480">
                <a:tc>
                  <a:txBody>
                    <a:bodyPr wrap="square"/>
                    <a:lstStyle/>
                    <a:p>
                      <a:pPr algn="l"/>
                      <a:r>
                        <a:rPr sz="1250" b="1" i="0">
                          <a:solidFill>
                            <a:srgbClr val="FFFFFF"/>
                          </a:solidFill>
                          <a:latin typeface="Arial"/>
                          <a:ea typeface="Microsoft JhengHei"/>
                        </a:rPr>
                        <a:t>Type</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Text already in our OCR</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Receipt</a:t>
                      </a:r>
                    </a:p>
                  </a:txBody>
                  <a:tcPr marL="91440" marR="91440" marT="45720" marB="45720" anchor="ctr">
                    <a:lnL w="0">
                      <a:noFill/>
                    </a:lnL>
                    <a:lnR w="0">
                      <a:noFill/>
                    </a:lnR>
                    <a:lnT w="0">
                      <a:noFill/>
                    </a:lnT>
                    <a:lnB w="0">
                      <a:noFill/>
                    </a:lnB>
                    <a:solidFill>
                      <a:srgbClr val="333D47"/>
                    </a:solidFill>
                  </a:tcPr>
                </a:tc>
              </a:tr>
              <a:tr h="393192">
                <a:tc>
                  <a:txBody>
                    <a:bodyPr wrap="square"/>
                    <a:lstStyle/>
                    <a:p>
                      <a:pPr algn="l"/>
                      <a:r>
                        <a:rPr sz="1200" b="1" i="0">
                          <a:solidFill>
                            <a:srgbClr val="D31145"/>
                          </a:solidFill>
                          <a:latin typeface="Arial"/>
                          <a:ea typeface="Microsoft JhengHei"/>
                        </a:rPr>
                        <a:t>Medication</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Omeprazole 20mg Capsules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50" b="0" i="0">
                          <a:solidFill>
                            <a:srgbClr val="5F6770"/>
                          </a:solidFill>
                          <a:latin typeface="Arial"/>
                          <a:ea typeface="Microsoft JhengHei"/>
                        </a:rPr>
                        <a:t>Pharmacy</a:t>
                      </a:r>
                    </a:p>
                  </a:txBody>
                  <a:tcPr marL="91440" marR="91440" marT="45720" marB="45720" anchor="ctr">
                    <a:lnL w="0">
                      <a:noFill/>
                    </a:lnL>
                    <a:lnR w="0">
                      <a:noFill/>
                    </a:lnR>
                    <a:lnT w="0">
                      <a:noFill/>
                    </a:lnT>
                    <a:lnB w="9525" cmpd="sng">
                      <a:solidFill>
                        <a:srgbClr val="BFBFBF"/>
                      </a:solidFill>
                    </a:lnB>
                    <a:noFill/>
                  </a:tcPr>
                </a:tc>
              </a:tr>
              <a:tr h="393192">
                <a:tc>
                  <a:txBody>
                    <a:bodyPr wrap="square"/>
                    <a:lstStyle/>
                    <a:p>
                      <a:pPr algn="l"/>
                      <a:r>
                        <a:rPr sz="1200" b="1" i="0">
                          <a:solidFill>
                            <a:srgbClr val="D31145"/>
                          </a:solidFill>
                          <a:latin typeface="Arial"/>
                          <a:ea typeface="Microsoft JhengHei"/>
                        </a:rPr>
                        <a:t>Medication</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Metronidazole 50mg Tablet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50" b="0" i="0">
                          <a:solidFill>
                            <a:srgbClr val="5F6770"/>
                          </a:solidFill>
                          <a:latin typeface="Arial"/>
                          <a:ea typeface="Microsoft JhengHei"/>
                        </a:rPr>
                        <a:t>Vet invoice</a:t>
                      </a:r>
                    </a:p>
                  </a:txBody>
                  <a:tcPr marL="91440" marR="91440" marT="45720" marB="45720" anchor="ctr">
                    <a:lnL w="0">
                      <a:noFill/>
                    </a:lnL>
                    <a:lnR w="0">
                      <a:noFill/>
                    </a:lnR>
                    <a:lnT w="0">
                      <a:noFill/>
                    </a:lnT>
                    <a:lnB w="9525" cmpd="sng">
                      <a:solidFill>
                        <a:srgbClr val="BFBFBF"/>
                      </a:solidFill>
                    </a:lnB>
                    <a:noFill/>
                  </a:tcPr>
                </a:tc>
              </a:tr>
              <a:tr h="393192">
                <a:tc>
                  <a:txBody>
                    <a:bodyPr wrap="square"/>
                    <a:lstStyle/>
                    <a:p>
                      <a:pPr algn="l"/>
                      <a:r>
                        <a:rPr sz="1200" b="1" i="0">
                          <a:solidFill>
                            <a:srgbClr val="D31145"/>
                          </a:solidFill>
                          <a:latin typeface="Arial"/>
                          <a:ea typeface="Microsoft JhengHei"/>
                        </a:rPr>
                        <a:t>Test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Chest X-ray</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50" b="0" i="0">
                          <a:solidFill>
                            <a:srgbClr val="5F6770"/>
                          </a:solidFill>
                          <a:latin typeface="Arial"/>
                          <a:ea typeface="Microsoft JhengHei"/>
                        </a:rPr>
                        <a:t>Hospital</a:t>
                      </a:r>
                    </a:p>
                  </a:txBody>
                  <a:tcPr marL="91440" marR="91440" marT="45720" marB="45720" anchor="ctr">
                    <a:lnL w="0">
                      <a:noFill/>
                    </a:lnL>
                    <a:lnR w="0">
                      <a:noFill/>
                    </a:lnR>
                    <a:lnT w="0">
                      <a:noFill/>
                    </a:lnT>
                    <a:lnB w="9525" cmpd="sng">
                      <a:solidFill>
                        <a:srgbClr val="BFBFBF"/>
                      </a:solidFill>
                    </a:lnB>
                    <a:noFill/>
                  </a:tcPr>
                </a:tc>
              </a:tr>
              <a:tr h="393192">
                <a:tc>
                  <a:txBody>
                    <a:bodyPr wrap="square"/>
                    <a:lstStyle/>
                    <a:p>
                      <a:pPr algn="l"/>
                      <a:r>
                        <a:rPr sz="1200" b="1" i="0">
                          <a:solidFill>
                            <a:srgbClr val="D31145"/>
                          </a:solidFill>
                          <a:latin typeface="Arial"/>
                          <a:ea typeface="Microsoft JhengHei"/>
                        </a:rPr>
                        <a:t>Treatment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針灸 (acupuncture)</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50" b="0" i="0">
                          <a:solidFill>
                            <a:srgbClr val="5F6770"/>
                          </a:solidFill>
                          <a:latin typeface="Arial"/>
                          <a:ea typeface="Microsoft JhengHei"/>
                        </a:rPr>
                        <a:t>Chinese medicine</a:t>
                      </a:r>
                    </a:p>
                  </a:txBody>
                  <a:tcPr marL="91440" marR="91440" marT="45720" marB="45720" anchor="ctr">
                    <a:lnL w="0">
                      <a:noFill/>
                    </a:lnL>
                    <a:lnR w="0">
                      <a:noFill/>
                    </a:lnR>
                    <a:lnT w="0">
                      <a:noFill/>
                    </a:lnT>
                    <a:lnB w="9525" cmpd="sng">
                      <a:solidFill>
                        <a:srgbClr val="BFBFBF"/>
                      </a:solidFill>
                    </a:lnB>
                    <a:noFill/>
                  </a:tcPr>
                </a:tc>
              </a:tr>
              <a:tr h="393192">
                <a:tc>
                  <a:txBody>
                    <a:bodyPr wrap="square"/>
                    <a:lstStyle/>
                    <a:p>
                      <a:pPr algn="l"/>
                      <a:r>
                        <a:rPr sz="1200" b="1" i="0">
                          <a:solidFill>
                            <a:srgbClr val="D31145"/>
                          </a:solidFill>
                          <a:latin typeface="Arial"/>
                          <a:ea typeface="Microsoft JhengHei"/>
                        </a:rPr>
                        <a:t>Treatment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Scaling and polishing</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50" b="0" i="0">
                          <a:solidFill>
                            <a:srgbClr val="5F6770"/>
                          </a:solidFill>
                          <a:latin typeface="Arial"/>
                          <a:ea typeface="Microsoft JhengHei"/>
                        </a:rPr>
                        <a:t>Dental</a:t>
                      </a:r>
                    </a:p>
                  </a:txBody>
                  <a:tcPr marL="91440" marR="91440" marT="45720" marB="45720" anchor="ctr">
                    <a:lnL w="0">
                      <a:noFill/>
                    </a:lnL>
                    <a:lnR w="0">
                      <a:noFill/>
                    </a:lnR>
                    <a:lnT w="0">
                      <a:noFill/>
                    </a:lnT>
                    <a:lnB w="9525" cmpd="sng">
                      <a:solidFill>
                        <a:srgbClr val="BFBFBF"/>
                      </a:solidFill>
                    </a:lnB>
                    <a:noFill/>
                  </a:tcPr>
                </a:tc>
              </a:tr>
              <a:tr h="393192">
                <a:tc>
                  <a:txBody>
                    <a:bodyPr wrap="square"/>
                    <a:lstStyle/>
                    <a:p>
                      <a:pPr algn="l"/>
                      <a:r>
                        <a:rPr sz="1200" b="1" i="0">
                          <a:solidFill>
                            <a:srgbClr val="D31145"/>
                          </a:solidFill>
                          <a:latin typeface="Arial"/>
                          <a:ea typeface="Microsoft JhengHei"/>
                        </a:rPr>
                        <a:t>Symptom</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diarrhoea</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50" b="0" i="0">
                          <a:solidFill>
                            <a:srgbClr val="5F6770"/>
                          </a:solidFill>
                          <a:latin typeface="Arial"/>
                          <a:ea typeface="Microsoft JhengHei"/>
                        </a:rPr>
                        <a:t>Vet invoice</a:t>
                      </a:r>
                    </a:p>
                  </a:txBody>
                  <a:tcPr marL="91440" marR="91440" marT="45720" marB="45720" anchor="ctr">
                    <a:lnL w="0">
                      <a:noFill/>
                    </a:lnL>
                    <a:lnR w="0">
                      <a:noFill/>
                    </a:lnR>
                    <a:lnT w="0">
                      <a:noFill/>
                    </a:lnT>
                    <a:lnB w="9525" cmpd="sng">
                      <a:solidFill>
                        <a:srgbClr val="BFBFBF"/>
                      </a:solidFill>
                    </a:lnB>
                    <a:noFill/>
                  </a:tcPr>
                </a:tc>
              </a:tr>
              <a:tr h="393192">
                <a:tc>
                  <a:txBody>
                    <a:bodyPr wrap="square"/>
                    <a:lstStyle/>
                    <a:p>
                      <a:pPr algn="l"/>
                      <a:r>
                        <a:rPr sz="1200" b="1" i="0">
                          <a:solidFill>
                            <a:srgbClr val="D31145"/>
                          </a:solidFill>
                          <a:latin typeface="Arial"/>
                          <a:ea typeface="Microsoft JhengHei"/>
                        </a:rPr>
                        <a:t>Diagnosis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Colitis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50" b="0" i="0">
                          <a:solidFill>
                            <a:srgbClr val="5F6770"/>
                          </a:solidFill>
                          <a:latin typeface="Arial"/>
                          <a:ea typeface="Microsoft JhengHei"/>
                        </a:rPr>
                        <a:t>Vet invoice</a:t>
                      </a:r>
                    </a:p>
                  </a:txBody>
                  <a:tcPr marL="91440" marR="91440" marT="45720" marB="45720" anchor="ctr">
                    <a:lnL w="0">
                      <a:noFill/>
                    </a:lnL>
                    <a:lnR w="0">
                      <a:noFill/>
                    </a:lnR>
                    <a:lnT w="0">
                      <a:noFill/>
                    </a:lnT>
                    <a:lnB w="9525" cmpd="sng">
                      <a:solidFill>
                        <a:srgbClr val="BFBFBF"/>
                      </a:solidFill>
                    </a:lnB>
                    <a:noFill/>
                  </a:tcPr>
                </a:tc>
              </a:tr>
            </a:tbl>
          </a:graphicData>
        </a:graphic>
      </p:graphicFrame>
      <p:sp>
        <p:nvSpPr>
          <p:cNvPr id="14" name="Right Arrow 13"/>
          <p:cNvSpPr/>
          <p:nvPr/>
        </p:nvSpPr>
        <p:spPr>
          <a:xfrm>
            <a:off x="6400800" y="3063240"/>
            <a:ext cx="411480" cy="365760"/>
          </a:xfrm>
          <a:prstGeom prst="rightArrow">
            <a:avLst/>
          </a:prstGeom>
          <a:solidFill>
            <a:srgbClr val="8C939A"/>
          </a:solidFill>
          <a:ln>
            <a:noFill/>
          </a:ln>
        </p:spPr>
        <p:txBody>
          <a:bodyPr rtlCol="0" anchor="ctr"/>
          <a:lstStyle/>
          <a:p>
            <a:pPr algn="ctr"/>
          </a:p>
        </p:txBody>
      </p:sp>
      <p:sp>
        <p:nvSpPr>
          <p:cNvPr id="15" name="Rectangle 14"/>
          <p:cNvSpPr/>
          <p:nvPr/>
        </p:nvSpPr>
        <p:spPr>
          <a:xfrm>
            <a:off x="6949440" y="1783080"/>
            <a:ext cx="4882896" cy="3108960"/>
          </a:xfrm>
          <a:prstGeom prst="rect">
            <a:avLst/>
          </a:prstGeom>
          <a:solidFill>
            <a:srgbClr val="F2F2F2"/>
          </a:solidFill>
          <a:ln>
            <a:noFill/>
          </a:ln>
        </p:spPr>
        <p:txBody>
          <a:bodyPr rtlCol="0" anchor="t" wrap="square" lIns="182880" rIns="182880" tIns="109728" bIns="109728"/>
          <a:lstStyle/>
          <a:p>
            <a:pPr algn="l" marL="0" indent="0">
              <a:spcAft>
                <a:spcPts val="400"/>
              </a:spcAft>
              <a:buNone/>
            </a:pPr>
            <a:r>
              <a:rPr sz="1500" b="1" i="0">
                <a:solidFill>
                  <a:srgbClr val="333D47"/>
                </a:solidFill>
                <a:latin typeface="Arial"/>
                <a:ea typeface="Microsoft JhengHei"/>
              </a:rPr>
              <a:t>Which could enable</a:t>
            </a:r>
          </a:p>
          <a:p>
            <a:pPr marL="182880" indent="-182880" algn="l">
              <a:spcAft>
                <a:spcPts val="300"/>
              </a:spcAft>
              <a:buFont typeface="Arial"/>
              <a:buChar char="•"/>
            </a:pPr>
            <a:r>
              <a:rPr sz="1500" b="0" i="0">
                <a:solidFill>
                  <a:srgbClr val="333D47"/>
                </a:solidFill>
                <a:latin typeface="Arial"/>
                <a:ea typeface="Microsoft JhengHei"/>
              </a:rPr>
              <a:t>Claims analytics by diagnosis, treatment and medication</a:t>
            </a:r>
          </a:p>
          <a:p>
            <a:pPr marL="182880" indent="-182880" algn="l">
              <a:spcAft>
                <a:spcPts val="300"/>
              </a:spcAft>
              <a:buFont typeface="Arial"/>
              <a:buChar char="•"/>
            </a:pPr>
            <a:r>
              <a:rPr sz="1500" b="0" i="0">
                <a:solidFill>
                  <a:srgbClr val="333D47"/>
                </a:solidFill>
                <a:latin typeface="Arial"/>
                <a:ea typeface="Microsoft JhengHei"/>
              </a:rPr>
              <a:t>Cost benchmarks per treatment and provider</a:t>
            </a:r>
          </a:p>
          <a:p>
            <a:pPr marL="182880" indent="-182880" algn="l">
              <a:spcAft>
                <a:spcPts val="300"/>
              </a:spcAft>
              <a:buFont typeface="Arial"/>
              <a:buChar char="•"/>
            </a:pPr>
            <a:r>
              <a:rPr sz="1500" b="0" i="0">
                <a:solidFill>
                  <a:srgbClr val="333D47"/>
                </a:solidFill>
                <a:latin typeface="Arial"/>
                <a:ea typeface="Microsoft JhengHei"/>
              </a:rPr>
              <a:t>Medication and treatment patterns over time</a:t>
            </a:r>
          </a:p>
          <a:p>
            <a:pPr marL="182880" indent="-182880" algn="l">
              <a:spcAft>
                <a:spcPts val="300"/>
              </a:spcAft>
              <a:buFont typeface="Arial"/>
              <a:buChar char="•"/>
            </a:pPr>
            <a:r>
              <a:rPr sz="1500" b="0" i="0">
                <a:solidFill>
                  <a:srgbClr val="333D47"/>
                </a:solidFill>
                <a:latin typeface="Arial"/>
                <a:ea typeface="Microsoft JhengHei"/>
              </a:rPr>
              <a:t>Consistency checks: does the treatment fit the diagnosis and amount?</a:t>
            </a:r>
          </a:p>
          <a:p>
            <a:pPr marL="182880" indent="-182880" algn="l">
              <a:spcAft>
                <a:spcPts val="300"/>
              </a:spcAft>
              <a:buFont typeface="Arial"/>
              <a:buChar char="•"/>
            </a:pPr>
            <a:r>
              <a:rPr sz="1500" b="0" i="0">
                <a:solidFill>
                  <a:srgbClr val="333D47"/>
                </a:solidFill>
                <a:latin typeface="Arial"/>
                <a:ea typeface="Microsoft JhengHei"/>
              </a:rPr>
              <a:t>Faster triage and fewer manual look-ups for reviewers</a:t>
            </a:r>
          </a:p>
        </p:txBody>
      </p:sp>
      <p:sp>
        <p:nvSpPr>
          <p:cNvPr id="16" name="Rectangle 15"/>
          <p:cNvSpPr/>
          <p:nvPr/>
        </p:nvSpPr>
        <p:spPr>
          <a:xfrm>
            <a:off x="356616" y="5074920"/>
            <a:ext cx="11475720" cy="457200"/>
          </a:xfrm>
          <a:prstGeom prst="rect">
            <a:avLst/>
          </a:prstGeom>
          <a:solidFill>
            <a:srgbClr val="FFFFFF"/>
          </a:solidFill>
          <a:ln w="25400">
            <a:solidFill>
              <a:srgbClr val="D31145"/>
            </a:solidFill>
          </a:ln>
        </p:spPr>
        <p:txBody>
          <a:bodyPr rtlCol="0" anchor="ctr" wrap="square" lIns="182880" rIns="182880" tIns="109728" bIns="109728"/>
          <a:lstStyle/>
          <a:p>
            <a:pPr algn="l" marL="0" indent="0">
              <a:spcAft>
                <a:spcPts val="0"/>
              </a:spcAft>
              <a:buNone/>
            </a:pPr>
            <a:r>
              <a:rPr sz="1300" b="1" i="0">
                <a:solidFill>
                  <a:srgbClr val="D31145"/>
                </a:solidFill>
                <a:latin typeface="Arial"/>
                <a:ea typeface="Microsoft JhengHei"/>
              </a:rPr>
              <a:t>Potential, not yet benchmarked. </a:t>
            </a:r>
            <a:r>
              <a:rPr sz="1300" b="0" i="0">
                <a:solidFill>
                  <a:srgbClr val="333D47"/>
                </a:solidFill>
                <a:latin typeface="Arial"/>
                <a:ea typeface="Microsoft JhengHei"/>
              </a:rPr>
              <a:t>Text shown is OCR input, not AOAI output. A pilot needs ground truth and a privacy review.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Limits of This Evidence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The direction is clear, but the numbers are not yet proof.</a:t>
            </a:r>
          </a:p>
        </p:txBody>
      </p:sp>
      <p:sp>
        <p:nvSpPr>
          <p:cNvPr id="12" name="Rectangle 11"/>
          <p:cNvSpPr/>
          <p:nvPr/>
        </p:nvSpPr>
        <p:spPr>
          <a:xfrm>
            <a:off x="356616" y="1783080"/>
            <a:ext cx="3642360" cy="1645920"/>
          </a:xfrm>
          <a:prstGeom prst="rect">
            <a:avLst/>
          </a:prstGeom>
          <a:solidFill>
            <a:srgbClr val="F2F2F2"/>
          </a:solidFill>
          <a:ln>
            <a:noFill/>
          </a:ln>
        </p:spPr>
        <p:txBody>
          <a:bodyPr rtlCol="0" anchor="t" wrap="square" lIns="201168" rIns="201168" tIns="109728" bIns="109728"/>
          <a:lstStyle/>
          <a:p>
            <a:pPr algn="l" marL="0" indent="0">
              <a:spcAft>
                <a:spcPts val="200"/>
              </a:spcAft>
              <a:buNone/>
            </a:pPr>
            <a:r>
              <a:rPr sz="2600" b="1" i="0">
                <a:solidFill>
                  <a:srgbClr val="D31145"/>
                </a:solidFill>
                <a:latin typeface="Arial"/>
                <a:ea typeface="Microsoft JhengHei"/>
              </a:rPr>
              <a:t>1</a:t>
            </a:r>
          </a:p>
          <a:p>
            <a:pPr marL="0" indent="0" algn="l">
              <a:spcAft>
                <a:spcPts val="400"/>
              </a:spcAft>
              <a:buNone/>
            </a:pPr>
            <a:r>
              <a:rPr sz="1500" b="1" i="0">
                <a:solidFill>
                  <a:srgbClr val="333D47"/>
                </a:solidFill>
                <a:latin typeface="Arial"/>
                <a:ea typeface="Microsoft JhengHei"/>
              </a:rPr>
              <a:t>Small dataset</a:t>
            </a:r>
          </a:p>
          <a:p>
            <a:pPr marL="0" indent="0" algn="l">
              <a:spcAft>
                <a:spcPts val="0"/>
              </a:spcAft>
              <a:buNone/>
            </a:pPr>
            <a:r>
              <a:rPr sz="1300" b="0" i="0">
                <a:solidFill>
                  <a:srgbClr val="333D47"/>
                </a:solidFill>
                <a:latin typeface="Arial"/>
                <a:ea typeface="Microsoft JhengHei"/>
              </a:rPr>
              <a:t>9 receipts, 51 fields. 7 are printed test receipts.</a:t>
            </a:r>
          </a:p>
        </p:txBody>
      </p:sp>
      <p:sp>
        <p:nvSpPr>
          <p:cNvPr id="13" name="Rectangle 12"/>
          <p:cNvSpPr/>
          <p:nvPr/>
        </p:nvSpPr>
        <p:spPr>
          <a:xfrm>
            <a:off x="4273296" y="1783080"/>
            <a:ext cx="3642360" cy="1645920"/>
          </a:xfrm>
          <a:prstGeom prst="rect">
            <a:avLst/>
          </a:prstGeom>
          <a:solidFill>
            <a:srgbClr val="F2F2F2"/>
          </a:solidFill>
          <a:ln>
            <a:noFill/>
          </a:ln>
        </p:spPr>
        <p:txBody>
          <a:bodyPr rtlCol="0" anchor="t" wrap="square" lIns="201168" rIns="201168" tIns="109728" bIns="109728"/>
          <a:lstStyle/>
          <a:p>
            <a:pPr algn="l" marL="0" indent="0">
              <a:spcAft>
                <a:spcPts val="200"/>
              </a:spcAft>
              <a:buNone/>
            </a:pPr>
            <a:r>
              <a:rPr sz="2600" b="1" i="0">
                <a:solidFill>
                  <a:srgbClr val="D31145"/>
                </a:solidFill>
                <a:latin typeface="Arial"/>
                <a:ea typeface="Microsoft JhengHei"/>
              </a:rPr>
              <a:t>2</a:t>
            </a:r>
          </a:p>
          <a:p>
            <a:pPr marL="0" indent="0" algn="l">
              <a:spcAft>
                <a:spcPts val="400"/>
              </a:spcAft>
              <a:buNone/>
            </a:pPr>
            <a:r>
              <a:rPr sz="1500" b="1" i="0">
                <a:solidFill>
                  <a:srgbClr val="333D47"/>
                </a:solidFill>
                <a:latin typeface="Arial"/>
                <a:ea typeface="Microsoft JhengHei"/>
              </a:rPr>
              <a:t>Retrospective rules baseline</a:t>
            </a:r>
          </a:p>
          <a:p>
            <a:pPr marL="0" indent="0" algn="l">
              <a:spcAft>
                <a:spcPts val="0"/>
              </a:spcAft>
              <a:buNone/>
            </a:pPr>
            <a:r>
              <a:rPr sz="1300" b="0" i="0">
                <a:solidFill>
                  <a:srgbClr val="333D47"/>
                </a:solidFill>
                <a:latin typeface="Arial"/>
                <a:ea typeface="Microsoft JhengHei"/>
              </a:rPr>
              <a:t>Multilingual rules (51.0–70.6%) were written after these receipts were examined.</a:t>
            </a:r>
          </a:p>
        </p:txBody>
      </p:sp>
      <p:sp>
        <p:nvSpPr>
          <p:cNvPr id="14" name="Rectangle 13"/>
          <p:cNvSpPr/>
          <p:nvPr/>
        </p:nvSpPr>
        <p:spPr>
          <a:xfrm>
            <a:off x="8189976" y="1783080"/>
            <a:ext cx="3642360" cy="1645920"/>
          </a:xfrm>
          <a:prstGeom prst="rect">
            <a:avLst/>
          </a:prstGeom>
          <a:solidFill>
            <a:srgbClr val="F2F2F2"/>
          </a:solidFill>
          <a:ln>
            <a:noFill/>
          </a:ln>
        </p:spPr>
        <p:txBody>
          <a:bodyPr rtlCol="0" anchor="t" wrap="square" lIns="201168" rIns="201168" tIns="109728" bIns="109728"/>
          <a:lstStyle/>
          <a:p>
            <a:pPr algn="l" marL="0" indent="0">
              <a:spcAft>
                <a:spcPts val="200"/>
              </a:spcAft>
              <a:buNone/>
            </a:pPr>
            <a:r>
              <a:rPr sz="2600" b="1" i="0">
                <a:solidFill>
                  <a:srgbClr val="D31145"/>
                </a:solidFill>
                <a:latin typeface="Arial"/>
                <a:ea typeface="Microsoft JhengHei"/>
              </a:rPr>
              <a:t>3</a:t>
            </a:r>
          </a:p>
          <a:p>
            <a:pPr marL="0" indent="0" algn="l">
              <a:spcAft>
                <a:spcPts val="400"/>
              </a:spcAft>
              <a:buNone/>
            </a:pPr>
            <a:r>
              <a:rPr sz="1500" b="1" i="0">
                <a:solidFill>
                  <a:srgbClr val="333D47"/>
                </a:solidFill>
                <a:latin typeface="Arial"/>
                <a:ea typeface="Microsoft JhengHei"/>
              </a:rPr>
              <a:t>Tuned on the same receipts</a:t>
            </a:r>
          </a:p>
          <a:p>
            <a:pPr marL="0" indent="0" algn="l">
              <a:spcAft>
                <a:spcPts val="0"/>
              </a:spcAft>
              <a:buNone/>
            </a:pPr>
            <a:r>
              <a:rPr sz="1300" b="0" i="0">
                <a:solidFill>
                  <a:srgbClr val="333D47"/>
                </a:solidFill>
                <a:latin typeface="Arial"/>
                <a:ea typeface="Microsoft JhengHei"/>
              </a:rPr>
              <a:t>Prompt v2's 96.1% is a development result. Tuned rule scores are not shown.</a:t>
            </a:r>
          </a:p>
        </p:txBody>
      </p:sp>
      <p:sp>
        <p:nvSpPr>
          <p:cNvPr id="15" name="Rectangle 14"/>
          <p:cNvSpPr/>
          <p:nvPr/>
        </p:nvSpPr>
        <p:spPr>
          <a:xfrm>
            <a:off x="2314956" y="3611880"/>
            <a:ext cx="3642360" cy="1645920"/>
          </a:xfrm>
          <a:prstGeom prst="rect">
            <a:avLst/>
          </a:prstGeom>
          <a:solidFill>
            <a:srgbClr val="F2F2F2"/>
          </a:solidFill>
          <a:ln>
            <a:noFill/>
          </a:ln>
        </p:spPr>
        <p:txBody>
          <a:bodyPr rtlCol="0" anchor="t" wrap="square" lIns="201168" rIns="201168" tIns="109728" bIns="109728"/>
          <a:lstStyle/>
          <a:p>
            <a:pPr algn="l" marL="0" indent="0">
              <a:spcAft>
                <a:spcPts val="200"/>
              </a:spcAft>
              <a:buNone/>
            </a:pPr>
            <a:r>
              <a:rPr sz="2600" b="1" i="0">
                <a:solidFill>
                  <a:srgbClr val="D31145"/>
                </a:solidFill>
                <a:latin typeface="Arial"/>
                <a:ea typeface="Microsoft JhengHei"/>
              </a:rPr>
              <a:t>4</a:t>
            </a:r>
          </a:p>
          <a:p>
            <a:pPr marL="0" indent="0" algn="l">
              <a:spcAft>
                <a:spcPts val="400"/>
              </a:spcAft>
              <a:buNone/>
            </a:pPr>
            <a:r>
              <a:rPr sz="1500" b="1" i="0">
                <a:solidFill>
                  <a:srgbClr val="333D47"/>
                </a:solidFill>
                <a:latin typeface="Arial"/>
                <a:ea typeface="Microsoft JhengHei"/>
              </a:rPr>
              <a:t>Little independent validation</a:t>
            </a:r>
          </a:p>
          <a:p>
            <a:pPr marL="0" indent="0" algn="l">
              <a:spcAft>
                <a:spcPts val="0"/>
              </a:spcAft>
              <a:buNone/>
            </a:pPr>
            <a:r>
              <a:rPr sz="1300" b="0" i="0">
                <a:solidFill>
                  <a:srgbClr val="333D47"/>
                </a:solidFill>
                <a:latin typeface="Arial"/>
                <a:ea typeface="Microsoft JhengHei"/>
              </a:rPr>
              <a:t>Only 4 unseen handwritten receipts. On all 4, Azure DI misread the year 2026 as 2020.</a:t>
            </a:r>
          </a:p>
        </p:txBody>
      </p:sp>
      <p:sp>
        <p:nvSpPr>
          <p:cNvPr id="16" name="Rectangle 15"/>
          <p:cNvSpPr/>
          <p:nvPr/>
        </p:nvSpPr>
        <p:spPr>
          <a:xfrm>
            <a:off x="6231636" y="3611880"/>
            <a:ext cx="3642360" cy="1645920"/>
          </a:xfrm>
          <a:prstGeom prst="rect">
            <a:avLst/>
          </a:prstGeom>
          <a:solidFill>
            <a:srgbClr val="F2F2F2"/>
          </a:solidFill>
          <a:ln>
            <a:noFill/>
          </a:ln>
        </p:spPr>
        <p:txBody>
          <a:bodyPr rtlCol="0" anchor="t" wrap="square" lIns="201168" rIns="201168" tIns="109728" bIns="109728"/>
          <a:lstStyle/>
          <a:p>
            <a:pPr algn="l" marL="0" indent="0">
              <a:spcAft>
                <a:spcPts val="200"/>
              </a:spcAft>
              <a:buNone/>
            </a:pPr>
            <a:r>
              <a:rPr sz="2600" b="1" i="0">
                <a:solidFill>
                  <a:srgbClr val="D31145"/>
                </a:solidFill>
                <a:latin typeface="Arial"/>
                <a:ea typeface="Microsoft JhengHei"/>
              </a:rPr>
              <a:t>5</a:t>
            </a:r>
          </a:p>
          <a:p>
            <a:pPr marL="0" indent="0" algn="l">
              <a:spcAft>
                <a:spcPts val="400"/>
              </a:spcAft>
              <a:buNone/>
            </a:pPr>
            <a:r>
              <a:rPr sz="1500" b="1" i="0">
                <a:solidFill>
                  <a:srgbClr val="333D47"/>
                </a:solidFill>
                <a:latin typeface="Arial"/>
                <a:ea typeface="Microsoft JhengHei"/>
              </a:rPr>
              <a:t>Costs not confirmed</a:t>
            </a:r>
          </a:p>
          <a:p>
            <a:pPr marL="0" indent="0" algn="l">
              <a:spcAft>
                <a:spcPts val="0"/>
              </a:spcAft>
              <a:buNone/>
            </a:pPr>
            <a:r>
              <a:rPr sz="1300" b="0" i="0">
                <a:solidFill>
                  <a:srgbClr val="333D47"/>
                </a:solidFill>
                <a:latin typeface="Arial"/>
                <a:ea typeface="Microsoft JhengHei"/>
              </a:rPr>
              <a:t>Token counts are measured; Document Intelligence and gpt-5-mini prices are not.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Recommendation</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Use rules for simple, labelled checks. Use AOAI where receipts vary or richer data is needed.</a:t>
            </a:r>
          </a:p>
        </p:txBody>
      </p:sp>
      <p:sp>
        <p:nvSpPr>
          <p:cNvPr id="12" name="Rectangle 11"/>
          <p:cNvSpPr/>
          <p:nvPr/>
        </p:nvSpPr>
        <p:spPr>
          <a:xfrm>
            <a:off x="356616" y="1783080"/>
            <a:ext cx="5596128" cy="2103120"/>
          </a:xfrm>
          <a:prstGeom prst="rect">
            <a:avLst/>
          </a:prstGeom>
          <a:solidFill>
            <a:srgbClr val="E6F2EA"/>
          </a:solidFill>
          <a:ln>
            <a:noFill/>
          </a:ln>
        </p:spPr>
        <p:txBody>
          <a:bodyPr rtlCol="0" anchor="t" wrap="square" lIns="182880" rIns="182880" tIns="109728" bIns="109728"/>
          <a:lstStyle/>
          <a:p>
            <a:pPr algn="l" marL="0" indent="0">
              <a:spcAft>
                <a:spcPts val="400"/>
              </a:spcAft>
              <a:buNone/>
            </a:pPr>
            <a:r>
              <a:rPr sz="1500" b="1" i="0">
                <a:solidFill>
                  <a:srgbClr val="1E7B4A"/>
                </a:solidFill>
                <a:latin typeface="Arial"/>
                <a:ea typeface="Microsoft JhengHei"/>
              </a:rPr>
              <a:t>Simple OCR rules are sufficient when…</a:t>
            </a:r>
          </a:p>
          <a:p>
            <a:pPr marL="182880" indent="-182880" algn="l">
              <a:spcAft>
                <a:spcPts val="300"/>
              </a:spcAft>
              <a:buFont typeface="Arial"/>
              <a:buChar char="•"/>
            </a:pPr>
            <a:r>
              <a:rPr sz="1400" b="0" i="0">
                <a:solidFill>
                  <a:srgbClr val="333D47"/>
                </a:solidFill>
                <a:latin typeface="Arial"/>
                <a:ea typeface="Microsoft JhengHei"/>
              </a:rPr>
              <a:t>Layouts are few, known and stable</a:t>
            </a:r>
          </a:p>
          <a:p>
            <a:pPr marL="182880" indent="-182880" algn="l">
              <a:spcAft>
                <a:spcPts val="300"/>
              </a:spcAft>
              <a:buFont typeface="Arial"/>
              <a:buChar char="•"/>
            </a:pPr>
            <a:r>
              <a:rPr sz="1400" b="0" i="0">
                <a:solidFill>
                  <a:srgbClr val="333D47"/>
                </a:solidFill>
                <a:latin typeface="Arial"/>
                <a:ea typeface="Microsoft JhengHei"/>
              </a:rPr>
              <a:t>Fields have clear printed labels</a:t>
            </a:r>
          </a:p>
          <a:p>
            <a:pPr marL="182880" indent="-182880" algn="l">
              <a:spcAft>
                <a:spcPts val="300"/>
              </a:spcAft>
              <a:buFont typeface="Arial"/>
              <a:buChar char="•"/>
            </a:pPr>
            <a:r>
              <a:rPr sz="1400" b="0" i="0">
                <a:solidFill>
                  <a:srgbClr val="333D47"/>
                </a:solidFill>
                <a:latin typeface="Arial"/>
                <a:ea typeface="Microsoft JhengHei"/>
              </a:rPr>
              <a:t>The question is simple, e.g. is a diagnosis comment present?</a:t>
            </a:r>
          </a:p>
          <a:p>
            <a:pPr marL="182880" indent="-182880" algn="l">
              <a:spcAft>
                <a:spcPts val="300"/>
              </a:spcAft>
              <a:buFont typeface="Arial"/>
              <a:buChar char="•"/>
            </a:pPr>
            <a:r>
              <a:rPr sz="1400" b="0" i="0">
                <a:solidFill>
                  <a:srgbClr val="333D47"/>
                </a:solidFill>
                <a:latin typeface="Arial"/>
                <a:ea typeface="Microsoft JhengHei"/>
              </a:rPr>
              <a:t>No API fee and fully traceable output are required</a:t>
            </a:r>
          </a:p>
        </p:txBody>
      </p:sp>
      <p:sp>
        <p:nvSpPr>
          <p:cNvPr id="13" name="Rectangle 12"/>
          <p:cNvSpPr/>
          <p:nvPr/>
        </p:nvSpPr>
        <p:spPr>
          <a:xfrm>
            <a:off x="6236208" y="1783080"/>
            <a:ext cx="5596128" cy="2103120"/>
          </a:xfrm>
          <a:prstGeom prst="rect">
            <a:avLst/>
          </a:prstGeom>
          <a:solidFill>
            <a:srgbClr val="FFFFFF"/>
          </a:solidFill>
          <a:ln w="25400">
            <a:solidFill>
              <a:srgbClr val="D31145"/>
            </a:solidFill>
          </a:ln>
        </p:spPr>
        <p:txBody>
          <a:bodyPr rtlCol="0" anchor="t" wrap="square" lIns="182880" rIns="182880" tIns="109728" bIns="109728"/>
          <a:lstStyle/>
          <a:p>
            <a:pPr algn="l" marL="0" indent="0">
              <a:spcAft>
                <a:spcPts val="400"/>
              </a:spcAft>
              <a:buNone/>
            </a:pPr>
            <a:r>
              <a:rPr sz="1500" b="1" i="0">
                <a:solidFill>
                  <a:srgbClr val="D31145"/>
                </a:solidFill>
                <a:latin typeface="Arial"/>
                <a:ea typeface="Microsoft JhengHei"/>
              </a:rPr>
              <a:t>AOAI adds real value when…</a:t>
            </a:r>
          </a:p>
          <a:p>
            <a:pPr marL="182880" indent="-182880" algn="l">
              <a:spcAft>
                <a:spcPts val="300"/>
              </a:spcAft>
              <a:buFont typeface="Arial"/>
              <a:buChar char="•"/>
            </a:pPr>
            <a:r>
              <a:rPr sz="1400" b="0" i="0">
                <a:solidFill>
                  <a:srgbClr val="333D47"/>
                </a:solidFill>
                <a:latin typeface="Arial"/>
                <a:ea typeface="Microsoft JhengHei"/>
              </a:rPr>
              <a:t>Providers, layouts and languages vary (Chinese, bilingual)</a:t>
            </a:r>
          </a:p>
          <a:p>
            <a:pPr marL="182880" indent="-182880" algn="l">
              <a:spcAft>
                <a:spcPts val="300"/>
              </a:spcAft>
              <a:buFont typeface="Arial"/>
              <a:buChar char="•"/>
            </a:pPr>
            <a:r>
              <a:rPr sz="1400" b="0" i="0">
                <a:solidFill>
                  <a:srgbClr val="333D47"/>
                </a:solidFill>
                <a:latin typeface="Arial"/>
                <a:ea typeface="Microsoft JhengHei"/>
              </a:rPr>
              <a:t>Fields lack consistent labels: names with titles, totals vs subtotals</a:t>
            </a:r>
          </a:p>
          <a:p>
            <a:pPr marL="182880" indent="-182880" algn="l">
              <a:spcAft>
                <a:spcPts val="300"/>
              </a:spcAft>
              <a:buFont typeface="Arial"/>
              <a:buChar char="•"/>
            </a:pPr>
            <a:r>
              <a:rPr sz="1400" b="0" i="0">
                <a:solidFill>
                  <a:srgbClr val="333D47"/>
                </a:solidFill>
                <a:latin typeface="Arial"/>
                <a:ea typeface="Microsoft JhengHei"/>
              </a:rPr>
              <a:t>We want less scenario-specific code to maintain</a:t>
            </a:r>
          </a:p>
          <a:p>
            <a:pPr marL="182880" indent="-182880" algn="l">
              <a:spcAft>
                <a:spcPts val="300"/>
              </a:spcAft>
              <a:buFont typeface="Arial"/>
              <a:buChar char="•"/>
            </a:pPr>
            <a:r>
              <a:rPr sz="1400" b="0" i="0">
                <a:solidFill>
                  <a:srgbClr val="333D47"/>
                </a:solidFill>
                <a:latin typeface="Arial"/>
                <a:ea typeface="Microsoft JhengHei"/>
              </a:rPr>
              <a:t>Richer medical data is wanted (potential, not yet benchmarked)</a:t>
            </a:r>
          </a:p>
        </p:txBody>
      </p:sp>
      <p:sp>
        <p:nvSpPr>
          <p:cNvPr id="14" name="Rectangle 13"/>
          <p:cNvSpPr/>
          <p:nvPr/>
        </p:nvSpPr>
        <p:spPr>
          <a:xfrm>
            <a:off x="356616" y="4114800"/>
            <a:ext cx="2697480" cy="1051560"/>
          </a:xfrm>
          <a:prstGeom prst="rect">
            <a:avLst/>
          </a:prstGeom>
          <a:solidFill>
            <a:srgbClr val="F2F2F2"/>
          </a:solidFill>
          <a:ln>
            <a:noFill/>
          </a:ln>
        </p:spPr>
        <p:txBody>
          <a:bodyPr rtlCol="0" anchor="t" wrap="square" lIns="164592" rIns="164592" tIns="109728" bIns="109728"/>
          <a:lstStyle/>
          <a:p>
            <a:pPr algn="l" marL="0" indent="0">
              <a:spcAft>
                <a:spcPts val="300"/>
              </a:spcAft>
              <a:buNone/>
            </a:pPr>
            <a:r>
              <a:rPr sz="1500" b="1" i="0">
                <a:solidFill>
                  <a:srgbClr val="D31145"/>
                </a:solidFill>
                <a:latin typeface="Arial"/>
                <a:ea typeface="Microsoft JhengHei"/>
              </a:rPr>
              <a:t>1. Freeze</a:t>
            </a:r>
          </a:p>
          <a:p>
            <a:pPr marL="0" indent="0" algn="l">
              <a:spcAft>
                <a:spcPts val="0"/>
              </a:spcAft>
              <a:buNone/>
            </a:pPr>
            <a:r>
              <a:rPr sz="1250" b="0" i="0">
                <a:solidFill>
                  <a:srgbClr val="333D47"/>
                </a:solidFill>
                <a:latin typeface="Arial"/>
                <a:ea typeface="Microsoft JhengHei"/>
              </a:rPr>
              <a:t>the rules and AOAI prompt v2</a:t>
            </a:r>
          </a:p>
        </p:txBody>
      </p:sp>
      <p:sp>
        <p:nvSpPr>
          <p:cNvPr id="15" name="Rectangle 14"/>
          <p:cNvSpPr/>
          <p:nvPr/>
        </p:nvSpPr>
        <p:spPr>
          <a:xfrm>
            <a:off x="3282696" y="4114800"/>
            <a:ext cx="2697480" cy="1051560"/>
          </a:xfrm>
          <a:prstGeom prst="rect">
            <a:avLst/>
          </a:prstGeom>
          <a:solidFill>
            <a:srgbClr val="F2F2F2"/>
          </a:solidFill>
          <a:ln>
            <a:noFill/>
          </a:ln>
        </p:spPr>
        <p:txBody>
          <a:bodyPr rtlCol="0" anchor="t" wrap="square" lIns="164592" rIns="164592" tIns="109728" bIns="109728"/>
          <a:lstStyle/>
          <a:p>
            <a:pPr algn="l" marL="0" indent="0">
              <a:spcAft>
                <a:spcPts val="300"/>
              </a:spcAft>
              <a:buNone/>
            </a:pPr>
            <a:r>
              <a:rPr sz="1500" b="1" i="0">
                <a:solidFill>
                  <a:srgbClr val="D31145"/>
                </a:solidFill>
                <a:latin typeface="Arial"/>
                <a:ea typeface="Microsoft JhengHei"/>
              </a:rPr>
              <a:t>2. Validate</a:t>
            </a:r>
          </a:p>
          <a:p>
            <a:pPr marL="0" indent="0" algn="l">
              <a:spcAft>
                <a:spcPts val="0"/>
              </a:spcAft>
              <a:buNone/>
            </a:pPr>
            <a:r>
              <a:rPr sz="1250" b="0" i="0">
                <a:solidFill>
                  <a:srgbClr val="333D47"/>
                </a:solidFill>
                <a:latin typeface="Arial"/>
                <a:ea typeface="Microsoft JhengHei"/>
              </a:rPr>
              <a:t>30+ unseen, real, anonymised receipts; count rule changes</a:t>
            </a:r>
          </a:p>
        </p:txBody>
      </p:sp>
      <p:sp>
        <p:nvSpPr>
          <p:cNvPr id="16" name="Rectangle 15"/>
          <p:cNvSpPr/>
          <p:nvPr/>
        </p:nvSpPr>
        <p:spPr>
          <a:xfrm>
            <a:off x="6208776" y="4114800"/>
            <a:ext cx="2697480" cy="1051560"/>
          </a:xfrm>
          <a:prstGeom prst="rect">
            <a:avLst/>
          </a:prstGeom>
          <a:solidFill>
            <a:srgbClr val="F2F2F2"/>
          </a:solidFill>
          <a:ln>
            <a:noFill/>
          </a:ln>
        </p:spPr>
        <p:txBody>
          <a:bodyPr rtlCol="0" anchor="t" wrap="square" lIns="164592" rIns="164592" tIns="109728" bIns="109728"/>
          <a:lstStyle/>
          <a:p>
            <a:pPr algn="l" marL="0" indent="0">
              <a:spcAft>
                <a:spcPts val="300"/>
              </a:spcAft>
              <a:buNone/>
            </a:pPr>
            <a:r>
              <a:rPr sz="1500" b="1" i="0">
                <a:solidFill>
                  <a:srgbClr val="D31145"/>
                </a:solidFill>
                <a:latin typeface="Arial"/>
                <a:ea typeface="Microsoft JhengHei"/>
              </a:rPr>
              <a:t>3. Pilot extra fields</a:t>
            </a:r>
          </a:p>
          <a:p>
            <a:pPr marL="0" indent="0" algn="l">
              <a:spcAft>
                <a:spcPts val="0"/>
              </a:spcAft>
              <a:buNone/>
            </a:pPr>
            <a:r>
              <a:rPr sz="1250" b="0" i="0">
                <a:solidFill>
                  <a:srgbClr val="333D47"/>
                </a:solidFill>
                <a:latin typeface="Arial"/>
                <a:ea typeface="Microsoft JhengHei"/>
              </a:rPr>
              <a:t>medications, treatments, symptoms, diagnoses with ground truth</a:t>
            </a:r>
          </a:p>
        </p:txBody>
      </p:sp>
      <p:sp>
        <p:nvSpPr>
          <p:cNvPr id="17" name="Rectangle 16"/>
          <p:cNvSpPr/>
          <p:nvPr/>
        </p:nvSpPr>
        <p:spPr>
          <a:xfrm>
            <a:off x="9134856" y="4114800"/>
            <a:ext cx="2697480" cy="1051560"/>
          </a:xfrm>
          <a:prstGeom prst="rect">
            <a:avLst/>
          </a:prstGeom>
          <a:solidFill>
            <a:srgbClr val="F2F2F2"/>
          </a:solidFill>
          <a:ln>
            <a:noFill/>
          </a:ln>
        </p:spPr>
        <p:txBody>
          <a:bodyPr rtlCol="0" anchor="t" wrap="square" lIns="164592" rIns="164592" tIns="109728" bIns="109728"/>
          <a:lstStyle/>
          <a:p>
            <a:pPr algn="l" marL="0" indent="0">
              <a:spcAft>
                <a:spcPts val="300"/>
              </a:spcAft>
              <a:buNone/>
            </a:pPr>
            <a:r>
              <a:rPr sz="1500" b="1" i="0">
                <a:solidFill>
                  <a:srgbClr val="D31145"/>
                </a:solidFill>
                <a:latin typeface="Arial"/>
                <a:ea typeface="Microsoft JhengHei"/>
              </a:rPr>
              <a:t>4. Confirm cost</a:t>
            </a:r>
          </a:p>
          <a:p>
            <a:pPr marL="0" indent="0" algn="l">
              <a:spcAft>
                <a:spcPts val="0"/>
              </a:spcAft>
              <a:buNone/>
            </a:pPr>
            <a:r>
              <a:rPr sz="1250" b="0" i="0">
                <a:solidFill>
                  <a:srgbClr val="333D47"/>
                </a:solidFill>
                <a:latin typeface="Arial"/>
                <a:ea typeface="Microsoft JhengHei"/>
              </a:rPr>
              <a:t>Document Intelligence pages and gpt-5-mini tokens</a:t>
            </a:r>
          </a:p>
        </p:txBody>
      </p:sp>
    </p:spTree>
  </p:cSld>
  <p:clrMapOvr>
    <a:masterClrMapping/>
  </p:clrMapOvr>
</p:sld>
</file>

<file path=ppt/theme/theme1.xml><?xml version="1.0" encoding="utf-8"?>
<a:theme xmlns:a="http://schemas.openxmlformats.org/drawingml/2006/main" name="AIA_2020">
  <a:themeElements>
    <a:clrScheme name="AIA_2020">
      <a:dk1>
        <a:srgbClr val="303D48"/>
      </a:dk1>
      <a:lt1>
        <a:srgbClr val="FFFFFF"/>
      </a:lt1>
      <a:dk2>
        <a:srgbClr val="1F78AD"/>
      </a:dk2>
      <a:lt2>
        <a:srgbClr val="D3CAC3"/>
      </a:lt2>
      <a:accent1>
        <a:srgbClr val="D31145"/>
      </a:accent1>
      <a:accent2>
        <a:srgbClr val="BA0361"/>
      </a:accent2>
      <a:accent3>
        <a:srgbClr val="FF754D"/>
      </a:accent3>
      <a:accent4>
        <a:srgbClr val="F7C926"/>
      </a:accent4>
      <a:accent5>
        <a:srgbClr val="A199BA"/>
      </a:accent5>
      <a:accent6>
        <a:srgbClr val="4C4793"/>
      </a:accent6>
      <a:hlink>
        <a:srgbClr val="4C4793"/>
      </a:hlink>
      <a:folHlink>
        <a:srgbClr val="08456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dirty="0" err="1"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AIA_PPT_Template_2018_16x9_V3.1" id="{C24C495E-28EC-4C06-8757-BE4D80E4F71D}" vid="{3469129E-3778-43A8-9BE1-B54836CD94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1521</TotalTime>
  <Words>1</Words>
  <Application>Microsoft Office PowerPoint</Application>
  <PresentationFormat>Widescreen</PresentationFormat>
  <Paragraphs>1</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Arial</vt:lpstr>
      <vt:lpstr>Calibri</vt:lpstr>
      <vt:lpstr>AIA_2020</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Wang, Harry-CC</dc:creator>
  <cp:lastModifiedBy>Wang, Harry-CC</cp:lastModifiedBy>
  <cp:revision>4</cp:revision>
  <cp:lastPrinted>2020-05-18T12:18:52Z</cp:lastPrinted>
  <dcterms:created xsi:type="dcterms:W3CDTF">2026-09-21T01:03:41Z</dcterms:created>
  <dcterms:modified xsi:type="dcterms:W3CDTF">2026-09-23T02:34:05Z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1b32ef-ed69-48a4-80a7-c96eee60b7ed_Enabled">
    <vt:lpwstr>true</vt:lpwstr>
  </property>
  <property fmtid="{D5CDD505-2E9C-101B-9397-08002B2CF9AE}" pid="3" name="MSIP_Label_891b32ef-ed69-48a4-80a7-c96eee60b7ed_SetDate">
    <vt:lpwstr>2026-09-21T01:43:46Z</vt:lpwstr>
  </property>
  <property fmtid="{D5CDD505-2E9C-101B-9397-08002B2CF9AE}" pid="4" name="MSIP_Label_891b32ef-ed69-48a4-80a7-c96eee60b7ed_Method">
    <vt:lpwstr>Privileged</vt:lpwstr>
  </property>
  <property fmtid="{D5CDD505-2E9C-101B-9397-08002B2CF9AE}" pid="5" name="MSIP_Label_891b32ef-ed69-48a4-80a7-c96eee60b7ed_Name">
    <vt:lpwstr>891b32ef-ed69-48a4-80a7-c96eee60b7ed</vt:lpwstr>
  </property>
  <property fmtid="{D5CDD505-2E9C-101B-9397-08002B2CF9AE}" pid="6" name="MSIP_Label_891b32ef-ed69-48a4-80a7-c96eee60b7ed_SiteId">
    <vt:lpwstr>7f2c1900-9fd4-4b89-91d3-79a649996f0a</vt:lpwstr>
  </property>
  <property fmtid="{D5CDD505-2E9C-101B-9397-08002B2CF9AE}" pid="7" name="MSIP_Label_891b32ef-ed69-48a4-80a7-c96eee60b7ed_ActionId">
    <vt:lpwstr>90345cdd-399e-49a9-970c-b0d82dbcf4a1</vt:lpwstr>
  </property>
  <property fmtid="{D5CDD505-2E9C-101B-9397-08002B2CF9AE}" pid="8" name="MSIP_Label_891b32ef-ed69-48a4-80a7-c96eee60b7ed_ContentBits">
    <vt:lpwstr>2</vt:lpwstr>
  </property>
  <property fmtid="{D5CDD505-2E9C-101B-9397-08002B2CF9AE}" pid="9" name="MSIP_Label_891b32ef-ed69-48a4-80a7-c96eee60b7ed_Tag">
    <vt:lpwstr>10, 0, 1, 1</vt:lpwstr>
  </property>
  <property fmtid="{D5CDD505-2E9C-101B-9397-08002B2CF9AE}" pid="10" name="ClassificationContentMarkingFooterLocations">
    <vt:lpwstr>AIA_2020:2</vt:lpwstr>
  </property>
  <property fmtid="{D5CDD505-2E9C-101B-9397-08002B2CF9AE}" pid="11" name="ClassificationContentMarkingFooterText">
    <vt:lpwstr>[AIA – PUBLIC]</vt:lpwstr>
  </property>
</Properties>
</file>