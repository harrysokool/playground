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handoutMasters/handoutMaster1.xml" ContentType="application/vnd.openxmlformats-officedocument.presentationml.handoutMaster+xml"/>
  <Override PartName="/ppt/media/image1.svg" ContentType="image/svg+xml"/>
  <Override PartName="/ppt/media/image2.svg" ContentType="image/svg+xml"/>
  <Override PartName="/ppt/media/image3.svg" ContentType="image/svg+xml"/>
  <Override PartName="/ppt/media/image4.svg" ContentType="image/svg+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handoutMasterIdLst>
    <p:handoutMasterId r:id="rId6"/>
  </p:handoutMasterIdLst>
  <p:sldIdLst>
    <p:sldId id="256" r:id="rId4"/>
    <p:sldId id="257" r:id="rId3"/>
    <p:sldId id="258" r:id="rId2"/>
    <p:sldId id="259" r:id="rId11"/>
    <p:sldId id="260" r:id="rId12"/>
    <p:sldId id="261" r:id="rId13"/>
    <p:sldId id="262" r:id="rId14"/>
    <p:sldId id="263" r:id="rId15"/>
    <p:sldId id="264" r:id="rId16"/>
    <p:sldId id="265" r:id="rId17"/>
    <p:sldId id="266" r:id="rId18"/>
    <p:sldId id="267"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A5915C"/>
    <a:srgbClr val="68655A"/>
    <a:srgbClr val="FF7A85"/>
    <a:srgbClr val="4C4794"/>
    <a:srgbClr val="333D47"/>
    <a:srgbClr val="F1C400"/>
    <a:srgbClr val="D31145"/>
    <a:srgbClr val="42005B"/>
    <a:srgbClr val="42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87"/>
  </p:normalViewPr>
  <p:slideViewPr>
    <p:cSldViewPr snapToGrid="0" showGuides="1">
      <p:cViewPr varScale="1">
        <p:scale>
          <a:sx n="120" d="100"/>
          <a:sy n="120" d="100"/>
        </p:scale>
        <p:origin x="144" y="198"/>
      </p:cViewPr>
      <p:guideLst>
        <p:guide orient="horz" pos="2160"/>
        <p:guide pos="30"/>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96" d="100"/>
          <a:sy n="96" d="100"/>
        </p:scale>
        <p:origin x="3642"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xml"/><Relationship Id="rId3" Type="http://schemas.openxmlformats.org/officeDocument/2006/relationships/slide" Target="slides/slide2.xml"/><Relationship Id="rId4" Type="http://schemas.openxmlformats.org/officeDocument/2006/relationships/slide" Target="slides/slide1.xml"/><Relationship Id="rId5" Type="http://schemas.openxmlformats.org/officeDocument/2006/relationships/notesMaster" Target="notesMasters/notesMaster1.xml"/><Relationship Id="rId6" Type="http://schemas.openxmlformats.org/officeDocument/2006/relationships/handoutMaster" Target="handoutMasters/handout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Accuracy</c:v>
                </c:pt>
              </c:strCache>
            </c:strRef>
          </c:tx>
          <c:spPr>
            <a:solidFill>
              <a:srgbClr val="8C939A"/>
            </a:solidFill>
          </c:spPr>
          <c:dPt>
            <c:idx val="0"/>
            <c:spPr>
              <a:solidFill>
                <a:srgbClr val="8C939A"/>
              </a:solidFill>
            </c:spPr>
          </c:dPt>
          <c:dPt>
            <c:idx val="1"/>
            <c:spPr>
              <a:solidFill>
                <a:srgbClr val="8C939A"/>
              </a:solidFill>
            </c:spPr>
          </c:dPt>
          <c:dPt>
            <c:idx val="2"/>
            <c:spPr>
              <a:solidFill>
                <a:srgbClr val="D31145"/>
              </a:solidFill>
            </c:spPr>
          </c:dPt>
          <c:cat>
            <c:strRef>
              <c:f>Sheet1!$A$2:$A$4</c:f>
              <c:strCache>
                <c:ptCount val="3"/>
                <c:pt idx="0">
                  <c:v>PaddleOCR Light + rules
19/51</c:v>
                </c:pt>
                <c:pt idx="1">
                  <c:v>Azure DI + rules
21/51</c:v>
                </c:pt>
                <c:pt idx="2">
                  <c:v>Azure DI + AOAI
45/51</c:v>
                </c:pt>
              </c:strCache>
            </c:strRef>
          </c:cat>
          <c:val>
            <c:numRef>
              <c:f>Sheet1!$B$2:$B$4</c:f>
              <c:numCache>
                <c:formatCode>General</c:formatCode>
                <c:ptCount val="3"/>
                <c:pt idx="0">
                  <c:v>37.3</c:v>
                </c:pt>
                <c:pt idx="1">
                  <c:v>41.2</c:v>
                </c:pt>
                <c:pt idx="2">
                  <c:v>88.2</c:v>
                </c:pt>
              </c:numCache>
            </c:numRef>
          </c:val>
        </c:ser>
        <c:dLbls>
          <c:numFmt formatCode="0.0&quot;%&quot;" sourceLinked="0"/>
          <c:txPr>
            <a:bodyPr/>
            <a:lstStyle/>
            <a:p>
              <a:pPr>
                <a:defRPr sz="1500" b="1"/>
              </a:pPr>
            </a:p>
          </c:txPr>
          <c:dLblPos val="outEnd"/>
          <c:showLegendKey val="0"/>
          <c:showVal val="1"/>
          <c:showCatName val="0"/>
          <c:showSerName val="0"/>
          <c:showPercent val="0"/>
          <c:showBubbleSize val="0"/>
          <c:showLeaderLines val="1"/>
        </c:dLbls>
        <c:gapWidth val="55"/>
        <c:overlap val="-8"/>
        <c:axId val="-2068027336"/>
        <c:axId val="-2113994440"/>
      </c:barChart>
      <c:catAx>
        <c:axId val="-2068027336"/>
        <c:scaling>
          <c:orientation val="minMax"/>
        </c:scaling>
        <c:delete val="0"/>
        <c:axPos val="b"/>
        <c:majorTickMark val="out"/>
        <c:minorTickMark val="none"/>
        <c:tickLblPos val="nextTo"/>
        <c:spPr>
          <a:ln>
            <a:solidFill>
              <a:srgbClr val="C9CDD1"/>
            </a:solidFill>
          </a:ln>
        </c:spPr>
        <c:txPr>
          <a:bodyPr/>
          <a:lstStyle/>
          <a:p>
            <a:pPr>
              <a:defRPr sz="1200"/>
            </a:pPr>
          </a:p>
        </c:txPr>
        <c:crossAx val="-2113994440"/>
        <c:crosses val="autoZero"/>
        <c:auto val="1"/>
        <c:lblAlgn val="ctr"/>
        <c:lblOffset val="100"/>
        <c:noMultiLvlLbl val="0"/>
      </c:catAx>
      <c:valAx>
        <c:axId val="-2113994440"/>
        <c:scaling>
          <c:max val="100.0"/>
          <c:min val="0.0"/>
        </c:scaling>
        <c:delete/>
        <c:axPos val="l"/>
        <c:majorTickMark val="out"/>
        <c:minorTickMark val="none"/>
        <c:tickLblPos val="nextTo"/>
        <c:crossAx val="-2068027336"/>
        <c:crosses val="autoZero"/>
      </c:valAx>
    </c:plotArea>
    <c:dispBlanksAs val="gap"/>
  </c:chart>
  <c:txPr>
    <a:bodyPr/>
    <a:lstStyle/>
    <a:p>
      <a:pPr>
        <a:defRPr sz="1200">
          <a:solidFill>
            <a:srgbClr val="333D47"/>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Before tuning</c:v>
                </c:pt>
              </c:strCache>
            </c:strRef>
          </c:tx>
          <c:spPr>
            <a:solidFill>
              <a:srgbClr val="C9CDD1"/>
            </a:solidFill>
          </c:spPr>
          <c:dPt>
            <c:idx val="0"/>
            <c:spPr>
              <a:solidFill>
                <a:srgbClr val="C9CDD1"/>
              </a:solidFill>
            </c:spPr>
          </c:dPt>
          <c:dPt>
            <c:idx val="1"/>
            <c:spPr>
              <a:solidFill>
                <a:srgbClr val="C9CDD1"/>
              </a:solidFill>
            </c:spPr>
          </c:dPt>
          <c:dPt>
            <c:idx val="2"/>
            <c:spPr>
              <a:solidFill>
                <a:srgbClr val="C9CDD1"/>
              </a:solidFill>
            </c:spPr>
          </c:dPt>
          <c:cat>
            <c:strRef>
              <c:f>Sheet1!$A$2:$A$4</c:f>
              <c:strCache>
                <c:ptCount val="3"/>
                <c:pt idx="0">
                  <c:v>PaddleOCR Light + rules</c:v>
                </c:pt>
                <c:pt idx="1">
                  <c:v>Azure DI + rules</c:v>
                </c:pt>
                <c:pt idx="2">
                  <c:v>Azure DI + AOAI</c:v>
                </c:pt>
              </c:strCache>
            </c:strRef>
          </c:cat>
          <c:val>
            <c:numRef>
              <c:f>Sheet1!$B$2:$B$4</c:f>
              <c:numCache>
                <c:formatCode>General</c:formatCode>
                <c:ptCount val="3"/>
                <c:pt idx="0">
                  <c:v>37.3</c:v>
                </c:pt>
                <c:pt idx="1">
                  <c:v>41.2</c:v>
                </c:pt>
                <c:pt idx="2">
                  <c:v>88.2</c:v>
                </c:pt>
              </c:numCache>
            </c:numRef>
          </c:val>
        </c:ser>
        <c:ser>
          <c:idx val="1"/>
          <c:order val="1"/>
          <c:tx>
            <c:strRef>
              <c:f>Sheet1!$C$1</c:f>
              <c:strCache>
                <c:ptCount val="1"/>
                <c:pt idx="0">
                  <c:v>After tuning (development)</c:v>
                </c:pt>
              </c:strCache>
            </c:strRef>
          </c:tx>
          <c:spPr>
            <a:solidFill>
              <a:srgbClr val="333D47"/>
            </a:solidFill>
          </c:spPr>
          <c:dPt>
            <c:idx val="0"/>
            <c:spPr>
              <a:solidFill>
                <a:srgbClr val="333D47"/>
              </a:solidFill>
            </c:spPr>
          </c:dPt>
          <c:dPt>
            <c:idx val="1"/>
            <c:spPr>
              <a:solidFill>
                <a:srgbClr val="333D47"/>
              </a:solidFill>
            </c:spPr>
          </c:dPt>
          <c:dPt>
            <c:idx val="2"/>
            <c:spPr>
              <a:solidFill>
                <a:srgbClr val="D31145"/>
              </a:solidFill>
            </c:spPr>
          </c:dPt>
          <c:cat>
            <c:strRef>
              <c:f>Sheet1!$A$2:$A$4</c:f>
              <c:strCache>
                <c:ptCount val="3"/>
                <c:pt idx="0">
                  <c:v>PaddleOCR Light + rules</c:v>
                </c:pt>
                <c:pt idx="1">
                  <c:v>Azure DI + rules</c:v>
                </c:pt>
                <c:pt idx="2">
                  <c:v>Azure DI + AOAI</c:v>
                </c:pt>
              </c:strCache>
            </c:strRef>
          </c:cat>
          <c:val>
            <c:numRef>
              <c:f>Sheet1!$C$2:$C$4</c:f>
              <c:numCache>
                <c:formatCode>General</c:formatCode>
                <c:ptCount val="3"/>
                <c:pt idx="0">
                  <c:v>88.2</c:v>
                </c:pt>
                <c:pt idx="1">
                  <c:v>86.3</c:v>
                </c:pt>
                <c:pt idx="2">
                  <c:v>96.1</c:v>
                </c:pt>
              </c:numCache>
            </c:numRef>
          </c:val>
        </c:ser>
        <c:dLbls>
          <c:numFmt formatCode="0.0&quot;%&quot;" sourceLinked="0"/>
          <c:txPr>
            <a:bodyPr/>
            <a:lstStyle/>
            <a:p>
              <a:pPr>
                <a:defRPr sz="1500" b="1"/>
              </a:pPr>
            </a:p>
          </c:txPr>
          <c:dLblPos val="outEnd"/>
          <c:showLegendKey val="0"/>
          <c:showVal val="1"/>
          <c:showCatName val="0"/>
          <c:showSerName val="0"/>
          <c:showPercent val="0"/>
          <c:showBubbleSize val="0"/>
          <c:showLeaderLines val="1"/>
        </c:dLbls>
        <c:gapWidth val="55"/>
        <c:overlap val="-8"/>
        <c:axId val="-2068027336"/>
        <c:axId val="-2113994440"/>
      </c:barChart>
      <c:catAx>
        <c:axId val="-2068027336"/>
        <c:scaling>
          <c:orientation val="minMax"/>
        </c:scaling>
        <c:delete val="0"/>
        <c:axPos val="b"/>
        <c:majorTickMark val="out"/>
        <c:minorTickMark val="none"/>
        <c:tickLblPos val="nextTo"/>
        <c:spPr>
          <a:ln>
            <a:solidFill>
              <a:srgbClr val="C9CDD1"/>
            </a:solidFill>
          </a:ln>
        </c:spPr>
        <c:txPr>
          <a:bodyPr/>
          <a:lstStyle/>
          <a:p>
            <a:pPr>
              <a:defRPr sz="1200"/>
            </a:pPr>
          </a:p>
        </c:txPr>
        <c:crossAx val="-2113994440"/>
        <c:crosses val="autoZero"/>
        <c:auto val="1"/>
        <c:lblAlgn val="ctr"/>
        <c:lblOffset val="100"/>
        <c:noMultiLvlLbl val="0"/>
      </c:catAx>
      <c:valAx>
        <c:axId val="-2113994440"/>
        <c:scaling>
          <c:max val="100.0"/>
          <c:min val="0.0"/>
        </c:scaling>
        <c:delete/>
        <c:axPos val="l"/>
        <c:majorTickMark val="out"/>
        <c:minorTickMark val="none"/>
        <c:tickLblPos val="nextTo"/>
        <c:crossAx val="-2068027336"/>
        <c:crosses val="autoZero"/>
      </c:valAx>
    </c:plotArea>
    <c:legend>
      <c:legendPos val="t"/>
      <c:overlay val="0"/>
      <c:txPr>
        <a:bodyPr/>
        <a:lstStyle/>
        <a:p>
          <a:pPr>
            <a:defRPr sz="1200"/>
          </a:pPr>
        </a:p>
      </c:txPr>
    </c:legend>
    <c:dispBlanksAs val="gap"/>
  </c:chart>
  <c:txPr>
    <a:bodyPr/>
    <a:lstStyle/>
    <a:p>
      <a:pPr>
        <a:defRPr sz="1200">
          <a:solidFill>
            <a:srgbClr val="333D47"/>
          </a:solidFill>
          <a:latin typeface="Arial"/>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3218ECE-A34A-49B3-9686-CAB705FE9FAE}" type="datetimeFigureOut">
              <a:rPr lang="en-GB" smtClean="0"/>
              <a:t>23/09/2026</a:t>
            </a:fld>
            <a:endParaRPr lang="en-GB"/>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FCF2FCE-B231-44AD-BE06-D54B55D77B09}" type="slidenum">
              <a:rPr lang="en-GB" smtClean="0"/>
              <a:t>‹#›</a:t>
            </a:fld>
            <a:endParaRPr lang="en-GB"/>
          </a:p>
        </p:txBody>
      </p:sp>
    </p:spTree>
    <p:extLst>
      <p:ext uri="{BB962C8B-B14F-4D97-AF65-F5344CB8AC3E}">
        <p14:creationId xmlns:p14="http://schemas.microsoft.com/office/powerpoint/2010/main" val="1359141429"/>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FECA36D-3A4E-49AB-8998-33E386CC9347}" type="datetimeFigureOut">
              <a:rPr lang="en-US" smtClean="0"/>
              <a:t>9/23/2026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A808D9-4A71-422D-8C20-E440E917BF93}" type="slidenum">
              <a:rPr lang="en-US" smtClean="0"/>
              <a:t>‹#›</a:t>
            </a:fld>
            <a:endParaRPr lang="en-US"/>
          </a:p>
        </p:txBody>
      </p:sp>
    </p:spTree>
    <p:extLst>
      <p:ext uri="{BB962C8B-B14F-4D97-AF65-F5344CB8AC3E}">
        <p14:creationId xmlns:p14="http://schemas.microsoft.com/office/powerpoint/2010/main" val="3912780854"/>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can traditional OCR with hand-written extraction rules replace Azure OpenAI (AOAI) for medical receipts, and if not, why is AOAI needed? Every number in this deck comes from the saved benchmark results.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tuning: rules 37.3–41.2%, AOAI 88.2%. After tuning on the same 9 receipts (development results): rules 86.3–88.2%, AOAI prompt v2 96.1%; the rules needed 69 -&gt; 225 label phrases written by hand, AOAI one prompt revision. Diagnosis-comment check: all three methods 13/13. None of this is validated on unseen receipts.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receipts: 7 printed, fictional test receipts photographed with a phone (English, bilingual and Traditional Chinese layouts) and 2 receipts from the first benchmark round. Six fields: doctor, registration number, patient, receipt number, service date, total; 51 fields are printed on the receipts and scored. Azure OpenAI deployment: gpt-5-mini.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Accuracy = correct fields / 51 on the 9 receipts, before anything was changed for them. The AOAI prompt was written before these receipts existed. The original rules knew English labels only; on the Chinese and bilingual receipts the OCR read the values but the rules could not find them, e.g. receipt 8: the OCR read the patient name 蔡嘉穎 but the rules returned the label 病人 ('patient'). So this compares initial implementations, not the maximum capability of each approach.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Development results: every change was made after reviewing the errors on these 9 receipts, so the scores are not independent validation. Rules: label phrases 69 -&gt; 225 (Chinese and bilingual labels, distractor labels, layout handling); fixed 27 fields and broke 1 on PaddleOCR Light text, fixed 24 and broke 1 on Azure DI text. AOAI: prompt v2 with clearer field definitions; fixed 4, broke 0. A small held-out check on Version 1 receipts (4-6 receipts, mostly handwritten) is too small to say whether either approach generalises better, so it is not shown on the slides.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Development results after tuning on these 9 receipts. Counts from scores_aoai_improved/detail.csv, checked against summary.csv. Registration number is printed on 6 of the 9 receipts; every other field on all of them. All three miss the vet invoice's doctor (two practitioners; the OCR misread the signature) and the pharmacy receipt's service date (print date vs item date, an open ground-truth question). The rules also miss patient and receipt number on the vet invoice and the pharmacy receipt (a stray mark on the label, a payment receipt number, no labels); Azure DI + rules also misses one total.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prompt 88.2% (45/51); prompt v2 96.1% (49/51), a development result because prompt v2 was written after reviewing these errors. The four fixes are in the model's own reply, before any Python check, in all three prompt v2 runs. The Python checks changed 0 values; plain-text OCR input (49/51) scores the same as the row layout (49/51) and as attaching the photo (49/51). Still wrong: the vet invoice doctor (two practitioners; OCR misread the signature) and the pharmacy service date (open ground-truth question). Prompt text: receipt_bench/di_aoai.py, commit 034d7d5.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Accuracy: before tuning rules 37.3–41.2%, AOAI 88.2%; after tuning (development results) rules 86.3–88.2%, AOAI 96.1%. Speed = average per receipt: PaddleOCR Light 13.9 s on Azure ML CPU compute, Azure DI 3.8 s, Azure DI + AOAI 6.2 s (API time incl. network). Tokens = average per receipt with the original prompt (602 input, 263 output); Document Intelligence and gpt-5-mini prices are not yet confirmed. Effort and side effects measured on the development set. New layouts and control are expectations, not measurements.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does the receipt contain a written comment about the patient's condition, symptoms or diagnosis? Ground truth for 13 receipts: 3 with a comment, 2 with an empty label. Results (results/diagnosis/scores): rules_paddle_light 13/13, rules_azure_di 13/13, aoai_v2 13/13. Development result: the rules and the prompt addition were written after reading these receipts. AOAI quoted 'broken ribs.' (a condition written as a line item) on one receipt; the rules reached the same answer from a 'Notes' comment. Adding the check raised AOAI input tokens by about 26% and changed none of the six fields. Details: python/receipt_ocr_benchmark/docs/DIAGNOSIS_COMMENT.md.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Potential only: we have not built or measured extraction of these fields. The examples are text that Azure DI already read from our benchmark receipts (checked in the saved OCR output): Diagnoses and symptoms: Colitis, diarrhoea; Treatments and tests: Chest X-ray, Blood test (CBC), 針灸, Scaling and polishing; Medications: Omeprazole 20mg Capsules, Metronidazole 50mg Tablet. 針灸 = acupuncture. Possible uses depend on a pilot with ground truth, accuracy targets, privacy review and cost checks.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receipts and 51 fields; 7 are printed, fictional test receipts. The original rules had no Chinese labels, so the initial gap overstates what rules can do. Rules and prompt v2 were tuned on the same receipts, so their later scores are development results. Unseen test: 4 handwritten Version 1 receipts not used for tuning (6 receipts in all); on all 4, Azure DI read the handwritten year 2026 as 2020 (checked in results/v1_heldout), an OCR error that no extraction step can fix. Prices are not confirmed.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Rules are sufficient where the task is simple and labelled and the layouts are known and stable (shown on the diagnosis-comment check and, after tuning, on the six fields of these receipts). AOAI adds value where layouts and languages vary, where fields have no consistent labels, and for richer medical information (potential, not yet tested). Next steps: freeze the improved rules and prompt v2; test on 30+ unseen, real, anonymised receipts and count the rule changes needed; pilot the extra medical fields with ground truth; confirm prices.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 Id="rId3" Type="http://schemas.openxmlformats.org/officeDocument/2006/relationships/image" Target="../media/image5.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IA_TitleSlidePlai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63DE312-0E56-1747-B671-3F457AA8D765}"/>
              </a:ext>
            </a:extLst>
          </p:cNvPr>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a:extLst>
              <a:ext uri="{FF2B5EF4-FFF2-40B4-BE49-F238E27FC236}">
                <a16:creationId xmlns:a16="http://schemas.microsoft.com/office/drawing/2014/main" id="{7E52CBAF-C878-FD45-8AF4-3C799CB4F535}"/>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26370" b="31414"/>
          <a:stretch/>
        </p:blipFill>
        <p:spPr>
          <a:xfrm>
            <a:off x="6580800" y="0"/>
            <a:ext cx="5611200" cy="6858000"/>
          </a:xfrm>
          <a:prstGeom prst="rect">
            <a:avLst/>
          </a:prstGeom>
        </p:spPr>
      </p:pic>
      <p:sp>
        <p:nvSpPr>
          <p:cNvPr id="12" name="Subtitle 2">
            <a:extLst>
              <a:ext uri="{FF2B5EF4-FFF2-40B4-BE49-F238E27FC236}">
                <a16:creationId xmlns:a16="http://schemas.microsoft.com/office/drawing/2014/main" id="{5FAC4E2A-F096-5540-918E-6F520E475C7C}"/>
              </a:ext>
            </a:extLst>
          </p:cNvPr>
          <p:cNvSpPr>
            <a:spLocks noGrp="1"/>
          </p:cNvSpPr>
          <p:nvPr>
            <p:ph type="subTitle" idx="1" hasCustomPrompt="1"/>
          </p:nvPr>
        </p:nvSpPr>
        <p:spPr>
          <a:xfrm>
            <a:off x="360000" y="3601225"/>
            <a:ext cx="5080000" cy="358775"/>
          </a:xfrm>
          <a:prstGeom prst="rect">
            <a:avLst/>
          </a:prstGeom>
        </p:spPr>
        <p:txBody>
          <a:bodyPr>
            <a:noAutofit/>
          </a:bodyPr>
          <a:lstStyle>
            <a:lvl1pPr marL="0" indent="0" algn="l">
              <a:lnSpc>
                <a:spcPct val="100000"/>
              </a:lnSpc>
              <a:spcBef>
                <a:spcPts val="600"/>
              </a:spcBef>
              <a:buNone/>
              <a:defRPr sz="14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add date</a:t>
            </a:r>
          </a:p>
        </p:txBody>
      </p:sp>
      <p:sp>
        <p:nvSpPr>
          <p:cNvPr id="13" name="Text Placeholder 11">
            <a:extLst>
              <a:ext uri="{FF2B5EF4-FFF2-40B4-BE49-F238E27FC236}">
                <a16:creationId xmlns:a16="http://schemas.microsoft.com/office/drawing/2014/main" id="{0DD8F76D-7AD6-444B-9E55-80A650B42CD1}"/>
              </a:ext>
            </a:extLst>
          </p:cNvPr>
          <p:cNvSpPr>
            <a:spLocks noGrp="1"/>
          </p:cNvSpPr>
          <p:nvPr>
            <p:ph type="body" sz="quarter" idx="10" hasCustomPrompt="1"/>
          </p:nvPr>
        </p:nvSpPr>
        <p:spPr>
          <a:xfrm>
            <a:off x="360000" y="2160000"/>
            <a:ext cx="5400000" cy="1269000"/>
          </a:xfrm>
          <a:prstGeom prst="rect">
            <a:avLst/>
          </a:prstGeom>
          <a:noFill/>
        </p:spPr>
        <p:txBody>
          <a:bodyPr>
            <a:noAutofit/>
          </a:bodyPr>
          <a:lstStyle>
            <a:lvl1pPr>
              <a:lnSpc>
                <a:spcPct val="80000"/>
              </a:lnSpc>
              <a:defRPr sz="4800">
                <a:solidFill>
                  <a:schemeClr val="bg1"/>
                </a:solidFill>
              </a:defRPr>
            </a:lvl1pPr>
            <a:lvl2pPr marL="457200" indent="0">
              <a:buNone/>
              <a:defRPr/>
            </a:lvl2pPr>
          </a:lstStyle>
          <a:p>
            <a:pPr lvl="0"/>
            <a:r>
              <a:rPr lang="en-US" dirty="0"/>
              <a:t>Title of Presentation</a:t>
            </a:r>
          </a:p>
        </p:txBody>
      </p:sp>
      <p:sp>
        <p:nvSpPr>
          <p:cNvPr id="8" name="TextBox 7">
            <a:extLst>
              <a:ext uri="{FF2B5EF4-FFF2-40B4-BE49-F238E27FC236}">
                <a16:creationId xmlns:a16="http://schemas.microsoft.com/office/drawing/2014/main" id="{C005E6EB-133C-4C47-A11D-54E804FE9C2F}"/>
              </a:ext>
            </a:extLst>
          </p:cNvPr>
          <p:cNvSpPr txBox="1"/>
          <p:nvPr userDrawn="1"/>
        </p:nvSpPr>
        <p:spPr>
          <a:xfrm>
            <a:off x="360000" y="6336000"/>
            <a:ext cx="5400000" cy="216000"/>
          </a:xfrm>
          <a:prstGeom prst="rect">
            <a:avLst/>
          </a:prstGeom>
          <a:noFill/>
        </p:spPr>
        <p:txBody>
          <a:bodyPr wrap="square" lIns="90000" rtlCol="0" anchor="ctr" anchorCtr="0">
            <a:spAutoFit/>
          </a:bodyPr>
          <a:lstStyle/>
          <a:p>
            <a:r>
              <a:rPr lang="en-GB" sz="800" b="0" i="0" dirty="0">
                <a:solidFill>
                  <a:schemeClr val="bg1"/>
                </a:solidFill>
                <a:latin typeface="Arial" panose="020B0604020202020204" pitchFamily="34" charset="0"/>
                <a:ea typeface="MS PGothic" pitchFamily="34" charset="-128"/>
                <a:cs typeface="Arial" panose="020B0604020202020204" pitchFamily="34" charset="0"/>
              </a:rPr>
              <a:t>AIA confidential and proprietary information. Not for distribution.  </a:t>
            </a:r>
            <a:endParaRPr lang="en-US" sz="800" b="0" i="0" dirty="0">
              <a:solidFill>
                <a:schemeClr val="bg1"/>
              </a:solidFill>
              <a:latin typeface="Arial" panose="020B0604020202020204" pitchFamily="34" charset="0"/>
              <a:cs typeface="Arial" panose="020B0604020202020204" pitchFamily="34" charset="0"/>
            </a:endParaRPr>
          </a:p>
        </p:txBody>
      </p:sp>
      <p:pic>
        <p:nvPicPr>
          <p:cNvPr id="10" name="Graphic 9">
            <a:extLst>
              <a:ext uri="{FF2B5EF4-FFF2-40B4-BE49-F238E27FC236}">
                <a16:creationId xmlns:a16="http://schemas.microsoft.com/office/drawing/2014/main" id="{D9903880-9FDE-8D40-A562-3D8B9CB09AB8}"/>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60000" y="360000"/>
            <a:ext cx="1828800" cy="660400"/>
          </a:xfrm>
          <a:prstGeom prst="rect">
            <a:avLst/>
          </a:prstGeom>
        </p:spPr>
      </p:pic>
    </p:spTree>
    <p:extLst>
      <p:ext uri="{BB962C8B-B14F-4D97-AF65-F5344CB8AC3E}">
        <p14:creationId xmlns:p14="http://schemas.microsoft.com/office/powerpoint/2010/main" val="10517817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IA_subheader white">
    <p:spTree>
      <p:nvGrpSpPr>
        <p:cNvPr id="1" name=""/>
        <p:cNvGrpSpPr/>
        <p:nvPr/>
      </p:nvGrpSpPr>
      <p:grpSpPr>
        <a:xfrm>
          <a:off x="0" y="0"/>
          <a:ext cx="0" cy="0"/>
          <a:chOff x="0" y="0"/>
          <a:chExt cx="0" cy="0"/>
        </a:xfrm>
      </p:grpSpPr>
      <p:sp>
        <p:nvSpPr>
          <p:cNvPr id="21" name="Text Placeholder 4"/>
          <p:cNvSpPr>
            <a:spLocks noGrp="1"/>
          </p:cNvSpPr>
          <p:nvPr>
            <p:ph type="body" sz="quarter" idx="15" hasCustomPrompt="1"/>
          </p:nvPr>
        </p:nvSpPr>
        <p:spPr>
          <a:xfrm>
            <a:off x="4237200" y="1800000"/>
            <a:ext cx="3607200" cy="4256262"/>
          </a:xfrm>
          <a:prstGeom prst="rect">
            <a:avLst/>
          </a:prstGeom>
        </p:spPr>
        <p:txBody>
          <a:bodyPr vert="horz">
            <a:noAutofit/>
          </a:bodyPr>
          <a:lstStyle>
            <a:lvl1pPr algn="l">
              <a:lnSpc>
                <a:spcPct val="100000"/>
              </a:lnSpc>
              <a:defRPr sz="1600">
                <a:solidFill>
                  <a:schemeClr val="tx1"/>
                </a:solidFill>
              </a:defRPr>
            </a:lvl1pPr>
            <a:lvl2pPr algn="l">
              <a:defRPr sz="2000">
                <a:solidFill>
                  <a:schemeClr val="accent2"/>
                </a:solidFill>
              </a:defRPr>
            </a:lvl2pPr>
            <a:lvl3pPr algn="l">
              <a:defRPr sz="2000">
                <a:solidFill>
                  <a:schemeClr val="accent2"/>
                </a:solidFill>
              </a:defRPr>
            </a:lvl3pPr>
            <a:lvl4pPr algn="l">
              <a:defRPr sz="2000">
                <a:solidFill>
                  <a:schemeClr val="accent2"/>
                </a:solidFill>
              </a:defRPr>
            </a:lvl4pPr>
            <a:lvl5pPr algn="l">
              <a:defRPr sz="2000">
                <a:solidFill>
                  <a:schemeClr val="accent2"/>
                </a:solidFill>
              </a:defRPr>
            </a:lvl5pPr>
          </a:lstStyle>
          <a:p>
            <a:pPr lvl="0"/>
            <a:r>
              <a:rPr lang="en-GB" dirty="0" err="1"/>
              <a:t>Bodycopy</a:t>
            </a:r>
            <a:r>
              <a:rPr lang="en-GB" dirty="0"/>
              <a:t> in here</a:t>
            </a:r>
            <a:endParaRPr lang="en-US" dirty="0"/>
          </a:p>
        </p:txBody>
      </p:sp>
      <p:sp>
        <p:nvSpPr>
          <p:cNvPr id="22" name="Text Placeholder 4"/>
          <p:cNvSpPr>
            <a:spLocks noGrp="1"/>
          </p:cNvSpPr>
          <p:nvPr>
            <p:ph type="body" sz="quarter" idx="16" hasCustomPrompt="1"/>
          </p:nvPr>
        </p:nvSpPr>
        <p:spPr>
          <a:xfrm>
            <a:off x="360000" y="1800000"/>
            <a:ext cx="3600000" cy="4256262"/>
          </a:xfrm>
          <a:prstGeom prst="rect">
            <a:avLst/>
          </a:prstGeom>
        </p:spPr>
        <p:txBody>
          <a:bodyPr vert="horz">
            <a:noAutofit/>
          </a:bodyPr>
          <a:lstStyle>
            <a:lvl1pPr algn="l">
              <a:lnSpc>
                <a:spcPct val="100000"/>
              </a:lnSpc>
              <a:defRPr sz="1600">
                <a:solidFill>
                  <a:schemeClr val="tx1"/>
                </a:solidFill>
              </a:defRPr>
            </a:lvl1pPr>
            <a:lvl2pPr algn="l">
              <a:defRPr sz="2000">
                <a:solidFill>
                  <a:schemeClr val="accent2"/>
                </a:solidFill>
              </a:defRPr>
            </a:lvl2pPr>
            <a:lvl3pPr algn="l">
              <a:defRPr sz="2000">
                <a:solidFill>
                  <a:schemeClr val="accent2"/>
                </a:solidFill>
              </a:defRPr>
            </a:lvl3pPr>
            <a:lvl4pPr algn="l">
              <a:defRPr sz="2000">
                <a:solidFill>
                  <a:schemeClr val="accent2"/>
                </a:solidFill>
              </a:defRPr>
            </a:lvl4pPr>
            <a:lvl5pPr algn="l">
              <a:defRPr sz="2000">
                <a:solidFill>
                  <a:schemeClr val="accent2"/>
                </a:solidFill>
              </a:defRPr>
            </a:lvl5pPr>
          </a:lstStyle>
          <a:p>
            <a:pPr lvl="0"/>
            <a:r>
              <a:rPr lang="en-GB" dirty="0" err="1"/>
              <a:t>Bodycopy</a:t>
            </a:r>
            <a:r>
              <a:rPr lang="en-GB" dirty="0"/>
              <a:t> in here</a:t>
            </a:r>
            <a:endParaRPr lang="en-US" dirty="0"/>
          </a:p>
        </p:txBody>
      </p:sp>
      <p:sp>
        <p:nvSpPr>
          <p:cNvPr id="7" name="Text Placeholder 11">
            <a:extLst>
              <a:ext uri="{FF2B5EF4-FFF2-40B4-BE49-F238E27FC236}">
                <a16:creationId xmlns:a16="http://schemas.microsoft.com/office/drawing/2014/main" id="{C4B34AF1-3AD0-DE4E-91C8-39A92B566589}"/>
              </a:ext>
            </a:extLst>
          </p:cNvPr>
          <p:cNvSpPr>
            <a:spLocks noGrp="1"/>
          </p:cNvSpPr>
          <p:nvPr>
            <p:ph type="body" sz="quarter" idx="10" hasCustomPrompt="1"/>
          </p:nvPr>
        </p:nvSpPr>
        <p:spPr>
          <a:xfrm>
            <a:off x="360000" y="540000"/>
            <a:ext cx="11160000" cy="1338676"/>
          </a:xfrm>
          <a:prstGeom prst="rect">
            <a:avLst/>
          </a:prstGeom>
          <a:noFill/>
        </p:spPr>
        <p:txBody>
          <a:bodyPr>
            <a:noAutofit/>
          </a:bodyPr>
          <a:lstStyle>
            <a:lvl1pPr>
              <a:lnSpc>
                <a:spcPts val="3200"/>
              </a:lnSpc>
              <a:defRPr sz="3600">
                <a:solidFill>
                  <a:srgbClr val="333D47"/>
                </a:solidFill>
              </a:defRPr>
            </a:lvl1pPr>
            <a:lvl2pPr marL="457200" indent="0">
              <a:buNone/>
              <a:defRPr/>
            </a:lvl2pPr>
          </a:lstStyle>
          <a:p>
            <a:pPr lvl="0"/>
            <a:r>
              <a:rPr lang="en-US" dirty="0"/>
              <a:t>Headline</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pic>
        <p:nvPicPr>
          <p:cNvPr id="6" name="Graphic 5">
            <a:extLst>
              <a:ext uri="{FF2B5EF4-FFF2-40B4-BE49-F238E27FC236}">
                <a16:creationId xmlns:a16="http://schemas.microsoft.com/office/drawing/2014/main" id="{C2BBEFAE-7438-F548-BFC6-9CD53B767E2D}"/>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1160000" y="5792400"/>
            <a:ext cx="635000" cy="660400"/>
          </a:xfrm>
          <a:prstGeom prst="rect">
            <a:avLst/>
          </a:prstGeom>
        </p:spPr>
      </p:pic>
    </p:spTree>
    <p:extLst>
      <p:ext uri="{BB962C8B-B14F-4D97-AF65-F5344CB8AC3E}">
        <p14:creationId xmlns:p14="http://schemas.microsoft.com/office/powerpoint/2010/main" val="2094514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IA_thankyou">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52B5BE0-8CB1-E247-A12A-51429A1939EB}"/>
              </a:ext>
            </a:extLst>
          </p:cNvPr>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ubtitle 2">
            <a:extLst>
              <a:ext uri="{FF2B5EF4-FFF2-40B4-BE49-F238E27FC236}">
                <a16:creationId xmlns:a16="http://schemas.microsoft.com/office/drawing/2014/main" id="{4A93DA94-6D62-D040-97F3-1DFA5A72C689}"/>
              </a:ext>
            </a:extLst>
          </p:cNvPr>
          <p:cNvSpPr>
            <a:spLocks noGrp="1"/>
          </p:cNvSpPr>
          <p:nvPr>
            <p:ph type="subTitle" idx="1" hasCustomPrompt="1"/>
          </p:nvPr>
        </p:nvSpPr>
        <p:spPr>
          <a:xfrm>
            <a:off x="360000" y="3601225"/>
            <a:ext cx="5080000" cy="358775"/>
          </a:xfrm>
          <a:prstGeom prst="rect">
            <a:avLst/>
          </a:prstGeom>
        </p:spPr>
        <p:txBody>
          <a:bodyPr>
            <a:noAutofit/>
          </a:bodyPr>
          <a:lstStyle>
            <a:lvl1pPr marL="0" indent="0" algn="l">
              <a:lnSpc>
                <a:spcPct val="100000"/>
              </a:lnSpc>
              <a:spcBef>
                <a:spcPts val="600"/>
              </a:spcBef>
              <a:buNone/>
              <a:defRPr sz="14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Email</a:t>
            </a:r>
          </a:p>
          <a:p>
            <a:r>
              <a:rPr lang="en-US" dirty="0"/>
              <a:t>Date</a:t>
            </a:r>
          </a:p>
        </p:txBody>
      </p:sp>
      <p:sp>
        <p:nvSpPr>
          <p:cNvPr id="6" name="Text Placeholder 11">
            <a:extLst>
              <a:ext uri="{FF2B5EF4-FFF2-40B4-BE49-F238E27FC236}">
                <a16:creationId xmlns:a16="http://schemas.microsoft.com/office/drawing/2014/main" id="{0C3F0DB7-93FA-D243-9648-A59C82E13702}"/>
              </a:ext>
            </a:extLst>
          </p:cNvPr>
          <p:cNvSpPr>
            <a:spLocks noGrp="1"/>
          </p:cNvSpPr>
          <p:nvPr>
            <p:ph type="body" sz="quarter" idx="11" hasCustomPrompt="1"/>
          </p:nvPr>
        </p:nvSpPr>
        <p:spPr>
          <a:xfrm>
            <a:off x="360000" y="2160000"/>
            <a:ext cx="5400000" cy="1269000"/>
          </a:xfrm>
          <a:prstGeom prst="rect">
            <a:avLst/>
          </a:prstGeom>
          <a:noFill/>
        </p:spPr>
        <p:txBody>
          <a:bodyPr>
            <a:noAutofit/>
          </a:bodyPr>
          <a:lstStyle>
            <a:lvl1pPr>
              <a:lnSpc>
                <a:spcPct val="80000"/>
              </a:lnSpc>
              <a:defRPr sz="4800">
                <a:solidFill>
                  <a:schemeClr val="bg1"/>
                </a:solidFill>
              </a:defRPr>
            </a:lvl1pPr>
            <a:lvl2pPr marL="457200" indent="0">
              <a:buNone/>
              <a:defRPr/>
            </a:lvl2pPr>
          </a:lstStyle>
          <a:p>
            <a:pPr lvl="0"/>
            <a:r>
              <a:rPr lang="en-US" dirty="0"/>
              <a:t>Thank you</a:t>
            </a:r>
          </a:p>
        </p:txBody>
      </p:sp>
      <p:sp>
        <p:nvSpPr>
          <p:cNvPr id="8" name="TextBox 7">
            <a:extLst>
              <a:ext uri="{FF2B5EF4-FFF2-40B4-BE49-F238E27FC236}">
                <a16:creationId xmlns:a16="http://schemas.microsoft.com/office/drawing/2014/main" id="{F7BF49BF-4968-8D47-AB2D-21AB12177162}"/>
              </a:ext>
            </a:extLst>
          </p:cNvPr>
          <p:cNvSpPr txBox="1"/>
          <p:nvPr userDrawn="1"/>
        </p:nvSpPr>
        <p:spPr>
          <a:xfrm>
            <a:off x="360000" y="6336000"/>
            <a:ext cx="5400000" cy="216000"/>
          </a:xfrm>
          <a:prstGeom prst="rect">
            <a:avLst/>
          </a:prstGeom>
          <a:noFill/>
        </p:spPr>
        <p:txBody>
          <a:bodyPr wrap="square" lIns="90000" rtlCol="0" anchor="ctr" anchorCtr="0">
            <a:spAutoFit/>
          </a:bodyPr>
          <a:lstStyle/>
          <a:p>
            <a:r>
              <a:rPr lang="en-GB" sz="800" b="0" i="0" dirty="0">
                <a:solidFill>
                  <a:schemeClr val="bg1"/>
                </a:solidFill>
                <a:latin typeface="Arial" panose="020B0604020202020204" pitchFamily="34" charset="0"/>
                <a:ea typeface="MS PGothic" pitchFamily="34" charset="-128"/>
                <a:cs typeface="Arial" panose="020B0604020202020204" pitchFamily="34" charset="0"/>
              </a:rPr>
              <a:t>AIA confidential and proprietary information. Not for distribution.</a:t>
            </a:r>
            <a:endParaRPr lang="en-US" sz="800" b="0" i="0" dirty="0">
              <a:solidFill>
                <a:schemeClr val="bg1"/>
              </a:solidFill>
              <a:latin typeface="Arial" panose="020B0604020202020204" pitchFamily="34" charset="0"/>
              <a:cs typeface="Arial" panose="020B0604020202020204" pitchFamily="34" charset="0"/>
            </a:endParaRPr>
          </a:p>
        </p:txBody>
      </p:sp>
      <p:pic>
        <p:nvPicPr>
          <p:cNvPr id="10" name="Graphic 9">
            <a:extLst>
              <a:ext uri="{FF2B5EF4-FFF2-40B4-BE49-F238E27FC236}">
                <a16:creationId xmlns:a16="http://schemas.microsoft.com/office/drawing/2014/main" id="{811844A6-A542-4643-96E7-3B2146FB59FE}"/>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60000" y="360000"/>
            <a:ext cx="1828800" cy="660400"/>
          </a:xfrm>
          <a:prstGeom prst="rect">
            <a:avLst/>
          </a:prstGeom>
        </p:spPr>
      </p:pic>
      <p:pic>
        <p:nvPicPr>
          <p:cNvPr id="11" name="Graphic 10">
            <a:extLst>
              <a:ext uri="{FF2B5EF4-FFF2-40B4-BE49-F238E27FC236}">
                <a16:creationId xmlns:a16="http://schemas.microsoft.com/office/drawing/2014/main" id="{6BF7525C-9C01-724E-9D57-E82EE57D1FBD}"/>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26370" b="31414"/>
          <a:stretch/>
        </p:blipFill>
        <p:spPr>
          <a:xfrm>
            <a:off x="6580800" y="0"/>
            <a:ext cx="5611200" cy="6858000"/>
          </a:xfrm>
          <a:prstGeom prst="rect">
            <a:avLst/>
          </a:prstGeom>
        </p:spPr>
      </p:pic>
    </p:spTree>
    <p:extLst>
      <p:ext uri="{BB962C8B-B14F-4D97-AF65-F5344CB8AC3E}">
        <p14:creationId xmlns:p14="http://schemas.microsoft.com/office/powerpoint/2010/main" val="75630686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svg"/><Relationship Id="rId6" Type="http://schemas.openxmlformats.org/officeDocument/2006/relationships/image" Target="../media/image2.svg"/><Relationship Id="rId7" Type="http://schemas.openxmlformats.org/officeDocument/2006/relationships/image" Target="../media/image3.svg"/><Relationship Id="rId8" Type="http://schemas.openxmlformats.org/officeDocument/2006/relationships/image" Target="../media/image4.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76106E65-026A-4C46-AFB0-85C3E7848DD0}"/>
              </a:ext>
            </a:extLst>
          </p:cNvPr>
          <p:cNvSpPr>
            <a:spLocks noGrp="1"/>
          </p:cNvSpPr>
          <p:nvPr>
            <p:ph type="title"/>
          </p:nvPr>
        </p:nvSpPr>
        <p:spPr>
          <a:xfrm>
            <a:off x="360000" y="540000"/>
            <a:ext cx="11472000" cy="1021287"/>
          </a:xfrm>
          <a:prstGeom prst="rect">
            <a:avLst/>
          </a:prstGeom>
        </p:spPr>
        <p:txBody>
          <a:bodyPr vert="horz" lIns="91440" tIns="45720" rIns="91440" bIns="45720" rtlCol="0" anchor="t">
            <a:normAutofit/>
          </a:bodyPr>
          <a:lstStyle/>
          <a:p>
            <a:r>
              <a:rPr lang="en-GB" dirty="0"/>
              <a:t>Click to edit master style</a:t>
            </a:r>
            <a:endParaRPr lang="en-US" dirty="0"/>
          </a:p>
        </p:txBody>
      </p:sp>
      <p:sp>
        <p:nvSpPr>
          <p:cNvPr id="10" name="Text Placeholder 2">
            <a:extLst>
              <a:ext uri="{FF2B5EF4-FFF2-40B4-BE49-F238E27FC236}">
                <a16:creationId xmlns:a16="http://schemas.microsoft.com/office/drawing/2014/main" id="{5707E24A-2FF5-4246-BEF6-082A6111800B}"/>
              </a:ext>
            </a:extLst>
          </p:cNvPr>
          <p:cNvSpPr>
            <a:spLocks noGrp="1"/>
          </p:cNvSpPr>
          <p:nvPr>
            <p:ph type="body" idx="1"/>
          </p:nvPr>
        </p:nvSpPr>
        <p:spPr>
          <a:xfrm>
            <a:off x="360000" y="1800000"/>
            <a:ext cx="11472000" cy="3364189"/>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Slide Number Placeholder 5">
            <a:extLst>
              <a:ext uri="{FF2B5EF4-FFF2-40B4-BE49-F238E27FC236}">
                <a16:creationId xmlns:a16="http://schemas.microsoft.com/office/drawing/2014/main" id="{D7F45575-B773-1649-9EFE-1C08EEFD46D1}"/>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4" name="TextBox 13">
            <a:extLst>
              <a:ext uri="{FF2B5EF4-FFF2-40B4-BE49-F238E27FC236}">
                <a16:creationId xmlns:a16="http://schemas.microsoft.com/office/drawing/2014/main" id="{14FEDD73-913A-A14E-9158-0586EE3B58B5}"/>
              </a:ext>
            </a:extLst>
          </p:cNvPr>
          <p:cNvSpPr txBox="1"/>
          <p:nvPr userDrawn="1"/>
        </p:nvSpPr>
        <p:spPr>
          <a:xfrm>
            <a:off x="720000" y="6336000"/>
            <a:ext cx="5400000" cy="216000"/>
          </a:xfrm>
          <a:prstGeom prst="rect">
            <a:avLst/>
          </a:prstGeom>
          <a:noFill/>
        </p:spPr>
        <p:txBody>
          <a:bodyPr wrap="square" lIns="90000" rtlCol="0" anchor="ctr" anchorCtr="0">
            <a:noAutofit/>
          </a:bodyPr>
          <a:lstStyle/>
          <a:p>
            <a:r>
              <a:rPr lang="en-GB" sz="800" b="0" i="0" dirty="0">
                <a:solidFill>
                  <a:schemeClr val="tx1"/>
                </a:solidFill>
                <a:latin typeface="Arial" panose="020B0604020202020204" pitchFamily="34" charset="0"/>
                <a:ea typeface="MS PGothic" pitchFamily="34" charset="-128"/>
                <a:cs typeface="Arial" panose="020B0604020202020204" pitchFamily="34" charset="0"/>
              </a:rPr>
              <a:t>AIA confidential and proprietary information. Not for distribution. </a:t>
            </a:r>
            <a:endParaRPr lang="en-US" sz="800" b="0" i="0" dirty="0">
              <a:solidFill>
                <a:schemeClr val="tx1"/>
              </a:solidFill>
              <a:latin typeface="Arial" panose="020B0604020202020204" pitchFamily="34" charset="0"/>
              <a:cs typeface="Arial" panose="020B0604020202020204" pitchFamily="34" charset="0"/>
            </a:endParaRPr>
          </a:p>
        </p:txBody>
      </p:sp>
      <p:sp>
        <p:nvSpPr>
          <p:cNvPr id="49" name="Rectangle 9">
            <a:extLst>
              <a:ext uri="{FF2B5EF4-FFF2-40B4-BE49-F238E27FC236}">
                <a16:creationId xmlns:a16="http://schemas.microsoft.com/office/drawing/2014/main" id="{E0203ACC-1921-3649-A2D8-9E4ECC5D23B4}"/>
              </a:ext>
            </a:extLst>
          </p:cNvPr>
          <p:cNvSpPr>
            <a:spLocks noChangeArrowheads="1"/>
          </p:cNvSpPr>
          <p:nvPr userDrawn="1"/>
        </p:nvSpPr>
        <p:spPr bwMode="auto">
          <a:xfrm>
            <a:off x="-2626840" y="1353662"/>
            <a:ext cx="1844675" cy="801569"/>
          </a:xfrm>
          <a:prstGeom prst="rect">
            <a:avLst/>
          </a:prstGeom>
          <a:solidFill>
            <a:srgbClr val="333D47"/>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CHARCOAL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R51 G61 B71</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50" name="Rectangle 7">
            <a:extLst>
              <a:ext uri="{FF2B5EF4-FFF2-40B4-BE49-F238E27FC236}">
                <a16:creationId xmlns:a16="http://schemas.microsoft.com/office/drawing/2014/main" id="{3EE7A4A7-B933-B24E-AC2D-C118217EFEB4}"/>
              </a:ext>
            </a:extLst>
          </p:cNvPr>
          <p:cNvSpPr>
            <a:spLocks noChangeArrowheads="1"/>
          </p:cNvSpPr>
          <p:nvPr userDrawn="1"/>
        </p:nvSpPr>
        <p:spPr bwMode="auto">
          <a:xfrm>
            <a:off x="-2614697" y="407231"/>
            <a:ext cx="1821348" cy="806397"/>
          </a:xfrm>
          <a:prstGeom prst="rect">
            <a:avLst/>
          </a:prstGeom>
          <a:solidFill>
            <a:srgbClr val="D3114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RED</a:t>
            </a:r>
          </a:p>
          <a:p>
            <a:pPr>
              <a:spcBef>
                <a:spcPct val="0"/>
              </a:spcBef>
              <a:buFontTx/>
              <a:buNone/>
            </a:pPr>
            <a:r>
              <a:rPr lang="en-US" sz="1400" spc="-100" baseline="0" dirty="0">
                <a:solidFill>
                  <a:srgbClr val="FFFFFF"/>
                </a:solidFill>
                <a:latin typeface="Arial" panose="020B0604020202020204" pitchFamily="34" charset="0"/>
                <a:cs typeface="Arial" panose="020B0604020202020204" pitchFamily="34" charset="0"/>
              </a:rPr>
              <a:t>R211 G17 B69</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58" name="TextBox 57">
            <a:extLst>
              <a:ext uri="{FF2B5EF4-FFF2-40B4-BE49-F238E27FC236}">
                <a16:creationId xmlns:a16="http://schemas.microsoft.com/office/drawing/2014/main" id="{B57F8F61-AACF-4D43-A48E-73FD89E9FAC0}"/>
              </a:ext>
            </a:extLst>
          </p:cNvPr>
          <p:cNvSpPr txBox="1"/>
          <p:nvPr userDrawn="1"/>
        </p:nvSpPr>
        <p:spPr>
          <a:xfrm>
            <a:off x="-2942426" y="376236"/>
            <a:ext cx="259484" cy="1937287"/>
          </a:xfrm>
          <a:prstGeom prst="rect">
            <a:avLst/>
          </a:prstGeom>
          <a:noFill/>
        </p:spPr>
        <p:txBody>
          <a:bodyPr vert="vert270" wrap="square" lIns="0" tIns="0" rIns="0" bIns="0" rtlCol="0">
            <a:noAutofit/>
          </a:bodyPr>
          <a:lstStyle/>
          <a:p>
            <a:pPr algn="r">
              <a:lnSpc>
                <a:spcPct val="80000"/>
              </a:lnSpc>
            </a:pPr>
            <a:r>
              <a:rPr lang="en-US" b="1" i="0" dirty="0">
                <a:solidFill>
                  <a:srgbClr val="585858"/>
                </a:solidFill>
                <a:latin typeface="Arial" panose="020B0604020202020204" pitchFamily="34" charset="0"/>
                <a:cs typeface="Arial" panose="020B0604020202020204" pitchFamily="34" charset="0"/>
              </a:rPr>
              <a:t>CORE COLOURS</a:t>
            </a:r>
          </a:p>
        </p:txBody>
      </p:sp>
      <p:sp>
        <p:nvSpPr>
          <p:cNvPr id="67" name="Rectangle 9">
            <a:extLst>
              <a:ext uri="{FF2B5EF4-FFF2-40B4-BE49-F238E27FC236}">
                <a16:creationId xmlns:a16="http://schemas.microsoft.com/office/drawing/2014/main" id="{6E16C6D7-5D67-3F48-9BAD-5211CB2770DE}"/>
              </a:ext>
            </a:extLst>
          </p:cNvPr>
          <p:cNvSpPr>
            <a:spLocks noChangeArrowheads="1"/>
          </p:cNvSpPr>
          <p:nvPr userDrawn="1"/>
        </p:nvSpPr>
        <p:spPr bwMode="auto">
          <a:xfrm>
            <a:off x="-4617303" y="5798524"/>
            <a:ext cx="1487670" cy="646439"/>
          </a:xfrm>
          <a:prstGeom prst="rect">
            <a:avLst/>
          </a:prstGeom>
          <a:solidFill>
            <a:schemeClr val="bg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WARM GREY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R211 G202 B195</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68" name="Rectangle 9">
            <a:extLst>
              <a:ext uri="{FF2B5EF4-FFF2-40B4-BE49-F238E27FC236}">
                <a16:creationId xmlns:a16="http://schemas.microsoft.com/office/drawing/2014/main" id="{30414EC1-704C-FF47-9611-AD4C8B879B94}"/>
              </a:ext>
            </a:extLst>
          </p:cNvPr>
          <p:cNvSpPr>
            <a:spLocks noChangeArrowheads="1"/>
          </p:cNvSpPr>
          <p:nvPr userDrawn="1"/>
        </p:nvSpPr>
        <p:spPr bwMode="auto">
          <a:xfrm>
            <a:off x="-4611596" y="1877530"/>
            <a:ext cx="1487670" cy="646439"/>
          </a:xfrm>
          <a:prstGeom prst="rect">
            <a:avLst/>
          </a:prstGeom>
          <a:solidFill>
            <a:schemeClr val="accent3"/>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ORANGE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R255 G117 B77</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69" name="TextBox 68">
            <a:extLst>
              <a:ext uri="{FF2B5EF4-FFF2-40B4-BE49-F238E27FC236}">
                <a16:creationId xmlns:a16="http://schemas.microsoft.com/office/drawing/2014/main" id="{46EDC2E1-B0F0-2B4D-8CFB-F684F18144D9}"/>
              </a:ext>
            </a:extLst>
          </p:cNvPr>
          <p:cNvSpPr txBox="1"/>
          <p:nvPr userDrawn="1"/>
        </p:nvSpPr>
        <p:spPr>
          <a:xfrm>
            <a:off x="-4910208" y="379515"/>
            <a:ext cx="314328" cy="3271299"/>
          </a:xfrm>
          <a:prstGeom prst="rect">
            <a:avLst/>
          </a:prstGeom>
          <a:noFill/>
        </p:spPr>
        <p:txBody>
          <a:bodyPr vert="vert270" wrap="square" lIns="0" tIns="0" rIns="0" bIns="0" rtlCol="0">
            <a:noAutofit/>
          </a:bodyPr>
          <a:lstStyle/>
          <a:p>
            <a:pPr algn="r">
              <a:lnSpc>
                <a:spcPct val="80000"/>
              </a:lnSpc>
            </a:pPr>
            <a:r>
              <a:rPr lang="en-US" b="1" i="0" dirty="0">
                <a:solidFill>
                  <a:srgbClr val="585858"/>
                </a:solidFill>
                <a:latin typeface="Arial" panose="020B0604020202020204" pitchFamily="34" charset="0"/>
                <a:cs typeface="Arial" panose="020B0604020202020204" pitchFamily="34" charset="0"/>
              </a:rPr>
              <a:t>SUPPORTING COLOURS</a:t>
            </a:r>
          </a:p>
        </p:txBody>
      </p:sp>
      <p:sp>
        <p:nvSpPr>
          <p:cNvPr id="70" name="Rectangle 9">
            <a:extLst>
              <a:ext uri="{FF2B5EF4-FFF2-40B4-BE49-F238E27FC236}">
                <a16:creationId xmlns:a16="http://schemas.microsoft.com/office/drawing/2014/main" id="{32D26DB1-D22B-0146-BEE0-26A6F1234774}"/>
              </a:ext>
            </a:extLst>
          </p:cNvPr>
          <p:cNvSpPr>
            <a:spLocks noChangeArrowheads="1"/>
          </p:cNvSpPr>
          <p:nvPr userDrawn="1"/>
        </p:nvSpPr>
        <p:spPr bwMode="auto">
          <a:xfrm>
            <a:off x="-4611596" y="2663784"/>
            <a:ext cx="1487670" cy="646439"/>
          </a:xfrm>
          <a:prstGeom prst="rect">
            <a:avLst/>
          </a:prstGeom>
          <a:solidFill>
            <a:schemeClr val="accent4"/>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YELLOW</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R247 G201 B38</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1" name="Rectangle 9">
            <a:extLst>
              <a:ext uri="{FF2B5EF4-FFF2-40B4-BE49-F238E27FC236}">
                <a16:creationId xmlns:a16="http://schemas.microsoft.com/office/drawing/2014/main" id="{38917B89-6ECF-F74A-9BA2-E9FCB7C72DD1}"/>
              </a:ext>
            </a:extLst>
          </p:cNvPr>
          <p:cNvSpPr>
            <a:spLocks noChangeArrowheads="1"/>
          </p:cNvSpPr>
          <p:nvPr userDrawn="1"/>
        </p:nvSpPr>
        <p:spPr bwMode="auto">
          <a:xfrm>
            <a:off x="-4611596" y="4266004"/>
            <a:ext cx="1487670" cy="646439"/>
          </a:xfrm>
          <a:prstGeom prst="rect">
            <a:avLst/>
          </a:prstGeom>
          <a:solidFill>
            <a:schemeClr val="accent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LAVENDER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R161 G153 B186</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2" name="Rectangle 9">
            <a:extLst>
              <a:ext uri="{FF2B5EF4-FFF2-40B4-BE49-F238E27FC236}">
                <a16:creationId xmlns:a16="http://schemas.microsoft.com/office/drawing/2014/main" id="{A835CB3C-C322-B743-8984-3B3E27A039B3}"/>
              </a:ext>
            </a:extLst>
          </p:cNvPr>
          <p:cNvSpPr>
            <a:spLocks noChangeArrowheads="1"/>
          </p:cNvSpPr>
          <p:nvPr userDrawn="1"/>
        </p:nvSpPr>
        <p:spPr bwMode="auto">
          <a:xfrm>
            <a:off x="-4611596" y="5052258"/>
            <a:ext cx="1487670" cy="646439"/>
          </a:xfrm>
          <a:prstGeom prst="rect">
            <a:avLst/>
          </a:prstGeom>
          <a:solidFill>
            <a:schemeClr val="tx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BLUE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R31 G120 B173</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3" name="Rectangle 9">
            <a:extLst>
              <a:ext uri="{FF2B5EF4-FFF2-40B4-BE49-F238E27FC236}">
                <a16:creationId xmlns:a16="http://schemas.microsoft.com/office/drawing/2014/main" id="{0EB3A011-77AD-EE4C-BB9E-688A1F0E49B1}"/>
              </a:ext>
            </a:extLst>
          </p:cNvPr>
          <p:cNvSpPr>
            <a:spLocks noChangeArrowheads="1"/>
          </p:cNvSpPr>
          <p:nvPr userDrawn="1"/>
        </p:nvSpPr>
        <p:spPr bwMode="auto">
          <a:xfrm>
            <a:off x="-4611596" y="1125046"/>
            <a:ext cx="1487670" cy="646439"/>
          </a:xfrm>
          <a:prstGeom prst="rect">
            <a:avLst/>
          </a:prstGeom>
          <a:solidFill>
            <a:schemeClr val="accent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CERISE</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R186 G3 B97</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4" name="Rectangle 9">
            <a:extLst>
              <a:ext uri="{FF2B5EF4-FFF2-40B4-BE49-F238E27FC236}">
                <a16:creationId xmlns:a16="http://schemas.microsoft.com/office/drawing/2014/main" id="{402466E5-EFAB-0E4A-B977-56C6D30093B0}"/>
              </a:ext>
            </a:extLst>
          </p:cNvPr>
          <p:cNvSpPr>
            <a:spLocks noChangeArrowheads="1"/>
          </p:cNvSpPr>
          <p:nvPr userDrawn="1"/>
        </p:nvSpPr>
        <p:spPr bwMode="auto">
          <a:xfrm>
            <a:off x="-4611596" y="3449154"/>
            <a:ext cx="1487670" cy="646439"/>
          </a:xfrm>
          <a:prstGeom prst="rect">
            <a:avLst/>
          </a:prstGeom>
          <a:solidFill>
            <a:schemeClr val="accent6"/>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PURPLE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R76 G71 B148</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5" name="Rectangle 9">
            <a:extLst>
              <a:ext uri="{FF2B5EF4-FFF2-40B4-BE49-F238E27FC236}">
                <a16:creationId xmlns:a16="http://schemas.microsoft.com/office/drawing/2014/main" id="{F469A4F2-3792-2E49-8B38-6AFC63812708}"/>
              </a:ext>
            </a:extLst>
          </p:cNvPr>
          <p:cNvSpPr>
            <a:spLocks noChangeArrowheads="1"/>
          </p:cNvSpPr>
          <p:nvPr userDrawn="1"/>
        </p:nvSpPr>
        <p:spPr bwMode="auto">
          <a:xfrm>
            <a:off x="-4611596" y="373206"/>
            <a:ext cx="1487670" cy="646439"/>
          </a:xfrm>
          <a:prstGeom prst="rect">
            <a:avLst/>
          </a:prstGeom>
          <a:solidFill>
            <a:srgbClr val="FF7A8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SALMON</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R255 G122 B133</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grpSp>
        <p:nvGrpSpPr>
          <p:cNvPr id="76" name="Group 75">
            <a:extLst>
              <a:ext uri="{FF2B5EF4-FFF2-40B4-BE49-F238E27FC236}">
                <a16:creationId xmlns:a16="http://schemas.microsoft.com/office/drawing/2014/main" id="{A0DFD5F1-7ED6-7A4F-A85D-AC9239B9A9E4}"/>
              </a:ext>
            </a:extLst>
          </p:cNvPr>
          <p:cNvGrpSpPr/>
          <p:nvPr userDrawn="1"/>
        </p:nvGrpSpPr>
        <p:grpSpPr>
          <a:xfrm>
            <a:off x="-4617304" y="796253"/>
            <a:ext cx="1494303" cy="224029"/>
            <a:chOff x="5716131" y="796253"/>
            <a:chExt cx="995522" cy="224029"/>
          </a:xfrm>
        </p:grpSpPr>
        <p:sp>
          <p:nvSpPr>
            <p:cNvPr id="77" name="Rectangle 19">
              <a:extLst>
                <a:ext uri="{FF2B5EF4-FFF2-40B4-BE49-F238E27FC236}">
                  <a16:creationId xmlns:a16="http://schemas.microsoft.com/office/drawing/2014/main" id="{69707F44-6BC5-024E-87D0-3237CAF96668}"/>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78" name="Rectangle 20">
              <a:extLst>
                <a:ext uri="{FF2B5EF4-FFF2-40B4-BE49-F238E27FC236}">
                  <a16:creationId xmlns:a16="http://schemas.microsoft.com/office/drawing/2014/main" id="{D0D916EB-9F54-2F4B-BDD0-F877343549EC}"/>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79" name="Group 78">
            <a:extLst>
              <a:ext uri="{FF2B5EF4-FFF2-40B4-BE49-F238E27FC236}">
                <a16:creationId xmlns:a16="http://schemas.microsoft.com/office/drawing/2014/main" id="{7E6BDFF9-62CE-8349-B945-5E4093758751}"/>
              </a:ext>
            </a:extLst>
          </p:cNvPr>
          <p:cNvGrpSpPr/>
          <p:nvPr userDrawn="1"/>
        </p:nvGrpSpPr>
        <p:grpSpPr>
          <a:xfrm>
            <a:off x="-2626840" y="1878230"/>
            <a:ext cx="1844675" cy="277791"/>
            <a:chOff x="2606261" y="3143449"/>
            <a:chExt cx="2458017" cy="277791"/>
          </a:xfrm>
        </p:grpSpPr>
        <p:sp>
          <p:nvSpPr>
            <p:cNvPr id="80" name="Rectangle 19">
              <a:extLst>
                <a:ext uri="{FF2B5EF4-FFF2-40B4-BE49-F238E27FC236}">
                  <a16:creationId xmlns:a16="http://schemas.microsoft.com/office/drawing/2014/main" id="{914B8044-F95A-A74A-BC30-F3A5C9B45BC2}"/>
                </a:ext>
              </a:extLst>
            </p:cNvPr>
            <p:cNvSpPr>
              <a:spLocks noChangeArrowheads="1"/>
            </p:cNvSpPr>
            <p:nvPr/>
          </p:nvSpPr>
          <p:spPr bwMode="auto">
            <a:xfrm>
              <a:off x="3211379" y="3143449"/>
              <a:ext cx="615945" cy="277791"/>
            </a:xfrm>
            <a:prstGeom prst="rect">
              <a:avLst/>
            </a:prstGeom>
            <a:solidFill>
              <a:schemeClr val="bg1">
                <a:alpha val="4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4</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1" name="Rectangle 20">
              <a:extLst>
                <a:ext uri="{FF2B5EF4-FFF2-40B4-BE49-F238E27FC236}">
                  <a16:creationId xmlns:a16="http://schemas.microsoft.com/office/drawing/2014/main" id="{DCFFAD6D-DAE4-824F-BF41-EE5D85829979}"/>
                </a:ext>
              </a:extLst>
            </p:cNvPr>
            <p:cNvSpPr>
              <a:spLocks noChangeArrowheads="1"/>
            </p:cNvSpPr>
            <p:nvPr/>
          </p:nvSpPr>
          <p:spPr bwMode="auto">
            <a:xfrm>
              <a:off x="3829856" y="3143449"/>
              <a:ext cx="615945" cy="277791"/>
            </a:xfrm>
            <a:prstGeom prst="rect">
              <a:avLst/>
            </a:prstGeom>
            <a:solidFill>
              <a:schemeClr val="bg1">
                <a:alpha val="6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6</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2" name="Rectangle 22">
              <a:extLst>
                <a:ext uri="{FF2B5EF4-FFF2-40B4-BE49-F238E27FC236}">
                  <a16:creationId xmlns:a16="http://schemas.microsoft.com/office/drawing/2014/main" id="{B42DD97E-811A-2B47-918D-7C0F001104F8}"/>
                </a:ext>
              </a:extLst>
            </p:cNvPr>
            <p:cNvSpPr>
              <a:spLocks noChangeArrowheads="1"/>
            </p:cNvSpPr>
            <p:nvPr/>
          </p:nvSpPr>
          <p:spPr bwMode="auto">
            <a:xfrm>
              <a:off x="4448333" y="3143449"/>
              <a:ext cx="615945" cy="277791"/>
            </a:xfrm>
            <a:prstGeom prst="rect">
              <a:avLst/>
            </a:prstGeom>
            <a:solidFill>
              <a:schemeClr val="bg1">
                <a:alpha val="8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80%</a:t>
              </a:r>
            </a:p>
          </p:txBody>
        </p:sp>
        <p:sp>
          <p:nvSpPr>
            <p:cNvPr id="83" name="Rectangle 19">
              <a:extLst>
                <a:ext uri="{FF2B5EF4-FFF2-40B4-BE49-F238E27FC236}">
                  <a16:creationId xmlns:a16="http://schemas.microsoft.com/office/drawing/2014/main" id="{3D37BE17-9C0A-E749-A606-9BC8E7CE3C80}"/>
                </a:ext>
              </a:extLst>
            </p:cNvPr>
            <p:cNvSpPr>
              <a:spLocks noChangeArrowheads="1"/>
            </p:cNvSpPr>
            <p:nvPr/>
          </p:nvSpPr>
          <p:spPr bwMode="auto">
            <a:xfrm>
              <a:off x="2606261" y="3143449"/>
              <a:ext cx="615945" cy="277791"/>
            </a:xfrm>
            <a:prstGeom prst="rect">
              <a:avLst/>
            </a:prstGeom>
            <a:solidFill>
              <a:schemeClr val="bg1">
                <a:alpha val="2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20%</a:t>
              </a:r>
            </a:p>
          </p:txBody>
        </p:sp>
      </p:grpSp>
      <p:grpSp>
        <p:nvGrpSpPr>
          <p:cNvPr id="84" name="Group 83">
            <a:extLst>
              <a:ext uri="{FF2B5EF4-FFF2-40B4-BE49-F238E27FC236}">
                <a16:creationId xmlns:a16="http://schemas.microsoft.com/office/drawing/2014/main" id="{029FDAA7-EDA4-E344-BCAC-7F6CCDECD451}"/>
              </a:ext>
            </a:extLst>
          </p:cNvPr>
          <p:cNvGrpSpPr/>
          <p:nvPr userDrawn="1"/>
        </p:nvGrpSpPr>
        <p:grpSpPr>
          <a:xfrm>
            <a:off x="-2626840" y="957107"/>
            <a:ext cx="1844675" cy="277791"/>
            <a:chOff x="2606261" y="3143449"/>
            <a:chExt cx="2458017" cy="277791"/>
          </a:xfrm>
        </p:grpSpPr>
        <p:sp>
          <p:nvSpPr>
            <p:cNvPr id="85" name="Rectangle 19">
              <a:extLst>
                <a:ext uri="{FF2B5EF4-FFF2-40B4-BE49-F238E27FC236}">
                  <a16:creationId xmlns:a16="http://schemas.microsoft.com/office/drawing/2014/main" id="{322E5F21-86AC-9847-9EAE-BB1715E938D4}"/>
                </a:ext>
              </a:extLst>
            </p:cNvPr>
            <p:cNvSpPr>
              <a:spLocks noChangeArrowheads="1"/>
            </p:cNvSpPr>
            <p:nvPr/>
          </p:nvSpPr>
          <p:spPr bwMode="auto">
            <a:xfrm>
              <a:off x="3211379" y="3143449"/>
              <a:ext cx="615945" cy="277791"/>
            </a:xfrm>
            <a:prstGeom prst="rect">
              <a:avLst/>
            </a:prstGeom>
            <a:solidFill>
              <a:schemeClr val="bg1">
                <a:alpha val="4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4</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6" name="Rectangle 20">
              <a:extLst>
                <a:ext uri="{FF2B5EF4-FFF2-40B4-BE49-F238E27FC236}">
                  <a16:creationId xmlns:a16="http://schemas.microsoft.com/office/drawing/2014/main" id="{6F019A4D-1606-E749-A834-546B40C5FC10}"/>
                </a:ext>
              </a:extLst>
            </p:cNvPr>
            <p:cNvSpPr>
              <a:spLocks noChangeArrowheads="1"/>
            </p:cNvSpPr>
            <p:nvPr/>
          </p:nvSpPr>
          <p:spPr bwMode="auto">
            <a:xfrm>
              <a:off x="3829856" y="3143449"/>
              <a:ext cx="615945" cy="277791"/>
            </a:xfrm>
            <a:prstGeom prst="rect">
              <a:avLst/>
            </a:prstGeom>
            <a:solidFill>
              <a:schemeClr val="bg1">
                <a:alpha val="6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6</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7" name="Rectangle 22">
              <a:extLst>
                <a:ext uri="{FF2B5EF4-FFF2-40B4-BE49-F238E27FC236}">
                  <a16:creationId xmlns:a16="http://schemas.microsoft.com/office/drawing/2014/main" id="{7308B2FC-69DD-954E-8980-2EC3AA1D7544}"/>
                </a:ext>
              </a:extLst>
            </p:cNvPr>
            <p:cNvSpPr>
              <a:spLocks noChangeArrowheads="1"/>
            </p:cNvSpPr>
            <p:nvPr/>
          </p:nvSpPr>
          <p:spPr bwMode="auto">
            <a:xfrm>
              <a:off x="4448333" y="3143449"/>
              <a:ext cx="615945" cy="277791"/>
            </a:xfrm>
            <a:prstGeom prst="rect">
              <a:avLst/>
            </a:prstGeom>
            <a:solidFill>
              <a:schemeClr val="bg1">
                <a:alpha val="8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80%</a:t>
              </a:r>
            </a:p>
          </p:txBody>
        </p:sp>
        <p:sp>
          <p:nvSpPr>
            <p:cNvPr id="88" name="Rectangle 19">
              <a:extLst>
                <a:ext uri="{FF2B5EF4-FFF2-40B4-BE49-F238E27FC236}">
                  <a16:creationId xmlns:a16="http://schemas.microsoft.com/office/drawing/2014/main" id="{74AC479E-3F57-E644-A3C7-97D4AB45ADFF}"/>
                </a:ext>
              </a:extLst>
            </p:cNvPr>
            <p:cNvSpPr>
              <a:spLocks noChangeArrowheads="1"/>
            </p:cNvSpPr>
            <p:nvPr/>
          </p:nvSpPr>
          <p:spPr bwMode="auto">
            <a:xfrm>
              <a:off x="2606261" y="3143449"/>
              <a:ext cx="615945" cy="277791"/>
            </a:xfrm>
            <a:prstGeom prst="rect">
              <a:avLst/>
            </a:prstGeom>
            <a:solidFill>
              <a:schemeClr val="bg1">
                <a:alpha val="2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20%</a:t>
              </a:r>
            </a:p>
          </p:txBody>
        </p:sp>
      </p:grpSp>
      <p:grpSp>
        <p:nvGrpSpPr>
          <p:cNvPr id="89" name="Group 88">
            <a:extLst>
              <a:ext uri="{FF2B5EF4-FFF2-40B4-BE49-F238E27FC236}">
                <a16:creationId xmlns:a16="http://schemas.microsoft.com/office/drawing/2014/main" id="{EE533266-6387-9B46-8624-65A0D9D79FF0}"/>
              </a:ext>
            </a:extLst>
          </p:cNvPr>
          <p:cNvGrpSpPr/>
          <p:nvPr userDrawn="1"/>
        </p:nvGrpSpPr>
        <p:grpSpPr>
          <a:xfrm>
            <a:off x="-4617304" y="1549288"/>
            <a:ext cx="1494303" cy="224029"/>
            <a:chOff x="5716131" y="796253"/>
            <a:chExt cx="995522" cy="224029"/>
          </a:xfrm>
        </p:grpSpPr>
        <p:sp>
          <p:nvSpPr>
            <p:cNvPr id="90" name="Rectangle 19">
              <a:extLst>
                <a:ext uri="{FF2B5EF4-FFF2-40B4-BE49-F238E27FC236}">
                  <a16:creationId xmlns:a16="http://schemas.microsoft.com/office/drawing/2014/main" id="{BB7C84DB-7787-A44D-865E-1BD05831D911}"/>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1" name="Rectangle 20">
              <a:extLst>
                <a:ext uri="{FF2B5EF4-FFF2-40B4-BE49-F238E27FC236}">
                  <a16:creationId xmlns:a16="http://schemas.microsoft.com/office/drawing/2014/main" id="{9A96F96C-40C9-8D49-A8DD-AB3B11C9C2C0}"/>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2" name="Group 91">
            <a:extLst>
              <a:ext uri="{FF2B5EF4-FFF2-40B4-BE49-F238E27FC236}">
                <a16:creationId xmlns:a16="http://schemas.microsoft.com/office/drawing/2014/main" id="{DA26BA09-7293-5840-8B41-BA669E1DA42E}"/>
              </a:ext>
            </a:extLst>
          </p:cNvPr>
          <p:cNvGrpSpPr/>
          <p:nvPr userDrawn="1"/>
        </p:nvGrpSpPr>
        <p:grpSpPr>
          <a:xfrm>
            <a:off x="-4617304" y="2295599"/>
            <a:ext cx="1494303" cy="224029"/>
            <a:chOff x="5716131" y="796253"/>
            <a:chExt cx="995522" cy="224029"/>
          </a:xfrm>
        </p:grpSpPr>
        <p:sp>
          <p:nvSpPr>
            <p:cNvPr id="93" name="Rectangle 19">
              <a:extLst>
                <a:ext uri="{FF2B5EF4-FFF2-40B4-BE49-F238E27FC236}">
                  <a16:creationId xmlns:a16="http://schemas.microsoft.com/office/drawing/2014/main" id="{07DA5FAE-B117-1349-8D4B-5D7FCC8142A1}"/>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4" name="Rectangle 20">
              <a:extLst>
                <a:ext uri="{FF2B5EF4-FFF2-40B4-BE49-F238E27FC236}">
                  <a16:creationId xmlns:a16="http://schemas.microsoft.com/office/drawing/2014/main" id="{F8E4D5C8-28FE-3740-934F-B88CFC79C337}"/>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5" name="Group 94">
            <a:extLst>
              <a:ext uri="{FF2B5EF4-FFF2-40B4-BE49-F238E27FC236}">
                <a16:creationId xmlns:a16="http://schemas.microsoft.com/office/drawing/2014/main" id="{BE60DD88-FE73-4A4E-83B0-C27EC4180A40}"/>
              </a:ext>
            </a:extLst>
          </p:cNvPr>
          <p:cNvGrpSpPr/>
          <p:nvPr userDrawn="1"/>
        </p:nvGrpSpPr>
        <p:grpSpPr>
          <a:xfrm>
            <a:off x="-4617304" y="3088976"/>
            <a:ext cx="1494303" cy="224029"/>
            <a:chOff x="5716131" y="796253"/>
            <a:chExt cx="995522" cy="224029"/>
          </a:xfrm>
        </p:grpSpPr>
        <p:sp>
          <p:nvSpPr>
            <p:cNvPr id="96" name="Rectangle 19">
              <a:extLst>
                <a:ext uri="{FF2B5EF4-FFF2-40B4-BE49-F238E27FC236}">
                  <a16:creationId xmlns:a16="http://schemas.microsoft.com/office/drawing/2014/main" id="{F65AC04E-77DF-3D4F-ABC4-331908CD1675}"/>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7" name="Rectangle 20">
              <a:extLst>
                <a:ext uri="{FF2B5EF4-FFF2-40B4-BE49-F238E27FC236}">
                  <a16:creationId xmlns:a16="http://schemas.microsoft.com/office/drawing/2014/main" id="{3A43A58E-FE1C-F241-9FCD-27CDB423B5A7}"/>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8" name="Group 97">
            <a:extLst>
              <a:ext uri="{FF2B5EF4-FFF2-40B4-BE49-F238E27FC236}">
                <a16:creationId xmlns:a16="http://schemas.microsoft.com/office/drawing/2014/main" id="{85EC0C6B-BF0B-E84D-94EC-435A104A61F7}"/>
              </a:ext>
            </a:extLst>
          </p:cNvPr>
          <p:cNvGrpSpPr/>
          <p:nvPr userDrawn="1"/>
        </p:nvGrpSpPr>
        <p:grpSpPr>
          <a:xfrm>
            <a:off x="-4617304" y="3875629"/>
            <a:ext cx="1494303" cy="224029"/>
            <a:chOff x="5716131" y="796253"/>
            <a:chExt cx="995522" cy="224029"/>
          </a:xfrm>
        </p:grpSpPr>
        <p:sp>
          <p:nvSpPr>
            <p:cNvPr id="99" name="Rectangle 19">
              <a:extLst>
                <a:ext uri="{FF2B5EF4-FFF2-40B4-BE49-F238E27FC236}">
                  <a16:creationId xmlns:a16="http://schemas.microsoft.com/office/drawing/2014/main" id="{E7176F59-7B72-9148-B6EC-3D9A485B69F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0" name="Rectangle 20">
              <a:extLst>
                <a:ext uri="{FF2B5EF4-FFF2-40B4-BE49-F238E27FC236}">
                  <a16:creationId xmlns:a16="http://schemas.microsoft.com/office/drawing/2014/main" id="{2C7F8097-BD91-F644-9F8C-937FCE32DCE9}"/>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1" name="Group 100">
            <a:extLst>
              <a:ext uri="{FF2B5EF4-FFF2-40B4-BE49-F238E27FC236}">
                <a16:creationId xmlns:a16="http://schemas.microsoft.com/office/drawing/2014/main" id="{1E38DB8D-4AE7-FB41-966F-59657509D300}"/>
              </a:ext>
            </a:extLst>
          </p:cNvPr>
          <p:cNvGrpSpPr/>
          <p:nvPr userDrawn="1"/>
        </p:nvGrpSpPr>
        <p:grpSpPr>
          <a:xfrm>
            <a:off x="-4617304" y="4695900"/>
            <a:ext cx="1494303" cy="224029"/>
            <a:chOff x="5716131" y="796253"/>
            <a:chExt cx="995522" cy="224029"/>
          </a:xfrm>
        </p:grpSpPr>
        <p:sp>
          <p:nvSpPr>
            <p:cNvPr id="102" name="Rectangle 19">
              <a:extLst>
                <a:ext uri="{FF2B5EF4-FFF2-40B4-BE49-F238E27FC236}">
                  <a16:creationId xmlns:a16="http://schemas.microsoft.com/office/drawing/2014/main" id="{8E88217E-F57C-0F4D-A0DC-EAC60891AFD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3" name="Rectangle 20">
              <a:extLst>
                <a:ext uri="{FF2B5EF4-FFF2-40B4-BE49-F238E27FC236}">
                  <a16:creationId xmlns:a16="http://schemas.microsoft.com/office/drawing/2014/main" id="{0FE0007D-5F31-E149-B0CF-AB6784C43E66}"/>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4" name="Group 103">
            <a:extLst>
              <a:ext uri="{FF2B5EF4-FFF2-40B4-BE49-F238E27FC236}">
                <a16:creationId xmlns:a16="http://schemas.microsoft.com/office/drawing/2014/main" id="{5FE9AD56-297C-DB4B-A7BE-D6B0F01510E8}"/>
              </a:ext>
            </a:extLst>
          </p:cNvPr>
          <p:cNvGrpSpPr/>
          <p:nvPr userDrawn="1"/>
        </p:nvGrpSpPr>
        <p:grpSpPr>
          <a:xfrm>
            <a:off x="-4617304" y="5482553"/>
            <a:ext cx="1494303" cy="224029"/>
            <a:chOff x="5716131" y="796253"/>
            <a:chExt cx="995522" cy="224029"/>
          </a:xfrm>
        </p:grpSpPr>
        <p:sp>
          <p:nvSpPr>
            <p:cNvPr id="105" name="Rectangle 19">
              <a:extLst>
                <a:ext uri="{FF2B5EF4-FFF2-40B4-BE49-F238E27FC236}">
                  <a16:creationId xmlns:a16="http://schemas.microsoft.com/office/drawing/2014/main" id="{BAE1D5DB-96CD-7A41-AC4C-B60EE6BB7AE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6" name="Rectangle 20">
              <a:extLst>
                <a:ext uri="{FF2B5EF4-FFF2-40B4-BE49-F238E27FC236}">
                  <a16:creationId xmlns:a16="http://schemas.microsoft.com/office/drawing/2014/main" id="{91DC9FA1-0AEE-A849-8DCF-0F227C3A707E}"/>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7" name="Group 106">
            <a:extLst>
              <a:ext uri="{FF2B5EF4-FFF2-40B4-BE49-F238E27FC236}">
                <a16:creationId xmlns:a16="http://schemas.microsoft.com/office/drawing/2014/main" id="{D51248F3-2F75-594D-B53D-6D8AF82EB3EE}"/>
              </a:ext>
            </a:extLst>
          </p:cNvPr>
          <p:cNvGrpSpPr/>
          <p:nvPr userDrawn="1"/>
        </p:nvGrpSpPr>
        <p:grpSpPr>
          <a:xfrm>
            <a:off x="-4617304" y="6228865"/>
            <a:ext cx="1494303" cy="224029"/>
            <a:chOff x="5716131" y="796253"/>
            <a:chExt cx="995522" cy="224029"/>
          </a:xfrm>
        </p:grpSpPr>
        <p:sp>
          <p:nvSpPr>
            <p:cNvPr id="108" name="Rectangle 19">
              <a:extLst>
                <a:ext uri="{FF2B5EF4-FFF2-40B4-BE49-F238E27FC236}">
                  <a16:creationId xmlns:a16="http://schemas.microsoft.com/office/drawing/2014/main" id="{2C100E18-2C92-5642-871F-193C519D3709}"/>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9" name="Rectangle 20">
              <a:extLst>
                <a:ext uri="{FF2B5EF4-FFF2-40B4-BE49-F238E27FC236}">
                  <a16:creationId xmlns:a16="http://schemas.microsoft.com/office/drawing/2014/main" id="{C725273B-18AD-5547-A9A0-E5E2D55F1583}"/>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pic>
        <p:nvPicPr>
          <p:cNvPr id="3" name="Graphic 2">
            <a:extLst>
              <a:ext uri="{FF2B5EF4-FFF2-40B4-BE49-F238E27FC236}">
                <a16:creationId xmlns:a16="http://schemas.microsoft.com/office/drawing/2014/main" id="{1CF833E4-0060-484E-9965-5F640274ADE4}"/>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164590" y="5400000"/>
            <a:ext cx="1828800" cy="660400"/>
          </a:xfrm>
          <a:prstGeom prst="rect">
            <a:avLst/>
          </a:prstGeom>
        </p:spPr>
      </p:pic>
      <p:pic>
        <p:nvPicPr>
          <p:cNvPr id="6" name="Graphic 5">
            <a:extLst>
              <a:ext uri="{FF2B5EF4-FFF2-40B4-BE49-F238E27FC236}">
                <a16:creationId xmlns:a16="http://schemas.microsoft.com/office/drawing/2014/main" id="{5EABF413-2674-1F41-94B7-816E8AFB8043}"/>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164590" y="4661279"/>
            <a:ext cx="1828800" cy="660400"/>
          </a:xfrm>
          <a:prstGeom prst="rect">
            <a:avLst/>
          </a:prstGeom>
        </p:spPr>
      </p:pic>
      <p:pic>
        <p:nvPicPr>
          <p:cNvPr id="13" name="Graphic 12">
            <a:extLst>
              <a:ext uri="{FF2B5EF4-FFF2-40B4-BE49-F238E27FC236}">
                <a16:creationId xmlns:a16="http://schemas.microsoft.com/office/drawing/2014/main" id="{82AB809A-5890-BF46-A223-5F7B2A123F1A}"/>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164590" y="3600000"/>
            <a:ext cx="635000" cy="660400"/>
          </a:xfrm>
          <a:prstGeom prst="rect">
            <a:avLst/>
          </a:prstGeom>
        </p:spPr>
      </p:pic>
      <p:pic>
        <p:nvPicPr>
          <p:cNvPr id="17" name="Graphic 16">
            <a:extLst>
              <a:ext uri="{FF2B5EF4-FFF2-40B4-BE49-F238E27FC236}">
                <a16:creationId xmlns:a16="http://schemas.microsoft.com/office/drawing/2014/main" id="{42CF3A70-9F27-F645-9FE9-CD81E473DE48}"/>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874969" y="3600000"/>
            <a:ext cx="635000" cy="660400"/>
          </a:xfrm>
          <a:prstGeom prst="rect">
            <a:avLst/>
          </a:prstGeom>
        </p:spPr>
      </p:pic>
      <p:sp>
        <p:nvSpPr>
          <p:cNvPr id="2" name="TextBox 1">
            <a:extLst>
              <a:ext uri="{FF2B5EF4-FFF2-40B4-BE49-F238E27FC236}">
                <a16:creationId xmlns:a16="http://schemas.microsoft.com/office/drawing/2014/main" id="{6D88D0BE-2EA1-94D6-EEC3-387CC3481826}"/>
              </a:ext>
            </a:extLst>
          </p:cNvPr>
          <p:cNvSpPr txBox="1"/>
          <p:nvPr>
            <p:extLst>
              <p:ext uri="{1162E1C5-73C7-4A58-AE30-91384D911F3F}">
                <p184:classification xmlns:p184="http://schemas.microsoft.com/office/powerpoint/2018/4/main" val="ftr"/>
              </p:ext>
            </p:extLst>
          </p:nvPr>
        </p:nvSpPr>
        <p:spPr>
          <a:xfrm>
            <a:off x="63500" y="6672580"/>
            <a:ext cx="1280160" cy="121920"/>
          </a:xfrm>
          <a:prstGeom prst="rect">
            <a:avLst/>
          </a:prstGeom>
        </p:spPr>
        <p:txBody>
          <a:bodyPr horzOverflow="overflow" lIns="0" tIns="0" rIns="0" bIns="0" wrap="none">
            <a:spAutoFit/>
          </a:bodyPr>
          <a:lstStyle/>
          <a:p>
            <a:pPr algn="l"/>
            <a:r>
              <a:rPr lang="en-GB" sz="800">
                <a:solidFill>
                  <a:srgbClr val="317100">
                    <a:alpha val="50000"/>
                  </a:srgbClr>
                </a:solidFill>
                <a:latin typeface="Aptos" panose="020B0004020202020204" pitchFamily="34" charset="0"/>
              </a:rPr>
              <a:t>[AIA – PUBLIC]</a:t>
            </a:r>
          </a:p>
        </p:txBody>
      </p:sp>
    </p:spTree>
    <p:extLst>
      <p:ext uri="{BB962C8B-B14F-4D97-AF65-F5344CB8AC3E}">
        <p14:creationId xmlns:p14="http://schemas.microsoft.com/office/powerpoint/2010/main" val="2014199587"/>
      </p:ext>
    </p:extLst>
  </p:cSld>
  <p:clrMap bg1="lt1" tx1="dk1" bg2="lt2" tx2="dk2" accent1="accent1" accent2="accent2" accent3="accent3" accent4="accent4" accent5="accent5" accent6="accent6" hlink="hlink" folHlink="folHlink"/>
  <p:sldLayoutIdLst>
    <p:sldLayoutId id="2147483743" r:id="rId1"/>
    <p:sldLayoutId id="2147483681" r:id="rId2"/>
    <p:sldLayoutId id="2147483748" r:id="rId3"/>
  </p:sldLayoutIdLst>
  <p:hf hdr="0" ftr="0" dt="0"/>
  <p:txStyles>
    <p:titleStyle>
      <a:lvl1pPr algn="l" defTabSz="914400" rtl="0" eaLnBrk="1" latinLnBrk="0" hangingPunct="1">
        <a:spcBef>
          <a:spcPct val="0"/>
        </a:spcBef>
        <a:buNone/>
        <a:defRPr sz="4800" b="0" kern="1200" cap="none" normalizeH="0" baseline="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lnSpc>
          <a:spcPct val="100000"/>
        </a:lnSpc>
        <a:spcBef>
          <a:spcPts val="12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88" userDrawn="1">
          <p15:clr>
            <a:srgbClr val="F26B43"/>
          </p15:clr>
        </p15:guide>
        <p15:guide id="2" pos="744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jpg"/><Relationship Id="rId4" Type="http://schemas.openxmlformats.org/officeDocument/2006/relationships/image" Target="../media/image7.jpg"/><Relationship Id="rId5" Type="http://schemas.openxmlformats.org/officeDocument/2006/relationships/image" Target="../media/image8.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chart" Target="../charts/chart1.xml"/><Relationship Id="rId4" Type="http://schemas.openxmlformats.org/officeDocument/2006/relationships/image" Target="../media/image9.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a:xfrm>
            <a:off x="356616" y="4480560"/>
            <a:ext cx="6035040" cy="822960"/>
          </a:xfrm>
        </p:spPr>
        <p:txBody>
          <a:bodyPr/>
          <a:lstStyle/>
          <a:p>
            <a:r>
              <a:rPr>
                <a:latin typeface="Arial"/>
                <a:ea typeface="Microsoft JhengHei"/>
              </a:rPr>
              <a:t>Medical receipt extraction benchmark</a:t>
            </a:r>
          </a:p>
          <a:p>
            <a:r>
              <a:rPr>
                <a:latin typeface="Arial"/>
                <a:ea typeface="Microsoft JhengHei"/>
              </a:rPr>
              <a:t>9 receipts · 6 fields · 3 approaches · plus a diagnosis-comment test</a:t>
            </a:r>
          </a:p>
        </p:txBody>
      </p:sp>
      <p:sp>
        <p:nvSpPr>
          <p:cNvPr id="3" name="Text Placeholder 2"/>
          <p:cNvSpPr>
            <a:spLocks noGrp="1"/>
          </p:cNvSpPr>
          <p:nvPr>
            <p:ph type="body" idx="10" sz="quarter"/>
          </p:nvPr>
        </p:nvSpPr>
        <p:spPr/>
        <p:txBody>
          <a:bodyPr/>
          <a:lstStyle/>
          <a:p>
            <a:r>
              <a:rPr>
                <a:latin typeface="Arial"/>
                <a:ea typeface="Microsoft JhengHei"/>
              </a:rPr>
              <a:t>Can OCR Rules Replace Azure OpenAI?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The Answer in Brief</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Rules can replace AOAI only for simple, clearly labelled tasks.</a:t>
            </a:r>
          </a:p>
        </p:txBody>
      </p:sp>
      <p:sp>
        <p:nvSpPr>
          <p:cNvPr id="12" name="Rectangle 11"/>
          <p:cNvSpPr/>
          <p:nvPr/>
        </p:nvSpPr>
        <p:spPr>
          <a:xfrm>
            <a:off x="356616" y="1783080"/>
            <a:ext cx="3931920" cy="3611880"/>
          </a:xfrm>
          <a:prstGeom prst="rect">
            <a:avLst/>
          </a:prstGeom>
          <a:solidFill>
            <a:srgbClr val="333D47"/>
          </a:solidFill>
          <a:ln>
            <a:noFill/>
          </a:ln>
        </p:spPr>
        <p:txBody>
          <a:bodyPr rtlCol="0" anchor="ctr" wrap="square" lIns="274320" rIns="274320" tIns="109728" bIns="109728"/>
          <a:lstStyle/>
          <a:p>
            <a:pPr algn="l" marL="0" indent="0">
              <a:spcAft>
                <a:spcPts val="1400"/>
              </a:spcAft>
              <a:buNone/>
            </a:pPr>
            <a:r>
              <a:rPr sz="2400" b="1" i="0">
                <a:solidFill>
                  <a:srgbClr val="FFFFFF"/>
                </a:solidFill>
                <a:latin typeface="Arial"/>
                <a:ea typeface="Microsoft JhengHei"/>
              </a:rPr>
              <a:t>Not as a general replacement.</a:t>
            </a:r>
          </a:p>
          <a:p>
            <a:pPr marL="0" indent="0" algn="l">
              <a:spcAft>
                <a:spcPts val="1000"/>
              </a:spcAft>
              <a:buNone/>
            </a:pPr>
            <a:r>
              <a:rPr sz="1500" b="0" i="0">
                <a:solidFill>
                  <a:srgbClr val="FFFFFF"/>
                </a:solidFill>
                <a:latin typeface="Arial"/>
                <a:ea typeface="Microsoft JhengHei"/>
              </a:rPr>
              <a:t>Rules can match AI on simple, labelled checks, after manual work.</a:t>
            </a:r>
          </a:p>
          <a:p>
            <a:pPr marL="0" indent="0" algn="l">
              <a:spcAft>
                <a:spcPts val="0"/>
              </a:spcAft>
              <a:buNone/>
            </a:pPr>
            <a:r>
              <a:rPr sz="1500" b="0" i="0">
                <a:solidFill>
                  <a:srgbClr val="FFFFFF"/>
                </a:solidFill>
                <a:latin typeface="Arial"/>
                <a:ea typeface="Microsoft JhengHei"/>
              </a:rPr>
              <a:t>AOAI is needed when receipt layouts vary and when richer medical information is wanted.</a:t>
            </a:r>
          </a:p>
        </p:txBody>
      </p:sp>
      <p:sp>
        <p:nvSpPr>
          <p:cNvPr id="13" name="Rectangle 12"/>
          <p:cNvSpPr/>
          <p:nvPr/>
        </p:nvSpPr>
        <p:spPr>
          <a:xfrm>
            <a:off x="4526280" y="1783080"/>
            <a:ext cx="3383280" cy="1097280"/>
          </a:xfrm>
          <a:prstGeom prst="rect">
            <a:avLst/>
          </a:prstGeom>
          <a:solidFill>
            <a:srgbClr val="F2F2F2"/>
          </a:solidFill>
          <a:ln>
            <a:noFill/>
          </a:ln>
        </p:spPr>
        <p:txBody>
          <a:bodyPr rtlCol="0" anchor="ctr" wrap="square" lIns="182880" rIns="182880" tIns="109728" bIns="109728"/>
          <a:lstStyle/>
          <a:p>
            <a:pPr algn="l" marL="0" indent="0">
              <a:spcAft>
                <a:spcPts val="0"/>
              </a:spcAft>
              <a:buNone/>
            </a:pPr>
            <a:r>
              <a:rPr sz="2000" b="1" i="0">
                <a:solidFill>
                  <a:srgbClr val="D31145"/>
                </a:solidFill>
                <a:latin typeface="Arial"/>
                <a:ea typeface="Microsoft JhengHei"/>
              </a:rPr>
              <a:t>88.2% vs 37.3–41.2%</a:t>
            </a:r>
          </a:p>
        </p:txBody>
      </p:sp>
      <p:sp>
        <p:nvSpPr>
          <p:cNvPr id="14" name="TextBox 13"/>
          <p:cNvSpPr txBox="1"/>
          <p:nvPr/>
        </p:nvSpPr>
        <p:spPr>
          <a:xfrm>
            <a:off x="8092440" y="1783080"/>
            <a:ext cx="3739896" cy="1097280"/>
          </a:xfrm>
          <a:prstGeom prst="rect">
            <a:avLst/>
          </a:prstGeom>
          <a:noFill/>
        </p:spPr>
        <p:txBody>
          <a:bodyPr wrap="square" lIns="0" rIns="0" tIns="0" bIns="0" anchor="ctr"/>
          <a:lstStyle/>
          <a:p>
            <a:pPr marL="0" indent="0" algn="l">
              <a:spcAft>
                <a:spcPts val="0"/>
              </a:spcAft>
              <a:buNone/>
            </a:pPr>
            <a:r>
              <a:rPr sz="1400" b="0" i="0">
                <a:solidFill>
                  <a:srgbClr val="333D47"/>
                </a:solidFill>
                <a:latin typeface="Arial"/>
                <a:ea typeface="Microsoft JhengHei"/>
              </a:rPr>
              <a:t>Before any tuning, AOAI was far ahead. The first rules had no Chinese labels.</a:t>
            </a:r>
          </a:p>
        </p:txBody>
      </p:sp>
      <p:sp>
        <p:nvSpPr>
          <p:cNvPr id="15" name="Rectangle 14"/>
          <p:cNvSpPr/>
          <p:nvPr/>
        </p:nvSpPr>
        <p:spPr>
          <a:xfrm>
            <a:off x="4526280" y="3008376"/>
            <a:ext cx="3383280" cy="1097280"/>
          </a:xfrm>
          <a:prstGeom prst="rect">
            <a:avLst/>
          </a:prstGeom>
          <a:solidFill>
            <a:srgbClr val="F2F2F2"/>
          </a:solidFill>
          <a:ln>
            <a:noFill/>
          </a:ln>
        </p:spPr>
        <p:txBody>
          <a:bodyPr rtlCol="0" anchor="ctr" wrap="square" lIns="182880" rIns="182880" tIns="109728" bIns="109728"/>
          <a:lstStyle/>
          <a:p>
            <a:pPr algn="l" marL="0" indent="0">
              <a:spcAft>
                <a:spcPts val="0"/>
              </a:spcAft>
              <a:buNone/>
            </a:pPr>
            <a:r>
              <a:rPr sz="2000" b="1" i="0">
                <a:solidFill>
                  <a:srgbClr val="D31145"/>
                </a:solidFill>
                <a:latin typeface="Arial"/>
                <a:ea typeface="Microsoft JhengHei"/>
              </a:rPr>
              <a:t>96.1% vs 86.3–88.2%</a:t>
            </a:r>
          </a:p>
        </p:txBody>
      </p:sp>
      <p:sp>
        <p:nvSpPr>
          <p:cNvPr id="16" name="TextBox 15"/>
          <p:cNvSpPr txBox="1"/>
          <p:nvPr/>
        </p:nvSpPr>
        <p:spPr>
          <a:xfrm>
            <a:off x="8092440" y="3008376"/>
            <a:ext cx="3739896" cy="1097280"/>
          </a:xfrm>
          <a:prstGeom prst="rect">
            <a:avLst/>
          </a:prstGeom>
          <a:noFill/>
        </p:spPr>
        <p:txBody>
          <a:bodyPr wrap="square" lIns="0" rIns="0" tIns="0" bIns="0" anchor="ctr"/>
          <a:lstStyle/>
          <a:p>
            <a:pPr marL="0" indent="0" algn="l">
              <a:spcAft>
                <a:spcPts val="0"/>
              </a:spcAft>
              <a:buNone/>
            </a:pPr>
            <a:r>
              <a:rPr sz="1400" b="0" i="0">
                <a:solidFill>
                  <a:srgbClr val="333D47"/>
                </a:solidFill>
                <a:latin typeface="Arial"/>
                <a:ea typeface="Microsoft JhengHei"/>
              </a:rPr>
              <a:t>After tuning on the same receipts (development results). Rules needed 69 → 225 label phrases; AOAI one prompt revision.</a:t>
            </a:r>
          </a:p>
        </p:txBody>
      </p:sp>
      <p:sp>
        <p:nvSpPr>
          <p:cNvPr id="17" name="Rectangle 16"/>
          <p:cNvSpPr/>
          <p:nvPr/>
        </p:nvSpPr>
        <p:spPr>
          <a:xfrm>
            <a:off x="4526280" y="4233672"/>
            <a:ext cx="3383280" cy="1097280"/>
          </a:xfrm>
          <a:prstGeom prst="rect">
            <a:avLst/>
          </a:prstGeom>
          <a:solidFill>
            <a:srgbClr val="F2F2F2"/>
          </a:solidFill>
          <a:ln>
            <a:noFill/>
          </a:ln>
        </p:spPr>
        <p:txBody>
          <a:bodyPr rtlCol="0" anchor="ctr" wrap="square" lIns="182880" rIns="182880" tIns="109728" bIns="109728"/>
          <a:lstStyle/>
          <a:p>
            <a:pPr algn="l" marL="0" indent="0">
              <a:spcAft>
                <a:spcPts val="0"/>
              </a:spcAft>
              <a:buNone/>
            </a:pPr>
            <a:r>
              <a:rPr sz="2000" b="1" i="0">
                <a:solidFill>
                  <a:srgbClr val="D31145"/>
                </a:solidFill>
                <a:latin typeface="Arial"/>
                <a:ea typeface="Microsoft JhengHei"/>
              </a:rPr>
              <a:t>13/13 for all</a:t>
            </a:r>
          </a:p>
        </p:txBody>
      </p:sp>
      <p:sp>
        <p:nvSpPr>
          <p:cNvPr id="18" name="TextBox 17"/>
          <p:cNvSpPr txBox="1"/>
          <p:nvPr/>
        </p:nvSpPr>
        <p:spPr>
          <a:xfrm>
            <a:off x="8092440" y="4233672"/>
            <a:ext cx="3739896" cy="1097280"/>
          </a:xfrm>
          <a:prstGeom prst="rect">
            <a:avLst/>
          </a:prstGeom>
          <a:noFill/>
        </p:spPr>
        <p:txBody>
          <a:bodyPr wrap="square" lIns="0" rIns="0" tIns="0" bIns="0" anchor="ctr"/>
          <a:lstStyle/>
          <a:p>
            <a:pPr marL="0" indent="0" algn="l">
              <a:spcAft>
                <a:spcPts val="0"/>
              </a:spcAft>
              <a:buNone/>
            </a:pPr>
            <a:r>
              <a:rPr sz="1400" b="0" i="0">
                <a:solidFill>
                  <a:srgbClr val="333D47"/>
                </a:solidFill>
                <a:latin typeface="Arial"/>
                <a:ea typeface="Microsoft JhengHei"/>
              </a:rPr>
              <a:t>On a yes/no diagnosis-comment check with clear labels, rules matched AOAI.</a:t>
            </a:r>
          </a:p>
        </p:txBody>
      </p:sp>
      <p:sp>
        <p:nvSpPr>
          <p:cNvPr id="19" name="TextBox 18"/>
          <p:cNvSpPr txBox="1"/>
          <p:nvPr/>
        </p:nvSpPr>
        <p:spPr>
          <a:xfrm>
            <a:off x="356616" y="5532120"/>
            <a:ext cx="10972800" cy="320040"/>
          </a:xfrm>
          <a:prstGeom prst="rect">
            <a:avLst/>
          </a:prstGeom>
          <a:noFill/>
        </p:spPr>
        <p:txBody>
          <a:bodyPr wrap="square" lIns="0" rIns="0" tIns="0" bIns="0" anchor="t"/>
          <a:lstStyle/>
          <a:p>
            <a:pPr marL="0" indent="0" algn="l">
              <a:spcAft>
                <a:spcPts val="0"/>
              </a:spcAft>
              <a:buNone/>
            </a:pPr>
            <a:r>
              <a:rPr sz="1100" b="0" i="1">
                <a:solidFill>
                  <a:srgbClr val="5F6770"/>
                </a:solidFill>
                <a:latin typeface="Arial"/>
                <a:ea typeface="Microsoft JhengHei"/>
              </a:rPr>
              <a:t>Development results are not independent validation; a test on 30+ unseen real receipts is still needed.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What We Compared</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Three ways to turn a receipt photo into six fields. Only the extraction step differs between rules and AI.</a:t>
            </a:r>
          </a:p>
        </p:txBody>
      </p:sp>
      <p:sp>
        <p:nvSpPr>
          <p:cNvPr id="12" name="TextBox 11"/>
          <p:cNvSpPr txBox="1"/>
          <p:nvPr/>
        </p:nvSpPr>
        <p:spPr>
          <a:xfrm>
            <a:off x="356616" y="1783080"/>
            <a:ext cx="2514600" cy="603504"/>
          </a:xfrm>
          <a:prstGeom prst="rect">
            <a:avLst/>
          </a:prstGeom>
          <a:noFill/>
        </p:spPr>
        <p:txBody>
          <a:bodyPr wrap="square" lIns="0" rIns="0" tIns="0" bIns="0" anchor="ctr"/>
          <a:lstStyle/>
          <a:p>
            <a:pPr marL="0" indent="0" algn="l">
              <a:spcAft>
                <a:spcPts val="0"/>
              </a:spcAft>
              <a:buNone/>
            </a:pPr>
            <a:r>
              <a:rPr sz="1500" b="1" i="0">
                <a:solidFill>
                  <a:srgbClr val="333D47"/>
                </a:solidFill>
                <a:latin typeface="Arial"/>
                <a:ea typeface="Microsoft JhengHei"/>
              </a:rPr>
              <a:t>PaddleOCR Light + rules</a:t>
            </a:r>
          </a:p>
        </p:txBody>
      </p:sp>
      <p:sp>
        <p:nvSpPr>
          <p:cNvPr id="13" name="Rectangle 12"/>
          <p:cNvSpPr/>
          <p:nvPr/>
        </p:nvSpPr>
        <p:spPr>
          <a:xfrm>
            <a:off x="2926080" y="1783080"/>
            <a:ext cx="3246120" cy="603504"/>
          </a:xfrm>
          <a:prstGeom prst="rect">
            <a:avLst/>
          </a:prstGeom>
          <a:solidFill>
            <a:srgbClr val="F2F2F2"/>
          </a:solidFill>
          <a:ln>
            <a:noFill/>
          </a:ln>
        </p:spPr>
        <p:txBody>
          <a:bodyPr rtlCol="0" anchor="ctr" wrap="square" lIns="137160" rIns="137160" tIns="109728" bIns="109728"/>
          <a:lstStyle/>
          <a:p>
            <a:pPr algn="l" marL="0" indent="0">
              <a:spcAft>
                <a:spcPts val="0"/>
              </a:spcAft>
              <a:buNone/>
            </a:pPr>
            <a:r>
              <a:rPr sz="1350" b="1" i="0">
                <a:solidFill>
                  <a:srgbClr val="333D47"/>
                </a:solidFill>
                <a:latin typeface="Arial"/>
                <a:ea typeface="Microsoft JhengHei"/>
              </a:rPr>
              <a:t>PaddleOCR Light</a:t>
            </a:r>
          </a:p>
          <a:p>
            <a:pPr marL="0" indent="0" algn="l">
              <a:spcAft>
                <a:spcPts val="0"/>
              </a:spcAft>
              <a:buNone/>
            </a:pPr>
            <a:r>
              <a:rPr sz="1100" b="0" i="0">
                <a:solidFill>
                  <a:srgbClr val="5F6770"/>
                </a:solidFill>
                <a:latin typeface="Arial"/>
                <a:ea typeface="Microsoft JhengHei"/>
              </a:rPr>
              <a:t>open source, own compute</a:t>
            </a:r>
          </a:p>
        </p:txBody>
      </p:sp>
      <p:sp>
        <p:nvSpPr>
          <p:cNvPr id="14" name="Right Arrow 13"/>
          <p:cNvSpPr/>
          <p:nvPr/>
        </p:nvSpPr>
        <p:spPr>
          <a:xfrm>
            <a:off x="6263640" y="1965960"/>
            <a:ext cx="365760" cy="237744"/>
          </a:xfrm>
          <a:prstGeom prst="rightArrow">
            <a:avLst/>
          </a:prstGeom>
          <a:solidFill>
            <a:srgbClr val="8C939A"/>
          </a:solidFill>
          <a:ln>
            <a:noFill/>
          </a:ln>
        </p:spPr>
        <p:txBody>
          <a:bodyPr rtlCol="0" anchor="ctr"/>
          <a:lstStyle/>
          <a:p>
            <a:pPr algn="ctr"/>
          </a:p>
        </p:txBody>
      </p:sp>
      <p:sp>
        <p:nvSpPr>
          <p:cNvPr id="15" name="Rectangle 14"/>
          <p:cNvSpPr/>
          <p:nvPr/>
        </p:nvSpPr>
        <p:spPr>
          <a:xfrm>
            <a:off x="6720840" y="1783080"/>
            <a:ext cx="3017520" cy="603504"/>
          </a:xfrm>
          <a:prstGeom prst="rect">
            <a:avLst/>
          </a:prstGeom>
          <a:solidFill>
            <a:srgbClr val="F2F2F2"/>
          </a:solidFill>
          <a:ln>
            <a:noFill/>
          </a:ln>
        </p:spPr>
        <p:txBody>
          <a:bodyPr rtlCol="0" anchor="ctr" wrap="square" lIns="137160" rIns="137160" tIns="109728" bIns="109728"/>
          <a:lstStyle/>
          <a:p>
            <a:pPr algn="l" marL="0" indent="0">
              <a:spcAft>
                <a:spcPts val="0"/>
              </a:spcAft>
              <a:buNone/>
            </a:pPr>
            <a:r>
              <a:rPr sz="1350" b="1" i="0">
                <a:solidFill>
                  <a:srgbClr val="333D47"/>
                </a:solidFill>
                <a:latin typeface="Arial"/>
                <a:ea typeface="Microsoft JhengHei"/>
              </a:rPr>
              <a:t>Hand-written rules</a:t>
            </a:r>
          </a:p>
        </p:txBody>
      </p:sp>
      <p:sp>
        <p:nvSpPr>
          <p:cNvPr id="16" name="Right Arrow 15"/>
          <p:cNvSpPr/>
          <p:nvPr/>
        </p:nvSpPr>
        <p:spPr>
          <a:xfrm>
            <a:off x="9829800" y="1965960"/>
            <a:ext cx="365760" cy="237744"/>
          </a:xfrm>
          <a:prstGeom prst="rightArrow">
            <a:avLst/>
          </a:prstGeom>
          <a:solidFill>
            <a:srgbClr val="8C939A"/>
          </a:solidFill>
          <a:ln>
            <a:noFill/>
          </a:ln>
        </p:spPr>
        <p:txBody>
          <a:bodyPr rtlCol="0" anchor="ctr"/>
          <a:lstStyle/>
          <a:p>
            <a:pPr algn="ctr"/>
          </a:p>
        </p:txBody>
      </p:sp>
      <p:sp>
        <p:nvSpPr>
          <p:cNvPr id="17" name="Rectangle 16"/>
          <p:cNvSpPr/>
          <p:nvPr/>
        </p:nvSpPr>
        <p:spPr>
          <a:xfrm>
            <a:off x="10287000" y="1783080"/>
            <a:ext cx="1545336" cy="603504"/>
          </a:xfrm>
          <a:prstGeom prst="rect">
            <a:avLst/>
          </a:prstGeom>
          <a:solidFill>
            <a:srgbClr val="F2F2F2"/>
          </a:solidFill>
          <a:ln>
            <a:noFill/>
          </a:ln>
        </p:spPr>
        <p:txBody>
          <a:bodyPr rtlCol="0" anchor="ctr" wrap="square" lIns="0" rIns="0" tIns="0" bIns="0"/>
          <a:lstStyle/>
          <a:p>
            <a:pPr algn="ctr" marL="0" indent="0">
              <a:spcAft>
                <a:spcPts val="0"/>
              </a:spcAft>
              <a:buNone/>
            </a:pPr>
            <a:r>
              <a:rPr sz="1350" b="1" i="0">
                <a:solidFill>
                  <a:srgbClr val="333D47"/>
                </a:solidFill>
                <a:latin typeface="Arial"/>
                <a:ea typeface="Microsoft JhengHei"/>
              </a:rPr>
              <a:t>6 fields</a:t>
            </a:r>
          </a:p>
        </p:txBody>
      </p:sp>
      <p:sp>
        <p:nvSpPr>
          <p:cNvPr id="18" name="TextBox 17"/>
          <p:cNvSpPr txBox="1"/>
          <p:nvPr/>
        </p:nvSpPr>
        <p:spPr>
          <a:xfrm>
            <a:off x="356616" y="2532888"/>
            <a:ext cx="2514600" cy="603504"/>
          </a:xfrm>
          <a:prstGeom prst="rect">
            <a:avLst/>
          </a:prstGeom>
          <a:noFill/>
        </p:spPr>
        <p:txBody>
          <a:bodyPr wrap="square" lIns="0" rIns="0" tIns="0" bIns="0" anchor="ctr"/>
          <a:lstStyle/>
          <a:p>
            <a:pPr marL="0" indent="0" algn="l">
              <a:spcAft>
                <a:spcPts val="0"/>
              </a:spcAft>
              <a:buNone/>
            </a:pPr>
            <a:r>
              <a:rPr sz="1500" b="1" i="0">
                <a:solidFill>
                  <a:srgbClr val="333D47"/>
                </a:solidFill>
                <a:latin typeface="Arial"/>
                <a:ea typeface="Microsoft JhengHei"/>
              </a:rPr>
              <a:t>Azure DI + rules</a:t>
            </a:r>
          </a:p>
        </p:txBody>
      </p:sp>
      <p:sp>
        <p:nvSpPr>
          <p:cNvPr id="19" name="Rectangle 18"/>
          <p:cNvSpPr/>
          <p:nvPr/>
        </p:nvSpPr>
        <p:spPr>
          <a:xfrm>
            <a:off x="2926080" y="2532888"/>
            <a:ext cx="3246120" cy="603504"/>
          </a:xfrm>
          <a:prstGeom prst="rect">
            <a:avLst/>
          </a:prstGeom>
          <a:solidFill>
            <a:srgbClr val="F2F2F2"/>
          </a:solidFill>
          <a:ln>
            <a:noFill/>
          </a:ln>
        </p:spPr>
        <p:txBody>
          <a:bodyPr rtlCol="0" anchor="ctr" wrap="square" lIns="137160" rIns="137160" tIns="109728" bIns="109728"/>
          <a:lstStyle/>
          <a:p>
            <a:pPr algn="l" marL="0" indent="0">
              <a:spcAft>
                <a:spcPts val="0"/>
              </a:spcAft>
              <a:buNone/>
            </a:pPr>
            <a:r>
              <a:rPr sz="1350" b="1" i="0">
                <a:solidFill>
                  <a:srgbClr val="333D47"/>
                </a:solidFill>
                <a:latin typeface="Arial"/>
                <a:ea typeface="Microsoft JhengHei"/>
              </a:rPr>
              <a:t>Azure Document Intelligence</a:t>
            </a:r>
          </a:p>
          <a:p>
            <a:pPr marL="0" indent="0" algn="l">
              <a:spcAft>
                <a:spcPts val="0"/>
              </a:spcAft>
              <a:buNone/>
            </a:pPr>
            <a:r>
              <a:rPr sz="1100" b="0" i="0">
                <a:solidFill>
                  <a:srgbClr val="5F6770"/>
                </a:solidFill>
                <a:latin typeface="Arial"/>
                <a:ea typeface="Microsoft JhengHei"/>
              </a:rPr>
              <a:t>cloud OCR</a:t>
            </a:r>
          </a:p>
        </p:txBody>
      </p:sp>
      <p:sp>
        <p:nvSpPr>
          <p:cNvPr id="20" name="Right Arrow 19"/>
          <p:cNvSpPr/>
          <p:nvPr/>
        </p:nvSpPr>
        <p:spPr>
          <a:xfrm>
            <a:off x="6263640" y="2715768"/>
            <a:ext cx="365760" cy="237744"/>
          </a:xfrm>
          <a:prstGeom prst="rightArrow">
            <a:avLst/>
          </a:prstGeom>
          <a:solidFill>
            <a:srgbClr val="8C939A"/>
          </a:solidFill>
          <a:ln>
            <a:noFill/>
          </a:ln>
        </p:spPr>
        <p:txBody>
          <a:bodyPr rtlCol="0" anchor="ctr"/>
          <a:lstStyle/>
          <a:p>
            <a:pPr algn="ctr"/>
          </a:p>
        </p:txBody>
      </p:sp>
      <p:sp>
        <p:nvSpPr>
          <p:cNvPr id="21" name="Rectangle 20"/>
          <p:cNvSpPr/>
          <p:nvPr/>
        </p:nvSpPr>
        <p:spPr>
          <a:xfrm>
            <a:off x="6720840" y="2532888"/>
            <a:ext cx="3017520" cy="603504"/>
          </a:xfrm>
          <a:prstGeom prst="rect">
            <a:avLst/>
          </a:prstGeom>
          <a:solidFill>
            <a:srgbClr val="F2F2F2"/>
          </a:solidFill>
          <a:ln>
            <a:noFill/>
          </a:ln>
        </p:spPr>
        <p:txBody>
          <a:bodyPr rtlCol="0" anchor="ctr" wrap="square" lIns="137160" rIns="137160" tIns="109728" bIns="109728"/>
          <a:lstStyle/>
          <a:p>
            <a:pPr algn="l" marL="0" indent="0">
              <a:spcAft>
                <a:spcPts val="0"/>
              </a:spcAft>
              <a:buNone/>
            </a:pPr>
            <a:r>
              <a:rPr sz="1350" b="1" i="0">
                <a:solidFill>
                  <a:srgbClr val="333D47"/>
                </a:solidFill>
                <a:latin typeface="Arial"/>
                <a:ea typeface="Microsoft JhengHei"/>
              </a:rPr>
              <a:t>Hand-written rules</a:t>
            </a:r>
          </a:p>
        </p:txBody>
      </p:sp>
      <p:sp>
        <p:nvSpPr>
          <p:cNvPr id="22" name="Right Arrow 21"/>
          <p:cNvSpPr/>
          <p:nvPr/>
        </p:nvSpPr>
        <p:spPr>
          <a:xfrm>
            <a:off x="9829800" y="2715768"/>
            <a:ext cx="365760" cy="237744"/>
          </a:xfrm>
          <a:prstGeom prst="rightArrow">
            <a:avLst/>
          </a:prstGeom>
          <a:solidFill>
            <a:srgbClr val="8C939A"/>
          </a:solidFill>
          <a:ln>
            <a:noFill/>
          </a:ln>
        </p:spPr>
        <p:txBody>
          <a:bodyPr rtlCol="0" anchor="ctr"/>
          <a:lstStyle/>
          <a:p>
            <a:pPr algn="ctr"/>
          </a:p>
        </p:txBody>
      </p:sp>
      <p:sp>
        <p:nvSpPr>
          <p:cNvPr id="23" name="Rectangle 22"/>
          <p:cNvSpPr/>
          <p:nvPr/>
        </p:nvSpPr>
        <p:spPr>
          <a:xfrm>
            <a:off x="10287000" y="2532888"/>
            <a:ext cx="1545336" cy="603504"/>
          </a:xfrm>
          <a:prstGeom prst="rect">
            <a:avLst/>
          </a:prstGeom>
          <a:solidFill>
            <a:srgbClr val="F2F2F2"/>
          </a:solidFill>
          <a:ln>
            <a:noFill/>
          </a:ln>
        </p:spPr>
        <p:txBody>
          <a:bodyPr rtlCol="0" anchor="ctr" wrap="square" lIns="0" rIns="0" tIns="0" bIns="0"/>
          <a:lstStyle/>
          <a:p>
            <a:pPr algn="ctr" marL="0" indent="0">
              <a:spcAft>
                <a:spcPts val="0"/>
              </a:spcAft>
              <a:buNone/>
            </a:pPr>
            <a:r>
              <a:rPr sz="1350" b="1" i="0">
                <a:solidFill>
                  <a:srgbClr val="333D47"/>
                </a:solidFill>
                <a:latin typeface="Arial"/>
                <a:ea typeface="Microsoft JhengHei"/>
              </a:rPr>
              <a:t>6 fields</a:t>
            </a:r>
          </a:p>
        </p:txBody>
      </p:sp>
      <p:sp>
        <p:nvSpPr>
          <p:cNvPr id="24" name="TextBox 23"/>
          <p:cNvSpPr txBox="1"/>
          <p:nvPr/>
        </p:nvSpPr>
        <p:spPr>
          <a:xfrm>
            <a:off x="356616" y="3282696"/>
            <a:ext cx="2514600" cy="603504"/>
          </a:xfrm>
          <a:prstGeom prst="rect">
            <a:avLst/>
          </a:prstGeom>
          <a:noFill/>
        </p:spPr>
        <p:txBody>
          <a:bodyPr wrap="square" lIns="0" rIns="0" tIns="0" bIns="0" anchor="ctr"/>
          <a:lstStyle/>
          <a:p>
            <a:pPr marL="0" indent="0" algn="l">
              <a:spcAft>
                <a:spcPts val="0"/>
              </a:spcAft>
              <a:buNone/>
            </a:pPr>
            <a:r>
              <a:rPr sz="1500" b="1" i="0">
                <a:solidFill>
                  <a:srgbClr val="D31145"/>
                </a:solidFill>
                <a:latin typeface="Arial"/>
                <a:ea typeface="Microsoft JhengHei"/>
              </a:rPr>
              <a:t>Azure DI + AOAI</a:t>
            </a:r>
          </a:p>
        </p:txBody>
      </p:sp>
      <p:sp>
        <p:nvSpPr>
          <p:cNvPr id="25" name="Rectangle 24"/>
          <p:cNvSpPr/>
          <p:nvPr/>
        </p:nvSpPr>
        <p:spPr>
          <a:xfrm>
            <a:off x="2926080" y="3282696"/>
            <a:ext cx="3246120" cy="603504"/>
          </a:xfrm>
          <a:prstGeom prst="rect">
            <a:avLst/>
          </a:prstGeom>
          <a:solidFill>
            <a:srgbClr val="F2F2F2"/>
          </a:solidFill>
          <a:ln>
            <a:noFill/>
          </a:ln>
        </p:spPr>
        <p:txBody>
          <a:bodyPr rtlCol="0" anchor="ctr" wrap="square" lIns="137160" rIns="137160" tIns="109728" bIns="109728"/>
          <a:lstStyle/>
          <a:p>
            <a:pPr algn="l" marL="0" indent="0">
              <a:spcAft>
                <a:spcPts val="0"/>
              </a:spcAft>
              <a:buNone/>
            </a:pPr>
            <a:r>
              <a:rPr sz="1350" b="1" i="0">
                <a:solidFill>
                  <a:srgbClr val="333D47"/>
                </a:solidFill>
                <a:latin typeface="Arial"/>
                <a:ea typeface="Microsoft JhengHei"/>
              </a:rPr>
              <a:t>Azure Document Intelligence</a:t>
            </a:r>
          </a:p>
          <a:p>
            <a:pPr marL="0" indent="0" algn="l">
              <a:spcAft>
                <a:spcPts val="0"/>
              </a:spcAft>
              <a:buNone/>
            </a:pPr>
            <a:r>
              <a:rPr sz="1100" b="0" i="0">
                <a:solidFill>
                  <a:srgbClr val="5F6770"/>
                </a:solidFill>
                <a:latin typeface="Arial"/>
                <a:ea typeface="Microsoft JhengHei"/>
              </a:rPr>
              <a:t>cloud OCR</a:t>
            </a:r>
          </a:p>
        </p:txBody>
      </p:sp>
      <p:sp>
        <p:nvSpPr>
          <p:cNvPr id="26" name="Right Arrow 25"/>
          <p:cNvSpPr/>
          <p:nvPr/>
        </p:nvSpPr>
        <p:spPr>
          <a:xfrm>
            <a:off x="6263640" y="3465576"/>
            <a:ext cx="365760" cy="237744"/>
          </a:xfrm>
          <a:prstGeom prst="rightArrow">
            <a:avLst/>
          </a:prstGeom>
          <a:solidFill>
            <a:srgbClr val="8C939A"/>
          </a:solidFill>
          <a:ln>
            <a:noFill/>
          </a:ln>
        </p:spPr>
        <p:txBody>
          <a:bodyPr rtlCol="0" anchor="ctr"/>
          <a:lstStyle/>
          <a:p>
            <a:pPr algn="ctr"/>
          </a:p>
        </p:txBody>
      </p:sp>
      <p:sp>
        <p:nvSpPr>
          <p:cNvPr id="27" name="Rectangle 26"/>
          <p:cNvSpPr/>
          <p:nvPr/>
        </p:nvSpPr>
        <p:spPr>
          <a:xfrm>
            <a:off x="6720840" y="3282696"/>
            <a:ext cx="3017520" cy="603504"/>
          </a:xfrm>
          <a:prstGeom prst="rect">
            <a:avLst/>
          </a:prstGeom>
          <a:solidFill>
            <a:srgbClr val="FFFFFF"/>
          </a:solidFill>
          <a:ln w="25400">
            <a:solidFill>
              <a:srgbClr val="D31145"/>
            </a:solidFill>
          </a:ln>
        </p:spPr>
        <p:txBody>
          <a:bodyPr rtlCol="0" anchor="ctr" wrap="square" lIns="137160" rIns="137160" tIns="109728" bIns="109728"/>
          <a:lstStyle/>
          <a:p>
            <a:pPr algn="l" marL="0" indent="0">
              <a:spcAft>
                <a:spcPts val="0"/>
              </a:spcAft>
              <a:buNone/>
            </a:pPr>
            <a:r>
              <a:rPr sz="1350" b="1" i="0">
                <a:solidFill>
                  <a:srgbClr val="D31145"/>
                </a:solidFill>
                <a:latin typeface="Arial"/>
                <a:ea typeface="Microsoft JhengHei"/>
              </a:rPr>
              <a:t>Azure OpenAI prompt</a:t>
            </a:r>
          </a:p>
        </p:txBody>
      </p:sp>
      <p:sp>
        <p:nvSpPr>
          <p:cNvPr id="28" name="Right Arrow 27"/>
          <p:cNvSpPr/>
          <p:nvPr/>
        </p:nvSpPr>
        <p:spPr>
          <a:xfrm>
            <a:off x="9829800" y="3465576"/>
            <a:ext cx="365760" cy="237744"/>
          </a:xfrm>
          <a:prstGeom prst="rightArrow">
            <a:avLst/>
          </a:prstGeom>
          <a:solidFill>
            <a:srgbClr val="8C939A"/>
          </a:solidFill>
          <a:ln>
            <a:noFill/>
          </a:ln>
        </p:spPr>
        <p:txBody>
          <a:bodyPr rtlCol="0" anchor="ctr"/>
          <a:lstStyle/>
          <a:p>
            <a:pPr algn="ctr"/>
          </a:p>
        </p:txBody>
      </p:sp>
      <p:sp>
        <p:nvSpPr>
          <p:cNvPr id="29" name="Rectangle 28"/>
          <p:cNvSpPr/>
          <p:nvPr/>
        </p:nvSpPr>
        <p:spPr>
          <a:xfrm>
            <a:off x="10287000" y="3282696"/>
            <a:ext cx="1545336" cy="603504"/>
          </a:xfrm>
          <a:prstGeom prst="rect">
            <a:avLst/>
          </a:prstGeom>
          <a:solidFill>
            <a:srgbClr val="F2F2F2"/>
          </a:solidFill>
          <a:ln>
            <a:noFill/>
          </a:ln>
        </p:spPr>
        <p:txBody>
          <a:bodyPr rtlCol="0" anchor="ctr" wrap="square" lIns="0" rIns="0" tIns="0" bIns="0"/>
          <a:lstStyle/>
          <a:p>
            <a:pPr algn="ctr" marL="0" indent="0">
              <a:spcAft>
                <a:spcPts val="0"/>
              </a:spcAft>
              <a:buNone/>
            </a:pPr>
            <a:r>
              <a:rPr sz="1350" b="1" i="0">
                <a:solidFill>
                  <a:srgbClr val="333D47"/>
                </a:solidFill>
                <a:latin typeface="Arial"/>
                <a:ea typeface="Microsoft JhengHei"/>
              </a:rPr>
              <a:t>6 fields</a:t>
            </a:r>
          </a:p>
        </p:txBody>
      </p:sp>
      <p:sp>
        <p:nvSpPr>
          <p:cNvPr id="30" name="TextBox 29"/>
          <p:cNvSpPr txBox="1"/>
          <p:nvPr/>
        </p:nvSpPr>
        <p:spPr>
          <a:xfrm>
            <a:off x="2926080" y="1481328"/>
            <a:ext cx="3246120" cy="274320"/>
          </a:xfrm>
          <a:prstGeom prst="rect">
            <a:avLst/>
          </a:prstGeom>
          <a:noFill/>
        </p:spPr>
        <p:txBody>
          <a:bodyPr wrap="square" lIns="0" rIns="0" tIns="0" bIns="0" anchor="t"/>
          <a:lstStyle/>
          <a:p>
            <a:pPr marL="0" indent="0" algn="l">
              <a:spcAft>
                <a:spcPts val="0"/>
              </a:spcAft>
              <a:buNone/>
            </a:pPr>
            <a:r>
              <a:rPr sz="1150" b="1" i="0">
                <a:solidFill>
                  <a:srgbClr val="5F6770"/>
                </a:solidFill>
                <a:latin typeface="Arial"/>
                <a:ea typeface="Microsoft JhengHei"/>
              </a:rPr>
              <a:t>1. Read the text (OCR)</a:t>
            </a:r>
          </a:p>
        </p:txBody>
      </p:sp>
      <p:sp>
        <p:nvSpPr>
          <p:cNvPr id="31" name="TextBox 30"/>
          <p:cNvSpPr txBox="1"/>
          <p:nvPr/>
        </p:nvSpPr>
        <p:spPr>
          <a:xfrm>
            <a:off x="6720840" y="1481328"/>
            <a:ext cx="3017520" cy="274320"/>
          </a:xfrm>
          <a:prstGeom prst="rect">
            <a:avLst/>
          </a:prstGeom>
          <a:noFill/>
        </p:spPr>
        <p:txBody>
          <a:bodyPr wrap="square" lIns="0" rIns="0" tIns="0" bIns="0" anchor="t"/>
          <a:lstStyle/>
          <a:p>
            <a:pPr marL="0" indent="0" algn="l">
              <a:spcAft>
                <a:spcPts val="0"/>
              </a:spcAft>
              <a:buNone/>
            </a:pPr>
            <a:r>
              <a:rPr sz="1150" b="1" i="0">
                <a:solidFill>
                  <a:srgbClr val="5F6770"/>
                </a:solidFill>
                <a:latin typeface="Arial"/>
                <a:ea typeface="Microsoft JhengHei"/>
              </a:rPr>
              <a:t>2. Find the fields</a:t>
            </a:r>
          </a:p>
        </p:txBody>
      </p:sp>
      <p:pic>
        <p:nvPicPr>
          <p:cNvPr id="32" name="Picture 31" descr="thumb_receipt1.jpg"/>
          <p:cNvPicPr>
            <a:picLocks noChangeAspect="1"/>
          </p:cNvPicPr>
          <p:nvPr/>
        </p:nvPicPr>
        <p:blipFill>
          <a:blip r:embed="rId3"/>
          <a:stretch>
            <a:fillRect/>
          </a:stretch>
        </p:blipFill>
        <p:spPr>
          <a:xfrm>
            <a:off x="356616" y="4114800"/>
            <a:ext cx="994409" cy="1325880"/>
          </a:xfrm>
          <a:prstGeom prst="rect">
            <a:avLst/>
          </a:prstGeom>
          <a:ln w="9525">
            <a:solidFill>
              <a:srgbClr val="BFBFBF"/>
            </a:solidFill>
          </a:ln>
        </p:spPr>
      </p:pic>
      <p:sp>
        <p:nvSpPr>
          <p:cNvPr id="33" name="TextBox 32"/>
          <p:cNvSpPr txBox="1"/>
          <p:nvPr/>
        </p:nvSpPr>
        <p:spPr>
          <a:xfrm>
            <a:off x="356616" y="5468112"/>
            <a:ext cx="1097280" cy="228600"/>
          </a:xfrm>
          <a:prstGeom prst="rect">
            <a:avLst/>
          </a:prstGeom>
          <a:noFill/>
        </p:spPr>
        <p:txBody>
          <a:bodyPr wrap="square" lIns="0" rIns="0" tIns="0" bIns="0" anchor="t"/>
          <a:lstStyle/>
          <a:p>
            <a:pPr marL="0" indent="0" algn="l">
              <a:spcAft>
                <a:spcPts val="0"/>
              </a:spcAft>
              <a:buNone/>
            </a:pPr>
            <a:r>
              <a:rPr sz="1050" b="0" i="0">
                <a:solidFill>
                  <a:srgbClr val="5F6770"/>
                </a:solidFill>
                <a:latin typeface="Arial"/>
                <a:ea typeface="Microsoft JhengHei"/>
              </a:rPr>
              <a:t>English</a:t>
            </a:r>
          </a:p>
        </p:txBody>
      </p:sp>
      <p:pic>
        <p:nvPicPr>
          <p:cNvPr id="34" name="Picture 33" descr="thumb_receipt3.jpg"/>
          <p:cNvPicPr>
            <a:picLocks noChangeAspect="1"/>
          </p:cNvPicPr>
          <p:nvPr/>
        </p:nvPicPr>
        <p:blipFill>
          <a:blip r:embed="rId4"/>
          <a:stretch>
            <a:fillRect/>
          </a:stretch>
        </p:blipFill>
        <p:spPr>
          <a:xfrm>
            <a:off x="1545336" y="4114800"/>
            <a:ext cx="994409" cy="1325880"/>
          </a:xfrm>
          <a:prstGeom prst="rect">
            <a:avLst/>
          </a:prstGeom>
          <a:ln w="9525">
            <a:solidFill>
              <a:srgbClr val="BFBFBF"/>
            </a:solidFill>
          </a:ln>
        </p:spPr>
      </p:pic>
      <p:sp>
        <p:nvSpPr>
          <p:cNvPr id="35" name="TextBox 34"/>
          <p:cNvSpPr txBox="1"/>
          <p:nvPr/>
        </p:nvSpPr>
        <p:spPr>
          <a:xfrm>
            <a:off x="1545336" y="5468112"/>
            <a:ext cx="1097280" cy="228600"/>
          </a:xfrm>
          <a:prstGeom prst="rect">
            <a:avLst/>
          </a:prstGeom>
          <a:noFill/>
        </p:spPr>
        <p:txBody>
          <a:bodyPr wrap="square" lIns="0" rIns="0" tIns="0" bIns="0" anchor="t"/>
          <a:lstStyle/>
          <a:p>
            <a:pPr marL="0" indent="0" algn="l">
              <a:spcAft>
                <a:spcPts val="0"/>
              </a:spcAft>
              <a:buNone/>
            </a:pPr>
            <a:r>
              <a:rPr sz="1050" b="0" i="0">
                <a:solidFill>
                  <a:srgbClr val="5F6770"/>
                </a:solidFill>
                <a:latin typeface="Arial"/>
                <a:ea typeface="Microsoft JhengHei"/>
              </a:rPr>
              <a:t>Bilingual</a:t>
            </a:r>
          </a:p>
        </p:txBody>
      </p:sp>
      <p:pic>
        <p:nvPicPr>
          <p:cNvPr id="36" name="Picture 35" descr="thumb_receipt4.jpg"/>
          <p:cNvPicPr>
            <a:picLocks noChangeAspect="1"/>
          </p:cNvPicPr>
          <p:nvPr/>
        </p:nvPicPr>
        <p:blipFill>
          <a:blip r:embed="rId5"/>
          <a:stretch>
            <a:fillRect/>
          </a:stretch>
        </p:blipFill>
        <p:spPr>
          <a:xfrm>
            <a:off x="2734056" y="4114800"/>
            <a:ext cx="994409" cy="1325880"/>
          </a:xfrm>
          <a:prstGeom prst="rect">
            <a:avLst/>
          </a:prstGeom>
          <a:ln w="9525">
            <a:solidFill>
              <a:srgbClr val="BFBFBF"/>
            </a:solidFill>
          </a:ln>
        </p:spPr>
      </p:pic>
      <p:sp>
        <p:nvSpPr>
          <p:cNvPr id="37" name="TextBox 36"/>
          <p:cNvSpPr txBox="1"/>
          <p:nvPr/>
        </p:nvSpPr>
        <p:spPr>
          <a:xfrm>
            <a:off x="2734056" y="5468112"/>
            <a:ext cx="1097280" cy="228600"/>
          </a:xfrm>
          <a:prstGeom prst="rect">
            <a:avLst/>
          </a:prstGeom>
          <a:noFill/>
        </p:spPr>
        <p:txBody>
          <a:bodyPr wrap="square" lIns="0" rIns="0" tIns="0" bIns="0" anchor="t"/>
          <a:lstStyle/>
          <a:p>
            <a:pPr marL="0" indent="0" algn="l">
              <a:spcAft>
                <a:spcPts val="0"/>
              </a:spcAft>
              <a:buNone/>
            </a:pPr>
            <a:r>
              <a:rPr sz="1050" b="0" i="0">
                <a:solidFill>
                  <a:srgbClr val="5F6770"/>
                </a:solidFill>
                <a:latin typeface="Arial"/>
                <a:ea typeface="Microsoft JhengHei"/>
              </a:rPr>
              <a:t>Chinese</a:t>
            </a:r>
          </a:p>
        </p:txBody>
      </p:sp>
      <p:sp>
        <p:nvSpPr>
          <p:cNvPr id="38" name="Rectangle 37"/>
          <p:cNvSpPr/>
          <p:nvPr/>
        </p:nvSpPr>
        <p:spPr>
          <a:xfrm>
            <a:off x="4023360" y="4114800"/>
            <a:ext cx="7808975" cy="1325880"/>
          </a:xfrm>
          <a:prstGeom prst="rect">
            <a:avLst/>
          </a:prstGeom>
          <a:solidFill>
            <a:srgbClr val="F2F2F2"/>
          </a:solidFill>
          <a:ln>
            <a:noFill/>
          </a:ln>
        </p:spPr>
        <p:txBody>
          <a:bodyPr rtlCol="0" anchor="ctr" wrap="square" lIns="228600" rIns="228600" tIns="109728" bIns="109728"/>
          <a:lstStyle/>
          <a:p>
            <a:pPr algn="l" marL="0" indent="0">
              <a:spcAft>
                <a:spcPts val="800"/>
              </a:spcAft>
              <a:buNone/>
            </a:pPr>
            <a:r>
              <a:rPr sz="1400" b="1" i="0">
                <a:solidFill>
                  <a:srgbClr val="333D47"/>
                </a:solidFill>
                <a:latin typeface="Arial"/>
                <a:ea typeface="Microsoft JhengHei"/>
              </a:rPr>
              <a:t>9 receipts</a:t>
            </a:r>
            <a:r>
              <a:rPr sz="1400" b="0" i="0">
                <a:solidFill>
                  <a:srgbClr val="333D47"/>
                </a:solidFill>
                <a:latin typeface="Arial"/>
                <a:ea typeface="Microsoft JhengHei"/>
              </a:rPr>
              <a:t>: 7 printed test receipts (English, bilingual, Chinese layouts) and 2 from the first benchmark round.</a:t>
            </a:r>
          </a:p>
          <a:p>
            <a:pPr marL="0" indent="0" algn="l">
              <a:spcAft>
                <a:spcPts val="0"/>
              </a:spcAft>
              <a:buNone/>
            </a:pPr>
            <a:r>
              <a:rPr sz="1400" b="1" i="0">
                <a:solidFill>
                  <a:srgbClr val="333D47"/>
                </a:solidFill>
                <a:latin typeface="Arial"/>
                <a:ea typeface="Microsoft JhengHei"/>
              </a:rPr>
              <a:t>51 fields scored</a:t>
            </a:r>
            <a:r>
              <a:rPr sz="1400" b="0" i="0">
                <a:solidFill>
                  <a:srgbClr val="333D47"/>
                </a:solidFill>
                <a:latin typeface="Arial"/>
                <a:ea typeface="Microsoft JhengHei"/>
              </a:rPr>
              <a:t>: doctor, registration no., patient, receipt no., service date, total.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8778240" cy="566928"/>
          </a:xfrm>
        </p:spPr>
        <p:txBody>
          <a:bodyPr lIns="0"/>
          <a:lstStyle/>
          <a:p>
            <a:r>
              <a:rPr sz="2800" b="1">
                <a:solidFill>
                  <a:srgbClr val="333D47"/>
                </a:solidFill>
                <a:latin typeface="Arial"/>
                <a:ea typeface="Microsoft JhengHei"/>
              </a:rPr>
              <a:t>Before Tuning: AOAI Was Far Ahead</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Rounded Rectangle 10"/>
          <p:cNvSpPr/>
          <p:nvPr/>
        </p:nvSpPr>
        <p:spPr>
          <a:xfrm>
            <a:off x="9372600" y="603504"/>
            <a:ext cx="2459736" cy="329184"/>
          </a:xfrm>
          <a:prstGeom prst="roundRect">
            <a:avLst/>
          </a:prstGeom>
          <a:solidFill>
            <a:srgbClr val="FFFFFF"/>
          </a:solidFill>
          <a:ln w="15875">
            <a:solidFill>
              <a:srgbClr val="333D47"/>
            </a:solidFill>
          </a:ln>
        </p:spPr>
        <p:txBody>
          <a:bodyPr rtlCol="0" anchor="ctr" lIns="45720" rIns="45720" tIns="0" bIns="0"/>
          <a:lstStyle/>
          <a:p>
            <a:pPr algn="ctr"/>
            <a:r>
              <a:rPr sz="1050" b="1">
                <a:solidFill>
                  <a:srgbClr val="333D47"/>
                </a:solidFill>
                <a:latin typeface="Arial"/>
                <a:ea typeface="Microsoft JhengHei"/>
              </a:rPr>
              <a:t>MEASURED · BEFORE TUNING</a:t>
            </a:r>
          </a:p>
        </p:txBody>
      </p:sp>
      <p:sp>
        <p:nvSpPr>
          <p:cNvPr id="12" name="TextBox 11"/>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Out of the box, AI extraction found more than twice as many fields as the first rule sets.</a:t>
            </a:r>
          </a:p>
        </p:txBody>
      </p:sp>
      <p:graphicFrame>
        <p:nvGraphicFramePr>
          <p:cNvPr id="13" name="Chart 12"/>
          <p:cNvGraphicFramePr>
            <a:graphicFrameLocks noGrp="1"/>
          </p:cNvGraphicFramePr>
          <p:nvPr/>
        </p:nvGraphicFramePr>
        <p:xfrm>
          <a:off x="356616" y="1691640"/>
          <a:ext cx="6309360" cy="3749039"/>
        </p:xfrm>
        <a:graphic>
          <a:graphicData uri="http://schemas.openxmlformats.org/drawingml/2006/chart">
            <c:chart xmlns:c="http://schemas.openxmlformats.org/drawingml/2006/chart" r:id="rId3"/>
          </a:graphicData>
        </a:graphic>
      </p:graphicFrame>
      <p:sp>
        <p:nvSpPr>
          <p:cNvPr id="14" name="Rectangle 13"/>
          <p:cNvSpPr/>
          <p:nvPr/>
        </p:nvSpPr>
        <p:spPr>
          <a:xfrm>
            <a:off x="6949440" y="1783080"/>
            <a:ext cx="4882896" cy="1600200"/>
          </a:xfrm>
          <a:prstGeom prst="rect">
            <a:avLst/>
          </a:prstGeom>
          <a:solidFill>
            <a:srgbClr val="F2F2F2"/>
          </a:solidFill>
          <a:ln>
            <a:noFill/>
          </a:ln>
        </p:spPr>
        <p:txBody>
          <a:bodyPr rtlCol="0" anchor="t" wrap="square" lIns="182880" rIns="182880" tIns="109728" bIns="109728"/>
          <a:lstStyle/>
          <a:p>
            <a:pPr algn="l" marL="0" indent="0">
              <a:spcAft>
                <a:spcPts val="400"/>
              </a:spcAft>
              <a:buNone/>
            </a:pPr>
            <a:r>
              <a:rPr sz="1500" b="1" i="0">
                <a:solidFill>
                  <a:srgbClr val="D31145"/>
                </a:solidFill>
                <a:latin typeface="Arial"/>
                <a:ea typeface="Microsoft JhengHei"/>
              </a:rPr>
              <a:t>Why the rules scored low</a:t>
            </a:r>
          </a:p>
          <a:p>
            <a:pPr marL="182880" indent="-182880" algn="l">
              <a:spcAft>
                <a:spcPts val="300"/>
              </a:spcAft>
              <a:buFont typeface="Arial"/>
              <a:buChar char="•"/>
            </a:pPr>
            <a:r>
              <a:rPr sz="1300" b="0" i="0">
                <a:solidFill>
                  <a:srgbClr val="333D47"/>
                </a:solidFill>
                <a:latin typeface="Arial"/>
                <a:ea typeface="Microsoft JhengHei"/>
              </a:rPr>
              <a:t>The first rules knew English labels only: no Chinese or bilingual labels.</a:t>
            </a:r>
          </a:p>
          <a:p>
            <a:pPr marL="182880" indent="-182880" algn="l">
              <a:spcAft>
                <a:spcPts val="0"/>
              </a:spcAft>
              <a:buFont typeface="Arial"/>
              <a:buChar char="•"/>
            </a:pPr>
            <a:r>
              <a:rPr sz="1300" b="1" i="0">
                <a:solidFill>
                  <a:srgbClr val="333D47"/>
                </a:solidFill>
                <a:latin typeface="Arial"/>
                <a:ea typeface="Microsoft JhengHei"/>
              </a:rPr>
              <a:t>So this compares first versions, not the best each approach can do.</a:t>
            </a:r>
          </a:p>
        </p:txBody>
      </p:sp>
      <p:pic>
        <p:nvPicPr>
          <p:cNvPr id="15" name="Picture 14" descr="crop_receipt8_patient.jpg"/>
          <p:cNvPicPr>
            <a:picLocks noChangeAspect="1"/>
          </p:cNvPicPr>
          <p:nvPr/>
        </p:nvPicPr>
        <p:blipFill>
          <a:blip r:embed="rId4"/>
          <a:stretch>
            <a:fillRect/>
          </a:stretch>
        </p:blipFill>
        <p:spPr>
          <a:xfrm>
            <a:off x="6949440" y="3566160"/>
            <a:ext cx="2194560" cy="1536824"/>
          </a:xfrm>
          <a:prstGeom prst="rect">
            <a:avLst/>
          </a:prstGeom>
          <a:ln w="9525">
            <a:solidFill>
              <a:srgbClr val="BFBFBF"/>
            </a:solidFill>
          </a:ln>
        </p:spPr>
      </p:pic>
      <p:sp>
        <p:nvSpPr>
          <p:cNvPr id="16" name="TextBox 15"/>
          <p:cNvSpPr txBox="1"/>
          <p:nvPr/>
        </p:nvSpPr>
        <p:spPr>
          <a:xfrm>
            <a:off x="9326880" y="3566160"/>
            <a:ext cx="2505456" cy="1737360"/>
          </a:xfrm>
          <a:prstGeom prst="rect">
            <a:avLst/>
          </a:prstGeom>
          <a:noFill/>
        </p:spPr>
        <p:txBody>
          <a:bodyPr wrap="square" lIns="0" rIns="0" tIns="0" bIns="0" anchor="ctr"/>
          <a:lstStyle/>
          <a:p>
            <a:pPr marL="0" indent="0" algn="l">
              <a:spcAft>
                <a:spcPts val="600"/>
              </a:spcAft>
              <a:buNone/>
            </a:pPr>
            <a:r>
              <a:rPr sz="1300" b="0" i="0">
                <a:solidFill>
                  <a:srgbClr val="333D47"/>
                </a:solidFill>
                <a:latin typeface="Arial"/>
                <a:ea typeface="Microsoft JhengHei"/>
              </a:rPr>
              <a:t>The OCR read the name 蔡嘉穎.</a:t>
            </a:r>
          </a:p>
          <a:p>
            <a:pPr marL="0" indent="0" algn="l">
              <a:spcAft>
                <a:spcPts val="0"/>
              </a:spcAft>
              <a:buNone/>
            </a:pPr>
            <a:r>
              <a:rPr sz="1300" b="0" i="0">
                <a:solidFill>
                  <a:srgbClr val="333D47"/>
                </a:solidFill>
                <a:latin typeface="Arial"/>
                <a:ea typeface="Microsoft JhengHei"/>
              </a:rPr>
              <a:t>The first rules returned the label </a:t>
            </a:r>
            <a:r>
              <a:rPr sz="1300" b="1" i="0">
                <a:solidFill>
                  <a:srgbClr val="333D47"/>
                </a:solidFill>
                <a:latin typeface="Arial"/>
                <a:ea typeface="Microsoft JhengHei"/>
              </a:rPr>
              <a:t>病人</a:t>
            </a:r>
            <a:r>
              <a:rPr sz="1300" b="0" i="0">
                <a:solidFill>
                  <a:srgbClr val="333D47"/>
                </a:solidFill>
                <a:latin typeface="Arial"/>
                <a:ea typeface="Microsoft JhengHei"/>
              </a:rPr>
              <a:t> ("patient") instead.</a:t>
            </a:r>
          </a:p>
        </p:txBody>
      </p:sp>
      <p:sp>
        <p:nvSpPr>
          <p:cNvPr id="17" name="TextBox 16"/>
          <p:cNvSpPr txBox="1"/>
          <p:nvPr/>
        </p:nvSpPr>
        <p:spPr>
          <a:xfrm>
            <a:off x="356616" y="5532120"/>
            <a:ext cx="10972800" cy="320040"/>
          </a:xfrm>
          <a:prstGeom prst="rect">
            <a:avLst/>
          </a:prstGeom>
          <a:noFill/>
        </p:spPr>
        <p:txBody>
          <a:bodyPr wrap="square" lIns="0" rIns="0" tIns="0" bIns="0" anchor="t"/>
          <a:lstStyle/>
          <a:p>
            <a:pPr marL="0" indent="0" algn="l">
              <a:spcAft>
                <a:spcPts val="0"/>
              </a:spcAft>
              <a:buNone/>
            </a:pPr>
            <a:r>
              <a:rPr sz="1100" b="0" i="1">
                <a:solidFill>
                  <a:srgbClr val="5F6770"/>
                </a:solidFill>
                <a:latin typeface="Arial"/>
                <a:ea typeface="Microsoft JhengHei"/>
              </a:rPr>
              <a:t>Accuracy = correct fields out of 51 on 9 receipts. Receipt shown: bilingual medical centre receipt, PaddleOCR Light text.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8778240" cy="566928"/>
          </a:xfrm>
        </p:spPr>
        <p:txBody>
          <a:bodyPr lIns="0"/>
          <a:lstStyle/>
          <a:p>
            <a:r>
              <a:rPr sz="2800" b="1">
                <a:solidFill>
                  <a:srgbClr val="333D47"/>
                </a:solidFill>
                <a:latin typeface="Arial"/>
                <a:ea typeface="Microsoft JhengHei"/>
              </a:rPr>
              <a:t>After Tuning: All Improved, at Very Different Cost</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Rounded Rectangle 10"/>
          <p:cNvSpPr/>
          <p:nvPr/>
        </p:nvSpPr>
        <p:spPr>
          <a:xfrm>
            <a:off x="9372600" y="603504"/>
            <a:ext cx="2459736" cy="329184"/>
          </a:xfrm>
          <a:prstGeom prst="roundRect">
            <a:avLst/>
          </a:prstGeom>
          <a:solidFill>
            <a:srgbClr val="FFFFFF"/>
          </a:solidFill>
          <a:ln w="15875">
            <a:solidFill>
              <a:srgbClr val="333D47"/>
            </a:solidFill>
          </a:ln>
        </p:spPr>
        <p:txBody>
          <a:bodyPr rtlCol="0" anchor="ctr" lIns="45720" rIns="45720" tIns="0" bIns="0"/>
          <a:lstStyle/>
          <a:p>
            <a:pPr algn="ctr"/>
            <a:r>
              <a:rPr sz="1050" b="1">
                <a:solidFill>
                  <a:srgbClr val="333D47"/>
                </a:solidFill>
                <a:latin typeface="Arial"/>
                <a:ea typeface="Microsoft JhengHei"/>
              </a:rPr>
              <a:t>MEASURED · DEVELOPMENT SET</a:t>
            </a:r>
          </a:p>
        </p:txBody>
      </p:sp>
      <p:sp>
        <p:nvSpPr>
          <p:cNvPr id="12" name="TextBox 11"/>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Rules closed most of the gap, but only by being rewritten by hand for these receipts.</a:t>
            </a:r>
          </a:p>
        </p:txBody>
      </p:sp>
      <p:graphicFrame>
        <p:nvGraphicFramePr>
          <p:cNvPr id="13" name="Chart 12"/>
          <p:cNvGraphicFramePr>
            <a:graphicFrameLocks noGrp="1"/>
          </p:cNvGraphicFramePr>
          <p:nvPr/>
        </p:nvGraphicFramePr>
        <p:xfrm>
          <a:off x="356616" y="1645920"/>
          <a:ext cx="6766560" cy="3794760"/>
        </p:xfrm>
        <a:graphic>
          <a:graphicData uri="http://schemas.openxmlformats.org/drawingml/2006/chart">
            <c:chart xmlns:c="http://schemas.openxmlformats.org/drawingml/2006/chart" r:id="rId3"/>
          </a:graphicData>
        </a:graphic>
      </p:graphicFrame>
      <p:sp>
        <p:nvSpPr>
          <p:cNvPr id="14" name="Rectangle 13"/>
          <p:cNvSpPr/>
          <p:nvPr/>
        </p:nvSpPr>
        <p:spPr>
          <a:xfrm>
            <a:off x="7406640" y="1783080"/>
            <a:ext cx="4425696" cy="1691640"/>
          </a:xfrm>
          <a:prstGeom prst="rect">
            <a:avLst/>
          </a:prstGeom>
          <a:solidFill>
            <a:srgbClr val="F2F2F2"/>
          </a:solidFill>
          <a:ln>
            <a:noFill/>
          </a:ln>
        </p:spPr>
        <p:txBody>
          <a:bodyPr rtlCol="0" anchor="t" wrap="square" lIns="182880" rIns="182880" tIns="109728" bIns="109728"/>
          <a:lstStyle/>
          <a:p>
            <a:pPr algn="l" marL="0" indent="0">
              <a:spcAft>
                <a:spcPts val="400"/>
              </a:spcAft>
              <a:buNone/>
            </a:pPr>
            <a:r>
              <a:rPr sz="1500" b="1" i="0">
                <a:solidFill>
                  <a:srgbClr val="333D47"/>
                </a:solidFill>
                <a:latin typeface="Arial"/>
                <a:ea typeface="Microsoft JhengHei"/>
              </a:rPr>
              <a:t>Rules: rewritten by hand</a:t>
            </a:r>
          </a:p>
          <a:p>
            <a:pPr marL="182880" indent="-182880" algn="l">
              <a:spcAft>
                <a:spcPts val="300"/>
              </a:spcAft>
              <a:buFont typeface="Arial"/>
              <a:buChar char="•"/>
            </a:pPr>
            <a:r>
              <a:rPr sz="1300" b="0" i="0">
                <a:solidFill>
                  <a:srgbClr val="333D47"/>
                </a:solidFill>
                <a:latin typeface="Arial"/>
                <a:ea typeface="Microsoft JhengHei"/>
              </a:rPr>
              <a:t>69 → 225 label phrases: Chinese, bilingual, layouts</a:t>
            </a:r>
          </a:p>
          <a:p>
            <a:pPr marL="182880" indent="-182880" algn="l">
              <a:spcAft>
                <a:spcPts val="300"/>
              </a:spcAft>
              <a:buFont typeface="Arial"/>
              <a:buChar char="•"/>
            </a:pPr>
            <a:r>
              <a:rPr sz="1300" b="0" i="0">
                <a:solidFill>
                  <a:srgbClr val="333D47"/>
                </a:solidFill>
                <a:latin typeface="Arial"/>
                <a:ea typeface="Microsoft JhengHei"/>
              </a:rPr>
              <a:t>Code changes, then a retest of every receipt</a:t>
            </a:r>
          </a:p>
          <a:p>
            <a:pPr marL="182880" indent="-182880" algn="l">
              <a:spcAft>
                <a:spcPts val="300"/>
              </a:spcAft>
              <a:buFont typeface="Arial"/>
              <a:buChar char="•"/>
            </a:pPr>
            <a:r>
              <a:rPr sz="1300" b="0" i="0">
                <a:solidFill>
                  <a:srgbClr val="333D47"/>
                </a:solidFill>
                <a:latin typeface="Arial"/>
                <a:ea typeface="Microsoft JhengHei"/>
              </a:rPr>
              <a:t>Fixed 27 fields, broke 1 that was correct</a:t>
            </a:r>
          </a:p>
        </p:txBody>
      </p:sp>
      <p:sp>
        <p:nvSpPr>
          <p:cNvPr id="15" name="Rectangle 14"/>
          <p:cNvSpPr/>
          <p:nvPr/>
        </p:nvSpPr>
        <p:spPr>
          <a:xfrm>
            <a:off x="7406640" y="3611880"/>
            <a:ext cx="4425696" cy="1691640"/>
          </a:xfrm>
          <a:prstGeom prst="rect">
            <a:avLst/>
          </a:prstGeom>
          <a:solidFill>
            <a:srgbClr val="FFFFFF"/>
          </a:solidFill>
          <a:ln w="25400">
            <a:solidFill>
              <a:srgbClr val="D31145"/>
            </a:solidFill>
          </a:ln>
        </p:spPr>
        <p:txBody>
          <a:bodyPr rtlCol="0" anchor="t" wrap="square" lIns="182880" rIns="182880" tIns="109728" bIns="109728"/>
          <a:lstStyle/>
          <a:p>
            <a:pPr algn="l" marL="0" indent="0">
              <a:spcAft>
                <a:spcPts val="400"/>
              </a:spcAft>
              <a:buNone/>
            </a:pPr>
            <a:r>
              <a:rPr sz="1500" b="1" i="0">
                <a:solidFill>
                  <a:srgbClr val="D31145"/>
                </a:solidFill>
                <a:latin typeface="Arial"/>
                <a:ea typeface="Microsoft JhengHei"/>
              </a:rPr>
              <a:t>AOAI: one prompt revision</a:t>
            </a:r>
          </a:p>
          <a:p>
            <a:pPr marL="182880" indent="-182880" algn="l">
              <a:spcAft>
                <a:spcPts val="300"/>
              </a:spcAft>
              <a:buFont typeface="Arial"/>
              <a:buChar char="•"/>
            </a:pPr>
            <a:r>
              <a:rPr sz="1300" b="0" i="0">
                <a:solidFill>
                  <a:srgbClr val="333D47"/>
                </a:solidFill>
                <a:latin typeface="Arial"/>
                <a:ea typeface="Microsoft JhengHei"/>
              </a:rPr>
              <a:t>Clearer definition of each field</a:t>
            </a:r>
          </a:p>
          <a:p>
            <a:pPr marL="182880" indent="-182880" algn="l">
              <a:spcAft>
                <a:spcPts val="300"/>
              </a:spcAft>
              <a:buFont typeface="Arial"/>
              <a:buChar char="•"/>
            </a:pPr>
            <a:r>
              <a:rPr sz="1300" b="0" i="0">
                <a:solidFill>
                  <a:srgbClr val="333D47"/>
                </a:solidFill>
                <a:latin typeface="Arial"/>
                <a:ea typeface="Microsoft JhengHei"/>
              </a:rPr>
              <a:t>Plain-language edits, then a rerun</a:t>
            </a:r>
          </a:p>
          <a:p>
            <a:pPr marL="182880" indent="-182880" algn="l">
              <a:spcAft>
                <a:spcPts val="300"/>
              </a:spcAft>
              <a:buFont typeface="Arial"/>
              <a:buChar char="•"/>
            </a:pPr>
            <a:r>
              <a:rPr sz="1300" b="0" i="0">
                <a:solidFill>
                  <a:srgbClr val="333D47"/>
                </a:solidFill>
                <a:latin typeface="Arial"/>
                <a:ea typeface="Microsoft JhengHei"/>
              </a:rPr>
              <a:t>Fixed 4 fields, broke 0</a:t>
            </a:r>
          </a:p>
        </p:txBody>
      </p:sp>
      <p:sp>
        <p:nvSpPr>
          <p:cNvPr id="16" name="TextBox 15"/>
          <p:cNvSpPr txBox="1"/>
          <p:nvPr/>
        </p:nvSpPr>
        <p:spPr>
          <a:xfrm>
            <a:off x="356616" y="5532120"/>
            <a:ext cx="10972800" cy="320040"/>
          </a:xfrm>
          <a:prstGeom prst="rect">
            <a:avLst/>
          </a:prstGeom>
          <a:noFill/>
        </p:spPr>
        <p:txBody>
          <a:bodyPr wrap="square" lIns="0" rIns="0" tIns="0" bIns="0" anchor="t"/>
          <a:lstStyle/>
          <a:p>
            <a:pPr marL="0" indent="0" algn="l">
              <a:spcAft>
                <a:spcPts val="0"/>
              </a:spcAft>
              <a:buNone/>
            </a:pPr>
            <a:r>
              <a:rPr sz="1100" b="0" i="1">
                <a:solidFill>
                  <a:srgbClr val="5F6770"/>
                </a:solidFill>
                <a:latin typeface="Arial"/>
                <a:ea typeface="Microsoft JhengHei"/>
              </a:rPr>
              <a:t>Development results: changes made after reviewing these 9 receipts; not independent validation. Rule figures shown for PaddleOCR Light.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8778240" cy="566928"/>
          </a:xfrm>
        </p:spPr>
        <p:txBody>
          <a:bodyPr lIns="0"/>
          <a:lstStyle/>
          <a:p>
            <a:r>
              <a:rPr sz="2800" b="1">
                <a:solidFill>
                  <a:srgbClr val="333D47"/>
                </a:solidFill>
                <a:latin typeface="Arial"/>
                <a:ea typeface="Microsoft JhengHei"/>
              </a:rPr>
              <a:t>Where Errors Remain: Accuracy by Field</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Rounded Rectangle 10"/>
          <p:cNvSpPr/>
          <p:nvPr/>
        </p:nvSpPr>
        <p:spPr>
          <a:xfrm>
            <a:off x="9372600" y="603504"/>
            <a:ext cx="2459736" cy="329184"/>
          </a:xfrm>
          <a:prstGeom prst="roundRect">
            <a:avLst/>
          </a:prstGeom>
          <a:solidFill>
            <a:srgbClr val="FFFFFF"/>
          </a:solidFill>
          <a:ln w="15875">
            <a:solidFill>
              <a:srgbClr val="333D47"/>
            </a:solidFill>
          </a:ln>
        </p:spPr>
        <p:txBody>
          <a:bodyPr rtlCol="0" anchor="ctr" lIns="45720" rIns="45720" tIns="0" bIns="0"/>
          <a:lstStyle/>
          <a:p>
            <a:pPr algn="ctr"/>
            <a:r>
              <a:rPr sz="1050" b="1">
                <a:solidFill>
                  <a:srgbClr val="333D47"/>
                </a:solidFill>
                <a:latin typeface="Arial"/>
                <a:ea typeface="Microsoft JhengHei"/>
              </a:rPr>
              <a:t>MEASURED · DEVELOPMENT SET</a:t>
            </a:r>
          </a:p>
        </p:txBody>
      </p:sp>
      <p:sp>
        <p:nvSpPr>
          <p:cNvPr id="12" name="TextBox 11"/>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All three miss the same two fields; the rules also miss patients and receipt numbers.</a:t>
            </a:r>
          </a:p>
        </p:txBody>
      </p:sp>
      <p:graphicFrame>
        <p:nvGraphicFramePr>
          <p:cNvPr id="13" name="Table 12"/>
          <p:cNvGraphicFramePr>
            <a:graphicFrameLocks noGrp="1"/>
          </p:cNvGraphicFramePr>
          <p:nvPr/>
        </p:nvGraphicFramePr>
        <p:xfrm>
          <a:off x="356616" y="1783080"/>
          <a:ext cx="11475720" cy="3401568"/>
        </p:xfrm>
        <a:graphic>
          <a:graphicData uri="http://schemas.openxmlformats.org/drawingml/2006/table">
            <a:tbl>
              <a:tblPr firstRow="0" bandRow="0">
                <a:tableStyleId>{2D5ABB26-0587-4C30-8999-92F81FD0307C}</a:tableStyleId>
              </a:tblPr>
              <a:tblGrid>
                <a:gridCol w="2514600"/>
                <a:gridCol w="1417320"/>
                <a:gridCol w="2514600"/>
                <a:gridCol w="2514600"/>
                <a:gridCol w="2514600"/>
              </a:tblGrid>
              <a:tr h="548640">
                <a:tc>
                  <a:txBody>
                    <a:bodyPr wrap="square"/>
                    <a:lstStyle/>
                    <a:p>
                      <a:pPr algn="l"/>
                      <a:r>
                        <a:rPr sz="1300" b="1" i="0">
                          <a:solidFill>
                            <a:srgbClr val="FFFFFF"/>
                          </a:solidFill>
                          <a:latin typeface="Arial"/>
                          <a:ea typeface="Microsoft JhengHei"/>
                        </a:rPr>
                        <a:t>Field</a:t>
                      </a:r>
                    </a:p>
                  </a:txBody>
                  <a:tcPr marL="91440" marR="91440" marT="45720" marB="45720" anchor="ctr">
                    <a:lnL w="0">
                      <a:noFill/>
                    </a:lnL>
                    <a:lnR w="0">
                      <a:noFill/>
                    </a:lnR>
                    <a:lnT w="0">
                      <a:noFill/>
                    </a:lnT>
                    <a:lnB w="0">
                      <a:noFill/>
                    </a:lnB>
                    <a:solidFill>
                      <a:srgbClr val="333D47"/>
                    </a:solidFill>
                  </a:tcPr>
                </a:tc>
                <a:tc>
                  <a:txBody>
                    <a:bodyPr wrap="square"/>
                    <a:lstStyle/>
                    <a:p>
                      <a:pPr algn="ctr"/>
                      <a:r>
                        <a:rPr sz="1300" b="1" i="0">
                          <a:solidFill>
                            <a:srgbClr val="FFFFFF"/>
                          </a:solidFill>
                          <a:latin typeface="Arial"/>
                          <a:ea typeface="Microsoft JhengHei"/>
                        </a:rPr>
                        <a:t>Receipts</a:t>
                      </a:r>
                    </a:p>
                  </a:txBody>
                  <a:tcPr marL="91440" marR="91440" marT="45720" marB="45720" anchor="ctr">
                    <a:lnL w="0">
                      <a:noFill/>
                    </a:lnL>
                    <a:lnR w="0">
                      <a:noFill/>
                    </a:lnR>
                    <a:lnT w="0">
                      <a:noFill/>
                    </a:lnT>
                    <a:lnB w="0">
                      <a:noFill/>
                    </a:lnB>
                    <a:solidFill>
                      <a:srgbClr val="333D47"/>
                    </a:solidFill>
                  </a:tcPr>
                </a:tc>
                <a:tc>
                  <a:txBody>
                    <a:bodyPr wrap="square"/>
                    <a:lstStyle/>
                    <a:p>
                      <a:pPr algn="ctr"/>
                      <a:r>
                        <a:rPr sz="1300" b="1" i="0">
                          <a:solidFill>
                            <a:srgbClr val="FFFFFF"/>
                          </a:solidFill>
                          <a:latin typeface="Arial"/>
                          <a:ea typeface="Microsoft JhengHei"/>
                        </a:rPr>
                        <a:t>PaddleOCR Light + rules</a:t>
                      </a:r>
                    </a:p>
                  </a:txBody>
                  <a:tcPr marL="91440" marR="91440" marT="45720" marB="45720" anchor="ctr">
                    <a:lnL w="0">
                      <a:noFill/>
                    </a:lnL>
                    <a:lnR w="0">
                      <a:noFill/>
                    </a:lnR>
                    <a:lnT w="0">
                      <a:noFill/>
                    </a:lnT>
                    <a:lnB w="0">
                      <a:noFill/>
                    </a:lnB>
                    <a:solidFill>
                      <a:srgbClr val="333D47"/>
                    </a:solidFill>
                  </a:tcPr>
                </a:tc>
                <a:tc>
                  <a:txBody>
                    <a:bodyPr wrap="square"/>
                    <a:lstStyle/>
                    <a:p>
                      <a:pPr algn="ctr"/>
                      <a:r>
                        <a:rPr sz="1300" b="1" i="0">
                          <a:solidFill>
                            <a:srgbClr val="FFFFFF"/>
                          </a:solidFill>
                          <a:latin typeface="Arial"/>
                          <a:ea typeface="Microsoft JhengHei"/>
                        </a:rPr>
                        <a:t>Azure DI + rules</a:t>
                      </a:r>
                    </a:p>
                  </a:txBody>
                  <a:tcPr marL="91440" marR="91440" marT="45720" marB="45720" anchor="ctr">
                    <a:lnL w="0">
                      <a:noFill/>
                    </a:lnL>
                    <a:lnR w="0">
                      <a:noFill/>
                    </a:lnR>
                    <a:lnT w="0">
                      <a:noFill/>
                    </a:lnT>
                    <a:lnB w="0">
                      <a:noFill/>
                    </a:lnB>
                    <a:solidFill>
                      <a:srgbClr val="333D47"/>
                    </a:solidFill>
                  </a:tcPr>
                </a:tc>
                <a:tc>
                  <a:txBody>
                    <a:bodyPr wrap="square"/>
                    <a:lstStyle/>
                    <a:p>
                      <a:pPr algn="ctr"/>
                      <a:r>
                        <a:rPr sz="1300" b="1" i="0">
                          <a:solidFill>
                            <a:srgbClr val="FFFFFF"/>
                          </a:solidFill>
                          <a:latin typeface="Arial"/>
                          <a:ea typeface="Microsoft JhengHei"/>
                        </a:rPr>
                        <a:t>Azure DI + AOAI, prompt v2</a:t>
                      </a:r>
                    </a:p>
                  </a:txBody>
                  <a:tcPr marL="91440" marR="91440" marT="45720" marB="45720" anchor="ctr">
                    <a:lnL w="0">
                      <a:noFill/>
                    </a:lnL>
                    <a:lnR w="0">
                      <a:noFill/>
                    </a:lnR>
                    <a:lnT w="0">
                      <a:noFill/>
                    </a:lnT>
                    <a:lnB w="0">
                      <a:noFill/>
                    </a:lnB>
                    <a:solidFill>
                      <a:srgbClr val="333D47"/>
                    </a:solidFill>
                  </a:tcPr>
                </a:tc>
              </a:tr>
              <a:tr h="475488">
                <a:tc>
                  <a:txBody>
                    <a:bodyPr wrap="square"/>
                    <a:lstStyle/>
                    <a:p>
                      <a:pPr algn="l"/>
                      <a:r>
                        <a:rPr sz="1400" b="1" i="0">
                          <a:solidFill>
                            <a:srgbClr val="333D47"/>
                          </a:solidFill>
                          <a:latin typeface="Arial"/>
                          <a:ea typeface="Microsoft JhengHei"/>
                        </a:rPr>
                        <a:t>Doctor</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400" b="0" i="0">
                          <a:solidFill>
                            <a:srgbClr val="5F6770"/>
                          </a:solidFill>
                          <a:latin typeface="Arial"/>
                          <a:ea typeface="Microsoft JhengHei"/>
                        </a:rPr>
                        <a:t>9</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600" b="0" i="0">
                          <a:solidFill>
                            <a:srgbClr val="333D47"/>
                          </a:solidFill>
                          <a:latin typeface="Arial"/>
                          <a:ea typeface="Microsoft JhengHei"/>
                        </a:rPr>
                        <a:t>88.9%</a:t>
                      </a:r>
                      <a:r>
                        <a:rPr sz="1100" b="0" i="0">
                          <a:solidFill>
                            <a:srgbClr val="5F6770"/>
                          </a:solidFill>
                          <a:latin typeface="Arial"/>
                          <a:ea typeface="Microsoft JhengHei"/>
                        </a:rPr>
                        <a:t>  (8/9)</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600" b="0" i="0">
                          <a:solidFill>
                            <a:srgbClr val="333D47"/>
                          </a:solidFill>
                          <a:latin typeface="Arial"/>
                          <a:ea typeface="Microsoft JhengHei"/>
                        </a:rPr>
                        <a:t>88.9%</a:t>
                      </a:r>
                      <a:r>
                        <a:rPr sz="1100" b="0" i="0">
                          <a:solidFill>
                            <a:srgbClr val="5F6770"/>
                          </a:solidFill>
                          <a:latin typeface="Arial"/>
                          <a:ea typeface="Microsoft JhengHei"/>
                        </a:rPr>
                        <a:t>  (8/9)</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600" b="0" i="0">
                          <a:solidFill>
                            <a:srgbClr val="333D47"/>
                          </a:solidFill>
                          <a:latin typeface="Arial"/>
                          <a:ea typeface="Microsoft JhengHei"/>
                        </a:rPr>
                        <a:t>88.9%</a:t>
                      </a:r>
                      <a:r>
                        <a:rPr sz="1100" b="0" i="0">
                          <a:solidFill>
                            <a:srgbClr val="5F6770"/>
                          </a:solidFill>
                          <a:latin typeface="Arial"/>
                          <a:ea typeface="Microsoft JhengHei"/>
                        </a:rPr>
                        <a:t>  (8/9)</a:t>
                      </a:r>
                    </a:p>
                  </a:txBody>
                  <a:tcPr marL="91440" marR="91440" marT="45720" marB="45720" anchor="ctr">
                    <a:lnL w="0">
                      <a:noFill/>
                    </a:lnL>
                    <a:lnR w="0">
                      <a:noFill/>
                    </a:lnR>
                    <a:lnT w="0">
                      <a:noFill/>
                    </a:lnT>
                    <a:lnB w="9525" cmpd="sng">
                      <a:solidFill>
                        <a:srgbClr val="BFBFBF"/>
                      </a:solidFill>
                    </a:lnB>
                    <a:noFill/>
                  </a:tcPr>
                </a:tc>
              </a:tr>
              <a:tr h="475488">
                <a:tc>
                  <a:txBody>
                    <a:bodyPr wrap="square"/>
                    <a:lstStyle/>
                    <a:p>
                      <a:pPr algn="l"/>
                      <a:r>
                        <a:rPr sz="1400" b="1" i="0">
                          <a:solidFill>
                            <a:srgbClr val="333D47"/>
                          </a:solidFill>
                          <a:latin typeface="Arial"/>
                          <a:ea typeface="Microsoft JhengHei"/>
                        </a:rPr>
                        <a:t>Registration no.</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400" b="0" i="0">
                          <a:solidFill>
                            <a:srgbClr val="5F6770"/>
                          </a:solidFill>
                          <a:latin typeface="Arial"/>
                          <a:ea typeface="Microsoft JhengHei"/>
                        </a:rPr>
                        <a:t>6*</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600" b="1" i="0">
                          <a:solidFill>
                            <a:srgbClr val="1E7B4A"/>
                          </a:solidFill>
                          <a:latin typeface="Arial"/>
                          <a:ea typeface="Microsoft JhengHei"/>
                        </a:rPr>
                        <a:t>100.0%</a:t>
                      </a:r>
                      <a:r>
                        <a:rPr sz="1100" b="0" i="0">
                          <a:solidFill>
                            <a:srgbClr val="5F6770"/>
                          </a:solidFill>
                          <a:latin typeface="Arial"/>
                          <a:ea typeface="Microsoft JhengHei"/>
                        </a:rPr>
                        <a:t>  (6/6)</a:t>
                      </a:r>
                    </a:p>
                  </a:txBody>
                  <a:tcPr marL="91440" marR="91440" marT="45720" marB="45720" anchor="ctr">
                    <a:lnL w="0">
                      <a:noFill/>
                    </a:lnL>
                    <a:lnR w="0">
                      <a:noFill/>
                    </a:lnR>
                    <a:lnT w="0">
                      <a:noFill/>
                    </a:lnT>
                    <a:lnB w="9525" cmpd="sng">
                      <a:solidFill>
                        <a:srgbClr val="BFBFBF"/>
                      </a:solidFill>
                    </a:lnB>
                    <a:solidFill>
                      <a:srgbClr val="E6F2EA"/>
                    </a:solidFill>
                  </a:tcPr>
                </a:tc>
                <a:tc>
                  <a:txBody>
                    <a:bodyPr wrap="square"/>
                    <a:lstStyle/>
                    <a:p>
                      <a:pPr algn="ctr"/>
                      <a:r>
                        <a:rPr sz="1600" b="1" i="0">
                          <a:solidFill>
                            <a:srgbClr val="1E7B4A"/>
                          </a:solidFill>
                          <a:latin typeface="Arial"/>
                          <a:ea typeface="Microsoft JhengHei"/>
                        </a:rPr>
                        <a:t>100.0%</a:t>
                      </a:r>
                      <a:r>
                        <a:rPr sz="1100" b="0" i="0">
                          <a:solidFill>
                            <a:srgbClr val="5F6770"/>
                          </a:solidFill>
                          <a:latin typeface="Arial"/>
                          <a:ea typeface="Microsoft JhengHei"/>
                        </a:rPr>
                        <a:t>  (6/6)</a:t>
                      </a:r>
                    </a:p>
                  </a:txBody>
                  <a:tcPr marL="91440" marR="91440" marT="45720" marB="45720" anchor="ctr">
                    <a:lnL w="0">
                      <a:noFill/>
                    </a:lnL>
                    <a:lnR w="0">
                      <a:noFill/>
                    </a:lnR>
                    <a:lnT w="0">
                      <a:noFill/>
                    </a:lnT>
                    <a:lnB w="9525" cmpd="sng">
                      <a:solidFill>
                        <a:srgbClr val="BFBFBF"/>
                      </a:solidFill>
                    </a:lnB>
                    <a:solidFill>
                      <a:srgbClr val="E6F2EA"/>
                    </a:solidFill>
                  </a:tcPr>
                </a:tc>
                <a:tc>
                  <a:txBody>
                    <a:bodyPr wrap="square"/>
                    <a:lstStyle/>
                    <a:p>
                      <a:pPr algn="ctr"/>
                      <a:r>
                        <a:rPr sz="1600" b="1" i="0">
                          <a:solidFill>
                            <a:srgbClr val="1E7B4A"/>
                          </a:solidFill>
                          <a:latin typeface="Arial"/>
                          <a:ea typeface="Microsoft JhengHei"/>
                        </a:rPr>
                        <a:t>100.0%</a:t>
                      </a:r>
                      <a:r>
                        <a:rPr sz="1100" b="0" i="0">
                          <a:solidFill>
                            <a:srgbClr val="5F6770"/>
                          </a:solidFill>
                          <a:latin typeface="Arial"/>
                          <a:ea typeface="Microsoft JhengHei"/>
                        </a:rPr>
                        <a:t>  (6/6)</a:t>
                      </a:r>
                    </a:p>
                  </a:txBody>
                  <a:tcPr marL="91440" marR="91440" marT="45720" marB="45720" anchor="ctr">
                    <a:lnL w="0">
                      <a:noFill/>
                    </a:lnL>
                    <a:lnR w="0">
                      <a:noFill/>
                    </a:lnR>
                    <a:lnT w="0">
                      <a:noFill/>
                    </a:lnT>
                    <a:lnB w="9525" cmpd="sng">
                      <a:solidFill>
                        <a:srgbClr val="BFBFBF"/>
                      </a:solidFill>
                    </a:lnB>
                    <a:solidFill>
                      <a:srgbClr val="E6F2EA"/>
                    </a:solidFill>
                  </a:tcPr>
                </a:tc>
              </a:tr>
              <a:tr h="475488">
                <a:tc>
                  <a:txBody>
                    <a:bodyPr wrap="square"/>
                    <a:lstStyle/>
                    <a:p>
                      <a:pPr algn="l"/>
                      <a:r>
                        <a:rPr sz="1400" b="1" i="0">
                          <a:solidFill>
                            <a:srgbClr val="333D47"/>
                          </a:solidFill>
                          <a:latin typeface="Arial"/>
                          <a:ea typeface="Microsoft JhengHei"/>
                        </a:rPr>
                        <a:t>Patient</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400" b="0" i="0">
                          <a:solidFill>
                            <a:srgbClr val="5F6770"/>
                          </a:solidFill>
                          <a:latin typeface="Arial"/>
                          <a:ea typeface="Microsoft JhengHei"/>
                        </a:rPr>
                        <a:t>9</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600" b="0" i="0">
                          <a:solidFill>
                            <a:srgbClr val="333D47"/>
                          </a:solidFill>
                          <a:latin typeface="Arial"/>
                          <a:ea typeface="Microsoft JhengHei"/>
                        </a:rPr>
                        <a:t>77.8%</a:t>
                      </a:r>
                      <a:r>
                        <a:rPr sz="1100" b="0" i="0">
                          <a:solidFill>
                            <a:srgbClr val="5F6770"/>
                          </a:solidFill>
                          <a:latin typeface="Arial"/>
                          <a:ea typeface="Microsoft JhengHei"/>
                        </a:rPr>
                        <a:t>  (7/9)</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600" b="0" i="0">
                          <a:solidFill>
                            <a:srgbClr val="333D47"/>
                          </a:solidFill>
                          <a:latin typeface="Arial"/>
                          <a:ea typeface="Microsoft JhengHei"/>
                        </a:rPr>
                        <a:t>77.8%</a:t>
                      </a:r>
                      <a:r>
                        <a:rPr sz="1100" b="0" i="0">
                          <a:solidFill>
                            <a:srgbClr val="5F6770"/>
                          </a:solidFill>
                          <a:latin typeface="Arial"/>
                          <a:ea typeface="Microsoft JhengHei"/>
                        </a:rPr>
                        <a:t>  (7/9)</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600" b="1" i="0">
                          <a:solidFill>
                            <a:srgbClr val="1E7B4A"/>
                          </a:solidFill>
                          <a:latin typeface="Arial"/>
                          <a:ea typeface="Microsoft JhengHei"/>
                        </a:rPr>
                        <a:t>100.0%</a:t>
                      </a:r>
                      <a:r>
                        <a:rPr sz="1100" b="0" i="0">
                          <a:solidFill>
                            <a:srgbClr val="5F6770"/>
                          </a:solidFill>
                          <a:latin typeface="Arial"/>
                          <a:ea typeface="Microsoft JhengHei"/>
                        </a:rPr>
                        <a:t>  (9/9)</a:t>
                      </a:r>
                    </a:p>
                  </a:txBody>
                  <a:tcPr marL="91440" marR="91440" marT="45720" marB="45720" anchor="ctr">
                    <a:lnL w="0">
                      <a:noFill/>
                    </a:lnL>
                    <a:lnR w="0">
                      <a:noFill/>
                    </a:lnR>
                    <a:lnT w="0">
                      <a:noFill/>
                    </a:lnT>
                    <a:lnB w="9525" cmpd="sng">
                      <a:solidFill>
                        <a:srgbClr val="BFBFBF"/>
                      </a:solidFill>
                    </a:lnB>
                    <a:solidFill>
                      <a:srgbClr val="E6F2EA"/>
                    </a:solidFill>
                  </a:tcPr>
                </a:tc>
              </a:tr>
              <a:tr h="475488">
                <a:tc>
                  <a:txBody>
                    <a:bodyPr wrap="square"/>
                    <a:lstStyle/>
                    <a:p>
                      <a:pPr algn="l"/>
                      <a:r>
                        <a:rPr sz="1400" b="1" i="0">
                          <a:solidFill>
                            <a:srgbClr val="333D47"/>
                          </a:solidFill>
                          <a:latin typeface="Arial"/>
                          <a:ea typeface="Microsoft JhengHei"/>
                        </a:rPr>
                        <a:t>Receipt no.</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400" b="0" i="0">
                          <a:solidFill>
                            <a:srgbClr val="5F6770"/>
                          </a:solidFill>
                          <a:latin typeface="Arial"/>
                          <a:ea typeface="Microsoft JhengHei"/>
                        </a:rPr>
                        <a:t>9</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600" b="0" i="0">
                          <a:solidFill>
                            <a:srgbClr val="333D47"/>
                          </a:solidFill>
                          <a:latin typeface="Arial"/>
                          <a:ea typeface="Microsoft JhengHei"/>
                        </a:rPr>
                        <a:t>77.8%</a:t>
                      </a:r>
                      <a:r>
                        <a:rPr sz="1100" b="0" i="0">
                          <a:solidFill>
                            <a:srgbClr val="5F6770"/>
                          </a:solidFill>
                          <a:latin typeface="Arial"/>
                          <a:ea typeface="Microsoft JhengHei"/>
                        </a:rPr>
                        <a:t>  (7/9)</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600" b="0" i="0">
                          <a:solidFill>
                            <a:srgbClr val="333D47"/>
                          </a:solidFill>
                          <a:latin typeface="Arial"/>
                          <a:ea typeface="Microsoft JhengHei"/>
                        </a:rPr>
                        <a:t>77.8%</a:t>
                      </a:r>
                      <a:r>
                        <a:rPr sz="1100" b="0" i="0">
                          <a:solidFill>
                            <a:srgbClr val="5F6770"/>
                          </a:solidFill>
                          <a:latin typeface="Arial"/>
                          <a:ea typeface="Microsoft JhengHei"/>
                        </a:rPr>
                        <a:t>  (7/9)</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600" b="1" i="0">
                          <a:solidFill>
                            <a:srgbClr val="1E7B4A"/>
                          </a:solidFill>
                          <a:latin typeface="Arial"/>
                          <a:ea typeface="Microsoft JhengHei"/>
                        </a:rPr>
                        <a:t>100.0%</a:t>
                      </a:r>
                      <a:r>
                        <a:rPr sz="1100" b="0" i="0">
                          <a:solidFill>
                            <a:srgbClr val="5F6770"/>
                          </a:solidFill>
                          <a:latin typeface="Arial"/>
                          <a:ea typeface="Microsoft JhengHei"/>
                        </a:rPr>
                        <a:t>  (9/9)</a:t>
                      </a:r>
                    </a:p>
                  </a:txBody>
                  <a:tcPr marL="91440" marR="91440" marT="45720" marB="45720" anchor="ctr">
                    <a:lnL w="0">
                      <a:noFill/>
                    </a:lnL>
                    <a:lnR w="0">
                      <a:noFill/>
                    </a:lnR>
                    <a:lnT w="0">
                      <a:noFill/>
                    </a:lnT>
                    <a:lnB w="9525" cmpd="sng">
                      <a:solidFill>
                        <a:srgbClr val="BFBFBF"/>
                      </a:solidFill>
                    </a:lnB>
                    <a:solidFill>
                      <a:srgbClr val="E6F2EA"/>
                    </a:solidFill>
                  </a:tcPr>
                </a:tc>
              </a:tr>
              <a:tr h="475488">
                <a:tc>
                  <a:txBody>
                    <a:bodyPr wrap="square"/>
                    <a:lstStyle/>
                    <a:p>
                      <a:pPr algn="l"/>
                      <a:r>
                        <a:rPr sz="1400" b="1" i="0">
                          <a:solidFill>
                            <a:srgbClr val="333D47"/>
                          </a:solidFill>
                          <a:latin typeface="Arial"/>
                          <a:ea typeface="Microsoft JhengHei"/>
                        </a:rPr>
                        <a:t>Service date</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400" b="0" i="0">
                          <a:solidFill>
                            <a:srgbClr val="5F6770"/>
                          </a:solidFill>
                          <a:latin typeface="Arial"/>
                          <a:ea typeface="Microsoft JhengHei"/>
                        </a:rPr>
                        <a:t>9</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600" b="0" i="0">
                          <a:solidFill>
                            <a:srgbClr val="333D47"/>
                          </a:solidFill>
                          <a:latin typeface="Arial"/>
                          <a:ea typeface="Microsoft JhengHei"/>
                        </a:rPr>
                        <a:t>88.9%</a:t>
                      </a:r>
                      <a:r>
                        <a:rPr sz="1100" b="0" i="0">
                          <a:solidFill>
                            <a:srgbClr val="5F6770"/>
                          </a:solidFill>
                          <a:latin typeface="Arial"/>
                          <a:ea typeface="Microsoft JhengHei"/>
                        </a:rPr>
                        <a:t>  (8/9)</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600" b="0" i="0">
                          <a:solidFill>
                            <a:srgbClr val="333D47"/>
                          </a:solidFill>
                          <a:latin typeface="Arial"/>
                          <a:ea typeface="Microsoft JhengHei"/>
                        </a:rPr>
                        <a:t>88.9%</a:t>
                      </a:r>
                      <a:r>
                        <a:rPr sz="1100" b="0" i="0">
                          <a:solidFill>
                            <a:srgbClr val="5F6770"/>
                          </a:solidFill>
                          <a:latin typeface="Arial"/>
                          <a:ea typeface="Microsoft JhengHei"/>
                        </a:rPr>
                        <a:t>  (8/9)</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600" b="0" i="0">
                          <a:solidFill>
                            <a:srgbClr val="333D47"/>
                          </a:solidFill>
                          <a:latin typeface="Arial"/>
                          <a:ea typeface="Microsoft JhengHei"/>
                        </a:rPr>
                        <a:t>88.9%</a:t>
                      </a:r>
                      <a:r>
                        <a:rPr sz="1100" b="0" i="0">
                          <a:solidFill>
                            <a:srgbClr val="5F6770"/>
                          </a:solidFill>
                          <a:latin typeface="Arial"/>
                          <a:ea typeface="Microsoft JhengHei"/>
                        </a:rPr>
                        <a:t>  (8/9)</a:t>
                      </a:r>
                    </a:p>
                  </a:txBody>
                  <a:tcPr marL="91440" marR="91440" marT="45720" marB="45720" anchor="ctr">
                    <a:lnL w="0">
                      <a:noFill/>
                    </a:lnL>
                    <a:lnR w="0">
                      <a:noFill/>
                    </a:lnR>
                    <a:lnT w="0">
                      <a:noFill/>
                    </a:lnT>
                    <a:lnB w="9525" cmpd="sng">
                      <a:solidFill>
                        <a:srgbClr val="BFBFBF"/>
                      </a:solidFill>
                    </a:lnB>
                    <a:noFill/>
                  </a:tcPr>
                </a:tc>
              </a:tr>
              <a:tr h="475488">
                <a:tc>
                  <a:txBody>
                    <a:bodyPr wrap="square"/>
                    <a:lstStyle/>
                    <a:p>
                      <a:pPr algn="l"/>
                      <a:r>
                        <a:rPr sz="1400" b="1" i="0">
                          <a:solidFill>
                            <a:srgbClr val="333D47"/>
                          </a:solidFill>
                          <a:latin typeface="Arial"/>
                          <a:ea typeface="Microsoft JhengHei"/>
                        </a:rPr>
                        <a:t>Total</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400" b="0" i="0">
                          <a:solidFill>
                            <a:srgbClr val="5F6770"/>
                          </a:solidFill>
                          <a:latin typeface="Arial"/>
                          <a:ea typeface="Microsoft JhengHei"/>
                        </a:rPr>
                        <a:t>9</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600" b="1" i="0">
                          <a:solidFill>
                            <a:srgbClr val="1E7B4A"/>
                          </a:solidFill>
                          <a:latin typeface="Arial"/>
                          <a:ea typeface="Microsoft JhengHei"/>
                        </a:rPr>
                        <a:t>100.0%</a:t>
                      </a:r>
                      <a:r>
                        <a:rPr sz="1100" b="0" i="0">
                          <a:solidFill>
                            <a:srgbClr val="5F6770"/>
                          </a:solidFill>
                          <a:latin typeface="Arial"/>
                          <a:ea typeface="Microsoft JhengHei"/>
                        </a:rPr>
                        <a:t>  (9/9)</a:t>
                      </a:r>
                    </a:p>
                  </a:txBody>
                  <a:tcPr marL="91440" marR="91440" marT="45720" marB="45720" anchor="ctr">
                    <a:lnL w="0">
                      <a:noFill/>
                    </a:lnL>
                    <a:lnR w="0">
                      <a:noFill/>
                    </a:lnR>
                    <a:lnT w="0">
                      <a:noFill/>
                    </a:lnT>
                    <a:lnB w="9525" cmpd="sng">
                      <a:solidFill>
                        <a:srgbClr val="BFBFBF"/>
                      </a:solidFill>
                    </a:lnB>
                    <a:solidFill>
                      <a:srgbClr val="E6F2EA"/>
                    </a:solidFill>
                  </a:tcPr>
                </a:tc>
                <a:tc>
                  <a:txBody>
                    <a:bodyPr wrap="square"/>
                    <a:lstStyle/>
                    <a:p>
                      <a:pPr algn="ctr"/>
                      <a:r>
                        <a:rPr sz="1600" b="0" i="0">
                          <a:solidFill>
                            <a:srgbClr val="333D47"/>
                          </a:solidFill>
                          <a:latin typeface="Arial"/>
                          <a:ea typeface="Microsoft JhengHei"/>
                        </a:rPr>
                        <a:t>88.9%</a:t>
                      </a:r>
                      <a:r>
                        <a:rPr sz="1100" b="0" i="0">
                          <a:solidFill>
                            <a:srgbClr val="5F6770"/>
                          </a:solidFill>
                          <a:latin typeface="Arial"/>
                          <a:ea typeface="Microsoft JhengHei"/>
                        </a:rPr>
                        <a:t>  (8/9)</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600" b="1" i="0">
                          <a:solidFill>
                            <a:srgbClr val="1E7B4A"/>
                          </a:solidFill>
                          <a:latin typeface="Arial"/>
                          <a:ea typeface="Microsoft JhengHei"/>
                        </a:rPr>
                        <a:t>100.0%</a:t>
                      </a:r>
                      <a:r>
                        <a:rPr sz="1100" b="0" i="0">
                          <a:solidFill>
                            <a:srgbClr val="5F6770"/>
                          </a:solidFill>
                          <a:latin typeface="Arial"/>
                          <a:ea typeface="Microsoft JhengHei"/>
                        </a:rPr>
                        <a:t>  (9/9)</a:t>
                      </a:r>
                    </a:p>
                  </a:txBody>
                  <a:tcPr marL="91440" marR="91440" marT="45720" marB="45720" anchor="ctr">
                    <a:lnL w="0">
                      <a:noFill/>
                    </a:lnL>
                    <a:lnR w="0">
                      <a:noFill/>
                    </a:lnR>
                    <a:lnT w="0">
                      <a:noFill/>
                    </a:lnT>
                    <a:lnB w="9525" cmpd="sng">
                      <a:solidFill>
                        <a:srgbClr val="BFBFBF"/>
                      </a:solidFill>
                    </a:lnB>
                    <a:solidFill>
                      <a:srgbClr val="E6F2EA"/>
                    </a:solidFill>
                  </a:tcPr>
                </a:tc>
              </a:tr>
            </a:tbl>
          </a:graphicData>
        </a:graphic>
      </p:graphicFrame>
      <p:sp>
        <p:nvSpPr>
          <p:cNvPr id="14" name="TextBox 13"/>
          <p:cNvSpPr txBox="1"/>
          <p:nvPr/>
        </p:nvSpPr>
        <p:spPr>
          <a:xfrm>
            <a:off x="356616" y="5303520"/>
            <a:ext cx="10972800" cy="320040"/>
          </a:xfrm>
          <a:prstGeom prst="rect">
            <a:avLst/>
          </a:prstGeom>
          <a:noFill/>
        </p:spPr>
        <p:txBody>
          <a:bodyPr wrap="square" lIns="0" rIns="0" tIns="0" bIns="0" anchor="t"/>
          <a:lstStyle/>
          <a:p>
            <a:pPr marL="0" indent="0" algn="l">
              <a:spcAft>
                <a:spcPts val="0"/>
              </a:spcAft>
              <a:buNone/>
            </a:pPr>
            <a:r>
              <a:rPr sz="1100" b="0" i="1">
                <a:solidFill>
                  <a:srgbClr val="5F6770"/>
                </a:solidFill>
                <a:latin typeface="Arial"/>
                <a:ea typeface="Microsoft JhengHei"/>
              </a:rPr>
              <a:t>Development results after tuning. * Registration number is printed on 6 of the 9 receipts; every other field on all 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8778240" cy="566928"/>
          </a:xfrm>
        </p:spPr>
        <p:txBody>
          <a:bodyPr lIns="0"/>
          <a:lstStyle/>
          <a:p>
            <a:r>
              <a:rPr sz="2800" b="1">
                <a:solidFill>
                  <a:srgbClr val="333D47"/>
                </a:solidFill>
                <a:latin typeface="Arial"/>
                <a:ea typeface="Microsoft JhengHei"/>
              </a:rPr>
              <a:t>What Prompt V2 Changed</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Rounded Rectangle 10"/>
          <p:cNvSpPr/>
          <p:nvPr/>
        </p:nvSpPr>
        <p:spPr>
          <a:xfrm>
            <a:off x="9372600" y="603504"/>
            <a:ext cx="2459736" cy="329184"/>
          </a:xfrm>
          <a:prstGeom prst="roundRect">
            <a:avLst/>
          </a:prstGeom>
          <a:solidFill>
            <a:srgbClr val="FFFFFF"/>
          </a:solidFill>
          <a:ln w="15875">
            <a:solidFill>
              <a:srgbClr val="333D47"/>
            </a:solidFill>
          </a:ln>
        </p:spPr>
        <p:txBody>
          <a:bodyPr rtlCol="0" anchor="ctr" lIns="45720" rIns="45720" tIns="0" bIns="0"/>
          <a:lstStyle/>
          <a:p>
            <a:pPr algn="ctr"/>
            <a:r>
              <a:rPr sz="1050" b="1">
                <a:solidFill>
                  <a:srgbClr val="333D47"/>
                </a:solidFill>
                <a:latin typeface="Arial"/>
                <a:ea typeface="Microsoft JhengHei"/>
              </a:rPr>
              <a:t>MEASURED · DEVELOPMENT SET</a:t>
            </a:r>
          </a:p>
        </p:txBody>
      </p:sp>
      <p:sp>
        <p:nvSpPr>
          <p:cNvPr id="12" name="TextBox 11"/>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Four fields fixed, all by clearer wording. Code checks, layout and photos added nothing.</a:t>
            </a:r>
          </a:p>
        </p:txBody>
      </p:sp>
      <p:graphicFrame>
        <p:nvGraphicFramePr>
          <p:cNvPr id="13" name="Table 12"/>
          <p:cNvGraphicFramePr>
            <a:graphicFrameLocks noGrp="1"/>
          </p:cNvGraphicFramePr>
          <p:nvPr/>
        </p:nvGraphicFramePr>
        <p:xfrm>
          <a:off x="356616" y="1783080"/>
          <a:ext cx="11475719" cy="2770632"/>
        </p:xfrm>
        <a:graphic>
          <a:graphicData uri="http://schemas.openxmlformats.org/drawingml/2006/table">
            <a:tbl>
              <a:tblPr firstRow="0" bandRow="0">
                <a:tableStyleId>{2D5ABB26-0587-4C30-8999-92F81FD0307C}</a:tableStyleId>
              </a:tblPr>
              <a:tblGrid>
                <a:gridCol w="1828800"/>
                <a:gridCol w="3520440"/>
                <a:gridCol w="3749039"/>
                <a:gridCol w="2377440"/>
              </a:tblGrid>
              <a:tr h="502920">
                <a:tc>
                  <a:txBody>
                    <a:bodyPr wrap="square"/>
                    <a:lstStyle/>
                    <a:p>
                      <a:pPr algn="l"/>
                      <a:r>
                        <a:rPr sz="1300" b="1" i="0">
                          <a:solidFill>
                            <a:srgbClr val="FFFFFF"/>
                          </a:solidFill>
                          <a:latin typeface="Arial"/>
                          <a:ea typeface="Microsoft JhengHei"/>
                        </a:rPr>
                        <a:t>Field fixed</a:t>
                      </a:r>
                    </a:p>
                  </a:txBody>
                  <a:tcPr marL="91440" marR="91440" marT="45720" marB="45720" anchor="ctr">
                    <a:lnL w="0">
                      <a:noFill/>
                    </a:lnL>
                    <a:lnR w="0">
                      <a:noFill/>
                    </a:lnR>
                    <a:lnT w="0">
                      <a:noFill/>
                    </a:lnT>
                    <a:lnB w="0">
                      <a:noFill/>
                    </a:lnB>
                    <a:solidFill>
                      <a:srgbClr val="333D47"/>
                    </a:solidFill>
                  </a:tcPr>
                </a:tc>
                <a:tc>
                  <a:txBody>
                    <a:bodyPr wrap="square"/>
                    <a:lstStyle/>
                    <a:p>
                      <a:pPr algn="l"/>
                      <a:r>
                        <a:rPr sz="1300" b="1" i="0">
                          <a:solidFill>
                            <a:srgbClr val="FFFFFF"/>
                          </a:solidFill>
                          <a:latin typeface="Arial"/>
                          <a:ea typeface="Microsoft JhengHei"/>
                        </a:rPr>
                        <a:t>Original prompt replied</a:t>
                      </a:r>
                    </a:p>
                  </a:txBody>
                  <a:tcPr marL="91440" marR="91440" marT="45720" marB="45720" anchor="ctr">
                    <a:lnL w="0">
                      <a:noFill/>
                    </a:lnL>
                    <a:lnR w="0">
                      <a:noFill/>
                    </a:lnR>
                    <a:lnT w="0">
                      <a:noFill/>
                    </a:lnT>
                    <a:lnB w="0">
                      <a:noFill/>
                    </a:lnB>
                    <a:solidFill>
                      <a:srgbClr val="333D47"/>
                    </a:solidFill>
                  </a:tcPr>
                </a:tc>
                <a:tc>
                  <a:txBody>
                    <a:bodyPr wrap="square"/>
                    <a:lstStyle/>
                    <a:p>
                      <a:pPr algn="l"/>
                      <a:r>
                        <a:rPr sz="1300" b="1" i="0">
                          <a:solidFill>
                            <a:srgbClr val="FFFFFF"/>
                          </a:solidFill>
                          <a:latin typeface="Arial"/>
                          <a:ea typeface="Microsoft JhengHei"/>
                        </a:rPr>
                        <a:t>Prompt v2 wording added</a:t>
                      </a:r>
                    </a:p>
                  </a:txBody>
                  <a:tcPr marL="91440" marR="91440" marT="45720" marB="45720" anchor="ctr">
                    <a:lnL w="0">
                      <a:noFill/>
                    </a:lnL>
                    <a:lnR w="0">
                      <a:noFill/>
                    </a:lnR>
                    <a:lnT w="0">
                      <a:noFill/>
                    </a:lnT>
                    <a:lnB w="0">
                      <a:noFill/>
                    </a:lnB>
                    <a:solidFill>
                      <a:srgbClr val="333D47"/>
                    </a:solidFill>
                  </a:tcPr>
                </a:tc>
                <a:tc>
                  <a:txBody>
                    <a:bodyPr wrap="square"/>
                    <a:lstStyle/>
                    <a:p>
                      <a:pPr algn="l"/>
                      <a:r>
                        <a:rPr sz="1300" b="1" i="0">
                          <a:solidFill>
                            <a:srgbClr val="FFFFFF"/>
                          </a:solidFill>
                          <a:latin typeface="Arial"/>
                          <a:ea typeface="Microsoft JhengHei"/>
                        </a:rPr>
                        <a:t>Prompt v2 replied</a:t>
                      </a:r>
                    </a:p>
                  </a:txBody>
                  <a:tcPr marL="91440" marR="91440" marT="45720" marB="45720" anchor="ctr">
                    <a:lnL w="0">
                      <a:noFill/>
                    </a:lnL>
                    <a:lnR w="0">
                      <a:noFill/>
                    </a:lnR>
                    <a:lnT w="0">
                      <a:noFill/>
                    </a:lnT>
                    <a:lnB w="0">
                      <a:noFill/>
                    </a:lnB>
                    <a:solidFill>
                      <a:srgbClr val="333D47"/>
                    </a:solidFill>
                  </a:tcPr>
                </a:tc>
              </a:tr>
              <a:tr h="566928">
                <a:tc>
                  <a:txBody>
                    <a:bodyPr wrap="square"/>
                    <a:lstStyle/>
                    <a:p>
                      <a:pPr algn="l"/>
                      <a:r>
                        <a:rPr sz="1300" b="1" i="0">
                          <a:solidFill>
                            <a:srgbClr val="333D47"/>
                          </a:solidFill>
                          <a:latin typeface="Arial"/>
                          <a:ea typeface="Microsoft JhengHei"/>
                        </a:rPr>
                        <a:t>Registration no.</a:t>
                      </a:r>
                    </a:p>
                    <a:p>
                      <a:pPr algn="l"/>
                      <a:r>
                        <a:rPr sz="1100" b="0" i="0">
                          <a:solidFill>
                            <a:srgbClr val="5F6770"/>
                          </a:solidFill>
                          <a:latin typeface="Arial"/>
                          <a:ea typeface="Microsoft JhengHei"/>
                        </a:rPr>
                        <a:t>GP receipt</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250" b="1" i="0">
                          <a:solidFill>
                            <a:srgbClr val="D31145"/>
                          </a:solidFill>
                          <a:latin typeface="Arial"/>
                          <a:ea typeface="Microsoft JhengHei"/>
                        </a:rPr>
                        <a:t>✗ </a:t>
                      </a:r>
                      <a:r>
                        <a:rPr sz="1250" b="0" i="0">
                          <a:solidFill>
                            <a:srgbClr val="333D47"/>
                          </a:solidFill>
                          <a:latin typeface="Arial"/>
                          <a:ea typeface="Microsoft JhengHei"/>
                        </a:rPr>
                        <a:t>MBBS (HK) · Reg. No. M17642</a:t>
                      </a:r>
                    </a:p>
                  </a:txBody>
                  <a:tcPr marL="91440" marR="91440" marT="45720" marB="45720" anchor="ctr">
                    <a:lnL w="0">
                      <a:noFill/>
                    </a:lnL>
                    <a:lnR w="0">
                      <a:noFill/>
                    </a:lnR>
                    <a:lnT w="0">
                      <a:noFill/>
                    </a:lnT>
                    <a:lnB w="19050" cmpd="sng">
                      <a:solidFill>
                        <a:srgbClr val="FFFFFF"/>
                      </a:solidFill>
                    </a:lnB>
                    <a:solidFill>
                      <a:srgbClr val="FBE7EC"/>
                    </a:solidFill>
                  </a:tcPr>
                </a:tc>
                <a:tc>
                  <a:txBody>
                    <a:bodyPr wrap="square"/>
                    <a:lstStyle/>
                    <a:p>
                      <a:pPr algn="l"/>
                      <a:r>
                        <a:rPr sz="1250" b="0" i="1">
                          <a:solidFill>
                            <a:srgbClr val="333D47"/>
                          </a:solidFill>
                          <a:latin typeface="Arial"/>
                          <a:ea typeface="Microsoft JhengHei"/>
                        </a:rPr>
                        <a:t>“the identifier only, without its label”</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250" b="1" i="0">
                          <a:solidFill>
                            <a:srgbClr val="1E7B4A"/>
                          </a:solidFill>
                          <a:latin typeface="Arial"/>
                          <a:ea typeface="Microsoft JhengHei"/>
                        </a:rPr>
                        <a:t>✓ </a:t>
                      </a:r>
                      <a:r>
                        <a:rPr sz="1250" b="0" i="0">
                          <a:solidFill>
                            <a:srgbClr val="333D47"/>
                          </a:solidFill>
                          <a:latin typeface="Arial"/>
                          <a:ea typeface="Microsoft JhengHei"/>
                        </a:rPr>
                        <a:t>M17642</a:t>
                      </a:r>
                    </a:p>
                  </a:txBody>
                  <a:tcPr marL="91440" marR="91440" marT="45720" marB="45720" anchor="ctr">
                    <a:lnL w="0">
                      <a:noFill/>
                    </a:lnL>
                    <a:lnR w="0">
                      <a:noFill/>
                    </a:lnR>
                    <a:lnT w="0">
                      <a:noFill/>
                    </a:lnT>
                    <a:lnB w="19050" cmpd="sng">
                      <a:solidFill>
                        <a:srgbClr val="FFFFFF"/>
                      </a:solidFill>
                    </a:lnB>
                    <a:solidFill>
                      <a:srgbClr val="E6F2EA"/>
                    </a:solidFill>
                  </a:tcPr>
                </a:tc>
              </a:tr>
              <a:tr h="566928">
                <a:tc>
                  <a:txBody>
                    <a:bodyPr wrap="square"/>
                    <a:lstStyle/>
                    <a:p>
                      <a:pPr algn="l"/>
                      <a:r>
                        <a:rPr sz="1300" b="1" i="0">
                          <a:solidFill>
                            <a:srgbClr val="333D47"/>
                          </a:solidFill>
                          <a:latin typeface="Arial"/>
                          <a:ea typeface="Microsoft JhengHei"/>
                        </a:rPr>
                        <a:t>Doctor</a:t>
                      </a:r>
                    </a:p>
                    <a:p>
                      <a:pPr algn="l"/>
                      <a:r>
                        <a:rPr sz="1100" b="0" i="0">
                          <a:solidFill>
                            <a:srgbClr val="5F6770"/>
                          </a:solidFill>
                          <a:latin typeface="Arial"/>
                          <a:ea typeface="Microsoft JhengHei"/>
                        </a:rPr>
                        <a:t>Dental receipt</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250" b="1" i="0">
                          <a:solidFill>
                            <a:srgbClr val="D31145"/>
                          </a:solidFill>
                          <a:latin typeface="Arial"/>
                          <a:ea typeface="Microsoft JhengHei"/>
                        </a:rPr>
                        <a:t>✗ </a:t>
                      </a:r>
                      <a:r>
                        <a:rPr sz="1250" b="0" i="0">
                          <a:solidFill>
                            <a:srgbClr val="333D47"/>
                          </a:solidFill>
                          <a:latin typeface="Arial"/>
                          <a:ea typeface="Microsoft JhengHei"/>
                        </a:rPr>
                        <a:t>Dr. Ho Ching Yee, BDS (HK)</a:t>
                      </a:r>
                    </a:p>
                  </a:txBody>
                  <a:tcPr marL="91440" marR="91440" marT="45720" marB="45720" anchor="ctr">
                    <a:lnL w="0">
                      <a:noFill/>
                    </a:lnL>
                    <a:lnR w="0">
                      <a:noFill/>
                    </a:lnR>
                    <a:lnT w="0">
                      <a:noFill/>
                    </a:lnT>
                    <a:lnB w="19050" cmpd="sng">
                      <a:solidFill>
                        <a:srgbClr val="FFFFFF"/>
                      </a:solidFill>
                    </a:lnB>
                    <a:solidFill>
                      <a:srgbClr val="FBE7EC"/>
                    </a:solidFill>
                  </a:tcPr>
                </a:tc>
                <a:tc>
                  <a:txBody>
                    <a:bodyPr wrap="square"/>
                    <a:lstStyle/>
                    <a:p>
                      <a:pPr algn="l"/>
                      <a:r>
                        <a:rPr sz="1250" b="0" i="1">
                          <a:solidFill>
                            <a:srgbClr val="333D47"/>
                          </a:solidFill>
                          <a:latin typeface="Arial"/>
                          <a:ea typeface="Microsoft JhengHei"/>
                        </a:rPr>
                        <a:t>“Leave out qualifications and post-nominals”</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250" b="1" i="0">
                          <a:solidFill>
                            <a:srgbClr val="1E7B4A"/>
                          </a:solidFill>
                          <a:latin typeface="Arial"/>
                          <a:ea typeface="Microsoft JhengHei"/>
                        </a:rPr>
                        <a:t>✓ </a:t>
                      </a:r>
                      <a:r>
                        <a:rPr sz="1250" b="0" i="0">
                          <a:solidFill>
                            <a:srgbClr val="333D47"/>
                          </a:solidFill>
                          <a:latin typeface="Arial"/>
                          <a:ea typeface="Microsoft JhengHei"/>
                        </a:rPr>
                        <a:t>Dr. Ho Ching Yee</a:t>
                      </a:r>
                    </a:p>
                  </a:txBody>
                  <a:tcPr marL="91440" marR="91440" marT="45720" marB="45720" anchor="ctr">
                    <a:lnL w="0">
                      <a:noFill/>
                    </a:lnL>
                    <a:lnR w="0">
                      <a:noFill/>
                    </a:lnR>
                    <a:lnT w="0">
                      <a:noFill/>
                    </a:lnT>
                    <a:lnB w="19050" cmpd="sng">
                      <a:solidFill>
                        <a:srgbClr val="FFFFFF"/>
                      </a:solidFill>
                    </a:lnB>
                    <a:solidFill>
                      <a:srgbClr val="E6F2EA"/>
                    </a:solidFill>
                  </a:tcPr>
                </a:tc>
              </a:tr>
              <a:tr h="566928">
                <a:tc>
                  <a:txBody>
                    <a:bodyPr wrap="square"/>
                    <a:lstStyle/>
                    <a:p>
                      <a:pPr algn="l"/>
                      <a:r>
                        <a:rPr sz="1300" b="1" i="0">
                          <a:solidFill>
                            <a:srgbClr val="333D47"/>
                          </a:solidFill>
                          <a:latin typeface="Arial"/>
                          <a:ea typeface="Microsoft JhengHei"/>
                        </a:rPr>
                        <a:t>Doctor</a:t>
                      </a:r>
                    </a:p>
                    <a:p>
                      <a:pPr algn="l"/>
                      <a:r>
                        <a:rPr sz="1100" b="0" i="0">
                          <a:solidFill>
                            <a:srgbClr val="5F6770"/>
                          </a:solidFill>
                          <a:latin typeface="Arial"/>
                          <a:ea typeface="Microsoft JhengHei"/>
                        </a:rPr>
                        <a:t>Pharmacy receipt</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250" b="1" i="0">
                          <a:solidFill>
                            <a:srgbClr val="D31145"/>
                          </a:solidFill>
                          <a:latin typeface="Arial"/>
                          <a:ea typeface="Microsoft JhengHei"/>
                        </a:rPr>
                        <a:t>✗ </a:t>
                      </a:r>
                      <a:r>
                        <a:rPr sz="1250" b="0" i="0">
                          <a:solidFill>
                            <a:srgbClr val="333D47"/>
                          </a:solidFill>
                          <a:latin typeface="Arial"/>
                          <a:ea typeface="Microsoft JhengHei"/>
                        </a:rPr>
                        <a:t>Dr Jessica Sterenborg Picton Medical Centre</a:t>
                      </a:r>
                    </a:p>
                  </a:txBody>
                  <a:tcPr marL="91440" marR="91440" marT="45720" marB="45720" anchor="ctr">
                    <a:lnL w="0">
                      <a:noFill/>
                    </a:lnL>
                    <a:lnR w="0">
                      <a:noFill/>
                    </a:lnR>
                    <a:lnT w="0">
                      <a:noFill/>
                    </a:lnT>
                    <a:lnB w="19050" cmpd="sng">
                      <a:solidFill>
                        <a:srgbClr val="FFFFFF"/>
                      </a:solidFill>
                    </a:lnB>
                    <a:solidFill>
                      <a:srgbClr val="FBE7EC"/>
                    </a:solidFill>
                  </a:tcPr>
                </a:tc>
                <a:tc>
                  <a:txBody>
                    <a:bodyPr wrap="square"/>
                    <a:lstStyle/>
                    <a:p>
                      <a:pPr algn="l"/>
                      <a:r>
                        <a:rPr sz="1250" b="0" i="1">
                          <a:solidFill>
                            <a:srgbClr val="333D47"/>
                          </a:solidFill>
                          <a:latin typeface="Arial"/>
                          <a:ea typeface="Microsoft JhengHei"/>
                        </a:rPr>
                        <a:t>“clinic, hospital or practice names”</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250" b="1" i="0">
                          <a:solidFill>
                            <a:srgbClr val="1E7B4A"/>
                          </a:solidFill>
                          <a:latin typeface="Arial"/>
                          <a:ea typeface="Microsoft JhengHei"/>
                        </a:rPr>
                        <a:t>✓ </a:t>
                      </a:r>
                      <a:r>
                        <a:rPr sz="1250" b="0" i="0">
                          <a:solidFill>
                            <a:srgbClr val="333D47"/>
                          </a:solidFill>
                          <a:latin typeface="Arial"/>
                          <a:ea typeface="Microsoft JhengHei"/>
                        </a:rPr>
                        <a:t>Dr Jessica Sterenborg</a:t>
                      </a:r>
                    </a:p>
                  </a:txBody>
                  <a:tcPr marL="91440" marR="91440" marT="45720" marB="45720" anchor="ctr">
                    <a:lnL w="0">
                      <a:noFill/>
                    </a:lnL>
                    <a:lnR w="0">
                      <a:noFill/>
                    </a:lnR>
                    <a:lnT w="0">
                      <a:noFill/>
                    </a:lnT>
                    <a:lnB w="19050" cmpd="sng">
                      <a:solidFill>
                        <a:srgbClr val="FFFFFF"/>
                      </a:solidFill>
                    </a:lnB>
                    <a:solidFill>
                      <a:srgbClr val="E6F2EA"/>
                    </a:solidFill>
                  </a:tcPr>
                </a:tc>
              </a:tr>
              <a:tr h="566928">
                <a:tc>
                  <a:txBody>
                    <a:bodyPr wrap="square"/>
                    <a:lstStyle/>
                    <a:p>
                      <a:pPr algn="l"/>
                      <a:r>
                        <a:rPr sz="1300" b="1" i="0">
                          <a:solidFill>
                            <a:srgbClr val="333D47"/>
                          </a:solidFill>
                          <a:latin typeface="Arial"/>
                          <a:ea typeface="Microsoft JhengHei"/>
                        </a:rPr>
                        <a:t>Total</a:t>
                      </a:r>
                    </a:p>
                    <a:p>
                      <a:pPr algn="l"/>
                      <a:r>
                        <a:rPr sz="1100" b="0" i="0">
                          <a:solidFill>
                            <a:srgbClr val="5F6770"/>
                          </a:solidFill>
                          <a:latin typeface="Arial"/>
                          <a:ea typeface="Microsoft JhengHei"/>
                        </a:rPr>
                        <a:t>Vet invoice</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250" b="1" i="0">
                          <a:solidFill>
                            <a:srgbClr val="D31145"/>
                          </a:solidFill>
                          <a:latin typeface="Arial"/>
                          <a:ea typeface="Microsoft JhengHei"/>
                        </a:rPr>
                        <a:t>✗ </a:t>
                      </a:r>
                      <a:r>
                        <a:rPr sz="1250" b="0" i="0">
                          <a:solidFill>
                            <a:srgbClr val="333D47"/>
                          </a:solidFill>
                          <a:latin typeface="Arial"/>
                          <a:ea typeface="Microsoft JhengHei"/>
                        </a:rPr>
                        <a:t>HKD 1361.50</a:t>
                      </a:r>
                    </a:p>
                  </a:txBody>
                  <a:tcPr marL="91440" marR="91440" marT="45720" marB="45720" anchor="ctr">
                    <a:lnL w="0">
                      <a:noFill/>
                    </a:lnL>
                    <a:lnR w="0">
                      <a:noFill/>
                    </a:lnR>
                    <a:lnT w="0">
                      <a:noFill/>
                    </a:lnT>
                    <a:lnB w="19050" cmpd="sng">
                      <a:solidFill>
                        <a:srgbClr val="FFFFFF"/>
                      </a:solidFill>
                    </a:lnB>
                    <a:solidFill>
                      <a:srgbClr val="FBE7EC"/>
                    </a:solidFill>
                  </a:tcPr>
                </a:tc>
                <a:tc>
                  <a:txBody>
                    <a:bodyPr wrap="square"/>
                    <a:lstStyle/>
                    <a:p>
                      <a:pPr algn="l"/>
                      <a:r>
                        <a:rPr sz="1250" b="0" i="1">
                          <a:solidFill>
                            <a:srgbClr val="333D47"/>
                          </a:solidFill>
                          <a:latin typeface="Arial"/>
                          <a:ea typeface="Microsoft JhengHei"/>
                        </a:rPr>
                        <a:t>“after any discounts, rounding or other adjustments”</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250" b="1" i="0">
                          <a:solidFill>
                            <a:srgbClr val="1E7B4A"/>
                          </a:solidFill>
                          <a:latin typeface="Arial"/>
                          <a:ea typeface="Microsoft JhengHei"/>
                        </a:rPr>
                        <a:t>✓ </a:t>
                      </a:r>
                      <a:r>
                        <a:rPr sz="1250" b="0" i="0">
                          <a:solidFill>
                            <a:srgbClr val="333D47"/>
                          </a:solidFill>
                          <a:latin typeface="Arial"/>
                          <a:ea typeface="Microsoft JhengHei"/>
                        </a:rPr>
                        <a:t>HKD 1361.00</a:t>
                      </a:r>
                    </a:p>
                  </a:txBody>
                  <a:tcPr marL="91440" marR="91440" marT="45720" marB="45720" anchor="ctr">
                    <a:lnL w="0">
                      <a:noFill/>
                    </a:lnL>
                    <a:lnR w="0">
                      <a:noFill/>
                    </a:lnR>
                    <a:lnT w="0">
                      <a:noFill/>
                    </a:lnT>
                    <a:lnB w="19050" cmpd="sng">
                      <a:solidFill>
                        <a:srgbClr val="FFFFFF"/>
                      </a:solidFill>
                    </a:lnB>
                    <a:solidFill>
                      <a:srgbClr val="E6F2EA"/>
                    </a:solidFill>
                  </a:tcPr>
                </a:tc>
              </a:tr>
            </a:tbl>
          </a:graphicData>
        </a:graphic>
      </p:graphicFrame>
      <p:sp>
        <p:nvSpPr>
          <p:cNvPr id="14" name="Rectangle 13"/>
          <p:cNvSpPr/>
          <p:nvPr/>
        </p:nvSpPr>
        <p:spPr>
          <a:xfrm>
            <a:off x="356616" y="4709160"/>
            <a:ext cx="2731770" cy="685800"/>
          </a:xfrm>
          <a:prstGeom prst="rect">
            <a:avLst/>
          </a:prstGeom>
          <a:solidFill>
            <a:srgbClr val="FFFFFF"/>
          </a:solidFill>
          <a:ln w="25400">
            <a:solidFill>
              <a:srgbClr val="D31145"/>
            </a:solidFill>
          </a:ln>
        </p:spPr>
        <p:txBody>
          <a:bodyPr rtlCol="0" anchor="ctr" wrap="square" lIns="146304" rIns="146304" tIns="109728" bIns="109728"/>
          <a:lstStyle/>
          <a:p>
            <a:pPr algn="l" marL="0" indent="0">
              <a:spcAft>
                <a:spcPts val="200"/>
              </a:spcAft>
              <a:buNone/>
            </a:pPr>
            <a:r>
              <a:rPr sz="1400" b="1" i="0">
                <a:solidFill>
                  <a:srgbClr val="D31145"/>
                </a:solidFill>
                <a:latin typeface="Arial"/>
                <a:ea typeface="Microsoft JhengHei"/>
              </a:rPr>
              <a:t>Prompt wording</a:t>
            </a:r>
          </a:p>
          <a:p>
            <a:pPr marL="0" indent="0" algn="l">
              <a:spcAft>
                <a:spcPts val="0"/>
              </a:spcAft>
              <a:buNone/>
            </a:pPr>
            <a:r>
              <a:rPr sz="1250" b="0" i="0">
                <a:solidFill>
                  <a:srgbClr val="333D47"/>
                </a:solidFill>
                <a:latin typeface="Arial"/>
                <a:ea typeface="Microsoft JhengHei"/>
              </a:rPr>
              <a:t>4 fields fixed</a:t>
            </a:r>
          </a:p>
        </p:txBody>
      </p:sp>
      <p:sp>
        <p:nvSpPr>
          <p:cNvPr id="15" name="Rectangle 14"/>
          <p:cNvSpPr/>
          <p:nvPr/>
        </p:nvSpPr>
        <p:spPr>
          <a:xfrm>
            <a:off x="3271266" y="4709160"/>
            <a:ext cx="2731770" cy="685800"/>
          </a:xfrm>
          <a:prstGeom prst="rect">
            <a:avLst/>
          </a:prstGeom>
          <a:solidFill>
            <a:srgbClr val="F2F2F2"/>
          </a:solidFill>
          <a:ln>
            <a:noFill/>
          </a:ln>
        </p:spPr>
        <p:txBody>
          <a:bodyPr rtlCol="0" anchor="ctr" wrap="square" lIns="146304" rIns="146304" tIns="109728" bIns="109728"/>
          <a:lstStyle/>
          <a:p>
            <a:pPr algn="l" marL="0" indent="0">
              <a:spcAft>
                <a:spcPts val="200"/>
              </a:spcAft>
              <a:buNone/>
            </a:pPr>
            <a:r>
              <a:rPr sz="1400" b="1" i="0">
                <a:solidFill>
                  <a:srgbClr val="333D47"/>
                </a:solidFill>
                <a:latin typeface="Arial"/>
                <a:ea typeface="Microsoft JhengHei"/>
              </a:rPr>
              <a:t>Python checks</a:t>
            </a:r>
          </a:p>
          <a:p>
            <a:pPr marL="0" indent="0" algn="l">
              <a:spcAft>
                <a:spcPts val="0"/>
              </a:spcAft>
              <a:buNone/>
            </a:pPr>
            <a:r>
              <a:rPr sz="1250" b="0" i="0">
                <a:solidFill>
                  <a:srgbClr val="5F6770"/>
                </a:solidFill>
                <a:latin typeface="Arial"/>
                <a:ea typeface="Microsoft JhengHei"/>
              </a:rPr>
              <a:t>changed 0 values</a:t>
            </a:r>
          </a:p>
        </p:txBody>
      </p:sp>
      <p:sp>
        <p:nvSpPr>
          <p:cNvPr id="16" name="Rectangle 15"/>
          <p:cNvSpPr/>
          <p:nvPr/>
        </p:nvSpPr>
        <p:spPr>
          <a:xfrm>
            <a:off x="6185916" y="4709160"/>
            <a:ext cx="2731770" cy="685800"/>
          </a:xfrm>
          <a:prstGeom prst="rect">
            <a:avLst/>
          </a:prstGeom>
          <a:solidFill>
            <a:srgbClr val="F2F2F2"/>
          </a:solidFill>
          <a:ln>
            <a:noFill/>
          </a:ln>
        </p:spPr>
        <p:txBody>
          <a:bodyPr rtlCol="0" anchor="ctr" wrap="square" lIns="146304" rIns="146304" tIns="109728" bIns="109728"/>
          <a:lstStyle/>
          <a:p>
            <a:pPr algn="l" marL="0" indent="0">
              <a:spcAft>
                <a:spcPts val="200"/>
              </a:spcAft>
              <a:buNone/>
            </a:pPr>
            <a:r>
              <a:rPr sz="1400" b="1" i="0">
                <a:solidFill>
                  <a:srgbClr val="333D47"/>
                </a:solidFill>
                <a:latin typeface="Arial"/>
                <a:ea typeface="Microsoft JhengHei"/>
              </a:rPr>
              <a:t>OCR row layout</a:t>
            </a:r>
          </a:p>
          <a:p>
            <a:pPr marL="0" indent="0" algn="l">
              <a:spcAft>
                <a:spcPts val="0"/>
              </a:spcAft>
              <a:buNone/>
            </a:pPr>
            <a:r>
              <a:rPr sz="1250" b="0" i="0">
                <a:solidFill>
                  <a:srgbClr val="5F6770"/>
                </a:solidFill>
                <a:latin typeface="Arial"/>
                <a:ea typeface="Microsoft JhengHei"/>
              </a:rPr>
              <a:t>plain text also 49/51</a:t>
            </a:r>
          </a:p>
        </p:txBody>
      </p:sp>
      <p:sp>
        <p:nvSpPr>
          <p:cNvPr id="17" name="Rectangle 16"/>
          <p:cNvSpPr/>
          <p:nvPr/>
        </p:nvSpPr>
        <p:spPr>
          <a:xfrm>
            <a:off x="9100566" y="4709160"/>
            <a:ext cx="2731770" cy="685800"/>
          </a:xfrm>
          <a:prstGeom prst="rect">
            <a:avLst/>
          </a:prstGeom>
          <a:solidFill>
            <a:srgbClr val="F2F2F2"/>
          </a:solidFill>
          <a:ln>
            <a:noFill/>
          </a:ln>
        </p:spPr>
        <p:txBody>
          <a:bodyPr rtlCol="0" anchor="ctr" wrap="square" lIns="146304" rIns="146304" tIns="109728" bIns="109728"/>
          <a:lstStyle/>
          <a:p>
            <a:pPr algn="l" marL="0" indent="0">
              <a:spcAft>
                <a:spcPts val="200"/>
              </a:spcAft>
              <a:buNone/>
            </a:pPr>
            <a:r>
              <a:rPr sz="1400" b="1" i="0">
                <a:solidFill>
                  <a:srgbClr val="333D47"/>
                </a:solidFill>
                <a:latin typeface="Arial"/>
                <a:ea typeface="Microsoft JhengHei"/>
              </a:rPr>
              <a:t>Photo attached</a:t>
            </a:r>
          </a:p>
          <a:p>
            <a:pPr marL="0" indent="0" algn="l">
              <a:spcAft>
                <a:spcPts val="0"/>
              </a:spcAft>
              <a:buNone/>
            </a:pPr>
            <a:r>
              <a:rPr sz="1250" b="0" i="0">
                <a:solidFill>
                  <a:srgbClr val="5F6770"/>
                </a:solidFill>
                <a:latin typeface="Arial"/>
                <a:ea typeface="Microsoft JhengHei"/>
              </a:rPr>
              <a:t>also 49/51</a:t>
            </a:r>
          </a:p>
        </p:txBody>
      </p:sp>
      <p:sp>
        <p:nvSpPr>
          <p:cNvPr id="18" name="TextBox 17"/>
          <p:cNvSpPr txBox="1"/>
          <p:nvPr/>
        </p:nvSpPr>
        <p:spPr>
          <a:xfrm>
            <a:off x="356616" y="5532120"/>
            <a:ext cx="10972800" cy="320040"/>
          </a:xfrm>
          <a:prstGeom prst="rect">
            <a:avLst/>
          </a:prstGeom>
          <a:noFill/>
        </p:spPr>
        <p:txBody>
          <a:bodyPr wrap="square" lIns="0" rIns="0" tIns="0" bIns="0" anchor="t"/>
          <a:lstStyle/>
          <a:p>
            <a:pPr marL="0" indent="0" algn="l">
              <a:spcAft>
                <a:spcPts val="0"/>
              </a:spcAft>
              <a:buNone/>
            </a:pPr>
            <a:r>
              <a:rPr sz="1100" b="0" i="1">
                <a:solidFill>
                  <a:srgbClr val="5F6770"/>
                </a:solidFill>
                <a:latin typeface="Arial"/>
                <a:ea typeface="Microsoft JhengHei"/>
              </a:rPr>
              <a:t>Development result: prompt v2 was written after reviewing these errors. Still wrong: the vet invoice doctor and the pharmacy service date.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Rules vs. AOAI: Side by Side</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AOAI wins on accuracy and effort; rules win on cost and control. New layouts are untested.</a:t>
            </a:r>
          </a:p>
        </p:txBody>
      </p:sp>
      <p:graphicFrame>
        <p:nvGraphicFramePr>
          <p:cNvPr id="12" name="Table 11"/>
          <p:cNvGraphicFramePr>
            <a:graphicFrameLocks noGrp="1"/>
          </p:cNvGraphicFramePr>
          <p:nvPr/>
        </p:nvGraphicFramePr>
        <p:xfrm>
          <a:off x="356616" y="1783080"/>
          <a:ext cx="11475720" cy="3657600"/>
        </p:xfrm>
        <a:graphic>
          <a:graphicData uri="http://schemas.openxmlformats.org/drawingml/2006/table">
            <a:tbl>
              <a:tblPr firstRow="0" bandRow="0">
                <a:tableStyleId>{2D5ABB26-0587-4C30-8999-92F81FD0307C}</a:tableStyleId>
              </a:tblPr>
              <a:tblGrid>
                <a:gridCol w="2331720"/>
                <a:gridCol w="3931920"/>
                <a:gridCol w="3794760"/>
                <a:gridCol w="1417320"/>
              </a:tblGrid>
              <a:tr h="457200">
                <a:tc>
                  <a:txBody>
                    <a:bodyPr wrap="square"/>
                    <a:lstStyle/>
                    <a:p>
                      <a:pPr algn="l"/>
                      <a:r>
                        <a:rPr sz="1400" b="1" i="0">
                          <a:solidFill>
                            <a:srgbClr val="FFFFFF"/>
                          </a:solidFill>
                          <a:latin typeface="Arial"/>
                          <a:ea typeface="Microsoft JhengHei"/>
                        </a:rPr>
                        <a:t/>
                      </a:r>
                    </a:p>
                  </a:txBody>
                  <a:tcPr marL="91440" marR="91440" marT="45720" marB="45720" anchor="ctr">
                    <a:lnL w="0">
                      <a:noFill/>
                    </a:lnL>
                    <a:lnR w="0">
                      <a:noFill/>
                    </a:lnR>
                    <a:lnT w="0">
                      <a:noFill/>
                    </a:lnT>
                    <a:lnB w="0">
                      <a:noFill/>
                    </a:lnB>
                    <a:solidFill>
                      <a:srgbClr val="333D47"/>
                    </a:solidFill>
                  </a:tcPr>
                </a:tc>
                <a:tc>
                  <a:txBody>
                    <a:bodyPr wrap="square"/>
                    <a:lstStyle/>
                    <a:p>
                      <a:pPr algn="l"/>
                      <a:r>
                        <a:rPr sz="1400" b="1" i="0">
                          <a:solidFill>
                            <a:srgbClr val="FFFFFF"/>
                          </a:solidFill>
                          <a:latin typeface="Arial"/>
                          <a:ea typeface="Microsoft JhengHei"/>
                        </a:rPr>
                        <a:t>OCR + rules</a:t>
                      </a:r>
                    </a:p>
                  </a:txBody>
                  <a:tcPr marL="91440" marR="91440" marT="45720" marB="45720" anchor="ctr">
                    <a:lnL w="0">
                      <a:noFill/>
                    </a:lnL>
                    <a:lnR w="0">
                      <a:noFill/>
                    </a:lnR>
                    <a:lnT w="0">
                      <a:noFill/>
                    </a:lnT>
                    <a:lnB w="0">
                      <a:noFill/>
                    </a:lnB>
                    <a:solidFill>
                      <a:srgbClr val="333D47"/>
                    </a:solidFill>
                  </a:tcPr>
                </a:tc>
                <a:tc>
                  <a:txBody>
                    <a:bodyPr wrap="square"/>
                    <a:lstStyle/>
                    <a:p>
                      <a:pPr algn="l"/>
                      <a:r>
                        <a:rPr sz="1400" b="1" i="0">
                          <a:solidFill>
                            <a:srgbClr val="FFFFFF"/>
                          </a:solidFill>
                          <a:latin typeface="Arial"/>
                          <a:ea typeface="Microsoft JhengHei"/>
                        </a:rPr>
                        <a:t>Azure DI + AOAI</a:t>
                      </a:r>
                    </a:p>
                  </a:txBody>
                  <a:tcPr marL="91440" marR="91440" marT="45720" marB="45720" anchor="ctr">
                    <a:lnL w="0">
                      <a:noFill/>
                    </a:lnL>
                    <a:lnR w="0">
                      <a:noFill/>
                    </a:lnR>
                    <a:lnT w="0">
                      <a:noFill/>
                    </a:lnT>
                    <a:lnB w="0">
                      <a:noFill/>
                    </a:lnB>
                    <a:solidFill>
                      <a:srgbClr val="333D47"/>
                    </a:solidFill>
                  </a:tcPr>
                </a:tc>
                <a:tc>
                  <a:txBody>
                    <a:bodyPr wrap="square"/>
                    <a:lstStyle/>
                    <a:p>
                      <a:pPr algn="l"/>
                      <a:r>
                        <a:rPr sz="1400" b="1" i="0">
                          <a:solidFill>
                            <a:srgbClr val="FFFFFF"/>
                          </a:solidFill>
                          <a:latin typeface="Arial"/>
                          <a:ea typeface="Microsoft JhengHei"/>
                        </a:rPr>
                        <a:t>Evidence</a:t>
                      </a:r>
                    </a:p>
                  </a:txBody>
                  <a:tcPr marL="91440" marR="91440" marT="45720" marB="45720" anchor="ctr">
                    <a:lnL w="0">
                      <a:noFill/>
                    </a:lnL>
                    <a:lnR w="0">
                      <a:noFill/>
                    </a:lnR>
                    <a:lnT w="0">
                      <a:noFill/>
                    </a:lnT>
                    <a:lnB w="0">
                      <a:noFill/>
                    </a:lnB>
                    <a:solidFill>
                      <a:srgbClr val="333D47"/>
                    </a:solidFill>
                  </a:tcPr>
                </a:tc>
              </a:tr>
              <a:tr h="457200">
                <a:tc>
                  <a:txBody>
                    <a:bodyPr wrap="square"/>
                    <a:lstStyle/>
                    <a:p>
                      <a:pPr algn="l"/>
                      <a:r>
                        <a:rPr sz="1300" b="1" i="0">
                          <a:solidFill>
                            <a:srgbClr val="333D47"/>
                          </a:solidFill>
                          <a:latin typeface="Arial"/>
                          <a:ea typeface="Microsoft JhengHei"/>
                        </a:rPr>
                        <a:t>Accuracy*</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50" b="0" i="0">
                          <a:solidFill>
                            <a:srgbClr val="333D47"/>
                          </a:solidFill>
                          <a:latin typeface="Arial"/>
                          <a:ea typeface="Microsoft JhengHei"/>
                        </a:rPr>
                        <a:t>37.3–41.2% first; 86.3–88.2% after tuning</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50" b="0" i="0">
                          <a:solidFill>
                            <a:srgbClr val="333D47"/>
                          </a:solidFill>
                          <a:latin typeface="Arial"/>
                          <a:ea typeface="Microsoft JhengHei"/>
                        </a:rPr>
                        <a:t>88.2% first; 96.1% after prompt v2</a:t>
                      </a:r>
                    </a:p>
                  </a:txBody>
                  <a:tcPr marL="91440" marR="91440" marT="45720" marB="45720" anchor="ctr">
                    <a:lnL w="0">
                      <a:noFill/>
                    </a:lnL>
                    <a:lnR w="0">
                      <a:noFill/>
                    </a:lnR>
                    <a:lnT w="0">
                      <a:noFill/>
                    </a:lnT>
                    <a:lnB w="9525" cmpd="sng">
                      <a:solidFill>
                        <a:srgbClr val="BFBFBF"/>
                      </a:solidFill>
                    </a:lnB>
                    <a:solidFill>
                      <a:srgbClr val="E6F2EA"/>
                    </a:solidFill>
                  </a:tcPr>
                </a:tc>
                <a:tc>
                  <a:txBody>
                    <a:bodyPr wrap="square"/>
                    <a:lstStyle/>
                    <a:p>
                      <a:pPr algn="l"/>
                      <a:r>
                        <a:rPr sz="1150" b="0" i="0">
                          <a:solidFill>
                            <a:srgbClr val="333D47"/>
                          </a:solidFill>
                          <a:latin typeface="Arial"/>
                          <a:ea typeface="Microsoft JhengHei"/>
                        </a:rPr>
                        <a:t>Measured</a:t>
                      </a:r>
                    </a:p>
                  </a:txBody>
                  <a:tcPr marL="91440" marR="91440" marT="45720" marB="45720" anchor="ctr">
                    <a:lnL w="0">
                      <a:noFill/>
                    </a:lnL>
                    <a:lnR w="0">
                      <a:noFill/>
                    </a:lnR>
                    <a:lnT w="0">
                      <a:noFill/>
                    </a:lnT>
                    <a:lnB w="9525" cmpd="sng">
                      <a:solidFill>
                        <a:srgbClr val="BFBFBF"/>
                      </a:solidFill>
                    </a:lnB>
                    <a:noFill/>
                  </a:tcPr>
                </a:tc>
              </a:tr>
              <a:tr h="457200">
                <a:tc>
                  <a:txBody>
                    <a:bodyPr wrap="square"/>
                    <a:lstStyle/>
                    <a:p>
                      <a:pPr algn="l"/>
                      <a:r>
                        <a:rPr sz="1300" b="1" i="0">
                          <a:solidFill>
                            <a:srgbClr val="333D47"/>
                          </a:solidFill>
                          <a:latin typeface="Arial"/>
                          <a:ea typeface="Microsoft JhengHei"/>
                        </a:rPr>
                        <a:t>Speed per receipt</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50" b="0" i="0">
                          <a:solidFill>
                            <a:srgbClr val="333D47"/>
                          </a:solidFill>
                          <a:latin typeface="Arial"/>
                          <a:ea typeface="Microsoft JhengHei"/>
                        </a:rPr>
                        <a:t>13.9 s PaddleOCR (CPU) · 3.8 s Azure DI</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50" b="0" i="0">
                          <a:solidFill>
                            <a:srgbClr val="333D47"/>
                          </a:solidFill>
                          <a:latin typeface="Arial"/>
                          <a:ea typeface="Microsoft JhengHei"/>
                        </a:rPr>
                        <a:t>6.2 s</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150" b="0" i="0">
                          <a:solidFill>
                            <a:srgbClr val="333D47"/>
                          </a:solidFill>
                          <a:latin typeface="Arial"/>
                          <a:ea typeface="Microsoft JhengHei"/>
                        </a:rPr>
                        <a:t>Measured</a:t>
                      </a:r>
                    </a:p>
                  </a:txBody>
                  <a:tcPr marL="91440" marR="91440" marT="45720" marB="45720" anchor="ctr">
                    <a:lnL w="0">
                      <a:noFill/>
                    </a:lnL>
                    <a:lnR w="0">
                      <a:noFill/>
                    </a:lnR>
                    <a:lnT w="0">
                      <a:noFill/>
                    </a:lnT>
                    <a:lnB w="9525" cmpd="sng">
                      <a:solidFill>
                        <a:srgbClr val="BFBFBF"/>
                      </a:solidFill>
                    </a:lnB>
                    <a:noFill/>
                  </a:tcPr>
                </a:tc>
              </a:tr>
              <a:tr h="457200">
                <a:tc>
                  <a:txBody>
                    <a:bodyPr wrap="square"/>
                    <a:lstStyle/>
                    <a:p>
                      <a:pPr algn="l"/>
                      <a:r>
                        <a:rPr sz="1300" b="1" i="0">
                          <a:solidFill>
                            <a:srgbClr val="333D47"/>
                          </a:solidFill>
                          <a:latin typeface="Arial"/>
                          <a:ea typeface="Microsoft JhengHei"/>
                        </a:rPr>
                        <a:t>Running cost</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50" b="0" i="0">
                          <a:solidFill>
                            <a:srgbClr val="333D47"/>
                          </a:solidFill>
                          <a:latin typeface="Arial"/>
                          <a:ea typeface="Microsoft JhengHei"/>
                        </a:rPr>
                        <a:t>PaddleOCR: own compute, no API fee · Azure DI: page fee</a:t>
                      </a:r>
                    </a:p>
                  </a:txBody>
                  <a:tcPr marL="91440" marR="91440" marT="45720" marB="45720" anchor="ctr">
                    <a:lnL w="0">
                      <a:noFill/>
                    </a:lnL>
                    <a:lnR w="0">
                      <a:noFill/>
                    </a:lnR>
                    <a:lnT w="0">
                      <a:noFill/>
                    </a:lnT>
                    <a:lnB w="9525" cmpd="sng">
                      <a:solidFill>
                        <a:srgbClr val="BFBFBF"/>
                      </a:solidFill>
                    </a:lnB>
                    <a:solidFill>
                      <a:srgbClr val="E6F2EA"/>
                    </a:solidFill>
                  </a:tcPr>
                </a:tc>
                <a:tc>
                  <a:txBody>
                    <a:bodyPr wrap="square"/>
                    <a:lstStyle/>
                    <a:p>
                      <a:pPr algn="l"/>
                      <a:r>
                        <a:rPr sz="1250" b="0" i="0">
                          <a:solidFill>
                            <a:srgbClr val="333D47"/>
                          </a:solidFill>
                          <a:latin typeface="Arial"/>
                          <a:ea typeface="Microsoft JhengHei"/>
                        </a:rPr>
                        <a:t>Azure DI page fee + ~602 input / 263 output tokens</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150" b="0" i="1">
                          <a:solidFill>
                            <a:srgbClr val="5F6770"/>
                          </a:solidFill>
                          <a:latin typeface="Arial"/>
                          <a:ea typeface="Microsoft JhengHei"/>
                        </a:rPr>
                        <a:t>Prices to confirm</a:t>
                      </a:r>
                    </a:p>
                  </a:txBody>
                  <a:tcPr marL="91440" marR="91440" marT="45720" marB="45720" anchor="ctr">
                    <a:lnL w="0">
                      <a:noFill/>
                    </a:lnL>
                    <a:lnR w="0">
                      <a:noFill/>
                    </a:lnR>
                    <a:lnT w="0">
                      <a:noFill/>
                    </a:lnT>
                    <a:lnB w="9525" cmpd="sng">
                      <a:solidFill>
                        <a:srgbClr val="BFBFBF"/>
                      </a:solidFill>
                    </a:lnB>
                    <a:noFill/>
                  </a:tcPr>
                </a:tc>
              </a:tr>
              <a:tr h="457200">
                <a:tc>
                  <a:txBody>
                    <a:bodyPr wrap="square"/>
                    <a:lstStyle/>
                    <a:p>
                      <a:pPr algn="l"/>
                      <a:r>
                        <a:rPr sz="1300" b="1" i="0">
                          <a:solidFill>
                            <a:srgbClr val="333D47"/>
                          </a:solidFill>
                          <a:latin typeface="Arial"/>
                          <a:ea typeface="Microsoft JhengHei"/>
                        </a:rPr>
                        <a:t>Development effort</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50" b="0" i="0">
                          <a:solidFill>
                            <a:srgbClr val="333D47"/>
                          </a:solidFill>
                          <a:latin typeface="Arial"/>
                          <a:ea typeface="Microsoft JhengHei"/>
                        </a:rPr>
                        <a:t>Rules rewritten by hand (69 → 225 label phrases)</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50" b="0" i="0">
                          <a:solidFill>
                            <a:srgbClr val="333D47"/>
                          </a:solidFill>
                          <a:latin typeface="Arial"/>
                          <a:ea typeface="Microsoft JhengHei"/>
                        </a:rPr>
                        <a:t>One prompt revision</a:t>
                      </a:r>
                    </a:p>
                  </a:txBody>
                  <a:tcPr marL="91440" marR="91440" marT="45720" marB="45720" anchor="ctr">
                    <a:lnL w="0">
                      <a:noFill/>
                    </a:lnL>
                    <a:lnR w="0">
                      <a:noFill/>
                    </a:lnR>
                    <a:lnT w="0">
                      <a:noFill/>
                    </a:lnT>
                    <a:lnB w="9525" cmpd="sng">
                      <a:solidFill>
                        <a:srgbClr val="BFBFBF"/>
                      </a:solidFill>
                    </a:lnB>
                    <a:solidFill>
                      <a:srgbClr val="E6F2EA"/>
                    </a:solidFill>
                  </a:tcPr>
                </a:tc>
                <a:tc>
                  <a:txBody>
                    <a:bodyPr wrap="square"/>
                    <a:lstStyle/>
                    <a:p>
                      <a:pPr algn="l"/>
                      <a:r>
                        <a:rPr sz="1150" b="0" i="0">
                          <a:solidFill>
                            <a:srgbClr val="333D47"/>
                          </a:solidFill>
                          <a:latin typeface="Arial"/>
                          <a:ea typeface="Microsoft JhengHei"/>
                        </a:rPr>
                        <a:t>Measured</a:t>
                      </a:r>
                    </a:p>
                  </a:txBody>
                  <a:tcPr marL="91440" marR="91440" marT="45720" marB="45720" anchor="ctr">
                    <a:lnL w="0">
                      <a:noFill/>
                    </a:lnL>
                    <a:lnR w="0">
                      <a:noFill/>
                    </a:lnR>
                    <a:lnT w="0">
                      <a:noFill/>
                    </a:lnT>
                    <a:lnB w="9525" cmpd="sng">
                      <a:solidFill>
                        <a:srgbClr val="BFBFBF"/>
                      </a:solidFill>
                    </a:lnB>
                    <a:noFill/>
                  </a:tcPr>
                </a:tc>
              </a:tr>
              <a:tr h="457200">
                <a:tc>
                  <a:txBody>
                    <a:bodyPr wrap="square"/>
                    <a:lstStyle/>
                    <a:p>
                      <a:pPr algn="l"/>
                      <a:r>
                        <a:rPr sz="1300" b="1" i="0">
                          <a:solidFill>
                            <a:srgbClr val="333D47"/>
                          </a:solidFill>
                          <a:latin typeface="Arial"/>
                          <a:ea typeface="Microsoft JhengHei"/>
                        </a:rPr>
                        <a:t>Side effects of changes</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50" b="0" i="0">
                          <a:solidFill>
                            <a:srgbClr val="333D47"/>
                          </a:solidFill>
                          <a:latin typeface="Arial"/>
                          <a:ea typeface="Microsoft JhengHei"/>
                        </a:rPr>
                        <a:t>1 correct field broken by the rule changes</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50" b="0" i="0">
                          <a:solidFill>
                            <a:srgbClr val="333D47"/>
                          </a:solidFill>
                          <a:latin typeface="Arial"/>
                          <a:ea typeface="Microsoft JhengHei"/>
                        </a:rPr>
                        <a:t>0 broken by the prompt revision</a:t>
                      </a:r>
                    </a:p>
                  </a:txBody>
                  <a:tcPr marL="91440" marR="91440" marT="45720" marB="45720" anchor="ctr">
                    <a:lnL w="0">
                      <a:noFill/>
                    </a:lnL>
                    <a:lnR w="0">
                      <a:noFill/>
                    </a:lnR>
                    <a:lnT w="0">
                      <a:noFill/>
                    </a:lnT>
                    <a:lnB w="9525" cmpd="sng">
                      <a:solidFill>
                        <a:srgbClr val="BFBFBF"/>
                      </a:solidFill>
                    </a:lnB>
                    <a:solidFill>
                      <a:srgbClr val="E6F2EA"/>
                    </a:solidFill>
                  </a:tcPr>
                </a:tc>
                <a:tc>
                  <a:txBody>
                    <a:bodyPr wrap="square"/>
                    <a:lstStyle/>
                    <a:p>
                      <a:pPr algn="l"/>
                      <a:r>
                        <a:rPr sz="1150" b="0" i="0">
                          <a:solidFill>
                            <a:srgbClr val="333D47"/>
                          </a:solidFill>
                          <a:latin typeface="Arial"/>
                          <a:ea typeface="Microsoft JhengHei"/>
                        </a:rPr>
                        <a:t>Measured</a:t>
                      </a:r>
                    </a:p>
                  </a:txBody>
                  <a:tcPr marL="91440" marR="91440" marT="45720" marB="45720" anchor="ctr">
                    <a:lnL w="0">
                      <a:noFill/>
                    </a:lnL>
                    <a:lnR w="0">
                      <a:noFill/>
                    </a:lnR>
                    <a:lnT w="0">
                      <a:noFill/>
                    </a:lnT>
                    <a:lnB w="9525" cmpd="sng">
                      <a:solidFill>
                        <a:srgbClr val="BFBFBF"/>
                      </a:solidFill>
                    </a:lnB>
                    <a:noFill/>
                  </a:tcPr>
                </a:tc>
              </a:tr>
              <a:tr h="457200">
                <a:tc>
                  <a:txBody>
                    <a:bodyPr wrap="square"/>
                    <a:lstStyle/>
                    <a:p>
                      <a:pPr algn="l"/>
                      <a:r>
                        <a:rPr sz="1300" b="1" i="0">
                          <a:solidFill>
                            <a:srgbClr val="333D47"/>
                          </a:solidFill>
                          <a:latin typeface="Arial"/>
                          <a:ea typeface="Microsoft JhengHei"/>
                        </a:rPr>
                        <a:t>New receipt layouts</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50" b="0" i="0">
                          <a:solidFill>
                            <a:srgbClr val="333D47"/>
                          </a:solidFill>
                          <a:latin typeface="Arial"/>
                          <a:ea typeface="Microsoft JhengHei"/>
                        </a:rPr>
                        <a:t>New labels and rules for each layout or language</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50" b="0" i="0">
                          <a:solidFill>
                            <a:srgbClr val="333D47"/>
                          </a:solidFill>
                          <a:latin typeface="Arial"/>
                          <a:ea typeface="Microsoft JhengHei"/>
                        </a:rPr>
                        <a:t>Expected to adapt without code changes</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150" b="0" i="1">
                          <a:solidFill>
                            <a:srgbClr val="5F6770"/>
                          </a:solidFill>
                          <a:latin typeface="Arial"/>
                          <a:ea typeface="Microsoft JhengHei"/>
                        </a:rPr>
                        <a:t>Expected</a:t>
                      </a:r>
                    </a:p>
                  </a:txBody>
                  <a:tcPr marL="91440" marR="91440" marT="45720" marB="45720" anchor="ctr">
                    <a:lnL w="0">
                      <a:noFill/>
                    </a:lnL>
                    <a:lnR w="0">
                      <a:noFill/>
                    </a:lnR>
                    <a:lnT w="0">
                      <a:noFill/>
                    </a:lnT>
                    <a:lnB w="9525" cmpd="sng">
                      <a:solidFill>
                        <a:srgbClr val="BFBFBF"/>
                      </a:solidFill>
                    </a:lnB>
                    <a:noFill/>
                  </a:tcPr>
                </a:tc>
              </a:tr>
              <a:tr h="457200">
                <a:tc>
                  <a:txBody>
                    <a:bodyPr wrap="square"/>
                    <a:lstStyle/>
                    <a:p>
                      <a:pPr algn="l"/>
                      <a:r>
                        <a:rPr sz="1300" b="1" i="0">
                          <a:solidFill>
                            <a:srgbClr val="333D47"/>
                          </a:solidFill>
                          <a:latin typeface="Arial"/>
                          <a:ea typeface="Microsoft JhengHei"/>
                        </a:rPr>
                        <a:t>Control and audit</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50" b="0" i="0">
                          <a:solidFill>
                            <a:srgbClr val="333D47"/>
                          </a:solidFill>
                          <a:latin typeface="Arial"/>
                          <a:ea typeface="Microsoft JhengHei"/>
                        </a:rPr>
                        <a:t>Deterministic; every decision traceable</a:t>
                      </a:r>
                    </a:p>
                  </a:txBody>
                  <a:tcPr marL="91440" marR="91440" marT="45720" marB="45720" anchor="ctr">
                    <a:lnL w="0">
                      <a:noFill/>
                    </a:lnL>
                    <a:lnR w="0">
                      <a:noFill/>
                    </a:lnR>
                    <a:lnT w="0">
                      <a:noFill/>
                    </a:lnT>
                    <a:lnB w="9525" cmpd="sng">
                      <a:solidFill>
                        <a:srgbClr val="BFBFBF"/>
                      </a:solidFill>
                    </a:lnB>
                    <a:solidFill>
                      <a:srgbClr val="E6F2EA"/>
                    </a:solidFill>
                  </a:tcPr>
                </a:tc>
                <a:tc>
                  <a:txBody>
                    <a:bodyPr wrap="square"/>
                    <a:lstStyle/>
                    <a:p>
                      <a:pPr algn="l"/>
                      <a:r>
                        <a:rPr sz="1250" b="0" i="0">
                          <a:solidFill>
                            <a:srgbClr val="333D47"/>
                          </a:solidFill>
                          <a:latin typeface="Arial"/>
                          <a:ea typeface="Microsoft JhengHei"/>
                        </a:rPr>
                        <a:t>Depends on model and prompt; needs monitoring</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150" b="0" i="1">
                          <a:solidFill>
                            <a:srgbClr val="5F6770"/>
                          </a:solidFill>
                          <a:latin typeface="Arial"/>
                          <a:ea typeface="Microsoft JhengHei"/>
                        </a:rPr>
                        <a:t>Expected</a:t>
                      </a:r>
                    </a:p>
                  </a:txBody>
                  <a:tcPr marL="91440" marR="91440" marT="45720" marB="45720" anchor="ctr">
                    <a:lnL w="0">
                      <a:noFill/>
                    </a:lnL>
                    <a:lnR w="0">
                      <a:noFill/>
                    </a:lnR>
                    <a:lnT w="0">
                      <a:noFill/>
                    </a:lnT>
                    <a:lnB w="9525" cmpd="sng">
                      <a:solidFill>
                        <a:srgbClr val="BFBFBF"/>
                      </a:solidFill>
                    </a:lnB>
                    <a:noFill/>
                  </a:tcPr>
                </a:tc>
              </a:tr>
            </a:tbl>
          </a:graphicData>
        </a:graphic>
      </p:graphicFrame>
      <p:sp>
        <p:nvSpPr>
          <p:cNvPr id="13" name="TextBox 12"/>
          <p:cNvSpPr txBox="1"/>
          <p:nvPr/>
        </p:nvSpPr>
        <p:spPr>
          <a:xfrm>
            <a:off x="356616" y="5504688"/>
            <a:ext cx="10972800" cy="320040"/>
          </a:xfrm>
          <a:prstGeom prst="rect">
            <a:avLst/>
          </a:prstGeom>
          <a:noFill/>
        </p:spPr>
        <p:txBody>
          <a:bodyPr wrap="square" lIns="0" rIns="0" tIns="0" bIns="0" anchor="t"/>
          <a:lstStyle/>
          <a:p>
            <a:pPr marL="0" indent="0" algn="l">
              <a:spcAft>
                <a:spcPts val="0"/>
              </a:spcAft>
              <a:buNone/>
            </a:pPr>
            <a:r>
              <a:rPr sz="1100" b="0" i="1">
                <a:solidFill>
                  <a:srgbClr val="5F6770"/>
                </a:solidFill>
                <a:latin typeface="Arial"/>
                <a:ea typeface="Microsoft JhengHei"/>
              </a:rPr>
              <a:t>* First = before tuning (the first rules had no Chinese labels); after tuning = development results. Green = stronger side. Expected = not measured.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8778240" cy="566928"/>
          </a:xfrm>
        </p:spPr>
        <p:txBody>
          <a:bodyPr lIns="0"/>
          <a:lstStyle/>
          <a:p>
            <a:r>
              <a:rPr sz="2800" b="1">
                <a:solidFill>
                  <a:srgbClr val="333D47"/>
                </a:solidFill>
                <a:latin typeface="Arial"/>
                <a:ea typeface="Microsoft JhengHei"/>
              </a:rPr>
              <a:t>When Rules Are Enough: Diagnosis Check</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Rounded Rectangle 10"/>
          <p:cNvSpPr/>
          <p:nvPr/>
        </p:nvSpPr>
        <p:spPr>
          <a:xfrm>
            <a:off x="9372600" y="603504"/>
            <a:ext cx="2459736" cy="329184"/>
          </a:xfrm>
          <a:prstGeom prst="roundRect">
            <a:avLst/>
          </a:prstGeom>
          <a:solidFill>
            <a:srgbClr val="FFFFFF"/>
          </a:solidFill>
          <a:ln w="15875">
            <a:solidFill>
              <a:srgbClr val="333D47"/>
            </a:solidFill>
          </a:ln>
        </p:spPr>
        <p:txBody>
          <a:bodyPr rtlCol="0" anchor="ctr" lIns="45720" rIns="45720" tIns="0" bIns="0"/>
          <a:lstStyle/>
          <a:p>
            <a:pPr algn="ctr"/>
            <a:r>
              <a:rPr sz="1050" b="1">
                <a:solidFill>
                  <a:srgbClr val="333D47"/>
                </a:solidFill>
                <a:latin typeface="Arial"/>
                <a:ea typeface="Microsoft JhengHei"/>
              </a:rPr>
              <a:t>MEASURED · DEVELOPMENT SET</a:t>
            </a:r>
          </a:p>
        </p:txBody>
      </p:sp>
      <p:sp>
        <p:nvSpPr>
          <p:cNvPr id="12" name="TextBox 11"/>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For a simple yes/no question with clear labels, rules matched AOAI on every receipt.</a:t>
            </a:r>
          </a:p>
        </p:txBody>
      </p:sp>
      <p:sp>
        <p:nvSpPr>
          <p:cNvPr id="13" name="Rectangle 12"/>
          <p:cNvSpPr/>
          <p:nvPr/>
        </p:nvSpPr>
        <p:spPr>
          <a:xfrm>
            <a:off x="356616" y="1783080"/>
            <a:ext cx="3383280" cy="3520440"/>
          </a:xfrm>
          <a:prstGeom prst="rect">
            <a:avLst/>
          </a:prstGeom>
          <a:solidFill>
            <a:srgbClr val="F2F2F2"/>
          </a:solidFill>
          <a:ln>
            <a:noFill/>
          </a:ln>
        </p:spPr>
        <p:txBody>
          <a:bodyPr rtlCol="0" anchor="t" wrap="square" lIns="182880" rIns="182880" tIns="109728" bIns="109728"/>
          <a:lstStyle/>
          <a:p>
            <a:pPr algn="l" marL="0" indent="0">
              <a:spcAft>
                <a:spcPts val="400"/>
              </a:spcAft>
              <a:buNone/>
            </a:pPr>
            <a:r>
              <a:rPr sz="1500" b="1" i="0">
                <a:solidFill>
                  <a:srgbClr val="333D47"/>
                </a:solidFill>
                <a:latin typeface="Arial"/>
                <a:ea typeface="Microsoft JhengHei"/>
              </a:rPr>
              <a:t>The question</a:t>
            </a:r>
          </a:p>
          <a:p>
            <a:pPr marL="0" indent="0" algn="l">
              <a:spcAft>
                <a:spcPts val="0"/>
              </a:spcAft>
              <a:buNone/>
            </a:pPr>
            <a:r>
              <a:rPr sz="1500" b="0" i="0">
                <a:solidFill>
                  <a:srgbClr val="333D47"/>
                </a:solidFill>
                <a:latin typeface="Arial"/>
                <a:ea typeface="Microsoft JhengHei"/>
              </a:rPr>
              <a:t>Does the receipt contain a written comment about the patient's condition, symptoms or diagnosis?</a:t>
            </a:r>
          </a:p>
        </p:txBody>
      </p:sp>
      <p:sp>
        <p:nvSpPr>
          <p:cNvPr id="14" name="TextBox 13"/>
          <p:cNvSpPr txBox="1"/>
          <p:nvPr/>
        </p:nvSpPr>
        <p:spPr>
          <a:xfrm>
            <a:off x="539496" y="3154680"/>
            <a:ext cx="3017520" cy="1371600"/>
          </a:xfrm>
          <a:prstGeom prst="rect">
            <a:avLst/>
          </a:prstGeom>
          <a:noFill/>
        </p:spPr>
        <p:txBody>
          <a:bodyPr wrap="square" lIns="0" rIns="0" tIns="0" bIns="0" anchor="t"/>
          <a:lstStyle/>
          <a:p>
            <a:pPr marL="0" indent="0" algn="l">
              <a:spcAft>
                <a:spcPts val="200"/>
              </a:spcAft>
              <a:buNone/>
            </a:pPr>
            <a:r>
              <a:rPr sz="1400" b="1" i="0">
                <a:solidFill>
                  <a:srgbClr val="333D47"/>
                </a:solidFill>
                <a:latin typeface="Arial"/>
                <a:ea typeface="Microsoft JhengHei"/>
              </a:rPr>
              <a:t>13 receipts</a:t>
            </a:r>
          </a:p>
          <a:p>
            <a:pPr marL="182880" indent="-182880" algn="l">
              <a:spcAft>
                <a:spcPts val="200"/>
              </a:spcAft>
              <a:buFont typeface="Arial"/>
              <a:buChar char="•"/>
            </a:pPr>
            <a:r>
              <a:rPr sz="1300" b="0" i="0">
                <a:solidFill>
                  <a:srgbClr val="333D47"/>
                </a:solidFill>
                <a:latin typeface="Arial"/>
                <a:ea typeface="Microsoft JhengHei"/>
              </a:rPr>
              <a:t>3 with a comment</a:t>
            </a:r>
          </a:p>
          <a:p>
            <a:pPr marL="182880" indent="-182880" algn="l">
              <a:spcAft>
                <a:spcPts val="200"/>
              </a:spcAft>
              <a:buFont typeface="Arial"/>
              <a:buChar char="•"/>
            </a:pPr>
            <a:r>
              <a:rPr sz="1300" b="0" i="0">
                <a:solidFill>
                  <a:srgbClr val="333D47"/>
                </a:solidFill>
                <a:latin typeface="Arial"/>
                <a:ea typeface="Microsoft JhengHei"/>
              </a:rPr>
              <a:t>2 with an empty label</a:t>
            </a:r>
          </a:p>
          <a:p>
            <a:pPr marL="182880" indent="-182880" algn="l">
              <a:spcAft>
                <a:spcPts val="0"/>
              </a:spcAft>
              <a:buFont typeface="Arial"/>
              <a:buChar char="•"/>
            </a:pPr>
            <a:r>
              <a:rPr sz="1300" b="0" i="0">
                <a:solidFill>
                  <a:srgbClr val="333D47"/>
                </a:solidFill>
                <a:latin typeface="Arial"/>
                <a:ea typeface="Microsoft JhengHei"/>
              </a:rPr>
              <a:t>English and Chinese labels</a:t>
            </a:r>
          </a:p>
        </p:txBody>
      </p:sp>
      <p:sp>
        <p:nvSpPr>
          <p:cNvPr id="15" name="Rectangle 14"/>
          <p:cNvSpPr/>
          <p:nvPr/>
        </p:nvSpPr>
        <p:spPr>
          <a:xfrm>
            <a:off x="3977639" y="1783080"/>
            <a:ext cx="3291840" cy="1051560"/>
          </a:xfrm>
          <a:prstGeom prst="rect">
            <a:avLst/>
          </a:prstGeom>
          <a:solidFill>
            <a:srgbClr val="F2F2F2"/>
          </a:solidFill>
          <a:ln>
            <a:noFill/>
          </a:ln>
        </p:spPr>
        <p:txBody>
          <a:bodyPr rtlCol="0" anchor="ctr" wrap="square" lIns="182880" rIns="182880" tIns="109728" bIns="109728"/>
          <a:lstStyle/>
          <a:p>
            <a:pPr algn="l" marL="0" indent="0">
              <a:spcAft>
                <a:spcPts val="0"/>
              </a:spcAft>
              <a:buNone/>
            </a:pPr>
            <a:r>
              <a:rPr sz="3000" b="1" i="0">
                <a:solidFill>
                  <a:srgbClr val="333D47"/>
                </a:solidFill>
                <a:latin typeface="Arial"/>
                <a:ea typeface="Microsoft JhengHei"/>
              </a:rPr>
              <a:t>13/13</a:t>
            </a:r>
          </a:p>
          <a:p>
            <a:pPr marL="0" indent="0" algn="l">
              <a:spcAft>
                <a:spcPts val="0"/>
              </a:spcAft>
              <a:buNone/>
            </a:pPr>
            <a:r>
              <a:rPr sz="1250" b="0" i="0">
                <a:solidFill>
                  <a:srgbClr val="5F6770"/>
                </a:solidFill>
                <a:latin typeface="Arial"/>
                <a:ea typeface="Microsoft JhengHei"/>
              </a:rPr>
              <a:t>PaddleOCR Light + rules</a:t>
            </a:r>
          </a:p>
        </p:txBody>
      </p:sp>
      <p:sp>
        <p:nvSpPr>
          <p:cNvPr id="16" name="Rectangle 15"/>
          <p:cNvSpPr/>
          <p:nvPr/>
        </p:nvSpPr>
        <p:spPr>
          <a:xfrm>
            <a:off x="3977639" y="2971800"/>
            <a:ext cx="3291840" cy="1051560"/>
          </a:xfrm>
          <a:prstGeom prst="rect">
            <a:avLst/>
          </a:prstGeom>
          <a:solidFill>
            <a:srgbClr val="F2F2F2"/>
          </a:solidFill>
          <a:ln>
            <a:noFill/>
          </a:ln>
        </p:spPr>
        <p:txBody>
          <a:bodyPr rtlCol="0" anchor="ctr" wrap="square" lIns="182880" rIns="182880" tIns="109728" bIns="109728"/>
          <a:lstStyle/>
          <a:p>
            <a:pPr algn="l" marL="0" indent="0">
              <a:spcAft>
                <a:spcPts val="0"/>
              </a:spcAft>
              <a:buNone/>
            </a:pPr>
            <a:r>
              <a:rPr sz="3000" b="1" i="0">
                <a:solidFill>
                  <a:srgbClr val="333D47"/>
                </a:solidFill>
                <a:latin typeface="Arial"/>
                <a:ea typeface="Microsoft JhengHei"/>
              </a:rPr>
              <a:t>13/13</a:t>
            </a:r>
          </a:p>
          <a:p>
            <a:pPr marL="0" indent="0" algn="l">
              <a:spcAft>
                <a:spcPts val="0"/>
              </a:spcAft>
              <a:buNone/>
            </a:pPr>
            <a:r>
              <a:rPr sz="1250" b="0" i="0">
                <a:solidFill>
                  <a:srgbClr val="5F6770"/>
                </a:solidFill>
                <a:latin typeface="Arial"/>
                <a:ea typeface="Microsoft JhengHei"/>
              </a:rPr>
              <a:t>Azure DI + rules</a:t>
            </a:r>
          </a:p>
        </p:txBody>
      </p:sp>
      <p:sp>
        <p:nvSpPr>
          <p:cNvPr id="17" name="Rectangle 16"/>
          <p:cNvSpPr/>
          <p:nvPr/>
        </p:nvSpPr>
        <p:spPr>
          <a:xfrm>
            <a:off x="3977639" y="4160520"/>
            <a:ext cx="3291840" cy="1051560"/>
          </a:xfrm>
          <a:prstGeom prst="rect">
            <a:avLst/>
          </a:prstGeom>
          <a:solidFill>
            <a:srgbClr val="F2F2F2"/>
          </a:solidFill>
          <a:ln>
            <a:noFill/>
          </a:ln>
        </p:spPr>
        <p:txBody>
          <a:bodyPr rtlCol="0" anchor="ctr" wrap="square" lIns="182880" rIns="182880" tIns="109728" bIns="109728"/>
          <a:lstStyle/>
          <a:p>
            <a:pPr algn="l" marL="0" indent="0">
              <a:spcAft>
                <a:spcPts val="0"/>
              </a:spcAft>
              <a:buNone/>
            </a:pPr>
            <a:r>
              <a:rPr sz="3000" b="1" i="0">
                <a:solidFill>
                  <a:srgbClr val="D31145"/>
                </a:solidFill>
                <a:latin typeface="Arial"/>
                <a:ea typeface="Microsoft JhengHei"/>
              </a:rPr>
              <a:t>13/13</a:t>
            </a:r>
          </a:p>
          <a:p>
            <a:pPr marL="0" indent="0" algn="l">
              <a:spcAft>
                <a:spcPts val="0"/>
              </a:spcAft>
              <a:buNone/>
            </a:pPr>
            <a:r>
              <a:rPr sz="1250" b="0" i="0">
                <a:solidFill>
                  <a:srgbClr val="5F6770"/>
                </a:solidFill>
                <a:latin typeface="Arial"/>
                <a:ea typeface="Microsoft JhengHei"/>
              </a:rPr>
              <a:t>Azure DI + AOAI</a:t>
            </a:r>
          </a:p>
        </p:txBody>
      </p:sp>
      <p:sp>
        <p:nvSpPr>
          <p:cNvPr id="18" name="Rectangle 17"/>
          <p:cNvSpPr/>
          <p:nvPr/>
        </p:nvSpPr>
        <p:spPr>
          <a:xfrm>
            <a:off x="7498079" y="1783080"/>
            <a:ext cx="4334256" cy="3520440"/>
          </a:xfrm>
          <a:prstGeom prst="rect">
            <a:avLst/>
          </a:prstGeom>
          <a:solidFill>
            <a:srgbClr val="FFFFFF"/>
          </a:solidFill>
          <a:ln w="25400">
            <a:solidFill>
              <a:srgbClr val="D31145"/>
            </a:solidFill>
          </a:ln>
        </p:spPr>
        <p:txBody>
          <a:bodyPr rtlCol="0" anchor="t" wrap="square" lIns="182880" rIns="182880" tIns="109728" bIns="109728"/>
          <a:lstStyle/>
          <a:p>
            <a:pPr algn="l" marL="0" indent="0">
              <a:spcAft>
                <a:spcPts val="400"/>
              </a:spcAft>
              <a:buNone/>
            </a:pPr>
            <a:r>
              <a:rPr sz="1500" b="1" i="0">
                <a:solidFill>
                  <a:srgbClr val="D31145"/>
                </a:solidFill>
                <a:latin typeface="Arial"/>
                <a:ea typeface="Microsoft JhengHei"/>
              </a:rPr>
              <a:t>What it tells us</a:t>
            </a:r>
          </a:p>
          <a:p>
            <a:pPr marL="182880" indent="-182880" algn="l">
              <a:spcAft>
                <a:spcPts val="300"/>
              </a:spcAft>
              <a:buFont typeface="Arial"/>
              <a:buChar char="•"/>
            </a:pPr>
            <a:r>
              <a:rPr sz="1300" b="0" i="0">
                <a:solidFill>
                  <a:srgbClr val="333D47"/>
                </a:solidFill>
                <a:latin typeface="Arial"/>
                <a:ea typeface="Microsoft JhengHei"/>
              </a:rPr>
              <a:t>Rules are enough when the answer sits under a clear label (Diagnosis:, Notes:, 診斷) and the question is yes/no.</a:t>
            </a:r>
          </a:p>
          <a:p>
            <a:pPr marL="182880" indent="-182880" algn="l">
              <a:spcAft>
                <a:spcPts val="300"/>
              </a:spcAft>
              <a:buFont typeface="Arial"/>
              <a:buChar char="•"/>
            </a:pPr>
            <a:r>
              <a:rPr sz="1300" b="0" i="0">
                <a:solidFill>
                  <a:srgbClr val="333D47"/>
                </a:solidFill>
                <a:latin typeface="Arial"/>
                <a:ea typeface="Microsoft JhengHei"/>
              </a:rPr>
              <a:t>AOAI also spotted a condition written as a line item ("broken ribs."): unlabelled detail rules cannot see.</a:t>
            </a:r>
          </a:p>
          <a:p>
            <a:pPr marL="182880" indent="-182880" algn="l">
              <a:spcAft>
                <a:spcPts val="300"/>
              </a:spcAft>
              <a:buFont typeface="Arial"/>
              <a:buChar char="•"/>
            </a:pPr>
            <a:r>
              <a:rPr sz="1300" b="0" i="0">
                <a:solidFill>
                  <a:srgbClr val="333D47"/>
                </a:solidFill>
                <a:latin typeface="Arial"/>
                <a:ea typeface="Microsoft JhengHei"/>
              </a:rPr>
              <a:t>Adding the check to AOAI cost about 26% more input tokens and changed none of the six fields.</a:t>
            </a:r>
          </a:p>
          <a:p>
            <a:pPr marL="182880" indent="-182880" algn="l">
              <a:spcAft>
                <a:spcPts val="300"/>
              </a:spcAft>
              <a:buFont typeface="Arial"/>
              <a:buChar char="•"/>
            </a:pPr>
            <a:r>
              <a:rPr sz="1300" b="0" i="0">
                <a:solidFill>
                  <a:srgbClr val="333D47"/>
                </a:solidFill>
                <a:latin typeface="Arial"/>
                <a:ea typeface="Microsoft JhengHei"/>
              </a:rPr>
              <a:t>But the test was easy for both: only 3 receipts had a comment, all under a label.</a:t>
            </a:r>
          </a:p>
        </p:txBody>
      </p:sp>
      <p:sp>
        <p:nvSpPr>
          <p:cNvPr id="19" name="TextBox 18"/>
          <p:cNvSpPr txBox="1"/>
          <p:nvPr/>
        </p:nvSpPr>
        <p:spPr>
          <a:xfrm>
            <a:off x="356616" y="5486400"/>
            <a:ext cx="10972800" cy="320040"/>
          </a:xfrm>
          <a:prstGeom prst="rect">
            <a:avLst/>
          </a:prstGeom>
          <a:noFill/>
        </p:spPr>
        <p:txBody>
          <a:bodyPr wrap="square" lIns="0" rIns="0" tIns="0" bIns="0" anchor="t"/>
          <a:lstStyle/>
          <a:p>
            <a:pPr marL="0" indent="0" algn="l">
              <a:spcAft>
                <a:spcPts val="0"/>
              </a:spcAft>
              <a:buNone/>
            </a:pPr>
            <a:r>
              <a:rPr sz="1100" b="0" i="1">
                <a:solidFill>
                  <a:srgbClr val="5F6770"/>
                </a:solidFill>
                <a:latin typeface="Arial"/>
                <a:ea typeface="Microsoft JhengHei"/>
              </a:rPr>
              <a:t>Development result: rules and prompt written after reading these receipts. Only 3 receipts had a comment.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8778240" cy="566928"/>
          </a:xfrm>
        </p:spPr>
        <p:txBody>
          <a:bodyPr lIns="0"/>
          <a:lstStyle/>
          <a:p>
            <a:r>
              <a:rPr sz="2800" b="1">
                <a:solidFill>
                  <a:srgbClr val="333D47"/>
                </a:solidFill>
                <a:latin typeface="Arial"/>
                <a:ea typeface="Microsoft JhengHei"/>
              </a:rPr>
              <a:t>Beyond Six Fields: What AOAI Could Add</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Rounded Rectangle 10"/>
          <p:cNvSpPr/>
          <p:nvPr/>
        </p:nvSpPr>
        <p:spPr>
          <a:xfrm>
            <a:off x="9372600" y="603504"/>
            <a:ext cx="2459736" cy="329184"/>
          </a:xfrm>
          <a:prstGeom prst="roundRect">
            <a:avLst/>
          </a:prstGeom>
          <a:solidFill>
            <a:srgbClr val="FFFFFF"/>
          </a:solidFill>
          <a:ln w="15875">
            <a:solidFill>
              <a:srgbClr val="D31145"/>
            </a:solidFill>
          </a:ln>
        </p:spPr>
        <p:txBody>
          <a:bodyPr rtlCol="0" anchor="ctr" lIns="45720" rIns="45720" tIns="0" bIns="0"/>
          <a:lstStyle/>
          <a:p>
            <a:pPr algn="ctr"/>
            <a:r>
              <a:rPr sz="1050" b="1">
                <a:solidFill>
                  <a:srgbClr val="D31145"/>
                </a:solidFill>
                <a:latin typeface="Arial"/>
                <a:ea typeface="Microsoft JhengHei"/>
              </a:rPr>
              <a:t>POTENTIAL · NOT YET TESTED</a:t>
            </a:r>
          </a:p>
        </p:txBody>
      </p:sp>
      <p:sp>
        <p:nvSpPr>
          <p:cNvPr id="12" name="TextBox 11"/>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Our receipts already carry medical details that rules ignore. AOAI could turn them into data.</a:t>
            </a:r>
          </a:p>
        </p:txBody>
      </p:sp>
      <p:sp>
        <p:nvSpPr>
          <p:cNvPr id="13" name="Rectangle 12"/>
          <p:cNvSpPr/>
          <p:nvPr/>
        </p:nvSpPr>
        <p:spPr>
          <a:xfrm>
            <a:off x="356616" y="1783080"/>
            <a:ext cx="4069080" cy="3337560"/>
          </a:xfrm>
          <a:prstGeom prst="rect">
            <a:avLst/>
          </a:prstGeom>
          <a:solidFill>
            <a:srgbClr val="F2F2F2"/>
          </a:solidFill>
          <a:ln>
            <a:noFill/>
          </a:ln>
        </p:spPr>
        <p:txBody>
          <a:bodyPr rtlCol="0" anchor="t" wrap="square" lIns="182880" rIns="182880" tIns="109728" bIns="109728"/>
          <a:lstStyle/>
          <a:p>
            <a:pPr algn="l" marL="0" indent="0">
              <a:spcAft>
                <a:spcPts val="600"/>
              </a:spcAft>
              <a:buNone/>
            </a:pPr>
            <a:r>
              <a:rPr sz="1500" b="1" i="0">
                <a:solidFill>
                  <a:srgbClr val="333D47"/>
                </a:solidFill>
                <a:latin typeface="Arial"/>
                <a:ea typeface="Microsoft JhengHei"/>
              </a:rPr>
              <a:t>Already in our receipts' OCR text</a:t>
            </a:r>
          </a:p>
          <a:p>
            <a:pPr marL="0" indent="0" algn="l">
              <a:spcAft>
                <a:spcPts val="100"/>
              </a:spcAft>
              <a:buNone/>
            </a:pPr>
            <a:r>
              <a:rPr sz="1300" b="1" i="0">
                <a:solidFill>
                  <a:srgbClr val="333D47"/>
                </a:solidFill>
                <a:latin typeface="Arial"/>
                <a:ea typeface="Microsoft JhengHei"/>
              </a:rPr>
              <a:t>Diagnoses and symptoms</a:t>
            </a:r>
          </a:p>
          <a:p>
            <a:pPr marL="0" indent="0" algn="l">
              <a:spcAft>
                <a:spcPts val="100"/>
              </a:spcAft>
              <a:buNone/>
            </a:pPr>
            <a:r>
              <a:rPr sz="1250" b="0" i="0">
                <a:solidFill>
                  <a:srgbClr val="333D47"/>
                </a:solidFill>
                <a:latin typeface="Arial"/>
                <a:ea typeface="Microsoft JhengHei"/>
              </a:rPr>
              <a:t>Colitis · diarrhoea</a:t>
            </a:r>
          </a:p>
          <a:p>
            <a:pPr marL="0" indent="0" algn="l">
              <a:spcAft>
                <a:spcPts val="700"/>
              </a:spcAft>
              <a:buNone/>
            </a:pPr>
            <a:r>
              <a:rPr sz="1050" b="0" i="1">
                <a:solidFill>
                  <a:srgbClr val="5F6770"/>
                </a:solidFill>
                <a:latin typeface="Arial"/>
                <a:ea typeface="Microsoft JhengHei"/>
              </a:rPr>
              <a:t>vet invoice</a:t>
            </a:r>
          </a:p>
          <a:p>
            <a:pPr marL="0" indent="0" algn="l">
              <a:spcAft>
                <a:spcPts val="100"/>
              </a:spcAft>
              <a:buNone/>
            </a:pPr>
            <a:r>
              <a:rPr sz="1300" b="1" i="0">
                <a:solidFill>
                  <a:srgbClr val="333D47"/>
                </a:solidFill>
                <a:latin typeface="Arial"/>
                <a:ea typeface="Microsoft JhengHei"/>
              </a:rPr>
              <a:t>Treatments and tests</a:t>
            </a:r>
          </a:p>
          <a:p>
            <a:pPr marL="0" indent="0" algn="l">
              <a:spcAft>
                <a:spcPts val="100"/>
              </a:spcAft>
              <a:buNone/>
            </a:pPr>
            <a:r>
              <a:rPr sz="1250" b="0" i="0">
                <a:solidFill>
                  <a:srgbClr val="333D47"/>
                </a:solidFill>
                <a:latin typeface="Arial"/>
                <a:ea typeface="Microsoft JhengHei"/>
              </a:rPr>
              <a:t>Chest X-ray · Blood test (CBC) · 針灸 (acupuncture) · Scaling and polishing</a:t>
            </a:r>
          </a:p>
          <a:p>
            <a:pPr marL="0" indent="0" algn="l">
              <a:spcAft>
                <a:spcPts val="700"/>
              </a:spcAft>
              <a:buNone/>
            </a:pPr>
            <a:r>
              <a:rPr sz="1050" b="0" i="1">
                <a:solidFill>
                  <a:srgbClr val="5F6770"/>
                </a:solidFill>
                <a:latin typeface="Arial"/>
                <a:ea typeface="Microsoft JhengHei"/>
              </a:rPr>
              <a:t>hospital, Chinese medicine, dental</a:t>
            </a:r>
          </a:p>
          <a:p>
            <a:pPr marL="0" indent="0" algn="l">
              <a:spcAft>
                <a:spcPts val="100"/>
              </a:spcAft>
              <a:buNone/>
            </a:pPr>
            <a:r>
              <a:rPr sz="1300" b="1" i="0">
                <a:solidFill>
                  <a:srgbClr val="333D47"/>
                </a:solidFill>
                <a:latin typeface="Arial"/>
                <a:ea typeface="Microsoft JhengHei"/>
              </a:rPr>
              <a:t>Medications</a:t>
            </a:r>
          </a:p>
          <a:p>
            <a:pPr marL="0" indent="0" algn="l">
              <a:spcAft>
                <a:spcPts val="100"/>
              </a:spcAft>
              <a:buNone/>
            </a:pPr>
            <a:r>
              <a:rPr sz="1250" b="0" i="0">
                <a:solidFill>
                  <a:srgbClr val="333D47"/>
                </a:solidFill>
                <a:latin typeface="Arial"/>
                <a:ea typeface="Microsoft JhengHei"/>
              </a:rPr>
              <a:t>Omeprazole 20mg Capsules · Metronidazole 50mg Tablet</a:t>
            </a:r>
          </a:p>
          <a:p>
            <a:pPr marL="0" indent="0" algn="l">
              <a:spcAft>
                <a:spcPts val="700"/>
              </a:spcAft>
              <a:buNone/>
            </a:pPr>
            <a:r>
              <a:rPr sz="1050" b="0" i="1">
                <a:solidFill>
                  <a:srgbClr val="5F6770"/>
                </a:solidFill>
                <a:latin typeface="Arial"/>
                <a:ea typeface="Microsoft JhengHei"/>
              </a:rPr>
              <a:t>pharmacy, vet invoice</a:t>
            </a:r>
          </a:p>
        </p:txBody>
      </p:sp>
      <p:sp>
        <p:nvSpPr>
          <p:cNvPr id="14" name="Right Arrow 13"/>
          <p:cNvSpPr/>
          <p:nvPr/>
        </p:nvSpPr>
        <p:spPr>
          <a:xfrm>
            <a:off x="4526280" y="3246120"/>
            <a:ext cx="411480" cy="365760"/>
          </a:xfrm>
          <a:prstGeom prst="rightArrow">
            <a:avLst/>
          </a:prstGeom>
          <a:solidFill>
            <a:srgbClr val="8C939A"/>
          </a:solidFill>
          <a:ln>
            <a:noFill/>
          </a:ln>
        </p:spPr>
        <p:txBody>
          <a:bodyPr rtlCol="0" anchor="ctr"/>
          <a:lstStyle/>
          <a:p>
            <a:pPr algn="ctr"/>
          </a:p>
        </p:txBody>
      </p:sp>
      <p:sp>
        <p:nvSpPr>
          <p:cNvPr id="15" name="Rectangle 14"/>
          <p:cNvSpPr/>
          <p:nvPr/>
        </p:nvSpPr>
        <p:spPr>
          <a:xfrm>
            <a:off x="5029200" y="1783080"/>
            <a:ext cx="2834640" cy="3337560"/>
          </a:xfrm>
          <a:prstGeom prst="rect">
            <a:avLst/>
          </a:prstGeom>
          <a:solidFill>
            <a:srgbClr val="FFFFFF"/>
          </a:solidFill>
          <a:ln w="25400">
            <a:solidFill>
              <a:srgbClr val="D31145"/>
            </a:solidFill>
          </a:ln>
        </p:spPr>
        <p:txBody>
          <a:bodyPr rtlCol="0" anchor="t" wrap="square" lIns="182880" rIns="182880" tIns="109728" bIns="109728"/>
          <a:lstStyle/>
          <a:p>
            <a:pPr algn="l" marL="0" indent="0">
              <a:spcAft>
                <a:spcPts val="400"/>
              </a:spcAft>
              <a:buNone/>
            </a:pPr>
            <a:r>
              <a:rPr sz="1500" b="1" i="0">
                <a:solidFill>
                  <a:srgbClr val="D31145"/>
                </a:solidFill>
                <a:latin typeface="Arial"/>
                <a:ea typeface="Microsoft JhengHei"/>
              </a:rPr>
              <a:t>AOAI could return</a:t>
            </a:r>
          </a:p>
          <a:p>
            <a:pPr marL="182880" indent="-182880" algn="l">
              <a:spcAft>
                <a:spcPts val="300"/>
              </a:spcAft>
              <a:buFont typeface="Arial"/>
              <a:buChar char="•"/>
            </a:pPr>
            <a:r>
              <a:rPr sz="1500" b="0" i="0">
                <a:solidFill>
                  <a:srgbClr val="333D47"/>
                </a:solidFill>
                <a:latin typeface="Arial"/>
                <a:ea typeface="Microsoft JhengHei"/>
              </a:rPr>
              <a:t>Diagnosis</a:t>
            </a:r>
          </a:p>
          <a:p>
            <a:pPr marL="182880" indent="-182880" algn="l">
              <a:spcAft>
                <a:spcPts val="300"/>
              </a:spcAft>
              <a:buFont typeface="Arial"/>
              <a:buChar char="•"/>
            </a:pPr>
            <a:r>
              <a:rPr sz="1500" b="0" i="0">
                <a:solidFill>
                  <a:srgbClr val="333D47"/>
                </a:solidFill>
                <a:latin typeface="Arial"/>
                <a:ea typeface="Microsoft JhengHei"/>
              </a:rPr>
              <a:t>Symptoms</a:t>
            </a:r>
          </a:p>
          <a:p>
            <a:pPr marL="182880" indent="-182880" algn="l">
              <a:spcAft>
                <a:spcPts val="300"/>
              </a:spcAft>
              <a:buFont typeface="Arial"/>
              <a:buChar char="•"/>
            </a:pPr>
            <a:r>
              <a:rPr sz="1500" b="0" i="0">
                <a:solidFill>
                  <a:srgbClr val="333D47"/>
                </a:solidFill>
                <a:latin typeface="Arial"/>
                <a:ea typeface="Microsoft JhengHei"/>
              </a:rPr>
              <a:t>Treatment or procedure</a:t>
            </a:r>
          </a:p>
          <a:p>
            <a:pPr marL="182880" indent="-182880" algn="l">
              <a:spcAft>
                <a:spcPts val="300"/>
              </a:spcAft>
              <a:buFont typeface="Arial"/>
              <a:buChar char="•"/>
            </a:pPr>
            <a:r>
              <a:rPr sz="1500" b="0" i="0">
                <a:solidFill>
                  <a:srgbClr val="333D47"/>
                </a:solidFill>
                <a:latin typeface="Arial"/>
                <a:ea typeface="Microsoft JhengHei"/>
              </a:rPr>
              <a:t>Medication and dose</a:t>
            </a:r>
          </a:p>
          <a:p>
            <a:pPr marL="182880" indent="-182880" algn="l">
              <a:spcAft>
                <a:spcPts val="300"/>
              </a:spcAft>
              <a:buFont typeface="Arial"/>
              <a:buChar char="•"/>
            </a:pPr>
            <a:r>
              <a:rPr sz="1500" b="0" i="0">
                <a:solidFill>
                  <a:srgbClr val="333D47"/>
                </a:solidFill>
                <a:latin typeface="Arial"/>
                <a:ea typeface="Microsoft JhengHei"/>
              </a:rPr>
              <a:t>Cost per item</a:t>
            </a:r>
          </a:p>
        </p:txBody>
      </p:sp>
      <p:sp>
        <p:nvSpPr>
          <p:cNvPr id="16" name="Right Arrow 15"/>
          <p:cNvSpPr/>
          <p:nvPr/>
        </p:nvSpPr>
        <p:spPr>
          <a:xfrm>
            <a:off x="7955279" y="3246120"/>
            <a:ext cx="411480" cy="365760"/>
          </a:xfrm>
          <a:prstGeom prst="rightArrow">
            <a:avLst/>
          </a:prstGeom>
          <a:solidFill>
            <a:srgbClr val="8C939A"/>
          </a:solidFill>
          <a:ln>
            <a:noFill/>
          </a:ln>
        </p:spPr>
        <p:txBody>
          <a:bodyPr rtlCol="0" anchor="ctr"/>
          <a:lstStyle/>
          <a:p>
            <a:pPr algn="ctr"/>
          </a:p>
        </p:txBody>
      </p:sp>
      <p:sp>
        <p:nvSpPr>
          <p:cNvPr id="17" name="Rectangle 16"/>
          <p:cNvSpPr/>
          <p:nvPr/>
        </p:nvSpPr>
        <p:spPr>
          <a:xfrm>
            <a:off x="8458200" y="1783080"/>
            <a:ext cx="3374136" cy="3337560"/>
          </a:xfrm>
          <a:prstGeom prst="rect">
            <a:avLst/>
          </a:prstGeom>
          <a:solidFill>
            <a:srgbClr val="F2F2F2"/>
          </a:solidFill>
          <a:ln>
            <a:noFill/>
          </a:ln>
        </p:spPr>
        <p:txBody>
          <a:bodyPr rtlCol="0" anchor="t" wrap="square" lIns="182880" rIns="182880" tIns="109728" bIns="109728"/>
          <a:lstStyle/>
          <a:p>
            <a:pPr algn="l" marL="0" indent="0">
              <a:spcAft>
                <a:spcPts val="400"/>
              </a:spcAft>
              <a:buNone/>
            </a:pPr>
            <a:r>
              <a:rPr sz="1500" b="1" i="0">
                <a:solidFill>
                  <a:srgbClr val="333D47"/>
                </a:solidFill>
                <a:latin typeface="Arial"/>
                <a:ea typeface="Microsoft JhengHei"/>
              </a:rPr>
              <a:t>Which could enable</a:t>
            </a:r>
          </a:p>
          <a:p>
            <a:pPr marL="182880" indent="-182880" algn="l">
              <a:spcAft>
                <a:spcPts val="300"/>
              </a:spcAft>
              <a:buFont typeface="Arial"/>
              <a:buChar char="•"/>
            </a:pPr>
            <a:r>
              <a:rPr sz="1300" b="0" i="0">
                <a:solidFill>
                  <a:srgbClr val="333D47"/>
                </a:solidFill>
                <a:latin typeface="Arial"/>
                <a:ea typeface="Microsoft JhengHei"/>
              </a:rPr>
              <a:t>Claims analytics by diagnosis and treatment</a:t>
            </a:r>
          </a:p>
          <a:p>
            <a:pPr marL="182880" indent="-182880" algn="l">
              <a:spcAft>
                <a:spcPts val="300"/>
              </a:spcAft>
              <a:buFont typeface="Arial"/>
              <a:buChar char="•"/>
            </a:pPr>
            <a:r>
              <a:rPr sz="1300" b="0" i="0">
                <a:solidFill>
                  <a:srgbClr val="333D47"/>
                </a:solidFill>
                <a:latin typeface="Arial"/>
                <a:ea typeface="Microsoft JhengHei"/>
              </a:rPr>
              <a:t>Cost benchmarks per treatment and provider</a:t>
            </a:r>
          </a:p>
          <a:p>
            <a:pPr marL="182880" indent="-182880" algn="l">
              <a:spcAft>
                <a:spcPts val="300"/>
              </a:spcAft>
              <a:buFont typeface="Arial"/>
              <a:buChar char="•"/>
            </a:pPr>
            <a:r>
              <a:rPr sz="1300" b="0" i="0">
                <a:solidFill>
                  <a:srgbClr val="333D47"/>
                </a:solidFill>
                <a:latin typeface="Arial"/>
                <a:ea typeface="Microsoft JhengHei"/>
              </a:rPr>
              <a:t>Medication patterns</a:t>
            </a:r>
          </a:p>
          <a:p>
            <a:pPr marL="182880" indent="-182880" algn="l">
              <a:spcAft>
                <a:spcPts val="300"/>
              </a:spcAft>
              <a:buFont typeface="Arial"/>
              <a:buChar char="•"/>
            </a:pPr>
            <a:r>
              <a:rPr sz="1300" b="0" i="0">
                <a:solidFill>
                  <a:srgbClr val="333D47"/>
                </a:solidFill>
                <a:latin typeface="Arial"/>
                <a:ea typeface="Microsoft JhengHei"/>
              </a:rPr>
              <a:t>Consistency checks: treatment vs diagnosis vs amount</a:t>
            </a:r>
          </a:p>
          <a:p>
            <a:pPr marL="182880" indent="-182880" algn="l">
              <a:spcAft>
                <a:spcPts val="300"/>
              </a:spcAft>
              <a:buFont typeface="Arial"/>
              <a:buChar char="•"/>
            </a:pPr>
            <a:r>
              <a:rPr sz="1300" b="0" i="0">
                <a:solidFill>
                  <a:srgbClr val="333D47"/>
                </a:solidFill>
                <a:latin typeface="Arial"/>
                <a:ea typeface="Microsoft JhengHei"/>
              </a:rPr>
              <a:t>Faster triage for reviewers</a:t>
            </a:r>
          </a:p>
        </p:txBody>
      </p:sp>
      <p:sp>
        <p:nvSpPr>
          <p:cNvPr id="18" name="Rectangle 17"/>
          <p:cNvSpPr/>
          <p:nvPr/>
        </p:nvSpPr>
        <p:spPr>
          <a:xfrm>
            <a:off x="356616" y="5230368"/>
            <a:ext cx="11475720" cy="438912"/>
          </a:xfrm>
          <a:prstGeom prst="rect">
            <a:avLst/>
          </a:prstGeom>
          <a:solidFill>
            <a:srgbClr val="FFFFFF"/>
          </a:solidFill>
          <a:ln w="25400">
            <a:solidFill>
              <a:srgbClr val="D31145"/>
            </a:solidFill>
          </a:ln>
        </p:spPr>
        <p:txBody>
          <a:bodyPr rtlCol="0" anchor="ctr" wrap="square" lIns="182880" rIns="182880" tIns="109728" bIns="109728"/>
          <a:lstStyle/>
          <a:p>
            <a:pPr algn="l" marL="0" indent="0">
              <a:spcAft>
                <a:spcPts val="0"/>
              </a:spcAft>
              <a:buNone/>
            </a:pPr>
            <a:r>
              <a:rPr sz="1300" b="1" i="0">
                <a:solidFill>
                  <a:srgbClr val="D31145"/>
                </a:solidFill>
                <a:latin typeface="Arial"/>
                <a:ea typeface="Microsoft JhengHei"/>
              </a:rPr>
              <a:t>Not yet tested. </a:t>
            </a:r>
            <a:r>
              <a:rPr sz="1300" b="0" i="0">
                <a:solidFill>
                  <a:srgbClr val="333D47"/>
                </a:solidFill>
                <a:latin typeface="Arial"/>
                <a:ea typeface="Microsoft JhengHei"/>
              </a:rPr>
              <a:t>We have not built or measured extraction of these fields. A pilot needs ground truth, accuracy targets, a privacy review and cost checks.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Limits of What We Know</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The evidence points one way, but it is not yet proof.</a:t>
            </a:r>
          </a:p>
        </p:txBody>
      </p:sp>
      <p:sp>
        <p:nvSpPr>
          <p:cNvPr id="12" name="Rectangle 11"/>
          <p:cNvSpPr/>
          <p:nvPr/>
        </p:nvSpPr>
        <p:spPr>
          <a:xfrm>
            <a:off x="356616" y="1783080"/>
            <a:ext cx="3642360" cy="1645920"/>
          </a:xfrm>
          <a:prstGeom prst="rect">
            <a:avLst/>
          </a:prstGeom>
          <a:solidFill>
            <a:srgbClr val="F2F2F2"/>
          </a:solidFill>
          <a:ln>
            <a:noFill/>
          </a:ln>
        </p:spPr>
        <p:txBody>
          <a:bodyPr rtlCol="0" anchor="t" wrap="square" lIns="201168" rIns="201168" tIns="109728" bIns="109728"/>
          <a:lstStyle/>
          <a:p>
            <a:pPr algn="l" marL="0" indent="0">
              <a:spcAft>
                <a:spcPts val="200"/>
              </a:spcAft>
              <a:buNone/>
            </a:pPr>
            <a:r>
              <a:rPr sz="2600" b="1" i="0">
                <a:solidFill>
                  <a:srgbClr val="D31145"/>
                </a:solidFill>
                <a:latin typeface="Arial"/>
                <a:ea typeface="Microsoft JhengHei"/>
              </a:rPr>
              <a:t>1</a:t>
            </a:r>
          </a:p>
          <a:p>
            <a:pPr marL="0" indent="0" algn="l">
              <a:spcAft>
                <a:spcPts val="400"/>
              </a:spcAft>
              <a:buNone/>
            </a:pPr>
            <a:r>
              <a:rPr sz="1500" b="1" i="0">
                <a:solidFill>
                  <a:srgbClr val="333D47"/>
                </a:solidFill>
                <a:latin typeface="Arial"/>
                <a:ea typeface="Microsoft JhengHei"/>
              </a:rPr>
              <a:t>Small sample</a:t>
            </a:r>
          </a:p>
          <a:p>
            <a:pPr marL="0" indent="0" algn="l">
              <a:spcAft>
                <a:spcPts val="0"/>
              </a:spcAft>
              <a:buNone/>
            </a:pPr>
            <a:r>
              <a:rPr sz="1300" b="0" i="0">
                <a:solidFill>
                  <a:srgbClr val="333D47"/>
                </a:solidFill>
                <a:latin typeface="Arial"/>
                <a:ea typeface="Microsoft JhengHei"/>
              </a:rPr>
              <a:t>9 receipts, 51 fields. 7 are printed test receipts.</a:t>
            </a:r>
          </a:p>
        </p:txBody>
      </p:sp>
      <p:sp>
        <p:nvSpPr>
          <p:cNvPr id="13" name="Rectangle 12"/>
          <p:cNvSpPr/>
          <p:nvPr/>
        </p:nvSpPr>
        <p:spPr>
          <a:xfrm>
            <a:off x="4273296" y="1783080"/>
            <a:ext cx="3642360" cy="1645920"/>
          </a:xfrm>
          <a:prstGeom prst="rect">
            <a:avLst/>
          </a:prstGeom>
          <a:solidFill>
            <a:srgbClr val="F2F2F2"/>
          </a:solidFill>
          <a:ln>
            <a:noFill/>
          </a:ln>
        </p:spPr>
        <p:txBody>
          <a:bodyPr rtlCol="0" anchor="t" wrap="square" lIns="201168" rIns="201168" tIns="109728" bIns="109728"/>
          <a:lstStyle/>
          <a:p>
            <a:pPr algn="l" marL="0" indent="0">
              <a:spcAft>
                <a:spcPts val="200"/>
              </a:spcAft>
              <a:buNone/>
            </a:pPr>
            <a:r>
              <a:rPr sz="2600" b="1" i="0">
                <a:solidFill>
                  <a:srgbClr val="D31145"/>
                </a:solidFill>
                <a:latin typeface="Arial"/>
                <a:ea typeface="Microsoft JhengHei"/>
              </a:rPr>
              <a:t>2</a:t>
            </a:r>
          </a:p>
          <a:p>
            <a:pPr marL="0" indent="0" algn="l">
              <a:spcAft>
                <a:spcPts val="400"/>
              </a:spcAft>
              <a:buNone/>
            </a:pPr>
            <a:r>
              <a:rPr sz="1500" b="1" i="0">
                <a:solidFill>
                  <a:srgbClr val="333D47"/>
                </a:solidFill>
                <a:latin typeface="Arial"/>
                <a:ea typeface="Microsoft JhengHei"/>
              </a:rPr>
              <a:t>Rules started without Chinese</a:t>
            </a:r>
          </a:p>
          <a:p>
            <a:pPr marL="0" indent="0" algn="l">
              <a:spcAft>
                <a:spcPts val="0"/>
              </a:spcAft>
              <a:buNone/>
            </a:pPr>
            <a:r>
              <a:rPr sz="1300" b="0" i="0">
                <a:solidFill>
                  <a:srgbClr val="333D47"/>
                </a:solidFill>
                <a:latin typeface="Arial"/>
                <a:ea typeface="Microsoft JhengHei"/>
              </a:rPr>
              <a:t>The first gap (37.3–41.2% vs 88.2%) overstates what rules can do.</a:t>
            </a:r>
          </a:p>
        </p:txBody>
      </p:sp>
      <p:sp>
        <p:nvSpPr>
          <p:cNvPr id="14" name="Rectangle 13"/>
          <p:cNvSpPr/>
          <p:nvPr/>
        </p:nvSpPr>
        <p:spPr>
          <a:xfrm>
            <a:off x="8189976" y="1783080"/>
            <a:ext cx="3642360" cy="1645920"/>
          </a:xfrm>
          <a:prstGeom prst="rect">
            <a:avLst/>
          </a:prstGeom>
          <a:solidFill>
            <a:srgbClr val="F2F2F2"/>
          </a:solidFill>
          <a:ln>
            <a:noFill/>
          </a:ln>
        </p:spPr>
        <p:txBody>
          <a:bodyPr rtlCol="0" anchor="t" wrap="square" lIns="201168" rIns="201168" tIns="109728" bIns="109728"/>
          <a:lstStyle/>
          <a:p>
            <a:pPr algn="l" marL="0" indent="0">
              <a:spcAft>
                <a:spcPts val="200"/>
              </a:spcAft>
              <a:buNone/>
            </a:pPr>
            <a:r>
              <a:rPr sz="2600" b="1" i="0">
                <a:solidFill>
                  <a:srgbClr val="D31145"/>
                </a:solidFill>
                <a:latin typeface="Arial"/>
                <a:ea typeface="Microsoft JhengHei"/>
              </a:rPr>
              <a:t>3</a:t>
            </a:r>
          </a:p>
          <a:p>
            <a:pPr marL="0" indent="0" algn="l">
              <a:spcAft>
                <a:spcPts val="400"/>
              </a:spcAft>
              <a:buNone/>
            </a:pPr>
            <a:r>
              <a:rPr sz="1500" b="1" i="0">
                <a:solidFill>
                  <a:srgbClr val="333D47"/>
                </a:solidFill>
                <a:latin typeface="Arial"/>
                <a:ea typeface="Microsoft JhengHei"/>
              </a:rPr>
              <a:t>Tuned on the same receipts</a:t>
            </a:r>
          </a:p>
          <a:p>
            <a:pPr marL="0" indent="0" algn="l">
              <a:spcAft>
                <a:spcPts val="0"/>
              </a:spcAft>
              <a:buNone/>
            </a:pPr>
            <a:r>
              <a:rPr sz="1300" b="0" i="0">
                <a:solidFill>
                  <a:srgbClr val="333D47"/>
                </a:solidFill>
                <a:latin typeface="Arial"/>
                <a:ea typeface="Microsoft JhengHei"/>
              </a:rPr>
              <a:t>Later scores (rules 86.3–88.2%, AOAI 96.1%) are development results.</a:t>
            </a:r>
          </a:p>
        </p:txBody>
      </p:sp>
      <p:sp>
        <p:nvSpPr>
          <p:cNvPr id="15" name="Rectangle 14"/>
          <p:cNvSpPr/>
          <p:nvPr/>
        </p:nvSpPr>
        <p:spPr>
          <a:xfrm>
            <a:off x="2314956" y="3611880"/>
            <a:ext cx="3642360" cy="1645920"/>
          </a:xfrm>
          <a:prstGeom prst="rect">
            <a:avLst/>
          </a:prstGeom>
          <a:solidFill>
            <a:srgbClr val="F2F2F2"/>
          </a:solidFill>
          <a:ln>
            <a:noFill/>
          </a:ln>
        </p:spPr>
        <p:txBody>
          <a:bodyPr rtlCol="0" anchor="t" wrap="square" lIns="201168" rIns="201168" tIns="109728" bIns="109728"/>
          <a:lstStyle/>
          <a:p>
            <a:pPr algn="l" marL="0" indent="0">
              <a:spcAft>
                <a:spcPts val="200"/>
              </a:spcAft>
              <a:buNone/>
            </a:pPr>
            <a:r>
              <a:rPr sz="2600" b="1" i="0">
                <a:solidFill>
                  <a:srgbClr val="D31145"/>
                </a:solidFill>
                <a:latin typeface="Arial"/>
                <a:ea typeface="Microsoft JhengHei"/>
              </a:rPr>
              <a:t>4</a:t>
            </a:r>
          </a:p>
          <a:p>
            <a:pPr marL="0" indent="0" algn="l">
              <a:spcAft>
                <a:spcPts val="400"/>
              </a:spcAft>
              <a:buNone/>
            </a:pPr>
            <a:r>
              <a:rPr sz="1500" b="1" i="0">
                <a:solidFill>
                  <a:srgbClr val="333D47"/>
                </a:solidFill>
                <a:latin typeface="Arial"/>
                <a:ea typeface="Microsoft JhengHei"/>
              </a:rPr>
              <a:t>Little unseen testing</a:t>
            </a:r>
          </a:p>
          <a:p>
            <a:pPr marL="0" indent="0" algn="l">
              <a:spcAft>
                <a:spcPts val="0"/>
              </a:spcAft>
              <a:buNone/>
            </a:pPr>
            <a:r>
              <a:rPr sz="1300" b="0" i="0">
                <a:solidFill>
                  <a:srgbClr val="333D47"/>
                </a:solidFill>
                <a:latin typeface="Arial"/>
                <a:ea typeface="Microsoft JhengHei"/>
              </a:rPr>
              <a:t>Only 4 unseen handwritten receipts: too few to compare. On all 4, Azure DI misread the year 2026 as 2020.</a:t>
            </a:r>
          </a:p>
        </p:txBody>
      </p:sp>
      <p:sp>
        <p:nvSpPr>
          <p:cNvPr id="16" name="Rectangle 15"/>
          <p:cNvSpPr/>
          <p:nvPr/>
        </p:nvSpPr>
        <p:spPr>
          <a:xfrm>
            <a:off x="6231636" y="3611880"/>
            <a:ext cx="3642360" cy="1645920"/>
          </a:xfrm>
          <a:prstGeom prst="rect">
            <a:avLst/>
          </a:prstGeom>
          <a:solidFill>
            <a:srgbClr val="F2F2F2"/>
          </a:solidFill>
          <a:ln>
            <a:noFill/>
          </a:ln>
        </p:spPr>
        <p:txBody>
          <a:bodyPr rtlCol="0" anchor="t" wrap="square" lIns="201168" rIns="201168" tIns="109728" bIns="109728"/>
          <a:lstStyle/>
          <a:p>
            <a:pPr algn="l" marL="0" indent="0">
              <a:spcAft>
                <a:spcPts val="200"/>
              </a:spcAft>
              <a:buNone/>
            </a:pPr>
            <a:r>
              <a:rPr sz="2600" b="1" i="0">
                <a:solidFill>
                  <a:srgbClr val="D31145"/>
                </a:solidFill>
                <a:latin typeface="Arial"/>
                <a:ea typeface="Microsoft JhengHei"/>
              </a:rPr>
              <a:t>5</a:t>
            </a:r>
          </a:p>
          <a:p>
            <a:pPr marL="0" indent="0" algn="l">
              <a:spcAft>
                <a:spcPts val="400"/>
              </a:spcAft>
              <a:buNone/>
            </a:pPr>
            <a:r>
              <a:rPr sz="1500" b="1" i="0">
                <a:solidFill>
                  <a:srgbClr val="333D47"/>
                </a:solidFill>
                <a:latin typeface="Arial"/>
                <a:ea typeface="Microsoft JhengHei"/>
              </a:rPr>
              <a:t>Costs not confirmed</a:t>
            </a:r>
          </a:p>
          <a:p>
            <a:pPr marL="0" indent="0" algn="l">
              <a:spcAft>
                <a:spcPts val="0"/>
              </a:spcAft>
              <a:buNone/>
            </a:pPr>
            <a:r>
              <a:rPr sz="1300" b="0" i="0">
                <a:solidFill>
                  <a:srgbClr val="333D47"/>
                </a:solidFill>
                <a:latin typeface="Arial"/>
                <a:ea typeface="Microsoft JhengHei"/>
              </a:rPr>
              <a:t>Token counts are measured; Document Intelligence and gpt-5-mini prices are not.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Recommendation</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Not a general replacement: rules for simple, labelled tasks; AOAI where receipts vary or richer data is needed.</a:t>
            </a:r>
          </a:p>
        </p:txBody>
      </p:sp>
      <p:sp>
        <p:nvSpPr>
          <p:cNvPr id="12" name="Rectangle 11"/>
          <p:cNvSpPr/>
          <p:nvPr/>
        </p:nvSpPr>
        <p:spPr>
          <a:xfrm>
            <a:off x="356616" y="1783080"/>
            <a:ext cx="5596128" cy="2103120"/>
          </a:xfrm>
          <a:prstGeom prst="rect">
            <a:avLst/>
          </a:prstGeom>
          <a:solidFill>
            <a:srgbClr val="E6F2EA"/>
          </a:solidFill>
          <a:ln>
            <a:noFill/>
          </a:ln>
        </p:spPr>
        <p:txBody>
          <a:bodyPr rtlCol="0" anchor="t" wrap="square" lIns="182880" rIns="182880" tIns="109728" bIns="109728"/>
          <a:lstStyle/>
          <a:p>
            <a:pPr algn="l" marL="0" indent="0">
              <a:spcAft>
                <a:spcPts val="400"/>
              </a:spcAft>
              <a:buNone/>
            </a:pPr>
            <a:r>
              <a:rPr sz="1500" b="1" i="0">
                <a:solidFill>
                  <a:srgbClr val="1E7B4A"/>
                </a:solidFill>
                <a:latin typeface="Arial"/>
                <a:ea typeface="Microsoft JhengHei"/>
              </a:rPr>
              <a:t>Simple OCR rules are sufficient when…</a:t>
            </a:r>
          </a:p>
          <a:p>
            <a:pPr marL="182880" indent="-182880" algn="l">
              <a:spcAft>
                <a:spcPts val="300"/>
              </a:spcAft>
              <a:buFont typeface="Arial"/>
              <a:buChar char="•"/>
            </a:pPr>
            <a:r>
              <a:rPr sz="1400" b="0" i="0">
                <a:solidFill>
                  <a:srgbClr val="333D47"/>
                </a:solidFill>
                <a:latin typeface="Arial"/>
                <a:ea typeface="Microsoft JhengHei"/>
              </a:rPr>
              <a:t>Layouts are few, known and stable</a:t>
            </a:r>
          </a:p>
          <a:p>
            <a:pPr marL="182880" indent="-182880" algn="l">
              <a:spcAft>
                <a:spcPts val="300"/>
              </a:spcAft>
              <a:buFont typeface="Arial"/>
              <a:buChar char="•"/>
            </a:pPr>
            <a:r>
              <a:rPr sz="1400" b="0" i="0">
                <a:solidFill>
                  <a:srgbClr val="333D47"/>
                </a:solidFill>
                <a:latin typeface="Arial"/>
                <a:ea typeface="Microsoft JhengHei"/>
              </a:rPr>
              <a:t>Fields have clear printed labels</a:t>
            </a:r>
          </a:p>
          <a:p>
            <a:pPr marL="182880" indent="-182880" algn="l">
              <a:spcAft>
                <a:spcPts val="300"/>
              </a:spcAft>
              <a:buFont typeface="Arial"/>
              <a:buChar char="•"/>
            </a:pPr>
            <a:r>
              <a:rPr sz="1400" b="0" i="0">
                <a:solidFill>
                  <a:srgbClr val="333D47"/>
                </a:solidFill>
                <a:latin typeface="Arial"/>
                <a:ea typeface="Microsoft JhengHei"/>
              </a:rPr>
              <a:t>The question is simple, e.g. is a diagnosis comment present?</a:t>
            </a:r>
          </a:p>
          <a:p>
            <a:pPr marL="182880" indent="-182880" algn="l">
              <a:spcAft>
                <a:spcPts val="300"/>
              </a:spcAft>
              <a:buFont typeface="Arial"/>
              <a:buChar char="•"/>
            </a:pPr>
            <a:r>
              <a:rPr sz="1400" b="0" i="0">
                <a:solidFill>
                  <a:srgbClr val="333D47"/>
                </a:solidFill>
                <a:latin typeface="Arial"/>
                <a:ea typeface="Microsoft JhengHei"/>
              </a:rPr>
              <a:t>No API fee or fully deterministic output is required</a:t>
            </a:r>
          </a:p>
        </p:txBody>
      </p:sp>
      <p:sp>
        <p:nvSpPr>
          <p:cNvPr id="13" name="Rectangle 12"/>
          <p:cNvSpPr/>
          <p:nvPr/>
        </p:nvSpPr>
        <p:spPr>
          <a:xfrm>
            <a:off x="6236208" y="1783080"/>
            <a:ext cx="5596128" cy="2103120"/>
          </a:xfrm>
          <a:prstGeom prst="rect">
            <a:avLst/>
          </a:prstGeom>
          <a:solidFill>
            <a:srgbClr val="FFFFFF"/>
          </a:solidFill>
          <a:ln w="25400">
            <a:solidFill>
              <a:srgbClr val="D31145"/>
            </a:solidFill>
          </a:ln>
        </p:spPr>
        <p:txBody>
          <a:bodyPr rtlCol="0" anchor="t" wrap="square" lIns="182880" rIns="182880" tIns="109728" bIns="109728"/>
          <a:lstStyle/>
          <a:p>
            <a:pPr algn="l" marL="0" indent="0">
              <a:spcAft>
                <a:spcPts val="400"/>
              </a:spcAft>
              <a:buNone/>
            </a:pPr>
            <a:r>
              <a:rPr sz="1500" b="1" i="0">
                <a:solidFill>
                  <a:srgbClr val="D31145"/>
                </a:solidFill>
                <a:latin typeface="Arial"/>
                <a:ea typeface="Microsoft JhengHei"/>
              </a:rPr>
              <a:t>AOAI adds real value when…</a:t>
            </a:r>
          </a:p>
          <a:p>
            <a:pPr marL="182880" indent="-182880" algn="l">
              <a:spcAft>
                <a:spcPts val="300"/>
              </a:spcAft>
              <a:buFont typeface="Arial"/>
              <a:buChar char="•"/>
            </a:pPr>
            <a:r>
              <a:rPr sz="1400" b="0" i="0">
                <a:solidFill>
                  <a:srgbClr val="333D47"/>
                </a:solidFill>
                <a:latin typeface="Arial"/>
                <a:ea typeface="Microsoft JhengHei"/>
              </a:rPr>
              <a:t>Many providers, layouts and languages (Chinese, bilingual)</a:t>
            </a:r>
          </a:p>
          <a:p>
            <a:pPr marL="182880" indent="-182880" algn="l">
              <a:spcAft>
                <a:spcPts val="300"/>
              </a:spcAft>
              <a:buFont typeface="Arial"/>
              <a:buChar char="•"/>
            </a:pPr>
            <a:r>
              <a:rPr sz="1400" b="0" i="0">
                <a:solidFill>
                  <a:srgbClr val="333D47"/>
                </a:solidFill>
                <a:latin typeface="Arial"/>
                <a:ea typeface="Microsoft JhengHei"/>
              </a:rPr>
              <a:t>Fields lack consistent labels: names with titles, totals vs subtotals</a:t>
            </a:r>
          </a:p>
          <a:p>
            <a:pPr marL="182880" indent="-182880" algn="l">
              <a:spcAft>
                <a:spcPts val="300"/>
              </a:spcAft>
              <a:buFont typeface="Arial"/>
              <a:buChar char="•"/>
            </a:pPr>
            <a:r>
              <a:rPr sz="1400" b="0" i="0">
                <a:solidFill>
                  <a:srgbClr val="333D47"/>
                </a:solidFill>
                <a:latin typeface="Arial"/>
                <a:ea typeface="Microsoft JhengHei"/>
              </a:rPr>
              <a:t>New fields should be added by changing a prompt, not code</a:t>
            </a:r>
          </a:p>
          <a:p>
            <a:pPr marL="182880" indent="-182880" algn="l">
              <a:spcAft>
                <a:spcPts val="300"/>
              </a:spcAft>
              <a:buFont typeface="Arial"/>
              <a:buChar char="•"/>
            </a:pPr>
            <a:r>
              <a:rPr sz="1400" b="0" i="0">
                <a:solidFill>
                  <a:srgbClr val="333D47"/>
                </a:solidFill>
                <a:latin typeface="Arial"/>
                <a:ea typeface="Microsoft JhengHei"/>
              </a:rPr>
              <a:t>Richer medical data is wanted (potential, not yet tested)</a:t>
            </a:r>
          </a:p>
        </p:txBody>
      </p:sp>
      <p:sp>
        <p:nvSpPr>
          <p:cNvPr id="14" name="Rectangle 13"/>
          <p:cNvSpPr/>
          <p:nvPr/>
        </p:nvSpPr>
        <p:spPr>
          <a:xfrm>
            <a:off x="356616" y="4114800"/>
            <a:ext cx="2697480" cy="1005840"/>
          </a:xfrm>
          <a:prstGeom prst="rect">
            <a:avLst/>
          </a:prstGeom>
          <a:solidFill>
            <a:srgbClr val="F2F2F2"/>
          </a:solidFill>
          <a:ln>
            <a:noFill/>
          </a:ln>
        </p:spPr>
        <p:txBody>
          <a:bodyPr rtlCol="0" anchor="t" wrap="square" lIns="164592" rIns="164592" tIns="109728" bIns="109728"/>
          <a:lstStyle/>
          <a:p>
            <a:pPr algn="l" marL="0" indent="0">
              <a:spcAft>
                <a:spcPts val="300"/>
              </a:spcAft>
              <a:buNone/>
            </a:pPr>
            <a:r>
              <a:rPr sz="1500" b="1" i="0">
                <a:solidFill>
                  <a:srgbClr val="D31145"/>
                </a:solidFill>
                <a:latin typeface="Arial"/>
                <a:ea typeface="Microsoft JhengHei"/>
              </a:rPr>
              <a:t>1. Freeze</a:t>
            </a:r>
          </a:p>
          <a:p>
            <a:pPr marL="0" indent="0" algn="l">
              <a:spcAft>
                <a:spcPts val="0"/>
              </a:spcAft>
              <a:buNone/>
            </a:pPr>
            <a:r>
              <a:rPr sz="1250" b="0" i="0">
                <a:solidFill>
                  <a:srgbClr val="333D47"/>
                </a:solidFill>
                <a:latin typeface="Arial"/>
                <a:ea typeface="Microsoft JhengHei"/>
              </a:rPr>
              <a:t>the improved rules and AOAI prompt v2</a:t>
            </a:r>
          </a:p>
        </p:txBody>
      </p:sp>
      <p:sp>
        <p:nvSpPr>
          <p:cNvPr id="15" name="Rectangle 14"/>
          <p:cNvSpPr/>
          <p:nvPr/>
        </p:nvSpPr>
        <p:spPr>
          <a:xfrm>
            <a:off x="3282696" y="4114800"/>
            <a:ext cx="2697480" cy="1005840"/>
          </a:xfrm>
          <a:prstGeom prst="rect">
            <a:avLst/>
          </a:prstGeom>
          <a:solidFill>
            <a:srgbClr val="F2F2F2"/>
          </a:solidFill>
          <a:ln>
            <a:noFill/>
          </a:ln>
        </p:spPr>
        <p:txBody>
          <a:bodyPr rtlCol="0" anchor="t" wrap="square" lIns="164592" rIns="164592" tIns="109728" bIns="109728"/>
          <a:lstStyle/>
          <a:p>
            <a:pPr algn="l" marL="0" indent="0">
              <a:spcAft>
                <a:spcPts val="300"/>
              </a:spcAft>
              <a:buNone/>
            </a:pPr>
            <a:r>
              <a:rPr sz="1500" b="1" i="0">
                <a:solidFill>
                  <a:srgbClr val="D31145"/>
                </a:solidFill>
                <a:latin typeface="Arial"/>
                <a:ea typeface="Microsoft JhengHei"/>
              </a:rPr>
              <a:t>2. Test unseen</a:t>
            </a:r>
          </a:p>
          <a:p>
            <a:pPr marL="0" indent="0" algn="l">
              <a:spcAft>
                <a:spcPts val="0"/>
              </a:spcAft>
              <a:buNone/>
            </a:pPr>
            <a:r>
              <a:rPr sz="1250" b="0" i="0">
                <a:solidFill>
                  <a:srgbClr val="333D47"/>
                </a:solidFill>
                <a:latin typeface="Arial"/>
                <a:ea typeface="Microsoft JhengHei"/>
              </a:rPr>
              <a:t>30+ real, anonymised receipts; count rule changes</a:t>
            </a:r>
          </a:p>
        </p:txBody>
      </p:sp>
      <p:sp>
        <p:nvSpPr>
          <p:cNvPr id="16" name="Rectangle 15"/>
          <p:cNvSpPr/>
          <p:nvPr/>
        </p:nvSpPr>
        <p:spPr>
          <a:xfrm>
            <a:off x="6208776" y="4114800"/>
            <a:ext cx="2697480" cy="1005840"/>
          </a:xfrm>
          <a:prstGeom prst="rect">
            <a:avLst/>
          </a:prstGeom>
          <a:solidFill>
            <a:srgbClr val="F2F2F2"/>
          </a:solidFill>
          <a:ln>
            <a:noFill/>
          </a:ln>
        </p:spPr>
        <p:txBody>
          <a:bodyPr rtlCol="0" anchor="t" wrap="square" lIns="164592" rIns="164592" tIns="109728" bIns="109728"/>
          <a:lstStyle/>
          <a:p>
            <a:pPr algn="l" marL="0" indent="0">
              <a:spcAft>
                <a:spcPts val="300"/>
              </a:spcAft>
              <a:buNone/>
            </a:pPr>
            <a:r>
              <a:rPr sz="1500" b="1" i="0">
                <a:solidFill>
                  <a:srgbClr val="D31145"/>
                </a:solidFill>
                <a:latin typeface="Arial"/>
                <a:ea typeface="Microsoft JhengHei"/>
              </a:rPr>
              <a:t>3. Pilot extra fields</a:t>
            </a:r>
          </a:p>
          <a:p>
            <a:pPr marL="0" indent="0" algn="l">
              <a:spcAft>
                <a:spcPts val="0"/>
              </a:spcAft>
              <a:buNone/>
            </a:pPr>
            <a:r>
              <a:rPr sz="1250" b="0" i="0">
                <a:solidFill>
                  <a:srgbClr val="333D47"/>
                </a:solidFill>
                <a:latin typeface="Arial"/>
                <a:ea typeface="Microsoft JhengHei"/>
              </a:rPr>
              <a:t>diagnoses, treatments, medications with ground truth</a:t>
            </a:r>
          </a:p>
        </p:txBody>
      </p:sp>
      <p:sp>
        <p:nvSpPr>
          <p:cNvPr id="17" name="Rectangle 16"/>
          <p:cNvSpPr/>
          <p:nvPr/>
        </p:nvSpPr>
        <p:spPr>
          <a:xfrm>
            <a:off x="9134856" y="4114800"/>
            <a:ext cx="2697480" cy="1005840"/>
          </a:xfrm>
          <a:prstGeom prst="rect">
            <a:avLst/>
          </a:prstGeom>
          <a:solidFill>
            <a:srgbClr val="F2F2F2"/>
          </a:solidFill>
          <a:ln>
            <a:noFill/>
          </a:ln>
        </p:spPr>
        <p:txBody>
          <a:bodyPr rtlCol="0" anchor="t" wrap="square" lIns="164592" rIns="164592" tIns="109728" bIns="109728"/>
          <a:lstStyle/>
          <a:p>
            <a:pPr algn="l" marL="0" indent="0">
              <a:spcAft>
                <a:spcPts val="300"/>
              </a:spcAft>
              <a:buNone/>
            </a:pPr>
            <a:r>
              <a:rPr sz="1500" b="1" i="0">
                <a:solidFill>
                  <a:srgbClr val="D31145"/>
                </a:solidFill>
                <a:latin typeface="Arial"/>
                <a:ea typeface="Microsoft JhengHei"/>
              </a:rPr>
              <a:t>4. Confirm cost</a:t>
            </a:r>
          </a:p>
          <a:p>
            <a:pPr marL="0" indent="0" algn="l">
              <a:spcAft>
                <a:spcPts val="0"/>
              </a:spcAft>
              <a:buNone/>
            </a:pPr>
            <a:r>
              <a:rPr sz="1250" b="0" i="0">
                <a:solidFill>
                  <a:srgbClr val="333D47"/>
                </a:solidFill>
                <a:latin typeface="Arial"/>
                <a:ea typeface="Microsoft JhengHei"/>
              </a:rPr>
              <a:t>Document Intelligence pages and gpt-5-mini tokens</a:t>
            </a:r>
          </a:p>
        </p:txBody>
      </p:sp>
    </p:spTree>
  </p:cSld>
  <p:clrMapOvr>
    <a:masterClrMapping/>
  </p:clrMapOvr>
</p:sld>
</file>

<file path=ppt/theme/theme1.xml><?xml version="1.0" encoding="utf-8"?>
<a:theme xmlns:a="http://schemas.openxmlformats.org/drawingml/2006/main" name="AIA_2020">
  <a:themeElements>
    <a:clrScheme name="AIA_2020">
      <a:dk1>
        <a:srgbClr val="303D48"/>
      </a:dk1>
      <a:lt1>
        <a:srgbClr val="FFFFFF"/>
      </a:lt1>
      <a:dk2>
        <a:srgbClr val="1F78AD"/>
      </a:dk2>
      <a:lt2>
        <a:srgbClr val="D3CAC3"/>
      </a:lt2>
      <a:accent1>
        <a:srgbClr val="D31145"/>
      </a:accent1>
      <a:accent2>
        <a:srgbClr val="BA0361"/>
      </a:accent2>
      <a:accent3>
        <a:srgbClr val="FF754D"/>
      </a:accent3>
      <a:accent4>
        <a:srgbClr val="F7C926"/>
      </a:accent4>
      <a:accent5>
        <a:srgbClr val="A199BA"/>
      </a:accent5>
      <a:accent6>
        <a:srgbClr val="4C4793"/>
      </a:accent6>
      <a:hlink>
        <a:srgbClr val="4C4793"/>
      </a:hlink>
      <a:folHlink>
        <a:srgbClr val="08456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defRPr dirty="0" err="1" smtClean="0">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AIA_PPT_Template_2018_16x9_V3.1" id="{C24C495E-28EC-4C06-8757-BE4D80E4F71D}" vid="{3469129E-3778-43A8-9BE1-B54836CD943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1521</TotalTime>
  <Words>1</Words>
  <Application>Microsoft Office PowerPoint</Application>
  <PresentationFormat>Widescreen</PresentationFormat>
  <Paragraphs>1</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Aptos</vt:lpstr>
      <vt:lpstr>Arial</vt:lpstr>
      <vt:lpstr>Calibri</vt:lpstr>
      <vt:lpstr>AIA_2020</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Wang, Harry-CC</dc:creator>
  <cp:lastModifiedBy>Wang, Harry-CC</cp:lastModifiedBy>
  <cp:revision>4</cp:revision>
  <cp:lastPrinted>2020-05-18T12:18:52Z</cp:lastPrinted>
  <dcterms:created xsi:type="dcterms:W3CDTF">2026-09-21T01:03:41Z</dcterms:created>
  <dcterms:modified xsi:type="dcterms:W3CDTF">2026-09-23T02:34:05Z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91b32ef-ed69-48a4-80a7-c96eee60b7ed_Enabled">
    <vt:lpwstr>true</vt:lpwstr>
  </property>
  <property fmtid="{D5CDD505-2E9C-101B-9397-08002B2CF9AE}" pid="3" name="MSIP_Label_891b32ef-ed69-48a4-80a7-c96eee60b7ed_SetDate">
    <vt:lpwstr>2026-09-21T01:43:46Z</vt:lpwstr>
  </property>
  <property fmtid="{D5CDD505-2E9C-101B-9397-08002B2CF9AE}" pid="4" name="MSIP_Label_891b32ef-ed69-48a4-80a7-c96eee60b7ed_Method">
    <vt:lpwstr>Privileged</vt:lpwstr>
  </property>
  <property fmtid="{D5CDD505-2E9C-101B-9397-08002B2CF9AE}" pid="5" name="MSIP_Label_891b32ef-ed69-48a4-80a7-c96eee60b7ed_Name">
    <vt:lpwstr>891b32ef-ed69-48a4-80a7-c96eee60b7ed</vt:lpwstr>
  </property>
  <property fmtid="{D5CDD505-2E9C-101B-9397-08002B2CF9AE}" pid="6" name="MSIP_Label_891b32ef-ed69-48a4-80a7-c96eee60b7ed_SiteId">
    <vt:lpwstr>7f2c1900-9fd4-4b89-91d3-79a649996f0a</vt:lpwstr>
  </property>
  <property fmtid="{D5CDD505-2E9C-101B-9397-08002B2CF9AE}" pid="7" name="MSIP_Label_891b32ef-ed69-48a4-80a7-c96eee60b7ed_ActionId">
    <vt:lpwstr>90345cdd-399e-49a9-970c-b0d82dbcf4a1</vt:lpwstr>
  </property>
  <property fmtid="{D5CDD505-2E9C-101B-9397-08002B2CF9AE}" pid="8" name="MSIP_Label_891b32ef-ed69-48a4-80a7-c96eee60b7ed_ContentBits">
    <vt:lpwstr>2</vt:lpwstr>
  </property>
  <property fmtid="{D5CDD505-2E9C-101B-9397-08002B2CF9AE}" pid="9" name="MSIP_Label_891b32ef-ed69-48a4-80a7-c96eee60b7ed_Tag">
    <vt:lpwstr>10, 0, 1, 1</vt:lpwstr>
  </property>
  <property fmtid="{D5CDD505-2E9C-101B-9397-08002B2CF9AE}" pid="10" name="ClassificationContentMarkingFooterLocations">
    <vt:lpwstr>AIA_2020:2</vt:lpwstr>
  </property>
  <property fmtid="{D5CDD505-2E9C-101B-9397-08002B2CF9AE}" pid="11" name="ClassificationContentMarkingFooterText">
    <vt:lpwstr>[AIA – PUBLIC]</vt:lpwstr>
  </property>
</Properties>
</file>