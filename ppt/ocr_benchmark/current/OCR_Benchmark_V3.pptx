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compare hand-written extraction rules with AI extraction (Azure OpenAI) for six fields on medical receipts: the development effort, the maintenance, and the ability to handle different receipt layouts.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either with hand-written rules or with Azure OpenAI.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fields present on the 9 Version 2 receipts, before anything was changed for them. The original extraction rules knew English labels only, with no Chinese or bilingual labels, although four of the receipts are Chinese or bilingual. On those receipts the OCR read the values but the rules could not find them (see example 1). The AOAI prompt was written before these receipts existed. So this compares initial implementations, not the maximum capability of each approach. Time = average per receipt (PaddleOCR: CPU on Azure ML compute; Azure: API call time incl. network).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changes were made after reviewing the errors on these 9 receipts, so the scores are development results, not independent validation. Rules: rewritten by hand (label phrases 69 to 225: Chinese and bilingual labels, distractor labels, layout handling); on PaddleOCR Light text this fixed 27 fields and broke 1, on Azure DI text it fixed 24 and broke 1. AOAI: prompt v2 with clearer field definitions, DI text grouped into page rows and a few general checks; it fixed 4 fields and broke 0. A small held-out check on Version 1 receipts (4-6 receipts, mostly handwritten) is too small to say whether either approach generalises better, so it is not shown on the slides.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8 (medical centre). Both OCR engines read the patient name and the doctor's name (checked in the raw OCR). The original rules matched 'Patient' and took the Chinese half of the label, 病人, as the name. The improved rules needed bilingual labels added by hand. AOAI, with its original prompt, read the fields correctly (6 of 6 fields on this receipt). Values: rules on PaddleOCR Light text; detail.csv, checked against the extraction JSON.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4 (Chinese medicine): the OCR read every value, but the original rules only knew English labels (0 of 6 fields). After adding Chinese labels by hand: 6 of 6. DI + AOAI with its original prompt: 6 of 6. The label vocabulary grew from 69 to 225 phrases (counted in extraction_general.py and extraction_improved.py). On the vet invoice (receipt 9) the original rules found receipt number 369303; after the changes they return 380048. Whether AOAI needs less maintenance on new layouts has not been tested yet.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with the original prompt chose the sub total (1361.50) instead of the total (1361.00). Prompt v2 returns the correct total, but it was written after reviewing this error. Values: detail.csv, checked against the extraction JSON.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Effort: the rules were rewritten by hand after reviewing the errors on these receipts (label phrases 69 to 225); the AOAI prompt was revised once. Side effects on these receipts: the rule changes broke 1 correct field on PaddleOCR Light text, the prompt revision broke 0. Lower maintenance for AOAI on new layouts is the key implication of this benchmark, not a result proven in production. Running cost: DI page plus about 602 input / 263 output gpt-5-mini tokens per receipt (original prompt); prices are not yet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rules grew from 69 to 225 label phrases while being tuned on these 9 receipts; vet invoice receipt number 369303 correct before tuning, 380048 after. Azure DI + AOAI had the highest accuracy before any tuning; it still made mistakes, e.g. vet invoice total 1361.5 although the Azure DI text contains the correct 1361.00; 6.2 s vs 13.9 s per receipt. Expected, not measured: that new formats need rule updates, that AOAI needs less rule maintenance, control, API fees and the upkeep AOAI still needs (validation, monitoring, prompt). AOAI is not maintenance free. Prices are not yet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implementations: Azure DI + AOAI 88.2%, rules 37.3% and 41.2%, the gap mostly from missing Chinese support in the rules. After reviewing these receipts: rules 88.2% and 86.3%, AOAI prompt v2 96.1%, all development results. The benchmark is small (9 receipts), so this is not a production decision. A small held-out check on Version 1 receipts (4-6 receipts, mostly handwritten) is too small to say whether either approach generalises better, so it is not shown on the slides.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Azure OpenAI replace hand-written extraction rules?</a:t>
            </a:r>
          </a:p>
          <a:p>
            <a:r>
              <a:rPr>
                <a:latin typeface="Arial"/>
                <a:ea typeface="Microsoft JhengHei"/>
              </a:rPr>
              <a:t>9 receipts · 6 fields · manual rules vs AI extraction</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2706624"/>
        </p:xfrm>
        <a:graphic>
          <a:graphicData uri="http://schemas.openxmlformats.org/drawingml/2006/table">
            <a:tbl>
              <a:tblPr firstRow="0" bandRow="0">
                <a:tableStyleId>{2D5ABB26-0587-4C30-8999-92F81FD0307C}</a:tableStyleId>
              </a:tblPr>
              <a:tblGrid>
                <a:gridCol w="1965960"/>
                <a:gridCol w="1691640"/>
                <a:gridCol w="1545336"/>
              </a:tblGrid>
              <a:tr h="566928">
                <a:tc>
                  <a:txBody>
                    <a:bodyPr wrap="square"/>
                    <a:lstStyle/>
                    <a:p>
                      <a:pPr algn="l"/>
                      <a:r>
                        <a:rPr sz="13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1. Read text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2. Find fields</a:t>
                      </a:r>
                    </a:p>
                  </a:txBody>
                  <a:tcPr marL="91440" marR="91440" marT="45720" marB="45720" anchor="ctr">
                    <a:lnL w="0">
                      <a:noFill/>
                    </a:lnL>
                    <a:lnR w="0">
                      <a:noFill/>
                    </a:lnR>
                    <a:lnT w="0">
                      <a:noFill/>
                    </a:lnT>
                    <a:lnB w="0">
                      <a:noFill/>
                    </a:lnB>
                    <a:solidFill>
                      <a:srgbClr val="333D47"/>
                    </a:solidFill>
                  </a:tcPr>
                </a:tc>
              </a:tr>
              <a:tr h="713232">
                <a:tc>
                  <a:txBody>
                    <a:bodyPr wrap="square"/>
                    <a:lstStyle/>
                    <a:p>
                      <a:pPr algn="l"/>
                      <a:r>
                        <a:rPr sz="14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4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4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OpenAI</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6629400" y="4617720"/>
            <a:ext cx="5202936" cy="731520"/>
          </a:xfrm>
          <a:prstGeom prst="rect">
            <a:avLst/>
          </a:prstGeom>
          <a:noFill/>
        </p:spPr>
        <p:txBody>
          <a:bodyPr wrap="square" lIns="0" rIns="0" t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Initial Results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Before any tuning on these 9 receipts, AI extraction was far ahead of the first rule sets.</a:t>
            </a:r>
          </a:p>
        </p:txBody>
      </p:sp>
      <p:graphicFrame>
        <p:nvGraphicFramePr>
          <p:cNvPr id="12" name="Table 11"/>
          <p:cNvGraphicFramePr>
            <a:graphicFrameLocks noGrp="1"/>
          </p:cNvGraphicFramePr>
          <p:nvPr/>
        </p:nvGraphicFramePr>
        <p:xfrm>
          <a:off x="356616" y="1783080"/>
          <a:ext cx="7178040" cy="3035808"/>
        </p:xfrm>
        <a:graphic>
          <a:graphicData uri="http://schemas.openxmlformats.org/drawingml/2006/table">
            <a:tbl>
              <a:tblPr firstRow="0" bandRow="0">
                <a:tableStyleId>{2D5ABB26-0587-4C30-8999-92F81FD0307C}</a:tableStyleId>
              </a:tblPr>
              <a:tblGrid>
                <a:gridCol w="3246120"/>
                <a:gridCol w="2240280"/>
                <a:gridCol w="1691640"/>
              </a:tblGrid>
              <a:tr h="566928">
                <a:tc>
                  <a:txBody>
                    <a:bodyPr wrap="square"/>
                    <a:lstStyle/>
                    <a:p>
                      <a:pPr algn="l"/>
                      <a:r>
                        <a:rPr sz="15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ctr"/>
                      <a:r>
                        <a:rPr sz="1500" b="1" i="0">
                          <a:solidFill>
                            <a:srgbClr val="FFFFFF"/>
                          </a:solidFill>
                          <a:latin typeface="Arial"/>
                          <a:ea typeface="Microsoft JhengHei"/>
                        </a:rPr>
                        <a:t>Accuracy</a:t>
                      </a:r>
                    </a:p>
                  </a:txBody>
                  <a:tcPr marL="91440" marR="91440" marT="45720" marB="45720" anchor="ctr">
                    <a:lnL w="0">
                      <a:noFill/>
                    </a:lnL>
                    <a:lnR w="0">
                      <a:noFill/>
                    </a:lnR>
                    <a:lnT w="0">
                      <a:noFill/>
                    </a:lnT>
                    <a:lnB w="0">
                      <a:noFill/>
                    </a:lnB>
                    <a:solidFill>
                      <a:srgbClr val="333D47"/>
                    </a:solidFill>
                  </a:tcPr>
                </a:tc>
                <a:tc>
                  <a:txBody>
                    <a:bodyPr wrap="square"/>
                    <a:lstStyle/>
                    <a:p>
                      <a:pPr algn="ctr"/>
                      <a:r>
                        <a:rPr sz="1500" b="1" i="0">
                          <a:solidFill>
                            <a:srgbClr val="FFFFFF"/>
                          </a:solidFill>
                          <a:latin typeface="Arial"/>
                          <a:ea typeface="Microsoft JhengHei"/>
                        </a:rPr>
                        <a:t>Time / receipt</a:t>
                      </a:r>
                    </a:p>
                  </a:txBody>
                  <a:tcPr marL="91440" marR="91440" marT="45720" marB="45720" anchor="ctr">
                    <a:lnL w="0">
                      <a:noFill/>
                    </a:lnL>
                    <a:lnR w="0">
                      <a:noFill/>
                    </a:lnR>
                    <a:lnT w="0">
                      <a:noFill/>
                    </a:lnT>
                    <a:lnB w="0">
                      <a:noFill/>
                    </a:lnB>
                    <a:solidFill>
                      <a:srgbClr val="333D47"/>
                    </a:solidFill>
                  </a:tcPr>
                </a:tc>
              </a:tr>
              <a:tr h="822960">
                <a:tc>
                  <a:txBody>
                    <a:bodyPr wrap="square"/>
                    <a:lstStyle/>
                    <a:p>
                      <a:pPr algn="l"/>
                      <a:r>
                        <a:rPr sz="1700" b="1" i="0">
                          <a:solidFill>
                            <a:srgbClr val="333D47"/>
                          </a:solidFill>
                          <a:latin typeface="Arial"/>
                          <a:ea typeface="Microsoft JhengHei"/>
                        </a:rPr>
                        <a:t>PaddleOCR Light + rules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400" b="1" i="0">
                          <a:solidFill>
                            <a:srgbClr val="333D47"/>
                          </a:solidFill>
                          <a:latin typeface="Arial"/>
                          <a:ea typeface="Microsoft JhengHei"/>
                        </a:rPr>
                        <a:t>37.3%</a:t>
                      </a:r>
                      <a:r>
                        <a:rPr sz="1200" b="0" i="0">
                          <a:solidFill>
                            <a:srgbClr val="5F6770"/>
                          </a:solidFill>
                          <a:latin typeface="Arial"/>
                          <a:ea typeface="Microsoft JhengHei"/>
                        </a:rPr>
                        <a:t>  (19/51)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8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r>
              <a:tr h="822960">
                <a:tc>
                  <a:txBody>
                    <a:bodyPr wrap="square"/>
                    <a:lstStyle/>
                    <a:p>
                      <a:pPr algn="l"/>
                      <a:r>
                        <a:rPr sz="1700" b="1" i="0">
                          <a:solidFill>
                            <a:srgbClr val="333D47"/>
                          </a:solidFill>
                          <a:latin typeface="Arial"/>
                          <a:ea typeface="Microsoft JhengHei"/>
                        </a:rPr>
                        <a:t>Azure DI + rules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400" b="1" i="0">
                          <a:solidFill>
                            <a:srgbClr val="333D47"/>
                          </a:solidFill>
                          <a:latin typeface="Arial"/>
                          <a:ea typeface="Microsoft JhengHei"/>
                        </a:rPr>
                        <a:t>41.2%</a:t>
                      </a:r>
                      <a:r>
                        <a:rPr sz="1200" b="0" i="0">
                          <a:solidFill>
                            <a:srgbClr val="5F6770"/>
                          </a:solidFill>
                          <a:latin typeface="Arial"/>
                          <a:ea typeface="Microsoft JhengHei"/>
                        </a:rPr>
                        <a:t>  (21/51)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800" b="0" i="0">
                          <a:solidFill>
                            <a:srgbClr val="333D47"/>
                          </a:solidFill>
                          <a:latin typeface="Arial"/>
                          <a:ea typeface="Microsoft JhengHei"/>
                        </a:rPr>
                        <a:t>3.8 s</a:t>
                      </a:r>
                    </a:p>
                  </a:txBody>
                  <a:tcPr marL="91440" marR="91440" marT="45720" marB="45720" anchor="ctr">
                    <a:lnL w="0">
                      <a:noFill/>
                    </a:lnL>
                    <a:lnR w="0">
                      <a:noFill/>
                    </a:lnR>
                    <a:lnT w="0">
                      <a:noFill/>
                    </a:lnT>
                    <a:lnB w="9525" cmpd="sng">
                      <a:solidFill>
                        <a:srgbClr val="BFBFBF"/>
                      </a:solidFill>
                    </a:lnB>
                    <a:noFill/>
                  </a:tcPr>
                </a:tc>
              </a:tr>
              <a:tr h="822960">
                <a:tc>
                  <a:txBody>
                    <a:bodyPr wrap="square"/>
                    <a:lstStyle/>
                    <a:p>
                      <a:pPr algn="l"/>
                      <a:r>
                        <a:rPr sz="17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400" b="1" i="0">
                          <a:solidFill>
                            <a:srgbClr val="D31145"/>
                          </a:solidFill>
                          <a:latin typeface="Arial"/>
                          <a:ea typeface="Microsoft JhengHei"/>
                        </a:rPr>
                        <a:t>88.2%</a:t>
                      </a:r>
                      <a:r>
                        <a:rPr sz="12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8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Rectangle 12"/>
          <p:cNvSpPr/>
          <p:nvPr/>
        </p:nvSpPr>
        <p:spPr>
          <a:xfrm>
            <a:off x="7818120" y="1783080"/>
            <a:ext cx="4014215" cy="3035808"/>
          </a:xfrm>
          <a:prstGeom prst="rect">
            <a:avLst/>
          </a:prstGeom>
          <a:solidFill>
            <a:srgbClr val="F2F2F2"/>
          </a:solidFill>
          <a:ln>
            <a:noFill/>
          </a:ln>
        </p:spPr>
        <p:txBody>
          <a:bodyPr rtlCol="0" anchor="t" wrap="square" lIns="228600" rIns="228600" tIns="109728" bIns="109728"/>
          <a:lstStyle/>
          <a:p>
            <a:pPr algn="l" marL="0" indent="0">
              <a:spcAft>
                <a:spcPts val="800"/>
              </a:spcAft>
              <a:buNone/>
            </a:pPr>
            <a:r>
              <a:rPr sz="1600" b="1" i="0">
                <a:solidFill>
                  <a:srgbClr val="D31145"/>
                </a:solidFill>
                <a:latin typeface="Arial"/>
                <a:ea typeface="Microsoft JhengHei"/>
              </a:rPr>
              <a:t>Why the rules scored low</a:t>
            </a:r>
          </a:p>
          <a:p>
            <a:pPr marL="182880" indent="-182880" algn="l">
              <a:spcAft>
                <a:spcPts val="600"/>
              </a:spcAft>
              <a:buFont typeface="Arial"/>
              <a:buChar char="•"/>
            </a:pPr>
            <a:r>
              <a:rPr sz="1400" b="0" i="0">
                <a:solidFill>
                  <a:srgbClr val="333D47"/>
                </a:solidFill>
                <a:latin typeface="Arial"/>
                <a:ea typeface="Microsoft JhengHei"/>
              </a:rPr>
              <a:t>The original rules knew English labels only: no Chinese or bilingual labels.</a:t>
            </a:r>
          </a:p>
          <a:p>
            <a:pPr marL="182880" indent="-182880" algn="l">
              <a:spcAft>
                <a:spcPts val="600"/>
              </a:spcAft>
              <a:buFont typeface="Arial"/>
              <a:buChar char="•"/>
            </a:pPr>
            <a:r>
              <a:rPr sz="1400" b="0" i="0">
                <a:solidFill>
                  <a:srgbClr val="333D47"/>
                </a:solidFill>
                <a:latin typeface="Arial"/>
                <a:ea typeface="Microsoft JhengHei"/>
              </a:rPr>
              <a:t>On Chinese and bilingual receipts the OCR read the values, but the rules could not find them.</a:t>
            </a:r>
          </a:p>
          <a:p>
            <a:pPr marL="182880" indent="-182880" algn="l">
              <a:spcAft>
                <a:spcPts val="0"/>
              </a:spcAft>
              <a:buFont typeface="Arial"/>
              <a:buChar char="•"/>
            </a:pPr>
            <a:r>
              <a:rPr sz="1400" b="1" i="0">
                <a:solidFill>
                  <a:srgbClr val="333D47"/>
                </a:solidFill>
                <a:latin typeface="Arial"/>
                <a:ea typeface="Microsoft JhengHei"/>
              </a:rPr>
              <a:t>So this compares initial implementations, not the best each approach can do.</a:t>
            </a:r>
          </a:p>
        </p:txBody>
      </p:sp>
      <p:sp>
        <p:nvSpPr>
          <p:cNvPr id="14" name="TextBox 13"/>
          <p:cNvSpPr txBox="1"/>
          <p:nvPr/>
        </p:nvSpPr>
        <p:spPr>
          <a:xfrm>
            <a:off x="356616" y="50749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Accuracy = correct fields out of 51. The AOAI prompt was written before these receipts. All approaches processed all 9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How We Improved Accuracy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approaches improved after reviewing these receipts. Changing rules took far more work than changing a prompt.</a:t>
            </a:r>
          </a:p>
        </p:txBody>
      </p:sp>
      <p:graphicFrame>
        <p:nvGraphicFramePr>
          <p:cNvPr id="12" name="Table 11"/>
          <p:cNvGraphicFramePr>
            <a:graphicFrameLocks noGrp="1"/>
          </p:cNvGraphicFramePr>
          <p:nvPr/>
        </p:nvGraphicFramePr>
        <p:xfrm>
          <a:off x="356616" y="1783080"/>
          <a:ext cx="11475719" cy="2560320"/>
        </p:xfrm>
        <a:graphic>
          <a:graphicData uri="http://schemas.openxmlformats.org/drawingml/2006/table">
            <a:tbl>
              <a:tblPr firstRow="0" bandRow="0">
                <a:tableStyleId>{2D5ABB26-0587-4C30-8999-92F81FD0307C}</a:tableStyleId>
              </a:tblPr>
              <a:tblGrid>
                <a:gridCol w="2788920"/>
                <a:gridCol w="5074920"/>
                <a:gridCol w="1874519"/>
                <a:gridCol w="1737360"/>
              </a:tblGrid>
              <a:tr h="566928">
                <a:tc>
                  <a:txBody>
                    <a:bodyPr wrap="square"/>
                    <a:lstStyle/>
                    <a:p>
                      <a:pPr algn="l"/>
                      <a:r>
                        <a:rPr sz="14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What we changed</a:t>
                      </a:r>
                    </a:p>
                  </a:txBody>
                  <a:tcPr marL="91440" marR="91440" marT="45720" marB="45720" anchor="ctr">
                    <a:lnL w="0">
                      <a:noFill/>
                    </a:lnL>
                    <a:lnR w="0">
                      <a:noFill/>
                    </a:lnR>
                    <a:lnT w="0">
                      <a:noFill/>
                    </a:lnT>
                    <a:lnB w="0">
                      <a:noFill/>
                    </a:lnB>
                    <a:solidFill>
                      <a:srgbClr val="333D47"/>
                    </a:solidFill>
                  </a:tcPr>
                </a:tc>
                <a:tc>
                  <a:txBody>
                    <a:bodyPr wrap="square"/>
                    <a:lstStyle/>
                    <a:p>
                      <a:pPr algn="ctr"/>
                      <a:r>
                        <a:rPr sz="1400" b="1" i="0">
                          <a:solidFill>
                            <a:srgbClr val="FFFFFF"/>
                          </a:solidFill>
                          <a:latin typeface="Arial"/>
                          <a:ea typeface="Microsoft JhengHei"/>
                        </a:rPr>
                        <a:t>Development score</a:t>
                      </a:r>
                    </a:p>
                  </a:txBody>
                  <a:tcPr marL="91440" marR="91440" marT="45720" marB="45720" anchor="ctr">
                    <a:lnL w="0">
                      <a:noFill/>
                    </a:lnL>
                    <a:lnR w="0">
                      <a:noFill/>
                    </a:lnR>
                    <a:lnT w="0">
                      <a:noFill/>
                    </a:lnT>
                    <a:lnB w="0">
                      <a:noFill/>
                    </a:lnB>
                    <a:solidFill>
                      <a:srgbClr val="333D47"/>
                    </a:solidFill>
                  </a:tcPr>
                </a:tc>
                <a:tc>
                  <a:txBody>
                    <a:bodyPr wrap="square"/>
                    <a:lstStyle/>
                    <a:p>
                      <a:pPr algn="ctr"/>
                      <a:r>
                        <a:rPr sz="1400" b="1" i="0">
                          <a:solidFill>
                            <a:srgbClr val="FFFFFF"/>
                          </a:solidFill>
                          <a:latin typeface="Arial"/>
                          <a:ea typeface="Microsoft JhengHei"/>
                        </a:rPr>
                        <a:t>Fixed / broke</a:t>
                      </a:r>
                    </a:p>
                  </a:txBody>
                  <a:tcPr marL="91440" marR="91440" marT="45720" marB="45720" anchor="ctr">
                    <a:lnL w="0">
                      <a:noFill/>
                    </a:lnL>
                    <a:lnR w="0">
                      <a:noFill/>
                    </a:lnR>
                    <a:lnT w="0">
                      <a:noFill/>
                    </a:lnT>
                    <a:lnB w="0">
                      <a:noFill/>
                    </a:lnB>
                    <a:solidFill>
                      <a:srgbClr val="333D47"/>
                    </a:solidFill>
                  </a:tcPr>
                </a:tc>
              </a:tr>
              <a:tr h="713232">
                <a:tc>
                  <a:txBody>
                    <a:bodyPr wrap="square"/>
                    <a:lstStyle/>
                    <a:p>
                      <a:pPr algn="l"/>
                      <a:r>
                        <a:rPr sz="1500" b="1" i="0">
                          <a:solidFill>
                            <a:srgbClr val="333D47"/>
                          </a:solidFill>
                          <a:latin typeface="Arial"/>
                          <a:ea typeface="Microsoft JhengHei"/>
                        </a:rPr>
                        <a:t>PaddleOCR Light + rules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00" b="0" i="0">
                          <a:solidFill>
                            <a:srgbClr val="333D47"/>
                          </a:solidFill>
                          <a:latin typeface="Arial"/>
                          <a:ea typeface="Microsoft JhengHei"/>
                        </a:rPr>
                        <a:t>Rewrote the rules by hand: Chinese and bilingual labels, distractor labels, layouts (69 → 225 label phrases)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333D47"/>
                          </a:solidFill>
                          <a:latin typeface="Arial"/>
                          <a:ea typeface="Microsoft JhengHei"/>
                        </a:rPr>
                        <a:t>88.2%</a:t>
                      </a:r>
                      <a:r>
                        <a:rPr sz="11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+27</a:t>
                      </a:r>
                      <a:r>
                        <a:rPr sz="1600" b="0" i="0">
                          <a:solidFill>
                            <a:srgbClr val="333D47"/>
                          </a:solidFill>
                          <a:latin typeface="Arial"/>
                          <a:ea typeface="Microsoft JhengHei"/>
                        </a:rPr>
                        <a:t> / </a:t>
                      </a:r>
                      <a:r>
                        <a:rPr sz="1600" b="1" i="0">
                          <a:solidFill>
                            <a:srgbClr val="D31145"/>
                          </a:solidFill>
                          <a:latin typeface="Arial"/>
                          <a:ea typeface="Microsoft JhengHei"/>
                        </a:rPr>
                        <a:t>−1</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500" b="1" i="0">
                          <a:solidFill>
                            <a:srgbClr val="333D47"/>
                          </a:solidFill>
                          <a:latin typeface="Arial"/>
                          <a:ea typeface="Microsoft JhengHei"/>
                        </a:rPr>
                        <a:t>Azure DI + rules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00" b="0" i="0">
                          <a:solidFill>
                            <a:srgbClr val="333D47"/>
                          </a:solidFill>
                          <a:latin typeface="Arial"/>
                          <a:ea typeface="Microsoft JhengHei"/>
                        </a:rPr>
                        <a:t>The same rule changes, on Azure DI text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333D47"/>
                          </a:solidFill>
                          <a:latin typeface="Arial"/>
                          <a:ea typeface="Microsoft JhengHei"/>
                        </a:rPr>
                        <a:t>86.3%</a:t>
                      </a:r>
                      <a:r>
                        <a:rPr sz="1100" b="0" i="0">
                          <a:solidFill>
                            <a:srgbClr val="5F6770"/>
                          </a:solidFill>
                          <a:latin typeface="Arial"/>
                          <a:ea typeface="Microsoft JhengHei"/>
                        </a:rPr>
                        <a:t>  (44/51)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+24</a:t>
                      </a:r>
                      <a:r>
                        <a:rPr sz="1600" b="0" i="0">
                          <a:solidFill>
                            <a:srgbClr val="333D47"/>
                          </a:solidFill>
                          <a:latin typeface="Arial"/>
                          <a:ea typeface="Microsoft JhengHei"/>
                        </a:rPr>
                        <a:t> / </a:t>
                      </a:r>
                      <a:r>
                        <a:rPr sz="1600" b="1" i="0">
                          <a:solidFill>
                            <a:srgbClr val="D31145"/>
                          </a:solidFill>
                          <a:latin typeface="Arial"/>
                          <a:ea typeface="Microsoft JhengHei"/>
                        </a:rPr>
                        <a:t>−1</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500" b="1" i="0">
                          <a:solidFill>
                            <a:srgbClr val="333D47"/>
                          </a:solidFill>
                          <a:latin typeface="Arial"/>
                          <a:ea typeface="Microsoft JhengHei"/>
                        </a:rPr>
                        <a:t>Azure DI + AOAI, prompt v2</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l"/>
                      <a:r>
                        <a:rPr sz="1300" b="0" i="0">
                          <a:solidFill>
                            <a:srgbClr val="333D47"/>
                          </a:solidFill>
                          <a:latin typeface="Arial"/>
                          <a:ea typeface="Microsoft JhengHei"/>
                        </a:rPr>
                        <a:t>Revised the prompt: clearer field definitions, text kept in page rows, a few general checks</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1" i="0">
                          <a:solidFill>
                            <a:srgbClr val="D31145"/>
                          </a:solidFill>
                          <a:latin typeface="Arial"/>
                          <a:ea typeface="Microsoft JhengHei"/>
                        </a:rPr>
                        <a:t>96.1%</a:t>
                      </a:r>
                      <a:r>
                        <a:rPr sz="1100" b="0" i="0">
                          <a:solidFill>
                            <a:srgbClr val="5F6770"/>
                          </a:solidFill>
                          <a:latin typeface="Arial"/>
                          <a:ea typeface="Microsoft JhengHei"/>
                        </a:rPr>
                        <a:t>  (49/51)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600" b="1" i="0">
                          <a:solidFill>
                            <a:srgbClr val="1E7B4A"/>
                          </a:solidFill>
                          <a:latin typeface="Arial"/>
                          <a:ea typeface="Microsoft JhengHei"/>
                        </a:rPr>
                        <a:t>+4</a:t>
                      </a:r>
                      <a:r>
                        <a:rPr sz="1600" b="0" i="0">
                          <a:solidFill>
                            <a:srgbClr val="333D47"/>
                          </a:solidFill>
                          <a:latin typeface="Arial"/>
                          <a:ea typeface="Microsoft JhengHei"/>
                        </a:rPr>
                        <a:t> / </a:t>
                      </a:r>
                      <a:r>
                        <a:rPr sz="1600" b="0" i="0">
                          <a:solidFill>
                            <a:srgbClr val="333D47"/>
                          </a:solidFill>
                          <a:latin typeface="Arial"/>
                          <a:ea typeface="Microsoft JhengHei"/>
                        </a:rPr>
                        <a:t>−0</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Rectangle 12"/>
          <p:cNvSpPr/>
          <p:nvPr/>
        </p:nvSpPr>
        <p:spPr>
          <a:xfrm>
            <a:off x="356616" y="4526280"/>
            <a:ext cx="5623560" cy="868680"/>
          </a:xfrm>
          <a:prstGeom prst="rect">
            <a:avLst/>
          </a:prstGeom>
          <a:solidFill>
            <a:srgbClr val="F2F2F2"/>
          </a:solidFill>
          <a:ln>
            <a:noFill/>
          </a:ln>
        </p:spPr>
        <p:txBody>
          <a:bodyPr rtlCol="0" anchor="t" wrap="square" lIns="182880" rIns="182880" tIns="109728" bIns="109728"/>
          <a:lstStyle/>
          <a:p>
            <a:pPr algn="l" marL="0" indent="0">
              <a:spcAft>
                <a:spcPts val="300"/>
              </a:spcAft>
              <a:buNone/>
            </a:pPr>
            <a:r>
              <a:rPr sz="1500" b="1" i="0">
                <a:solidFill>
                  <a:srgbClr val="D31145"/>
                </a:solidFill>
                <a:latin typeface="Arial"/>
                <a:ea typeface="Microsoft JhengHei"/>
              </a:rPr>
              <a:t>Changing rules</a:t>
            </a:r>
          </a:p>
          <a:p>
            <a:pPr marL="0" indent="0" algn="l">
              <a:spcAft>
                <a:spcPts val="0"/>
              </a:spcAft>
              <a:buNone/>
            </a:pPr>
            <a:r>
              <a:rPr sz="1300" b="0" i="0">
                <a:solidFill>
                  <a:srgbClr val="333D47"/>
                </a:solidFill>
                <a:latin typeface="Arial"/>
                <a:ea typeface="Microsoft JhengHei"/>
              </a:rPr>
              <a:t>Code and vocabulary for every new wording or language, then a retest of every receipt. One change broke a receipt that was already correct.</a:t>
            </a:r>
          </a:p>
        </p:txBody>
      </p:sp>
      <p:sp>
        <p:nvSpPr>
          <p:cNvPr id="14" name="Rectangle 13"/>
          <p:cNvSpPr/>
          <p:nvPr/>
        </p:nvSpPr>
        <p:spPr>
          <a:xfrm>
            <a:off x="6208776" y="4526280"/>
            <a:ext cx="5623560" cy="868680"/>
          </a:xfrm>
          <a:prstGeom prst="rect">
            <a:avLst/>
          </a:prstGeom>
          <a:solidFill>
            <a:srgbClr val="F2F2F2"/>
          </a:solidFill>
          <a:ln>
            <a:noFill/>
          </a:ln>
        </p:spPr>
        <p:txBody>
          <a:bodyPr rtlCol="0" anchor="t" wrap="square" lIns="182880" rIns="182880" tIns="109728" bIns="109728"/>
          <a:lstStyle/>
          <a:p>
            <a:pPr algn="l" marL="0" indent="0">
              <a:spcAft>
                <a:spcPts val="300"/>
              </a:spcAft>
              <a:buNone/>
            </a:pPr>
            <a:r>
              <a:rPr sz="1500" b="1" i="0">
                <a:solidFill>
                  <a:srgbClr val="D31145"/>
                </a:solidFill>
                <a:latin typeface="Arial"/>
                <a:ea typeface="Microsoft JhengHei"/>
              </a:rPr>
              <a:t>Changing the AI prompt</a:t>
            </a:r>
          </a:p>
          <a:p>
            <a:pPr marL="0" indent="0" algn="l">
              <a:spcAft>
                <a:spcPts val="0"/>
              </a:spcAft>
              <a:buNone/>
            </a:pPr>
            <a:r>
              <a:rPr sz="1300" b="0" i="0">
                <a:solidFill>
                  <a:srgbClr val="333D47"/>
                </a:solidFill>
                <a:latin typeface="Arial"/>
                <a:ea typeface="Microsoft JhengHei"/>
              </a:rPr>
              <a:t>Plain-language edits to one prompt, then a rerun. No field broke on these receipts.</a:t>
            </a:r>
          </a:p>
        </p:txBody>
      </p:sp>
      <p:sp>
        <p:nvSpPr>
          <p:cNvPr id="15" name="TextBox 14"/>
          <p:cNvSpPr txBox="1"/>
          <p:nvPr/>
        </p:nvSpPr>
        <p:spPr>
          <a:xfrm>
            <a:off x="356616" y="5504688"/>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results: every change was made after reviewing these 9 receipts, so these scores are not independent validation.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1: The OCR Was Right, the Rules Were Wrong</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OCR engines read the names. The original rules took the label 病人 as the patient's name.</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5836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r>
              <a:tr h="65836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TextBox 13"/>
          <p:cNvSpPr txBox="1"/>
          <p:nvPr/>
        </p:nvSpPr>
        <p:spPr>
          <a:xfrm>
            <a:off x="5760720" y="3886200"/>
            <a:ext cx="6071616" cy="1463040"/>
          </a:xfrm>
          <a:prstGeom prst="rect">
            <a:avLst/>
          </a:prstGeom>
          <a:noFill/>
        </p:spPr>
        <p:txBody>
          <a:bodyPr wrap="square" lIns="0" rIns="0" tIns="0" bIns="0" anchor="t"/>
          <a:lstStyle/>
          <a:p>
            <a:pPr marL="182880" indent="-182880" algn="l">
              <a:spcAft>
                <a:spcPts val="6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600"/>
              </a:spcAft>
              <a:buFont typeface="Arial"/>
              <a:buChar char="•"/>
            </a:pPr>
            <a:r>
              <a:rPr sz="1400" b="0" i="0">
                <a:solidFill>
                  <a:srgbClr val="333D47"/>
                </a:solidFill>
                <a:latin typeface="Arial"/>
                <a:ea typeface="Microsoft JhengHei"/>
              </a:rPr>
              <a:t>Improved rules: fixed by adding bilingual labels by hand.</a:t>
            </a:r>
          </a:p>
          <a:p>
            <a:pPr marL="182880" indent="-182880" algn="l">
              <a:spcAft>
                <a:spcPts val="0"/>
              </a:spcAft>
              <a:buFont typeface="Arial"/>
              <a:buChar char="•"/>
            </a:pPr>
            <a:r>
              <a:rPr sz="1400" b="0" i="0">
                <a:solidFill>
                  <a:srgbClr val="333D47"/>
                </a:solidFill>
                <a:latin typeface="Arial"/>
                <a:ea typeface="Microsoft JhengHei"/>
              </a:rPr>
              <a:t>AOAI: correct with its original prompt; no change needed.</a:t>
            </a:r>
          </a:p>
        </p:txBody>
      </p:sp>
      <p:sp>
        <p:nvSpPr>
          <p:cNvPr id="15" name="TextBox 14"/>
          <p:cNvSpPr txBox="1"/>
          <p:nvPr/>
        </p:nvSpPr>
        <p:spPr>
          <a:xfrm>
            <a:off x="356616" y="56235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 DI + AOAI = original prompt.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2: Every New Layout Meant Manual Rule Work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Each label wording was added by hand, and one change broke a receipt that was already correct.</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68580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 medicine receipt: original rules 0/6 fields; after Chinese labels were added by hand 6/6; DI + AOAI 6/6 (original prompt).</a:t>
            </a:r>
          </a:p>
        </p:txBody>
      </p:sp>
      <p:sp>
        <p:nvSpPr>
          <p:cNvPr id="14" name="Rectangle 13"/>
          <p:cNvSpPr/>
          <p:nvPr/>
        </p:nvSpPr>
        <p:spPr>
          <a:xfrm>
            <a:off x="484632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New layouts</a:t>
            </a:r>
          </a:p>
          <a:p>
            <a:pPr marL="0" indent="0" algn="l">
              <a:spcAft>
                <a:spcPts val="0"/>
              </a:spcAft>
              <a:buNone/>
            </a:pPr>
            <a:r>
              <a:rPr sz="1300" b="0" i="0">
                <a:solidFill>
                  <a:srgbClr val="333D47"/>
                </a:solidFill>
                <a:latin typeface="Arial"/>
                <a:ea typeface="Microsoft JhengHei"/>
              </a:rPr>
              <a:t>will likely need more rule changes and a retest of every receipt</a:t>
            </a:r>
          </a:p>
        </p:txBody>
      </p:sp>
      <p:sp>
        <p:nvSpPr>
          <p:cNvPr id="17" name="TextBox 16"/>
          <p:cNvSpPr txBox="1"/>
          <p:nvPr/>
        </p:nvSpPr>
        <p:spPr>
          <a:xfrm>
            <a:off x="4846320" y="4434840"/>
            <a:ext cx="6986016" cy="1005840"/>
          </a:xfrm>
          <a:prstGeom prst="rect">
            <a:avLst/>
          </a:prstGeom>
          <a:noFill/>
        </p:spPr>
        <p:txBody>
          <a:bodyPr wrap="square" lIns="0" rIns="0" tIns="0" bIns="0" anchor="t"/>
          <a:lstStyle/>
          <a:p>
            <a:pPr marL="0" indent="0" algn="l">
              <a:spcAft>
                <a:spcPts val="0"/>
              </a:spcAft>
              <a:buNone/>
            </a:pPr>
            <a:r>
              <a:rPr sz="1400" b="0" i="0">
                <a:solidFill>
                  <a:srgbClr val="333D47"/>
                </a:solidFill>
                <a:latin typeface="Arial"/>
                <a:ea typeface="Microsoft JhengHei"/>
              </a:rPr>
              <a:t>With its original prompt, DI + AOAI needed none of these changes for these receipts. Whether that holds for new layouts still needs to be 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3: AOAI Still Makes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1361</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marL="91440" marR="91440" marT="45720" marB="45720" anchor="ctr">
                    <a:lnL w="0">
                      <a:noFill/>
                    </a:lnL>
                    <a:lnR w="0">
                      <a:noFill/>
                    </a:lnR>
                    <a:lnT w="0">
                      <a:noFill/>
                    </a:lnT>
                    <a:lnB w="19050" cmpd="sng">
                      <a:solidFill>
                        <a:srgbClr val="FFFFFF"/>
                      </a:solidFill>
                    </a:lnB>
                    <a:solidFill>
                      <a:srgbClr val="FBE7EC"/>
                    </a:solidFill>
                  </a:tcPr>
                </a:tc>
              </a:tr>
            </a:tbl>
          </a:graphicData>
        </a:graphic>
      </p:graphicFrame>
      <p:sp>
        <p:nvSpPr>
          <p:cNvPr id="15" name="TextBox 14"/>
          <p:cNvSpPr txBox="1"/>
          <p:nvPr/>
        </p:nvSpPr>
        <p:spPr>
          <a:xfrm>
            <a:off x="5760720" y="4343400"/>
            <a:ext cx="6071616" cy="1097280"/>
          </a:xfrm>
          <a:prstGeom prst="rect">
            <a:avLst/>
          </a:prstGeom>
          <a:noFill/>
        </p:spPr>
        <p:txBody>
          <a:bodyPr wrap="square" lIns="0" rIns="0" t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(original prompt): picked the sub total. Prompt v2 fixes it, but was tuned on this receipt.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Development Effort and Maintenance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difference is the manual work to handle each layout, and to keep it working.</a:t>
            </a:r>
          </a:p>
        </p:txBody>
      </p:sp>
      <p:graphicFrame>
        <p:nvGraphicFramePr>
          <p:cNvPr id="12" name="Table 11"/>
          <p:cNvGraphicFramePr>
            <a:graphicFrameLocks noGrp="1"/>
          </p:cNvGraphicFramePr>
          <p:nvPr/>
        </p:nvGraphicFramePr>
        <p:xfrm>
          <a:off x="356616" y="1783080"/>
          <a:ext cx="11475720" cy="3383280"/>
        </p:xfrm>
        <a:graphic>
          <a:graphicData uri="http://schemas.openxmlformats.org/drawingml/2006/table">
            <a:tbl>
              <a:tblPr firstRow="0" bandRow="0">
                <a:tableStyleId>{2D5ABB26-0587-4C30-8999-92F81FD0307C}</a:tableStyleId>
              </a:tblPr>
              <a:tblGrid>
                <a:gridCol w="2743200"/>
                <a:gridCol w="4343400"/>
                <a:gridCol w="4389120"/>
              </a:tblGrid>
              <a:tr h="548640">
                <a:tc>
                  <a:txBody>
                    <a:bodyPr wrap="square"/>
                    <a:lstStyle/>
                    <a:p>
                      <a:pPr algn="l"/>
                      <a:r>
                        <a:rPr sz="15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PaddleOCR Light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r>
              <a:tr h="566928">
                <a:tc>
                  <a:txBody>
                    <a:bodyPr wrap="square"/>
                    <a:lstStyle/>
                    <a:p>
                      <a:pPr algn="l"/>
                      <a:r>
                        <a:rPr sz="1400" b="1" i="0">
                          <a:solidFill>
                            <a:srgbClr val="333D47"/>
                          </a:solidFill>
                          <a:latin typeface="Arial"/>
                          <a:ea typeface="Microsoft JhengHei"/>
                        </a:rPr>
                        <a:t>Effort to improve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 rewritten by hand after reviewing errors on these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One prompt revision after reviewing errors</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What a change looks like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Code and label lists (69 → 225 phrases)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Prompt wording and a few general checks</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Side effects seen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1 correct field broken by the rule changes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0 correct fields broken by the prompt revision</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New receipt layouts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Likely more rule updates and a regression test of every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Possibly no change; not yet tested</a:t>
                      </a:r>
                    </a:p>
                  </a:txBody>
                  <a:tcPr marL="91440" marR="91440" marT="45720" marB="45720" anchor="ctr">
                    <a:lnL w="0">
                      <a:noFill/>
                    </a:lnL>
                    <a:lnR w="0">
                      <a:noFill/>
                    </a:lnR>
                    <a:lnT w="0">
                      <a:noFill/>
                    </a:lnT>
                    <a:lnB w="9525" cmpd="sng">
                      <a:solidFill>
                        <a:srgbClr val="BFBFBF"/>
                      </a:solidFill>
                    </a:lnB>
                    <a:noFill/>
                  </a:tcPr>
                </a:tc>
              </a:tr>
              <a:tr h="566928">
                <a:tc>
                  <a:txBody>
                    <a:bodyPr wrap="square"/>
                    <a:lstStyle/>
                    <a:p>
                      <a:pPr algn="l"/>
                      <a:r>
                        <a:rPr sz="1400" b="1" i="0">
                          <a:solidFill>
                            <a:srgbClr val="333D47"/>
                          </a:solidFill>
                          <a:latin typeface="Arial"/>
                          <a:ea typeface="Microsoft JhengHei"/>
                        </a:rPr>
                        <a:t>Time and running 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13.9 s, own compute, no API fee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6.2 s, Azure fees per receipt (to confirm)</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34924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main question is not API price but who maintains the extraction logic as layouts change. Lower maintenance for AOAI is implied by this benchmark, not yet proven.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Manual Rules vs. AI Extraction: Pros and Cons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"Measured" = this benchmark; the rest is expected.</a:t>
            </a:r>
          </a:p>
        </p:txBody>
      </p:sp>
      <p:sp>
        <p:nvSpPr>
          <p:cNvPr id="12" name="Rectangle 11"/>
          <p:cNvSpPr/>
          <p:nvPr/>
        </p:nvSpPr>
        <p:spPr>
          <a:xfrm>
            <a:off x="35661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Manual extraction rules (PaddleOCR Light)</a:t>
            </a:r>
          </a:p>
        </p:txBody>
      </p:sp>
      <p:sp>
        <p:nvSpPr>
          <p:cNvPr id="13" name="TextBox 12"/>
          <p:cNvSpPr txBox="1"/>
          <p:nvPr/>
        </p:nvSpPr>
        <p:spPr>
          <a:xfrm>
            <a:off x="35661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New formats need manual rule updates, which can break working cases and add maintenance and testing.</a:t>
            </a:r>
          </a:p>
        </p:txBody>
      </p:sp>
      <p:sp>
        <p:nvSpPr>
          <p:cNvPr id="14" name="Rectangle 13"/>
          <p:cNvSpPr/>
          <p:nvPr/>
        </p:nvSpPr>
        <p:spPr>
          <a:xfrm>
            <a:off x="35661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0" i="0">
                <a:solidFill>
                  <a:srgbClr val="333D47"/>
                </a:solidFill>
                <a:latin typeface="Arial"/>
                <a:ea typeface="Microsoft JhengHei"/>
              </a:rPr>
              <a:t>Full control; transparent and predictable on formats the rules know.</a:t>
            </a:r>
          </a:p>
          <a:p>
            <a:pPr marL="182880" indent="-182880" algn="l">
              <a:spcAft>
                <a:spcPts val="300"/>
              </a:spcAft>
              <a:buFont typeface="Arial"/>
              <a:buChar char="•"/>
            </a:pPr>
            <a:r>
              <a:rPr sz="1300" b="0" i="0">
                <a:solidFill>
                  <a:srgbClr val="333D47"/>
                </a:solidFill>
                <a:latin typeface="Arial"/>
                <a:ea typeface="Microsoft JhengHei"/>
              </a:rPr>
              <a:t>No API fees: open-source OCR on our own compute.</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the OCR read the values; the misses were missing labels.</a:t>
            </a:r>
          </a:p>
        </p:txBody>
      </p:sp>
      <p:sp>
        <p:nvSpPr>
          <p:cNvPr id="15" name="Rectangle 14"/>
          <p:cNvSpPr/>
          <p:nvPr/>
        </p:nvSpPr>
        <p:spPr>
          <a:xfrm>
            <a:off x="35661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0" i="0">
                <a:solidFill>
                  <a:srgbClr val="333D47"/>
                </a:solidFill>
                <a:latin typeface="Arial"/>
                <a:ea typeface="Microsoft JhengHei"/>
              </a:rPr>
              <a:t>Each new format or language needs rule updates by hand.</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a rule change broke a receipt that was already correct.</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69 → 225 label phrases added by hand.</a:t>
            </a:r>
          </a:p>
        </p:txBody>
      </p:sp>
      <p:sp>
        <p:nvSpPr>
          <p:cNvPr id="16" name="Rectangle 15"/>
          <p:cNvSpPr/>
          <p:nvPr/>
        </p:nvSpPr>
        <p:spPr>
          <a:xfrm>
            <a:off x="623163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AI extraction (Azure DI + AOAI)</a:t>
            </a:r>
          </a:p>
        </p:txBody>
      </p:sp>
      <p:sp>
        <p:nvSpPr>
          <p:cNvPr id="17" name="TextBox 16"/>
          <p:cNvSpPr txBox="1"/>
          <p:nvPr/>
        </p:nvSpPr>
        <p:spPr>
          <a:xfrm>
            <a:off x="623163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Less rule maintenance expected: accuracy depends mainly on the AI model, OCR output and prompt.</a:t>
            </a:r>
          </a:p>
        </p:txBody>
      </p:sp>
      <p:sp>
        <p:nvSpPr>
          <p:cNvPr id="18" name="Rectangle 17"/>
          <p:cNvSpPr/>
          <p:nvPr/>
        </p:nvSpPr>
        <p:spPr>
          <a:xfrm>
            <a:off x="623163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highest accuracy before any tuning on these receipts.</a:t>
            </a:r>
          </a:p>
          <a:p>
            <a:pPr marL="182880" indent="-182880" algn="l">
              <a:spcAft>
                <a:spcPts val="300"/>
              </a:spcAft>
              <a:buFont typeface="Arial"/>
              <a:buChar char="•"/>
            </a:pPr>
            <a:r>
              <a:rPr sz="1300" b="0" i="0">
                <a:solidFill>
                  <a:srgbClr val="333D47"/>
                </a:solidFill>
                <a:latin typeface="Arial"/>
                <a:ea typeface="Microsoft JhengHei"/>
              </a:rPr>
              <a:t>Reads varied formats using existing model capabilities.</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faster, 6.2 s vs 13.9 s per receipt.</a:t>
            </a:r>
          </a:p>
        </p:txBody>
      </p:sp>
      <p:sp>
        <p:nvSpPr>
          <p:cNvPr id="19" name="Rectangle 18"/>
          <p:cNvSpPr/>
          <p:nvPr/>
        </p:nvSpPr>
        <p:spPr>
          <a:xfrm>
            <a:off x="623163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still makes mistakes, e.g. a sub total taken as the total.</a:t>
            </a:r>
          </a:p>
          <a:p>
            <a:pPr marL="182880" indent="-182880" algn="l">
              <a:spcAft>
                <a:spcPts val="300"/>
              </a:spcAft>
              <a:buFont typeface="Arial"/>
              <a:buChar char="•"/>
            </a:pPr>
            <a:r>
              <a:rPr sz="1300" b="0" i="0">
                <a:solidFill>
                  <a:srgbClr val="333D47"/>
                </a:solidFill>
                <a:latin typeface="Arial"/>
                <a:ea typeface="Microsoft JhengHei"/>
              </a:rPr>
              <a:t>Less direct control: results depend on model, OCR, prompt.</a:t>
            </a:r>
          </a:p>
          <a:p>
            <a:pPr marL="182880" indent="-182880" algn="l">
              <a:spcAft>
                <a:spcPts val="0"/>
              </a:spcAft>
              <a:buFont typeface="Arial"/>
              <a:buChar char="•"/>
            </a:pPr>
            <a:r>
              <a:rPr sz="1300" b="0" i="0">
                <a:solidFill>
                  <a:srgbClr val="333D47"/>
                </a:solidFill>
                <a:latin typeface="Arial"/>
                <a:ea typeface="Microsoft JhengHei"/>
              </a:rPr>
              <a:t>API fees; needs validation, monitoring and prompt upkeep.</a:t>
            </a:r>
          </a:p>
        </p:txBody>
      </p:sp>
      <p:sp>
        <p:nvSpPr>
          <p:cNvPr id="20" name="Rectangle 19"/>
          <p:cNvSpPr/>
          <p:nvPr/>
        </p:nvSpPr>
        <p:spPr>
          <a:xfrm>
            <a:off x="356616" y="5486400"/>
            <a:ext cx="10607040" cy="411480"/>
          </a:xfrm>
          <a:prstGeom prst="rect">
            <a:avLst/>
          </a:prstGeom>
          <a:solidFill>
            <a:srgbClr val="F2F2F2"/>
          </a:solidFill>
          <a:ln>
            <a:noFill/>
          </a:ln>
        </p:spPr>
        <p:txBody>
          <a:bodyPr rtlCol="0" anchor="ctr" wrap="square" lIns="164592" rIns="164592" tIns="109728" bIns="109728"/>
          <a:lstStyle/>
          <a:p>
            <a:pPr algn="l" marL="0" indent="0">
              <a:spcAft>
                <a:spcPts val="0"/>
              </a:spcAft>
              <a:buNone/>
            </a:pPr>
            <a:r>
              <a:rPr sz="1400" b="1" i="0">
                <a:solidFill>
                  <a:srgbClr val="333D47"/>
                </a:solidFill>
                <a:latin typeface="Arial"/>
                <a:ea typeface="Microsoft JhengHei"/>
              </a:rPr>
              <a:t>Neither is maintenance free. </a:t>
            </a:r>
            <a:r>
              <a:rPr sz="1400" b="0" i="0">
                <a:solidFill>
                  <a:srgbClr val="333D47"/>
                </a:solidFill>
                <a:latin typeface="Arial"/>
                <a:ea typeface="Microsoft JhengHei"/>
              </a:rPr>
              <a:t>The difference is where the effort sits: rules for every layout, or one prompt plus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real trade-off: maintain extraction rules ourselves, or let AI replace that layer.</a:t>
            </a:r>
          </a:p>
        </p:txBody>
      </p:sp>
      <p:sp>
        <p:nvSpPr>
          <p:cNvPr id="12" name="Rectangle 11"/>
          <p:cNvSpPr/>
          <p:nvPr/>
        </p:nvSpPr>
        <p:spPr>
          <a:xfrm>
            <a:off x="356616" y="1783080"/>
            <a:ext cx="11475720" cy="1600200"/>
          </a:xfrm>
          <a:prstGeom prst="rect">
            <a:avLst/>
          </a:prstGeom>
          <a:solidFill>
            <a:srgbClr val="F2F2F2"/>
          </a:solidFill>
          <a:ln>
            <a:noFill/>
          </a:ln>
        </p:spPr>
        <p:txBody>
          <a:bodyPr rtlCol="0" anchor="t" wrap="square" lIns="274320" rIns="274320" tIns="109728" bIns="109728"/>
          <a:lstStyle/>
          <a:p>
            <a:pPr algn="l" marL="182880" indent="-182880">
              <a:spcAft>
                <a:spcPts val="600"/>
              </a:spcAft>
              <a:buFont typeface="Arial"/>
              <a:buChar char="•"/>
            </a:pPr>
            <a:r>
              <a:rPr sz="1600" b="0" i="0">
                <a:solidFill>
                  <a:srgbClr val="333D47"/>
                </a:solidFill>
                <a:latin typeface="Arial"/>
                <a:ea typeface="Microsoft JhengHei"/>
              </a:rPr>
              <a:t>Initial implementations: AI extraction led by a wide margin, mainly because the first rules had no Chinese support.</a:t>
            </a:r>
          </a:p>
          <a:p>
            <a:pPr marL="182880" indent="-182880" algn="l">
              <a:spcAft>
                <a:spcPts val="600"/>
              </a:spcAft>
              <a:buFont typeface="Arial"/>
              <a:buChar char="•"/>
            </a:pPr>
            <a:r>
              <a:rPr sz="1600" b="0" i="0">
                <a:solidFill>
                  <a:srgbClr val="333D47"/>
                </a:solidFill>
                <a:latin typeface="Arial"/>
                <a:ea typeface="Microsoft JhengHei"/>
              </a:rPr>
              <a:t>After reviewing these receipts both improved. Rules needed code and vocabulary changes; AI needed one prompt revision. Neither is validated on unseen receipts.</a:t>
            </a:r>
          </a:p>
          <a:p>
            <a:pPr marL="182880" indent="-182880" algn="l">
              <a:spcAft>
                <a:spcPts val="0"/>
              </a:spcAft>
              <a:buFont typeface="Arial"/>
              <a:buChar char="•"/>
            </a:pPr>
            <a:r>
              <a:rPr sz="1600" b="1" i="0">
                <a:solidFill>
                  <a:srgbClr val="333D47"/>
                </a:solidFill>
                <a:latin typeface="Arial"/>
                <a:ea typeface="Microsoft JhengHei"/>
              </a:rPr>
              <a:t>So the choice is whether to keep writing and maintaining extraction rules, or to use AI for that layer.</a:t>
            </a:r>
          </a:p>
        </p:txBody>
      </p:sp>
      <p:sp>
        <p:nvSpPr>
          <p:cNvPr id="13" name="Rectangle 12"/>
          <p:cNvSpPr/>
          <p:nvPr/>
        </p:nvSpPr>
        <p:spPr>
          <a:xfrm>
            <a:off x="35661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AOAI prompt v2.</a:t>
            </a:r>
          </a:p>
        </p:txBody>
      </p:sp>
      <p:sp>
        <p:nvSpPr>
          <p:cNvPr id="14" name="Rectangle 13"/>
          <p:cNvSpPr/>
          <p:nvPr/>
        </p:nvSpPr>
        <p:spPr>
          <a:xfrm>
            <a:off x="427329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2. Test on unseen receipts</a:t>
            </a:r>
          </a:p>
          <a:p>
            <a:pPr marL="0" indent="0" algn="l">
              <a:spcAft>
                <a:spcPts val="0"/>
              </a:spcAft>
              <a:buNone/>
            </a:pPr>
            <a:r>
              <a:rPr sz="1400" b="0" i="0">
                <a:solidFill>
                  <a:srgbClr val="333D47"/>
                </a:solidFill>
                <a:latin typeface="Arial"/>
                <a:ea typeface="Microsoft JhengHei"/>
              </a:rPr>
              <a:t>30+ real, anonymised receipts. Measure accuracy and count the rule changes needed.</a:t>
            </a:r>
          </a:p>
        </p:txBody>
      </p:sp>
      <p:sp>
        <p:nvSpPr>
          <p:cNvPr id="15" name="Rectangle 14"/>
          <p:cNvSpPr/>
          <p:nvPr/>
        </p:nvSpPr>
        <p:spPr>
          <a:xfrm>
            <a:off x="818997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3. Then compare cost</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512064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Limitation: 9 receipts, mostly printed mock receipts; the rules and prompt v2 were tuned on them. AOAI still makes mistakes and has not been tested on a large unseen set.</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