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8C939A"/>
            </a:solidFill>
          </c:spPr>
          <c:dPt>
            <c:idx val="0"/>
            <c:spPr>
              <a:solidFill>
                <a:srgbClr val="8C939A"/>
              </a:solidFill>
            </c:spPr>
          </c:dPt>
          <c:dPt>
            <c:idx val="1"/>
            <c:spPr>
              <a:solidFill>
                <a:srgbClr val="333D47"/>
              </a:solidFill>
            </c:spPr>
          </c:dPt>
          <c:dPt>
            <c:idx val="2"/>
            <c:spPr>
              <a:solidFill>
                <a:srgbClr val="D31145"/>
              </a:solidFill>
            </c:spPr>
          </c:dPt>
          <c:cat>
            <c:strRef>
              <c:f>Sheet1!$A$2:$A$4</c:f>
              <c:strCache>
                <c:ptCount val="3"/>
                <c:pt idx="0">
                  <c:v>PaddleOCR Light
+ multilingual rules*
26/51</c:v>
                </c:pt>
                <c:pt idx="1">
                  <c:v>Azure DI
+ multilingual rules*
36/51</c:v>
                </c:pt>
                <c:pt idx="2">
                  <c:v>Azure DI + AOAI
prompt v2†
49/51</c:v>
                </c:pt>
              </c:strCache>
            </c:strRef>
          </c:cat>
          <c:val>
            <c:numRef>
              <c:f>Sheet1!$B$2:$B$4</c:f>
              <c:numCache>
                <c:formatCode>General</c:formatCode>
                <c:ptCount val="3"/>
                <c:pt idx="0">
                  <c:v>51.0</c:v>
                </c:pt>
                <c:pt idx="1">
                  <c:v>70.6</c:v>
                </c:pt>
                <c:pt idx="2">
                  <c:v>96.1</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C9CDD1"/>
            </a:solidFill>
          </a:ln>
        </c:spPr>
        <c:txPr>
          <a:bodyPr/>
          <a:lstStyle/>
          <a:p>
            <a:pPr>
              <a:defRPr sz="12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is OCR with hand-written extraction rules enough to replace Azure OpenAI (AOAI) for medical receipts, and what value does AOAI add? Every number comes from the saved benchmark results.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DI + AOAI with prompt v2: 96.1% (49/51). OCR + general multilingual rules: 51.0% with PaddleOCR Light and 70.6% with Azure DI (26/51 and 36/51). Unfamiliar labels, languages and layouts may require additional rules and retesting; AOAI works from plain-language instructions and could extract further fields (potential, not yet benchmarked). Limits of this evidence: 9 receipts and 51 fields, 7 of them printed, fictional test receipts. 96.1% (prompt v2) is a development result: the prompt was refined after reviewing these receipts. 51.0–70.6% (multilingual rules) is a retrospective baseline: common Chinese labels were added after these receipts were examined, though fixed before scoring. Neither is independent validation: only 4 unseen handwritten receipts exist, and on all 4 Azure DI misread the year 2026 as 2020.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7 printed, fictional test receipts photographed with a phone (English, bilingual and Traditional Chinese layouts) and 2 receipts from the first benchmark round. Six fields: doctor, registration number, patient, receipt number, service date, total. 51 of 54 possible fields were scored: 3 receipts do not contain a doctor registration number, so those fields were excluded. Azure OpenAI deployment: gpt-5-mini.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on the 9 receipts. Multilingual rules = general extraction rules with common Traditional and Simplified Chinese labels and basic bilingual handling (python/receipt_ocr_benchmark/docs/MULTILINGUAL_BASELINE.md); a retrospective baseline. AOAI = prompt v2, a development result: the prompt was refined after reviewing these receipts. Remaining rule errors need new label types, labels inside lines, layout logic or OCR-tolerant matching; PaddleOCR Light also loses fields because its OCR glues words and mixes characters in bilingual labels. Limits of this evidence: 9 receipts and 51 fields, 7 of them printed, fictional test receipts. 96.1% (prompt v2) is a development result: the prompt was refined after reviewing these receipts. 51.0–70.6% (multilingual rules) is a retrospective baseline: common Chinese labels were added after these receipts were examined, though fixed before scoring. Neither is independent validation: only 4 unseen handwritten receipts exist, and on all 4 Azure DI misread the year 2026 as 2020.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engines ran exactly the same multilingual rules (retrospective baseline). PaddleOCR Light made 10 more errors than Azure DI (51.0% vs 70.6%), and every one of them is a text recognition problem on a label, checked against the receipt photos: 5 labels with words run together, 2 run together and with a Simplified character, 2 with a wrong or missing character, and 1 'HK$' read as 'HKS'. None comes from layout or from different rules. The errors both engines share come from the rules themselves (labels they do not know, layouts they cannot follow). Receipt 5 (dental) loses four fields this way.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DI + multilingual rules (retrospective baseline) vs Azure DI + AOAI on the same OCR text. On receipt 6 (physiotherapy) the rules took the referring doctor as the practitioner, the issue date as the session date, and could not read the total from the card row (Total / Amount Paid / Outstanding Balance). On receipt 5 the rules summed the items (the subtotal) and missed the 10% member discount. AOAI got all four right with its original prompt, written before these receipts existed, and again with prompt v2, so these wins do not come from prompt tuning. Of the 15 fields Azure DI + rules got wrong, AOAI's original prompt got 11 right. Unfamiliar labels, layouts or scenarios may need additional rules and retesting; the label vocabulary already grew from 69 to 225 phrases when the rules were tuned, and one change broke 1 correct field. One prompt revision fixed 4 fields and broke 0. Whether AOAI copes with layouts it has not seen is not yet tested.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 read the receipt with OCR, then match the recognised names against the registry of about 40,000 doctors (about 80,000 English and Chinese name variants) using strict exact matching, with no fuzzy matching and no AI. This is technically straightforward, so it was not built or benchmarked. Benefits: little extra processing cost, deterministic results, and every match can be checked against the registry. Limitation: a match only says that a registered doctor's name appears somewhere on the receipt. Real examples from our receipts: receipt 6 names a referring doctor (Dr. Kwok Man Hin) while the treating practitioner is a physiotherapist, and our rules already took the referring doctor; receipt 2 shows a referring doctor (Dr. Lam Pui Shan) next to the attending doctor (Dr. Ng Chun Yip); receipt 8 lists a doctor and a nurse; the vet invoice names a clinician and a signing vet; and the signature 'Dr. Lok Yi Choi' was read as 'Dr. Lok Vichol' by Azure DI and 'Br.LokYi ehoi' by PaddleOCR, so an exact match would find nothing. Matching also depends on the registry containing the practitioner: our receipts include a dentist, a physiotherapist and a Chinese-medicine practitioner, who may be on other registers. Hypothetical cases, not in our receipts: a patient who is a registered doctor, and a clinic director named in the header. The names on our test receipts are fictional, so real registry match rates were not measured. AOAI reads context such as 'Referred by' (slide 6), but it has not been tested on these edge cases.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accuracy (multilingual rules 51.0–70.6%, retrospective baseline; AOAI prompt v2 96.1%, development result); speed per receipt (PaddleOCR Light 13.9 s on Azure ML CPU, Azure DI 3.8 s, Azure DI + AOAI prompt v2 6.4 s incl. network); AOAI prompt v2 tokens per receipt (962 input, 243 output); rule effort (69 -&gt; 225 label phrases) and the vet invoice sub-total error. Prices are not confirmed. Flexibility, auditability and model-update effects are expectations. Limits of this evidence: 9 receipts and 51 fields, 7 of them printed, fictional test receipts. 96.1% (prompt v2) is a development result: the prompt was refined after reviewing these receipts. 51.0–70.6% (multilingual rules) is a retrospective baseline: common Chinese labels were added after these receipts were examined, though fixed before scoring. Neither is independent validation: only 4 unseen handwritten receipts exist, and on all 4 Azure DI misread the year 2026 as 2020.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only: extracting these details has not been built or tested. Left: a real line-item section of a hospital receipt in our benchmark. Middle: an illustration of the structured data AOAI could return, typed by us from that receipt's OCR text (checked in the saved Azure DI output); it is not AOAI output. Where receipts show them, diagnoses and symptoms could be captured the same way. With rules, each new kind of detail may require additional labels and logic. Right: examples of analytics this would enable. A pilot would need ground truth, accuracy targets, a privacy review and cost checks.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are sufficient where layouts are few and stable, fields have clear labels and the question is simple (for example whether a diagnosis comment is present). AOAI adds value where providers, layouts and languages vary, where fields lack consistent labels, and potentially for richer medical data (not yet benchmarked). Next steps: freeze the rules and prompt v2; test on 30+ unseen, real, anonymised receipts and count the rule changes needed; pilot medications, treatments, symptoms and diagnoses with ground truth; confirm prices. Limits of this evidence: 9 receipts and 51 fields, 7 of them printed, fictional test receipts. 96.1% (prompt v2) is a development result: the prompt was refined after reviewing these receipts. 51.0–70.6% (multilingual rules) is a retrospective baseline: common Chinese labels were added after these receipts were examined, though fixed before scoring. Neither is independent validation: only 4 unseen handwritten receipts exist, and on all 4 Azure DI misread the year 2026 as 2020.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480560"/>
            <a:ext cx="6035040" cy="822960"/>
          </a:xfrm>
        </p:spPr>
        <p:txBody>
          <a:bodyPr/>
          <a:lstStyle/>
          <a:p>
            <a:r>
              <a:rPr>
                <a:latin typeface="Arial"/>
                <a:ea typeface="Microsoft JhengHei"/>
              </a:rPr>
              <a:t>Medical receipt extraction benchmark</a:t>
            </a:r>
          </a:p>
          <a:p>
            <a:r>
              <a:rPr>
                <a:latin typeface="Arial"/>
                <a:ea typeface="Microsoft JhengHei"/>
              </a:rPr>
              <a:t>9 receipts · 6 fields · rules vs AI extraction</a:t>
            </a:r>
          </a:p>
        </p:txBody>
      </p:sp>
      <p:sp>
        <p:nvSpPr>
          <p:cNvPr id="3" name="Text Placeholder 2"/>
          <p:cNvSpPr>
            <a:spLocks noGrp="1"/>
          </p:cNvSpPr>
          <p:nvPr>
            <p:ph type="body" idx="10" sz="quarter"/>
          </p:nvPr>
        </p:nvSpPr>
        <p:spPr/>
        <p:txBody>
          <a:bodyPr/>
          <a:lstStyle/>
          <a:p>
            <a:r>
              <a:rPr>
                <a:latin typeface="Arial"/>
                <a:ea typeface="Microsoft JhengHei"/>
              </a:rPr>
              <a:t>Can OCR Rules Replace Azure OpenAI?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Executive Summary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OCR + rules is not enough to replace AOAI across varied receipts.</a:t>
            </a:r>
          </a:p>
        </p:txBody>
      </p:sp>
      <p:sp>
        <p:nvSpPr>
          <p:cNvPr id="12" name="Rectangle 11"/>
          <p:cNvSpPr/>
          <p:nvPr/>
        </p:nvSpPr>
        <p:spPr>
          <a:xfrm>
            <a:off x="356616" y="1783080"/>
            <a:ext cx="3474720" cy="3017520"/>
          </a:xfrm>
          <a:prstGeom prst="rect">
            <a:avLst/>
          </a:prstGeom>
          <a:solidFill>
            <a:srgbClr val="FFFFFF"/>
          </a:solidFill>
          <a:ln w="25400">
            <a:solidFill>
              <a:srgbClr val="D31145"/>
            </a:solidFill>
          </a:ln>
        </p:spPr>
        <p:txBody>
          <a:bodyPr rtlCol="0" anchor="ctr" wrap="square" lIns="228600" rIns="228600" tIns="109728" bIns="109728"/>
          <a:lstStyle/>
          <a:p>
            <a:pPr algn="l" marL="0" indent="0">
              <a:spcAft>
                <a:spcPts val="800"/>
              </a:spcAft>
              <a:buNone/>
            </a:pPr>
            <a:r>
              <a:rPr sz="4600" b="1" i="0">
                <a:solidFill>
                  <a:srgbClr val="D31145"/>
                </a:solidFill>
                <a:latin typeface="Arial"/>
                <a:ea typeface="Microsoft JhengHei"/>
              </a:rPr>
              <a:t>96.1%</a:t>
            </a:r>
          </a:p>
          <a:p>
            <a:pPr marL="0" indent="0" algn="l">
              <a:spcAft>
                <a:spcPts val="600"/>
              </a:spcAft>
              <a:buNone/>
            </a:pPr>
            <a:r>
              <a:rPr sz="1600" b="1" i="0">
                <a:solidFill>
                  <a:srgbClr val="333D47"/>
                </a:solidFill>
                <a:latin typeface="Arial"/>
                <a:ea typeface="Microsoft JhengHei"/>
              </a:rPr>
              <a:t>Azure DI + AOAI (prompt v2)</a:t>
            </a:r>
          </a:p>
          <a:p>
            <a:pPr marL="0" indent="0" algn="l">
              <a:spcAft>
                <a:spcPts val="200"/>
              </a:spcAft>
              <a:buNone/>
            </a:pPr>
            <a:r>
              <a:rPr sz="1250" b="0" i="1">
                <a:solidFill>
                  <a:srgbClr val="5F6770"/>
                </a:solidFill>
                <a:latin typeface="Arial"/>
                <a:ea typeface="Microsoft JhengHei"/>
              </a:rPr>
              <a:t>Development result</a:t>
            </a:r>
          </a:p>
        </p:txBody>
      </p:sp>
      <p:sp>
        <p:nvSpPr>
          <p:cNvPr id="13" name="Rectangle 12"/>
          <p:cNvSpPr/>
          <p:nvPr/>
        </p:nvSpPr>
        <p:spPr>
          <a:xfrm>
            <a:off x="4014215" y="1783080"/>
            <a:ext cx="3474720" cy="301752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3600" b="1" i="0">
                <a:solidFill>
                  <a:srgbClr val="333D47"/>
                </a:solidFill>
                <a:latin typeface="Arial"/>
                <a:ea typeface="Microsoft JhengHei"/>
              </a:rPr>
              <a:t>51.0–70.6%</a:t>
            </a:r>
          </a:p>
          <a:p>
            <a:pPr marL="0" indent="0" algn="l">
              <a:spcAft>
                <a:spcPts val="600"/>
              </a:spcAft>
              <a:buNone/>
            </a:pPr>
            <a:r>
              <a:rPr sz="1600" b="1" i="0">
                <a:solidFill>
                  <a:srgbClr val="333D47"/>
                </a:solidFill>
                <a:latin typeface="Arial"/>
                <a:ea typeface="Microsoft JhengHei"/>
              </a:rPr>
              <a:t>OCR + multilingual rules</a:t>
            </a:r>
          </a:p>
          <a:p>
            <a:pPr marL="0" indent="0" algn="l">
              <a:spcAft>
                <a:spcPts val="200"/>
              </a:spcAft>
              <a:buNone/>
            </a:pPr>
            <a:r>
              <a:rPr sz="1250" b="0" i="0">
                <a:solidFill>
                  <a:srgbClr val="5F6770"/>
                </a:solidFill>
                <a:latin typeface="Arial"/>
                <a:ea typeface="Microsoft JhengHei"/>
              </a:rPr>
              <a:t>51.0% PaddleOCR Light · 70.6% Azure DI</a:t>
            </a:r>
          </a:p>
          <a:p>
            <a:pPr marL="0" indent="0" algn="l">
              <a:spcAft>
                <a:spcPts val="200"/>
              </a:spcAft>
              <a:buNone/>
            </a:pPr>
            <a:r>
              <a:rPr sz="1250" b="0" i="1">
                <a:solidFill>
                  <a:srgbClr val="5F6770"/>
                </a:solidFill>
                <a:latin typeface="Arial"/>
                <a:ea typeface="Microsoft JhengHei"/>
              </a:rPr>
              <a:t>Retrospective baseline</a:t>
            </a:r>
          </a:p>
        </p:txBody>
      </p:sp>
      <p:sp>
        <p:nvSpPr>
          <p:cNvPr id="14" name="TextBox 13"/>
          <p:cNvSpPr txBox="1"/>
          <p:nvPr/>
        </p:nvSpPr>
        <p:spPr>
          <a:xfrm>
            <a:off x="7726679" y="1783080"/>
            <a:ext cx="4105656" cy="3017520"/>
          </a:xfrm>
          <a:prstGeom prst="rect">
            <a:avLst/>
          </a:prstGeom>
          <a:noFill/>
        </p:spPr>
        <p:txBody>
          <a:bodyPr wrap="square" lIns="201168" rIns="201168" tIns="109728" bIns="109728" anchor="ctr"/>
          <a:lstStyle/>
          <a:p>
            <a:pPr marL="0" indent="0" algn="l">
              <a:spcAft>
                <a:spcPts val="1000"/>
              </a:spcAft>
              <a:buNone/>
            </a:pPr>
            <a:r>
              <a:rPr sz="1600" b="1" i="0">
                <a:solidFill>
                  <a:srgbClr val="D31145"/>
                </a:solidFill>
                <a:latin typeface="Arial"/>
                <a:ea typeface="Microsoft JhengHei"/>
              </a:rPr>
              <a:t>Why AOAI may still be needed</a:t>
            </a:r>
          </a:p>
          <a:p>
            <a:pPr marL="182880" indent="-182880" algn="l">
              <a:spcAft>
                <a:spcPts val="800"/>
              </a:spcAft>
              <a:buFont typeface="Arial"/>
              <a:buChar char="•"/>
            </a:pPr>
            <a:r>
              <a:rPr sz="1500" b="0" i="0">
                <a:solidFill>
                  <a:srgbClr val="333D47"/>
                </a:solidFill>
                <a:latin typeface="Arial"/>
                <a:ea typeface="Microsoft JhengHei"/>
              </a:rPr>
              <a:t>Can often handle unfamiliar layouts without new rules (not guaranteed)</a:t>
            </a:r>
          </a:p>
          <a:p>
            <a:pPr marL="182880" indent="-182880" algn="l">
              <a:spcAft>
                <a:spcPts val="800"/>
              </a:spcAft>
              <a:buFont typeface="Arial"/>
              <a:buChar char="•"/>
            </a:pPr>
            <a:r>
              <a:rPr sz="1500" b="0" i="0">
                <a:solidFill>
                  <a:srgbClr val="333D47"/>
                </a:solidFill>
                <a:latin typeface="Arial"/>
                <a:ea typeface="Microsoft JhengHei"/>
              </a:rPr>
              <a:t>Can potentially extract more fields for analytics (not yet benchmarked)</a:t>
            </a:r>
          </a:p>
          <a:p>
            <a:pPr marL="182880" indent="-182880" algn="l">
              <a:spcAft>
                <a:spcPts val="0"/>
              </a:spcAft>
              <a:buFont typeface="Arial"/>
              <a:buChar char="•"/>
            </a:pPr>
            <a:r>
              <a:rPr sz="1500" b="0" i="0">
                <a:solidFill>
                  <a:srgbClr val="333D47"/>
                </a:solidFill>
                <a:latin typeface="Arial"/>
                <a:ea typeface="Microsoft JhengHei"/>
              </a:rPr>
              <a:t>Rules remain fine for simple, clearly labelled checks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Compared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For each of the 9 receipts, we extract 6 key fields and compare the results across 3 approaches.</a:t>
            </a:r>
          </a:p>
        </p:txBody>
      </p:sp>
      <p:sp>
        <p:nvSpPr>
          <p:cNvPr id="12" name="TextBox 11"/>
          <p:cNvSpPr txBox="1"/>
          <p:nvPr/>
        </p:nvSpPr>
        <p:spPr>
          <a:xfrm>
            <a:off x="356616" y="1783080"/>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PaddleOCR Light + rules</a:t>
            </a:r>
          </a:p>
        </p:txBody>
      </p:sp>
      <p:sp>
        <p:nvSpPr>
          <p:cNvPr id="13" name="Rectangle 12"/>
          <p:cNvSpPr/>
          <p:nvPr/>
        </p:nvSpPr>
        <p:spPr>
          <a:xfrm>
            <a:off x="2926080" y="1783080"/>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PaddleOCR Light</a:t>
            </a:r>
          </a:p>
          <a:p>
            <a:pPr marL="0" indent="0" algn="l">
              <a:spcAft>
                <a:spcPts val="0"/>
              </a:spcAft>
              <a:buNone/>
            </a:pPr>
            <a:r>
              <a:rPr sz="1100" b="0" i="0">
                <a:solidFill>
                  <a:srgbClr val="5F6770"/>
                </a:solidFill>
                <a:latin typeface="Arial"/>
                <a:ea typeface="Microsoft JhengHei"/>
              </a:rPr>
              <a:t>open source, own compute</a:t>
            </a:r>
          </a:p>
        </p:txBody>
      </p:sp>
      <p:sp>
        <p:nvSpPr>
          <p:cNvPr id="14" name="Right Arrow 13"/>
          <p:cNvSpPr/>
          <p:nvPr/>
        </p:nvSpPr>
        <p:spPr>
          <a:xfrm>
            <a:off x="6263640" y="1965960"/>
            <a:ext cx="365760" cy="237744"/>
          </a:xfrm>
          <a:prstGeom prst="rightArrow">
            <a:avLst/>
          </a:prstGeom>
          <a:solidFill>
            <a:srgbClr val="8C939A"/>
          </a:solidFill>
          <a:ln>
            <a:noFill/>
          </a:ln>
        </p:spPr>
        <p:txBody>
          <a:bodyPr rtlCol="0" anchor="ctr"/>
          <a:lstStyle/>
          <a:p>
            <a:pPr algn="ctr"/>
          </a:p>
        </p:txBody>
      </p:sp>
      <p:sp>
        <p:nvSpPr>
          <p:cNvPr id="15" name="Rectangle 14"/>
          <p:cNvSpPr/>
          <p:nvPr/>
        </p:nvSpPr>
        <p:spPr>
          <a:xfrm>
            <a:off x="6720840" y="1783080"/>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16" name="Right Arrow 15"/>
          <p:cNvSpPr/>
          <p:nvPr/>
        </p:nvSpPr>
        <p:spPr>
          <a:xfrm>
            <a:off x="9829800" y="1965960"/>
            <a:ext cx="365760" cy="237744"/>
          </a:xfrm>
          <a:prstGeom prst="rightArrow">
            <a:avLst/>
          </a:prstGeom>
          <a:solidFill>
            <a:srgbClr val="8C939A"/>
          </a:solidFill>
          <a:ln>
            <a:noFill/>
          </a:ln>
        </p:spPr>
        <p:txBody>
          <a:bodyPr rtlCol="0" anchor="ctr"/>
          <a:lstStyle/>
          <a:p>
            <a:pPr algn="ctr"/>
          </a:p>
        </p:txBody>
      </p:sp>
      <p:sp>
        <p:nvSpPr>
          <p:cNvPr id="17" name="Rectangle 16"/>
          <p:cNvSpPr/>
          <p:nvPr/>
        </p:nvSpPr>
        <p:spPr>
          <a:xfrm>
            <a:off x="10287000" y="1783080"/>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18" name="TextBox 17"/>
          <p:cNvSpPr txBox="1"/>
          <p:nvPr/>
        </p:nvSpPr>
        <p:spPr>
          <a:xfrm>
            <a:off x="356616" y="2532888"/>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Azure DI + rules</a:t>
            </a:r>
          </a:p>
        </p:txBody>
      </p:sp>
      <p:sp>
        <p:nvSpPr>
          <p:cNvPr id="19" name="Rectangle 18"/>
          <p:cNvSpPr/>
          <p:nvPr/>
        </p:nvSpPr>
        <p:spPr>
          <a:xfrm>
            <a:off x="2926080" y="2532888"/>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0" name="Right Arrow 19"/>
          <p:cNvSpPr/>
          <p:nvPr/>
        </p:nvSpPr>
        <p:spPr>
          <a:xfrm>
            <a:off x="6263640" y="2715768"/>
            <a:ext cx="365760" cy="237744"/>
          </a:xfrm>
          <a:prstGeom prst="rightArrow">
            <a:avLst/>
          </a:prstGeom>
          <a:solidFill>
            <a:srgbClr val="8C939A"/>
          </a:solidFill>
          <a:ln>
            <a:noFill/>
          </a:ln>
        </p:spPr>
        <p:txBody>
          <a:bodyPr rtlCol="0" anchor="ctr"/>
          <a:lstStyle/>
          <a:p>
            <a:pPr algn="ctr"/>
          </a:p>
        </p:txBody>
      </p:sp>
      <p:sp>
        <p:nvSpPr>
          <p:cNvPr id="21" name="Rectangle 20"/>
          <p:cNvSpPr/>
          <p:nvPr/>
        </p:nvSpPr>
        <p:spPr>
          <a:xfrm>
            <a:off x="6720840" y="2532888"/>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22" name="Right Arrow 21"/>
          <p:cNvSpPr/>
          <p:nvPr/>
        </p:nvSpPr>
        <p:spPr>
          <a:xfrm>
            <a:off x="9829800" y="2715768"/>
            <a:ext cx="365760" cy="237744"/>
          </a:xfrm>
          <a:prstGeom prst="rightArrow">
            <a:avLst/>
          </a:prstGeom>
          <a:solidFill>
            <a:srgbClr val="8C939A"/>
          </a:solidFill>
          <a:ln>
            <a:noFill/>
          </a:ln>
        </p:spPr>
        <p:txBody>
          <a:bodyPr rtlCol="0" anchor="ctr"/>
          <a:lstStyle/>
          <a:p>
            <a:pPr algn="ctr"/>
          </a:p>
        </p:txBody>
      </p:sp>
      <p:sp>
        <p:nvSpPr>
          <p:cNvPr id="23" name="Rectangle 22"/>
          <p:cNvSpPr/>
          <p:nvPr/>
        </p:nvSpPr>
        <p:spPr>
          <a:xfrm>
            <a:off x="10287000" y="2532888"/>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24" name="TextBox 23"/>
          <p:cNvSpPr txBox="1"/>
          <p:nvPr/>
        </p:nvSpPr>
        <p:spPr>
          <a:xfrm>
            <a:off x="356616" y="3282696"/>
            <a:ext cx="2514600" cy="603504"/>
          </a:xfrm>
          <a:prstGeom prst="rect">
            <a:avLst/>
          </a:prstGeom>
          <a:noFill/>
        </p:spPr>
        <p:txBody>
          <a:bodyPr wrap="square" lIns="0" rIns="0" tIns="0" bIns="0" anchor="ctr"/>
          <a:lstStyle/>
          <a:p>
            <a:pPr marL="0" indent="0" algn="l">
              <a:spcAft>
                <a:spcPts val="0"/>
              </a:spcAft>
              <a:buNone/>
            </a:pPr>
            <a:r>
              <a:rPr sz="1500" b="1" i="0">
                <a:solidFill>
                  <a:srgbClr val="D31145"/>
                </a:solidFill>
                <a:latin typeface="Arial"/>
                <a:ea typeface="Microsoft JhengHei"/>
              </a:rPr>
              <a:t>Azure DI + AOAI</a:t>
            </a:r>
          </a:p>
        </p:txBody>
      </p:sp>
      <p:sp>
        <p:nvSpPr>
          <p:cNvPr id="25" name="Rectangle 24"/>
          <p:cNvSpPr/>
          <p:nvPr/>
        </p:nvSpPr>
        <p:spPr>
          <a:xfrm>
            <a:off x="2926080" y="3282696"/>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6" name="Right Arrow 25"/>
          <p:cNvSpPr/>
          <p:nvPr/>
        </p:nvSpPr>
        <p:spPr>
          <a:xfrm>
            <a:off x="6263640" y="3465576"/>
            <a:ext cx="365760" cy="237744"/>
          </a:xfrm>
          <a:prstGeom prst="rightArrow">
            <a:avLst/>
          </a:prstGeom>
          <a:solidFill>
            <a:srgbClr val="8C939A"/>
          </a:solidFill>
          <a:ln>
            <a:noFill/>
          </a:ln>
        </p:spPr>
        <p:txBody>
          <a:bodyPr rtlCol="0" anchor="ctr"/>
          <a:lstStyle/>
          <a:p>
            <a:pPr algn="ctr"/>
          </a:p>
        </p:txBody>
      </p:sp>
      <p:sp>
        <p:nvSpPr>
          <p:cNvPr id="27" name="Rectangle 26"/>
          <p:cNvSpPr/>
          <p:nvPr/>
        </p:nvSpPr>
        <p:spPr>
          <a:xfrm>
            <a:off x="6720840" y="3282696"/>
            <a:ext cx="3017520" cy="603504"/>
          </a:xfrm>
          <a:prstGeom prst="rect">
            <a:avLst/>
          </a:prstGeom>
          <a:solidFill>
            <a:srgbClr val="FFFFFF"/>
          </a:solidFill>
          <a:ln w="25400">
            <a:solidFill>
              <a:srgbClr val="D31145"/>
            </a:solidFill>
          </a:ln>
        </p:spPr>
        <p:txBody>
          <a:bodyPr rtlCol="0" anchor="ctr" wrap="square" lIns="137160" rIns="137160" tIns="109728" bIns="109728"/>
          <a:lstStyle/>
          <a:p>
            <a:pPr algn="l" marL="0" indent="0">
              <a:spcAft>
                <a:spcPts val="0"/>
              </a:spcAft>
              <a:buNone/>
            </a:pPr>
            <a:r>
              <a:rPr sz="1350" b="1" i="0">
                <a:solidFill>
                  <a:srgbClr val="D31145"/>
                </a:solidFill>
                <a:latin typeface="Arial"/>
                <a:ea typeface="Microsoft JhengHei"/>
              </a:rPr>
              <a:t>Azure OpenAI instructions</a:t>
            </a:r>
          </a:p>
        </p:txBody>
      </p:sp>
      <p:sp>
        <p:nvSpPr>
          <p:cNvPr id="28" name="Right Arrow 27"/>
          <p:cNvSpPr/>
          <p:nvPr/>
        </p:nvSpPr>
        <p:spPr>
          <a:xfrm>
            <a:off x="9829800" y="3465576"/>
            <a:ext cx="365760" cy="237744"/>
          </a:xfrm>
          <a:prstGeom prst="rightArrow">
            <a:avLst/>
          </a:prstGeom>
          <a:solidFill>
            <a:srgbClr val="8C939A"/>
          </a:solidFill>
          <a:ln>
            <a:noFill/>
          </a:ln>
        </p:spPr>
        <p:txBody>
          <a:bodyPr rtlCol="0" anchor="ctr"/>
          <a:lstStyle/>
          <a:p>
            <a:pPr algn="ctr"/>
          </a:p>
        </p:txBody>
      </p:sp>
      <p:sp>
        <p:nvSpPr>
          <p:cNvPr id="29" name="Rectangle 28"/>
          <p:cNvSpPr/>
          <p:nvPr/>
        </p:nvSpPr>
        <p:spPr>
          <a:xfrm>
            <a:off x="10287000" y="3282696"/>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30" name="TextBox 29"/>
          <p:cNvSpPr txBox="1"/>
          <p:nvPr/>
        </p:nvSpPr>
        <p:spPr>
          <a:xfrm>
            <a:off x="2926080" y="1481328"/>
            <a:ext cx="32461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1. Read the text (OCR)</a:t>
            </a:r>
          </a:p>
        </p:txBody>
      </p:sp>
      <p:sp>
        <p:nvSpPr>
          <p:cNvPr id="31" name="TextBox 30"/>
          <p:cNvSpPr txBox="1"/>
          <p:nvPr/>
        </p:nvSpPr>
        <p:spPr>
          <a:xfrm>
            <a:off x="6720840" y="1481328"/>
            <a:ext cx="30175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2. Find the fields</a:t>
            </a:r>
          </a:p>
        </p:txBody>
      </p:sp>
      <p:pic>
        <p:nvPicPr>
          <p:cNvPr id="32" name="Picture 31" descr="thumb_receipt1.jpg"/>
          <p:cNvPicPr>
            <a:picLocks noChangeAspect="1"/>
          </p:cNvPicPr>
          <p:nvPr/>
        </p:nvPicPr>
        <p:blipFill>
          <a:blip r:embed="rId3"/>
          <a:stretch>
            <a:fillRect/>
          </a:stretch>
        </p:blipFill>
        <p:spPr>
          <a:xfrm>
            <a:off x="356616" y="4114800"/>
            <a:ext cx="994409" cy="1325880"/>
          </a:xfrm>
          <a:prstGeom prst="rect">
            <a:avLst/>
          </a:prstGeom>
          <a:ln w="9525">
            <a:solidFill>
              <a:srgbClr val="BFBFBF"/>
            </a:solidFill>
          </a:ln>
        </p:spPr>
      </p:pic>
      <p:sp>
        <p:nvSpPr>
          <p:cNvPr id="33" name="TextBox 32"/>
          <p:cNvSpPr txBox="1"/>
          <p:nvPr/>
        </p:nvSpPr>
        <p:spPr>
          <a:xfrm>
            <a:off x="35661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English</a:t>
            </a:r>
          </a:p>
        </p:txBody>
      </p:sp>
      <p:pic>
        <p:nvPicPr>
          <p:cNvPr id="34" name="Picture 33" descr="thumb_receipt3.jpg"/>
          <p:cNvPicPr>
            <a:picLocks noChangeAspect="1"/>
          </p:cNvPicPr>
          <p:nvPr/>
        </p:nvPicPr>
        <p:blipFill>
          <a:blip r:embed="rId4"/>
          <a:stretch>
            <a:fillRect/>
          </a:stretch>
        </p:blipFill>
        <p:spPr>
          <a:xfrm>
            <a:off x="1545336" y="4114800"/>
            <a:ext cx="994409" cy="1325880"/>
          </a:xfrm>
          <a:prstGeom prst="rect">
            <a:avLst/>
          </a:prstGeom>
          <a:ln w="9525">
            <a:solidFill>
              <a:srgbClr val="BFBFBF"/>
            </a:solidFill>
          </a:ln>
        </p:spPr>
      </p:pic>
      <p:sp>
        <p:nvSpPr>
          <p:cNvPr id="35" name="TextBox 34"/>
          <p:cNvSpPr txBox="1"/>
          <p:nvPr/>
        </p:nvSpPr>
        <p:spPr>
          <a:xfrm>
            <a:off x="154533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Bilingual</a:t>
            </a:r>
          </a:p>
        </p:txBody>
      </p:sp>
      <p:pic>
        <p:nvPicPr>
          <p:cNvPr id="36" name="Picture 35" descr="thumb_receipt4.jpg"/>
          <p:cNvPicPr>
            <a:picLocks noChangeAspect="1"/>
          </p:cNvPicPr>
          <p:nvPr/>
        </p:nvPicPr>
        <p:blipFill>
          <a:blip r:embed="rId5"/>
          <a:stretch>
            <a:fillRect/>
          </a:stretch>
        </p:blipFill>
        <p:spPr>
          <a:xfrm>
            <a:off x="2734056" y="4114800"/>
            <a:ext cx="994409" cy="1325880"/>
          </a:xfrm>
          <a:prstGeom prst="rect">
            <a:avLst/>
          </a:prstGeom>
          <a:ln w="9525">
            <a:solidFill>
              <a:srgbClr val="BFBFBF"/>
            </a:solidFill>
          </a:ln>
        </p:spPr>
      </p:pic>
      <p:sp>
        <p:nvSpPr>
          <p:cNvPr id="37" name="TextBox 36"/>
          <p:cNvSpPr txBox="1"/>
          <p:nvPr/>
        </p:nvSpPr>
        <p:spPr>
          <a:xfrm>
            <a:off x="273405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Chinese</a:t>
            </a:r>
          </a:p>
        </p:txBody>
      </p:sp>
      <p:sp>
        <p:nvSpPr>
          <p:cNvPr id="38" name="Rectangle 37"/>
          <p:cNvSpPr/>
          <p:nvPr/>
        </p:nvSpPr>
        <p:spPr>
          <a:xfrm>
            <a:off x="4023360" y="4114800"/>
            <a:ext cx="7808975" cy="109728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1400" b="1" i="0">
                <a:solidFill>
                  <a:srgbClr val="333D47"/>
                </a:solidFill>
                <a:latin typeface="Arial"/>
                <a:ea typeface="Microsoft JhengHei"/>
              </a:rPr>
              <a:t>9 receipts</a:t>
            </a:r>
            <a:r>
              <a:rPr sz="1400" b="0" i="0">
                <a:solidFill>
                  <a:srgbClr val="333D47"/>
                </a:solidFill>
                <a:latin typeface="Arial"/>
                <a:ea typeface="Microsoft JhengHei"/>
              </a:rPr>
              <a:t>: 7 printed test receipts (English, bilingual, Chinese layouts) and 2 from the first benchmark round.</a:t>
            </a:r>
          </a:p>
          <a:p>
            <a:pPr marL="0" indent="0" algn="l">
              <a:spcAft>
                <a:spcPts val="0"/>
              </a:spcAft>
              <a:buNone/>
            </a:pPr>
            <a:r>
              <a:rPr sz="1400" b="1" i="0">
                <a:solidFill>
                  <a:srgbClr val="333D47"/>
                </a:solidFill>
                <a:latin typeface="Arial"/>
                <a:ea typeface="Microsoft JhengHei"/>
              </a:rPr>
              <a:t>6 fields</a:t>
            </a:r>
            <a:r>
              <a:rPr sz="1400" b="0" i="0">
                <a:solidFill>
                  <a:srgbClr val="333D47"/>
                </a:solidFill>
                <a:latin typeface="Arial"/>
                <a:ea typeface="Microsoft JhengHei"/>
              </a:rPr>
              <a:t>: doctor, registration no., patient, receipt no., service date, total.</a:t>
            </a:r>
          </a:p>
        </p:txBody>
      </p:sp>
      <p:sp>
        <p:nvSpPr>
          <p:cNvPr id="39" name="TextBox 38"/>
          <p:cNvSpPr txBox="1"/>
          <p:nvPr/>
        </p:nvSpPr>
        <p:spPr>
          <a:xfrm>
            <a:off x="4023360" y="5257800"/>
            <a:ext cx="7808975" cy="274320"/>
          </a:xfrm>
          <a:prstGeom prst="rect">
            <a:avLst/>
          </a:prstGeom>
          <a:noFill/>
        </p:spPr>
        <p:txBody>
          <a:bodyPr wrap="square" lIns="0" rIns="0" tIns="0" bIns="0" anchor="t"/>
          <a:lstStyle/>
          <a:p>
            <a:pPr marL="0" indent="0" algn="l">
              <a:spcAft>
                <a:spcPts val="0"/>
              </a:spcAft>
              <a:buNone/>
            </a:pPr>
            <a:r>
              <a:rPr sz="1050" b="0" i="1">
                <a:solidFill>
                  <a:srgbClr val="5F6770"/>
                </a:solidFill>
                <a:latin typeface="Arial"/>
                <a:ea typeface="Microsoft JhengHei"/>
              </a:rPr>
              <a:t>51 of 54 possible fields were scored. 3 receipts do not contain a doctor registration number, so those fields were excluded.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Rules vs AOAI on the Same Receipts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Multilingual OCR rules reached 51.0–70.6%; Azure DI + AOAI reached 96.1%.</a:t>
            </a:r>
          </a:p>
        </p:txBody>
      </p:sp>
      <p:graphicFrame>
        <p:nvGraphicFramePr>
          <p:cNvPr id="13" name="Chart 12"/>
          <p:cNvGraphicFramePr>
            <a:graphicFrameLocks noGrp="1"/>
          </p:cNvGraphicFramePr>
          <p:nvPr/>
        </p:nvGraphicFramePr>
        <p:xfrm>
          <a:off x="356616" y="1691640"/>
          <a:ext cx="6675120" cy="3703320"/>
        </p:xfrm>
        <a:graphic>
          <a:graphicData uri="http://schemas.openxmlformats.org/drawingml/2006/chart">
            <c:chart xmlns:c="http://schemas.openxmlformats.org/drawingml/2006/chart" r:id="rId3"/>
          </a:graphicData>
        </a:graphic>
      </p:graphicFrame>
      <p:sp>
        <p:nvSpPr>
          <p:cNvPr id="14" name="Rectangle 13"/>
          <p:cNvSpPr/>
          <p:nvPr/>
        </p:nvSpPr>
        <p:spPr>
          <a:xfrm>
            <a:off x="7315200" y="1783080"/>
            <a:ext cx="4517136" cy="160020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Multilingual rules*</a:t>
            </a:r>
          </a:p>
          <a:p>
            <a:pPr marL="182880" indent="-182880" algn="l">
              <a:spcAft>
                <a:spcPts val="300"/>
              </a:spcAft>
              <a:buFont typeface="Arial"/>
              <a:buChar char="•"/>
            </a:pPr>
            <a:r>
              <a:rPr sz="1350" b="0" i="0">
                <a:solidFill>
                  <a:srgbClr val="333D47"/>
                </a:solidFill>
                <a:latin typeface="Arial"/>
                <a:ea typeface="Microsoft JhengHei"/>
              </a:rPr>
              <a:t>General rules with common Chinese labels</a:t>
            </a:r>
          </a:p>
          <a:p>
            <a:pPr marL="182880" indent="-182880" algn="l">
              <a:spcAft>
                <a:spcPts val="300"/>
              </a:spcAft>
              <a:buFont typeface="Arial"/>
              <a:buChar char="•"/>
            </a:pPr>
            <a:r>
              <a:rPr sz="1350" b="0" i="0">
                <a:solidFill>
                  <a:srgbClr val="333D47"/>
                </a:solidFill>
                <a:latin typeface="Arial"/>
                <a:ea typeface="Microsoft JhengHei"/>
              </a:rPr>
              <a:t>No receipt-specific rules</a:t>
            </a:r>
          </a:p>
        </p:txBody>
      </p:sp>
      <p:sp>
        <p:nvSpPr>
          <p:cNvPr id="15" name="Rectangle 14"/>
          <p:cNvSpPr/>
          <p:nvPr/>
        </p:nvSpPr>
        <p:spPr>
          <a:xfrm>
            <a:off x="7315200" y="3520440"/>
            <a:ext cx="4517136" cy="146304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What explains the gap</a:t>
            </a:r>
          </a:p>
          <a:p>
            <a:pPr marL="182880" indent="-182880" algn="l">
              <a:spcAft>
                <a:spcPts val="300"/>
              </a:spcAft>
              <a:buFont typeface="Arial"/>
              <a:buChar char="•"/>
            </a:pPr>
            <a:r>
              <a:rPr sz="1350" b="0" i="0">
                <a:solidFill>
                  <a:srgbClr val="333D47"/>
                </a:solidFill>
                <a:latin typeface="Arial"/>
                <a:ea typeface="Microsoft JhengHei"/>
              </a:rPr>
              <a:t>PaddleOCR misread labels (slide 5)</a:t>
            </a:r>
          </a:p>
          <a:p>
            <a:pPr marL="182880" indent="-182880" algn="l">
              <a:spcAft>
                <a:spcPts val="300"/>
              </a:spcAft>
              <a:buFont typeface="Arial"/>
              <a:buChar char="•"/>
            </a:pPr>
            <a:r>
              <a:rPr sz="1350" b="0" i="0">
                <a:solidFill>
                  <a:srgbClr val="333D47"/>
                </a:solidFill>
                <a:latin typeface="Arial"/>
                <a:ea typeface="Microsoft JhengHei"/>
              </a:rPr>
              <a:t>Rules missed context that AOAI used (slide 6)</a:t>
            </a:r>
          </a:p>
        </p:txBody>
      </p:sp>
      <p:sp>
        <p:nvSpPr>
          <p:cNvPr id="16" name="TextBox 15"/>
          <p:cNvSpPr txBox="1"/>
          <p:nvPr/>
        </p:nvSpPr>
        <p:spPr>
          <a:xfrm>
            <a:off x="356616" y="5504688"/>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Retrospective baseline   † Development result (prompt refined on these receipts)   Neither is independent validation. 9 receipts, 51 fields.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Why Azure DI Beat PaddleOCR Light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RETROSPECTIVE</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Same rules on both. PaddleOCR misread the labels, so the rules could not find the values.</a:t>
            </a:r>
          </a:p>
        </p:txBody>
      </p:sp>
      <p:pic>
        <p:nvPicPr>
          <p:cNvPr id="13" name="Picture 12" descr="crop_receipt5_labels.jpg"/>
          <p:cNvPicPr>
            <a:picLocks noChangeAspect="1"/>
          </p:cNvPicPr>
          <p:nvPr/>
        </p:nvPicPr>
        <p:blipFill>
          <a:blip r:embed="rId3"/>
          <a:stretch>
            <a:fillRect/>
          </a:stretch>
        </p:blipFill>
        <p:spPr>
          <a:xfrm>
            <a:off x="356616" y="1737360"/>
            <a:ext cx="6949440" cy="1184879"/>
          </a:xfrm>
          <a:prstGeom prst="rect">
            <a:avLst/>
          </a:prstGeom>
          <a:ln w="9525">
            <a:solidFill>
              <a:srgbClr val="BFBFBF"/>
            </a:solidFill>
          </a:ln>
        </p:spPr>
      </p:pic>
      <p:sp>
        <p:nvSpPr>
          <p:cNvPr id="14" name="Rectangle 13"/>
          <p:cNvSpPr/>
          <p:nvPr/>
        </p:nvSpPr>
        <p:spPr>
          <a:xfrm>
            <a:off x="7543800" y="1737360"/>
            <a:ext cx="4288536" cy="1783080"/>
          </a:xfrm>
          <a:prstGeom prst="rect">
            <a:avLst/>
          </a:prstGeom>
          <a:solidFill>
            <a:srgbClr val="F2F2F2"/>
          </a:solidFill>
          <a:ln>
            <a:noFill/>
          </a:ln>
        </p:spPr>
        <p:txBody>
          <a:bodyPr rtlCol="0" anchor="ctr" wrap="square" lIns="201168" rIns="201168" tIns="109728" bIns="109728"/>
          <a:lstStyle/>
          <a:p>
            <a:pPr algn="l" marL="0" indent="0">
              <a:spcAft>
                <a:spcPts val="400"/>
              </a:spcAft>
              <a:buNone/>
            </a:pPr>
            <a:r>
              <a:rPr sz="3000" b="1" i="0">
                <a:solidFill>
                  <a:srgbClr val="D31145"/>
                </a:solidFill>
                <a:latin typeface="Arial"/>
                <a:ea typeface="Microsoft JhengHei"/>
              </a:rPr>
              <a:t>10 </a:t>
            </a:r>
            <a:r>
              <a:rPr sz="1500" b="1" i="0">
                <a:solidFill>
                  <a:srgbClr val="333D47"/>
                </a:solidFill>
                <a:latin typeface="Arial"/>
                <a:ea typeface="Microsoft JhengHei"/>
              </a:rPr>
              <a:t>extra errors with PaddleOCR</a:t>
            </a:r>
          </a:p>
          <a:p>
            <a:pPr marL="0" indent="0" algn="l">
              <a:spcAft>
                <a:spcPts val="400"/>
              </a:spcAft>
              <a:buNone/>
            </a:pPr>
            <a:r>
              <a:rPr sz="1300" b="0" i="0">
                <a:solidFill>
                  <a:srgbClr val="333D47"/>
                </a:solidFill>
                <a:latin typeface="Arial"/>
                <a:ea typeface="Microsoft JhengHei"/>
              </a:rPr>
              <a:t>All from reading the label text: words run together, wrong characters, a misread HK$ sign. None from the rules or the layout.</a:t>
            </a:r>
          </a:p>
          <a:p>
            <a:pPr marL="0" indent="0" algn="l">
              <a:spcAft>
                <a:spcPts val="0"/>
              </a:spcAft>
              <a:buNone/>
            </a:pPr>
            <a:r>
              <a:rPr sz="1150" b="0" i="0">
                <a:solidFill>
                  <a:srgbClr val="5F6770"/>
                </a:solidFill>
                <a:latin typeface="Arial"/>
                <a:ea typeface="Microsoft JhengHei"/>
              </a:rPr>
              <a:t>On this receipt PaddleOCR lost 4 fields: patient, registration no., treatment date and receipt no.</a:t>
            </a:r>
          </a:p>
        </p:txBody>
      </p:sp>
      <p:graphicFrame>
        <p:nvGraphicFramePr>
          <p:cNvPr id="15" name="Table 14"/>
          <p:cNvGraphicFramePr>
            <a:graphicFrameLocks noGrp="1"/>
          </p:cNvGraphicFramePr>
          <p:nvPr/>
        </p:nvGraphicFramePr>
        <p:xfrm>
          <a:off x="356616" y="3749039"/>
          <a:ext cx="11475720" cy="1645920"/>
        </p:xfrm>
        <a:graphic>
          <a:graphicData uri="http://schemas.openxmlformats.org/drawingml/2006/table">
            <a:tbl>
              <a:tblPr firstRow="0" bandRow="0">
                <a:tableStyleId>{2D5ABB26-0587-4C30-8999-92F81FD0307C}</a:tableStyleId>
              </a:tblPr>
              <a:tblGrid>
                <a:gridCol w="1691640"/>
                <a:gridCol w="1600200"/>
                <a:gridCol w="4709160"/>
                <a:gridCol w="3474720"/>
              </a:tblGrid>
              <a:tr h="38404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 value</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PaddleOCR read the label as…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Azure DI read it as…</a:t>
                      </a:r>
                    </a:p>
                  </a:txBody>
                  <a:tcPr marL="91440" marR="91440" marT="45720" marB="45720" anchor="ctr">
                    <a:lnL w="0">
                      <a:noFill/>
                    </a:lnL>
                    <a:lnR w="0">
                      <a:noFill/>
                    </a:lnR>
                    <a:lnT w="0">
                      <a:noFill/>
                    </a:lnT>
                    <a:lnB w="0">
                      <a:noFill/>
                    </a:lnB>
                    <a:solidFill>
                      <a:srgbClr val="333D47"/>
                    </a:solidFill>
                  </a:tcPr>
                </a:tc>
              </a:tr>
              <a:tr h="420624">
                <a:tc>
                  <a:txBody>
                    <a:bodyPr wrap="square"/>
                    <a:lstStyle/>
                    <a:p>
                      <a:pPr algn="l"/>
                      <a:r>
                        <a:rPr sz="1250" b="1" i="0">
                          <a:solidFill>
                            <a:srgbClr val="333D47"/>
                          </a:solidFill>
                          <a:latin typeface="Arial"/>
                          <a:ea typeface="Microsoft JhengHei"/>
                        </a:rPr>
                        <a:t>Registration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D03158</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00" b="1" i="0">
                          <a:solidFill>
                            <a:srgbClr val="D31145"/>
                          </a:solidFill>
                          <a:latin typeface="Arial"/>
                          <a:ea typeface="Microsoft JhengHei"/>
                        </a:rPr>
                        <a:t>✗ </a:t>
                      </a:r>
                      <a:r>
                        <a:rPr sz="1200" b="0" i="0">
                          <a:solidFill>
                            <a:srgbClr val="333D47"/>
                          </a:solidFill>
                          <a:latin typeface="Arial"/>
                          <a:ea typeface="Microsoft JhengHei"/>
                        </a:rPr>
                        <a:t>Reg.No.註冊編號</a:t>
                      </a:r>
                      <a:r>
                        <a:rPr sz="1050" b="0" i="1">
                          <a:solidFill>
                            <a:srgbClr val="5F6770"/>
                          </a:solidFill>
                          <a:latin typeface="Arial"/>
                          <a:ea typeface="Microsoft JhengHei"/>
                        </a:rPr>
                        <a:t>  words run together → 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00" b="1" i="0">
                          <a:solidFill>
                            <a:srgbClr val="1E7B4A"/>
                          </a:solidFill>
                          <a:latin typeface="Arial"/>
                          <a:ea typeface="Microsoft JhengHei"/>
                        </a:rPr>
                        <a:t>✓ </a:t>
                      </a:r>
                      <a:r>
                        <a:rPr sz="1200" b="0" i="0">
                          <a:solidFill>
                            <a:srgbClr val="333D47"/>
                          </a:solidFill>
                          <a:latin typeface="Arial"/>
                          <a:ea typeface="Microsoft JhengHei"/>
                        </a:rPr>
                        <a:t>Reg. No. 註冊編號</a:t>
                      </a:r>
                      <a:r>
                        <a:rPr sz="1050" b="0" i="1">
                          <a:solidFill>
                            <a:srgbClr val="5F6770"/>
                          </a:solidFill>
                          <a:latin typeface="Arial"/>
                          <a:ea typeface="Microsoft JhengHei"/>
                        </a:rPr>
                        <a:t>  → found</a:t>
                      </a:r>
                    </a:p>
                  </a:txBody>
                  <a:tcPr marL="91440" marR="91440" marT="45720" marB="45720" anchor="ctr">
                    <a:lnL w="0">
                      <a:noFill/>
                    </a:lnL>
                    <a:lnR w="0">
                      <a:noFill/>
                    </a:lnR>
                    <a:lnT w="0">
                      <a:noFill/>
                    </a:lnT>
                    <a:lnB w="19050" cmpd="sng">
                      <a:solidFill>
                        <a:srgbClr val="FFFFFF"/>
                      </a:solidFill>
                    </a:lnB>
                    <a:solidFill>
                      <a:srgbClr val="E6F2EA"/>
                    </a:solidFill>
                  </a:tcPr>
                </a:tc>
              </a:tr>
              <a:tr h="420624">
                <a:tc>
                  <a:txBody>
                    <a:bodyPr wrap="square"/>
                    <a:lstStyle/>
                    <a:p>
                      <a:pPr algn="l"/>
                      <a:r>
                        <a:rPr sz="1250" b="1" i="0">
                          <a:solidFill>
                            <a:srgbClr val="333D47"/>
                          </a:solidFill>
                          <a:latin typeface="Arial"/>
                          <a:ea typeface="Microsoft JhengHei"/>
                        </a:rPr>
                        <a:t>Treatment date</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27/06/2026</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00" b="1" i="0">
                          <a:solidFill>
                            <a:srgbClr val="D31145"/>
                          </a:solidFill>
                          <a:latin typeface="Arial"/>
                          <a:ea typeface="Microsoft JhengHei"/>
                        </a:rPr>
                        <a:t>✗ </a:t>
                      </a:r>
                      <a:r>
                        <a:rPr sz="1200" b="0" i="0">
                          <a:solidFill>
                            <a:srgbClr val="333D47"/>
                          </a:solidFill>
                          <a:latin typeface="Arial"/>
                          <a:ea typeface="Microsoft JhengHei"/>
                        </a:rPr>
                        <a:t>TreatmentDate治療日期</a:t>
                      </a:r>
                      <a:r>
                        <a:rPr sz="1050" b="0" i="1">
                          <a:solidFill>
                            <a:srgbClr val="5F6770"/>
                          </a:solidFill>
                          <a:latin typeface="Arial"/>
                          <a:ea typeface="Microsoft JhengHei"/>
                        </a:rPr>
                        <a:t>  words run together → 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00" b="1" i="0">
                          <a:solidFill>
                            <a:srgbClr val="1E7B4A"/>
                          </a:solidFill>
                          <a:latin typeface="Arial"/>
                          <a:ea typeface="Microsoft JhengHei"/>
                        </a:rPr>
                        <a:t>✓ </a:t>
                      </a:r>
                      <a:r>
                        <a:rPr sz="1200" b="0" i="0">
                          <a:solidFill>
                            <a:srgbClr val="333D47"/>
                          </a:solidFill>
                          <a:latin typeface="Arial"/>
                          <a:ea typeface="Microsoft JhengHei"/>
                        </a:rPr>
                        <a:t>Treatment Date 治療日期</a:t>
                      </a:r>
                      <a:r>
                        <a:rPr sz="1050" b="0" i="1">
                          <a:solidFill>
                            <a:srgbClr val="5F6770"/>
                          </a:solidFill>
                          <a:latin typeface="Arial"/>
                          <a:ea typeface="Microsoft JhengHei"/>
                        </a:rPr>
                        <a:t>  → found</a:t>
                      </a:r>
                    </a:p>
                  </a:txBody>
                  <a:tcPr marL="91440" marR="91440" marT="45720" marB="45720" anchor="ctr">
                    <a:lnL w="0">
                      <a:noFill/>
                    </a:lnL>
                    <a:lnR w="0">
                      <a:noFill/>
                    </a:lnR>
                    <a:lnT w="0">
                      <a:noFill/>
                    </a:lnT>
                    <a:lnB w="19050" cmpd="sng">
                      <a:solidFill>
                        <a:srgbClr val="FFFFFF"/>
                      </a:solidFill>
                    </a:lnB>
                    <a:solidFill>
                      <a:srgbClr val="E6F2EA"/>
                    </a:solidFill>
                  </a:tcPr>
                </a:tc>
              </a:tr>
              <a:tr h="420624">
                <a:tc>
                  <a:txBody>
                    <a:bodyPr wrap="square"/>
                    <a:lstStyle/>
                    <a:p>
                      <a:pPr algn="l"/>
                      <a:r>
                        <a:rPr sz="125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DEN-77342</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00" b="1" i="0">
                          <a:solidFill>
                            <a:srgbClr val="D31145"/>
                          </a:solidFill>
                          <a:latin typeface="Arial"/>
                          <a:ea typeface="Microsoft JhengHei"/>
                        </a:rPr>
                        <a:t>✗ </a:t>
                      </a:r>
                      <a:r>
                        <a:rPr sz="1200" b="0" i="0">
                          <a:solidFill>
                            <a:srgbClr val="333D47"/>
                          </a:solidFill>
                          <a:latin typeface="Arial"/>
                          <a:ea typeface="Microsoft JhengHei"/>
                        </a:rPr>
                        <a:t>Receipt No.收據编號</a:t>
                      </a:r>
                      <a:r>
                        <a:rPr sz="1050" b="0" i="1">
                          <a:solidFill>
                            <a:srgbClr val="5F6770"/>
                          </a:solidFill>
                          <a:latin typeface="Arial"/>
                          <a:ea typeface="Microsoft JhengHei"/>
                        </a:rPr>
                        <a:t>  编 read for 編 → 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00" b="1" i="0">
                          <a:solidFill>
                            <a:srgbClr val="1E7B4A"/>
                          </a:solidFill>
                          <a:latin typeface="Arial"/>
                          <a:ea typeface="Microsoft JhengHei"/>
                        </a:rPr>
                        <a:t>✓ </a:t>
                      </a:r>
                      <a:r>
                        <a:rPr sz="1200" b="0" i="0">
                          <a:solidFill>
                            <a:srgbClr val="333D47"/>
                          </a:solidFill>
                          <a:latin typeface="Arial"/>
                          <a:ea typeface="Microsoft JhengHei"/>
                        </a:rPr>
                        <a:t>Receipt No. 收據編號</a:t>
                      </a:r>
                      <a:r>
                        <a:rPr sz="1050" b="0" i="1">
                          <a:solidFill>
                            <a:srgbClr val="5F6770"/>
                          </a:solidFill>
                          <a:latin typeface="Arial"/>
                          <a:ea typeface="Microsoft JhengHei"/>
                        </a:rPr>
                        <a:t>  → found</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6" name="TextBox 15"/>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Same multilingual rules (retrospective baseline) on both engines. Receipt 5 is a bilingual dental receipt.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Why AOAI Beat the Rules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RETROSPECTIVE</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read the same Azure DI text. AOAI used the context; the rules followed fixed patterns.</a:t>
            </a:r>
          </a:p>
        </p:txBody>
      </p:sp>
      <p:pic>
        <p:nvPicPr>
          <p:cNvPr id="13" name="Picture 12" descr="crop_receipt6.jpg"/>
          <p:cNvPicPr>
            <a:picLocks noChangeAspect="1"/>
          </p:cNvPicPr>
          <p:nvPr/>
        </p:nvPicPr>
        <p:blipFill>
          <a:blip r:embed="rId3"/>
          <a:stretch>
            <a:fillRect/>
          </a:stretch>
        </p:blipFill>
        <p:spPr>
          <a:xfrm>
            <a:off x="356616" y="1737360"/>
            <a:ext cx="3908222" cy="2880360"/>
          </a:xfrm>
          <a:prstGeom prst="rect">
            <a:avLst/>
          </a:prstGeom>
          <a:ln w="9525">
            <a:solidFill>
              <a:srgbClr val="BFBFBF"/>
            </a:solidFill>
          </a:ln>
        </p:spPr>
      </p:pic>
      <p:graphicFrame>
        <p:nvGraphicFramePr>
          <p:cNvPr id="14" name="Table 13"/>
          <p:cNvGraphicFramePr>
            <a:graphicFrameLocks noGrp="1"/>
          </p:cNvGraphicFramePr>
          <p:nvPr/>
        </p:nvGraphicFramePr>
        <p:xfrm>
          <a:off x="4526280" y="1737360"/>
          <a:ext cx="7306056" cy="2798064"/>
        </p:xfrm>
        <a:graphic>
          <a:graphicData uri="http://schemas.openxmlformats.org/drawingml/2006/table">
            <a:tbl>
              <a:tblPr firstRow="0" bandRow="0">
                <a:tableStyleId>{2D5ABB26-0587-4C30-8999-92F81FD0307C}</a:tableStyleId>
              </a:tblPr>
              <a:tblGrid>
                <a:gridCol w="1234440"/>
                <a:gridCol w="1783080"/>
                <a:gridCol w="2240280"/>
                <a:gridCol w="2048256"/>
              </a:tblGrid>
              <a:tr h="384048">
                <a:tc>
                  <a:txBody>
                    <a:bodyPr wrap="square"/>
                    <a:lstStyle/>
                    <a:p>
                      <a:pPr algn="l"/>
                      <a:r>
                        <a:rPr sz="130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Rules</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AOAI</a:t>
                      </a:r>
                    </a:p>
                  </a:txBody>
                  <a:tcPr marL="91440" marR="91440" marT="45720" marB="45720" anchor="ctr">
                    <a:lnL w="0">
                      <a:noFill/>
                    </a:lnL>
                    <a:lnR w="0">
                      <a:noFill/>
                    </a:lnR>
                    <a:lnT w="0">
                      <a:noFill/>
                    </a:lnT>
                    <a:lnB w="0">
                      <a:noFill/>
                    </a:lnB>
                    <a:solidFill>
                      <a:srgbClr val="333D47"/>
                    </a:solidFill>
                  </a:tcPr>
                </a:tc>
              </a:tr>
              <a:tr h="603504">
                <a:tc>
                  <a:txBody>
                    <a:bodyPr wrap="square"/>
                    <a:lstStyle/>
                    <a:p>
                      <a:pPr algn="l"/>
                      <a:r>
                        <a:rPr sz="1250" b="1" i="0">
                          <a:solidFill>
                            <a:srgbClr val="333D47"/>
                          </a:solidFill>
                          <a:latin typeface="Arial"/>
                          <a:ea typeface="Microsoft JhengHei"/>
                        </a:rPr>
                        <a:t>Practitioner</a:t>
                      </a:r>
                    </a:p>
                    <a:p>
                      <a:pPr algn="l"/>
                      <a:r>
                        <a:rPr sz="1000" b="0" i="0">
                          <a:solidFill>
                            <a:srgbClr val="5F6770"/>
                          </a:solidFill>
                          <a:latin typeface="Arial"/>
                          <a:ea typeface="Microsoft JhengHei"/>
                        </a:rPr>
                        <a:t>Receipt 6</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CHEUNG Hoi Ying</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Dr. Kwok Man Hin</a:t>
                      </a:r>
                    </a:p>
                    <a:p>
                      <a:pPr algn="l"/>
                      <a:r>
                        <a:rPr sz="1000" b="0" i="1">
                          <a:solidFill>
                            <a:srgbClr val="5F6770"/>
                          </a:solidFill>
                          <a:latin typeface="Arial"/>
                          <a:ea typeface="Microsoft JhengHei"/>
                        </a:rPr>
                        <a:t>took the referring doctor</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CHEUNG Hoi Ying</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Service date</a:t>
                      </a:r>
                    </a:p>
                    <a:p>
                      <a:pPr algn="l"/>
                      <a:r>
                        <a:rPr sz="1000" b="0" i="0">
                          <a:solidFill>
                            <a:srgbClr val="5F6770"/>
                          </a:solidFill>
                          <a:latin typeface="Arial"/>
                          <a:ea typeface="Microsoft JhengHei"/>
                        </a:rPr>
                        <a:t>Receipt 6</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16 Jul 2026</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17 Jul 2026</a:t>
                      </a:r>
                    </a:p>
                    <a:p>
                      <a:pPr algn="l"/>
                      <a:r>
                        <a:rPr sz="1000" b="0" i="1">
                          <a:solidFill>
                            <a:srgbClr val="5F6770"/>
                          </a:solidFill>
                          <a:latin typeface="Arial"/>
                          <a:ea typeface="Microsoft JhengHei"/>
                        </a:rPr>
                        <a:t>took the date the receipt was issued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16 Jul 2026</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Total</a:t>
                      </a:r>
                    </a:p>
                    <a:p>
                      <a:pPr algn="l"/>
                      <a:r>
                        <a:rPr sz="1000" b="0" i="0">
                          <a:solidFill>
                            <a:srgbClr val="5F6770"/>
                          </a:solidFill>
                          <a:latin typeface="Arial"/>
                          <a:ea typeface="Microsoft JhengHei"/>
                        </a:rPr>
                        <a:t>Receipt 6</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HK$1,200</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not found</a:t>
                      </a:r>
                    </a:p>
                    <a:p>
                      <a:pPr algn="l"/>
                      <a:r>
                        <a:rPr sz="1000" b="0" i="1">
                          <a:solidFill>
                            <a:srgbClr val="5F6770"/>
                          </a:solidFill>
                          <a:latin typeface="Arial"/>
                          <a:ea typeface="Microsoft JhengHei"/>
                        </a:rPr>
                        <a:t>could not read the card layout</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HK$1,200</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Total</a:t>
                      </a:r>
                    </a:p>
                    <a:p>
                      <a:pPr algn="l"/>
                      <a:r>
                        <a:rPr sz="1000" b="0" i="0">
                          <a:solidFill>
                            <a:srgbClr val="5F6770"/>
                          </a:solidFill>
                          <a:latin typeface="Arial"/>
                          <a:ea typeface="Microsoft JhengHei"/>
                        </a:rPr>
                        <a:t>Receipt 5</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0" i="0">
                          <a:solidFill>
                            <a:srgbClr val="333D47"/>
                          </a:solidFill>
                          <a:latin typeface="Arial"/>
                          <a:ea typeface="Microsoft JhengHei"/>
                        </a:rPr>
                        <a:t>HK$1,575</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HK$1,750</a:t>
                      </a:r>
                    </a:p>
                    <a:p>
                      <a:pPr algn="l"/>
                      <a:r>
                        <a:rPr sz="1000" b="0" i="1">
                          <a:solidFill>
                            <a:srgbClr val="5F6770"/>
                          </a:solidFill>
                          <a:latin typeface="Arial"/>
                          <a:ea typeface="Microsoft JhengHei"/>
                        </a:rPr>
                        <a:t>added up the items, ignored the discount</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HK$1,575</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5" name="Rectangle 14"/>
          <p:cNvSpPr/>
          <p:nvPr/>
        </p:nvSpPr>
        <p:spPr>
          <a:xfrm>
            <a:off x="356616" y="4754880"/>
            <a:ext cx="5623560" cy="713232"/>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350" b="1" i="0">
                <a:solidFill>
                  <a:srgbClr val="333D47"/>
                </a:solidFill>
                <a:latin typeface="Arial"/>
                <a:ea typeface="Microsoft JhengHei"/>
              </a:rPr>
              <a:t>Rules: logic written case by case</a:t>
            </a:r>
          </a:p>
          <a:p>
            <a:pPr marL="0" indent="0" algn="l">
              <a:spcAft>
                <a:spcPts val="0"/>
              </a:spcAft>
              <a:buNone/>
            </a:pPr>
            <a:r>
              <a:rPr sz="1150" b="0" i="0">
                <a:solidFill>
                  <a:srgbClr val="333D47"/>
                </a:solidFill>
                <a:latin typeface="Arial"/>
                <a:ea typeface="Microsoft JhengHei"/>
              </a:rPr>
              <a:t>Unfamiliar labels, layouts or scenarios may need additional rules and retesting (tuning these 9 grew the rules from 69 to 225 label phrases).</a:t>
            </a:r>
          </a:p>
        </p:txBody>
      </p:sp>
      <p:sp>
        <p:nvSpPr>
          <p:cNvPr id="16" name="Rectangle 15"/>
          <p:cNvSpPr/>
          <p:nvPr/>
        </p:nvSpPr>
        <p:spPr>
          <a:xfrm>
            <a:off x="6208776" y="4754880"/>
            <a:ext cx="5623560" cy="713232"/>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200"/>
              </a:spcAft>
              <a:buNone/>
            </a:pPr>
            <a:r>
              <a:rPr sz="1350" b="1" i="0">
                <a:solidFill>
                  <a:srgbClr val="D31145"/>
                </a:solidFill>
                <a:latin typeface="Arial"/>
                <a:ea typeface="Microsoft JhengHei"/>
              </a:rPr>
              <a:t>AOAI: plain-language instructions</a:t>
            </a:r>
          </a:p>
          <a:p>
            <a:pPr marL="0" indent="0" algn="l">
              <a:spcAft>
                <a:spcPts val="0"/>
              </a:spcAft>
              <a:buNone/>
            </a:pPr>
            <a:r>
              <a:rPr sz="1150" b="0" i="0">
                <a:solidFill>
                  <a:srgbClr val="333D47"/>
                </a:solidFill>
                <a:latin typeface="Arial"/>
                <a:ea typeface="Microsoft JhengHei"/>
              </a:rPr>
              <a:t>Can often handle varied wording without new code (not guaranteed); one prompt revision fixed 4 fields and broke none.</a:t>
            </a:r>
          </a:p>
        </p:txBody>
      </p:sp>
      <p:sp>
        <p:nvSpPr>
          <p:cNvPr id="17" name="TextBox 16"/>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AOAI was right with its original prompt (written before these receipts) and with prompt v2. Rules = Azure DI + multilingual rules (retrospective baseline).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The Doctor Database Approach</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PROPOSAL · NOT BENCHMARKED</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Exact matching can identify registered doctor names in OCR text, but cannot determine who treated the patient.</a:t>
            </a:r>
          </a:p>
        </p:txBody>
      </p:sp>
      <p:sp>
        <p:nvSpPr>
          <p:cNvPr id="13" name="TextBox 12"/>
          <p:cNvSpPr txBox="1"/>
          <p:nvPr/>
        </p:nvSpPr>
        <p:spPr>
          <a:xfrm>
            <a:off x="356616" y="1737360"/>
            <a:ext cx="4160520" cy="365760"/>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The proposal</a:t>
            </a:r>
          </a:p>
        </p:txBody>
      </p:sp>
      <p:sp>
        <p:nvSpPr>
          <p:cNvPr id="14" name="Rectangle 13"/>
          <p:cNvSpPr/>
          <p:nvPr/>
        </p:nvSpPr>
        <p:spPr>
          <a:xfrm>
            <a:off x="356616" y="2148840"/>
            <a:ext cx="502920" cy="566928"/>
          </a:xfrm>
          <a:prstGeom prst="rect">
            <a:avLst/>
          </a:prstGeom>
          <a:solidFill>
            <a:srgbClr val="333D47"/>
          </a:solidFill>
          <a:ln>
            <a:noFill/>
          </a:ln>
        </p:spPr>
        <p:txBody>
          <a:bodyPr rtlCol="0" anchor="ctr" wrap="square" lIns="0" rIns="0" tIns="0" bIns="0"/>
          <a:lstStyle/>
          <a:p>
            <a:pPr algn="ctr" marL="0" indent="0">
              <a:spcAft>
                <a:spcPts val="0"/>
              </a:spcAft>
              <a:buNone/>
            </a:pPr>
            <a:r>
              <a:rPr sz="2000" b="1" i="0">
                <a:solidFill>
                  <a:srgbClr val="FFFFFF"/>
                </a:solidFill>
                <a:latin typeface="Arial"/>
                <a:ea typeface="Microsoft JhengHei"/>
              </a:rPr>
              <a:t>1</a:t>
            </a:r>
          </a:p>
        </p:txBody>
      </p:sp>
      <p:sp>
        <p:nvSpPr>
          <p:cNvPr id="15" name="Rectangle 14"/>
          <p:cNvSpPr/>
          <p:nvPr/>
        </p:nvSpPr>
        <p:spPr>
          <a:xfrm>
            <a:off x="932688" y="2148840"/>
            <a:ext cx="3584448" cy="566928"/>
          </a:xfrm>
          <a:prstGeom prst="rect">
            <a:avLst/>
          </a:prstGeom>
          <a:solidFill>
            <a:srgbClr val="F2F2F2"/>
          </a:solidFill>
          <a:ln>
            <a:noFill/>
          </a:ln>
        </p:spPr>
        <p:txBody>
          <a:bodyPr rtlCol="0" anchor="ctr" wrap="square" lIns="128016" rIns="128016" tIns="109728" bIns="109728"/>
          <a:lstStyle/>
          <a:p>
            <a:pPr algn="l" marL="0" indent="0">
              <a:spcAft>
                <a:spcPts val="0"/>
              </a:spcAft>
              <a:buNone/>
            </a:pPr>
            <a:r>
              <a:rPr sz="1350" b="1" i="0">
                <a:solidFill>
                  <a:srgbClr val="333D47"/>
                </a:solidFill>
                <a:latin typeface="Arial"/>
                <a:ea typeface="Microsoft JhengHei"/>
              </a:rPr>
              <a:t>OCR reads the receipt</a:t>
            </a:r>
          </a:p>
          <a:p>
            <a:pPr marL="0" indent="0" algn="l">
              <a:spcAft>
                <a:spcPts val="0"/>
              </a:spcAft>
              <a:buNone/>
            </a:pPr>
            <a:r>
              <a:rPr sz="1100" b="0" i="0">
                <a:solidFill>
                  <a:srgbClr val="5F6770"/>
                </a:solidFill>
                <a:latin typeface="Arial"/>
                <a:ea typeface="Microsoft JhengHei"/>
              </a:rPr>
              <a:t>Azure DI or PaddleOCR</a:t>
            </a:r>
          </a:p>
        </p:txBody>
      </p:sp>
      <p:sp>
        <p:nvSpPr>
          <p:cNvPr id="16" name="Rectangle 15"/>
          <p:cNvSpPr/>
          <p:nvPr/>
        </p:nvSpPr>
        <p:spPr>
          <a:xfrm>
            <a:off x="356616" y="2807208"/>
            <a:ext cx="502920" cy="566928"/>
          </a:xfrm>
          <a:prstGeom prst="rect">
            <a:avLst/>
          </a:prstGeom>
          <a:solidFill>
            <a:srgbClr val="333D47"/>
          </a:solidFill>
          <a:ln>
            <a:noFill/>
          </a:ln>
        </p:spPr>
        <p:txBody>
          <a:bodyPr rtlCol="0" anchor="ctr" wrap="square" lIns="0" rIns="0" tIns="0" bIns="0"/>
          <a:lstStyle/>
          <a:p>
            <a:pPr algn="ctr" marL="0" indent="0">
              <a:spcAft>
                <a:spcPts val="0"/>
              </a:spcAft>
              <a:buNone/>
            </a:pPr>
            <a:r>
              <a:rPr sz="2000" b="1" i="0">
                <a:solidFill>
                  <a:srgbClr val="FFFFFF"/>
                </a:solidFill>
                <a:latin typeface="Arial"/>
                <a:ea typeface="Microsoft JhengHei"/>
              </a:rPr>
              <a:t>2</a:t>
            </a:r>
          </a:p>
        </p:txBody>
      </p:sp>
      <p:sp>
        <p:nvSpPr>
          <p:cNvPr id="17" name="Rectangle 16"/>
          <p:cNvSpPr/>
          <p:nvPr/>
        </p:nvSpPr>
        <p:spPr>
          <a:xfrm>
            <a:off x="932688" y="2807208"/>
            <a:ext cx="3584448" cy="566928"/>
          </a:xfrm>
          <a:prstGeom prst="rect">
            <a:avLst/>
          </a:prstGeom>
          <a:solidFill>
            <a:srgbClr val="F2F2F2"/>
          </a:solidFill>
          <a:ln>
            <a:noFill/>
          </a:ln>
        </p:spPr>
        <p:txBody>
          <a:bodyPr rtlCol="0" anchor="ctr" wrap="square" lIns="128016" rIns="128016" tIns="109728" bIns="109728"/>
          <a:lstStyle/>
          <a:p>
            <a:pPr algn="l" marL="0" indent="0">
              <a:spcAft>
                <a:spcPts val="0"/>
              </a:spcAft>
              <a:buNone/>
            </a:pPr>
            <a:r>
              <a:rPr sz="1350" b="1" i="0">
                <a:solidFill>
                  <a:srgbClr val="333D47"/>
                </a:solidFill>
                <a:latin typeface="Arial"/>
                <a:ea typeface="Microsoft JhengHei"/>
              </a:rPr>
              <a:t>Match against the registry</a:t>
            </a:r>
          </a:p>
          <a:p>
            <a:pPr marL="0" indent="0" algn="l">
              <a:spcAft>
                <a:spcPts val="0"/>
              </a:spcAft>
              <a:buNone/>
            </a:pPr>
            <a:r>
              <a:rPr sz="1100" b="0" i="0">
                <a:solidFill>
                  <a:srgbClr val="5F6770"/>
                </a:solidFill>
                <a:latin typeface="Arial"/>
                <a:ea typeface="Microsoft JhengHei"/>
              </a:rPr>
              <a:t>~40,000 doctors · ~80,000 English and Chinese name variants</a:t>
            </a:r>
          </a:p>
        </p:txBody>
      </p:sp>
      <p:sp>
        <p:nvSpPr>
          <p:cNvPr id="18" name="Rectangle 17"/>
          <p:cNvSpPr/>
          <p:nvPr/>
        </p:nvSpPr>
        <p:spPr>
          <a:xfrm>
            <a:off x="356616" y="3465576"/>
            <a:ext cx="502920" cy="566928"/>
          </a:xfrm>
          <a:prstGeom prst="rect">
            <a:avLst/>
          </a:prstGeom>
          <a:solidFill>
            <a:srgbClr val="333D47"/>
          </a:solidFill>
          <a:ln>
            <a:noFill/>
          </a:ln>
        </p:spPr>
        <p:txBody>
          <a:bodyPr rtlCol="0" anchor="ctr" wrap="square" lIns="0" rIns="0" tIns="0" bIns="0"/>
          <a:lstStyle/>
          <a:p>
            <a:pPr algn="ctr" marL="0" indent="0">
              <a:spcAft>
                <a:spcPts val="0"/>
              </a:spcAft>
              <a:buNone/>
            </a:pPr>
            <a:r>
              <a:rPr sz="2000" b="1" i="0">
                <a:solidFill>
                  <a:srgbClr val="FFFFFF"/>
                </a:solidFill>
                <a:latin typeface="Arial"/>
                <a:ea typeface="Microsoft JhengHei"/>
              </a:rPr>
              <a:t>3</a:t>
            </a:r>
          </a:p>
        </p:txBody>
      </p:sp>
      <p:sp>
        <p:nvSpPr>
          <p:cNvPr id="19" name="Rectangle 18"/>
          <p:cNvSpPr/>
          <p:nvPr/>
        </p:nvSpPr>
        <p:spPr>
          <a:xfrm>
            <a:off x="932688" y="3465576"/>
            <a:ext cx="3584448" cy="566928"/>
          </a:xfrm>
          <a:prstGeom prst="rect">
            <a:avLst/>
          </a:prstGeom>
          <a:solidFill>
            <a:srgbClr val="F2F2F2"/>
          </a:solidFill>
          <a:ln>
            <a:noFill/>
          </a:ln>
        </p:spPr>
        <p:txBody>
          <a:bodyPr rtlCol="0" anchor="ctr" wrap="square" lIns="128016" rIns="128016" tIns="109728" bIns="109728"/>
          <a:lstStyle/>
          <a:p>
            <a:pPr algn="l" marL="0" indent="0">
              <a:spcAft>
                <a:spcPts val="0"/>
              </a:spcAft>
              <a:buNone/>
            </a:pPr>
            <a:r>
              <a:rPr sz="1350" b="1" i="0">
                <a:solidFill>
                  <a:srgbClr val="333D47"/>
                </a:solidFill>
                <a:latin typeface="Arial"/>
                <a:ea typeface="Microsoft JhengHei"/>
              </a:rPr>
              <a:t>Strict exact match</a:t>
            </a:r>
          </a:p>
          <a:p>
            <a:pPr marL="0" indent="0" algn="l">
              <a:spcAft>
                <a:spcPts val="0"/>
              </a:spcAft>
              <a:buNone/>
            </a:pPr>
            <a:r>
              <a:rPr sz="1100" b="0" i="0">
                <a:solidFill>
                  <a:srgbClr val="5F6770"/>
                </a:solidFill>
                <a:latin typeface="Arial"/>
                <a:ea typeface="Microsoft JhengHei"/>
              </a:rPr>
              <a:t>No fuzzy matching, no AI</a:t>
            </a:r>
          </a:p>
        </p:txBody>
      </p:sp>
      <p:sp>
        <p:nvSpPr>
          <p:cNvPr id="20" name="Rectangle 19"/>
          <p:cNvSpPr/>
          <p:nvPr/>
        </p:nvSpPr>
        <p:spPr>
          <a:xfrm>
            <a:off x="356616" y="4187952"/>
            <a:ext cx="4160520" cy="621792"/>
          </a:xfrm>
          <a:prstGeom prst="rect">
            <a:avLst/>
          </a:prstGeom>
          <a:solidFill>
            <a:srgbClr val="E6F2EA"/>
          </a:solidFill>
          <a:ln>
            <a:noFill/>
          </a:ln>
        </p:spPr>
        <p:txBody>
          <a:bodyPr rtlCol="0" anchor="ctr" wrap="square" lIns="128016" rIns="128016" tIns="109728" bIns="109728"/>
          <a:lstStyle/>
          <a:p>
            <a:pPr algn="l" marL="0" indent="0">
              <a:spcAft>
                <a:spcPts val="200"/>
              </a:spcAft>
              <a:buNone/>
            </a:pPr>
            <a:r>
              <a:rPr sz="1200" b="1" i="0">
                <a:solidFill>
                  <a:srgbClr val="1E7B4A"/>
                </a:solidFill>
                <a:latin typeface="Arial"/>
                <a:ea typeface="Microsoft JhengHei"/>
              </a:rPr>
              <a:t>Straightforward; no experiment needed</a:t>
            </a:r>
          </a:p>
          <a:p>
            <a:pPr marL="0" indent="0" algn="l">
              <a:spcAft>
                <a:spcPts val="0"/>
              </a:spcAft>
              <a:buNone/>
            </a:pPr>
            <a:r>
              <a:rPr sz="1150" b="0" i="0">
                <a:solidFill>
                  <a:srgbClr val="333D47"/>
                </a:solidFill>
                <a:latin typeface="Arial"/>
                <a:ea typeface="Microsoft JhengHei"/>
              </a:rPr>
              <a:t>Low cost · Deterministic · Easy to verify</a:t>
            </a:r>
          </a:p>
        </p:txBody>
      </p:sp>
      <p:sp>
        <p:nvSpPr>
          <p:cNvPr id="21" name="Rectangle 20"/>
          <p:cNvSpPr/>
          <p:nvPr/>
        </p:nvSpPr>
        <p:spPr>
          <a:xfrm>
            <a:off x="356616" y="4873752"/>
            <a:ext cx="4160520" cy="502920"/>
          </a:xfrm>
          <a:prstGeom prst="rect">
            <a:avLst/>
          </a:prstGeom>
          <a:solidFill>
            <a:srgbClr val="F2F2F2"/>
          </a:solidFill>
          <a:ln>
            <a:noFill/>
          </a:ln>
        </p:spPr>
        <p:txBody>
          <a:bodyPr rtlCol="0" anchor="ctr" wrap="square" lIns="128016" rIns="128016" tIns="109728" bIns="109728"/>
          <a:lstStyle/>
          <a:p>
            <a:pPr algn="l" marL="0" indent="0">
              <a:spcAft>
                <a:spcPts val="0"/>
              </a:spcAft>
              <a:buNone/>
            </a:pPr>
            <a:r>
              <a:rPr sz="1150" b="1" i="0">
                <a:solidFill>
                  <a:srgbClr val="333D47"/>
                </a:solidFill>
                <a:latin typeface="Arial"/>
                <a:ea typeface="Microsoft JhengHei"/>
              </a:rPr>
              <a:t>Only works if </a:t>
            </a:r>
            <a:r>
              <a:rPr sz="1150" b="0" i="0">
                <a:solidFill>
                  <a:srgbClr val="333D47"/>
                </a:solidFill>
                <a:latin typeface="Arial"/>
                <a:ea typeface="Microsoft JhengHei"/>
              </a:rPr>
              <a:t>the OCR reads the name exactly and the registry contains that practitioner.</a:t>
            </a:r>
          </a:p>
        </p:txBody>
      </p:sp>
      <p:sp>
        <p:nvSpPr>
          <p:cNvPr id="22" name="TextBox 21"/>
          <p:cNvSpPr txBox="1"/>
          <p:nvPr/>
        </p:nvSpPr>
        <p:spPr>
          <a:xfrm>
            <a:off x="4800600" y="1737360"/>
            <a:ext cx="7031736" cy="365760"/>
          </a:xfrm>
          <a:prstGeom prst="rect">
            <a:avLst/>
          </a:prstGeom>
          <a:noFill/>
        </p:spPr>
        <p:txBody>
          <a:bodyPr wrap="square" lIns="0" rIns="0" tIns="0" bIns="0" anchor="ctr"/>
          <a:lstStyle/>
          <a:p>
            <a:pPr marL="0" indent="0" algn="l">
              <a:spcAft>
                <a:spcPts val="0"/>
              </a:spcAft>
              <a:buNone/>
            </a:pPr>
            <a:r>
              <a:rPr sz="1500" b="1" i="0">
                <a:solidFill>
                  <a:srgbClr val="D31145"/>
                </a:solidFill>
                <a:latin typeface="Arial"/>
                <a:ea typeface="Microsoft JhengHei"/>
              </a:rPr>
              <a:t>But a name match is not the treating doctor</a:t>
            </a:r>
          </a:p>
        </p:txBody>
      </p:sp>
      <p:graphicFrame>
        <p:nvGraphicFramePr>
          <p:cNvPr id="23" name="Table 22"/>
          <p:cNvGraphicFramePr>
            <a:graphicFrameLocks noGrp="1"/>
          </p:cNvGraphicFramePr>
          <p:nvPr/>
        </p:nvGraphicFramePr>
        <p:xfrm>
          <a:off x="4800600" y="2148840"/>
          <a:ext cx="7031736" cy="1700784"/>
        </p:xfrm>
        <a:graphic>
          <a:graphicData uri="http://schemas.openxmlformats.org/drawingml/2006/table">
            <a:tbl>
              <a:tblPr firstRow="0" bandRow="0">
                <a:tableStyleId>{2D5ABB26-0587-4C30-8999-92F81FD0307C}</a:tableStyleId>
              </a:tblPr>
              <a:tblGrid>
                <a:gridCol w="2377440"/>
                <a:gridCol w="4654296"/>
              </a:tblGrid>
              <a:tr h="329184">
                <a:tc gridSpan="2">
                  <a:txBody>
                    <a:bodyPr wrap="square"/>
                    <a:lstStyle/>
                    <a:p>
                      <a:pPr algn="l"/>
                      <a:r>
                        <a:rPr sz="1200" b="1" i="0">
                          <a:solidFill>
                            <a:srgbClr val="FFFFFF"/>
                          </a:solidFill>
                          <a:latin typeface="Arial"/>
                          <a:ea typeface="Microsoft JhengHei"/>
                        </a:rPr>
                        <a:t>Seen in our receipts</a:t>
                      </a:r>
                    </a:p>
                  </a:txBody>
                  <a:tcPr marL="91440" marR="91440" marT="45720" marB="45720" anchor="ctr">
                    <a:lnL w="0">
                      <a:noFill/>
                    </a:lnL>
                    <a:lnR w="0">
                      <a:noFill/>
                    </a:lnR>
                    <a:lnT w="0">
                      <a:noFill/>
                    </a:lnT>
                    <a:lnB w="0">
                      <a:noFill/>
                    </a:lnB>
                    <a:solidFill>
                      <a:srgbClr val="333D47"/>
                    </a:solidFill>
                  </a:tcPr>
                </a:tc>
                <a:tc hMerge="1">
                  <a:txBody>
                    <a:bodyPr wrap="square"/>
                    <a:lstStyle/>
                    <a:p>
                      <a:pPr algn="l"/>
                      <a:r>
                        <a:rPr sz="12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200" b="1" i="0">
                          <a:solidFill>
                            <a:srgbClr val="333D47"/>
                          </a:solidFill>
                          <a:latin typeface="Arial"/>
                          <a:ea typeface="Microsoft JhengHei"/>
                        </a:rPr>
                        <a:t>Referring doctor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Receipt 6: “Referred by Dr. Kwok Man Hin”; the treatment was by a physiotherapist (also receipt 2)</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200" b="1" i="0">
                          <a:solidFill>
                            <a:srgbClr val="333D47"/>
                          </a:solidFill>
                          <a:latin typeface="Arial"/>
                          <a:ea typeface="Microsoft JhengHei"/>
                        </a:rPr>
                        <a:t>Several doctors or staff</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Receipt 8: a doctor and a nurse. Vet invoice: a clinician and a signing vet</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200" b="1" i="0">
                          <a:solidFill>
                            <a:srgbClr val="333D47"/>
                          </a:solidFill>
                          <a:latin typeface="Arial"/>
                          <a:ea typeface="Microsoft JhengHei"/>
                        </a:rPr>
                        <a:t>OCR misreads the name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Signature “Dr. Lok Yi Choi” read as “Dr. Lok Vichol”: no exact match</a:t>
                      </a:r>
                    </a:p>
                  </a:txBody>
                  <a:tcPr marL="91440" marR="91440" marT="45720" marB="45720" anchor="ctr">
                    <a:lnL w="0">
                      <a:noFill/>
                    </a:lnL>
                    <a:lnR w="0">
                      <a:noFill/>
                    </a:lnR>
                    <a:lnT w="0">
                      <a:noFill/>
                    </a:lnT>
                    <a:lnB w="9525" cmpd="sng">
                      <a:solidFill>
                        <a:srgbClr val="BFBFBF"/>
                      </a:solidFill>
                    </a:lnB>
                    <a:noFill/>
                  </a:tcPr>
                </a:tc>
              </a:tr>
            </a:tbl>
          </a:graphicData>
        </a:graphic>
      </p:graphicFrame>
      <p:graphicFrame>
        <p:nvGraphicFramePr>
          <p:cNvPr id="24" name="Table 23"/>
          <p:cNvGraphicFramePr>
            <a:graphicFrameLocks noGrp="1"/>
          </p:cNvGraphicFramePr>
          <p:nvPr/>
        </p:nvGraphicFramePr>
        <p:xfrm>
          <a:off x="4800600" y="4032504"/>
          <a:ext cx="7031736" cy="1243584"/>
        </p:xfrm>
        <a:graphic>
          <a:graphicData uri="http://schemas.openxmlformats.org/drawingml/2006/table">
            <a:tbl>
              <a:tblPr firstRow="0" bandRow="0">
                <a:tableStyleId>{2D5ABB26-0587-4C30-8999-92F81FD0307C}</a:tableStyleId>
              </a:tblPr>
              <a:tblGrid>
                <a:gridCol w="2377440"/>
                <a:gridCol w="4654296"/>
              </a:tblGrid>
              <a:tr h="329184">
                <a:tc gridSpan="2">
                  <a:txBody>
                    <a:bodyPr wrap="square"/>
                    <a:lstStyle/>
                    <a:p>
                      <a:pPr algn="l"/>
                      <a:r>
                        <a:rPr sz="1200" b="1" i="0">
                          <a:solidFill>
                            <a:srgbClr val="FFFFFF"/>
                          </a:solidFill>
                          <a:latin typeface="Arial"/>
                          <a:ea typeface="Microsoft JhengHei"/>
                        </a:rPr>
                        <a:t>Hypothetical (not in our receipts)</a:t>
                      </a:r>
                    </a:p>
                  </a:txBody>
                  <a:tcPr marL="91440" marR="91440" marT="45720" marB="45720" anchor="ctr">
                    <a:lnL w="0">
                      <a:noFill/>
                    </a:lnL>
                    <a:lnR w="0">
                      <a:noFill/>
                    </a:lnR>
                    <a:lnT w="0">
                      <a:noFill/>
                    </a:lnT>
                    <a:lnB w="0">
                      <a:noFill/>
                    </a:lnB>
                    <a:solidFill>
                      <a:srgbClr val="333D47"/>
                    </a:solidFill>
                  </a:tcPr>
                </a:tc>
                <a:tc hMerge="1">
                  <a:txBody>
                    <a:bodyPr wrap="square"/>
                    <a:lstStyle/>
                    <a:p>
                      <a:pPr algn="l"/>
                      <a:r>
                        <a:rPr sz="12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200" b="1" i="0">
                          <a:solidFill>
                            <a:srgbClr val="333D47"/>
                          </a:solidFill>
                          <a:latin typeface="Arial"/>
                          <a:ea typeface="Microsoft JhengHei"/>
                        </a:rPr>
                        <a:t>Patient is a registered doctor</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l"/>
                      <a:r>
                        <a:rPr sz="1100" b="0" i="1">
                          <a:solidFill>
                            <a:srgbClr val="5F6770"/>
                          </a:solidFill>
                          <a:latin typeface="Arial"/>
                          <a:ea typeface="Microsoft JhengHei"/>
                        </a:rPr>
                        <a:t>The patient's own name matches the registry</a:t>
                      </a:r>
                    </a:p>
                  </a:txBody>
                  <a:tcPr marL="91440" marR="91440" marT="45720" marB="45720" anchor="ctr">
                    <a:lnL w="0">
                      <a:noFill/>
                    </a:lnL>
                    <a:lnR w="0">
                      <a:noFill/>
                    </a:lnR>
                    <a:lnT w="0">
                      <a:noFill/>
                    </a:lnT>
                    <a:lnB w="9525" cmpd="sng">
                      <a:solidFill>
                        <a:srgbClr val="BFBFBF"/>
                      </a:solidFill>
                    </a:lnB>
                    <a:solidFill>
                      <a:srgbClr val="F2F2F2"/>
                    </a:solidFill>
                  </a:tcPr>
                </a:tc>
              </a:tr>
              <a:tr h="457200">
                <a:tc>
                  <a:txBody>
                    <a:bodyPr wrap="square"/>
                    <a:lstStyle/>
                    <a:p>
                      <a:pPr algn="l"/>
                      <a:r>
                        <a:rPr sz="1200" b="1" i="0">
                          <a:solidFill>
                            <a:srgbClr val="333D47"/>
                          </a:solidFill>
                          <a:latin typeface="Arial"/>
                          <a:ea typeface="Microsoft JhengHei"/>
                        </a:rPr>
                        <a:t>Clinic director in the header</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l"/>
                      <a:r>
                        <a:rPr sz="1100" b="0" i="1">
                          <a:solidFill>
                            <a:srgbClr val="5F6770"/>
                          </a:solidFill>
                          <a:latin typeface="Arial"/>
                          <a:ea typeface="Microsoft JhengHei"/>
                        </a:rPr>
                        <a:t>A director's name printed in the letterhead</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25" name="TextBox 24"/>
          <p:cNvSpPr txBox="1"/>
          <p:nvPr/>
        </p:nvSpPr>
        <p:spPr>
          <a:xfrm>
            <a:off x="356616" y="54864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AOAI reads context such as “Referred by” (slide 6) but has not been tested on these cases. Names on our test receipts are fictional, so registry match rates were not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Advantages and Disadvantages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win on cost, auditability and predictability; AOAI on accuracy, maintenance and flexibility.</a:t>
            </a:r>
          </a:p>
        </p:txBody>
      </p:sp>
      <p:graphicFrame>
        <p:nvGraphicFramePr>
          <p:cNvPr id="12" name="Table 11"/>
          <p:cNvGraphicFramePr>
            <a:graphicFrameLocks noGrp="1"/>
          </p:cNvGraphicFramePr>
          <p:nvPr/>
        </p:nvGraphicFramePr>
        <p:xfrm>
          <a:off x="356616" y="1783080"/>
          <a:ext cx="11475720" cy="3639312"/>
        </p:xfrm>
        <a:graphic>
          <a:graphicData uri="http://schemas.openxmlformats.org/drawingml/2006/table">
            <a:tbl>
              <a:tblPr firstRow="0" bandRow="0">
                <a:tableStyleId>{2D5ABB26-0587-4C30-8999-92F81FD0307C}</a:tableStyleId>
              </a:tblPr>
              <a:tblGrid>
                <a:gridCol w="1600200"/>
                <a:gridCol w="4251960"/>
                <a:gridCol w="4251960"/>
                <a:gridCol w="1371600"/>
              </a:tblGrid>
              <a:tr h="438912">
                <a:tc>
                  <a:txBody>
                    <a:bodyPr wrap="square"/>
                    <a:lstStyle/>
                    <a:p>
                      <a:pPr algn="l"/>
                      <a:r>
                        <a:rPr sz="14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OCR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Evidence</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300" b="1" i="0">
                          <a:solidFill>
                            <a:srgbClr val="333D47"/>
                          </a:solidFill>
                          <a:latin typeface="Arial"/>
                          <a:ea typeface="Microsoft JhengHei"/>
                        </a:rPr>
                        <a:t>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PaddleOCR: own compute, no API fee (Azure DI: page fee)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Azure DI page fee + ~962 input / 243 output tokens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Prices to confirm</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Speed</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PaddleOCR 13.9 s (CPU) · Azure DI 3.8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6.4 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Accuracy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− 51.0–70.6% with multilingual rules (retrospective)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+ 96.1% with prompt v2 (development result)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Maintenance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Unfamiliar labels or layouts may require additional rules and retesting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Many changes made in plain-language instructions; still retest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Flexibility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Finds only what it was written for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fields can be requested in the prompt (not yet benchmarked)</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Auditability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Every result traceable to a rule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Harder to explain; keep quoted evidence and logs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Reliability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Same input, same output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Can return a confident wrong value (e.g. a sub total as the total); model updates need retesting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864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Green = stronger side. Multilingual rules include common Chinese labels (retrospective baseline). Expected = not measured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Beyond Six Fields: From Receipts to Insights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D31145"/>
            </a:solidFill>
          </a:ln>
        </p:spPr>
        <p:txBody>
          <a:bodyPr rtlCol="0" anchor="ctr" lIns="45720" rIns="45720" tIns="0" bIns="0"/>
          <a:lstStyle/>
          <a:p>
            <a:pPr algn="ctr"/>
            <a:r>
              <a:rPr sz="1050" b="1">
                <a:solidFill>
                  <a:srgbClr val="D31145"/>
                </a:solidFill>
                <a:latin typeface="Arial"/>
                <a:ea typeface="Microsoft JhengHei"/>
              </a:rPr>
              <a:t>POTENTIAL · NOT YET TESTED</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Today we extract 6 fields. AOAI could also capture what was treated, tested and prescribed.</a:t>
            </a:r>
          </a:p>
        </p:txBody>
      </p:sp>
      <p:sp>
        <p:nvSpPr>
          <p:cNvPr id="13" name="TextBox 12"/>
          <p:cNvSpPr txBox="1"/>
          <p:nvPr/>
        </p:nvSpPr>
        <p:spPr>
          <a:xfrm>
            <a:off x="356616" y="1691640"/>
            <a:ext cx="3611880" cy="329184"/>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1. What the receipt shows</a:t>
            </a:r>
          </a:p>
        </p:txBody>
      </p:sp>
      <p:sp>
        <p:nvSpPr>
          <p:cNvPr id="14" name="TextBox 13"/>
          <p:cNvSpPr txBox="1"/>
          <p:nvPr/>
        </p:nvSpPr>
        <p:spPr>
          <a:xfrm>
            <a:off x="4343400" y="1691640"/>
            <a:ext cx="3657600" cy="329184"/>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2. What AOAI could extract</a:t>
            </a:r>
          </a:p>
        </p:txBody>
      </p:sp>
      <p:sp>
        <p:nvSpPr>
          <p:cNvPr id="15" name="TextBox 14"/>
          <p:cNvSpPr txBox="1"/>
          <p:nvPr/>
        </p:nvSpPr>
        <p:spPr>
          <a:xfrm>
            <a:off x="8366760" y="1691640"/>
            <a:ext cx="3465576" cy="329184"/>
          </a:xfrm>
          <a:prstGeom prst="rect">
            <a:avLst/>
          </a:prstGeom>
          <a:noFill/>
        </p:spPr>
        <p:txBody>
          <a:bodyPr wrap="square" lIns="0" rIns="0" tIns="0" bIns="0" anchor="ctr"/>
          <a:lstStyle/>
          <a:p>
            <a:pPr marL="0" indent="0" algn="l">
              <a:spcAft>
                <a:spcPts val="0"/>
              </a:spcAft>
              <a:buNone/>
            </a:pPr>
            <a:r>
              <a:rPr sz="1400" b="1" i="0">
                <a:solidFill>
                  <a:srgbClr val="333D47"/>
                </a:solidFill>
                <a:latin typeface="Arial"/>
                <a:ea typeface="Microsoft JhengHei"/>
              </a:rPr>
              <a:t>3. What we could analyse</a:t>
            </a:r>
          </a:p>
        </p:txBody>
      </p:sp>
      <p:pic>
        <p:nvPicPr>
          <p:cNvPr id="16" name="Picture 15" descr="crop_receipt3_items.jpg"/>
          <p:cNvPicPr>
            <a:picLocks noChangeAspect="1"/>
          </p:cNvPicPr>
          <p:nvPr/>
        </p:nvPicPr>
        <p:blipFill>
          <a:blip r:embed="rId3"/>
          <a:stretch>
            <a:fillRect/>
          </a:stretch>
        </p:blipFill>
        <p:spPr>
          <a:xfrm>
            <a:off x="356616" y="2103120"/>
            <a:ext cx="3611880" cy="1905676"/>
          </a:xfrm>
          <a:prstGeom prst="rect">
            <a:avLst/>
          </a:prstGeom>
          <a:ln w="9525">
            <a:solidFill>
              <a:srgbClr val="BFBFBF"/>
            </a:solidFill>
          </a:ln>
        </p:spPr>
      </p:pic>
      <p:sp>
        <p:nvSpPr>
          <p:cNvPr id="17" name="Right Arrow 16"/>
          <p:cNvSpPr/>
          <p:nvPr/>
        </p:nvSpPr>
        <p:spPr>
          <a:xfrm>
            <a:off x="4005072" y="3154680"/>
            <a:ext cx="301752" cy="329184"/>
          </a:xfrm>
          <a:prstGeom prst="rightArrow">
            <a:avLst/>
          </a:prstGeom>
          <a:solidFill>
            <a:srgbClr val="8C939A"/>
          </a:solidFill>
          <a:ln>
            <a:noFill/>
          </a:ln>
        </p:spPr>
        <p:txBody>
          <a:bodyPr rtlCol="0" anchor="ctr"/>
          <a:lstStyle/>
          <a:p>
            <a:pPr algn="ctr"/>
          </a:p>
        </p:txBody>
      </p:sp>
      <p:graphicFrame>
        <p:nvGraphicFramePr>
          <p:cNvPr id="18" name="Table 17"/>
          <p:cNvGraphicFramePr>
            <a:graphicFrameLocks noGrp="1"/>
          </p:cNvGraphicFramePr>
          <p:nvPr/>
        </p:nvGraphicFramePr>
        <p:xfrm>
          <a:off x="4343400" y="2103120"/>
          <a:ext cx="3657600" cy="2249424"/>
        </p:xfrm>
        <a:graphic>
          <a:graphicData uri="http://schemas.openxmlformats.org/drawingml/2006/table">
            <a:tbl>
              <a:tblPr firstRow="0" bandRow="0">
                <a:tableStyleId>{2D5ABB26-0587-4C30-8999-92F81FD0307C}</a:tableStyleId>
              </a:tblPr>
              <a:tblGrid>
                <a:gridCol w="1645920"/>
                <a:gridCol w="1234440"/>
                <a:gridCol w="777240"/>
              </a:tblGrid>
              <a:tr h="420624">
                <a:tc>
                  <a:txBody>
                    <a:bodyPr wrap="square"/>
                    <a:lstStyle/>
                    <a:p>
                      <a:pPr algn="l"/>
                      <a:r>
                        <a:rPr sz="1200" b="1" i="0">
                          <a:solidFill>
                            <a:srgbClr val="FFFFFF"/>
                          </a:solidFill>
                          <a:latin typeface="Arial"/>
                          <a:ea typeface="Microsoft JhengHei"/>
                        </a:rPr>
                        <a:t>Item</a:t>
                      </a:r>
                    </a:p>
                  </a:txBody>
                  <a:tcPr marL="91440" marR="91440" marT="45720" marB="45720" anchor="ctr">
                    <a:lnL w="0">
                      <a:noFill/>
                    </a:lnL>
                    <a:lnR w="0">
                      <a:noFill/>
                    </a:lnR>
                    <a:lnT w="0">
                      <a:noFill/>
                    </a:lnT>
                    <a:lnB w="0">
                      <a:noFill/>
                    </a:lnB>
                    <a:solidFill>
                      <a:srgbClr val="333D47"/>
                    </a:solidFill>
                  </a:tcPr>
                </a:tc>
                <a:tc>
                  <a:txBody>
                    <a:bodyPr wrap="square"/>
                    <a:lstStyle/>
                    <a:p>
                      <a:pPr algn="l"/>
                      <a:r>
                        <a:rPr sz="1200" b="1" i="0">
                          <a:solidFill>
                            <a:srgbClr val="FFFFFF"/>
                          </a:solidFill>
                          <a:latin typeface="Arial"/>
                          <a:ea typeface="Microsoft JhengHei"/>
                        </a:rPr>
                        <a:t>Type</a:t>
                      </a:r>
                    </a:p>
                  </a:txBody>
                  <a:tcPr marL="91440" marR="91440" marT="45720" marB="45720" anchor="ctr">
                    <a:lnL w="0">
                      <a:noFill/>
                    </a:lnL>
                    <a:lnR w="0">
                      <a:noFill/>
                    </a:lnR>
                    <a:lnT w="0">
                      <a:noFill/>
                    </a:lnT>
                    <a:lnB w="0">
                      <a:noFill/>
                    </a:lnB>
                    <a:solidFill>
                      <a:srgbClr val="333D47"/>
                    </a:solidFill>
                  </a:tcPr>
                </a:tc>
                <a:tc>
                  <a:txBody>
                    <a:bodyPr wrap="square"/>
                    <a:lstStyle/>
                    <a:p>
                      <a:pPr algn="r"/>
                      <a:r>
                        <a:rPr sz="1200" b="1" i="0">
                          <a:solidFill>
                            <a:srgbClr val="FFFFFF"/>
                          </a:solidFill>
                          <a:latin typeface="Arial"/>
                          <a:ea typeface="Microsoft JhengHei"/>
                        </a:rPr>
                        <a:t>HK$</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200" b="0" i="0">
                          <a:solidFill>
                            <a:srgbClr val="333D47"/>
                          </a:solidFill>
                          <a:latin typeface="Arial"/>
                          <a:ea typeface="Microsoft JhengHei"/>
                        </a:rPr>
                        <a:t>Specialist consultation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ea typeface="Microsoft JhengHei"/>
                        </a:rPr>
                        <a:t>Consultation</a:t>
                      </a:r>
                    </a:p>
                  </a:txBody>
                  <a:tcPr marL="91440" marR="91440" marT="45720" marB="45720" anchor="ctr">
                    <a:lnL w="0">
                      <a:noFill/>
                    </a:lnL>
                    <a:lnR w="0">
                      <a:noFill/>
                    </a:lnR>
                    <a:lnT w="0">
                      <a:noFill/>
                    </a:lnT>
                    <a:lnB w="9525" cmpd="sng">
                      <a:solidFill>
                        <a:srgbClr val="BFBFBF"/>
                      </a:solidFill>
                    </a:lnB>
                    <a:noFill/>
                  </a:tcPr>
                </a:tc>
                <a:tc>
                  <a:txBody>
                    <a:bodyPr wrap="square"/>
                    <a:lstStyle/>
                    <a:p>
                      <a:pPr algn="r"/>
                      <a:r>
                        <a:rPr sz="1200" b="0" i="0">
                          <a:solidFill>
                            <a:srgbClr val="333D47"/>
                          </a:solidFill>
                          <a:latin typeface="Arial"/>
                          <a:ea typeface="Microsoft JhengHei"/>
                        </a:rPr>
                        <a:t>950.00</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200" b="0" i="0">
                          <a:solidFill>
                            <a:srgbClr val="333D47"/>
                          </a:solidFill>
                          <a:latin typeface="Arial"/>
                          <a:ea typeface="Microsoft JhengHei"/>
                        </a:rPr>
                        <a:t>Chest X-ray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ea typeface="Microsoft JhengHei"/>
                        </a:rPr>
                        <a:t>Test</a:t>
                      </a:r>
                    </a:p>
                  </a:txBody>
                  <a:tcPr marL="91440" marR="91440" marT="45720" marB="45720" anchor="ctr">
                    <a:lnL w="0">
                      <a:noFill/>
                    </a:lnL>
                    <a:lnR w="0">
                      <a:noFill/>
                    </a:lnR>
                    <a:lnT w="0">
                      <a:noFill/>
                    </a:lnT>
                    <a:lnB w="9525" cmpd="sng">
                      <a:solidFill>
                        <a:srgbClr val="BFBFBF"/>
                      </a:solidFill>
                    </a:lnB>
                    <a:noFill/>
                  </a:tcPr>
                </a:tc>
                <a:tc>
                  <a:txBody>
                    <a:bodyPr wrap="square"/>
                    <a:lstStyle/>
                    <a:p>
                      <a:pPr algn="r"/>
                      <a:r>
                        <a:rPr sz="1200" b="0" i="0">
                          <a:solidFill>
                            <a:srgbClr val="333D47"/>
                          </a:solidFill>
                          <a:latin typeface="Arial"/>
                          <a:ea typeface="Microsoft JhengHei"/>
                        </a:rPr>
                        <a:t>620.00</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200" b="0" i="0">
                          <a:solidFill>
                            <a:srgbClr val="333D47"/>
                          </a:solidFill>
                          <a:latin typeface="Arial"/>
                          <a:ea typeface="Microsoft JhengHei"/>
                        </a:rPr>
                        <a:t>Blood test (CBC)</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ea typeface="Microsoft JhengHei"/>
                        </a:rPr>
                        <a:t>Test</a:t>
                      </a:r>
                    </a:p>
                  </a:txBody>
                  <a:tcPr marL="91440" marR="91440" marT="45720" marB="45720" anchor="ctr">
                    <a:lnL w="0">
                      <a:noFill/>
                    </a:lnL>
                    <a:lnR w="0">
                      <a:noFill/>
                    </a:lnR>
                    <a:lnT w="0">
                      <a:noFill/>
                    </a:lnT>
                    <a:lnB w="9525" cmpd="sng">
                      <a:solidFill>
                        <a:srgbClr val="BFBFBF"/>
                      </a:solidFill>
                    </a:lnB>
                    <a:noFill/>
                  </a:tcPr>
                </a:tc>
                <a:tc>
                  <a:txBody>
                    <a:bodyPr wrap="square"/>
                    <a:lstStyle/>
                    <a:p>
                      <a:pPr algn="r"/>
                      <a:r>
                        <a:rPr sz="1200" b="0" i="0">
                          <a:solidFill>
                            <a:srgbClr val="333D47"/>
                          </a:solidFill>
                          <a:latin typeface="Arial"/>
                          <a:ea typeface="Microsoft JhengHei"/>
                        </a:rPr>
                        <a:t>380.00</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200" b="0" i="0">
                          <a:solidFill>
                            <a:srgbClr val="333D47"/>
                          </a:solidFill>
                          <a:latin typeface="Arial"/>
                          <a:ea typeface="Microsoft JhengHei"/>
                        </a:rPr>
                        <a:t>Drugs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r"/>
                      <a:r>
                        <a:rPr sz="1200" b="0" i="0">
                          <a:solidFill>
                            <a:srgbClr val="333D47"/>
                          </a:solidFill>
                          <a:latin typeface="Arial"/>
                          <a:ea typeface="Microsoft JhengHei"/>
                        </a:rPr>
                        <a:t>245.50</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4343400" y="4434840"/>
            <a:ext cx="3657600" cy="320040"/>
          </a:xfrm>
          <a:prstGeom prst="rect">
            <a:avLst/>
          </a:prstGeom>
          <a:noFill/>
        </p:spPr>
        <p:txBody>
          <a:bodyPr wrap="square" lIns="0" rIns="0" tIns="0" bIns="0" anchor="t"/>
          <a:lstStyle/>
          <a:p>
            <a:pPr marL="0" indent="0" algn="l">
              <a:spcAft>
                <a:spcPts val="0"/>
              </a:spcAft>
              <a:buNone/>
            </a:pPr>
            <a:r>
              <a:rPr sz="1050" b="0" i="1">
                <a:solidFill>
                  <a:srgbClr val="5F6770"/>
                </a:solidFill>
                <a:latin typeface="Arial"/>
                <a:ea typeface="Microsoft JhengHei"/>
              </a:rPr>
              <a:t>Illustration typed from the receipt text, not AOAI output</a:t>
            </a:r>
          </a:p>
        </p:txBody>
      </p:sp>
      <p:sp>
        <p:nvSpPr>
          <p:cNvPr id="20" name="Right Arrow 19"/>
          <p:cNvSpPr/>
          <p:nvPr/>
        </p:nvSpPr>
        <p:spPr>
          <a:xfrm>
            <a:off x="8037575" y="3154680"/>
            <a:ext cx="301752" cy="329184"/>
          </a:xfrm>
          <a:prstGeom prst="rightArrow">
            <a:avLst/>
          </a:prstGeom>
          <a:solidFill>
            <a:srgbClr val="8C939A"/>
          </a:solidFill>
          <a:ln>
            <a:noFill/>
          </a:ln>
        </p:spPr>
        <p:txBody>
          <a:bodyPr rtlCol="0" anchor="ctr"/>
          <a:lstStyle/>
          <a:p>
            <a:pPr algn="ctr"/>
          </a:p>
        </p:txBody>
      </p:sp>
      <p:sp>
        <p:nvSpPr>
          <p:cNvPr id="21" name="Rectangle 20"/>
          <p:cNvSpPr/>
          <p:nvPr/>
        </p:nvSpPr>
        <p:spPr>
          <a:xfrm>
            <a:off x="8366760" y="2103120"/>
            <a:ext cx="3465576" cy="603504"/>
          </a:xfrm>
          <a:prstGeom prst="rect">
            <a:avLst/>
          </a:prstGeom>
          <a:solidFill>
            <a:srgbClr val="F2F2F2"/>
          </a:solidFill>
          <a:ln>
            <a:noFill/>
          </a:ln>
        </p:spPr>
        <p:txBody>
          <a:bodyPr rtlCol="0" anchor="ctr" wrap="square" lIns="128016" rIns="128016" tIns="109728" bIns="109728"/>
          <a:lstStyle/>
          <a:p>
            <a:pPr algn="l" marL="0" indent="0">
              <a:spcAft>
                <a:spcPts val="100"/>
              </a:spcAft>
              <a:buNone/>
            </a:pPr>
            <a:r>
              <a:rPr sz="1300" b="1" i="0">
                <a:solidFill>
                  <a:srgbClr val="333D47"/>
                </a:solidFill>
                <a:latin typeface="Arial"/>
                <a:ea typeface="Microsoft JhengHei"/>
              </a:rPr>
              <a:t>Cost by treatment</a:t>
            </a:r>
          </a:p>
          <a:p>
            <a:pPr marL="0" indent="0" algn="l">
              <a:spcAft>
                <a:spcPts val="0"/>
              </a:spcAft>
              <a:buNone/>
            </a:pPr>
            <a:r>
              <a:rPr sz="1150" b="0" i="0">
                <a:solidFill>
                  <a:srgbClr val="5F6770"/>
                </a:solidFill>
                <a:latin typeface="Arial"/>
                <a:ea typeface="Microsoft JhengHei"/>
              </a:rPr>
              <a:t>Spend on consultations, tests and medicines</a:t>
            </a:r>
          </a:p>
        </p:txBody>
      </p:sp>
      <p:sp>
        <p:nvSpPr>
          <p:cNvPr id="22" name="Rectangle 21"/>
          <p:cNvSpPr/>
          <p:nvPr/>
        </p:nvSpPr>
        <p:spPr>
          <a:xfrm>
            <a:off x="8366760" y="2779776"/>
            <a:ext cx="3465576" cy="603504"/>
          </a:xfrm>
          <a:prstGeom prst="rect">
            <a:avLst/>
          </a:prstGeom>
          <a:solidFill>
            <a:srgbClr val="F2F2F2"/>
          </a:solidFill>
          <a:ln>
            <a:noFill/>
          </a:ln>
        </p:spPr>
        <p:txBody>
          <a:bodyPr rtlCol="0" anchor="ctr" wrap="square" lIns="128016" rIns="128016" tIns="109728" bIns="109728"/>
          <a:lstStyle/>
          <a:p>
            <a:pPr algn="l" marL="0" indent="0">
              <a:spcAft>
                <a:spcPts val="100"/>
              </a:spcAft>
              <a:buNone/>
            </a:pPr>
            <a:r>
              <a:rPr sz="1300" b="1" i="0">
                <a:solidFill>
                  <a:srgbClr val="333D47"/>
                </a:solidFill>
                <a:latin typeface="Arial"/>
                <a:ea typeface="Microsoft JhengHei"/>
              </a:rPr>
              <a:t>Provider comparison</a:t>
            </a:r>
          </a:p>
          <a:p>
            <a:pPr marL="0" indent="0" algn="l">
              <a:spcAft>
                <a:spcPts val="0"/>
              </a:spcAft>
              <a:buNone/>
            </a:pPr>
            <a:r>
              <a:rPr sz="1150" b="0" i="0">
                <a:solidFill>
                  <a:srgbClr val="5F6770"/>
                </a:solidFill>
                <a:latin typeface="Arial"/>
                <a:ea typeface="Microsoft JhengHei"/>
              </a:rPr>
              <a:t>Typical charges per test across providers</a:t>
            </a:r>
          </a:p>
        </p:txBody>
      </p:sp>
      <p:sp>
        <p:nvSpPr>
          <p:cNvPr id="23" name="Rectangle 22"/>
          <p:cNvSpPr/>
          <p:nvPr/>
        </p:nvSpPr>
        <p:spPr>
          <a:xfrm>
            <a:off x="8366760" y="3456432"/>
            <a:ext cx="3465576" cy="603504"/>
          </a:xfrm>
          <a:prstGeom prst="rect">
            <a:avLst/>
          </a:prstGeom>
          <a:solidFill>
            <a:srgbClr val="F2F2F2"/>
          </a:solidFill>
          <a:ln>
            <a:noFill/>
          </a:ln>
        </p:spPr>
        <p:txBody>
          <a:bodyPr rtlCol="0" anchor="ctr" wrap="square" lIns="128016" rIns="128016" tIns="109728" bIns="109728"/>
          <a:lstStyle/>
          <a:p>
            <a:pPr algn="l" marL="0" indent="0">
              <a:spcAft>
                <a:spcPts val="100"/>
              </a:spcAft>
              <a:buNone/>
            </a:pPr>
            <a:r>
              <a:rPr sz="1300" b="1" i="0">
                <a:solidFill>
                  <a:srgbClr val="333D47"/>
                </a:solidFill>
                <a:latin typeface="Arial"/>
                <a:ea typeface="Microsoft JhengHei"/>
              </a:rPr>
              <a:t>Trends over time</a:t>
            </a:r>
          </a:p>
          <a:p>
            <a:pPr marL="0" indent="0" algn="l">
              <a:spcAft>
                <a:spcPts val="0"/>
              </a:spcAft>
              <a:buNone/>
            </a:pPr>
            <a:r>
              <a:rPr sz="1150" b="0" i="0">
                <a:solidFill>
                  <a:srgbClr val="5F6770"/>
                </a:solidFill>
                <a:latin typeface="Arial"/>
                <a:ea typeface="Microsoft JhengHei"/>
              </a:rPr>
              <a:t>Which treatments and medicines are rising</a:t>
            </a:r>
          </a:p>
        </p:txBody>
      </p:sp>
      <p:sp>
        <p:nvSpPr>
          <p:cNvPr id="24" name="Rectangle 23"/>
          <p:cNvSpPr/>
          <p:nvPr/>
        </p:nvSpPr>
        <p:spPr>
          <a:xfrm>
            <a:off x="8366760" y="4133087"/>
            <a:ext cx="3465576" cy="603504"/>
          </a:xfrm>
          <a:prstGeom prst="rect">
            <a:avLst/>
          </a:prstGeom>
          <a:solidFill>
            <a:srgbClr val="F2F2F2"/>
          </a:solidFill>
          <a:ln>
            <a:noFill/>
          </a:ln>
        </p:spPr>
        <p:txBody>
          <a:bodyPr rtlCol="0" anchor="ctr" wrap="square" lIns="128016" rIns="128016" tIns="109728" bIns="109728"/>
          <a:lstStyle/>
          <a:p>
            <a:pPr algn="l" marL="0" indent="0">
              <a:spcAft>
                <a:spcPts val="100"/>
              </a:spcAft>
              <a:buNone/>
            </a:pPr>
            <a:r>
              <a:rPr sz="1300" b="1" i="0">
                <a:solidFill>
                  <a:srgbClr val="333D47"/>
                </a:solidFill>
                <a:latin typeface="Arial"/>
                <a:ea typeface="Microsoft JhengHei"/>
              </a:rPr>
              <a:t>Unusual claims</a:t>
            </a:r>
          </a:p>
          <a:p>
            <a:pPr marL="0" indent="0" algn="l">
              <a:spcAft>
                <a:spcPts val="0"/>
              </a:spcAft>
              <a:buNone/>
            </a:pPr>
            <a:r>
              <a:rPr sz="1150" b="0" i="0">
                <a:solidFill>
                  <a:srgbClr val="5F6770"/>
                </a:solidFill>
                <a:latin typeface="Arial"/>
                <a:ea typeface="Microsoft JhengHei"/>
              </a:rPr>
              <a:t>Combinations or amounts that stand out</a:t>
            </a:r>
          </a:p>
        </p:txBody>
      </p:sp>
      <p:sp>
        <p:nvSpPr>
          <p:cNvPr id="25" name="Rectangle 24"/>
          <p:cNvSpPr/>
          <p:nvPr/>
        </p:nvSpPr>
        <p:spPr>
          <a:xfrm>
            <a:off x="356616" y="5029200"/>
            <a:ext cx="11475720" cy="45720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Potential, not yet tested. </a:t>
            </a:r>
            <a:r>
              <a:rPr sz="1300" b="0" i="0">
                <a:solidFill>
                  <a:srgbClr val="333D47"/>
                </a:solidFill>
                <a:latin typeface="Arial"/>
                <a:ea typeface="Microsoft JhengHei"/>
              </a:rPr>
              <a:t>Only the 6 current fields have been benchmarked. Diagnoses, symptoms, treatments and medications would need a 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Recommendation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Use rules for simple, labelled checks. Use AOAI where receipts vary or richer data is needed.</a:t>
            </a:r>
          </a:p>
        </p:txBody>
      </p:sp>
      <p:sp>
        <p:nvSpPr>
          <p:cNvPr id="12" name="Rectangle 11"/>
          <p:cNvSpPr/>
          <p:nvPr/>
        </p:nvSpPr>
        <p:spPr>
          <a:xfrm>
            <a:off x="356616" y="1783080"/>
            <a:ext cx="5596128" cy="2103120"/>
          </a:xfrm>
          <a:prstGeom prst="rect">
            <a:avLst/>
          </a:prstGeom>
          <a:solidFill>
            <a:srgbClr val="E6F2EA"/>
          </a:solidFill>
          <a:ln>
            <a:noFill/>
          </a:ln>
        </p:spPr>
        <p:txBody>
          <a:bodyPr rtlCol="0" anchor="t" wrap="square" lIns="182880" rIns="182880" tIns="109728" bIns="109728"/>
          <a:lstStyle/>
          <a:p>
            <a:pPr algn="l" marL="0" indent="0">
              <a:spcAft>
                <a:spcPts val="400"/>
              </a:spcAft>
              <a:buNone/>
            </a:pPr>
            <a:r>
              <a:rPr sz="1500" b="1" i="0">
                <a:solidFill>
                  <a:srgbClr val="1E7B4A"/>
                </a:solidFill>
                <a:latin typeface="Arial"/>
                <a:ea typeface="Microsoft JhengHei"/>
              </a:rPr>
              <a:t>Simple OCR rules are sufficient when…</a:t>
            </a:r>
          </a:p>
          <a:p>
            <a:pPr marL="182880" indent="-182880" algn="l">
              <a:spcAft>
                <a:spcPts val="300"/>
              </a:spcAft>
              <a:buFont typeface="Arial"/>
              <a:buChar char="•"/>
            </a:pPr>
            <a:r>
              <a:rPr sz="1400" b="0" i="0">
                <a:solidFill>
                  <a:srgbClr val="333D47"/>
                </a:solidFill>
                <a:latin typeface="Arial"/>
                <a:ea typeface="Microsoft JhengHei"/>
              </a:rPr>
              <a:t>Layouts are few, known and stable</a:t>
            </a:r>
          </a:p>
          <a:p>
            <a:pPr marL="182880" indent="-182880" algn="l">
              <a:spcAft>
                <a:spcPts val="300"/>
              </a:spcAft>
              <a:buFont typeface="Arial"/>
              <a:buChar char="•"/>
            </a:pPr>
            <a:r>
              <a:rPr sz="1400" b="0" i="0">
                <a:solidFill>
                  <a:srgbClr val="333D47"/>
                </a:solidFill>
                <a:latin typeface="Arial"/>
                <a:ea typeface="Microsoft JhengHei"/>
              </a:rPr>
              <a:t>Fields have clear printed labels</a:t>
            </a:r>
          </a:p>
          <a:p>
            <a:pPr marL="182880" indent="-182880" algn="l">
              <a:spcAft>
                <a:spcPts val="300"/>
              </a:spcAft>
              <a:buFont typeface="Arial"/>
              <a:buChar char="•"/>
            </a:pPr>
            <a:r>
              <a:rPr sz="1400" b="0" i="0">
                <a:solidFill>
                  <a:srgbClr val="333D47"/>
                </a:solidFill>
                <a:latin typeface="Arial"/>
                <a:ea typeface="Microsoft JhengHei"/>
              </a:rPr>
              <a:t>The question is simple, e.g. is a diagnosis comment present?</a:t>
            </a:r>
          </a:p>
          <a:p>
            <a:pPr marL="182880" indent="-182880" algn="l">
              <a:spcAft>
                <a:spcPts val="300"/>
              </a:spcAft>
              <a:buFont typeface="Arial"/>
              <a:buChar char="•"/>
            </a:pPr>
            <a:r>
              <a:rPr sz="1400" b="0" i="0">
                <a:solidFill>
                  <a:srgbClr val="333D47"/>
                </a:solidFill>
                <a:latin typeface="Arial"/>
                <a:ea typeface="Microsoft JhengHei"/>
              </a:rPr>
              <a:t>No API fee and fully traceable output are required</a:t>
            </a:r>
          </a:p>
        </p:txBody>
      </p:sp>
      <p:sp>
        <p:nvSpPr>
          <p:cNvPr id="13" name="Rectangle 12"/>
          <p:cNvSpPr/>
          <p:nvPr/>
        </p:nvSpPr>
        <p:spPr>
          <a:xfrm>
            <a:off x="6236208" y="1783080"/>
            <a:ext cx="5596128" cy="210312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adds real value when…</a:t>
            </a:r>
          </a:p>
          <a:p>
            <a:pPr marL="182880" indent="-182880" algn="l">
              <a:spcAft>
                <a:spcPts val="300"/>
              </a:spcAft>
              <a:buFont typeface="Arial"/>
              <a:buChar char="•"/>
            </a:pPr>
            <a:r>
              <a:rPr sz="1400" b="0" i="0">
                <a:solidFill>
                  <a:srgbClr val="333D47"/>
                </a:solidFill>
                <a:latin typeface="Arial"/>
                <a:ea typeface="Microsoft JhengHei"/>
              </a:rPr>
              <a:t>Providers, layouts and languages vary (Chinese, bilingual)</a:t>
            </a:r>
          </a:p>
          <a:p>
            <a:pPr marL="182880" indent="-182880" algn="l">
              <a:spcAft>
                <a:spcPts val="300"/>
              </a:spcAft>
              <a:buFont typeface="Arial"/>
              <a:buChar char="•"/>
            </a:pPr>
            <a:r>
              <a:rPr sz="1400" b="0" i="0">
                <a:solidFill>
                  <a:srgbClr val="333D47"/>
                </a:solidFill>
                <a:latin typeface="Arial"/>
                <a:ea typeface="Microsoft JhengHei"/>
              </a:rPr>
              <a:t>Fields lack consistent labels: names with titles, totals vs subtotals</a:t>
            </a:r>
          </a:p>
          <a:p>
            <a:pPr marL="182880" indent="-182880" algn="l">
              <a:spcAft>
                <a:spcPts val="300"/>
              </a:spcAft>
              <a:buFont typeface="Arial"/>
              <a:buChar char="•"/>
            </a:pPr>
            <a:r>
              <a:rPr sz="1400" b="0" i="0">
                <a:solidFill>
                  <a:srgbClr val="333D47"/>
                </a:solidFill>
                <a:latin typeface="Arial"/>
                <a:ea typeface="Microsoft JhengHei"/>
              </a:rPr>
              <a:t>We want less scenario-specific code to maintain</a:t>
            </a:r>
          </a:p>
          <a:p>
            <a:pPr marL="182880" indent="-182880" algn="l">
              <a:spcAft>
                <a:spcPts val="300"/>
              </a:spcAft>
              <a:buFont typeface="Arial"/>
              <a:buChar char="•"/>
            </a:pPr>
            <a:r>
              <a:rPr sz="1400" b="0" i="0">
                <a:solidFill>
                  <a:srgbClr val="333D47"/>
                </a:solidFill>
                <a:latin typeface="Arial"/>
                <a:ea typeface="Microsoft JhengHei"/>
              </a:rPr>
              <a:t>Richer medical data is wanted (potential, not yet benchmarked)</a:t>
            </a:r>
          </a:p>
        </p:txBody>
      </p:sp>
      <p:sp>
        <p:nvSpPr>
          <p:cNvPr id="14" name="Rectangle 13"/>
          <p:cNvSpPr/>
          <p:nvPr/>
        </p:nvSpPr>
        <p:spPr>
          <a:xfrm>
            <a:off x="35661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1. Freeze</a:t>
            </a:r>
          </a:p>
          <a:p>
            <a:pPr marL="0" indent="0" algn="l">
              <a:spcAft>
                <a:spcPts val="0"/>
              </a:spcAft>
              <a:buNone/>
            </a:pPr>
            <a:r>
              <a:rPr sz="1250" b="0" i="0">
                <a:solidFill>
                  <a:srgbClr val="333D47"/>
                </a:solidFill>
                <a:latin typeface="Arial"/>
                <a:ea typeface="Microsoft JhengHei"/>
              </a:rPr>
              <a:t>the rules and AOAI prompt v2</a:t>
            </a:r>
          </a:p>
        </p:txBody>
      </p:sp>
      <p:sp>
        <p:nvSpPr>
          <p:cNvPr id="15" name="Rectangle 14"/>
          <p:cNvSpPr/>
          <p:nvPr/>
        </p:nvSpPr>
        <p:spPr>
          <a:xfrm>
            <a:off x="328269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2. Validate</a:t>
            </a:r>
          </a:p>
          <a:p>
            <a:pPr marL="0" indent="0" algn="l">
              <a:spcAft>
                <a:spcPts val="0"/>
              </a:spcAft>
              <a:buNone/>
            </a:pPr>
            <a:r>
              <a:rPr sz="1250" b="0" i="0">
                <a:solidFill>
                  <a:srgbClr val="333D47"/>
                </a:solidFill>
                <a:latin typeface="Arial"/>
                <a:ea typeface="Microsoft JhengHei"/>
              </a:rPr>
              <a:t>30+ unseen, real, anonymised receipts; count rule changes</a:t>
            </a:r>
          </a:p>
        </p:txBody>
      </p:sp>
      <p:sp>
        <p:nvSpPr>
          <p:cNvPr id="16" name="Rectangle 15"/>
          <p:cNvSpPr/>
          <p:nvPr/>
        </p:nvSpPr>
        <p:spPr>
          <a:xfrm>
            <a:off x="620877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3. Pilot extra fields</a:t>
            </a:r>
          </a:p>
          <a:p>
            <a:pPr marL="0" indent="0" algn="l">
              <a:spcAft>
                <a:spcPts val="0"/>
              </a:spcAft>
              <a:buNone/>
            </a:pPr>
            <a:r>
              <a:rPr sz="1250" b="0" i="0">
                <a:solidFill>
                  <a:srgbClr val="333D47"/>
                </a:solidFill>
                <a:latin typeface="Arial"/>
                <a:ea typeface="Microsoft JhengHei"/>
              </a:rPr>
              <a:t>medications, treatments, symptoms, diagnoses with ground truth</a:t>
            </a:r>
          </a:p>
        </p:txBody>
      </p:sp>
      <p:sp>
        <p:nvSpPr>
          <p:cNvPr id="17" name="Rectangle 16"/>
          <p:cNvSpPr/>
          <p:nvPr/>
        </p:nvSpPr>
        <p:spPr>
          <a:xfrm>
            <a:off x="913485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4. Confirm cost</a:t>
            </a:r>
          </a:p>
          <a:p>
            <a:pPr marL="0" indent="0" algn="l">
              <a:spcAft>
                <a:spcPts val="0"/>
              </a:spcAft>
              <a:buNone/>
            </a:pPr>
            <a:r>
              <a:rPr sz="1250" b="0" i="0">
                <a:solidFill>
                  <a:srgbClr val="333D47"/>
                </a:solidFill>
                <a:latin typeface="Arial"/>
                <a:ea typeface="Microsoft JhengHei"/>
              </a:rPr>
              <a:t>Document Intelligence pages and gpt-5-mini tokens</a:t>
            </a:r>
          </a:p>
        </p:txBody>
      </p:sp>
      <p:sp>
        <p:nvSpPr>
          <p:cNvPr id="18" name="TextBox 17"/>
          <p:cNvSpPr txBox="1"/>
          <p:nvPr/>
        </p:nvSpPr>
        <p:spPr>
          <a:xfrm>
            <a:off x="356616" y="53492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Evidence so far: 9 receipts; results are development or retrospective, not yet validated on unseen receipts.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