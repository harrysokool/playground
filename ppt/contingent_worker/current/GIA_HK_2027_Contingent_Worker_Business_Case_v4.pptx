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4"/>
    <p:sldId id="257" r:id="rId3"/>
    <p:sldId id="258" r:id="rId2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5915C"/>
    <a:srgbClr val="68655A"/>
    <a:srgbClr val="FF7A85"/>
    <a:srgbClr val="4C4794"/>
    <a:srgbClr val="333D47"/>
    <a:srgbClr val="F1C400"/>
    <a:srgbClr val="D31145"/>
    <a:srgbClr val="42005B"/>
    <a:srgbClr val="42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87"/>
  </p:normalViewPr>
  <p:slideViewPr>
    <p:cSldViewPr snapToGrid="0" showGuides="1">
      <p:cViewPr varScale="1">
        <p:scale>
          <a:sx n="120" d="100"/>
          <a:sy n="120" d="100"/>
        </p:scale>
        <p:origin x="144" y="198"/>
      </p:cViewPr>
      <p:guideLst>
        <p:guide orient="horz" pos="2160"/>
        <p:guide pos="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4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18ECE-A34A-49B3-9686-CAB705FE9FAE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F2FCE-B231-44AD-BE06-D54B55D77B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14142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CA36D-3A4E-49AB-8998-33E386CC934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808D9-4A71-422D-8C20-E440E917B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8085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itleSlide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3DE312-0E56-1747-B671-3F457AA8D76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52CBAF-C878-FD45-8AF4-3C799CB4F53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370" b="31414"/>
          <a:stretch/>
        </p:blipFill>
        <p:spPr>
          <a:xfrm>
            <a:off x="6580800" y="0"/>
            <a:ext cx="5611200" cy="685800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AC4E2A-F096-5540-918E-6F520E475C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date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DD8F76D-7AD6-444B-9E55-80A650B42C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5E6EB-133C-4C47-A11D-54E804FE9C2F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 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9903880-9FDE-8D40-A562-3D8B9CB09A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81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sub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237200" y="1800000"/>
            <a:ext cx="36072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1800000"/>
            <a:ext cx="36000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1pPr>
            <a:lvl2pPr algn="l">
              <a:defRPr sz="2000">
                <a:solidFill>
                  <a:schemeClr val="accent2"/>
                </a:solidFill>
              </a:defRPr>
            </a:lvl2pPr>
            <a:lvl3pPr algn="l">
              <a:defRPr sz="2000">
                <a:solidFill>
                  <a:schemeClr val="accent2"/>
                </a:solidFill>
              </a:defRPr>
            </a:lvl3pPr>
            <a:lvl4pPr algn="l">
              <a:defRPr sz="2000">
                <a:solidFill>
                  <a:schemeClr val="accent2"/>
                </a:solidFill>
              </a:defRPr>
            </a:lvl4pPr>
            <a:lvl5pPr algn="l">
              <a:defRPr sz="20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dirty="0" err="1"/>
              <a:t>Bodycopy</a:t>
            </a:r>
            <a:r>
              <a:rPr lang="en-GB" dirty="0"/>
              <a:t> in here</a:t>
            </a: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4B34AF1-3AD0-DE4E-91C8-39A92B566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540000"/>
            <a:ext cx="11160000" cy="133867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3200"/>
              </a:lnSpc>
              <a:defRPr sz="3600">
                <a:solidFill>
                  <a:srgbClr val="333D47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2BBEFAE-7438-F548-BFC6-9CD53B767E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60000" y="5792400"/>
            <a:ext cx="6350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1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B5BE0-8CB1-E247-A12A-51429A1939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A93DA94-6D62-D040-97F3-1DFA5A72C6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601225"/>
            <a:ext cx="50800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Email</a:t>
            </a:r>
          </a:p>
          <a:p>
            <a:r>
              <a:rPr lang="en-US" dirty="0"/>
              <a:t>Date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C3F0DB7-93FA-D243-9648-A59C82E137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2160000"/>
            <a:ext cx="54000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BF49BF-4968-8D47-AB2D-21AB12177162}"/>
              </a:ext>
            </a:extLst>
          </p:cNvPr>
          <p:cNvSpPr txBox="1"/>
          <p:nvPr userDrawn="1"/>
        </p:nvSpPr>
        <p:spPr>
          <a:xfrm>
            <a:off x="36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1844A6-A542-4643-96E7-3B2146FB59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000" y="360000"/>
            <a:ext cx="1828800" cy="660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BF7525C-9C01-724E-9D57-E82EE57D1F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6370" b="31414"/>
          <a:stretch/>
        </p:blipFill>
        <p:spPr>
          <a:xfrm>
            <a:off x="6580800" y="0"/>
            <a:ext cx="5611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06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svg"/><Relationship Id="rId6" Type="http://schemas.openxmlformats.org/officeDocument/2006/relationships/image" Target="../media/image2.svg"/><Relationship Id="rId7" Type="http://schemas.openxmlformats.org/officeDocument/2006/relationships/image" Target="../media/image3.svg"/><Relationship Id="rId8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6106E65-026A-4C46-AFB0-85C3E784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540000"/>
            <a:ext cx="11472000" cy="10212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07E24A-2FF5-4246-BEF6-082A61118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800000"/>
            <a:ext cx="11472000" cy="3364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7F45575-B773-1649-9EFE-1C08EEFD4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EDD73-913A-A14E-9158-0586EE3B58B5}"/>
              </a:ext>
            </a:extLst>
          </p:cNvPr>
          <p:cNvSpPr txBox="1"/>
          <p:nvPr userDrawn="1"/>
        </p:nvSpPr>
        <p:spPr>
          <a:xfrm>
            <a:off x="720000" y="6336000"/>
            <a:ext cx="5400000" cy="216000"/>
          </a:xfrm>
          <a:prstGeom prst="rect">
            <a:avLst/>
          </a:prstGeom>
          <a:noFill/>
        </p:spPr>
        <p:txBody>
          <a:bodyPr wrap="square" lIns="90000" rtlCol="0" anchor="ctr" anchorCtr="0">
            <a:noAutofit/>
          </a:bodyPr>
          <a:lstStyle/>
          <a:p>
            <a:r>
              <a:rPr lang="en-GB" sz="800" b="0" i="0" dirty="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9">
            <a:extLst>
              <a:ext uri="{FF2B5EF4-FFF2-40B4-BE49-F238E27FC236}">
                <a16:creationId xmlns:a16="http://schemas.microsoft.com/office/drawing/2014/main" id="{E0203ACC-1921-3649-A2D8-9E4ECC5D23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26840" y="1353662"/>
            <a:ext cx="1844675" cy="801569"/>
          </a:xfrm>
          <a:prstGeom prst="rect">
            <a:avLst/>
          </a:prstGeom>
          <a:solidFill>
            <a:srgbClr val="333D4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CHARCOAL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R51 G61 B71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3EE7A4A7-B933-B24E-AC2D-C118217EFEB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14697" y="407231"/>
            <a:ext cx="1821348" cy="806397"/>
          </a:xfrm>
          <a:prstGeom prst="rect">
            <a:avLst/>
          </a:prstGeom>
          <a:solidFill>
            <a:srgbClr val="D3114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RED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G17 B69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7F8F61-AACF-4D43-A48E-73FD89E9FAC0}"/>
              </a:ext>
            </a:extLst>
          </p:cNvPr>
          <p:cNvSpPr txBox="1"/>
          <p:nvPr userDrawn="1"/>
        </p:nvSpPr>
        <p:spPr>
          <a:xfrm>
            <a:off x="-2942426" y="376236"/>
            <a:ext cx="259484" cy="1937287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COLOURS</a:t>
            </a:r>
          </a:p>
        </p:txBody>
      </p:sp>
      <p:sp>
        <p:nvSpPr>
          <p:cNvPr id="67" name="Rectangle 9">
            <a:extLst>
              <a:ext uri="{FF2B5EF4-FFF2-40B4-BE49-F238E27FC236}">
                <a16:creationId xmlns:a16="http://schemas.microsoft.com/office/drawing/2014/main" id="{6E16C6D7-5D67-3F48-9BAD-5211CB2770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7303" y="5798524"/>
            <a:ext cx="1487670" cy="646439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WARM GREY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R211 G202 B195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9">
            <a:extLst>
              <a:ext uri="{FF2B5EF4-FFF2-40B4-BE49-F238E27FC236}">
                <a16:creationId xmlns:a16="http://schemas.microsoft.com/office/drawing/2014/main" id="{30414EC1-704C-FF47-9611-AD4C8B879B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877530"/>
            <a:ext cx="1487670" cy="646439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 ORANGE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G117 B77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EDC2E1-B0F0-2B4D-8CFB-F684F18144D9}"/>
              </a:ext>
            </a:extLst>
          </p:cNvPr>
          <p:cNvSpPr txBox="1"/>
          <p:nvPr userDrawn="1"/>
        </p:nvSpPr>
        <p:spPr>
          <a:xfrm>
            <a:off x="-4910208" y="379515"/>
            <a:ext cx="314328" cy="3271299"/>
          </a:xfrm>
          <a:prstGeom prst="rect">
            <a:avLst/>
          </a:prstGeom>
          <a:noFill/>
        </p:spPr>
        <p:txBody>
          <a:bodyPr vert="vert270" wrap="square" lIns="0" tIns="0" rIns="0" bIns="0" rtlCol="0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b="1" i="0" dirty="0">
                <a:solidFill>
                  <a:srgbClr val="5858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COLOURS</a:t>
            </a:r>
          </a:p>
        </p:txBody>
      </p:sp>
      <p:sp>
        <p:nvSpPr>
          <p:cNvPr id="70" name="Rectangle 9">
            <a:extLst>
              <a:ext uri="{FF2B5EF4-FFF2-40B4-BE49-F238E27FC236}">
                <a16:creationId xmlns:a16="http://schemas.microsoft.com/office/drawing/2014/main" id="{32D26DB1-D22B-0146-BEE0-26A6F12347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2663784"/>
            <a:ext cx="1487670" cy="646439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YELLOW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R247 G201 B38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38917B89-6ECF-F74A-9BA2-E9FCB7C72D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4266004"/>
            <a:ext cx="1487670" cy="646439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LAVENDER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R161 G153 B186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9">
            <a:extLst>
              <a:ext uri="{FF2B5EF4-FFF2-40B4-BE49-F238E27FC236}">
                <a16:creationId xmlns:a16="http://schemas.microsoft.com/office/drawing/2014/main" id="{A835CB3C-C322-B743-8984-3B3E27A039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5052258"/>
            <a:ext cx="1487670" cy="64643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BLUE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R31 G120 B173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9">
            <a:extLst>
              <a:ext uri="{FF2B5EF4-FFF2-40B4-BE49-F238E27FC236}">
                <a16:creationId xmlns:a16="http://schemas.microsoft.com/office/drawing/2014/main" id="{0EB3A011-77AD-EE4C-BB9E-688A1F0E49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1125046"/>
            <a:ext cx="1487670" cy="646439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CERISE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R186 G3 B97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9">
            <a:extLst>
              <a:ext uri="{FF2B5EF4-FFF2-40B4-BE49-F238E27FC236}">
                <a16:creationId xmlns:a16="http://schemas.microsoft.com/office/drawing/2014/main" id="{402466E5-EFAB-0E4A-B977-56C6D3009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449154"/>
            <a:ext cx="1487670" cy="646439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PURPLE 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R76 G71 B148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 9">
            <a:extLst>
              <a:ext uri="{FF2B5EF4-FFF2-40B4-BE49-F238E27FC236}">
                <a16:creationId xmlns:a16="http://schemas.microsoft.com/office/drawing/2014/main" id="{F469A4F2-3792-2E49-8B38-6AFC638127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4611596" y="373206"/>
            <a:ext cx="1487670" cy="646439"/>
          </a:xfrm>
          <a:prstGeom prst="rect">
            <a:avLst/>
          </a:prstGeom>
          <a:solidFill>
            <a:srgbClr val="FF7A8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AIA SALMON</a:t>
            </a:r>
            <a:br>
              <a:rPr lang="en-US" sz="1400" b="1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spc="-100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R255 G122 B133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sz="1400" spc="-100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DFD5F1-7ED6-7A4F-A85D-AC9239B9A9E4}"/>
              </a:ext>
            </a:extLst>
          </p:cNvPr>
          <p:cNvGrpSpPr/>
          <p:nvPr userDrawn="1"/>
        </p:nvGrpSpPr>
        <p:grpSpPr>
          <a:xfrm>
            <a:off x="-4617304" y="796253"/>
            <a:ext cx="1494303" cy="224029"/>
            <a:chOff x="5716131" y="796253"/>
            <a:chExt cx="995522" cy="224029"/>
          </a:xfrm>
        </p:grpSpPr>
        <p:sp>
          <p:nvSpPr>
            <p:cNvPr id="77" name="Rectangle 19">
              <a:extLst>
                <a:ext uri="{FF2B5EF4-FFF2-40B4-BE49-F238E27FC236}">
                  <a16:creationId xmlns:a16="http://schemas.microsoft.com/office/drawing/2014/main" id="{69707F44-6BC5-024E-87D0-3237CAF96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78" name="Rectangle 20">
              <a:extLst>
                <a:ext uri="{FF2B5EF4-FFF2-40B4-BE49-F238E27FC236}">
                  <a16:creationId xmlns:a16="http://schemas.microsoft.com/office/drawing/2014/main" id="{D0D916EB-9F54-2F4B-BDD0-F8773435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E6BDFF9-62CE-8349-B945-5E4093758751}"/>
              </a:ext>
            </a:extLst>
          </p:cNvPr>
          <p:cNvGrpSpPr/>
          <p:nvPr userDrawn="1"/>
        </p:nvGrpSpPr>
        <p:grpSpPr>
          <a:xfrm>
            <a:off x="-2626840" y="1878230"/>
            <a:ext cx="1844675" cy="277791"/>
            <a:chOff x="2606261" y="3143449"/>
            <a:chExt cx="2458017" cy="277791"/>
          </a:xfrm>
        </p:grpSpPr>
        <p:sp>
          <p:nvSpPr>
            <p:cNvPr id="80" name="Rectangle 19">
              <a:extLst>
                <a:ext uri="{FF2B5EF4-FFF2-40B4-BE49-F238E27FC236}">
                  <a16:creationId xmlns:a16="http://schemas.microsoft.com/office/drawing/2014/main" id="{914B8044-F95A-A74A-BC30-F3A5C9B45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DCFFAD6D-DAE4-824F-BF41-EE5D85829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2" name="Rectangle 22">
              <a:extLst>
                <a:ext uri="{FF2B5EF4-FFF2-40B4-BE49-F238E27FC236}">
                  <a16:creationId xmlns:a16="http://schemas.microsoft.com/office/drawing/2014/main" id="{B42DD97E-811A-2B47-918D-7C0F00110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3" name="Rectangle 19">
              <a:extLst>
                <a:ext uri="{FF2B5EF4-FFF2-40B4-BE49-F238E27FC236}">
                  <a16:creationId xmlns:a16="http://schemas.microsoft.com/office/drawing/2014/main" id="{3D37BE17-9C0A-E749-A606-9BC8E7CE3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29FDAA7-EDA4-E344-BCAC-7F6CCDECD451}"/>
              </a:ext>
            </a:extLst>
          </p:cNvPr>
          <p:cNvGrpSpPr/>
          <p:nvPr userDrawn="1"/>
        </p:nvGrpSpPr>
        <p:grpSpPr>
          <a:xfrm>
            <a:off x="-2626840" y="957107"/>
            <a:ext cx="1844675" cy="277791"/>
            <a:chOff x="2606261" y="3143449"/>
            <a:chExt cx="2458017" cy="277791"/>
          </a:xfrm>
        </p:grpSpPr>
        <p:sp>
          <p:nvSpPr>
            <p:cNvPr id="85" name="Rectangle 19">
              <a:extLst>
                <a:ext uri="{FF2B5EF4-FFF2-40B4-BE49-F238E27FC236}">
                  <a16:creationId xmlns:a16="http://schemas.microsoft.com/office/drawing/2014/main" id="{322E5F21-86AC-9847-9EAE-BB1715E9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1379" y="3143449"/>
              <a:ext cx="615945" cy="277791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6" name="Rectangle 20">
              <a:extLst>
                <a:ext uri="{FF2B5EF4-FFF2-40B4-BE49-F238E27FC236}">
                  <a16:creationId xmlns:a16="http://schemas.microsoft.com/office/drawing/2014/main" id="{6F019A4D-1606-E749-A834-546B40C5F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856" y="3143449"/>
              <a:ext cx="615945" cy="277791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</a:t>
              </a:r>
            </a:p>
          </p:txBody>
        </p:sp>
        <p:sp>
          <p:nvSpPr>
            <p:cNvPr id="87" name="Rectangle 22">
              <a:extLst>
                <a:ext uri="{FF2B5EF4-FFF2-40B4-BE49-F238E27FC236}">
                  <a16:creationId xmlns:a16="http://schemas.microsoft.com/office/drawing/2014/main" id="{7308B2FC-69DD-954E-8980-2EC3AA1D7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33" y="3143449"/>
              <a:ext cx="615945" cy="277791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</a:t>
              </a:r>
            </a:p>
          </p:txBody>
        </p:sp>
        <p:sp>
          <p:nvSpPr>
            <p:cNvPr id="88" name="Rectangle 19">
              <a:extLst>
                <a:ext uri="{FF2B5EF4-FFF2-40B4-BE49-F238E27FC236}">
                  <a16:creationId xmlns:a16="http://schemas.microsoft.com/office/drawing/2014/main" id="{74AC479E-3F57-E644-A3C7-97D4AB45A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261" y="3143449"/>
              <a:ext cx="615945" cy="277791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20%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E533266-6387-9B46-8624-65A0D9D79FF0}"/>
              </a:ext>
            </a:extLst>
          </p:cNvPr>
          <p:cNvGrpSpPr/>
          <p:nvPr userDrawn="1"/>
        </p:nvGrpSpPr>
        <p:grpSpPr>
          <a:xfrm>
            <a:off x="-4617304" y="1549288"/>
            <a:ext cx="1494303" cy="224029"/>
            <a:chOff x="5716131" y="796253"/>
            <a:chExt cx="995522" cy="224029"/>
          </a:xfrm>
        </p:grpSpPr>
        <p:sp>
          <p:nvSpPr>
            <p:cNvPr id="90" name="Rectangle 19">
              <a:extLst>
                <a:ext uri="{FF2B5EF4-FFF2-40B4-BE49-F238E27FC236}">
                  <a16:creationId xmlns:a16="http://schemas.microsoft.com/office/drawing/2014/main" id="{BB7C84DB-7787-A44D-865E-1BD05831D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1" name="Rectangle 20">
              <a:extLst>
                <a:ext uri="{FF2B5EF4-FFF2-40B4-BE49-F238E27FC236}">
                  <a16:creationId xmlns:a16="http://schemas.microsoft.com/office/drawing/2014/main" id="{9A96F96C-40C9-8D49-A8DD-AB3B11C9C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A26BA09-7293-5840-8B41-BA669E1DA42E}"/>
              </a:ext>
            </a:extLst>
          </p:cNvPr>
          <p:cNvGrpSpPr/>
          <p:nvPr userDrawn="1"/>
        </p:nvGrpSpPr>
        <p:grpSpPr>
          <a:xfrm>
            <a:off x="-4617304" y="2295599"/>
            <a:ext cx="1494303" cy="224029"/>
            <a:chOff x="5716131" y="796253"/>
            <a:chExt cx="995522" cy="224029"/>
          </a:xfrm>
        </p:grpSpPr>
        <p:sp>
          <p:nvSpPr>
            <p:cNvPr id="93" name="Rectangle 19">
              <a:extLst>
                <a:ext uri="{FF2B5EF4-FFF2-40B4-BE49-F238E27FC236}">
                  <a16:creationId xmlns:a16="http://schemas.microsoft.com/office/drawing/2014/main" id="{07DA5FAE-B117-1349-8D4B-5D7FCC814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4" name="Rectangle 20">
              <a:extLst>
                <a:ext uri="{FF2B5EF4-FFF2-40B4-BE49-F238E27FC236}">
                  <a16:creationId xmlns:a16="http://schemas.microsoft.com/office/drawing/2014/main" id="{F8E4D5C8-28FE-3740-934F-B88CFC79C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E60DD88-FE73-4A4E-83B0-C27EC4180A40}"/>
              </a:ext>
            </a:extLst>
          </p:cNvPr>
          <p:cNvGrpSpPr/>
          <p:nvPr userDrawn="1"/>
        </p:nvGrpSpPr>
        <p:grpSpPr>
          <a:xfrm>
            <a:off x="-4617304" y="3088976"/>
            <a:ext cx="1494303" cy="224029"/>
            <a:chOff x="5716131" y="796253"/>
            <a:chExt cx="995522" cy="224029"/>
          </a:xfrm>
        </p:grpSpPr>
        <p:sp>
          <p:nvSpPr>
            <p:cNvPr id="96" name="Rectangle 19">
              <a:extLst>
                <a:ext uri="{FF2B5EF4-FFF2-40B4-BE49-F238E27FC236}">
                  <a16:creationId xmlns:a16="http://schemas.microsoft.com/office/drawing/2014/main" id="{F65AC04E-77DF-3D4F-ABC4-331908CD1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97" name="Rectangle 20">
              <a:extLst>
                <a:ext uri="{FF2B5EF4-FFF2-40B4-BE49-F238E27FC236}">
                  <a16:creationId xmlns:a16="http://schemas.microsoft.com/office/drawing/2014/main" id="{3A43A58E-FE1C-F241-9FCD-27CDB423B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5EC0C6B-BF0B-E84D-94EC-435A104A61F7}"/>
              </a:ext>
            </a:extLst>
          </p:cNvPr>
          <p:cNvGrpSpPr/>
          <p:nvPr userDrawn="1"/>
        </p:nvGrpSpPr>
        <p:grpSpPr>
          <a:xfrm>
            <a:off x="-4617304" y="3875629"/>
            <a:ext cx="1494303" cy="224029"/>
            <a:chOff x="5716131" y="796253"/>
            <a:chExt cx="995522" cy="224029"/>
          </a:xfrm>
        </p:grpSpPr>
        <p:sp>
          <p:nvSpPr>
            <p:cNvPr id="99" name="Rectangle 19">
              <a:extLst>
                <a:ext uri="{FF2B5EF4-FFF2-40B4-BE49-F238E27FC236}">
                  <a16:creationId xmlns:a16="http://schemas.microsoft.com/office/drawing/2014/main" id="{E7176F59-7B72-9148-B6EC-3D9A485B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0" name="Rectangle 20">
              <a:extLst>
                <a:ext uri="{FF2B5EF4-FFF2-40B4-BE49-F238E27FC236}">
                  <a16:creationId xmlns:a16="http://schemas.microsoft.com/office/drawing/2014/main" id="{2C7F8097-BD91-F644-9F8C-937FCE32D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E38DB8D-4AE7-FB41-966F-59657509D300}"/>
              </a:ext>
            </a:extLst>
          </p:cNvPr>
          <p:cNvGrpSpPr/>
          <p:nvPr userDrawn="1"/>
        </p:nvGrpSpPr>
        <p:grpSpPr>
          <a:xfrm>
            <a:off x="-4617304" y="4695900"/>
            <a:ext cx="1494303" cy="224029"/>
            <a:chOff x="5716131" y="796253"/>
            <a:chExt cx="995522" cy="224029"/>
          </a:xfrm>
        </p:grpSpPr>
        <p:sp>
          <p:nvSpPr>
            <p:cNvPr id="102" name="Rectangle 19">
              <a:extLst>
                <a:ext uri="{FF2B5EF4-FFF2-40B4-BE49-F238E27FC236}">
                  <a16:creationId xmlns:a16="http://schemas.microsoft.com/office/drawing/2014/main" id="{8E88217E-F57C-0F4D-A0DC-EAC60891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3" name="Rectangle 20">
              <a:extLst>
                <a:ext uri="{FF2B5EF4-FFF2-40B4-BE49-F238E27FC236}">
                  <a16:creationId xmlns:a16="http://schemas.microsoft.com/office/drawing/2014/main" id="{0FE0007D-5F31-E149-B0CF-AB6784C43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FE9AD56-297C-DB4B-A7BE-D6B0F01510E8}"/>
              </a:ext>
            </a:extLst>
          </p:cNvPr>
          <p:cNvGrpSpPr/>
          <p:nvPr userDrawn="1"/>
        </p:nvGrpSpPr>
        <p:grpSpPr>
          <a:xfrm>
            <a:off x="-4617304" y="5482553"/>
            <a:ext cx="1494303" cy="224029"/>
            <a:chOff x="5716131" y="796253"/>
            <a:chExt cx="995522" cy="224029"/>
          </a:xfrm>
        </p:grpSpPr>
        <p:sp>
          <p:nvSpPr>
            <p:cNvPr id="105" name="Rectangle 19">
              <a:extLst>
                <a:ext uri="{FF2B5EF4-FFF2-40B4-BE49-F238E27FC236}">
                  <a16:creationId xmlns:a16="http://schemas.microsoft.com/office/drawing/2014/main" id="{BAE1D5DB-96CD-7A41-AC4C-B60EE6BB7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6" name="Rectangle 20">
              <a:extLst>
                <a:ext uri="{FF2B5EF4-FFF2-40B4-BE49-F238E27FC236}">
                  <a16:creationId xmlns:a16="http://schemas.microsoft.com/office/drawing/2014/main" id="{91DC9FA1-0AEE-A849-8DCF-0F227C3A7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51248F3-2F75-594D-B53D-6D8AF82EB3EE}"/>
              </a:ext>
            </a:extLst>
          </p:cNvPr>
          <p:cNvGrpSpPr/>
          <p:nvPr userDrawn="1"/>
        </p:nvGrpSpPr>
        <p:grpSpPr>
          <a:xfrm>
            <a:off x="-4617304" y="6228865"/>
            <a:ext cx="1494303" cy="224029"/>
            <a:chOff x="5716131" y="796253"/>
            <a:chExt cx="995522" cy="224029"/>
          </a:xfrm>
        </p:grpSpPr>
        <p:sp>
          <p:nvSpPr>
            <p:cNvPr id="108" name="Rectangle 19">
              <a:extLst>
                <a:ext uri="{FF2B5EF4-FFF2-40B4-BE49-F238E27FC236}">
                  <a16:creationId xmlns:a16="http://schemas.microsoft.com/office/drawing/2014/main" id="{2C100E18-2C92-5642-871F-193C519D3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131" y="796253"/>
              <a:ext cx="496740" cy="224029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25%</a:t>
              </a:r>
            </a:p>
          </p:txBody>
        </p:sp>
        <p:sp>
          <p:nvSpPr>
            <p:cNvPr id="109" name="Rectangle 20">
              <a:extLst>
                <a:ext uri="{FF2B5EF4-FFF2-40B4-BE49-F238E27FC236}">
                  <a16:creationId xmlns:a16="http://schemas.microsoft.com/office/drawing/2014/main" id="{C725273B-18AD-5547-A9A0-E5E2D55F1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913" y="796253"/>
              <a:ext cx="496740" cy="224029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sz="1200" b="1" spc="-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r>
                <a:rPr lang="en-US" sz="1200" b="1" spc="-100" baseline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1CF833E4-0060-484E-9965-5F640274AD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64590" y="5400000"/>
            <a:ext cx="1828800" cy="6604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EABF413-2674-1F41-94B7-816E8AFB80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164590" y="4661279"/>
            <a:ext cx="1828800" cy="660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AB809A-5890-BF46-A223-5F7B2A123F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164590" y="3600000"/>
            <a:ext cx="635000" cy="660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2CF3A70-9F27-F645-9FE9-CD81E473DE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874969" y="3600000"/>
            <a:ext cx="635000" cy="660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8D0BE-2EA1-94D6-EEC3-387CC348182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1280160" cy="121920"/>
          </a:xfrm>
          <a:prstGeom prst="rect">
            <a:avLst/>
          </a:prstGeom>
        </p:spPr>
        <p:txBody>
          <a:bodyPr horzOverflow="overflow" lIns="0" tIns="0" rIns="0" bIns="0" wrap="none">
            <a:spAutoFit/>
          </a:bodyPr>
          <a:lstStyle/>
          <a:p>
            <a:pPr algn="l"/>
            <a:r>
              <a:rPr lang="en-GB" sz="800">
                <a:solidFill>
                  <a:srgbClr val="317100">
                    <a:alpha val="50000"/>
                  </a:srgbClr>
                </a:solidFill>
                <a:latin typeface="Aptos" panose="020B0004020202020204" pitchFamily="34" charset="0"/>
              </a:rPr>
              <a:t>[AIA – PUBLIC]</a:t>
            </a:r>
          </a:p>
        </p:txBody>
      </p:sp>
    </p:spTree>
    <p:extLst>
      <p:ext uri="{BB962C8B-B14F-4D97-AF65-F5344CB8AC3E}">
        <p14:creationId xmlns:p14="http://schemas.microsoft.com/office/powerpoint/2010/main" val="201419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681" r:id="rId2"/>
    <p:sldLayoutId id="2147483748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800" b="0" kern="1200" cap="none" normalizeH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  <p15:guide id="2" pos="744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56616" y="4114800"/>
            <a:ext cx="5760720" cy="822960"/>
          </a:xfrm>
        </p:spPr>
        <p:txBody>
          <a:bodyPr/>
          <a:lstStyle/>
          <a:p>
            <a:r>
              <a:rPr>
                <a:latin typeface="Arial"/>
              </a:rPr>
              <a:t>GIA HK Data Analytics</a:t>
            </a:r>
          </a:p>
          <a:p>
            <a:r>
              <a:rPr>
                <a:latin typeface="Arial"/>
              </a:rPr>
              <a:t>Request for 1,400 hours of technical support in 2027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Business Case for 2027 Contingent Worker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Executive Summary and Approval Request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Additional technical capacity will support 2027 audit delivery and practical automation within GIA HK.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828800"/>
            <a:ext cx="3154680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28600" rIns="22860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5F6770"/>
                </a:solidFill>
                <a:latin typeface="Arial"/>
              </a:rPr>
              <a:t>REQUEST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4000" b="1" i="0">
                <a:solidFill>
                  <a:srgbClr val="D31145"/>
                </a:solidFill>
                <a:latin typeface="Arial"/>
              </a:rPr>
              <a:t>1,400 hours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sz="1400" b="0" i="0">
                <a:solidFill>
                  <a:srgbClr val="333D47"/>
                </a:solidFill>
                <a:latin typeface="Arial"/>
              </a:rPr>
              <a:t>of technical support in 2027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</a:rPr>
              <a:t>One contingent worker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333D47"/>
                </a:solidFill>
                <a:latin typeface="Arial"/>
              </a:rPr>
              <a:t>GIA HK Data Analytics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785615" y="1828800"/>
          <a:ext cx="8046720" cy="309981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5852160"/>
              </a:tblGrid>
              <a:tr h="10332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333D47"/>
                          </a:solidFill>
                          <a:latin typeface="Arial"/>
                        </a:rPr>
                        <a:t>Why it is needed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3D47"/>
                          </a:solidFill>
                          <a:latin typeface="Arial"/>
                        </a:rPr>
                        <a:t>The three-person Data Analytics team is fully occupied with ongoing work. Planned 2027 engagements, automation, Group initiatives and tool maintenance all need technical support.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0332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333D47"/>
                          </a:solidFill>
                          <a:latin typeface="Arial"/>
                        </a:rPr>
                        <a:t>What it will deliver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3D47"/>
                          </a:solidFill>
                          <a:latin typeface="Arial"/>
                        </a:rPr>
                        <a:t>Technical support for planned audit engagements, and practical AI and automation solutions developed directly with business auditors.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103327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333D47"/>
                          </a:solidFill>
                          <a:latin typeface="Arial"/>
                        </a:rPr>
                        <a:t>Why it benefits GIA HK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3D47"/>
                          </a:solidFill>
                          <a:latin typeface="Arial"/>
                        </a:rPr>
                        <a:t>Technical capacity within the audit team, responsive to audit priorities. The existing team stays focused on its ongoing responsibilities, and TSS and DNA support continues.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56616" y="5138928"/>
            <a:ext cx="11475720" cy="457200"/>
          </a:xfrm>
          <a:prstGeom prst="rect">
            <a:avLst/>
          </a:prstGeom>
          <a:solidFill>
            <a:srgbClr val="333D47"/>
          </a:solidFill>
          <a:ln>
            <a:noFill/>
          </a:ln>
          <a:effectLst/>
        </p:spPr>
        <p:txBody>
          <a:bodyPr rtlCol="0" anchor="ctr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Decision requested: 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Approval of one contingent worker for GIA HK Data Analytics in 2027, covering up to 1,400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2027 Audit Workload and Existing Capacity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Planned 2027 work needs technical support that the current team has limited capacity to absorb.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56616" y="1828800"/>
          <a:ext cx="8001000" cy="33649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2926080"/>
                <a:gridCol w="34747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Planned 2027 activity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Technical support required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</a:tr>
              <a:tr h="347472">
                <a:tc rowSpan="4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Engagements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Individual Life Claims Audit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rowSpan="4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Technical and analytics support to the engagement teams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47472">
                <a:tc vMerge="1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Premium Collection Audit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 vMerge="1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Post-Sales Call Analytics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347472">
                <a:tc vMerge="1"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Complaint Handling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Automation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Audit automation and data pipelines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Automate data extraction and build data pipelines towards continuous auditing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Group initiatives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Group AotF and Databricks Genie Space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HK support for the Group AotF workstream and the Genie Space pilot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333D47"/>
                          </a:solidFill>
                          <a:latin typeface="Arial"/>
                        </a:rPr>
                        <a:t>Platforms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Maintenance of existing analytics platforms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Maintain and enhance Databricks, SandBox and the 2026 tools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8631936" y="1828800"/>
            <a:ext cx="3200400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28600" rIns="22860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100" b="1" i="0">
                <a:solidFill>
                  <a:srgbClr val="5F6770"/>
                </a:solidFill>
                <a:latin typeface="Arial"/>
              </a:rPr>
              <a:t>EXISTING CAPACITY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3200" b="1" i="0">
                <a:solidFill>
                  <a:srgbClr val="D31145"/>
                </a:solidFill>
                <a:latin typeface="Arial"/>
              </a:rPr>
              <a:t>3 employees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in GIA HK Data Analytics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Fully occupied with ongoing audit and analytics work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Limited capacity for new development alongside the current workload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Hours to be allocated by audit priority; engagement support remains a core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56875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F6770"/>
                </a:solidFill>
                <a:latin typeface="Arial"/>
              </a:rPr>
              <a:t>Engagements are planned for 2027 and subject to confirmation in the final audit plan. Team capacity reflects GIA HK management's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From 2026 Capability to 2027 Business Value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Technical capabilities demonstrated in 2026 provide a foundation for stronger audit delivery, practical automation, and greater flexibility in 2027.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56616" y="1874519"/>
          <a:ext cx="7178040" cy="35295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83080"/>
                <a:gridCol w="3429000"/>
                <a:gridCol w="19659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2026 solution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it does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Current status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Regulatory Automation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Retrieves regulatory documents and identifies potentially relevant audit requirements. Covers approx. 259 documents.*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31145"/>
                          </a:solidFill>
                          <a:latin typeface="Arial"/>
                        </a:rPr>
                        <a:t>Essentially usable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MedVerify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Checks medical providers against official regulator listings to flag potentially suspicious cases.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31145"/>
                          </a:solidFill>
                          <a:latin typeface="Arial"/>
                        </a:rPr>
                        <a:t>Developed; awaiting operational approval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Welcome Call UI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Lets business auditors run post-sales call analytics through a user-friendly interface.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31145"/>
                          </a:solidFill>
                          <a:latin typeface="Arial"/>
                        </a:rPr>
                        <a:t>Front end essentially complete; backend integration outstanding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Supporting tools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333D47"/>
                          </a:solidFill>
                          <a:latin typeface="Arial"/>
                        </a:rPr>
                        <a:t>SecureSheet (data masking), DataCheck (data quality checks), Relationship Mapper (dataset linkage)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D31145"/>
                          </a:solidFill>
                          <a:latin typeface="Arial"/>
                        </a:rPr>
                        <a:t>Expected to be usable; adoption not yet confirmed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Chevron 12"/>
          <p:cNvSpPr/>
          <p:nvPr/>
        </p:nvSpPr>
        <p:spPr>
          <a:xfrm>
            <a:off x="7680960" y="3410712"/>
            <a:ext cx="274320" cy="457200"/>
          </a:xfrm>
          <a:prstGeom prst="chevron">
            <a:avLst/>
          </a:prstGeom>
          <a:solidFill>
            <a:srgbClr val="D311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874519"/>
            <a:ext cx="3730752" cy="384048"/>
          </a:xfrm>
          <a:prstGeom prst="rect">
            <a:avLst/>
          </a:prstGeom>
          <a:solidFill>
            <a:srgbClr val="D31145"/>
          </a:solidFill>
          <a:ln>
            <a:noFill/>
          </a:ln>
          <a:effectLst/>
        </p:spPr>
        <p:txBody>
          <a:bodyPr rtlCol="0" anchor="ctr" wrap="square" tIns="91440" bIns="91440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Expected business value in 2027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350008"/>
            <a:ext cx="3730752" cy="957072"/>
          </a:xfrm>
          <a:prstGeom prst="rect">
            <a:avLst/>
          </a:prstGeom>
          <a:solidFill>
            <a:srgbClr val="FBE7EC"/>
          </a:solidFill>
          <a:ln>
            <a:noFill/>
          </a:ln>
          <a:effectLst/>
        </p:spPr>
        <p:txBody>
          <a:bodyPr rtlCol="0" anchor="ctr" wrap="square" lIns="164592" rIns="164592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</a:rPr>
              <a:t>Audit delivery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333D47"/>
                </a:solidFill>
                <a:latin typeface="Arial"/>
              </a:rPr>
              <a:t>Technical and analytics support for planned 2027 audit engagements.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3398520"/>
            <a:ext cx="3730752" cy="957072"/>
          </a:xfrm>
          <a:prstGeom prst="rect">
            <a:avLst/>
          </a:prstGeom>
          <a:solidFill>
            <a:srgbClr val="FBE7EC"/>
          </a:solidFill>
          <a:ln>
            <a:noFill/>
          </a:ln>
          <a:effectLst/>
        </p:spPr>
        <p:txBody>
          <a:bodyPr rtlCol="0" anchor="ctr" wrap="square" lIns="164592" rIns="164592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</a:rPr>
              <a:t>Practical AI and automation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333D47"/>
                </a:solidFill>
                <a:latin typeface="Arial"/>
              </a:rPr>
              <a:t>Solutions developed directly with business auditors to help reduce repetitive manual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4447032"/>
            <a:ext cx="3730752" cy="957072"/>
          </a:xfrm>
          <a:prstGeom prst="rect">
            <a:avLst/>
          </a:prstGeom>
          <a:solidFill>
            <a:srgbClr val="FBE7EC"/>
          </a:solidFill>
          <a:ln>
            <a:noFill/>
          </a:ln>
          <a:effectLst/>
        </p:spPr>
        <p:txBody>
          <a:bodyPr rtlCol="0" anchor="ctr" wrap="square" lIns="164592" rIns="164592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</a:rPr>
              <a:t>Technical flexibility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333D47"/>
                </a:solidFill>
                <a:latin typeface="Arial"/>
              </a:rPr>
              <a:t>Responds to changing audit priorities while existing tools remain maintained.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5532120"/>
            <a:ext cx="11475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F6770"/>
                </a:solidFill>
                <a:latin typeface="Arial"/>
              </a:rPr>
              <a:t>Tool adoption and operational status are subject to confirmation; time savings have not yet been measured. *Document count is subject to verification. 2027 benefits are expected, not measured results; proposed measures are set out on slide 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Why Dedicated Technical Capacity Within GIA HK?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GIA HK benefits from technical expertise that works directly with its auditors on its priorities.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56616" y="1828800"/>
          <a:ext cx="11475720" cy="24140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23160"/>
                <a:gridCol w="3017520"/>
                <a:gridCol w="3017520"/>
                <a:gridCol w="3017520"/>
              </a:tblGrid>
              <a:tr h="43891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Existing DA team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TSS and DNA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333D4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Contingent worker (proposed)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3114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Main focus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Ongoing audit and analytics work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Technical development for GIA HK and other areas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Engagement support and development within GIA HK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E7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Availability for GIA HK development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Limited; team fully occupied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Scheduled alongside their other priorities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Dedicated to GIA HK audit priorities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E7E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333D47"/>
                          </a:solidFill>
                          <a:latin typeface="Arial"/>
                        </a:rPr>
                        <a:t>Working with business auditors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Direct, within existing workload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Through cross-team planning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33D47"/>
                          </a:solidFill>
                          <a:latin typeface="Arial"/>
                        </a:rPr>
                        <a:t>Direct and day-to-day</a:t>
                      </a:r>
                    </a:p>
                  </a:txBody>
                  <a:tcPr marL="91440" marR="91440" marT="64008" marB="6400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E7EC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56616" y="4526280"/>
            <a:ext cx="11475720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 b="1" i="0">
                <a:solidFill>
                  <a:srgbClr val="333D47"/>
                </a:solidFill>
                <a:latin typeface="Arial"/>
              </a:rPr>
              <a:t>Why a contingent worker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333D47"/>
                </a:solidFill>
                <a:latin typeface="Arial"/>
              </a:rPr>
              <a:t>Adds dedicated technical capacity for a defined period (2027, up to 1,400 hours). Existing familiarity with GIA processes and technology can reduce onboarding. TSS and DNA continue to support GIA HK where appropriate.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>
          <a:xfrm>
            <a:off x="356616" y="502920"/>
            <a:ext cx="11155680" cy="566928"/>
          </a:xfrm>
        </p:spPr>
        <p:txBody>
          <a:bodyPr lIns="0"/>
          <a:lstStyle/>
          <a:p>
            <a:r>
              <a:rPr sz="2800" b="1">
                <a:solidFill>
                  <a:srgbClr val="333D47"/>
                </a:solidFill>
                <a:latin typeface="Arial"/>
              </a:rPr>
              <a:t>Recommendation, Governance and Approval Request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E493E1F-F28C-FD47-B996-3EBF17D32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999" y="6264872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56616" y="1115568"/>
            <a:ext cx="11475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D31145"/>
                </a:solidFill>
                <a:latin typeface="Arial"/>
              </a:rPr>
              <a:t>A defined one-year resource, allocated by audit priority and reviewed against practical measures.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" y="1828800"/>
            <a:ext cx="5598414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How the resource will be managed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Allocated by audit priority, under the direction of the Data Analytics lead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Supports both audit engagements and technical development; engagement support remains core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Development work coordinated with TSS and DNA where relevant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922" y="1828800"/>
            <a:ext cx="5598414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201168" rIns="201168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500" b="1" i="0">
                <a:solidFill>
                  <a:srgbClr val="333D47"/>
                </a:solidFill>
                <a:latin typeface="Arial"/>
              </a:rPr>
              <a:t>Proposed accountability measures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Audit engagements supported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Automation solutions developed or improved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Solutions adopted by auditors</a:t>
            </a:r>
          </a:p>
          <a:p>
            <a:pPr marL="164592" indent="-164592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300" b="0" i="0">
                <a:solidFill>
                  <a:srgbClr val="333D47"/>
                </a:solidFill>
                <a:latin typeface="Arial"/>
              </a:rPr>
              <a:t>Reduction in manual effort, where measurable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333D47"/>
                </a:solidFill>
                <a:latin typeface="Arial"/>
              </a:rPr>
              <a:t>A management progress review during 2027 is proposed.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" y="4617720"/>
            <a:ext cx="11475720" cy="502920"/>
          </a:xfrm>
          <a:prstGeom prst="rect">
            <a:avLst/>
          </a:prstGeom>
          <a:solidFill>
            <a:srgbClr val="333D47"/>
          </a:solidFill>
          <a:ln>
            <a:noFill/>
          </a:ln>
          <a:effectLst/>
        </p:spPr>
        <p:txBody>
          <a:bodyPr rtlCol="0" anchor="ctr" wrap="square" lIns="182880" rIns="182880" tIns="109728" bIns="109728"/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Arial"/>
              </a:rPr>
              <a:t>Decision requested: 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Approve one contingent worker for GIA HK Data Analytics for 2027, covering up to 1,400 hours.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5257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5F6770"/>
                </a:solidFill>
                <a:latin typeface="Arial"/>
              </a:rPr>
              <a:t>Cost and contract terms will be assessed separately by HR and Finance.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A_2020">
  <a:themeElements>
    <a:clrScheme name="AIA_2020">
      <a:dk1>
        <a:srgbClr val="303D48"/>
      </a:dk1>
      <a:lt1>
        <a:srgbClr val="FFFFFF"/>
      </a:lt1>
      <a:dk2>
        <a:srgbClr val="1F78AD"/>
      </a:dk2>
      <a:lt2>
        <a:srgbClr val="D3CAC3"/>
      </a:lt2>
      <a:accent1>
        <a:srgbClr val="D31145"/>
      </a:accent1>
      <a:accent2>
        <a:srgbClr val="BA0361"/>
      </a:accent2>
      <a:accent3>
        <a:srgbClr val="FF754D"/>
      </a:accent3>
      <a:accent4>
        <a:srgbClr val="F7C926"/>
      </a:accent4>
      <a:accent5>
        <a:srgbClr val="A199BA"/>
      </a:accent5>
      <a:accent6>
        <a:srgbClr val="4C4793"/>
      </a:accent6>
      <a:hlink>
        <a:srgbClr val="4C4793"/>
      </a:hlink>
      <a:folHlink>
        <a:srgbClr val="0845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IA_PPT_Template_2018_16x9_V3.1" id="{C24C495E-28EC-4C06-8757-BE4D80E4F71D}" vid="{3469129E-3778-43A8-9BE1-B54836CD94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1521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AIA_2020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Harry-CC</dc:creator>
  <cp:lastModifiedBy>Wang, Harry-CC</cp:lastModifiedBy>
  <cp:revision>4</cp:revision>
  <cp:lastPrinted>2020-05-18T12:18:52Z</cp:lastPrinted>
  <dcterms:created xsi:type="dcterms:W3CDTF">2026-09-21T01:03:41Z</dcterms:created>
  <dcterms:modified xsi:type="dcterms:W3CDTF">2026-09-23T02:34:05Z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1b32ef-ed69-48a4-80a7-c96eee60b7ed_Enabled">
    <vt:lpwstr>true</vt:lpwstr>
  </property>
  <property fmtid="{D5CDD505-2E9C-101B-9397-08002B2CF9AE}" pid="3" name="MSIP_Label_891b32ef-ed69-48a4-80a7-c96eee60b7ed_SetDate">
    <vt:lpwstr>2026-09-21T01:43:46Z</vt:lpwstr>
  </property>
  <property fmtid="{D5CDD505-2E9C-101B-9397-08002B2CF9AE}" pid="4" name="MSIP_Label_891b32ef-ed69-48a4-80a7-c96eee60b7ed_Method">
    <vt:lpwstr>Privileged</vt:lpwstr>
  </property>
  <property fmtid="{D5CDD505-2E9C-101B-9397-08002B2CF9AE}" pid="5" name="MSIP_Label_891b32ef-ed69-48a4-80a7-c96eee60b7ed_Name">
    <vt:lpwstr>891b32ef-ed69-48a4-80a7-c96eee60b7ed</vt:lpwstr>
  </property>
  <property fmtid="{D5CDD505-2E9C-101B-9397-08002B2CF9AE}" pid="6" name="MSIP_Label_891b32ef-ed69-48a4-80a7-c96eee60b7ed_SiteId">
    <vt:lpwstr>7f2c1900-9fd4-4b89-91d3-79a649996f0a</vt:lpwstr>
  </property>
  <property fmtid="{D5CDD505-2E9C-101B-9397-08002B2CF9AE}" pid="7" name="MSIP_Label_891b32ef-ed69-48a4-80a7-c96eee60b7ed_ActionId">
    <vt:lpwstr>90345cdd-399e-49a9-970c-b0d82dbcf4a1</vt:lpwstr>
  </property>
  <property fmtid="{D5CDD505-2E9C-101B-9397-08002B2CF9AE}" pid="8" name="MSIP_Label_891b32ef-ed69-48a4-80a7-c96eee60b7ed_ContentBits">
    <vt:lpwstr>2</vt:lpwstr>
  </property>
  <property fmtid="{D5CDD505-2E9C-101B-9397-08002B2CF9AE}" pid="9" name="MSIP_Label_891b32ef-ed69-48a4-80a7-c96eee60b7ed_Tag">
    <vt:lpwstr>10, 0, 1, 1</vt:lpwstr>
  </property>
  <property fmtid="{D5CDD505-2E9C-101B-9397-08002B2CF9AE}" pid="10" name="ClassificationContentMarkingFooterLocations">
    <vt:lpwstr>AIA_2020:2</vt:lpwstr>
  </property>
  <property fmtid="{D5CDD505-2E9C-101B-9397-08002B2CF9AE}" pid="11" name="ClassificationContentMarkingFooterText">
    <vt:lpwstr>[AIA – PUBLIC]</vt:lpwstr>
  </property>
</Properties>
</file>