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4"/>
    <p:sldId id="257" r:id="rId3"/>
    <p:sldId id="258" r:id="rId2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915C"/>
    <a:srgbClr val="68655A"/>
    <a:srgbClr val="FF7A85"/>
    <a:srgbClr val="4C4794"/>
    <a:srgbClr val="333D47"/>
    <a:srgbClr val="F1C400"/>
    <a:srgbClr val="D31145"/>
    <a:srgbClr val="42005B"/>
    <a:srgbClr val="42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87"/>
  </p:normalViewPr>
  <p:slideViewPr>
    <p:cSldViewPr snapToGrid="0" showGuides="1">
      <p:cViewPr varScale="1">
        <p:scale>
          <a:sx n="120" d="100"/>
          <a:sy n="120" d="100"/>
        </p:scale>
        <p:origin x="144" y="198"/>
      </p:cViewPr>
      <p:guideLst>
        <p:guide orient="horz" pos="2160"/>
        <p:guide pos="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8ECE-A34A-49B3-9686-CAB705FE9FAE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F2FCE-B231-44AD-BE06-D54B55D77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41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A36D-3A4E-49AB-8998-33E386CC934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08D9-4A71-422D-8C20-E440E917B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08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Slide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3DE312-0E56-1747-B671-3F457AA8D7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52CBAF-C878-FD45-8AF4-3C799CB4F53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AC4E2A-F096-5540-918E-6F520E475C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DD8F76D-7AD6-444B-9E55-80A650B42C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5E6EB-133C-4C47-A11D-54E804FE9C2F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9903880-9FDE-8D40-A562-3D8B9CB09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8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237200" y="1800000"/>
            <a:ext cx="36072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1800000"/>
            <a:ext cx="3600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BBEFAE-7438-F548-BFC6-9CD53B767E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1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B5BE0-8CB1-E247-A12A-51429A1939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93DA94-6D62-D040-97F3-1DFA5A72C6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Email</a:t>
            </a:r>
          </a:p>
          <a:p>
            <a:r>
              <a:rPr lang="en-US" dirty="0"/>
              <a:t>Date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C3F0DB7-93FA-D243-9648-A59C82E137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F49BF-4968-8D47-AB2D-21AB12177162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1844A6-A542-4643-96E7-3B2146FB59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BF7525C-9C01-724E-9D57-E82EE57D1F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06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Relationship Id="rId6" Type="http://schemas.openxmlformats.org/officeDocument/2006/relationships/image" Target="../media/image2.svg"/><Relationship Id="rId7" Type="http://schemas.openxmlformats.org/officeDocument/2006/relationships/image" Target="../media/image3.svg"/><Relationship Id="rId8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 userDrawn="1"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 userDrawn="1"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 userDrawn="1"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 userDrawn="1"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 userDrawn="1"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 userDrawn="1"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 userDrawn="1"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 userDrawn="1"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 userDrawn="1"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 userDrawn="1"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 userDrawn="1"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 userDrawn="1"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1280160" cy="121920"/>
          </a:xfrm>
          <a:prstGeom prst="rect">
            <a:avLst/>
          </a:prstGeom>
        </p:spPr>
        <p:txBody>
          <a:bodyPr horzOverflow="overflow" lIns="0" tIns="0" rIns="0" bIns="0" wrap="none">
            <a:spAutoFit/>
          </a:bodyPr>
          <a:lstStyle/>
          <a:p>
            <a:pPr algn="l"/>
            <a:r>
              <a:rPr lang="en-GB" sz="800">
                <a:solidFill>
                  <a:srgbClr val="317100">
                    <a:alpha val="50000"/>
                  </a:srgbClr>
                </a:solidFill>
                <a:latin typeface="Aptos" panose="020B0004020202020204" pitchFamily="34" charset="0"/>
              </a:rPr>
              <a:t>[AIA – PUBLIC]</a:t>
            </a:r>
          </a:p>
        </p:txBody>
      </p:sp>
    </p:spTree>
    <p:extLst>
      <p:ext uri="{BB962C8B-B14F-4D97-AF65-F5344CB8AC3E}">
        <p14:creationId xmlns:p14="http://schemas.microsoft.com/office/powerpoint/2010/main" val="201419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681" r:id="rId2"/>
    <p:sldLayoutId id="2147483748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44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6616" y="4114800"/>
            <a:ext cx="5760720" cy="822960"/>
          </a:xfrm>
        </p:spPr>
        <p:txBody>
          <a:bodyPr/>
          <a:lstStyle/>
          <a:p>
            <a:r>
              <a:rPr>
                <a:latin typeface="Arial"/>
              </a:rPr>
              <a:t>GIA HK Data Analytics</a:t>
            </a:r>
          </a:p>
          <a:p>
            <a:r>
              <a:rPr>
                <a:latin typeface="Arial"/>
              </a:rPr>
              <a:t>Request for 1,400 hours of technical support in 2027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Business Case for 2027 Contingent Worker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Executive Summary and Approval Request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Additional technical capacity will support 2027 audit delivery and practical automation within GIA HK.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315468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28600" rIns="22860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5F6770"/>
                </a:solidFill>
                <a:latin typeface="Arial"/>
              </a:rPr>
              <a:t>REQUEST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4000" b="1" i="0">
                <a:solidFill>
                  <a:srgbClr val="D31145"/>
                </a:solidFill>
                <a:latin typeface="Arial"/>
              </a:rPr>
              <a:t>1,400 hours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400" b="0" i="0">
                <a:solidFill>
                  <a:srgbClr val="333D47"/>
                </a:solidFill>
                <a:latin typeface="Arial"/>
              </a:rPr>
              <a:t>of technical support in 2027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One contingent worker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333D47"/>
                </a:solidFill>
                <a:latin typeface="Arial"/>
              </a:rPr>
              <a:t>GIA HK Data Analytics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85615" y="1828800"/>
          <a:ext cx="8046720" cy="309981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5852160"/>
              </a:tblGrid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Why it is needed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The three-person Data Analytics team is fully occupied with ongoing work. Planned 2027 engagements, automation, Group initiatives and tool maintenance all need technical support.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What it will deliver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Technical support for planned audit engagements, and practical AI and automation solutions developed directly with business auditors.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Why it benefits GIA HK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Technical capacity within the audit team, responsive to audit priorities. The existing team stays focused on its ongoing responsibilities, and TSS and DNA support continues.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6616" y="5138928"/>
            <a:ext cx="11475720" cy="45720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txBody>
          <a:bodyPr rtlCol="0" anchor="ctr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Decision requested: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Approval of one contingent worker for GIA HK Data Analytics in 2027, covering up to 1,400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2027 Audit Workload and Existing Capacity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Planned 2027 work needs technical support that the current team has limited capacity to absorb.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828800"/>
          <a:ext cx="8001000" cy="33649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292608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Planned 2027 activity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Technical support required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</a:tr>
              <a:tr h="347472">
                <a:tc rowSpan="4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Engagements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Individual Life Claims Audit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rowSpan="4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Technical and analytics support to the engagement teams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Premium Collection Audit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Post-Sales Call Analytics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Complaint Handling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Automation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Audit automation and data pipelines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Automate data extraction and build data pipelines towards continuous auditing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Group initiatives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Group AotF and Databricks Genie Space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HK support for the Group AotF workstream and the Genie Space pilot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Platforms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Maintenance of existing analytics platforms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Maintain and enhance Databricks, SandBox and the 2026 tools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631936" y="1828800"/>
            <a:ext cx="3200400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28600" rIns="22860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5F6770"/>
                </a:solidFill>
                <a:latin typeface="Arial"/>
              </a:rPr>
              <a:t>EXISTING CAPACITY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200" b="1" i="0">
                <a:solidFill>
                  <a:srgbClr val="D31145"/>
                </a:solidFill>
                <a:latin typeface="Arial"/>
              </a:rPr>
              <a:t>3 employees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in GIA HK Data Analytics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Fully occupied with ongoing audit and analytics work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Limited capacity for new development alongside the current workload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Hours to be allocated by audit priority; engagement support remains a core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Engagements are planned for 2027 and subject to confirmation in the final audit plan. Team capacity reflects GIA HK management's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Technical Capability Demonstrated in 2026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2026 work shows that practical solutions to audit needs can be developed within GIA HK.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363931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Regulatory Automation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Retrieves regulatory documents and flags potentially relevant audit requirements for auditor review, replacing manual searching. Covers approx. 259 documents.*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45643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STATUS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Essentially usable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1828800"/>
            <a:ext cx="363931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MedVerify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Checks medical providers on claims receipts against official regulator listings to flag potentially suspicious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0" y="345643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STATUS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Developed; awaiting operational approval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363931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Welcome Call UI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Lets non-technical auditors run post-sales call analytics and access results directly.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45643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STATUS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Front end essentially complete; backend integration outstanding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" y="4389120"/>
            <a:ext cx="11475720" cy="1051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Supporting desktop tools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</a:rPr>
              <a:t>SecureSheet</a:t>
            </a:r>
            <a:r>
              <a:rPr sz="1300" b="0" i="0">
                <a:solidFill>
                  <a:srgbClr val="333D47"/>
                </a:solidFill>
                <a:latin typeface="Arial"/>
              </a:rPr>
              <a:t> – data masking and encryption     </a:t>
            </a:r>
            <a:r>
              <a:rPr sz="1300" b="1" i="0">
                <a:solidFill>
                  <a:srgbClr val="333D47"/>
                </a:solidFill>
                <a:latin typeface="Arial"/>
              </a:rPr>
              <a:t>DataCheck</a:t>
            </a:r>
            <a:r>
              <a:rPr sz="1300" b="0" i="0">
                <a:solidFill>
                  <a:srgbClr val="333D47"/>
                </a:solidFill>
                <a:latin typeface="Arial"/>
              </a:rPr>
              <a:t> – data quality checks     </a:t>
            </a:r>
            <a:r>
              <a:rPr sz="1300" b="1" i="0">
                <a:solidFill>
                  <a:srgbClr val="333D47"/>
                </a:solidFill>
                <a:latin typeface="Arial"/>
              </a:rPr>
              <a:t>Relationship Mapper</a:t>
            </a:r>
            <a:r>
              <a:rPr sz="1300" b="0" i="0">
                <a:solidFill>
                  <a:srgbClr val="333D47"/>
                </a:solidFill>
                <a:latin typeface="Arial"/>
              </a:rPr>
              <a:t> – dataset linkage analysis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Status: </a:t>
            </a:r>
            <a:r>
              <a:rPr sz="1200" b="1" i="0">
                <a:solidFill>
                  <a:srgbClr val="D31145"/>
                </a:solidFill>
                <a:latin typeface="Arial"/>
              </a:rPr>
              <a:t>expected to be usable; adoption not yet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Tool adoption and operational status are subject to confirmation. Time savings have not yet been measured. *Document count is subject to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Expected Business Value in 2027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Each activity links to a practical benefit for audit delivery and GIA HK's capability.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363931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Audit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542032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WHAT THE ROLE DOES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Provides technical and analytics support to planned 2027 audit and monitoring engagements.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566160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D31145"/>
                </a:solidFill>
                <a:latin typeface="Arial"/>
              </a:rPr>
              <a:t>EXPECTED BENEFIT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33D47"/>
                </a:solidFill>
                <a:latin typeface="Arial"/>
              </a:rPr>
              <a:t>Planned engagements receive the analytics support they need, while the existing team maintains its regular responsibilities.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4820" y="1828800"/>
            <a:ext cx="363931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Practical AI and automation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5988" y="2542032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WHAT THE ROLE DOES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Works alongside auditors to understand their processes first-hand, identify repetitive manual steps and build solutions.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988" y="3566160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D31145"/>
                </a:solidFill>
                <a:latin typeface="Arial"/>
              </a:rPr>
              <a:t>EXPECTED BENEFIT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33D47"/>
                </a:solidFill>
                <a:latin typeface="Arial"/>
              </a:rPr>
              <a:t>Solutions reflect real audit requirements and are improved through auditor feedback, so they are practical to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828800"/>
            <a:ext cx="363931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Technical flexibility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42032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WHAT THE ROLE DOES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Handles smaller development needs and tool maintenance, coordinating with TSS and DNA where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566160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D31145"/>
                </a:solidFill>
                <a:latin typeface="Arial"/>
              </a:rPr>
              <a:t>EXPECTED BENEFIT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33D47"/>
                </a:solidFill>
                <a:latin typeface="Arial"/>
              </a:rPr>
              <a:t>GIA HK can respond more directly to changing audit priorities, and existing tools remain maintained.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" y="4846320"/>
            <a:ext cx="11475720" cy="713232"/>
          </a:xfrm>
          <a:prstGeom prst="rect">
            <a:avLst/>
          </a:prstGeom>
          <a:solidFill>
            <a:srgbClr val="FBE7EC"/>
          </a:solidFill>
          <a:ln>
            <a:noFill/>
          </a:ln>
          <a:effectLst/>
        </p:spPr>
        <p:txBody>
          <a:bodyPr rtlCol="0" anchor="ctr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</a:rPr>
              <a:t>Longer-term capability:  </a:t>
            </a:r>
            <a:r>
              <a:rPr sz="1300" b="0" i="0">
                <a:solidFill>
                  <a:srgbClr val="333D47"/>
                </a:solidFill>
                <a:latin typeface="Arial"/>
              </a:rPr>
              <a:t>Data pipelines and reusable tools developed in 2027 are expected to provide a foundation for continuous auditing and strengthen GIA HK's own analytics capability.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Expected benefits, not measured results. Proposed measures are set out on slide 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Why Dedicated Technical Capacity Within GIA HK?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GIA HK benefits from technical expertise that works directly with its auditors on its priorities.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828800"/>
          <a:ext cx="11475720" cy="24140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23160"/>
                <a:gridCol w="3017520"/>
                <a:gridCol w="3017520"/>
                <a:gridCol w="3017520"/>
              </a:tblGrid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Existing DA team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TSS and DNA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Contingent worker (proposed)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11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Main focus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Ongoing audit and analytics work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Technical development for GIA HK and other areas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Engagement support and development within GIA HK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Availability for GIA HK development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Limited; team fully occupied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Scheduled alongside their other priorities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Dedicated to GIA HK audit priorities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Working with business auditors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Direct, within existing workload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Through cross-team planning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Direct and day-to-day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56616" y="4526280"/>
            <a:ext cx="1147572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Why a contingent worker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Adds dedicated technical capacity for a defined period (2027, up to 1,400 hours). Existing familiarity with GIA processes and technology can reduce onboarding. TSS and DNA continue to support GIA HK where appropriate.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Recommendation, Governance and Approval Request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A defined one-year resource, allocated by audit priority and reviewed against practical measures.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5598414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How the resource will be managed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Allocated by audit priority, under the direction of the Data Analytics lead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Supports both audit engagements and technical development; engagement support remains core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Development work coordinated with TSS and DNA where relevant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922" y="1828800"/>
            <a:ext cx="5598414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Proposed accountability measures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Audit engagements supported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Automation solutions developed or improved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Solutions adopted by auditors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Reduction in manual effort, where measurable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333D47"/>
                </a:solidFill>
                <a:latin typeface="Arial"/>
              </a:rPr>
              <a:t>A management progress review during 2027 is proposed.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4617720"/>
            <a:ext cx="11475720" cy="50292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txBody>
          <a:bodyPr rtlCol="0" anchor="ctr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Decision requested: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Approve one contingent worker for GIA HK Data Analytics for 2027, covering up to 1,400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5257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Cost and contract terms will be assessed separately by HR and Finance.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1521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AIA_2020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4</cp:revision>
  <cp:lastPrinted>2020-05-18T12:18:52Z</cp:lastPrinted>
  <dcterms:created xsi:type="dcterms:W3CDTF">2026-09-21T01:03:41Z</dcterms:created>
  <dcterms:modified xsi:type="dcterms:W3CDTF">2026-09-23T02:34:05Z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1b32ef-ed69-48a4-80a7-c96eee60b7ed_Enabled">
    <vt:lpwstr>true</vt:lpwstr>
  </property>
  <property fmtid="{D5CDD505-2E9C-101B-9397-08002B2CF9AE}" pid="3" name="MSIP_Label_891b32ef-ed69-48a4-80a7-c96eee60b7ed_SetDate">
    <vt:lpwstr>2026-09-21T01:43:46Z</vt:lpwstr>
  </property>
  <property fmtid="{D5CDD505-2E9C-101B-9397-08002B2CF9AE}" pid="4" name="MSIP_Label_891b32ef-ed69-48a4-80a7-c96eee60b7ed_Method">
    <vt:lpwstr>Privileged</vt:lpwstr>
  </property>
  <property fmtid="{D5CDD505-2E9C-101B-9397-08002B2CF9AE}" pid="5" name="MSIP_Label_891b32ef-ed69-48a4-80a7-c96eee60b7ed_Name">
    <vt:lpwstr>891b32ef-ed69-48a4-80a7-c96eee60b7ed</vt:lpwstr>
  </property>
  <property fmtid="{D5CDD505-2E9C-101B-9397-08002B2CF9AE}" pid="6" name="MSIP_Label_891b32ef-ed69-48a4-80a7-c96eee60b7ed_SiteId">
    <vt:lpwstr>7f2c1900-9fd4-4b89-91d3-79a649996f0a</vt:lpwstr>
  </property>
  <property fmtid="{D5CDD505-2E9C-101B-9397-08002B2CF9AE}" pid="7" name="MSIP_Label_891b32ef-ed69-48a4-80a7-c96eee60b7ed_ActionId">
    <vt:lpwstr>90345cdd-399e-49a9-970c-b0d82dbcf4a1</vt:lpwstr>
  </property>
  <property fmtid="{D5CDD505-2E9C-101B-9397-08002B2CF9AE}" pid="8" name="MSIP_Label_891b32ef-ed69-48a4-80a7-c96eee60b7ed_ContentBits">
    <vt:lpwstr>2</vt:lpwstr>
  </property>
  <property fmtid="{D5CDD505-2E9C-101B-9397-08002B2CF9AE}" pid="9" name="MSIP_Label_891b32ef-ed69-48a4-80a7-c96eee60b7ed_Tag">
    <vt:lpwstr>10, 0, 1, 1</vt:lpwstr>
  </property>
  <property fmtid="{D5CDD505-2E9C-101B-9397-08002B2CF9AE}" pid="10" name="ClassificationContentMarkingFooterLocations">
    <vt:lpwstr>AIA_2020:2</vt:lpwstr>
  </property>
  <property fmtid="{D5CDD505-2E9C-101B-9397-08002B2CF9AE}" pid="11" name="ClassificationContentMarkingFooterText">
    <vt:lpwstr>[AIA – PUBLIC]</vt:lpwstr>
  </property>
</Properties>
</file>